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30"/>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819"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820" r:id="rId643"/>
    <p:sldId id="1753" r:id="rId644"/>
    <p:sldId id="1754" r:id="rId645"/>
    <p:sldId id="1755" r:id="rId646"/>
    <p:sldId id="1756" r:id="rId647"/>
    <p:sldId id="1757" r:id="rId648"/>
    <p:sldId id="1529" r:id="rId649"/>
    <p:sldId id="1601" r:id="rId650"/>
    <p:sldId id="1689" r:id="rId651"/>
    <p:sldId id="1666" r:id="rId652"/>
    <p:sldId id="1625" r:id="rId653"/>
    <p:sldId id="1653" r:id="rId654"/>
    <p:sldId id="1644" r:id="rId655"/>
    <p:sldId id="1626" r:id="rId656"/>
    <p:sldId id="1698" r:id="rId657"/>
    <p:sldId id="1531" r:id="rId658"/>
    <p:sldId id="1532" r:id="rId659"/>
    <p:sldId id="1539" r:id="rId660"/>
    <p:sldId id="1724" r:id="rId661"/>
    <p:sldId id="352" r:id="rId662"/>
    <p:sldId id="1275" r:id="rId663"/>
    <p:sldId id="1606" r:id="rId664"/>
    <p:sldId id="633" r:id="rId665"/>
    <p:sldId id="521" r:id="rId666"/>
    <p:sldId id="1337" r:id="rId667"/>
    <p:sldId id="1669" r:id="rId668"/>
    <p:sldId id="1667" r:id="rId669"/>
    <p:sldId id="1668" r:id="rId670"/>
    <p:sldId id="1717" r:id="rId671"/>
    <p:sldId id="1610" r:id="rId672"/>
    <p:sldId id="1649" r:id="rId673"/>
    <p:sldId id="1685" r:id="rId674"/>
    <p:sldId id="1687" r:id="rId675"/>
    <p:sldId id="1686" r:id="rId676"/>
    <p:sldId id="1617" r:id="rId677"/>
    <p:sldId id="1160" r:id="rId678"/>
    <p:sldId id="1701" r:id="rId679"/>
    <p:sldId id="1651" r:id="rId680"/>
    <p:sldId id="1652" r:id="rId681"/>
    <p:sldId id="1340" r:id="rId682"/>
    <p:sldId id="1352" r:id="rId683"/>
    <p:sldId id="1650" r:id="rId684"/>
    <p:sldId id="1594" r:id="rId685"/>
    <p:sldId id="1604" r:id="rId686"/>
    <p:sldId id="1643" r:id="rId687"/>
    <p:sldId id="1595" r:id="rId688"/>
    <p:sldId id="1597" r:id="rId689"/>
    <p:sldId id="1599" r:id="rId690"/>
    <p:sldId id="1596" r:id="rId691"/>
    <p:sldId id="1603" r:id="rId692"/>
    <p:sldId id="368" r:id="rId693"/>
    <p:sldId id="636" r:id="rId694"/>
    <p:sldId id="663" r:id="rId695"/>
    <p:sldId id="664" r:id="rId696"/>
    <p:sldId id="637" r:id="rId697"/>
    <p:sldId id="638" r:id="rId698"/>
    <p:sldId id="712" r:id="rId699"/>
    <p:sldId id="713" r:id="rId700"/>
    <p:sldId id="714" r:id="rId701"/>
    <p:sldId id="836" r:id="rId702"/>
    <p:sldId id="837" r:id="rId703"/>
    <p:sldId id="342" r:id="rId704"/>
    <p:sldId id="1067" r:id="rId705"/>
    <p:sldId id="1473" r:id="rId706"/>
    <p:sldId id="1343" r:id="rId707"/>
    <p:sldId id="1068" r:id="rId708"/>
    <p:sldId id="727" r:id="rId709"/>
    <p:sldId id="1512" r:id="rId710"/>
    <p:sldId id="728" r:id="rId711"/>
    <p:sldId id="1513" r:id="rId712"/>
    <p:sldId id="781" r:id="rId713"/>
    <p:sldId id="1007" r:id="rId714"/>
    <p:sldId id="730" r:id="rId715"/>
    <p:sldId id="1264" r:id="rId716"/>
    <p:sldId id="1448" r:id="rId717"/>
    <p:sldId id="1449" r:id="rId718"/>
    <p:sldId id="1450" r:id="rId719"/>
    <p:sldId id="1157" r:id="rId720"/>
    <p:sldId id="1158" r:id="rId721"/>
    <p:sldId id="775" r:id="rId722"/>
    <p:sldId id="354" r:id="rId723"/>
    <p:sldId id="735" r:id="rId724"/>
    <p:sldId id="738" r:id="rId725"/>
    <p:sldId id="774" r:id="rId726"/>
    <p:sldId id="1549" r:id="rId727"/>
    <p:sldId id="1550" r:id="rId728"/>
    <p:sldId id="737" r:id="rId729"/>
    <p:sldId id="740" r:id="rId730"/>
    <p:sldId id="683" r:id="rId731"/>
    <p:sldId id="684" r:id="rId732"/>
    <p:sldId id="682" r:id="rId733"/>
    <p:sldId id="1405" r:id="rId734"/>
    <p:sldId id="1434" r:id="rId735"/>
    <p:sldId id="1432" r:id="rId736"/>
    <p:sldId id="1385" r:id="rId737"/>
    <p:sldId id="1433" r:id="rId738"/>
    <p:sldId id="1438" r:id="rId739"/>
    <p:sldId id="1439" r:id="rId740"/>
    <p:sldId id="1440" r:id="rId741"/>
    <p:sldId id="1431" r:id="rId742"/>
    <p:sldId id="1436" r:id="rId743"/>
    <p:sldId id="968" r:id="rId744"/>
    <p:sldId id="969" r:id="rId745"/>
    <p:sldId id="609" r:id="rId746"/>
    <p:sldId id="610" r:id="rId747"/>
    <p:sldId id="703" r:id="rId748"/>
    <p:sldId id="611" r:id="rId749"/>
    <p:sldId id="612" r:id="rId750"/>
    <p:sldId id="704" r:id="rId751"/>
    <p:sldId id="613" r:id="rId752"/>
    <p:sldId id="705" r:id="rId753"/>
    <p:sldId id="614" r:id="rId754"/>
    <p:sldId id="1045" r:id="rId755"/>
    <p:sldId id="1382" r:id="rId756"/>
    <p:sldId id="1492" r:id="rId757"/>
    <p:sldId id="1748" r:id="rId758"/>
    <p:sldId id="1723" r:id="rId759"/>
    <p:sldId id="986" r:id="rId760"/>
    <p:sldId id="427" r:id="rId761"/>
    <p:sldId id="689" r:id="rId762"/>
    <p:sldId id="731" r:id="rId763"/>
    <p:sldId id="732" r:id="rId764"/>
    <p:sldId id="758" r:id="rId765"/>
    <p:sldId id="759" r:id="rId766"/>
    <p:sldId id="1417" r:id="rId767"/>
    <p:sldId id="916" r:id="rId768"/>
    <p:sldId id="917" r:id="rId769"/>
    <p:sldId id="840" r:id="rId770"/>
    <p:sldId id="841" r:id="rId771"/>
    <p:sldId id="939" r:id="rId772"/>
    <p:sldId id="766" r:id="rId773"/>
    <p:sldId id="767" r:id="rId774"/>
    <p:sldId id="776" r:id="rId775"/>
    <p:sldId id="752" r:id="rId776"/>
    <p:sldId id="753" r:id="rId777"/>
    <p:sldId id="764" r:id="rId778"/>
    <p:sldId id="1507" r:id="rId779"/>
    <p:sldId id="765" r:id="rId780"/>
    <p:sldId id="1472" r:id="rId781"/>
    <p:sldId id="874" r:id="rId782"/>
    <p:sldId id="946" r:id="rId783"/>
    <p:sldId id="943" r:id="rId784"/>
    <p:sldId id="755" r:id="rId785"/>
    <p:sldId id="754" r:id="rId786"/>
    <p:sldId id="670" r:id="rId787"/>
    <p:sldId id="1347" r:id="rId788"/>
    <p:sldId id="777" r:id="rId789"/>
    <p:sldId id="762" r:id="rId790"/>
    <p:sldId id="763" r:id="rId791"/>
    <p:sldId id="769" r:id="rId792"/>
    <p:sldId id="1398" r:id="rId793"/>
    <p:sldId id="770" r:id="rId794"/>
    <p:sldId id="873" r:id="rId795"/>
    <p:sldId id="1527" r:id="rId796"/>
    <p:sldId id="1664" r:id="rId797"/>
    <p:sldId id="1713" r:id="rId798"/>
    <p:sldId id="1804" r:id="rId799"/>
    <p:sldId id="1714" r:id="rId800"/>
    <p:sldId id="875" r:id="rId801"/>
    <p:sldId id="1469" r:id="rId802"/>
    <p:sldId id="1556" r:id="rId803"/>
    <p:sldId id="1412" r:id="rId804"/>
    <p:sldId id="583" r:id="rId805"/>
    <p:sldId id="584" r:id="rId806"/>
    <p:sldId id="585" r:id="rId807"/>
    <p:sldId id="1069" r:id="rId808"/>
    <p:sldId id="1442" r:id="rId809"/>
    <p:sldId id="1790" r:id="rId810"/>
    <p:sldId id="1743" r:id="rId811"/>
    <p:sldId id="1742" r:id="rId812"/>
    <p:sldId id="1777" r:id="rId813"/>
    <p:sldId id="1778" r:id="rId814"/>
    <p:sldId id="1715" r:id="rId815"/>
    <p:sldId id="1716" r:id="rId816"/>
    <p:sldId id="1770" r:id="rId817"/>
    <p:sldId id="1771" r:id="rId818"/>
    <p:sldId id="1785" r:id="rId819"/>
    <p:sldId id="1786" r:id="rId820"/>
    <p:sldId id="1784" r:id="rId821"/>
    <p:sldId id="1792" r:id="rId822"/>
    <p:sldId id="1789" r:id="rId823"/>
    <p:sldId id="1788" r:id="rId824"/>
    <p:sldId id="1787" r:id="rId825"/>
    <p:sldId id="1791" r:id="rId826"/>
    <p:sldId id="1793" r:id="rId827"/>
    <p:sldId id="1794" r:id="rId828"/>
    <p:sldId id="1795" r:id="rId829"/>
    <p:sldId id="1796" r:id="rId830"/>
    <p:sldId id="952" r:id="rId831"/>
    <p:sldId id="1555" r:id="rId832"/>
    <p:sldId id="1554" r:id="rId833"/>
    <p:sldId id="1348" r:id="rId834"/>
    <p:sldId id="1524" r:id="rId835"/>
    <p:sldId id="1349" r:id="rId836"/>
    <p:sldId id="1396" r:id="rId837"/>
    <p:sldId id="1397" r:id="rId838"/>
    <p:sldId id="1350" r:id="rId839"/>
    <p:sldId id="761" r:id="rId840"/>
    <p:sldId id="1780" r:id="rId841"/>
    <p:sldId id="1404" r:id="rId842"/>
    <p:sldId id="861" r:id="rId843"/>
    <p:sldId id="862" r:id="rId844"/>
    <p:sldId id="756" r:id="rId845"/>
    <p:sldId id="1506" r:id="rId846"/>
    <p:sldId id="771" r:id="rId847"/>
    <p:sldId id="876" r:id="rId848"/>
    <p:sldId id="1471" r:id="rId849"/>
    <p:sldId id="1393" r:id="rId850"/>
    <p:sldId id="1389" r:id="rId851"/>
    <p:sldId id="1457" r:id="rId852"/>
    <p:sldId id="1458" r:id="rId853"/>
    <p:sldId id="1459" r:id="rId854"/>
    <p:sldId id="1505" r:id="rId855"/>
    <p:sldId id="1428" r:id="rId856"/>
    <p:sldId id="1665" r:id="rId857"/>
    <p:sldId id="778" r:id="rId858"/>
    <p:sldId id="779" r:id="rId859"/>
    <p:sldId id="834" r:id="rId860"/>
    <p:sldId id="780" r:id="rId861"/>
    <p:sldId id="833" r:id="rId862"/>
    <p:sldId id="783" r:id="rId863"/>
    <p:sldId id="880" r:id="rId864"/>
    <p:sldId id="1769" r:id="rId865"/>
    <p:sldId id="881" r:id="rId866"/>
    <p:sldId id="879" r:id="rId867"/>
    <p:sldId id="866" r:id="rId868"/>
    <p:sldId id="1341" r:id="rId869"/>
    <p:sldId id="1390" r:id="rId870"/>
    <p:sldId id="1774" r:id="rId871"/>
    <p:sldId id="1775" r:id="rId872"/>
    <p:sldId id="1391" r:id="rId873"/>
    <p:sldId id="878" r:id="rId874"/>
    <p:sldId id="867" r:id="rId875"/>
    <p:sldId id="868" r:id="rId876"/>
    <p:sldId id="870" r:id="rId877"/>
    <p:sldId id="1241" r:id="rId878"/>
    <p:sldId id="1411" r:id="rId879"/>
    <p:sldId id="869" r:id="rId880"/>
    <p:sldId id="1342" r:id="rId881"/>
    <p:sldId id="1817" r:id="rId882"/>
    <p:sldId id="1818" r:id="rId883"/>
    <p:sldId id="1367" r:id="rId884"/>
    <p:sldId id="1377" r:id="rId885"/>
    <p:sldId id="1379" r:id="rId886"/>
    <p:sldId id="1368" r:id="rId887"/>
    <p:sldId id="1369" r:id="rId888"/>
    <p:sldId id="1380" r:id="rId889"/>
    <p:sldId id="1381" r:id="rId890"/>
    <p:sldId id="1370" r:id="rId891"/>
    <p:sldId id="1371" r:id="rId892"/>
    <p:sldId id="1372" r:id="rId893"/>
    <p:sldId id="1373" r:id="rId894"/>
    <p:sldId id="1374" r:id="rId895"/>
    <p:sldId id="1375" r:id="rId896"/>
    <p:sldId id="1033" r:id="rId897"/>
    <p:sldId id="1021" r:id="rId898"/>
    <p:sldId id="1022" r:id="rId899"/>
    <p:sldId id="1023" r:id="rId900"/>
    <p:sldId id="1024" r:id="rId901"/>
    <p:sldId id="1025" r:id="rId902"/>
    <p:sldId id="1027" r:id="rId903"/>
    <p:sldId id="1028" r:id="rId904"/>
    <p:sldId id="1029" r:id="rId905"/>
    <p:sldId id="1030" r:id="rId906"/>
    <p:sldId id="1032" r:id="rId907"/>
    <p:sldId id="1031" r:id="rId908"/>
    <p:sldId id="1526" r:id="rId909"/>
    <p:sldId id="885" r:id="rId910"/>
    <p:sldId id="1074" r:id="rId911"/>
    <p:sldId id="976" r:id="rId912"/>
    <p:sldId id="933" r:id="rId913"/>
    <p:sldId id="954" r:id="rId914"/>
    <p:sldId id="788" r:id="rId915"/>
    <p:sldId id="1502" r:id="rId916"/>
    <p:sldId id="1456" r:id="rId917"/>
    <p:sldId id="1489" r:id="rId918"/>
    <p:sldId id="1503" r:id="rId919"/>
    <p:sldId id="1493" r:id="rId920"/>
    <p:sldId id="1495" r:id="rId921"/>
    <p:sldId id="1511" r:id="rId922"/>
    <p:sldId id="1504" r:id="rId923"/>
    <p:sldId id="1557" r:id="rId924"/>
    <p:sldId id="1736" r:id="rId925"/>
    <p:sldId id="1752" r:id="rId926"/>
    <p:sldId id="1782" r:id="rId927"/>
    <p:sldId id="1783" r:id="rId928"/>
    <p:sldId id="1815" r:id="rId9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slide" Target="slides/slide92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commentAuthors" Target="commentAuthors.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935" Type="http://schemas.openxmlformats.org/officeDocument/2006/relationships/tableStyles" Target="tableStyles.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slide" Target="slides/slide927.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notesMaster" Target="notesMasters/notesMaster1.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presProps" Target="presProp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934" Type="http://schemas.openxmlformats.org/officeDocument/2006/relationships/theme" Target="theme/theme1.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slide" Target="slides/slide926.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933" Type="http://schemas.openxmlformats.org/officeDocument/2006/relationships/viewProps" Target="viewProps.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64" Type="http://schemas.openxmlformats.org/officeDocument/2006/relationships/slide" Target="slides/slide263.xml"/><Relationship Id="rId471" Type="http://schemas.openxmlformats.org/officeDocument/2006/relationships/slide" Target="slides/slide4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12-10-2026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659</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665</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737</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838</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866</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10/12/2026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6.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
        <p:nvSpPr>
          <p:cNvPr id="4" name="TextBox 2">
            <a:extLst>
              <a:ext uri="{FF2B5EF4-FFF2-40B4-BE49-F238E27FC236}">
                <a16:creationId xmlns:a16="http://schemas.microsoft.com/office/drawing/2014/main" id="{24BE27F9-32A7-80A2-70FA-5F48487B4552}"/>
              </a:ext>
            </a:extLst>
          </p:cNvPr>
          <p:cNvSpPr txBox="1"/>
          <p:nvPr/>
        </p:nvSpPr>
        <p:spPr>
          <a:xfrm>
            <a:off x="335360" y="1182428"/>
            <a:ext cx="11521280" cy="387798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 (</a:t>
            </a:r>
            <a:r>
              <a:rPr lang="en-IN" sz="2400" dirty="0"/>
              <a:t>Maximum </a:t>
            </a:r>
            <a:r>
              <a:rPr lang="en-IN" sz="2400" b="1" dirty="0"/>
              <a:t>64 characters</a:t>
            </a:r>
            <a:r>
              <a:rPr lang="en-IN" sz="2400" dirty="0"/>
              <a:t> long</a:t>
            </a:r>
            <a:r>
              <a:rPr lang="en-IN" sz="2200" dirty="0"/>
              <a:t>)</a:t>
            </a:r>
          </a:p>
          <a:p>
            <a:endParaRPr lang="en-IN" sz="2200" dirty="0"/>
          </a:p>
          <a:p>
            <a:r>
              <a:rPr lang="en-IN" sz="2200" b="1" dirty="0"/>
              <a:t>Database/schema names </a:t>
            </a:r>
            <a:r>
              <a:rPr lang="en-IN" sz="2200" dirty="0"/>
              <a:t>→ can also be OS-dependent </a:t>
            </a:r>
            <a:r>
              <a:rPr lang="en-IN" sz="2000" dirty="0"/>
              <a:t>(Maximum </a:t>
            </a:r>
            <a:r>
              <a:rPr lang="en-IN" sz="2000" b="1" dirty="0"/>
              <a:t>64 characters</a:t>
            </a:r>
            <a:r>
              <a:rPr lang="en-IN" sz="2000" dirty="0"/>
              <a:t> long)</a:t>
            </a:r>
            <a:endParaRPr lang="en-IN" sz="2200" dirty="0"/>
          </a:p>
          <a:p>
            <a:endParaRPr lang="en-IN" sz="2200" dirty="0"/>
          </a:p>
          <a:p>
            <a:r>
              <a:rPr lang="en-IN" sz="2200" b="1" dirty="0"/>
              <a:t>Column names </a:t>
            </a:r>
            <a:r>
              <a:rPr lang="en-IN" sz="2200" dirty="0"/>
              <a:t>→ Case-insensitive </a:t>
            </a:r>
            <a:r>
              <a:rPr lang="en-IN" sz="2000" dirty="0"/>
              <a:t>(Maximum </a:t>
            </a:r>
            <a:r>
              <a:rPr lang="en-IN" sz="2000" b="1" dirty="0"/>
              <a:t>64 characters</a:t>
            </a:r>
            <a:r>
              <a:rPr lang="en-IN" sz="2000" dirty="0"/>
              <a:t> long)</a:t>
            </a:r>
            <a:endParaRPr lang="en-IN" sz="2200" dirty="0"/>
          </a:p>
          <a:p>
            <a:endParaRPr lang="en-IN" sz="2200" dirty="0"/>
          </a:p>
          <a:p>
            <a:r>
              <a:rPr lang="en-IN" sz="2200" b="1" dirty="0"/>
              <a:t>String values </a:t>
            </a:r>
            <a:r>
              <a:rPr lang="en-IN" sz="2200" dirty="0"/>
              <a:t>→ Case-insensitive  / Depends on collation (Collation defines how text (characters) are compared and sorted in a database.)</a:t>
            </a: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70208"/>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r>
              <a:rPr lang="en-IN" sz="2000" dirty="0"/>
              <a:t>Is the part of an application through which the user interacts with the system.]</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EB2FA9-4076-1CDD-C222-8F00D31DCA31}"/>
              </a:ext>
            </a:extLst>
          </p:cNvPr>
          <p:cNvSpPr txBox="1"/>
          <p:nvPr/>
        </p:nvSpPr>
        <p:spPr>
          <a:xfrm>
            <a:off x="191344" y="141944"/>
            <a:ext cx="11928648" cy="156966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sz="2000" b="1" dirty="0">
                <a:solidFill>
                  <a:srgbClr val="3939F5"/>
                </a:solidFill>
              </a:rPr>
              <a:t>referential constraint </a:t>
            </a:r>
            <a:r>
              <a:rPr lang="en-IN" b="1" dirty="0">
                <a:latin typeface="Gill Sans MT (Body)"/>
              </a:rPr>
              <a:t>or </a:t>
            </a:r>
            <a:r>
              <a:rPr lang="en-IN" sz="2000" b="1" dirty="0">
                <a:solidFill>
                  <a:srgbClr val="3939F5"/>
                </a:solidFill>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a:t>
            </a:r>
            <a:r>
              <a:rPr lang="en-IN" b="1" dirty="0">
                <a:latin typeface="Gill Sans MT (Body)"/>
              </a:rPr>
              <a:t>foreign key </a:t>
            </a:r>
            <a:r>
              <a:rPr lang="en-IN" dirty="0">
                <a:latin typeface="Gill Sans MT (Body)"/>
              </a:rPr>
              <a:t>is a column or group of columns in a relational database table </a:t>
            </a:r>
            <a:r>
              <a:rPr lang="en-IN" sz="2000" b="1" dirty="0">
                <a:solidFill>
                  <a:srgbClr val="3939F5"/>
                </a:solidFill>
              </a:rPr>
              <a:t>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2" name="Title 1"/>
          <p:cNvSpPr txBox="1">
            <a:spLocks/>
          </p:cNvSpPr>
          <p:nvPr/>
        </p:nvSpPr>
        <p:spPr>
          <a:xfrm>
            <a:off x="1398341" y="1746793"/>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47328" y="3356406"/>
            <a:ext cx="12072664" cy="360098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sz="2200" b="1" dirty="0">
                <a:solidFill>
                  <a:srgbClr val="C00000"/>
                </a:solidFill>
              </a:rPr>
              <a:t>reference</a:t>
            </a:r>
            <a:r>
              <a:rPr lang="en-IN" dirty="0"/>
              <a:t> is a relationship between two tables where the values in one table </a:t>
            </a:r>
            <a:r>
              <a:rPr lang="en-IN" sz="2000" b="1" dirty="0">
                <a:solidFill>
                  <a:srgbClr val="3939F5"/>
                </a:solidFill>
              </a:rPr>
              <a:t>refer</a:t>
            </a:r>
            <a:r>
              <a:rPr lang="en-IN" dirty="0"/>
              <a:t> to the values in another table. </a:t>
            </a:r>
            <a:r>
              <a:rPr lang="en-US" dirty="0"/>
              <a:t>This is usually enforced </a:t>
            </a:r>
            <a:r>
              <a:rPr lang="en-US" sz="2000" b="1" dirty="0">
                <a:solidFill>
                  <a:srgbClr val="3939F5"/>
                </a:solidFill>
              </a:rPr>
              <a:t>using </a:t>
            </a:r>
            <a:r>
              <a:rPr lang="en-US" dirty="0"/>
              <a:t>a</a:t>
            </a:r>
            <a:r>
              <a:rPr lang="en-US" sz="2000" b="1" dirty="0">
                <a:solidFill>
                  <a:srgbClr val="3939F5"/>
                </a:solidFill>
              </a:rPr>
              <a:t> foreign key </a:t>
            </a:r>
            <a:r>
              <a:rPr lang="en-US" dirty="0"/>
              <a:t>constraint to maintain </a:t>
            </a:r>
            <a:r>
              <a:rPr lang="en-US" sz="2000" b="1" dirty="0">
                <a:solidFill>
                  <a:srgbClr val="3939F5"/>
                </a:solidFill>
              </a:rPr>
              <a:t>referential integrity</a:t>
            </a:r>
            <a:r>
              <a:rPr lang="en-US" sz="2200" b="1" dirty="0">
                <a:solidFill>
                  <a:srgbClr val="3939F5"/>
                </a:solidFill>
              </a:rPr>
              <a:t>.</a:t>
            </a:r>
          </a:p>
          <a:p>
            <a:pPr marL="177800" indent="-177800">
              <a:buFont typeface="Arial" panose="020B0604020202020204" pitchFamily="34" charset="0"/>
              <a:buChar char="•"/>
            </a:pPr>
            <a:endParaRPr lang="en-US" sz="600" b="1" dirty="0">
              <a:solidFill>
                <a:srgbClr val="3939F5"/>
              </a:solidFill>
            </a:endParaRPr>
          </a:p>
          <a:p>
            <a:pPr marL="622300" indent="-342900">
              <a:buFont typeface="+mj-lt"/>
              <a:buAutoNum type="alphaLcParenR"/>
            </a:pPr>
            <a:r>
              <a:rPr lang="en-US" b="1" dirty="0"/>
              <a:t>The </a:t>
            </a:r>
            <a:r>
              <a:rPr lang="en-US" sz="2000" b="1" dirty="0">
                <a:solidFill>
                  <a:srgbClr val="3939F5"/>
                </a:solidFill>
              </a:rPr>
              <a:t>referencing column </a:t>
            </a:r>
            <a:r>
              <a:rPr lang="en-US" b="1" dirty="0"/>
              <a:t>is called the </a:t>
            </a:r>
            <a:r>
              <a:rPr lang="en-US" sz="2000" b="1" dirty="0">
                <a:solidFill>
                  <a:srgbClr val="3939F5"/>
                </a:solidFill>
              </a:rPr>
              <a:t>Foreign Key</a:t>
            </a:r>
            <a:r>
              <a:rPr lang="en-US" b="1" dirty="0"/>
              <a:t>. (</a:t>
            </a:r>
            <a:r>
              <a:rPr lang="en-IN" dirty="0"/>
              <a:t>A referencing column is a column in a child table that refers to a primary key or unique key in another table.</a:t>
            </a:r>
            <a:r>
              <a:rPr lang="en-US" b="1" dirty="0"/>
              <a:t>)</a:t>
            </a:r>
          </a:p>
          <a:p>
            <a:pPr marL="622300" indent="-342900">
              <a:buFont typeface="+mj-lt"/>
              <a:buAutoNum type="alphaLcParenR"/>
            </a:pPr>
            <a:r>
              <a:rPr lang="en-US" b="1" dirty="0"/>
              <a:t>The </a:t>
            </a:r>
            <a:r>
              <a:rPr lang="en-US" sz="2000" b="1" dirty="0">
                <a:solidFill>
                  <a:srgbClr val="3939F5"/>
                </a:solidFill>
              </a:rPr>
              <a:t>referenced column </a:t>
            </a:r>
            <a:r>
              <a:rPr lang="en-US" b="1" dirty="0"/>
              <a:t>is usually the </a:t>
            </a:r>
            <a:r>
              <a:rPr lang="en-US" sz="2000" b="1" dirty="0">
                <a:solidFill>
                  <a:srgbClr val="3939F5"/>
                </a:solidFill>
              </a:rPr>
              <a:t>Primary Key </a:t>
            </a:r>
            <a:r>
              <a:rPr lang="en-US" b="1" dirty="0"/>
              <a:t>of the parent table. </a:t>
            </a:r>
            <a:r>
              <a:rPr lang="en-US" dirty="0"/>
              <a:t>(</a:t>
            </a:r>
            <a:r>
              <a:rPr lang="en-IN" dirty="0"/>
              <a:t>A referenced column is the column in the parent table that is referred to by a foreign key in another table.</a:t>
            </a:r>
            <a:r>
              <a:rPr lang="en-US" dirty="0"/>
              <a:t>)</a:t>
            </a:r>
            <a:endParaRPr lang="en-IN"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sz="2200" b="1" dirty="0">
                <a:solidFill>
                  <a:srgbClr val="C00000"/>
                </a:solidFill>
              </a:rPr>
              <a:t>referential key </a:t>
            </a:r>
            <a:r>
              <a:rPr lang="en-IN" dirty="0"/>
              <a:t>is a column or set of columns in a table that refers to the </a:t>
            </a:r>
            <a:r>
              <a:rPr lang="en-IN" sz="2000" b="1" dirty="0">
                <a:solidFill>
                  <a:srgbClr val="3939F5"/>
                </a:solidFill>
              </a:rPr>
              <a:t>primary key </a:t>
            </a:r>
            <a:r>
              <a:rPr lang="en-IN" dirty="0"/>
              <a:t>of another table. It establishes a relationship between two tables, where one table is called the </a:t>
            </a:r>
            <a:r>
              <a:rPr lang="en-IN" b="1" dirty="0"/>
              <a:t>parent table</a:t>
            </a:r>
            <a:r>
              <a:rPr lang="en-IN" dirty="0"/>
              <a:t>, and the other is called the </a:t>
            </a:r>
            <a:r>
              <a:rPr lang="en-IN" b="1" dirty="0"/>
              <a:t>child table.</a:t>
            </a:r>
          </a:p>
        </p:txBody>
      </p:sp>
      <p:sp>
        <p:nvSpPr>
          <p:cNvPr id="4" name="TextBox 5">
            <a:extLst>
              <a:ext uri="{FF2B5EF4-FFF2-40B4-BE49-F238E27FC236}">
                <a16:creationId xmlns:a16="http://schemas.microsoft.com/office/drawing/2014/main" id="{6FE845AF-BE05-6C69-A6C8-DB3987C7F85B}"/>
              </a:ext>
            </a:extLst>
          </p:cNvPr>
          <p:cNvSpPr txBox="1"/>
          <p:nvPr/>
        </p:nvSpPr>
        <p:spPr>
          <a:xfrm>
            <a:off x="4151784" y="3244914"/>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4128328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5" name="Rectangle 4"/>
          <p:cNvSpPr/>
          <p:nvPr/>
        </p:nvSpPr>
        <p:spPr>
          <a:xfrm>
            <a:off x="223458" y="2258060"/>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311930"/>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19816"/>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27210264-AF24-3768-4189-B846E8B56801}"/>
              </a:ext>
            </a:extLst>
          </p:cNvPr>
          <p:cNvSpPr/>
          <p:nvPr/>
        </p:nvSpPr>
        <p:spPr>
          <a:xfrm>
            <a:off x="223458" y="408131"/>
            <a:ext cx="11745084" cy="181588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t>
            </a:r>
            <a:r>
              <a:rPr lang="en-US" sz="2000" b="1" i="1" dirty="0">
                <a:solidFill>
                  <a:srgbClr val="3939F5"/>
                </a:solidFill>
                <a:latin typeface="Arial" panose="020B0604020202020204" pitchFamily="34" charset="0"/>
                <a:cs typeface="Arial" panose="020B0604020202020204" pitchFamily="34" charset="0"/>
              </a:rPr>
              <a:t>a relation is a table with rows and columns</a:t>
            </a:r>
            <a:r>
              <a:rPr lang="en-US" sz="2000" dirty="0">
                <a:latin typeface="Arial" panose="020B0604020202020204" pitchFamily="34" charset="0"/>
                <a:cs typeface="Arial" panose="020B0604020202020204" pitchFamily="34" charset="0"/>
              </a:rPr>
              <a:t>,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a:t>
            </a:r>
            <a:r>
              <a:rPr lang="en-US" sz="2000" b="1" i="1" dirty="0">
                <a:solidFill>
                  <a:srgbClr val="3939F5"/>
                </a:solidFill>
                <a:latin typeface="Arial" panose="020B0604020202020204" pitchFamily="34" charset="0"/>
                <a:cs typeface="Arial" panose="020B0604020202020204" pitchFamily="34" charset="0"/>
              </a:rPr>
              <a:t>set of tuples </a:t>
            </a:r>
            <a:r>
              <a:rPr lang="en-US" sz="2000" dirty="0">
                <a:latin typeface="Arial" panose="020B0604020202020204" pitchFamily="34" charset="0"/>
                <a:cs typeface="Arial" panose="020B0604020202020204" pitchFamily="34" charset="0"/>
              </a:rPr>
              <a:t>(records) that </a:t>
            </a:r>
            <a:r>
              <a:rPr lang="en-US" sz="2000" b="1" i="1" dirty="0">
                <a:solidFill>
                  <a:srgbClr val="3939F5"/>
                </a:solidFill>
                <a:latin typeface="Arial" panose="020B0604020202020204" pitchFamily="34" charset="0"/>
                <a:cs typeface="Arial" panose="020B0604020202020204" pitchFamily="34" charset="0"/>
              </a:rPr>
              <a:t>share </a:t>
            </a:r>
            <a:r>
              <a:rPr lang="en-US" sz="2000" dirty="0">
                <a:latin typeface="Arial" panose="020B0604020202020204" pitchFamily="34" charset="0"/>
                <a:cs typeface="Arial" panose="020B0604020202020204" pitchFamily="34" charset="0"/>
              </a:rPr>
              <a:t>the</a:t>
            </a:r>
            <a:r>
              <a:rPr lang="en-US" sz="2000" b="1" i="1" dirty="0">
                <a:solidFill>
                  <a:srgbClr val="3939F5"/>
                </a:solidFill>
                <a:latin typeface="Arial" panose="020B0604020202020204" pitchFamily="34" charset="0"/>
                <a:cs typeface="Arial" panose="020B0604020202020204" pitchFamily="34" charset="0"/>
              </a:rPr>
              <a:t> same structure. </a:t>
            </a:r>
            <a:r>
              <a:rPr lang="en-US" sz="2000" dirty="0">
                <a:latin typeface="Arial" panose="020B0604020202020204" pitchFamily="34" charset="0"/>
                <a:cs typeface="Arial" panose="020B0604020202020204" pitchFamily="34" charset="0"/>
              </a:rPr>
              <a:t>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3897913905"/>
              </p:ext>
            </p:extLst>
          </p:nvPr>
        </p:nvGraphicFramePr>
        <p:xfrm>
          <a:off x="97310" y="548680"/>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2" name="Group 1">
            <a:extLst>
              <a:ext uri="{FF2B5EF4-FFF2-40B4-BE49-F238E27FC236}">
                <a16:creationId xmlns:a16="http://schemas.microsoft.com/office/drawing/2014/main" id="{03BF0034-3D9A-6149-E4D3-B27775D158A0}"/>
              </a:ext>
            </a:extLst>
          </p:cNvPr>
          <p:cNvGrpSpPr/>
          <p:nvPr/>
        </p:nvGrpSpPr>
        <p:grpSpPr>
          <a:xfrm>
            <a:off x="152433" y="3284984"/>
            <a:ext cx="7524328" cy="3481269"/>
            <a:chOff x="1524000" y="3501008"/>
            <a:chExt cx="7524328"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524000" y="3501008"/>
              <a:ext cx="3131840"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511824" y="3501008"/>
              <a:ext cx="4536504"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
        <p:nvSpPr>
          <p:cNvPr id="11" name="TextBox 10">
            <a:extLst>
              <a:ext uri="{FF2B5EF4-FFF2-40B4-BE49-F238E27FC236}">
                <a16:creationId xmlns:a16="http://schemas.microsoft.com/office/drawing/2014/main" id="{6D360268-7B13-AEF4-EEDA-417114E74252}"/>
              </a:ext>
            </a:extLst>
          </p:cNvPr>
          <p:cNvSpPr txBox="1"/>
          <p:nvPr/>
        </p:nvSpPr>
        <p:spPr>
          <a:xfrm>
            <a:off x="8472264" y="5373216"/>
            <a:ext cx="3719736" cy="1200329"/>
          </a:xfrm>
          <a:prstGeom prst="rect">
            <a:avLst/>
          </a:prstGeom>
          <a:noFill/>
        </p:spPr>
        <p:txBody>
          <a:bodyPr wrap="square">
            <a:spAutoFit/>
          </a:bodyPr>
          <a:lstStyle/>
          <a:p>
            <a:r>
              <a:rPr lang="en-IN" b="1" dirty="0"/>
              <a:t>Relational Algebra</a:t>
            </a:r>
            <a:r>
              <a:rPr lang="en-IN" dirty="0"/>
              <a:t> is a </a:t>
            </a:r>
            <a:r>
              <a:rPr lang="en-IN" b="1" dirty="0"/>
              <a:t>formal query language</a:t>
            </a:r>
            <a:r>
              <a:rPr lang="en-IN" dirty="0"/>
              <a:t> used to retrieve and manipulate data from </a:t>
            </a:r>
            <a:r>
              <a:rPr lang="en-IN" b="1" dirty="0"/>
              <a:t>relational databases</a:t>
            </a:r>
            <a:r>
              <a:rPr lang="en-IN" dirty="0"/>
              <a:t>.</a:t>
            </a:r>
          </a:p>
        </p:txBody>
      </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6A5ED729-DBE9-C98B-248C-35CE6E29DA67}"/>
              </a:ext>
            </a:extLst>
          </p:cNvPr>
          <p:cNvGrpSpPr/>
          <p:nvPr/>
        </p:nvGrpSpPr>
        <p:grpSpPr>
          <a:xfrm>
            <a:off x="336842" y="1628800"/>
            <a:ext cx="11447789" cy="3600400"/>
            <a:chOff x="336842" y="1628800"/>
            <a:chExt cx="11447789" cy="3600400"/>
          </a:xfrm>
        </p:grpSpPr>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2" name="Rectangle 1">
              <a:extLst>
                <a:ext uri="{FF2B5EF4-FFF2-40B4-BE49-F238E27FC236}">
                  <a16:creationId xmlns:a16="http://schemas.microsoft.com/office/drawing/2014/main" id="{352B7D7E-779C-4363-BC03-32CBAD9AB671}"/>
                </a:ext>
              </a:extLst>
            </p:cNvPr>
            <p:cNvSpPr/>
            <p:nvPr/>
          </p:nvSpPr>
          <p:spPr>
            <a:xfrm>
              <a:off x="336842" y="2164968"/>
              <a:ext cx="4138632" cy="2528064"/>
            </a:xfrm>
            <a:prstGeom prst="rect">
              <a:avLst/>
            </a:prstGeom>
            <a:solidFill>
              <a:schemeClr val="bg1">
                <a:lumMod val="95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 </a:t>
              </a:r>
              <a:r>
                <a:rPr lang="en-IN" b="1" dirty="0">
                  <a:solidFill>
                    <a:srgbClr val="0070C0"/>
                  </a:solidFill>
                  <a:latin typeface="Calibri" panose="020F0502020204030204" pitchFamily="34" charset="0"/>
                  <a:cs typeface="Calibri" panose="020F0502020204030204" pitchFamily="34" charset="0"/>
                </a:rPr>
                <a:t>[</a:t>
              </a:r>
              <a:r>
                <a:rPr lang="en-IN" i="1" dirty="0">
                  <a:solidFill>
                    <a:srgbClr val="0070C0"/>
                  </a:solidFill>
                  <a:latin typeface="Calibri" panose="020F0502020204030204" pitchFamily="34" charset="0"/>
                  <a:cs typeface="Calibri" panose="020F0502020204030204" pitchFamily="34" charset="0"/>
                </a:rPr>
                <a:t> </a:t>
              </a:r>
              <a:r>
                <a:rPr lang="en-US" i="1" dirty="0">
                  <a:latin typeface="Calibri" panose="020F0502020204030204" pitchFamily="34" charset="0"/>
                  <a:cs typeface="Calibri" panose="020F0502020204030204" pitchFamily="34" charset="0"/>
                </a:rPr>
                <a:t>Database security ensures that only authorized users can access the data</a:t>
              </a:r>
              <a:r>
                <a:rPr lang="en-US" i="1" dirty="0">
                  <a:solidFill>
                    <a:srgbClr val="0070C0"/>
                  </a:solidFill>
                  <a:latin typeface="Calibri" panose="020F0502020204030204" pitchFamily="34" charset="0"/>
                  <a:cs typeface="Calibri" panose="020F0502020204030204" pitchFamily="34" charset="0"/>
                </a:rPr>
                <a:t> </a:t>
              </a:r>
              <a:r>
                <a:rPr lang="en-IN" b="1" dirty="0">
                  <a:solidFill>
                    <a:srgbClr val="0070C0"/>
                  </a:solidFill>
                  <a:latin typeface="Calibri" panose="020F0502020204030204" pitchFamily="34" charset="0"/>
                  <a:cs typeface="Calibri" panose="020F0502020204030204" pitchFamily="34" charset="0"/>
                </a:rPr>
                <a:t>]</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grpSp>
    </p:spTree>
    <p:extLst>
      <p:ext uri="{BB962C8B-B14F-4D97-AF65-F5344CB8AC3E}">
        <p14:creationId xmlns:p14="http://schemas.microsoft.com/office/powerpoint/2010/main" val="150880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id, ename, nn.</a:t>
            </a:r>
            <a:r>
              <a:rPr lang="en-US" dirty="0">
                <a:solidFill>
                  <a:srgbClr val="C00000"/>
                </a:solidFill>
                <a:latin typeface="Liberation Mono"/>
                <a:cs typeface="Arial" panose="020B0604020202020204" pitchFamily="34" charset="0"/>
              </a:rPr>
              <a:t>column_value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a n,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(n.c) nn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nn.</a:t>
            </a:r>
            <a:r>
              <a:rPr lang="en-US" dirty="0">
                <a:solidFill>
                  <a:srgbClr val="C00000"/>
                </a:solidFill>
                <a:latin typeface="Liberation Mono"/>
                <a:cs typeface="Arial" panose="020B0604020202020204" pitchFamily="34" charset="0"/>
              </a:rPr>
              <a:t>column_value </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'blue'</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585049"/>
          </a:xfrm>
          <a:prstGeom prst="rect">
            <a:avLst/>
          </a:prstGeom>
          <a:noFill/>
        </p:spPr>
        <p:txBody>
          <a:bodyPr wrap="square">
            <a:spAutoFit/>
          </a:bodyPr>
          <a:lstStyle/>
          <a:p>
            <a:pPr marL="285750" indent="-285750">
              <a:buFont typeface="Arial" panose="020B0604020202020204" pitchFamily="34" charset="0"/>
              <a:buChar char="•"/>
            </a:pPr>
            <a:r>
              <a:rPr lang="en-IN" sz="2000" dirty="0">
                <a:solidFill>
                  <a:srgbClr val="0077AA"/>
                </a:solidFill>
                <a:latin typeface="Liberation Mono"/>
                <a:cs typeface="Arial" panose="020B0604020202020204" pitchFamily="34" charset="0"/>
              </a:rPr>
              <a:t>CREATE</a:t>
            </a:r>
            <a:r>
              <a:rPr lang="en-IN" sz="2000" dirty="0">
                <a:latin typeface="Liberation Mono"/>
              </a:rPr>
              <a:t> </a:t>
            </a:r>
            <a:r>
              <a:rPr lang="en-US" sz="2000" dirty="0">
                <a:latin typeface="Liberation Mono"/>
                <a:cs typeface="Arial" panose="020B0604020202020204" pitchFamily="34" charset="0"/>
              </a:rPr>
              <a:t>or </a:t>
            </a:r>
            <a:r>
              <a:rPr lang="en-US" sz="2000" dirty="0">
                <a:solidFill>
                  <a:srgbClr val="0077AA"/>
                </a:solidFill>
                <a:latin typeface="Liberation Mono"/>
                <a:cs typeface="Arial" panose="020B0604020202020204" pitchFamily="34" charset="0"/>
              </a:rPr>
              <a:t>REPLACE</a:t>
            </a:r>
            <a:r>
              <a:rPr lang="en-US" sz="2000" dirty="0">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TYPE</a:t>
            </a:r>
            <a:r>
              <a:rPr lang="en-IN" sz="2000" dirty="0">
                <a:latin typeface="Liberation Mono"/>
              </a:rPr>
              <a:t> </a:t>
            </a:r>
            <a:r>
              <a:rPr lang="en-IN" sz="2000" b="1" i="1" dirty="0">
                <a:latin typeface="Liberation Mono"/>
                <a:cs typeface="Arial" panose="020B0604020202020204" pitchFamily="34" charset="0"/>
              </a:rPr>
              <a:t>address</a:t>
            </a:r>
            <a:r>
              <a:rPr lang="en-IN" sz="2000" dirty="0">
                <a:latin typeface="Liberation Mono"/>
              </a:rPr>
              <a:t> </a:t>
            </a:r>
            <a:r>
              <a:rPr lang="en-US" sz="2000" dirty="0">
                <a:solidFill>
                  <a:srgbClr val="0077AA"/>
                </a:solidFill>
                <a:latin typeface="Liberation Mono"/>
                <a:cs typeface="Arial" panose="020B0604020202020204" pitchFamily="34" charset="0"/>
              </a:rPr>
              <a:t>AS</a:t>
            </a:r>
            <a:r>
              <a:rPr lang="en-IN" sz="2000" dirty="0">
                <a:latin typeface="Liberation Mono"/>
              </a:rPr>
              <a:t> </a:t>
            </a:r>
            <a:r>
              <a:rPr lang="en-IN" sz="2000" dirty="0">
                <a:solidFill>
                  <a:srgbClr val="C00000"/>
                </a:solidFill>
                <a:latin typeface="Liberation Mono"/>
                <a:ea typeface="Verdana" panose="020B0604030504040204" pitchFamily="34" charset="0"/>
              </a:rPr>
              <a:t>OBJECT</a:t>
            </a:r>
            <a:r>
              <a:rPr lang="en-IN" sz="2000" dirty="0">
                <a:latin typeface="Liberation Mono"/>
              </a:rPr>
              <a:t>(city </a:t>
            </a:r>
            <a:r>
              <a:rPr lang="en-US" sz="2000" dirty="0">
                <a:solidFill>
                  <a:srgbClr val="834689"/>
                </a:solidFill>
                <a:latin typeface="Liberation Mono"/>
                <a:ea typeface="Verdana" panose="020B0604030504040204" pitchFamily="34" charset="0"/>
              </a:rPr>
              <a:t>VARCHAR2</a:t>
            </a:r>
            <a:r>
              <a:rPr lang="en-IN" sz="2000" dirty="0">
                <a:latin typeface="Liberation Mono"/>
              </a:rPr>
              <a:t>(10), state </a:t>
            </a:r>
            <a:r>
              <a:rPr lang="en-US" sz="2000" dirty="0">
                <a:solidFill>
                  <a:srgbClr val="834689"/>
                </a:solidFill>
                <a:latin typeface="Liberation Mono"/>
                <a:ea typeface="Verdana" panose="020B0604030504040204" pitchFamily="34" charset="0"/>
              </a:rPr>
              <a:t>VARCHAR2</a:t>
            </a:r>
            <a:r>
              <a:rPr lang="en-IN" sz="2000" dirty="0">
                <a:latin typeface="Liberation Mono"/>
              </a:rPr>
              <a:t>(2));</a:t>
            </a:r>
          </a:p>
          <a:p>
            <a:pPr marL="285750" indent="-285750">
              <a:buFont typeface="Arial" panose="020B0604020202020204" pitchFamily="34" charset="0"/>
              <a:buChar char="•"/>
            </a:pPr>
            <a:endParaRPr lang="en-IN" sz="7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t>
            </a:r>
            <a:r>
              <a:rPr lang="en-US" sz="2000" dirty="0">
                <a:latin typeface="Liberation Mono"/>
              </a:rPr>
              <a:t>addr </a:t>
            </a:r>
            <a:r>
              <a:rPr lang="en-IN" sz="2000"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t>
            </a:r>
            <a:r>
              <a:rPr lang="en-US" sz="2000" dirty="0">
                <a:latin typeface="Liberation Mono"/>
              </a:rPr>
              <a:t>address</a:t>
            </a:r>
            <a:r>
              <a:rPr lang="en-US" dirty="0">
                <a:latin typeface="Liberation Mono"/>
              </a:rPr>
              <a:t>(</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7" name="Rectangle 6"/>
          <p:cNvSpPr/>
          <p:nvPr/>
        </p:nvSpPr>
        <p:spPr>
          <a:xfrm>
            <a:off x="382688" y="2969763"/>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4" name="Rectangle 3">
            <a:extLst>
              <a:ext uri="{FF2B5EF4-FFF2-40B4-BE49-F238E27FC236}">
                <a16:creationId xmlns:a16="http://schemas.microsoft.com/office/drawing/2014/main" id="{B0FABCC7-D7A2-67E4-D6D2-AEE0759B9A60}"/>
              </a:ext>
            </a:extLst>
          </p:cNvPr>
          <p:cNvSpPr/>
          <p:nvPr/>
        </p:nvSpPr>
        <p:spPr>
          <a:xfrm>
            <a:off x="191344" y="3501008"/>
            <a:ext cx="11809312" cy="286232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s0ize, range, format and whether NULL is allowed or not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3020703924"/>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1585564687"/>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800200">
                  <a:extLst>
                    <a:ext uri="{9D8B030D-6E8A-4147-A177-3AD203B41FA5}">
                      <a16:colId xmlns:a16="http://schemas.microsoft.com/office/drawing/2014/main" val="3100486186"/>
                    </a:ext>
                  </a:extLst>
                </a:gridCol>
                <a:gridCol w="5416602">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r>
                        <a:rPr lang="en-IN">
                          <a:latin typeface="Palatino Linotype" panose="02040502050505030304" pitchFamily="18" charset="0"/>
                        </a:rPr>
                        <a:t>(size)</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62426"/>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57696" y="5013176"/>
            <a:ext cx="6768752"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513202"/>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12" name="TextBox 11">
            <a:extLst>
              <a:ext uri="{FF2B5EF4-FFF2-40B4-BE49-F238E27FC236}">
                <a16:creationId xmlns:a16="http://schemas.microsoft.com/office/drawing/2014/main" id="{8A3EE875-6471-8B7F-60A1-174FD00F1257}"/>
              </a:ext>
            </a:extLst>
          </p:cNvPr>
          <p:cNvSpPr txBox="1"/>
          <p:nvPr/>
        </p:nvSpPr>
        <p:spPr>
          <a:xfrm>
            <a:off x="257697" y="698439"/>
            <a:ext cx="9438703" cy="1711944"/>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IN" dirty="0">
                <a:latin typeface="Palatino Linotype" panose="02040502050505030304" pitchFamily="18" charset="0"/>
              </a:rPr>
              <a:t>WITH — defines a Common Table Expression (CTE).</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cte_name — temporary name given to the CTE result.</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Base query — the SELECT statement that retrieves the data.</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Main query — uses the result produced by the CTE.</a:t>
            </a: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6D933-B2A8-1C3F-34C6-FCB609700C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5503383-19C4-E252-503D-6D97C6D6DBE1}"/>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0607CEB6-C312-1348-1DB0-D9155DB6C280}"/>
              </a:ext>
            </a:extLst>
          </p:cNvPr>
          <p:cNvSpPr txBox="1"/>
          <p:nvPr/>
        </p:nvSpPr>
        <p:spPr>
          <a:xfrm>
            <a:off x="296529" y="3399101"/>
            <a:ext cx="11598942" cy="2004331"/>
          </a:xfrm>
          <a:prstGeom prst="rect">
            <a:avLst/>
          </a:prstGeom>
          <a:noFill/>
        </p:spPr>
        <p:txBody>
          <a:bodyPr wrap="square">
            <a:spAutoFit/>
          </a:bodyPr>
          <a:lstStyle/>
          <a:p>
            <a:r>
              <a:rPr lang="en-US" dirty="0">
                <a:latin typeface="Palatino Linotype" panose="02040502050505030304" pitchFamily="18" charset="0"/>
              </a:rPr>
              <a:t>The </a:t>
            </a:r>
            <a:r>
              <a:rPr lang="en-US" sz="2000" dirty="0">
                <a:latin typeface="Palatino Linotype" panose="02040502050505030304" pitchFamily="18" charset="0"/>
              </a:rPr>
              <a:t>Anchor Member </a:t>
            </a:r>
            <a:r>
              <a:rPr lang="en-US" dirty="0">
                <a:latin typeface="Palatino Linotype" panose="02040502050505030304" pitchFamily="18" charset="0"/>
              </a:rPr>
              <a:t>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4CBA8885-50C1-1FD1-374E-CD9809499299}"/>
              </a:ext>
            </a:extLst>
          </p:cNvPr>
          <p:cNvSpPr txBox="1"/>
          <p:nvPr/>
        </p:nvSpPr>
        <p:spPr>
          <a:xfrm>
            <a:off x="296529" y="1052736"/>
            <a:ext cx="6768752"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1969963708"/>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Base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a:t>
            </a:r>
            <a:r>
              <a:rPr lang="en-US" sz="2400" i="1" dirty="0">
                <a:solidFill>
                  <a:srgbClr val="80868B"/>
                </a:solidFill>
                <a:latin typeface="Courier New" panose="02070309020205020404" pitchFamily="49" charset="0"/>
              </a:rPr>
              <a:t>Base</a:t>
            </a:r>
            <a:r>
              <a:rPr lang="en-US" sz="2400" i="1" dirty="0">
                <a:solidFill>
                  <a:srgbClr val="80868B"/>
                </a:solidFill>
                <a:effectLst/>
                <a:latin typeface="Courier New" panose="02070309020205020404" pitchFamily="49" charset="0"/>
              </a:rPr>
              <a:t>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4025116936"/>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NEW.customerID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A0DDC-4435-AFF4-2FF3-A9515799DF6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65935CE-2E1F-86AE-EF3D-15C14D859795}"/>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Checking whether data has changed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F8671088-BF81-53A0-B31A-78F18D502EB7}"/>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2C03E6E4-34F0-A002-AB09-CF189A1812F1}"/>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D8102BD5-2C10-6E35-88EB-D7EC6BB748AA}"/>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'saleel'</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'sharmin'</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p:txBody>
        </p:sp>
        <p:sp>
          <p:nvSpPr>
            <p:cNvPr id="4" name="TextBox 3">
              <a:extLst>
                <a:ext uri="{FF2B5EF4-FFF2-40B4-BE49-F238E27FC236}">
                  <a16:creationId xmlns:a16="http://schemas.microsoft.com/office/drawing/2014/main" id="{C95EB420-B36C-5C4B-FAC2-DF2EE5D22A69}"/>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200965102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3E40-45D5-D2AA-5979-3FE78A1FF91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5E3A499-C357-976B-E599-B784892727B6}"/>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a:t>
            </a:r>
            <a:r>
              <a:rPr lang="en-IN" sz="3200" i="1" dirty="0">
                <a:solidFill>
                  <a:srgbClr val="FF9900"/>
                </a:solidFill>
                <a:latin typeface="Arial" pitchFamily="34" charset="0"/>
                <a:cs typeface="Arial" pitchFamily="34" charset="0"/>
              </a:rPr>
              <a:t>preventing unnoticed changes in salary records</a:t>
            </a:r>
            <a:r>
              <a:rPr lang="en-US" sz="3200" i="1" dirty="0">
                <a:solidFill>
                  <a:srgbClr val="FF9900"/>
                </a:solidFill>
                <a:latin typeface="Arial" pitchFamily="34" charset="0"/>
                <a:cs typeface="Arial" pitchFamily="34" charset="0"/>
              </a:rPr>
              <a:t>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4CF66B1C-AAD9-93F5-C83C-62619CD65CAE}"/>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1A4BB85A-49E0-33F8-965A-A6C59582D33B}"/>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6D9A8C43-E98D-7CEC-5F8B-B31B5B77070E}"/>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('saleel’);</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('sharmin');</a:t>
              </a:r>
            </a:p>
          </p:txBody>
        </p:sp>
        <p:sp>
          <p:nvSpPr>
            <p:cNvPr id="4" name="TextBox 3">
              <a:extLst>
                <a:ext uri="{FF2B5EF4-FFF2-40B4-BE49-F238E27FC236}">
                  <a16:creationId xmlns:a16="http://schemas.microsoft.com/office/drawing/2014/main" id="{F36F2F66-C731-5324-DE77-06605339BF28}"/>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853363566"/>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itemID INTO x FROM item WHERE itemID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73707</TotalTime>
  <Words>109605</Words>
  <Application>Microsoft Office PowerPoint</Application>
  <PresentationFormat>Widescreen</PresentationFormat>
  <Paragraphs>16582</Paragraphs>
  <Slides>928</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928</vt:i4>
      </vt:variant>
    </vt:vector>
  </HeadingPairs>
  <TitlesOfParts>
    <vt:vector size="975"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15544</cp:revision>
  <dcterms:created xsi:type="dcterms:W3CDTF">2015-10-09T06:09:34Z</dcterms:created>
  <dcterms:modified xsi:type="dcterms:W3CDTF">2026-10-12T01:53:25Z</dcterms:modified>
</cp:coreProperties>
</file>