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27.xml" ContentType="application/vnd.openxmlformats-officedocument.presentationml.slide+xml"/>
  <Override PartName="/ppt/slides/slide728.xml" ContentType="application/vnd.openxmlformats-officedocument.presentationml.slide+xml"/>
  <Override PartName="/ppt/slides/slide729.xml" ContentType="application/vnd.openxmlformats-officedocument.presentationml.slide+xml"/>
  <Override PartName="/ppt/slides/slide730.xml" ContentType="application/vnd.openxmlformats-officedocument.presentationml.slide+xml"/>
  <Override PartName="/ppt/slides/slide731.xml" ContentType="application/vnd.openxmlformats-officedocument.presentationml.slide+xml"/>
  <Override PartName="/ppt/slides/slide732.xml" ContentType="application/vnd.openxmlformats-officedocument.presentationml.slide+xml"/>
  <Override PartName="/ppt/slides/slide733.xml" ContentType="application/vnd.openxmlformats-officedocument.presentationml.slide+xml"/>
  <Override PartName="/ppt/slides/slide734.xml" ContentType="application/vnd.openxmlformats-officedocument.presentationml.slide+xml"/>
  <Override PartName="/ppt/slides/slide735.xml" ContentType="application/vnd.openxmlformats-officedocument.presentationml.slide+xml"/>
  <Override PartName="/ppt/slides/slide736.xml" ContentType="application/vnd.openxmlformats-officedocument.presentationml.slide+xml"/>
  <Override PartName="/ppt/slides/slide737.xml" ContentType="application/vnd.openxmlformats-officedocument.presentationml.slide+xml"/>
  <Override PartName="/ppt/slides/slide738.xml" ContentType="application/vnd.openxmlformats-officedocument.presentationml.slide+xml"/>
  <Override PartName="/ppt/slides/slide739.xml" ContentType="application/vnd.openxmlformats-officedocument.presentationml.slide+xml"/>
  <Override PartName="/ppt/slides/slide740.xml" ContentType="application/vnd.openxmlformats-officedocument.presentationml.slide+xml"/>
  <Override PartName="/ppt/slides/slide741.xml" ContentType="application/vnd.openxmlformats-officedocument.presentationml.slide+xml"/>
  <Override PartName="/ppt/slides/slide742.xml" ContentType="application/vnd.openxmlformats-officedocument.presentationml.slide+xml"/>
  <Override PartName="/ppt/slides/slide743.xml" ContentType="application/vnd.openxmlformats-officedocument.presentationml.slide+xml"/>
  <Override PartName="/ppt/slides/slide744.xml" ContentType="application/vnd.openxmlformats-officedocument.presentationml.slide+xml"/>
  <Override PartName="/ppt/slides/slide745.xml" ContentType="application/vnd.openxmlformats-officedocument.presentationml.slide+xml"/>
  <Override PartName="/ppt/slides/slide746.xml" ContentType="application/vnd.openxmlformats-officedocument.presentationml.slide+xml"/>
  <Override PartName="/ppt/slides/slide747.xml" ContentType="application/vnd.openxmlformats-officedocument.presentationml.slide+xml"/>
  <Override PartName="/ppt/slides/slide748.xml" ContentType="application/vnd.openxmlformats-officedocument.presentationml.slide+xml"/>
  <Override PartName="/ppt/slides/slide749.xml" ContentType="application/vnd.openxmlformats-officedocument.presentationml.slide+xml"/>
  <Override PartName="/ppt/slides/slide750.xml" ContentType="application/vnd.openxmlformats-officedocument.presentationml.slide+xml"/>
  <Override PartName="/ppt/slides/slide751.xml" ContentType="application/vnd.openxmlformats-officedocument.presentationml.slide+xml"/>
  <Override PartName="/ppt/slides/slide752.xml" ContentType="application/vnd.openxmlformats-officedocument.presentationml.slide+xml"/>
  <Override PartName="/ppt/slides/slide753.xml" ContentType="application/vnd.openxmlformats-officedocument.presentationml.slide+xml"/>
  <Override PartName="/ppt/slides/slide754.xml" ContentType="application/vnd.openxmlformats-officedocument.presentationml.slide+xml"/>
  <Override PartName="/ppt/slides/slide755.xml" ContentType="application/vnd.openxmlformats-officedocument.presentationml.slide+xml"/>
  <Override PartName="/ppt/slides/slide756.xml" ContentType="application/vnd.openxmlformats-officedocument.presentationml.slide+xml"/>
  <Override PartName="/ppt/slides/slide757.xml" ContentType="application/vnd.openxmlformats-officedocument.presentationml.slide+xml"/>
  <Override PartName="/ppt/slides/slide758.xml" ContentType="application/vnd.openxmlformats-officedocument.presentationml.slide+xml"/>
  <Override PartName="/ppt/slides/slide759.xml" ContentType="application/vnd.openxmlformats-officedocument.presentationml.slide+xml"/>
  <Override PartName="/ppt/slides/slide760.xml" ContentType="application/vnd.openxmlformats-officedocument.presentationml.slide+xml"/>
  <Override PartName="/ppt/slides/slide761.xml" ContentType="application/vnd.openxmlformats-officedocument.presentationml.slide+xml"/>
  <Override PartName="/ppt/slides/slide762.xml" ContentType="application/vnd.openxmlformats-officedocument.presentationml.slide+xml"/>
  <Override PartName="/ppt/slides/slide763.xml" ContentType="application/vnd.openxmlformats-officedocument.presentationml.slide+xml"/>
  <Override PartName="/ppt/slides/slide764.xml" ContentType="application/vnd.openxmlformats-officedocument.presentationml.slide+xml"/>
  <Override PartName="/ppt/slides/slide765.xml" ContentType="application/vnd.openxmlformats-officedocument.presentationml.slide+xml"/>
  <Override PartName="/ppt/slides/slide766.xml" ContentType="application/vnd.openxmlformats-officedocument.presentationml.slide+xml"/>
  <Override PartName="/ppt/slides/slide767.xml" ContentType="application/vnd.openxmlformats-officedocument.presentationml.slide+xml"/>
  <Override PartName="/ppt/slides/slide768.xml" ContentType="application/vnd.openxmlformats-officedocument.presentationml.slide+xml"/>
  <Override PartName="/ppt/slides/slide769.xml" ContentType="application/vnd.openxmlformats-officedocument.presentationml.slide+xml"/>
  <Override PartName="/ppt/slides/slide770.xml" ContentType="application/vnd.openxmlformats-officedocument.presentationml.slide+xml"/>
  <Override PartName="/ppt/slides/slide771.xml" ContentType="application/vnd.openxmlformats-officedocument.presentationml.slide+xml"/>
  <Override PartName="/ppt/slides/slide772.xml" ContentType="application/vnd.openxmlformats-officedocument.presentationml.slide+xml"/>
  <Override PartName="/ppt/slides/slide773.xml" ContentType="application/vnd.openxmlformats-officedocument.presentationml.slide+xml"/>
  <Override PartName="/ppt/slides/slide774.xml" ContentType="application/vnd.openxmlformats-officedocument.presentationml.slide+xml"/>
  <Override PartName="/ppt/slides/slide775.xml" ContentType="application/vnd.openxmlformats-officedocument.presentationml.slide+xml"/>
  <Override PartName="/ppt/slides/slide776.xml" ContentType="application/vnd.openxmlformats-officedocument.presentationml.slide+xml"/>
  <Override PartName="/ppt/slides/slide777.xml" ContentType="application/vnd.openxmlformats-officedocument.presentationml.slide+xml"/>
  <Override PartName="/ppt/slides/slide778.xml" ContentType="application/vnd.openxmlformats-officedocument.presentationml.slide+xml"/>
  <Override PartName="/ppt/slides/slide779.xml" ContentType="application/vnd.openxmlformats-officedocument.presentationml.slide+xml"/>
  <Override PartName="/ppt/slides/slide780.xml" ContentType="application/vnd.openxmlformats-officedocument.presentationml.slide+xml"/>
  <Override PartName="/ppt/slides/slide781.xml" ContentType="application/vnd.openxmlformats-officedocument.presentationml.slide+xml"/>
  <Override PartName="/ppt/slides/slide782.xml" ContentType="application/vnd.openxmlformats-officedocument.presentationml.slide+xml"/>
  <Override PartName="/ppt/slides/slide783.xml" ContentType="application/vnd.openxmlformats-officedocument.presentationml.slide+xml"/>
  <Override PartName="/ppt/slides/slide784.xml" ContentType="application/vnd.openxmlformats-officedocument.presentationml.slide+xml"/>
  <Override PartName="/ppt/slides/slide785.xml" ContentType="application/vnd.openxmlformats-officedocument.presentationml.slide+xml"/>
  <Override PartName="/ppt/slides/slide786.xml" ContentType="application/vnd.openxmlformats-officedocument.presentationml.slide+xml"/>
  <Override PartName="/ppt/slides/slide787.xml" ContentType="application/vnd.openxmlformats-officedocument.presentationml.slide+xml"/>
  <Override PartName="/ppt/slides/slide788.xml" ContentType="application/vnd.openxmlformats-officedocument.presentationml.slide+xml"/>
  <Override PartName="/ppt/slides/slide789.xml" ContentType="application/vnd.openxmlformats-officedocument.presentationml.slide+xml"/>
  <Override PartName="/ppt/slides/slide790.xml" ContentType="application/vnd.openxmlformats-officedocument.presentationml.slide+xml"/>
  <Override PartName="/ppt/slides/slide791.xml" ContentType="application/vnd.openxmlformats-officedocument.presentationml.slide+xml"/>
  <Override PartName="/ppt/slides/slide792.xml" ContentType="application/vnd.openxmlformats-officedocument.presentationml.slide+xml"/>
  <Override PartName="/ppt/slides/slide793.xml" ContentType="application/vnd.openxmlformats-officedocument.presentationml.slide+xml"/>
  <Override PartName="/ppt/slides/slide794.xml" ContentType="application/vnd.openxmlformats-officedocument.presentationml.slide+xml"/>
  <Override PartName="/ppt/slides/slide795.xml" ContentType="application/vnd.openxmlformats-officedocument.presentationml.slide+xml"/>
  <Override PartName="/ppt/slides/slide796.xml" ContentType="application/vnd.openxmlformats-officedocument.presentationml.slide+xml"/>
  <Override PartName="/ppt/slides/slide797.xml" ContentType="application/vnd.openxmlformats-officedocument.presentationml.slide+xml"/>
  <Override PartName="/ppt/slides/slide798.xml" ContentType="application/vnd.openxmlformats-officedocument.presentationml.slide+xml"/>
  <Override PartName="/ppt/slides/slide799.xml" ContentType="application/vnd.openxmlformats-officedocument.presentationml.slide+xml"/>
  <Override PartName="/ppt/slides/slide800.xml" ContentType="application/vnd.openxmlformats-officedocument.presentationml.slide+xml"/>
  <Override PartName="/ppt/slides/slide801.xml" ContentType="application/vnd.openxmlformats-officedocument.presentationml.slide+xml"/>
  <Override PartName="/ppt/slides/slide802.xml" ContentType="application/vnd.openxmlformats-officedocument.presentationml.slide+xml"/>
  <Override PartName="/ppt/slides/slide803.xml" ContentType="application/vnd.openxmlformats-officedocument.presentationml.slide+xml"/>
  <Override PartName="/ppt/slides/slide804.xml" ContentType="application/vnd.openxmlformats-officedocument.presentationml.slide+xml"/>
  <Override PartName="/ppt/slides/slide805.xml" ContentType="application/vnd.openxmlformats-officedocument.presentationml.slide+xml"/>
  <Override PartName="/ppt/slides/slide806.xml" ContentType="application/vnd.openxmlformats-officedocument.presentationml.slide+xml"/>
  <Override PartName="/ppt/slides/slide807.xml" ContentType="application/vnd.openxmlformats-officedocument.presentationml.slide+xml"/>
  <Override PartName="/ppt/slides/slide808.xml" ContentType="application/vnd.openxmlformats-officedocument.presentationml.slide+xml"/>
  <Override PartName="/ppt/slides/slide809.xml" ContentType="application/vnd.openxmlformats-officedocument.presentationml.slide+xml"/>
  <Override PartName="/ppt/slides/slide810.xml" ContentType="application/vnd.openxmlformats-officedocument.presentationml.slide+xml"/>
  <Override PartName="/ppt/slides/slide811.xml" ContentType="application/vnd.openxmlformats-officedocument.presentationml.slide+xml"/>
  <Override PartName="/ppt/slides/slide812.xml" ContentType="application/vnd.openxmlformats-officedocument.presentationml.slide+xml"/>
  <Override PartName="/ppt/slides/slide813.xml" ContentType="application/vnd.openxmlformats-officedocument.presentationml.slide+xml"/>
  <Override PartName="/ppt/slides/slide814.xml" ContentType="application/vnd.openxmlformats-officedocument.presentationml.slide+xml"/>
  <Override PartName="/ppt/slides/slide815.xml" ContentType="application/vnd.openxmlformats-officedocument.presentationml.slide+xml"/>
  <Override PartName="/ppt/slides/slide816.xml" ContentType="application/vnd.openxmlformats-officedocument.presentationml.slide+xml"/>
  <Override PartName="/ppt/slides/slide817.xml" ContentType="application/vnd.openxmlformats-officedocument.presentationml.slide+xml"/>
  <Override PartName="/ppt/slides/slide818.xml" ContentType="application/vnd.openxmlformats-officedocument.presentationml.slide+xml"/>
  <Override PartName="/ppt/slides/slide819.xml" ContentType="application/vnd.openxmlformats-officedocument.presentationml.slide+xml"/>
  <Override PartName="/ppt/slides/slide820.xml" ContentType="application/vnd.openxmlformats-officedocument.presentationml.slide+xml"/>
  <Override PartName="/ppt/slides/slide821.xml" ContentType="application/vnd.openxmlformats-officedocument.presentationml.slide+xml"/>
  <Override PartName="/ppt/slides/slide822.xml" ContentType="application/vnd.openxmlformats-officedocument.presentationml.slide+xml"/>
  <Override PartName="/ppt/slides/slide823.xml" ContentType="application/vnd.openxmlformats-officedocument.presentationml.slide+xml"/>
  <Override PartName="/ppt/slides/slide824.xml" ContentType="application/vnd.openxmlformats-officedocument.presentationml.slide+xml"/>
  <Override PartName="/ppt/slides/slide825.xml" ContentType="application/vnd.openxmlformats-officedocument.presentationml.slide+xml"/>
  <Override PartName="/ppt/slides/slide826.xml" ContentType="application/vnd.openxmlformats-officedocument.presentationml.slide+xml"/>
  <Override PartName="/ppt/slides/slide827.xml" ContentType="application/vnd.openxmlformats-officedocument.presentationml.slide+xml"/>
  <Override PartName="/ppt/slides/slide828.xml" ContentType="application/vnd.openxmlformats-officedocument.presentationml.slide+xml"/>
  <Override PartName="/ppt/slides/slide829.xml" ContentType="application/vnd.openxmlformats-officedocument.presentationml.slide+xml"/>
  <Override PartName="/ppt/slides/slide830.xml" ContentType="application/vnd.openxmlformats-officedocument.presentationml.slide+xml"/>
  <Override PartName="/ppt/slides/slide831.xml" ContentType="application/vnd.openxmlformats-officedocument.presentationml.slide+xml"/>
  <Override PartName="/ppt/slides/slide832.xml" ContentType="application/vnd.openxmlformats-officedocument.presentationml.slide+xml"/>
  <Override PartName="/ppt/slides/slide833.xml" ContentType="application/vnd.openxmlformats-officedocument.presentationml.slide+xml"/>
  <Override PartName="/ppt/slides/slide834.xml" ContentType="application/vnd.openxmlformats-officedocument.presentationml.slide+xml"/>
  <Override PartName="/ppt/slides/slide835.xml" ContentType="application/vnd.openxmlformats-officedocument.presentationml.slide+xml"/>
  <Override PartName="/ppt/slides/slide836.xml" ContentType="application/vnd.openxmlformats-officedocument.presentationml.slide+xml"/>
  <Override PartName="/ppt/slides/slide837.xml" ContentType="application/vnd.openxmlformats-officedocument.presentationml.slide+xml"/>
  <Override PartName="/ppt/slides/slide838.xml" ContentType="application/vnd.openxmlformats-officedocument.presentationml.slide+xml"/>
  <Override PartName="/ppt/slides/slide839.xml" ContentType="application/vnd.openxmlformats-officedocument.presentationml.slide+xml"/>
  <Override PartName="/ppt/slides/slide840.xml" ContentType="application/vnd.openxmlformats-officedocument.presentationml.slide+xml"/>
  <Override PartName="/ppt/slides/slide841.xml" ContentType="application/vnd.openxmlformats-officedocument.presentationml.slide+xml"/>
  <Override PartName="/ppt/slides/slide842.xml" ContentType="application/vnd.openxmlformats-officedocument.presentationml.slide+xml"/>
  <Override PartName="/ppt/slides/slide843.xml" ContentType="application/vnd.openxmlformats-officedocument.presentationml.slide+xml"/>
  <Override PartName="/ppt/slides/slide844.xml" ContentType="application/vnd.openxmlformats-officedocument.presentationml.slide+xml"/>
  <Override PartName="/ppt/slides/slide845.xml" ContentType="application/vnd.openxmlformats-officedocument.presentationml.slide+xml"/>
  <Override PartName="/ppt/slides/slide846.xml" ContentType="application/vnd.openxmlformats-officedocument.presentationml.slide+xml"/>
  <Override PartName="/ppt/slides/slide847.xml" ContentType="application/vnd.openxmlformats-officedocument.presentationml.slide+xml"/>
  <Override PartName="/ppt/slides/slide848.xml" ContentType="application/vnd.openxmlformats-officedocument.presentationml.slide+xml"/>
  <Override PartName="/ppt/slides/slide849.xml" ContentType="application/vnd.openxmlformats-officedocument.presentationml.slide+xml"/>
  <Override PartName="/ppt/slides/slide850.xml" ContentType="application/vnd.openxmlformats-officedocument.presentationml.slide+xml"/>
  <Override PartName="/ppt/slides/slide851.xml" ContentType="application/vnd.openxmlformats-officedocument.presentationml.slide+xml"/>
  <Override PartName="/ppt/slides/slide852.xml" ContentType="application/vnd.openxmlformats-officedocument.presentationml.slide+xml"/>
  <Override PartName="/ppt/slides/slide853.xml" ContentType="application/vnd.openxmlformats-officedocument.presentationml.slide+xml"/>
  <Override PartName="/ppt/slides/slide854.xml" ContentType="application/vnd.openxmlformats-officedocument.presentationml.slide+xml"/>
  <Override PartName="/ppt/slides/slide855.xml" ContentType="application/vnd.openxmlformats-officedocument.presentationml.slide+xml"/>
  <Override PartName="/ppt/slides/slide856.xml" ContentType="application/vnd.openxmlformats-officedocument.presentationml.slide+xml"/>
  <Override PartName="/ppt/slides/slide857.xml" ContentType="application/vnd.openxmlformats-officedocument.presentationml.slide+xml"/>
  <Override PartName="/ppt/slides/slide858.xml" ContentType="application/vnd.openxmlformats-officedocument.presentationml.slide+xml"/>
  <Override PartName="/ppt/slides/slide859.xml" ContentType="application/vnd.openxmlformats-officedocument.presentationml.slide+xml"/>
  <Override PartName="/ppt/slides/slide860.xml" ContentType="application/vnd.openxmlformats-officedocument.presentationml.slide+xml"/>
  <Override PartName="/ppt/slides/slide861.xml" ContentType="application/vnd.openxmlformats-officedocument.presentationml.slide+xml"/>
  <Override PartName="/ppt/slides/slide862.xml" ContentType="application/vnd.openxmlformats-officedocument.presentationml.slide+xml"/>
  <Override PartName="/ppt/slides/slide863.xml" ContentType="application/vnd.openxmlformats-officedocument.presentationml.slide+xml"/>
  <Override PartName="/ppt/slides/slide864.xml" ContentType="application/vnd.openxmlformats-officedocument.presentationml.slide+xml"/>
  <Override PartName="/ppt/slides/slide865.xml" ContentType="application/vnd.openxmlformats-officedocument.presentationml.slide+xml"/>
  <Override PartName="/ppt/slides/slide866.xml" ContentType="application/vnd.openxmlformats-officedocument.presentationml.slide+xml"/>
  <Override PartName="/ppt/slides/slide867.xml" ContentType="application/vnd.openxmlformats-officedocument.presentationml.slide+xml"/>
  <Override PartName="/ppt/slides/slide868.xml" ContentType="application/vnd.openxmlformats-officedocument.presentationml.slide+xml"/>
  <Override PartName="/ppt/slides/slide869.xml" ContentType="application/vnd.openxmlformats-officedocument.presentationml.slide+xml"/>
  <Override PartName="/ppt/slides/slide870.xml" ContentType="application/vnd.openxmlformats-officedocument.presentationml.slide+xml"/>
  <Override PartName="/ppt/slides/slide871.xml" ContentType="application/vnd.openxmlformats-officedocument.presentationml.slide+xml"/>
  <Override PartName="/ppt/slides/slide872.xml" ContentType="application/vnd.openxmlformats-officedocument.presentationml.slide+xml"/>
  <Override PartName="/ppt/slides/slide873.xml" ContentType="application/vnd.openxmlformats-officedocument.presentationml.slide+xml"/>
  <Override PartName="/ppt/slides/slide874.xml" ContentType="application/vnd.openxmlformats-officedocument.presentationml.slide+xml"/>
  <Override PartName="/ppt/slides/slide875.xml" ContentType="application/vnd.openxmlformats-officedocument.presentationml.slide+xml"/>
  <Override PartName="/ppt/slides/slide876.xml" ContentType="application/vnd.openxmlformats-officedocument.presentationml.slide+xml"/>
  <Override PartName="/ppt/slides/slide877.xml" ContentType="application/vnd.openxmlformats-officedocument.presentationml.slide+xml"/>
  <Override PartName="/ppt/slides/slide878.xml" ContentType="application/vnd.openxmlformats-officedocument.presentationml.slide+xml"/>
  <Override PartName="/ppt/slides/slide879.xml" ContentType="application/vnd.openxmlformats-officedocument.presentationml.slide+xml"/>
  <Override PartName="/ppt/slides/slide880.xml" ContentType="application/vnd.openxmlformats-officedocument.presentationml.slide+xml"/>
  <Override PartName="/ppt/slides/slide881.xml" ContentType="application/vnd.openxmlformats-officedocument.presentationml.slide+xml"/>
  <Override PartName="/ppt/slides/slide882.xml" ContentType="application/vnd.openxmlformats-officedocument.presentationml.slide+xml"/>
  <Override PartName="/ppt/slides/slide883.xml" ContentType="application/vnd.openxmlformats-officedocument.presentationml.slide+xml"/>
  <Override PartName="/ppt/slides/slide884.xml" ContentType="application/vnd.openxmlformats-officedocument.presentationml.slide+xml"/>
  <Override PartName="/ppt/slides/slide885.xml" ContentType="application/vnd.openxmlformats-officedocument.presentationml.slide+xml"/>
  <Override PartName="/ppt/slides/slide886.xml" ContentType="application/vnd.openxmlformats-officedocument.presentationml.slide+xml"/>
  <Override PartName="/ppt/slides/slide887.xml" ContentType="application/vnd.openxmlformats-officedocument.presentationml.slide+xml"/>
  <Override PartName="/ppt/slides/slide888.xml" ContentType="application/vnd.openxmlformats-officedocument.presentationml.slide+xml"/>
  <Override PartName="/ppt/slides/slide889.xml" ContentType="application/vnd.openxmlformats-officedocument.presentationml.slide+xml"/>
  <Override PartName="/ppt/slides/slide890.xml" ContentType="application/vnd.openxmlformats-officedocument.presentationml.slide+xml"/>
  <Override PartName="/ppt/slides/slide891.xml" ContentType="application/vnd.openxmlformats-officedocument.presentationml.slide+xml"/>
  <Override PartName="/ppt/slides/slide892.xml" ContentType="application/vnd.openxmlformats-officedocument.presentationml.slide+xml"/>
  <Override PartName="/ppt/slides/slide893.xml" ContentType="application/vnd.openxmlformats-officedocument.presentationml.slide+xml"/>
  <Override PartName="/ppt/slides/slide894.xml" ContentType="application/vnd.openxmlformats-officedocument.presentationml.slide+xml"/>
  <Override PartName="/ppt/slides/slide895.xml" ContentType="application/vnd.openxmlformats-officedocument.presentationml.slide+xml"/>
  <Override PartName="/ppt/slides/slide896.xml" ContentType="application/vnd.openxmlformats-officedocument.presentationml.slide+xml"/>
  <Override PartName="/ppt/slides/slide897.xml" ContentType="application/vnd.openxmlformats-officedocument.presentationml.slide+xml"/>
  <Override PartName="/ppt/slides/slide898.xml" ContentType="application/vnd.openxmlformats-officedocument.presentationml.slide+xml"/>
  <Override PartName="/ppt/slides/slide899.xml" ContentType="application/vnd.openxmlformats-officedocument.presentationml.slide+xml"/>
  <Override PartName="/ppt/slides/slide900.xml" ContentType="application/vnd.openxmlformats-officedocument.presentationml.slide+xml"/>
  <Override PartName="/ppt/slides/slide901.xml" ContentType="application/vnd.openxmlformats-officedocument.presentationml.slide+xml"/>
  <Override PartName="/ppt/slides/slide902.xml" ContentType="application/vnd.openxmlformats-officedocument.presentationml.slide+xml"/>
  <Override PartName="/ppt/slides/slide903.xml" ContentType="application/vnd.openxmlformats-officedocument.presentationml.slide+xml"/>
  <Override PartName="/ppt/slides/slide904.xml" ContentType="application/vnd.openxmlformats-officedocument.presentationml.slide+xml"/>
  <Override PartName="/ppt/slides/slide905.xml" ContentType="application/vnd.openxmlformats-officedocument.presentationml.slide+xml"/>
  <Override PartName="/ppt/slides/slide906.xml" ContentType="application/vnd.openxmlformats-officedocument.presentationml.slide+xml"/>
  <Override PartName="/ppt/slides/slide907.xml" ContentType="application/vnd.openxmlformats-officedocument.presentationml.slide+xml"/>
  <Override PartName="/ppt/slides/slide908.xml" ContentType="application/vnd.openxmlformats-officedocument.presentationml.slide+xml"/>
  <Override PartName="/ppt/slides/slide909.xml" ContentType="application/vnd.openxmlformats-officedocument.presentationml.slide+xml"/>
  <Override PartName="/ppt/slides/slide910.xml" ContentType="application/vnd.openxmlformats-officedocument.presentationml.slide+xml"/>
  <Override PartName="/ppt/slides/slide911.xml" ContentType="application/vnd.openxmlformats-officedocument.presentationml.slide+xml"/>
  <Override PartName="/ppt/slides/slide912.xml" ContentType="application/vnd.openxmlformats-officedocument.presentationml.slide+xml"/>
  <Override PartName="/ppt/slides/slide913.xml" ContentType="application/vnd.openxmlformats-officedocument.presentationml.slide+xml"/>
  <Override PartName="/ppt/slides/slide914.xml" ContentType="application/vnd.openxmlformats-officedocument.presentationml.slide+xml"/>
  <Override PartName="/ppt/slides/slide915.xml" ContentType="application/vnd.openxmlformats-officedocument.presentationml.slide+xml"/>
  <Override PartName="/ppt/slides/slide916.xml" ContentType="application/vnd.openxmlformats-officedocument.presentationml.slide+xml"/>
  <Override PartName="/ppt/slides/slide917.xml" ContentType="application/vnd.openxmlformats-officedocument.presentationml.slide+xml"/>
  <Override PartName="/ppt/slides/slide918.xml" ContentType="application/vnd.openxmlformats-officedocument.presentationml.slide+xml"/>
  <Override PartName="/ppt/slides/slide919.xml" ContentType="application/vnd.openxmlformats-officedocument.presentationml.slide+xml"/>
  <Override PartName="/ppt/slides/slide920.xml" ContentType="application/vnd.openxmlformats-officedocument.presentationml.slide+xml"/>
  <Override PartName="/ppt/slides/slide92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923"/>
  </p:notesMasterIdLst>
  <p:sldIdLst>
    <p:sldId id="257" r:id="rId2"/>
    <p:sldId id="1543" r:id="rId3"/>
    <p:sldId id="1118" r:id="rId4"/>
    <p:sldId id="1119" r:id="rId5"/>
    <p:sldId id="472" r:id="rId6"/>
    <p:sldId id="1462" r:id="rId7"/>
    <p:sldId id="1562" r:id="rId8"/>
    <p:sldId id="1482" r:id="rId9"/>
    <p:sldId id="1094" r:id="rId10"/>
    <p:sldId id="1589" r:id="rId11"/>
    <p:sldId id="1095" r:id="rId12"/>
    <p:sldId id="1703" r:id="rId13"/>
    <p:sldId id="1807" r:id="rId14"/>
    <p:sldId id="1591" r:id="rId15"/>
    <p:sldId id="1590" r:id="rId16"/>
    <p:sldId id="1231" r:id="rId17"/>
    <p:sldId id="1232" r:id="rId18"/>
    <p:sldId id="1282" r:id="rId19"/>
    <p:sldId id="1221" r:id="rId20"/>
    <p:sldId id="1534" r:id="rId21"/>
    <p:sldId id="1592" r:id="rId22"/>
    <p:sldId id="1576" r:id="rId23"/>
    <p:sldId id="1540" r:id="rId24"/>
    <p:sldId id="598" r:id="rId25"/>
    <p:sldId id="326" r:id="rId26"/>
    <p:sldId id="1535" r:id="rId27"/>
    <p:sldId id="1086" r:id="rId28"/>
    <p:sldId id="579" r:id="rId29"/>
    <p:sldId id="1429" r:id="rId30"/>
    <p:sldId id="1704" r:id="rId31"/>
    <p:sldId id="1234" r:id="rId32"/>
    <p:sldId id="1445" r:id="rId33"/>
    <p:sldId id="1446" r:id="rId34"/>
    <p:sldId id="1451" r:id="rId35"/>
    <p:sldId id="1452" r:id="rId36"/>
    <p:sldId id="1344" r:id="rId37"/>
    <p:sldId id="1593" r:id="rId38"/>
    <p:sldId id="1122" r:id="rId39"/>
    <p:sldId id="599" r:id="rId40"/>
    <p:sldId id="271" r:id="rId41"/>
    <p:sldId id="328" r:id="rId42"/>
    <p:sldId id="1564" r:id="rId43"/>
    <p:sldId id="1657" r:id="rId44"/>
    <p:sldId id="1648" r:id="rId45"/>
    <p:sldId id="315" r:id="rId46"/>
    <p:sldId id="314" r:id="rId47"/>
    <p:sldId id="600" r:id="rId48"/>
    <p:sldId id="1544" r:id="rId49"/>
    <p:sldId id="692" r:id="rId50"/>
    <p:sldId id="319" r:id="rId51"/>
    <p:sldId id="601" r:id="rId52"/>
    <p:sldId id="500" r:id="rId53"/>
    <p:sldId id="321" r:id="rId54"/>
    <p:sldId id="1286" r:id="rId55"/>
    <p:sldId id="901" r:id="rId56"/>
    <p:sldId id="1566" r:id="rId57"/>
    <p:sldId id="1487" r:id="rId58"/>
    <p:sldId id="1278" r:id="rId59"/>
    <p:sldId id="1351" r:id="rId60"/>
    <p:sldId id="603" r:id="rId61"/>
    <p:sldId id="499" r:id="rId62"/>
    <p:sldId id="604" r:id="rId63"/>
    <p:sldId id="489" r:id="rId64"/>
    <p:sldId id="1483" r:id="rId65"/>
    <p:sldId id="1568" r:id="rId66"/>
    <p:sldId id="1484" r:id="rId67"/>
    <p:sldId id="1284" r:id="rId68"/>
    <p:sldId id="1579" r:id="rId69"/>
    <p:sldId id="1705" r:id="rId70"/>
    <p:sldId id="1581" r:id="rId71"/>
    <p:sldId id="1582" r:id="rId72"/>
    <p:sldId id="1706" r:id="rId73"/>
    <p:sldId id="1098" r:id="rId74"/>
    <p:sldId id="536" r:id="rId75"/>
    <p:sldId id="535" r:id="rId76"/>
    <p:sldId id="537" r:id="rId77"/>
    <p:sldId id="606" r:id="rId78"/>
    <p:sldId id="1571" r:id="rId79"/>
    <p:sldId id="883" r:id="rId80"/>
    <p:sldId id="898" r:id="rId81"/>
    <p:sldId id="900" r:id="rId82"/>
    <p:sldId id="1236" r:id="rId83"/>
    <p:sldId id="842" r:id="rId84"/>
    <p:sldId id="1354" r:id="rId85"/>
    <p:sldId id="1171" r:id="rId86"/>
    <p:sldId id="1192" r:id="rId87"/>
    <p:sldId id="1237" r:id="rId88"/>
    <p:sldId id="843" r:id="rId89"/>
    <p:sldId id="1366" r:id="rId90"/>
    <p:sldId id="1172" r:id="rId91"/>
    <p:sldId id="1193" r:id="rId92"/>
    <p:sldId id="1238" r:id="rId93"/>
    <p:sldId id="844" r:id="rId94"/>
    <p:sldId id="1239" r:id="rId95"/>
    <p:sldId id="845" r:id="rId96"/>
    <p:sldId id="1173" r:id="rId97"/>
    <p:sldId id="1546" r:id="rId98"/>
    <p:sldId id="1573" r:id="rId99"/>
    <p:sldId id="1587" r:id="rId100"/>
    <p:sldId id="1575" r:id="rId101"/>
    <p:sldId id="958" r:id="rId102"/>
    <p:sldId id="959" r:id="rId103"/>
    <p:sldId id="960" r:id="rId104"/>
    <p:sldId id="971" r:id="rId105"/>
    <p:sldId id="961" r:id="rId106"/>
    <p:sldId id="962" r:id="rId107"/>
    <p:sldId id="966" r:id="rId108"/>
    <p:sldId id="967" r:id="rId109"/>
    <p:sldId id="963" r:id="rId110"/>
    <p:sldId id="970" r:id="rId111"/>
    <p:sldId id="972" r:id="rId112"/>
    <p:sldId id="1559" r:id="rId113"/>
    <p:sldId id="1560" r:id="rId114"/>
    <p:sldId id="1561" r:id="rId115"/>
    <p:sldId id="973" r:id="rId116"/>
    <p:sldId id="974" r:id="rId117"/>
    <p:sldId id="1490" r:id="rId118"/>
    <p:sldId id="590" r:id="rId119"/>
    <p:sldId id="490" r:id="rId120"/>
    <p:sldId id="491" r:id="rId121"/>
    <p:sldId id="1661" r:id="rId122"/>
    <p:sldId id="492" r:id="rId123"/>
    <p:sldId id="1655" r:id="rId124"/>
    <p:sldId id="493" r:id="rId125"/>
    <p:sldId id="495" r:id="rId126"/>
    <p:sldId id="1454" r:id="rId127"/>
    <p:sldId id="1658" r:id="rId128"/>
    <p:sldId id="1174" r:id="rId129"/>
    <p:sldId id="1175" r:id="rId130"/>
    <p:sldId id="1176" r:id="rId131"/>
    <p:sldId id="1551" r:id="rId132"/>
    <p:sldId id="1761" r:id="rId133"/>
    <p:sldId id="1553" r:id="rId134"/>
    <p:sldId id="1496" r:id="rId135"/>
    <p:sldId id="1759" r:id="rId136"/>
    <p:sldId id="1764" r:id="rId137"/>
    <p:sldId id="1049" r:id="rId138"/>
    <p:sldId id="1050" r:id="rId139"/>
    <p:sldId id="1051" r:id="rId140"/>
    <p:sldId id="1765" r:id="rId141"/>
    <p:sldId id="1052" r:id="rId142"/>
    <p:sldId id="1090" r:id="rId143"/>
    <p:sldId id="1766" r:id="rId144"/>
    <p:sldId id="1243" r:id="rId145"/>
    <p:sldId id="1091" r:id="rId146"/>
    <p:sldId id="1055" r:id="rId147"/>
    <p:sldId id="1056" r:id="rId148"/>
    <p:sldId id="1762" r:id="rId149"/>
    <p:sldId id="1058" r:id="rId150"/>
    <p:sldId id="267" r:id="rId151"/>
    <p:sldId id="272" r:id="rId152"/>
    <p:sldId id="273" r:id="rId153"/>
    <p:sldId id="1178" r:id="rId154"/>
    <p:sldId id="580" r:id="rId155"/>
    <p:sldId id="620" r:id="rId156"/>
    <p:sldId id="1041" r:id="rId157"/>
    <p:sldId id="1040" r:id="rId158"/>
    <p:sldId id="621" r:id="rId159"/>
    <p:sldId id="796" r:id="rId160"/>
    <p:sldId id="849" r:id="rId161"/>
    <p:sldId id="800" r:id="rId162"/>
    <p:sldId id="931" r:id="rId163"/>
    <p:sldId id="985" r:id="rId164"/>
    <p:sldId id="615" r:id="rId165"/>
    <p:sldId id="506" r:id="rId166"/>
    <p:sldId id="803" r:id="rId167"/>
    <p:sldId id="804" r:id="rId168"/>
    <p:sldId id="791" r:id="rId169"/>
    <p:sldId id="793" r:id="rId170"/>
    <p:sldId id="794" r:id="rId171"/>
    <p:sldId id="795" r:id="rId172"/>
    <p:sldId id="616" r:id="rId173"/>
    <p:sldId id="505" r:id="rId174"/>
    <p:sldId id="513" r:id="rId175"/>
    <p:sldId id="1017" r:id="rId176"/>
    <p:sldId id="1009" r:id="rId177"/>
    <p:sldId id="1010" r:id="rId178"/>
    <p:sldId id="618" r:id="rId179"/>
    <p:sldId id="619" r:id="rId180"/>
    <p:sldId id="617" r:id="rId181"/>
    <p:sldId id="502" r:id="rId182"/>
    <p:sldId id="503" r:id="rId183"/>
    <p:sldId id="699" r:id="rId184"/>
    <p:sldId id="504" r:id="rId185"/>
    <p:sldId id="700" r:id="rId186"/>
    <p:sldId id="679" r:id="rId187"/>
    <p:sldId id="940" r:id="rId188"/>
    <p:sldId id="942" r:id="rId189"/>
    <p:sldId id="677" r:id="rId190"/>
    <p:sldId id="678" r:id="rId191"/>
    <p:sldId id="680" r:id="rId192"/>
    <p:sldId id="285" r:id="rId193"/>
    <p:sldId id="286" r:id="rId194"/>
    <p:sldId id="1810" r:id="rId195"/>
    <p:sldId id="1406" r:id="rId196"/>
    <p:sldId id="1409" r:id="rId197"/>
    <p:sldId id="1287" r:id="rId198"/>
    <p:sldId id="290" r:id="rId199"/>
    <p:sldId id="1707" r:id="rId200"/>
    <p:sldId id="1584" r:id="rId201"/>
    <p:sldId id="1461" r:id="rId202"/>
    <p:sldId id="1577" r:id="rId203"/>
    <p:sldId id="1740" r:id="rId204"/>
    <p:sldId id="1735" r:id="rId205"/>
    <p:sldId id="673" r:id="rId206"/>
    <p:sldId id="1708" r:id="rId207"/>
    <p:sldId id="1541" r:id="rId208"/>
    <p:sldId id="1741" r:id="rId209"/>
    <p:sldId id="1542" r:id="rId210"/>
    <p:sldId id="1149" r:id="rId211"/>
    <p:sldId id="1288" r:id="rId212"/>
    <p:sldId id="1464" r:id="rId213"/>
    <p:sldId id="1126" r:id="rId214"/>
    <p:sldId id="1497" r:id="rId215"/>
    <p:sldId id="379" r:id="rId216"/>
    <p:sldId id="953" r:id="rId217"/>
    <p:sldId id="373" r:id="rId218"/>
    <p:sldId id="1772" r:id="rId219"/>
    <p:sldId id="1773" r:id="rId220"/>
    <p:sldId id="1508" r:id="rId221"/>
    <p:sldId id="1509" r:id="rId222"/>
    <p:sldId id="1744" r:id="rId223"/>
    <p:sldId id="1745" r:id="rId224"/>
    <p:sldId id="1746" r:id="rId225"/>
    <p:sldId id="1747" r:id="rId226"/>
    <p:sldId id="1536" r:id="rId227"/>
    <p:sldId id="1537" r:id="rId228"/>
    <p:sldId id="1018" r:id="rId229"/>
    <p:sldId id="1019" r:id="rId230"/>
    <p:sldId id="1020" r:id="rId231"/>
    <p:sldId id="1812" r:id="rId232"/>
    <p:sldId id="1811" r:id="rId233"/>
    <p:sldId id="640" r:id="rId234"/>
    <p:sldId id="641" r:id="rId235"/>
    <p:sldId id="1474" r:id="rId236"/>
    <p:sldId id="1475" r:id="rId237"/>
    <p:sldId id="1476" r:id="rId238"/>
    <p:sldId id="1477" r:id="rId239"/>
    <p:sldId id="1478" r:id="rId240"/>
    <p:sldId id="1494" r:id="rId241"/>
    <p:sldId id="1479" r:id="rId242"/>
    <p:sldId id="1480" r:id="rId243"/>
    <p:sldId id="1481" r:id="rId244"/>
    <p:sldId id="386" r:id="rId245"/>
    <p:sldId id="1498" r:id="rId246"/>
    <p:sldId id="1776" r:id="rId247"/>
    <p:sldId id="654" r:id="rId248"/>
    <p:sldId id="397" r:id="rId249"/>
    <p:sldId id="1499" r:id="rId250"/>
    <p:sldId id="657" r:id="rId251"/>
    <p:sldId id="851" r:id="rId252"/>
    <p:sldId id="1709" r:id="rId253"/>
    <p:sldId id="1205" r:id="rId254"/>
    <p:sldId id="914" r:id="rId255"/>
    <p:sldId id="852" r:id="rId256"/>
    <p:sldId id="1245" r:id="rId257"/>
    <p:sldId id="1156" r:id="rId258"/>
    <p:sldId id="1694" r:id="rId259"/>
    <p:sldId id="1695" r:id="rId260"/>
    <p:sldId id="1696" r:id="rId261"/>
    <p:sldId id="1693" r:id="rId262"/>
    <p:sldId id="1727" r:id="rId263"/>
    <p:sldId id="1729" r:id="rId264"/>
    <p:sldId id="1728" r:id="rId265"/>
    <p:sldId id="1465" r:id="rId266"/>
    <p:sldId id="1466" r:id="rId267"/>
    <p:sldId id="1710" r:id="rId268"/>
    <p:sldId id="1395" r:id="rId269"/>
    <p:sldId id="1401" r:id="rId270"/>
    <p:sldId id="1402" r:id="rId271"/>
    <p:sldId id="1244" r:id="rId272"/>
    <p:sldId id="1285" r:id="rId273"/>
    <p:sldId id="1159" r:id="rId274"/>
    <p:sldId id="686" r:id="rId275"/>
    <p:sldId id="1207" r:id="rId276"/>
    <p:sldId id="1356" r:id="rId277"/>
    <p:sldId id="1357" r:id="rId278"/>
    <p:sldId id="1738" r:id="rId279"/>
    <p:sldId id="1585" r:id="rId280"/>
    <p:sldId id="1421" r:id="rId281"/>
    <p:sldId id="1130" r:id="rId282"/>
    <p:sldId id="1203" r:id="rId283"/>
    <p:sldId id="1263" r:id="rId284"/>
    <p:sldId id="1265" r:id="rId285"/>
    <p:sldId id="305" r:id="rId286"/>
    <p:sldId id="1266" r:id="rId287"/>
    <p:sldId id="306" r:id="rId288"/>
    <p:sldId id="308" r:id="rId289"/>
    <p:sldId id="1131" r:id="rId290"/>
    <p:sldId id="1267" r:id="rId291"/>
    <p:sldId id="1132" r:id="rId292"/>
    <p:sldId id="1268" r:id="rId293"/>
    <p:sldId id="1133" r:id="rId294"/>
    <p:sldId id="313" r:id="rId295"/>
    <p:sldId id="1204" r:id="rId296"/>
    <p:sldId id="1134" r:id="rId297"/>
    <p:sldId id="1242" r:id="rId298"/>
    <p:sldId id="1289" r:id="rId299"/>
    <p:sldId id="1135" r:id="rId300"/>
    <p:sldId id="1809" r:id="rId301"/>
    <p:sldId id="1136" r:id="rId302"/>
    <p:sldId id="1209" r:id="rId303"/>
    <p:sldId id="1269" r:id="rId304"/>
    <p:sldId id="1137" r:id="rId305"/>
    <p:sldId id="1270" r:id="rId306"/>
    <p:sldId id="1138" r:id="rId307"/>
    <p:sldId id="1139" r:id="rId308"/>
    <p:sldId id="1140" r:id="rId309"/>
    <p:sldId id="1078" r:id="rId310"/>
    <p:sldId id="1141" r:id="rId311"/>
    <p:sldId id="1142" r:id="rId312"/>
    <p:sldId id="1143" r:id="rId313"/>
    <p:sldId id="1388" r:id="rId314"/>
    <p:sldId id="1154" r:id="rId315"/>
    <p:sldId id="1144" r:id="rId316"/>
    <p:sldId id="1155" r:id="rId317"/>
    <p:sldId id="1145" r:id="rId318"/>
    <p:sldId id="1146" r:id="rId319"/>
    <p:sldId id="1147" r:id="rId320"/>
    <p:sldId id="1061" r:id="rId321"/>
    <p:sldId id="1062" r:id="rId322"/>
    <p:sldId id="1063" r:id="rId323"/>
    <p:sldId id="1253" r:id="rId324"/>
    <p:sldId id="1254" r:id="rId325"/>
    <p:sldId id="1255" r:id="rId326"/>
    <p:sldId id="1256" r:id="rId327"/>
    <p:sldId id="1500" r:id="rId328"/>
    <p:sldId id="1501" r:id="rId329"/>
    <p:sldId id="1257" r:id="rId330"/>
    <p:sldId id="1258" r:id="rId331"/>
    <p:sldId id="1259" r:id="rId332"/>
    <p:sldId id="1260" r:id="rId333"/>
    <p:sldId id="1261" r:id="rId334"/>
    <p:sldId id="1170" r:id="rId335"/>
    <p:sldId id="1064" r:id="rId336"/>
    <p:sldId id="1065" r:id="rId337"/>
    <p:sldId id="1447" r:id="rId338"/>
    <p:sldId id="1515" r:id="rId339"/>
    <p:sldId id="1516" r:id="rId340"/>
    <p:sldId id="1517" r:id="rId341"/>
    <p:sldId id="1518" r:id="rId342"/>
    <p:sldId id="1519" r:id="rId343"/>
    <p:sldId id="1392" r:id="rId344"/>
    <p:sldId id="1520" r:id="rId345"/>
    <p:sldId id="1521" r:id="rId346"/>
    <p:sldId id="1522" r:id="rId347"/>
    <p:sldId id="1633" r:id="rId348"/>
    <p:sldId id="1523" r:id="rId349"/>
    <p:sldId id="360" r:id="rId350"/>
    <p:sldId id="801" r:id="rId351"/>
    <p:sldId id="1262" r:id="rId352"/>
    <p:sldId id="362" r:id="rId353"/>
    <p:sldId id="507" r:id="rId354"/>
    <p:sldId id="591" r:id="rId355"/>
    <p:sldId id="385" r:id="rId356"/>
    <p:sldId id="1125" r:id="rId357"/>
    <p:sldId id="387" r:id="rId358"/>
    <p:sldId id="388" r:id="rId359"/>
    <p:sldId id="527" r:id="rId360"/>
    <p:sldId id="529" r:id="rId361"/>
    <p:sldId id="1737" r:id="rId362"/>
    <p:sldId id="393" r:id="rId363"/>
    <p:sldId id="395" r:id="rId364"/>
    <p:sldId id="947" r:id="rId365"/>
    <p:sldId id="1586" r:id="rId366"/>
    <p:sldId id="702" r:id="rId367"/>
    <p:sldId id="531" r:id="rId368"/>
    <p:sldId id="1362" r:id="rId369"/>
    <p:sldId id="1363" r:id="rId370"/>
    <p:sldId id="949" r:id="rId371"/>
    <p:sldId id="950" r:id="rId372"/>
    <p:sldId id="853" r:id="rId373"/>
    <p:sldId id="1102" r:id="rId374"/>
    <p:sldId id="816" r:id="rId375"/>
    <p:sldId id="414" r:id="rId376"/>
    <p:sldId id="545" r:id="rId377"/>
    <p:sldId id="533" r:id="rId378"/>
    <p:sldId id="534" r:id="rId379"/>
    <p:sldId id="542" r:id="rId380"/>
    <p:sldId id="1691" r:id="rId381"/>
    <p:sldId id="1692" r:id="rId382"/>
    <p:sldId id="543" r:id="rId383"/>
    <p:sldId id="1361" r:id="rId384"/>
    <p:sldId id="544" r:id="rId385"/>
    <p:sldId id="1295" r:id="rId386"/>
    <p:sldId id="546" r:id="rId387"/>
    <p:sldId id="522" r:id="rId388"/>
    <p:sldId id="523" r:id="rId389"/>
    <p:sldId id="809" r:id="rId390"/>
    <p:sldId id="526" r:id="rId391"/>
    <p:sldId id="1767" r:id="rId392"/>
    <p:sldId id="1387" r:id="rId393"/>
    <p:sldId id="524" r:id="rId394"/>
    <p:sldId id="548" r:id="rId395"/>
    <p:sldId id="646" r:id="rId396"/>
    <p:sldId id="647" r:id="rId397"/>
    <p:sldId id="773" r:id="rId398"/>
    <p:sldId id="772" r:id="rId399"/>
    <p:sldId id="549" r:id="rId400"/>
    <p:sldId id="550" r:id="rId401"/>
    <p:sldId id="547" r:id="rId402"/>
    <p:sldId id="515" r:id="rId403"/>
    <p:sldId id="516" r:id="rId404"/>
    <p:sldId id="517" r:id="rId405"/>
    <p:sldId id="1662" r:id="rId406"/>
    <p:sldId id="551" r:id="rId407"/>
    <p:sldId id="554" r:id="rId408"/>
    <p:sldId id="555" r:id="rId409"/>
    <p:sldId id="1386" r:id="rId410"/>
    <p:sldId id="1808" r:id="rId411"/>
    <p:sldId id="1642" r:id="rId412"/>
    <p:sldId id="558" r:id="rId413"/>
    <p:sldId id="1467" r:id="rId414"/>
    <p:sldId id="1641" r:id="rId415"/>
    <p:sldId id="1468" r:id="rId416"/>
    <p:sldId id="1622" r:id="rId417"/>
    <p:sldId id="1419" r:id="rId418"/>
    <p:sldId id="562" r:id="rId419"/>
    <p:sldId id="563" r:id="rId420"/>
    <p:sldId id="1296" r:id="rId421"/>
    <p:sldId id="1672" r:id="rId422"/>
    <p:sldId id="1732" r:id="rId423"/>
    <p:sldId id="1673" r:id="rId424"/>
    <p:sldId id="1674" r:id="rId425"/>
    <p:sldId id="1720" r:id="rId426"/>
    <p:sldId id="1721" r:id="rId427"/>
    <p:sldId id="1726" r:id="rId428"/>
    <p:sldId id="1725" r:id="rId429"/>
    <p:sldId id="1335" r:id="rId430"/>
    <p:sldId id="1336" r:id="rId431"/>
    <p:sldId id="625" r:id="rId432"/>
    <p:sldId id="1150" r:id="rId433"/>
    <p:sldId id="1711" r:id="rId434"/>
    <p:sldId id="1801" r:id="rId435"/>
    <p:sldId id="1240" r:id="rId436"/>
    <p:sldId id="1797" r:id="rId437"/>
    <p:sldId id="1414" r:id="rId438"/>
    <p:sldId id="1444" r:id="rId439"/>
    <p:sldId id="1779" r:id="rId440"/>
    <p:sldId id="1152" r:id="rId441"/>
    <p:sldId id="1153" r:id="rId442"/>
    <p:sldId id="436" r:id="rId443"/>
    <p:sldId id="1739" r:id="rId444"/>
    <p:sldId id="402" r:id="rId445"/>
    <p:sldId id="403" r:id="rId446"/>
    <p:sldId id="404" r:id="rId447"/>
    <p:sldId id="1075" r:id="rId448"/>
    <p:sldId id="1076" r:id="rId449"/>
    <p:sldId id="1219" r:id="rId450"/>
    <p:sldId id="1730" r:id="rId451"/>
    <p:sldId id="1758" r:id="rId452"/>
    <p:sldId id="1763" r:id="rId453"/>
    <p:sldId id="421" r:id="rId454"/>
    <p:sldId id="564" r:id="rId455"/>
    <p:sldId id="1364" r:id="rId456"/>
    <p:sldId id="826" r:id="rId457"/>
    <p:sldId id="566" r:id="rId458"/>
    <p:sldId id="1211" r:id="rId459"/>
    <p:sldId id="1430" r:id="rId460"/>
    <p:sldId id="1460" r:id="rId461"/>
    <p:sldId id="1628" r:id="rId462"/>
    <p:sldId id="1629" r:id="rId463"/>
    <p:sldId id="1630" r:id="rId464"/>
    <p:sldId id="1631" r:id="rId465"/>
    <p:sldId id="820" r:id="rId466"/>
    <p:sldId id="821" r:id="rId467"/>
    <p:sldId id="1803" r:id="rId468"/>
    <p:sldId id="1077" r:id="rId469"/>
    <p:sldId id="1177" r:id="rId470"/>
    <p:sldId id="798" r:id="rId471"/>
    <p:sldId id="1215" r:id="rId472"/>
    <p:sldId id="1798" r:id="rId473"/>
    <p:sldId id="1799" r:id="rId474"/>
    <p:sldId id="1800" r:id="rId475"/>
    <p:sldId id="1802" r:id="rId476"/>
    <p:sldId id="1427" r:id="rId477"/>
    <p:sldId id="1225" r:id="rId478"/>
    <p:sldId id="1212" r:id="rId479"/>
    <p:sldId id="1213" r:id="rId480"/>
    <p:sldId id="1216" r:id="rId481"/>
    <p:sldId id="1210" r:id="rId482"/>
    <p:sldId id="1151" r:id="rId483"/>
    <p:sldId id="1217" r:id="rId484"/>
    <p:sldId id="1226" r:id="rId485"/>
    <p:sldId id="443" r:id="rId486"/>
    <p:sldId id="445" r:id="rId487"/>
    <p:sldId id="446" r:id="rId488"/>
    <p:sldId id="1293" r:id="rId489"/>
    <p:sldId id="1403" r:id="rId490"/>
    <p:sldId id="1635" r:id="rId491"/>
    <p:sldId id="1670" r:id="rId492"/>
    <p:sldId id="1671" r:id="rId493"/>
    <p:sldId id="1619" r:id="rId494"/>
    <p:sldId id="1290" r:id="rId495"/>
    <p:sldId id="1636" r:id="rId496"/>
    <p:sldId id="1623" r:id="rId497"/>
    <p:sldId id="1294" r:id="rId498"/>
    <p:sldId id="1638" r:id="rId499"/>
    <p:sldId id="1283" r:id="rId500"/>
    <p:sldId id="1677" r:id="rId501"/>
    <p:sldId id="1676" r:id="rId502"/>
    <p:sldId id="1640" r:id="rId503"/>
    <p:sldId id="1510" r:id="rId504"/>
    <p:sldId id="1292" r:id="rId505"/>
    <p:sldId id="1688" r:id="rId506"/>
    <p:sldId id="1533" r:id="rId507"/>
    <p:sldId id="1718" r:id="rId508"/>
    <p:sldId id="1719" r:id="rId509"/>
    <p:sldId id="440" r:id="rId510"/>
    <p:sldId id="823" r:id="rId511"/>
    <p:sldId id="570" r:id="rId512"/>
    <p:sldId id="827" r:id="rId513"/>
    <p:sldId id="453" r:id="rId514"/>
    <p:sldId id="574" r:id="rId515"/>
    <p:sldId id="1528" r:id="rId516"/>
    <p:sldId id="838" r:id="rId517"/>
    <p:sldId id="839" r:id="rId518"/>
    <p:sldId id="1271" r:id="rId519"/>
    <p:sldId id="1059" r:id="rId520"/>
    <p:sldId id="1060" r:id="rId521"/>
    <p:sldId id="1639" r:id="rId522"/>
    <p:sldId id="1749" r:id="rId523"/>
    <p:sldId id="1750" r:id="rId524"/>
    <p:sldId id="1418" r:id="rId525"/>
    <p:sldId id="1558" r:id="rId526"/>
    <p:sldId id="1751" r:id="rId527"/>
    <p:sldId id="1605" r:id="rId528"/>
    <p:sldId id="1615" r:id="rId529"/>
    <p:sldId id="1602" r:id="rId530"/>
    <p:sldId id="1616" r:id="rId531"/>
    <p:sldId id="1618" r:id="rId532"/>
    <p:sldId id="1731" r:id="rId533"/>
    <p:sldId id="576" r:id="rId534"/>
    <p:sldId id="824" r:id="rId535"/>
    <p:sldId id="577" r:id="rId536"/>
    <p:sldId id="935" r:id="rId537"/>
    <p:sldId id="371" r:id="rId538"/>
    <p:sldId id="575" r:id="rId539"/>
    <p:sldId id="1426" r:id="rId540"/>
    <p:sldId id="1165" r:id="rId541"/>
    <p:sldId id="1166" r:id="rId542"/>
    <p:sldId id="937" r:id="rId543"/>
    <p:sldId id="894" r:id="rId544"/>
    <p:sldId id="532" r:id="rId545"/>
    <p:sldId id="1167" r:id="rId546"/>
    <p:sldId id="1168" r:id="rId547"/>
    <p:sldId id="587" r:id="rId548"/>
    <p:sldId id="675" r:id="rId549"/>
    <p:sldId id="588" r:id="rId550"/>
    <p:sldId id="997" r:id="rId551"/>
    <p:sldId id="1768" r:id="rId552"/>
    <p:sldId id="856" r:id="rId553"/>
    <p:sldId id="857" r:id="rId554"/>
    <p:sldId id="1600" r:id="rId555"/>
    <p:sldId id="1697" r:id="rId556"/>
    <p:sldId id="1646" r:id="rId557"/>
    <p:sldId id="1645" r:id="rId558"/>
    <p:sldId id="1620" r:id="rId559"/>
    <p:sldId id="1621" r:id="rId560"/>
    <p:sldId id="1612" r:id="rId561"/>
    <p:sldId id="1613" r:id="rId562"/>
    <p:sldId id="1611" r:id="rId563"/>
    <p:sldId id="1609" r:id="rId564"/>
    <p:sldId id="1637" r:id="rId565"/>
    <p:sldId id="1654" r:id="rId566"/>
    <p:sldId id="1634" r:id="rId567"/>
    <p:sldId id="706" r:id="rId568"/>
    <p:sldId id="589" r:id="rId569"/>
    <p:sldId id="998" r:id="rId570"/>
    <p:sldId id="707" r:id="rId571"/>
    <p:sldId id="815" r:id="rId572"/>
    <p:sldId id="1410" r:id="rId573"/>
    <p:sldId id="979" r:id="rId574"/>
    <p:sldId id="982" r:id="rId575"/>
    <p:sldId id="983" r:id="rId576"/>
    <p:sldId id="975" r:id="rId577"/>
    <p:sldId id="708" r:id="rId578"/>
    <p:sldId id="593" r:id="rId579"/>
    <p:sldId id="709" r:id="rId580"/>
    <p:sldId id="594" r:id="rId581"/>
    <p:sldId id="1690" r:id="rId582"/>
    <p:sldId id="710" r:id="rId583"/>
    <p:sldId id="1547" r:id="rId584"/>
    <p:sldId id="607" r:id="rId585"/>
    <p:sldId id="336" r:id="rId586"/>
    <p:sldId id="337" r:id="rId587"/>
    <p:sldId id="748" r:id="rId588"/>
    <p:sldId id="1034" r:id="rId589"/>
    <p:sldId id="508" r:id="rId590"/>
    <p:sldId id="622" r:id="rId591"/>
    <p:sldId id="1194" r:id="rId592"/>
    <p:sldId id="989" r:id="rId593"/>
    <p:sldId id="1228" r:id="rId594"/>
    <p:sldId id="987" r:id="rId595"/>
    <p:sldId id="623" r:id="rId596"/>
    <p:sldId id="1035" r:id="rId597"/>
    <p:sldId id="1514" r:id="rId598"/>
    <p:sldId id="1607" r:id="rId599"/>
    <p:sldId id="1608" r:id="rId600"/>
    <p:sldId id="1196" r:id="rId601"/>
    <p:sldId id="990" r:id="rId602"/>
    <p:sldId id="991" r:id="rId603"/>
    <p:sldId id="1224" r:id="rId604"/>
    <p:sldId id="627" r:id="rId605"/>
    <p:sldId id="628" r:id="rId606"/>
    <p:sldId id="1036" r:id="rId607"/>
    <p:sldId id="626" r:id="rId608"/>
    <p:sldId id="992" r:id="rId609"/>
    <p:sldId id="1682" r:id="rId610"/>
    <p:sldId id="1683" r:id="rId611"/>
    <p:sldId id="1037" r:id="rId612"/>
    <p:sldId id="629" r:id="rId613"/>
    <p:sldId id="1274" r:id="rId614"/>
    <p:sldId id="1038" r:id="rId615"/>
    <p:sldId id="630" r:id="rId616"/>
    <p:sldId id="1039" r:id="rId617"/>
    <p:sldId id="1082" r:id="rId618"/>
    <p:sldId id="1197" r:id="rId619"/>
    <p:sldId id="818" r:id="rId620"/>
    <p:sldId id="1081" r:id="rId621"/>
    <p:sldId id="1712" r:id="rId622"/>
    <p:sldId id="1678" r:id="rId623"/>
    <p:sldId id="993" r:id="rId624"/>
    <p:sldId id="1083" r:id="rId625"/>
    <p:sldId id="1198" r:id="rId626"/>
    <p:sldId id="913" r:id="rId627"/>
    <p:sldId id="1085" r:id="rId628"/>
    <p:sldId id="1681" r:id="rId629"/>
    <p:sldId id="1679" r:id="rId630"/>
    <p:sldId id="994" r:id="rId631"/>
    <p:sldId id="1548" r:id="rId632"/>
    <p:sldId id="1272" r:id="rId633"/>
    <p:sldId id="1538" r:id="rId634"/>
    <p:sldId id="1084" r:id="rId635"/>
    <p:sldId id="751" r:id="rId636"/>
    <p:sldId id="1781" r:id="rId637"/>
    <p:sldId id="1632" r:id="rId638"/>
    <p:sldId id="1530" r:id="rId639"/>
    <p:sldId id="1753" r:id="rId640"/>
    <p:sldId id="1754" r:id="rId641"/>
    <p:sldId id="1755" r:id="rId642"/>
    <p:sldId id="1756" r:id="rId643"/>
    <p:sldId id="1757" r:id="rId644"/>
    <p:sldId id="1529" r:id="rId645"/>
    <p:sldId id="1601" r:id="rId646"/>
    <p:sldId id="1689" r:id="rId647"/>
    <p:sldId id="1666" r:id="rId648"/>
    <p:sldId id="1625" r:id="rId649"/>
    <p:sldId id="1653" r:id="rId650"/>
    <p:sldId id="1644" r:id="rId651"/>
    <p:sldId id="1626" r:id="rId652"/>
    <p:sldId id="1698" r:id="rId653"/>
    <p:sldId id="1531" r:id="rId654"/>
    <p:sldId id="1532" r:id="rId655"/>
    <p:sldId id="1539" r:id="rId656"/>
    <p:sldId id="1724" r:id="rId657"/>
    <p:sldId id="352" r:id="rId658"/>
    <p:sldId id="1275" r:id="rId659"/>
    <p:sldId id="1606" r:id="rId660"/>
    <p:sldId id="633" r:id="rId661"/>
    <p:sldId id="521" r:id="rId662"/>
    <p:sldId id="1337" r:id="rId663"/>
    <p:sldId id="1669" r:id="rId664"/>
    <p:sldId id="1667" r:id="rId665"/>
    <p:sldId id="1668" r:id="rId666"/>
    <p:sldId id="1717" r:id="rId667"/>
    <p:sldId id="1610" r:id="rId668"/>
    <p:sldId id="1649" r:id="rId669"/>
    <p:sldId id="1685" r:id="rId670"/>
    <p:sldId id="1687" r:id="rId671"/>
    <p:sldId id="1686" r:id="rId672"/>
    <p:sldId id="1617" r:id="rId673"/>
    <p:sldId id="1160" r:id="rId674"/>
    <p:sldId id="1701" r:id="rId675"/>
    <p:sldId id="1651" r:id="rId676"/>
    <p:sldId id="1652" r:id="rId677"/>
    <p:sldId id="1340" r:id="rId678"/>
    <p:sldId id="1352" r:id="rId679"/>
    <p:sldId id="1650" r:id="rId680"/>
    <p:sldId id="1594" r:id="rId681"/>
    <p:sldId id="1604" r:id="rId682"/>
    <p:sldId id="1643" r:id="rId683"/>
    <p:sldId id="1595" r:id="rId684"/>
    <p:sldId id="1597" r:id="rId685"/>
    <p:sldId id="1599" r:id="rId686"/>
    <p:sldId id="1596" r:id="rId687"/>
    <p:sldId id="1603" r:id="rId688"/>
    <p:sldId id="368" r:id="rId689"/>
    <p:sldId id="636" r:id="rId690"/>
    <p:sldId id="663" r:id="rId691"/>
    <p:sldId id="664" r:id="rId692"/>
    <p:sldId id="637" r:id="rId693"/>
    <p:sldId id="638" r:id="rId694"/>
    <p:sldId id="712" r:id="rId695"/>
    <p:sldId id="713" r:id="rId696"/>
    <p:sldId id="714" r:id="rId697"/>
    <p:sldId id="836" r:id="rId698"/>
    <p:sldId id="837" r:id="rId699"/>
    <p:sldId id="342" r:id="rId700"/>
    <p:sldId id="1067" r:id="rId701"/>
    <p:sldId id="1473" r:id="rId702"/>
    <p:sldId id="1343" r:id="rId703"/>
    <p:sldId id="1068" r:id="rId704"/>
    <p:sldId id="727" r:id="rId705"/>
    <p:sldId id="1512" r:id="rId706"/>
    <p:sldId id="728" r:id="rId707"/>
    <p:sldId id="1513" r:id="rId708"/>
    <p:sldId id="781" r:id="rId709"/>
    <p:sldId id="1007" r:id="rId710"/>
    <p:sldId id="730" r:id="rId711"/>
    <p:sldId id="1264" r:id="rId712"/>
    <p:sldId id="1448" r:id="rId713"/>
    <p:sldId id="1449" r:id="rId714"/>
    <p:sldId id="1450" r:id="rId715"/>
    <p:sldId id="1157" r:id="rId716"/>
    <p:sldId id="1158" r:id="rId717"/>
    <p:sldId id="775" r:id="rId718"/>
    <p:sldId id="354" r:id="rId719"/>
    <p:sldId id="735" r:id="rId720"/>
    <p:sldId id="738" r:id="rId721"/>
    <p:sldId id="774" r:id="rId722"/>
    <p:sldId id="1549" r:id="rId723"/>
    <p:sldId id="1550" r:id="rId724"/>
    <p:sldId id="737" r:id="rId725"/>
    <p:sldId id="740" r:id="rId726"/>
    <p:sldId id="683" r:id="rId727"/>
    <p:sldId id="684" r:id="rId728"/>
    <p:sldId id="682" r:id="rId729"/>
    <p:sldId id="1405" r:id="rId730"/>
    <p:sldId id="1434" r:id="rId731"/>
    <p:sldId id="1432" r:id="rId732"/>
    <p:sldId id="1385" r:id="rId733"/>
    <p:sldId id="1433" r:id="rId734"/>
    <p:sldId id="1438" r:id="rId735"/>
    <p:sldId id="1439" r:id="rId736"/>
    <p:sldId id="1440" r:id="rId737"/>
    <p:sldId id="1431" r:id="rId738"/>
    <p:sldId id="1436" r:id="rId739"/>
    <p:sldId id="968" r:id="rId740"/>
    <p:sldId id="969" r:id="rId741"/>
    <p:sldId id="609" r:id="rId742"/>
    <p:sldId id="610" r:id="rId743"/>
    <p:sldId id="703" r:id="rId744"/>
    <p:sldId id="611" r:id="rId745"/>
    <p:sldId id="612" r:id="rId746"/>
    <p:sldId id="704" r:id="rId747"/>
    <p:sldId id="613" r:id="rId748"/>
    <p:sldId id="705" r:id="rId749"/>
    <p:sldId id="614" r:id="rId750"/>
    <p:sldId id="1045" r:id="rId751"/>
    <p:sldId id="1382" r:id="rId752"/>
    <p:sldId id="1492" r:id="rId753"/>
    <p:sldId id="1748" r:id="rId754"/>
    <p:sldId id="1723" r:id="rId755"/>
    <p:sldId id="986" r:id="rId756"/>
    <p:sldId id="427" r:id="rId757"/>
    <p:sldId id="689" r:id="rId758"/>
    <p:sldId id="731" r:id="rId759"/>
    <p:sldId id="732" r:id="rId760"/>
    <p:sldId id="758" r:id="rId761"/>
    <p:sldId id="759" r:id="rId762"/>
    <p:sldId id="1417" r:id="rId763"/>
    <p:sldId id="916" r:id="rId764"/>
    <p:sldId id="917" r:id="rId765"/>
    <p:sldId id="840" r:id="rId766"/>
    <p:sldId id="841" r:id="rId767"/>
    <p:sldId id="939" r:id="rId768"/>
    <p:sldId id="766" r:id="rId769"/>
    <p:sldId id="767" r:id="rId770"/>
    <p:sldId id="776" r:id="rId771"/>
    <p:sldId id="752" r:id="rId772"/>
    <p:sldId id="753" r:id="rId773"/>
    <p:sldId id="764" r:id="rId774"/>
    <p:sldId id="1507" r:id="rId775"/>
    <p:sldId id="765" r:id="rId776"/>
    <p:sldId id="1472" r:id="rId777"/>
    <p:sldId id="874" r:id="rId778"/>
    <p:sldId id="946" r:id="rId779"/>
    <p:sldId id="943" r:id="rId780"/>
    <p:sldId id="755" r:id="rId781"/>
    <p:sldId id="754" r:id="rId782"/>
    <p:sldId id="670" r:id="rId783"/>
    <p:sldId id="1347" r:id="rId784"/>
    <p:sldId id="777" r:id="rId785"/>
    <p:sldId id="762" r:id="rId786"/>
    <p:sldId id="763" r:id="rId787"/>
    <p:sldId id="769" r:id="rId788"/>
    <p:sldId id="1398" r:id="rId789"/>
    <p:sldId id="770" r:id="rId790"/>
    <p:sldId id="873" r:id="rId791"/>
    <p:sldId id="1527" r:id="rId792"/>
    <p:sldId id="1664" r:id="rId793"/>
    <p:sldId id="1713" r:id="rId794"/>
    <p:sldId id="1804" r:id="rId795"/>
    <p:sldId id="1714" r:id="rId796"/>
    <p:sldId id="875" r:id="rId797"/>
    <p:sldId id="1469" r:id="rId798"/>
    <p:sldId id="1556" r:id="rId799"/>
    <p:sldId id="1412" r:id="rId800"/>
    <p:sldId id="583" r:id="rId801"/>
    <p:sldId id="584" r:id="rId802"/>
    <p:sldId id="585" r:id="rId803"/>
    <p:sldId id="1069" r:id="rId804"/>
    <p:sldId id="1442" r:id="rId805"/>
    <p:sldId id="1790" r:id="rId806"/>
    <p:sldId id="1743" r:id="rId807"/>
    <p:sldId id="1742" r:id="rId808"/>
    <p:sldId id="1777" r:id="rId809"/>
    <p:sldId id="1778" r:id="rId810"/>
    <p:sldId id="1715" r:id="rId811"/>
    <p:sldId id="1716" r:id="rId812"/>
    <p:sldId id="1770" r:id="rId813"/>
    <p:sldId id="1771" r:id="rId814"/>
    <p:sldId id="1785" r:id="rId815"/>
    <p:sldId id="1786" r:id="rId816"/>
    <p:sldId id="1784" r:id="rId817"/>
    <p:sldId id="1792" r:id="rId818"/>
    <p:sldId id="1789" r:id="rId819"/>
    <p:sldId id="1788" r:id="rId820"/>
    <p:sldId id="1787" r:id="rId821"/>
    <p:sldId id="1791" r:id="rId822"/>
    <p:sldId id="1793" r:id="rId823"/>
    <p:sldId id="1794" r:id="rId824"/>
    <p:sldId id="1795" r:id="rId825"/>
    <p:sldId id="1796" r:id="rId826"/>
    <p:sldId id="952" r:id="rId827"/>
    <p:sldId id="1555" r:id="rId828"/>
    <p:sldId id="1554" r:id="rId829"/>
    <p:sldId id="1348" r:id="rId830"/>
    <p:sldId id="1524" r:id="rId831"/>
    <p:sldId id="1349" r:id="rId832"/>
    <p:sldId id="1396" r:id="rId833"/>
    <p:sldId id="1397" r:id="rId834"/>
    <p:sldId id="1350" r:id="rId835"/>
    <p:sldId id="761" r:id="rId836"/>
    <p:sldId id="1780" r:id="rId837"/>
    <p:sldId id="1404" r:id="rId838"/>
    <p:sldId id="861" r:id="rId839"/>
    <p:sldId id="862" r:id="rId840"/>
    <p:sldId id="756" r:id="rId841"/>
    <p:sldId id="1506" r:id="rId842"/>
    <p:sldId id="771" r:id="rId843"/>
    <p:sldId id="876" r:id="rId844"/>
    <p:sldId id="1471" r:id="rId845"/>
    <p:sldId id="1393" r:id="rId846"/>
    <p:sldId id="1389" r:id="rId847"/>
    <p:sldId id="1457" r:id="rId848"/>
    <p:sldId id="1458" r:id="rId849"/>
    <p:sldId id="1459" r:id="rId850"/>
    <p:sldId id="1505" r:id="rId851"/>
    <p:sldId id="1428" r:id="rId852"/>
    <p:sldId id="1665" r:id="rId853"/>
    <p:sldId id="778" r:id="rId854"/>
    <p:sldId id="779" r:id="rId855"/>
    <p:sldId id="834" r:id="rId856"/>
    <p:sldId id="780" r:id="rId857"/>
    <p:sldId id="833" r:id="rId858"/>
    <p:sldId id="783" r:id="rId859"/>
    <p:sldId id="880" r:id="rId860"/>
    <p:sldId id="1769" r:id="rId861"/>
    <p:sldId id="881" r:id="rId862"/>
    <p:sldId id="879" r:id="rId863"/>
    <p:sldId id="866" r:id="rId864"/>
    <p:sldId id="1341" r:id="rId865"/>
    <p:sldId id="1390" r:id="rId866"/>
    <p:sldId id="1774" r:id="rId867"/>
    <p:sldId id="1775" r:id="rId868"/>
    <p:sldId id="1391" r:id="rId869"/>
    <p:sldId id="878" r:id="rId870"/>
    <p:sldId id="867" r:id="rId871"/>
    <p:sldId id="868" r:id="rId872"/>
    <p:sldId id="870" r:id="rId873"/>
    <p:sldId id="1241" r:id="rId874"/>
    <p:sldId id="1411" r:id="rId875"/>
    <p:sldId id="869" r:id="rId876"/>
    <p:sldId id="1342" r:id="rId877"/>
    <p:sldId id="1367" r:id="rId878"/>
    <p:sldId id="1377" r:id="rId879"/>
    <p:sldId id="1379" r:id="rId880"/>
    <p:sldId id="1368" r:id="rId881"/>
    <p:sldId id="1369" r:id="rId882"/>
    <p:sldId id="1380" r:id="rId883"/>
    <p:sldId id="1381" r:id="rId884"/>
    <p:sldId id="1370" r:id="rId885"/>
    <p:sldId id="1371" r:id="rId886"/>
    <p:sldId id="1372" r:id="rId887"/>
    <p:sldId id="1373" r:id="rId888"/>
    <p:sldId id="1374" r:id="rId889"/>
    <p:sldId id="1375" r:id="rId890"/>
    <p:sldId id="1033" r:id="rId891"/>
    <p:sldId id="1021" r:id="rId892"/>
    <p:sldId id="1022" r:id="rId893"/>
    <p:sldId id="1023" r:id="rId894"/>
    <p:sldId id="1024" r:id="rId895"/>
    <p:sldId id="1025" r:id="rId896"/>
    <p:sldId id="1027" r:id="rId897"/>
    <p:sldId id="1028" r:id="rId898"/>
    <p:sldId id="1029" r:id="rId899"/>
    <p:sldId id="1030" r:id="rId900"/>
    <p:sldId id="1032" r:id="rId901"/>
    <p:sldId id="1031" r:id="rId902"/>
    <p:sldId id="1526" r:id="rId903"/>
    <p:sldId id="885" r:id="rId904"/>
    <p:sldId id="1074" r:id="rId905"/>
    <p:sldId id="976" r:id="rId906"/>
    <p:sldId id="933" r:id="rId907"/>
    <p:sldId id="954" r:id="rId908"/>
    <p:sldId id="788" r:id="rId909"/>
    <p:sldId id="1502" r:id="rId910"/>
    <p:sldId id="1456" r:id="rId911"/>
    <p:sldId id="1489" r:id="rId912"/>
    <p:sldId id="1503" r:id="rId913"/>
    <p:sldId id="1493" r:id="rId914"/>
    <p:sldId id="1495" r:id="rId915"/>
    <p:sldId id="1511" r:id="rId916"/>
    <p:sldId id="1504" r:id="rId917"/>
    <p:sldId id="1557" r:id="rId918"/>
    <p:sldId id="1736" r:id="rId919"/>
    <p:sldId id="1752" r:id="rId920"/>
    <p:sldId id="1782" r:id="rId921"/>
    <p:sldId id="1783" r:id="rId9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leel" initials="s" lastIdx="1" clrIdx="0">
    <p:extLst>
      <p:ext uri="{19B8F6BF-5375-455C-9EA6-DF929625EA0E}">
        <p15:presenceInfo xmlns:p15="http://schemas.microsoft.com/office/powerpoint/2012/main" userId="salee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212AA"/>
    <a:srgbClr val="3939F5"/>
    <a:srgbClr val="262658"/>
    <a:srgbClr val="816105"/>
    <a:srgbClr val="DB7BC9"/>
    <a:srgbClr val="7D2170"/>
    <a:srgbClr val="6565F7"/>
    <a:srgbClr val="6EA3AE"/>
    <a:srgbClr val="538893"/>
    <a:srgbClr val="BECB1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726" autoAdjust="0"/>
    <p:restoredTop sz="86405" autoAdjust="0"/>
  </p:normalViewPr>
  <p:slideViewPr>
    <p:cSldViewPr>
      <p:cViewPr varScale="1">
        <p:scale>
          <a:sx n="79" d="100"/>
          <a:sy n="79" d="100"/>
        </p:scale>
        <p:origin x="739" y="72"/>
      </p:cViewPr>
      <p:guideLst>
        <p:guide orient="horz" pos="2160"/>
        <p:guide pos="3840"/>
      </p:guideLst>
    </p:cSldViewPr>
  </p:slideViewPr>
  <p:outlineViewPr>
    <p:cViewPr>
      <p:scale>
        <a:sx n="33" d="100"/>
        <a:sy n="33" d="100"/>
      </p:scale>
      <p:origin x="0" y="-6744"/>
    </p:cViewPr>
  </p:outlineViewPr>
  <p:notesTextViewPr>
    <p:cViewPr>
      <p:scale>
        <a:sx n="200" d="100"/>
        <a:sy n="200" d="100"/>
      </p:scale>
      <p:origin x="0" y="0"/>
    </p:cViewPr>
  </p:notesTextViewPr>
  <p:sorterViewPr>
    <p:cViewPr>
      <p:scale>
        <a:sx n="100" d="100"/>
        <a:sy n="100" d="100"/>
      </p:scale>
      <p:origin x="0" y="-162101"/>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671" Type="http://schemas.openxmlformats.org/officeDocument/2006/relationships/slide" Target="slides/slide670.xml"/><Relationship Id="rId769" Type="http://schemas.openxmlformats.org/officeDocument/2006/relationships/slide" Target="slides/slide768.xml"/><Relationship Id="rId21" Type="http://schemas.openxmlformats.org/officeDocument/2006/relationships/slide" Target="slides/slide20.xml"/><Relationship Id="rId324" Type="http://schemas.openxmlformats.org/officeDocument/2006/relationships/slide" Target="slides/slide323.xml"/><Relationship Id="rId531" Type="http://schemas.openxmlformats.org/officeDocument/2006/relationships/slide" Target="slides/slide530.xml"/><Relationship Id="rId629" Type="http://schemas.openxmlformats.org/officeDocument/2006/relationships/slide" Target="slides/slide628.xml"/><Relationship Id="rId170" Type="http://schemas.openxmlformats.org/officeDocument/2006/relationships/slide" Target="slides/slide169.xml"/><Relationship Id="rId836" Type="http://schemas.openxmlformats.org/officeDocument/2006/relationships/slide" Target="slides/slide835.xml"/><Relationship Id="rId268" Type="http://schemas.openxmlformats.org/officeDocument/2006/relationships/slide" Target="slides/slide267.xml"/><Relationship Id="rId475" Type="http://schemas.openxmlformats.org/officeDocument/2006/relationships/slide" Target="slides/slide474.xml"/><Relationship Id="rId682" Type="http://schemas.openxmlformats.org/officeDocument/2006/relationships/slide" Target="slides/slide681.xml"/><Relationship Id="rId903" Type="http://schemas.openxmlformats.org/officeDocument/2006/relationships/slide" Target="slides/slide902.xml"/><Relationship Id="rId32" Type="http://schemas.openxmlformats.org/officeDocument/2006/relationships/slide" Target="slides/slide31.xml"/><Relationship Id="rId128" Type="http://schemas.openxmlformats.org/officeDocument/2006/relationships/slide" Target="slides/slide127.xml"/><Relationship Id="rId335" Type="http://schemas.openxmlformats.org/officeDocument/2006/relationships/slide" Target="slides/slide334.xml"/><Relationship Id="rId542" Type="http://schemas.openxmlformats.org/officeDocument/2006/relationships/slide" Target="slides/slide541.xml"/><Relationship Id="rId181" Type="http://schemas.openxmlformats.org/officeDocument/2006/relationships/slide" Target="slides/slide180.xml"/><Relationship Id="rId402" Type="http://schemas.openxmlformats.org/officeDocument/2006/relationships/slide" Target="slides/slide401.xml"/><Relationship Id="rId847" Type="http://schemas.openxmlformats.org/officeDocument/2006/relationships/slide" Target="slides/slide846.xml"/><Relationship Id="rId279" Type="http://schemas.openxmlformats.org/officeDocument/2006/relationships/slide" Target="slides/slide278.xml"/><Relationship Id="rId486" Type="http://schemas.openxmlformats.org/officeDocument/2006/relationships/slide" Target="slides/slide485.xml"/><Relationship Id="rId693" Type="http://schemas.openxmlformats.org/officeDocument/2006/relationships/slide" Target="slides/slide692.xml"/><Relationship Id="rId707" Type="http://schemas.openxmlformats.org/officeDocument/2006/relationships/slide" Target="slides/slide706.xml"/><Relationship Id="rId914" Type="http://schemas.openxmlformats.org/officeDocument/2006/relationships/slide" Target="slides/slide913.xml"/><Relationship Id="rId43" Type="http://schemas.openxmlformats.org/officeDocument/2006/relationships/slide" Target="slides/slide42.xml"/><Relationship Id="rId139" Type="http://schemas.openxmlformats.org/officeDocument/2006/relationships/slide" Target="slides/slide138.xml"/><Relationship Id="rId346" Type="http://schemas.openxmlformats.org/officeDocument/2006/relationships/slide" Target="slides/slide345.xml"/><Relationship Id="rId553" Type="http://schemas.openxmlformats.org/officeDocument/2006/relationships/slide" Target="slides/slide552.xml"/><Relationship Id="rId760" Type="http://schemas.openxmlformats.org/officeDocument/2006/relationships/slide" Target="slides/slide75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858" Type="http://schemas.openxmlformats.org/officeDocument/2006/relationships/slide" Target="slides/slide857.xml"/><Relationship Id="rId497" Type="http://schemas.openxmlformats.org/officeDocument/2006/relationships/slide" Target="slides/slide496.xml"/><Relationship Id="rId620" Type="http://schemas.openxmlformats.org/officeDocument/2006/relationships/slide" Target="slides/slide619.xml"/><Relationship Id="rId718" Type="http://schemas.openxmlformats.org/officeDocument/2006/relationships/slide" Target="slides/slide717.xml"/><Relationship Id="rId925" Type="http://schemas.openxmlformats.org/officeDocument/2006/relationships/presProps" Target="presProps.xml"/><Relationship Id="rId357" Type="http://schemas.openxmlformats.org/officeDocument/2006/relationships/slide" Target="slides/slide356.xml"/><Relationship Id="rId54" Type="http://schemas.openxmlformats.org/officeDocument/2006/relationships/slide" Target="slides/slide53.xml"/><Relationship Id="rId217" Type="http://schemas.openxmlformats.org/officeDocument/2006/relationships/slide" Target="slides/slide216.xml"/><Relationship Id="rId564" Type="http://schemas.openxmlformats.org/officeDocument/2006/relationships/slide" Target="slides/slide563.xml"/><Relationship Id="rId771" Type="http://schemas.openxmlformats.org/officeDocument/2006/relationships/slide" Target="slides/slide770.xml"/><Relationship Id="rId869" Type="http://schemas.openxmlformats.org/officeDocument/2006/relationships/slide" Target="slides/slide868.xml"/><Relationship Id="rId424" Type="http://schemas.openxmlformats.org/officeDocument/2006/relationships/slide" Target="slides/slide423.xml"/><Relationship Id="rId631" Type="http://schemas.openxmlformats.org/officeDocument/2006/relationships/slide" Target="slides/slide630.xml"/><Relationship Id="rId729" Type="http://schemas.openxmlformats.org/officeDocument/2006/relationships/slide" Target="slides/slide728.xml"/><Relationship Id="rId270" Type="http://schemas.openxmlformats.org/officeDocument/2006/relationships/slide" Target="slides/slide269.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575" Type="http://schemas.openxmlformats.org/officeDocument/2006/relationships/slide" Target="slides/slide574.xml"/><Relationship Id="rId782" Type="http://schemas.openxmlformats.org/officeDocument/2006/relationships/slide" Target="slides/slide781.xml"/><Relationship Id="rId228" Type="http://schemas.openxmlformats.org/officeDocument/2006/relationships/slide" Target="slides/slide227.xml"/><Relationship Id="rId435" Type="http://schemas.openxmlformats.org/officeDocument/2006/relationships/slide" Target="slides/slide434.xml"/><Relationship Id="rId642" Type="http://schemas.openxmlformats.org/officeDocument/2006/relationships/slide" Target="slides/slide641.xml"/><Relationship Id="rId281" Type="http://schemas.openxmlformats.org/officeDocument/2006/relationships/slide" Target="slides/slide280.xml"/><Relationship Id="rId502" Type="http://schemas.openxmlformats.org/officeDocument/2006/relationships/slide" Target="slides/slide501.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586" Type="http://schemas.openxmlformats.org/officeDocument/2006/relationships/slide" Target="slides/slide585.xml"/><Relationship Id="rId793" Type="http://schemas.openxmlformats.org/officeDocument/2006/relationships/slide" Target="slides/slide792.xml"/><Relationship Id="rId807" Type="http://schemas.openxmlformats.org/officeDocument/2006/relationships/slide" Target="slides/slide806.xml"/><Relationship Id="rId7" Type="http://schemas.openxmlformats.org/officeDocument/2006/relationships/slide" Target="slides/slide6.xml"/><Relationship Id="rId239" Type="http://schemas.openxmlformats.org/officeDocument/2006/relationships/slide" Target="slides/slide238.xml"/><Relationship Id="rId446" Type="http://schemas.openxmlformats.org/officeDocument/2006/relationships/slide" Target="slides/slide445.xml"/><Relationship Id="rId653" Type="http://schemas.openxmlformats.org/officeDocument/2006/relationships/slide" Target="slides/slide652.xml"/><Relationship Id="rId292" Type="http://schemas.openxmlformats.org/officeDocument/2006/relationships/slide" Target="slides/slide291.xml"/><Relationship Id="rId306" Type="http://schemas.openxmlformats.org/officeDocument/2006/relationships/slide" Target="slides/slide305.xml"/><Relationship Id="rId860" Type="http://schemas.openxmlformats.org/officeDocument/2006/relationships/slide" Target="slides/slide859.xml"/><Relationship Id="rId87" Type="http://schemas.openxmlformats.org/officeDocument/2006/relationships/slide" Target="slides/slide86.xml"/><Relationship Id="rId513" Type="http://schemas.openxmlformats.org/officeDocument/2006/relationships/slide" Target="slides/slide512.xml"/><Relationship Id="rId597" Type="http://schemas.openxmlformats.org/officeDocument/2006/relationships/slide" Target="slides/slide596.xml"/><Relationship Id="rId720" Type="http://schemas.openxmlformats.org/officeDocument/2006/relationships/slide" Target="slides/slide719.xml"/><Relationship Id="rId818" Type="http://schemas.openxmlformats.org/officeDocument/2006/relationships/slide" Target="slides/slide817.xml"/><Relationship Id="rId152" Type="http://schemas.openxmlformats.org/officeDocument/2006/relationships/slide" Target="slides/slide151.xml"/><Relationship Id="rId457" Type="http://schemas.openxmlformats.org/officeDocument/2006/relationships/slide" Target="slides/slide456.xml"/><Relationship Id="rId664" Type="http://schemas.openxmlformats.org/officeDocument/2006/relationships/slide" Target="slides/slide663.xml"/><Relationship Id="rId871" Type="http://schemas.openxmlformats.org/officeDocument/2006/relationships/slide" Target="slides/slide870.xml"/><Relationship Id="rId14" Type="http://schemas.openxmlformats.org/officeDocument/2006/relationships/slide" Target="slides/slide13.xml"/><Relationship Id="rId317" Type="http://schemas.openxmlformats.org/officeDocument/2006/relationships/slide" Target="slides/slide316.xml"/><Relationship Id="rId524" Type="http://schemas.openxmlformats.org/officeDocument/2006/relationships/slide" Target="slides/slide523.xml"/><Relationship Id="rId731" Type="http://schemas.openxmlformats.org/officeDocument/2006/relationships/slide" Target="slides/slide730.xml"/><Relationship Id="rId98" Type="http://schemas.openxmlformats.org/officeDocument/2006/relationships/slide" Target="slides/slide97.xml"/><Relationship Id="rId163" Type="http://schemas.openxmlformats.org/officeDocument/2006/relationships/slide" Target="slides/slide162.xml"/><Relationship Id="rId370" Type="http://schemas.openxmlformats.org/officeDocument/2006/relationships/slide" Target="slides/slide369.xml"/><Relationship Id="rId829" Type="http://schemas.openxmlformats.org/officeDocument/2006/relationships/slide" Target="slides/slide828.xml"/><Relationship Id="rId230" Type="http://schemas.openxmlformats.org/officeDocument/2006/relationships/slide" Target="slides/slide229.xml"/><Relationship Id="rId468" Type="http://schemas.openxmlformats.org/officeDocument/2006/relationships/slide" Target="slides/slide467.xml"/><Relationship Id="rId675" Type="http://schemas.openxmlformats.org/officeDocument/2006/relationships/slide" Target="slides/slide674.xml"/><Relationship Id="rId882" Type="http://schemas.openxmlformats.org/officeDocument/2006/relationships/slide" Target="slides/slide881.xml"/><Relationship Id="rId25" Type="http://schemas.openxmlformats.org/officeDocument/2006/relationships/slide" Target="slides/slide24.xml"/><Relationship Id="rId328" Type="http://schemas.openxmlformats.org/officeDocument/2006/relationships/slide" Target="slides/slide327.xml"/><Relationship Id="rId535" Type="http://schemas.openxmlformats.org/officeDocument/2006/relationships/slide" Target="slides/slide534.xml"/><Relationship Id="rId742" Type="http://schemas.openxmlformats.org/officeDocument/2006/relationships/slide" Target="slides/slide741.xml"/><Relationship Id="rId174" Type="http://schemas.openxmlformats.org/officeDocument/2006/relationships/slide" Target="slides/slide173.xml"/><Relationship Id="rId381" Type="http://schemas.openxmlformats.org/officeDocument/2006/relationships/slide" Target="slides/slide380.xml"/><Relationship Id="rId602" Type="http://schemas.openxmlformats.org/officeDocument/2006/relationships/slide" Target="slides/slide601.xml"/><Relationship Id="rId241" Type="http://schemas.openxmlformats.org/officeDocument/2006/relationships/slide" Target="slides/slide240.xml"/><Relationship Id="rId479" Type="http://schemas.openxmlformats.org/officeDocument/2006/relationships/slide" Target="slides/slide478.xml"/><Relationship Id="rId686" Type="http://schemas.openxmlformats.org/officeDocument/2006/relationships/slide" Target="slides/slide685.xml"/><Relationship Id="rId893" Type="http://schemas.openxmlformats.org/officeDocument/2006/relationships/slide" Target="slides/slide892.xml"/><Relationship Id="rId907" Type="http://schemas.openxmlformats.org/officeDocument/2006/relationships/slide" Target="slides/slide906.xml"/><Relationship Id="rId36" Type="http://schemas.openxmlformats.org/officeDocument/2006/relationships/slide" Target="slides/slide35.xml"/><Relationship Id="rId339" Type="http://schemas.openxmlformats.org/officeDocument/2006/relationships/slide" Target="slides/slide338.xml"/><Relationship Id="rId546" Type="http://schemas.openxmlformats.org/officeDocument/2006/relationships/slide" Target="slides/slide545.xml"/><Relationship Id="rId753" Type="http://schemas.openxmlformats.org/officeDocument/2006/relationships/slide" Target="slides/slide752.xml"/><Relationship Id="rId101" Type="http://schemas.openxmlformats.org/officeDocument/2006/relationships/slide" Target="slides/slide100.xml"/><Relationship Id="rId185" Type="http://schemas.openxmlformats.org/officeDocument/2006/relationships/slide" Target="slides/slide184.xml"/><Relationship Id="rId406" Type="http://schemas.openxmlformats.org/officeDocument/2006/relationships/slide" Target="slides/slide405.xml"/><Relationship Id="rId392" Type="http://schemas.openxmlformats.org/officeDocument/2006/relationships/slide" Target="slides/slide391.xml"/><Relationship Id="rId613" Type="http://schemas.openxmlformats.org/officeDocument/2006/relationships/slide" Target="slides/slide612.xml"/><Relationship Id="rId697" Type="http://schemas.openxmlformats.org/officeDocument/2006/relationships/slide" Target="slides/slide696.xml"/><Relationship Id="rId820" Type="http://schemas.openxmlformats.org/officeDocument/2006/relationships/slide" Target="slides/slide819.xml"/><Relationship Id="rId918" Type="http://schemas.openxmlformats.org/officeDocument/2006/relationships/slide" Target="slides/slide917.xml"/><Relationship Id="rId252" Type="http://schemas.openxmlformats.org/officeDocument/2006/relationships/slide" Target="slides/slide251.xml"/><Relationship Id="rId47" Type="http://schemas.openxmlformats.org/officeDocument/2006/relationships/slide" Target="slides/slide46.xml"/><Relationship Id="rId112" Type="http://schemas.openxmlformats.org/officeDocument/2006/relationships/slide" Target="slides/slide111.xml"/><Relationship Id="rId557" Type="http://schemas.openxmlformats.org/officeDocument/2006/relationships/slide" Target="slides/slide556.xml"/><Relationship Id="rId764" Type="http://schemas.openxmlformats.org/officeDocument/2006/relationships/slide" Target="slides/slide763.xml"/><Relationship Id="rId196" Type="http://schemas.openxmlformats.org/officeDocument/2006/relationships/slide" Target="slides/slide195.xml"/><Relationship Id="rId417" Type="http://schemas.openxmlformats.org/officeDocument/2006/relationships/slide" Target="slides/slide416.xml"/><Relationship Id="rId624" Type="http://schemas.openxmlformats.org/officeDocument/2006/relationships/slide" Target="slides/slide623.xml"/><Relationship Id="rId831" Type="http://schemas.openxmlformats.org/officeDocument/2006/relationships/slide" Target="slides/slide830.xml"/><Relationship Id="rId263" Type="http://schemas.openxmlformats.org/officeDocument/2006/relationships/slide" Target="slides/slide262.xml"/><Relationship Id="rId470" Type="http://schemas.openxmlformats.org/officeDocument/2006/relationships/slide" Target="slides/slide469.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568" Type="http://schemas.openxmlformats.org/officeDocument/2006/relationships/slide" Target="slides/slide567.xml"/><Relationship Id="rId775" Type="http://schemas.openxmlformats.org/officeDocument/2006/relationships/slide" Target="slides/slide774.xml"/><Relationship Id="rId428" Type="http://schemas.openxmlformats.org/officeDocument/2006/relationships/slide" Target="slides/slide427.xml"/><Relationship Id="rId635" Type="http://schemas.openxmlformats.org/officeDocument/2006/relationships/slide" Target="slides/slide634.xml"/><Relationship Id="rId842" Type="http://schemas.openxmlformats.org/officeDocument/2006/relationships/slide" Target="slides/slide841.xml"/><Relationship Id="rId274" Type="http://schemas.openxmlformats.org/officeDocument/2006/relationships/slide" Target="slides/slide273.xml"/><Relationship Id="rId481" Type="http://schemas.openxmlformats.org/officeDocument/2006/relationships/slide" Target="slides/slide480.xml"/><Relationship Id="rId702" Type="http://schemas.openxmlformats.org/officeDocument/2006/relationships/slide" Target="slides/slide701.xml"/><Relationship Id="rId69" Type="http://schemas.openxmlformats.org/officeDocument/2006/relationships/slide" Target="slides/slide68.xml"/><Relationship Id="rId134" Type="http://schemas.openxmlformats.org/officeDocument/2006/relationships/slide" Target="slides/slide133.xml"/><Relationship Id="rId579" Type="http://schemas.openxmlformats.org/officeDocument/2006/relationships/slide" Target="slides/slide578.xml"/><Relationship Id="rId786" Type="http://schemas.openxmlformats.org/officeDocument/2006/relationships/slide" Target="slides/slide785.xml"/><Relationship Id="rId341" Type="http://schemas.openxmlformats.org/officeDocument/2006/relationships/slide" Target="slides/slide340.xml"/><Relationship Id="rId439" Type="http://schemas.openxmlformats.org/officeDocument/2006/relationships/slide" Target="slides/slide438.xml"/><Relationship Id="rId646" Type="http://schemas.openxmlformats.org/officeDocument/2006/relationships/slide" Target="slides/slide645.xml"/><Relationship Id="rId201" Type="http://schemas.openxmlformats.org/officeDocument/2006/relationships/slide" Target="slides/slide200.xml"/><Relationship Id="rId285" Type="http://schemas.openxmlformats.org/officeDocument/2006/relationships/slide" Target="slides/slide284.xml"/><Relationship Id="rId506" Type="http://schemas.openxmlformats.org/officeDocument/2006/relationships/slide" Target="slides/slide505.xml"/><Relationship Id="rId853" Type="http://schemas.openxmlformats.org/officeDocument/2006/relationships/slide" Target="slides/slide852.xml"/><Relationship Id="rId492" Type="http://schemas.openxmlformats.org/officeDocument/2006/relationships/slide" Target="slides/slide491.xml"/><Relationship Id="rId713" Type="http://schemas.openxmlformats.org/officeDocument/2006/relationships/slide" Target="slides/slide712.xml"/><Relationship Id="rId797" Type="http://schemas.openxmlformats.org/officeDocument/2006/relationships/slide" Target="slides/slide796.xml"/><Relationship Id="rId920" Type="http://schemas.openxmlformats.org/officeDocument/2006/relationships/slide" Target="slides/slide919.xml"/><Relationship Id="rId145" Type="http://schemas.openxmlformats.org/officeDocument/2006/relationships/slide" Target="slides/slide144.xml"/><Relationship Id="rId352" Type="http://schemas.openxmlformats.org/officeDocument/2006/relationships/slide" Target="slides/slide351.xml"/><Relationship Id="rId212" Type="http://schemas.openxmlformats.org/officeDocument/2006/relationships/slide" Target="slides/slide211.xml"/><Relationship Id="rId657" Type="http://schemas.openxmlformats.org/officeDocument/2006/relationships/slide" Target="slides/slide656.xml"/><Relationship Id="rId864" Type="http://schemas.openxmlformats.org/officeDocument/2006/relationships/slide" Target="slides/slide863.xml"/><Relationship Id="rId296" Type="http://schemas.openxmlformats.org/officeDocument/2006/relationships/slide" Target="slides/slide295.xml"/><Relationship Id="rId517" Type="http://schemas.openxmlformats.org/officeDocument/2006/relationships/slide" Target="slides/slide516.xml"/><Relationship Id="rId724" Type="http://schemas.openxmlformats.org/officeDocument/2006/relationships/slide" Target="slides/slide723.xml"/><Relationship Id="rId60" Type="http://schemas.openxmlformats.org/officeDocument/2006/relationships/slide" Target="slides/slide59.xml"/><Relationship Id="rId156" Type="http://schemas.openxmlformats.org/officeDocument/2006/relationships/slide" Target="slides/slide155.xml"/><Relationship Id="rId363" Type="http://schemas.openxmlformats.org/officeDocument/2006/relationships/slide" Target="slides/slide362.xml"/><Relationship Id="rId570" Type="http://schemas.openxmlformats.org/officeDocument/2006/relationships/slide" Target="slides/slide569.xml"/><Relationship Id="rId223" Type="http://schemas.openxmlformats.org/officeDocument/2006/relationships/slide" Target="slides/slide222.xml"/><Relationship Id="rId430" Type="http://schemas.openxmlformats.org/officeDocument/2006/relationships/slide" Target="slides/slide429.xml"/><Relationship Id="rId668" Type="http://schemas.openxmlformats.org/officeDocument/2006/relationships/slide" Target="slides/slide667.xml"/><Relationship Id="rId875" Type="http://schemas.openxmlformats.org/officeDocument/2006/relationships/slide" Target="slides/slide874.xml"/><Relationship Id="rId18" Type="http://schemas.openxmlformats.org/officeDocument/2006/relationships/slide" Target="slides/slide17.xml"/><Relationship Id="rId528" Type="http://schemas.openxmlformats.org/officeDocument/2006/relationships/slide" Target="slides/slide527.xml"/><Relationship Id="rId735" Type="http://schemas.openxmlformats.org/officeDocument/2006/relationships/slide" Target="slides/slide734.xml"/><Relationship Id="rId167" Type="http://schemas.openxmlformats.org/officeDocument/2006/relationships/slide" Target="slides/slide166.xml"/><Relationship Id="rId374" Type="http://schemas.openxmlformats.org/officeDocument/2006/relationships/slide" Target="slides/slide373.xml"/><Relationship Id="rId581" Type="http://schemas.openxmlformats.org/officeDocument/2006/relationships/slide" Target="slides/slide580.xml"/><Relationship Id="rId71" Type="http://schemas.openxmlformats.org/officeDocument/2006/relationships/slide" Target="slides/slide70.xml"/><Relationship Id="rId234" Type="http://schemas.openxmlformats.org/officeDocument/2006/relationships/slide" Target="slides/slide233.xml"/><Relationship Id="rId679" Type="http://schemas.openxmlformats.org/officeDocument/2006/relationships/slide" Target="slides/slide678.xml"/><Relationship Id="rId802" Type="http://schemas.openxmlformats.org/officeDocument/2006/relationships/slide" Target="slides/slide801.xml"/><Relationship Id="rId886" Type="http://schemas.openxmlformats.org/officeDocument/2006/relationships/slide" Target="slides/slide885.xml"/><Relationship Id="rId2" Type="http://schemas.openxmlformats.org/officeDocument/2006/relationships/slide" Target="slides/slide1.xml"/><Relationship Id="rId29" Type="http://schemas.openxmlformats.org/officeDocument/2006/relationships/slide" Target="slides/slide28.xml"/><Relationship Id="rId441" Type="http://schemas.openxmlformats.org/officeDocument/2006/relationships/slide" Target="slides/slide440.xml"/><Relationship Id="rId539" Type="http://schemas.openxmlformats.org/officeDocument/2006/relationships/slide" Target="slides/slide538.xml"/><Relationship Id="rId746" Type="http://schemas.openxmlformats.org/officeDocument/2006/relationships/slide" Target="slides/slide745.xml"/><Relationship Id="rId178" Type="http://schemas.openxmlformats.org/officeDocument/2006/relationships/slide" Target="slides/slide177.xml"/><Relationship Id="rId301" Type="http://schemas.openxmlformats.org/officeDocument/2006/relationships/slide" Target="slides/slide300.xml"/><Relationship Id="rId82" Type="http://schemas.openxmlformats.org/officeDocument/2006/relationships/slide" Target="slides/slide81.xml"/><Relationship Id="rId385" Type="http://schemas.openxmlformats.org/officeDocument/2006/relationships/slide" Target="slides/slide384.xml"/><Relationship Id="rId592" Type="http://schemas.openxmlformats.org/officeDocument/2006/relationships/slide" Target="slides/slide591.xml"/><Relationship Id="rId606" Type="http://schemas.openxmlformats.org/officeDocument/2006/relationships/slide" Target="slides/slide605.xml"/><Relationship Id="rId813" Type="http://schemas.openxmlformats.org/officeDocument/2006/relationships/slide" Target="slides/slide812.xml"/><Relationship Id="rId245" Type="http://schemas.openxmlformats.org/officeDocument/2006/relationships/slide" Target="slides/slide244.xml"/><Relationship Id="rId452" Type="http://schemas.openxmlformats.org/officeDocument/2006/relationships/slide" Target="slides/slide451.xml"/><Relationship Id="rId897" Type="http://schemas.openxmlformats.org/officeDocument/2006/relationships/slide" Target="slides/slide896.xml"/><Relationship Id="rId105" Type="http://schemas.openxmlformats.org/officeDocument/2006/relationships/slide" Target="slides/slide104.xml"/><Relationship Id="rId312" Type="http://schemas.openxmlformats.org/officeDocument/2006/relationships/slide" Target="slides/slide311.xml"/><Relationship Id="rId757" Type="http://schemas.openxmlformats.org/officeDocument/2006/relationships/slide" Target="slides/slide756.xml"/><Relationship Id="rId93" Type="http://schemas.openxmlformats.org/officeDocument/2006/relationships/slide" Target="slides/slide92.xml"/><Relationship Id="rId189" Type="http://schemas.openxmlformats.org/officeDocument/2006/relationships/slide" Target="slides/slide188.xml"/><Relationship Id="rId396" Type="http://schemas.openxmlformats.org/officeDocument/2006/relationships/slide" Target="slides/slide395.xml"/><Relationship Id="rId617" Type="http://schemas.openxmlformats.org/officeDocument/2006/relationships/slide" Target="slides/slide616.xml"/><Relationship Id="rId824" Type="http://schemas.openxmlformats.org/officeDocument/2006/relationships/slide" Target="slides/slide823.xml"/><Relationship Id="rId256" Type="http://schemas.openxmlformats.org/officeDocument/2006/relationships/slide" Target="slides/slide255.xml"/><Relationship Id="rId463" Type="http://schemas.openxmlformats.org/officeDocument/2006/relationships/slide" Target="slides/slide462.xml"/><Relationship Id="rId670" Type="http://schemas.openxmlformats.org/officeDocument/2006/relationships/slide" Target="slides/slide669.xml"/><Relationship Id="rId116" Type="http://schemas.openxmlformats.org/officeDocument/2006/relationships/slide" Target="slides/slide115.xml"/><Relationship Id="rId323" Type="http://schemas.openxmlformats.org/officeDocument/2006/relationships/slide" Target="slides/slide322.xml"/><Relationship Id="rId530" Type="http://schemas.openxmlformats.org/officeDocument/2006/relationships/slide" Target="slides/slide529.xml"/><Relationship Id="rId768" Type="http://schemas.openxmlformats.org/officeDocument/2006/relationships/slide" Target="slides/slide767.xml"/><Relationship Id="rId20" Type="http://schemas.openxmlformats.org/officeDocument/2006/relationships/slide" Target="slides/slide19.xml"/><Relationship Id="rId628" Type="http://schemas.openxmlformats.org/officeDocument/2006/relationships/slide" Target="slides/slide627.xml"/><Relationship Id="rId835" Type="http://schemas.openxmlformats.org/officeDocument/2006/relationships/slide" Target="slides/slide834.xml"/><Relationship Id="rId267" Type="http://schemas.openxmlformats.org/officeDocument/2006/relationships/slide" Target="slides/slide266.xml"/><Relationship Id="rId474" Type="http://schemas.openxmlformats.org/officeDocument/2006/relationships/slide" Target="slides/slide473.xml"/><Relationship Id="rId127" Type="http://schemas.openxmlformats.org/officeDocument/2006/relationships/slide" Target="slides/slide126.xml"/><Relationship Id="rId681" Type="http://schemas.openxmlformats.org/officeDocument/2006/relationships/slide" Target="slides/slide680.xml"/><Relationship Id="rId779" Type="http://schemas.openxmlformats.org/officeDocument/2006/relationships/slide" Target="slides/slide778.xml"/><Relationship Id="rId902" Type="http://schemas.openxmlformats.org/officeDocument/2006/relationships/slide" Target="slides/slide901.xml"/><Relationship Id="rId31" Type="http://schemas.openxmlformats.org/officeDocument/2006/relationships/slide" Target="slides/slide30.xml"/><Relationship Id="rId334" Type="http://schemas.openxmlformats.org/officeDocument/2006/relationships/slide" Target="slides/slide333.xml"/><Relationship Id="rId541" Type="http://schemas.openxmlformats.org/officeDocument/2006/relationships/slide" Target="slides/slide540.xml"/><Relationship Id="rId639" Type="http://schemas.openxmlformats.org/officeDocument/2006/relationships/slide" Target="slides/slide638.xml"/><Relationship Id="rId180" Type="http://schemas.openxmlformats.org/officeDocument/2006/relationships/slide" Target="slides/slide179.xml"/><Relationship Id="rId278" Type="http://schemas.openxmlformats.org/officeDocument/2006/relationships/slide" Target="slides/slide277.xml"/><Relationship Id="rId401" Type="http://schemas.openxmlformats.org/officeDocument/2006/relationships/slide" Target="slides/slide400.xml"/><Relationship Id="rId846" Type="http://schemas.openxmlformats.org/officeDocument/2006/relationships/slide" Target="slides/slide845.xml"/><Relationship Id="rId485" Type="http://schemas.openxmlformats.org/officeDocument/2006/relationships/slide" Target="slides/slide484.xml"/><Relationship Id="rId692" Type="http://schemas.openxmlformats.org/officeDocument/2006/relationships/slide" Target="slides/slide691.xml"/><Relationship Id="rId706" Type="http://schemas.openxmlformats.org/officeDocument/2006/relationships/slide" Target="slides/slide705.xml"/><Relationship Id="rId913" Type="http://schemas.openxmlformats.org/officeDocument/2006/relationships/slide" Target="slides/slide912.xml"/><Relationship Id="rId42" Type="http://schemas.openxmlformats.org/officeDocument/2006/relationships/slide" Target="slides/slide41.xml"/><Relationship Id="rId138" Type="http://schemas.openxmlformats.org/officeDocument/2006/relationships/slide" Target="slides/slide137.xml"/><Relationship Id="rId345" Type="http://schemas.openxmlformats.org/officeDocument/2006/relationships/slide" Target="slides/slide344.xml"/><Relationship Id="rId552" Type="http://schemas.openxmlformats.org/officeDocument/2006/relationships/slide" Target="slides/slide551.xml"/><Relationship Id="rId191" Type="http://schemas.openxmlformats.org/officeDocument/2006/relationships/slide" Target="slides/slide190.xml"/><Relationship Id="rId205" Type="http://schemas.openxmlformats.org/officeDocument/2006/relationships/slide" Target="slides/slide204.xml"/><Relationship Id="rId412" Type="http://schemas.openxmlformats.org/officeDocument/2006/relationships/slide" Target="slides/slide411.xml"/><Relationship Id="rId857" Type="http://schemas.openxmlformats.org/officeDocument/2006/relationships/slide" Target="slides/slide856.xml"/><Relationship Id="rId289" Type="http://schemas.openxmlformats.org/officeDocument/2006/relationships/slide" Target="slides/slide288.xml"/><Relationship Id="rId496" Type="http://schemas.openxmlformats.org/officeDocument/2006/relationships/slide" Target="slides/slide495.xml"/><Relationship Id="rId717" Type="http://schemas.openxmlformats.org/officeDocument/2006/relationships/slide" Target="slides/slide716.xml"/><Relationship Id="rId924" Type="http://schemas.openxmlformats.org/officeDocument/2006/relationships/commentAuthors" Target="commentAuthors.xml"/><Relationship Id="rId53" Type="http://schemas.openxmlformats.org/officeDocument/2006/relationships/slide" Target="slides/slide52.xml"/><Relationship Id="rId149" Type="http://schemas.openxmlformats.org/officeDocument/2006/relationships/slide" Target="slides/slide148.xml"/><Relationship Id="rId356" Type="http://schemas.openxmlformats.org/officeDocument/2006/relationships/slide" Target="slides/slide355.xml"/><Relationship Id="rId563" Type="http://schemas.openxmlformats.org/officeDocument/2006/relationships/slide" Target="slides/slide562.xml"/><Relationship Id="rId770" Type="http://schemas.openxmlformats.org/officeDocument/2006/relationships/slide" Target="slides/slide769.xml"/><Relationship Id="rId216" Type="http://schemas.openxmlformats.org/officeDocument/2006/relationships/slide" Target="slides/slide215.xml"/><Relationship Id="rId423" Type="http://schemas.openxmlformats.org/officeDocument/2006/relationships/slide" Target="slides/slide422.xml"/><Relationship Id="rId868" Type="http://schemas.openxmlformats.org/officeDocument/2006/relationships/slide" Target="slides/slide867.xml"/><Relationship Id="rId630" Type="http://schemas.openxmlformats.org/officeDocument/2006/relationships/slide" Target="slides/slide629.xml"/><Relationship Id="rId728" Type="http://schemas.openxmlformats.org/officeDocument/2006/relationships/slide" Target="slides/slide727.xml"/><Relationship Id="rId64" Type="http://schemas.openxmlformats.org/officeDocument/2006/relationships/slide" Target="slides/slide63.xml"/><Relationship Id="rId367" Type="http://schemas.openxmlformats.org/officeDocument/2006/relationships/slide" Target="slides/slide366.xml"/><Relationship Id="rId574" Type="http://schemas.openxmlformats.org/officeDocument/2006/relationships/slide" Target="slides/slide573.xml"/><Relationship Id="rId227" Type="http://schemas.openxmlformats.org/officeDocument/2006/relationships/slide" Target="slides/slide226.xml"/><Relationship Id="rId781" Type="http://schemas.openxmlformats.org/officeDocument/2006/relationships/slide" Target="slides/slide780.xml"/><Relationship Id="rId879" Type="http://schemas.openxmlformats.org/officeDocument/2006/relationships/slide" Target="slides/slide878.xml"/><Relationship Id="rId434" Type="http://schemas.openxmlformats.org/officeDocument/2006/relationships/slide" Target="slides/slide433.xml"/><Relationship Id="rId641" Type="http://schemas.openxmlformats.org/officeDocument/2006/relationships/slide" Target="slides/slide640.xml"/><Relationship Id="rId739" Type="http://schemas.openxmlformats.org/officeDocument/2006/relationships/slide" Target="slides/slide738.xml"/><Relationship Id="rId280" Type="http://schemas.openxmlformats.org/officeDocument/2006/relationships/slide" Target="slides/slide279.xml"/><Relationship Id="rId501" Type="http://schemas.openxmlformats.org/officeDocument/2006/relationships/slide" Target="slides/slide500.xml"/><Relationship Id="rId75" Type="http://schemas.openxmlformats.org/officeDocument/2006/relationships/slide" Target="slides/slide74.xml"/><Relationship Id="rId140" Type="http://schemas.openxmlformats.org/officeDocument/2006/relationships/slide" Target="slides/slide139.xml"/><Relationship Id="rId378" Type="http://schemas.openxmlformats.org/officeDocument/2006/relationships/slide" Target="slides/slide377.xml"/><Relationship Id="rId585" Type="http://schemas.openxmlformats.org/officeDocument/2006/relationships/slide" Target="slides/slide584.xml"/><Relationship Id="rId792" Type="http://schemas.openxmlformats.org/officeDocument/2006/relationships/slide" Target="slides/slide791.xml"/><Relationship Id="rId806" Type="http://schemas.openxmlformats.org/officeDocument/2006/relationships/slide" Target="slides/slide805.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652" Type="http://schemas.openxmlformats.org/officeDocument/2006/relationships/slide" Target="slides/slide651.xml"/><Relationship Id="rId291" Type="http://schemas.openxmlformats.org/officeDocument/2006/relationships/slide" Target="slides/slide290.xml"/><Relationship Id="rId305" Type="http://schemas.openxmlformats.org/officeDocument/2006/relationships/slide" Target="slides/slide304.xml"/><Relationship Id="rId512" Type="http://schemas.openxmlformats.org/officeDocument/2006/relationships/slide" Target="slides/slide511.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596" Type="http://schemas.openxmlformats.org/officeDocument/2006/relationships/slide" Target="slides/slide595.xml"/><Relationship Id="rId817" Type="http://schemas.openxmlformats.org/officeDocument/2006/relationships/slide" Target="slides/slide816.xml"/><Relationship Id="rId249" Type="http://schemas.openxmlformats.org/officeDocument/2006/relationships/slide" Target="slides/slide248.xml"/><Relationship Id="rId456" Type="http://schemas.openxmlformats.org/officeDocument/2006/relationships/slide" Target="slides/slide455.xml"/><Relationship Id="rId663" Type="http://schemas.openxmlformats.org/officeDocument/2006/relationships/slide" Target="slides/slide662.xml"/><Relationship Id="rId870" Type="http://schemas.openxmlformats.org/officeDocument/2006/relationships/slide" Target="slides/slide869.xml"/><Relationship Id="rId13" Type="http://schemas.openxmlformats.org/officeDocument/2006/relationships/slide" Target="slides/slide12.xml"/><Relationship Id="rId109" Type="http://schemas.openxmlformats.org/officeDocument/2006/relationships/slide" Target="slides/slide108.xml"/><Relationship Id="rId316" Type="http://schemas.openxmlformats.org/officeDocument/2006/relationships/slide" Target="slides/slide315.xml"/><Relationship Id="rId523" Type="http://schemas.openxmlformats.org/officeDocument/2006/relationships/slide" Target="slides/slide522.xml"/><Relationship Id="rId97" Type="http://schemas.openxmlformats.org/officeDocument/2006/relationships/slide" Target="slides/slide96.xml"/><Relationship Id="rId730" Type="http://schemas.openxmlformats.org/officeDocument/2006/relationships/slide" Target="slides/slide729.xml"/><Relationship Id="rId828" Type="http://schemas.openxmlformats.org/officeDocument/2006/relationships/slide" Target="slides/slide827.xml"/><Relationship Id="rId162" Type="http://schemas.openxmlformats.org/officeDocument/2006/relationships/slide" Target="slides/slide161.xml"/><Relationship Id="rId467" Type="http://schemas.openxmlformats.org/officeDocument/2006/relationships/slide" Target="slides/slide466.xml"/><Relationship Id="rId674" Type="http://schemas.openxmlformats.org/officeDocument/2006/relationships/slide" Target="slides/slide673.xml"/><Relationship Id="rId881" Type="http://schemas.openxmlformats.org/officeDocument/2006/relationships/slide" Target="slides/slide880.xml"/><Relationship Id="rId24" Type="http://schemas.openxmlformats.org/officeDocument/2006/relationships/slide" Target="slides/slide23.xml"/><Relationship Id="rId327" Type="http://schemas.openxmlformats.org/officeDocument/2006/relationships/slide" Target="slides/slide326.xml"/><Relationship Id="rId534" Type="http://schemas.openxmlformats.org/officeDocument/2006/relationships/slide" Target="slides/slide533.xml"/><Relationship Id="rId741" Type="http://schemas.openxmlformats.org/officeDocument/2006/relationships/slide" Target="slides/slide740.xml"/><Relationship Id="rId839" Type="http://schemas.openxmlformats.org/officeDocument/2006/relationships/slide" Target="slides/slide838.xml"/><Relationship Id="rId173" Type="http://schemas.openxmlformats.org/officeDocument/2006/relationships/slide" Target="slides/slide172.xml"/><Relationship Id="rId380" Type="http://schemas.openxmlformats.org/officeDocument/2006/relationships/slide" Target="slides/slide379.xml"/><Relationship Id="rId601" Type="http://schemas.openxmlformats.org/officeDocument/2006/relationships/slide" Target="slides/slide600.xml"/><Relationship Id="rId240" Type="http://schemas.openxmlformats.org/officeDocument/2006/relationships/slide" Target="slides/slide239.xml"/><Relationship Id="rId478" Type="http://schemas.openxmlformats.org/officeDocument/2006/relationships/slide" Target="slides/slide477.xml"/><Relationship Id="rId685" Type="http://schemas.openxmlformats.org/officeDocument/2006/relationships/slide" Target="slides/slide684.xml"/><Relationship Id="rId892" Type="http://schemas.openxmlformats.org/officeDocument/2006/relationships/slide" Target="slides/slide891.xml"/><Relationship Id="rId906" Type="http://schemas.openxmlformats.org/officeDocument/2006/relationships/slide" Target="slides/slide905.xml"/><Relationship Id="rId35" Type="http://schemas.openxmlformats.org/officeDocument/2006/relationships/slide" Target="slides/slide34.xml"/><Relationship Id="rId100" Type="http://schemas.openxmlformats.org/officeDocument/2006/relationships/slide" Target="slides/slide99.xml"/><Relationship Id="rId338" Type="http://schemas.openxmlformats.org/officeDocument/2006/relationships/slide" Target="slides/slide337.xml"/><Relationship Id="rId545" Type="http://schemas.openxmlformats.org/officeDocument/2006/relationships/slide" Target="slides/slide544.xml"/><Relationship Id="rId752" Type="http://schemas.openxmlformats.org/officeDocument/2006/relationships/slide" Target="slides/slide75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612" Type="http://schemas.openxmlformats.org/officeDocument/2006/relationships/slide" Target="slides/slide611.xml"/><Relationship Id="rId251" Type="http://schemas.openxmlformats.org/officeDocument/2006/relationships/slide" Target="slides/slide250.xml"/><Relationship Id="rId489" Type="http://schemas.openxmlformats.org/officeDocument/2006/relationships/slide" Target="slides/slide488.xml"/><Relationship Id="rId696" Type="http://schemas.openxmlformats.org/officeDocument/2006/relationships/slide" Target="slides/slide695.xml"/><Relationship Id="rId917" Type="http://schemas.openxmlformats.org/officeDocument/2006/relationships/slide" Target="slides/slide916.xml"/><Relationship Id="rId46" Type="http://schemas.openxmlformats.org/officeDocument/2006/relationships/slide" Target="slides/slide45.xml"/><Relationship Id="rId349" Type="http://schemas.openxmlformats.org/officeDocument/2006/relationships/slide" Target="slides/slide348.xml"/><Relationship Id="rId556" Type="http://schemas.openxmlformats.org/officeDocument/2006/relationships/slide" Target="slides/slide555.xml"/><Relationship Id="rId763" Type="http://schemas.openxmlformats.org/officeDocument/2006/relationships/slide" Target="slides/slide762.xml"/><Relationship Id="rId111" Type="http://schemas.openxmlformats.org/officeDocument/2006/relationships/slide" Target="slides/slide110.xml"/><Relationship Id="rId195" Type="http://schemas.openxmlformats.org/officeDocument/2006/relationships/slide" Target="slides/slide194.xml"/><Relationship Id="rId209" Type="http://schemas.openxmlformats.org/officeDocument/2006/relationships/slide" Target="slides/slide208.xml"/><Relationship Id="rId416" Type="http://schemas.openxmlformats.org/officeDocument/2006/relationships/slide" Target="slides/slide415.xml"/><Relationship Id="rId623" Type="http://schemas.openxmlformats.org/officeDocument/2006/relationships/slide" Target="slides/slide622.xml"/><Relationship Id="rId830" Type="http://schemas.openxmlformats.org/officeDocument/2006/relationships/slide" Target="slides/slide829.xml"/><Relationship Id="rId928" Type="http://schemas.openxmlformats.org/officeDocument/2006/relationships/tableStyles" Target="tableStyles.xml"/><Relationship Id="rId57" Type="http://schemas.openxmlformats.org/officeDocument/2006/relationships/slide" Target="slides/slide56.xml"/><Relationship Id="rId262" Type="http://schemas.openxmlformats.org/officeDocument/2006/relationships/slide" Target="slides/slide261.xml"/><Relationship Id="rId567" Type="http://schemas.openxmlformats.org/officeDocument/2006/relationships/slide" Target="slides/slide566.xml"/><Relationship Id="rId122" Type="http://schemas.openxmlformats.org/officeDocument/2006/relationships/slide" Target="slides/slide121.xml"/><Relationship Id="rId774" Type="http://schemas.openxmlformats.org/officeDocument/2006/relationships/slide" Target="slides/slide773.xml"/><Relationship Id="rId427" Type="http://schemas.openxmlformats.org/officeDocument/2006/relationships/slide" Target="slides/slide426.xml"/><Relationship Id="rId634" Type="http://schemas.openxmlformats.org/officeDocument/2006/relationships/slide" Target="slides/slide633.xml"/><Relationship Id="rId841" Type="http://schemas.openxmlformats.org/officeDocument/2006/relationships/slide" Target="slides/slide840.xml"/><Relationship Id="rId273" Type="http://schemas.openxmlformats.org/officeDocument/2006/relationships/slide" Target="slides/slide272.xml"/><Relationship Id="rId480" Type="http://schemas.openxmlformats.org/officeDocument/2006/relationships/slide" Target="slides/slide479.xml"/><Relationship Id="rId701" Type="http://schemas.openxmlformats.org/officeDocument/2006/relationships/slide" Target="slides/slide700.xml"/><Relationship Id="rId68" Type="http://schemas.openxmlformats.org/officeDocument/2006/relationships/slide" Target="slides/slide67.xml"/><Relationship Id="rId133" Type="http://schemas.openxmlformats.org/officeDocument/2006/relationships/slide" Target="slides/slide132.xml"/><Relationship Id="rId340" Type="http://schemas.openxmlformats.org/officeDocument/2006/relationships/slide" Target="slides/slide339.xml"/><Relationship Id="rId578" Type="http://schemas.openxmlformats.org/officeDocument/2006/relationships/slide" Target="slides/slide577.xml"/><Relationship Id="rId785" Type="http://schemas.openxmlformats.org/officeDocument/2006/relationships/slide" Target="slides/slide784.xml"/><Relationship Id="rId200" Type="http://schemas.openxmlformats.org/officeDocument/2006/relationships/slide" Target="slides/slide199.xml"/><Relationship Id="rId438" Type="http://schemas.openxmlformats.org/officeDocument/2006/relationships/slide" Target="slides/slide437.xml"/><Relationship Id="rId645" Type="http://schemas.openxmlformats.org/officeDocument/2006/relationships/slide" Target="slides/slide644.xml"/><Relationship Id="rId852" Type="http://schemas.openxmlformats.org/officeDocument/2006/relationships/slide" Target="slides/slide851.xml"/><Relationship Id="rId284" Type="http://schemas.openxmlformats.org/officeDocument/2006/relationships/slide" Target="slides/slide283.xml"/><Relationship Id="rId491" Type="http://schemas.openxmlformats.org/officeDocument/2006/relationships/slide" Target="slides/slide490.xml"/><Relationship Id="rId505" Type="http://schemas.openxmlformats.org/officeDocument/2006/relationships/slide" Target="slides/slide504.xml"/><Relationship Id="rId712" Type="http://schemas.openxmlformats.org/officeDocument/2006/relationships/slide" Target="slides/slide711.xml"/><Relationship Id="rId79" Type="http://schemas.openxmlformats.org/officeDocument/2006/relationships/slide" Target="slides/slide78.xml"/><Relationship Id="rId144" Type="http://schemas.openxmlformats.org/officeDocument/2006/relationships/slide" Target="slides/slide143.xml"/><Relationship Id="rId589" Type="http://schemas.openxmlformats.org/officeDocument/2006/relationships/slide" Target="slides/slide588.xml"/><Relationship Id="rId796" Type="http://schemas.openxmlformats.org/officeDocument/2006/relationships/slide" Target="slides/slide795.xml"/><Relationship Id="rId351" Type="http://schemas.openxmlformats.org/officeDocument/2006/relationships/slide" Target="slides/slide350.xml"/><Relationship Id="rId449" Type="http://schemas.openxmlformats.org/officeDocument/2006/relationships/slide" Target="slides/slide448.xml"/><Relationship Id="rId656" Type="http://schemas.openxmlformats.org/officeDocument/2006/relationships/slide" Target="slides/slide655.xml"/><Relationship Id="rId863" Type="http://schemas.openxmlformats.org/officeDocument/2006/relationships/slide" Target="slides/slide862.xml"/><Relationship Id="rId211" Type="http://schemas.openxmlformats.org/officeDocument/2006/relationships/slide" Target="slides/slide210.xml"/><Relationship Id="rId295" Type="http://schemas.openxmlformats.org/officeDocument/2006/relationships/slide" Target="slides/slide294.xml"/><Relationship Id="rId309" Type="http://schemas.openxmlformats.org/officeDocument/2006/relationships/slide" Target="slides/slide308.xml"/><Relationship Id="rId516" Type="http://schemas.openxmlformats.org/officeDocument/2006/relationships/slide" Target="slides/slide515.xml"/><Relationship Id="rId723" Type="http://schemas.openxmlformats.org/officeDocument/2006/relationships/slide" Target="slides/slide722.xml"/><Relationship Id="rId155" Type="http://schemas.openxmlformats.org/officeDocument/2006/relationships/slide" Target="slides/slide154.xml"/><Relationship Id="rId197" Type="http://schemas.openxmlformats.org/officeDocument/2006/relationships/slide" Target="slides/slide196.xml"/><Relationship Id="rId362" Type="http://schemas.openxmlformats.org/officeDocument/2006/relationships/slide" Target="slides/slide361.xml"/><Relationship Id="rId418" Type="http://schemas.openxmlformats.org/officeDocument/2006/relationships/slide" Target="slides/slide417.xml"/><Relationship Id="rId625" Type="http://schemas.openxmlformats.org/officeDocument/2006/relationships/slide" Target="slides/slide624.xml"/><Relationship Id="rId832" Type="http://schemas.openxmlformats.org/officeDocument/2006/relationships/slide" Target="slides/slide831.xml"/><Relationship Id="rId222" Type="http://schemas.openxmlformats.org/officeDocument/2006/relationships/slide" Target="slides/slide221.xml"/><Relationship Id="rId264" Type="http://schemas.openxmlformats.org/officeDocument/2006/relationships/slide" Target="slides/slide263.xml"/><Relationship Id="rId471" Type="http://schemas.openxmlformats.org/officeDocument/2006/relationships/slide" Target="slides/slide470.xml"/><Relationship Id="rId667" Type="http://schemas.openxmlformats.org/officeDocument/2006/relationships/slide" Target="slides/slide666.xml"/><Relationship Id="rId874" Type="http://schemas.openxmlformats.org/officeDocument/2006/relationships/slide" Target="slides/slide873.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527" Type="http://schemas.openxmlformats.org/officeDocument/2006/relationships/slide" Target="slides/slide526.xml"/><Relationship Id="rId569" Type="http://schemas.openxmlformats.org/officeDocument/2006/relationships/slide" Target="slides/slide568.xml"/><Relationship Id="rId734" Type="http://schemas.openxmlformats.org/officeDocument/2006/relationships/slide" Target="slides/slide733.xml"/><Relationship Id="rId776" Type="http://schemas.openxmlformats.org/officeDocument/2006/relationships/slide" Target="slides/slide775.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580" Type="http://schemas.openxmlformats.org/officeDocument/2006/relationships/slide" Target="slides/slide579.xml"/><Relationship Id="rId636" Type="http://schemas.openxmlformats.org/officeDocument/2006/relationships/slide" Target="slides/slide635.xml"/><Relationship Id="rId801" Type="http://schemas.openxmlformats.org/officeDocument/2006/relationships/slide" Target="slides/slide800.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678" Type="http://schemas.openxmlformats.org/officeDocument/2006/relationships/slide" Target="slides/slide677.xml"/><Relationship Id="rId843" Type="http://schemas.openxmlformats.org/officeDocument/2006/relationships/slide" Target="slides/slide842.xml"/><Relationship Id="rId885" Type="http://schemas.openxmlformats.org/officeDocument/2006/relationships/slide" Target="slides/slide884.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482" Type="http://schemas.openxmlformats.org/officeDocument/2006/relationships/slide" Target="slides/slide481.xml"/><Relationship Id="rId538" Type="http://schemas.openxmlformats.org/officeDocument/2006/relationships/slide" Target="slides/slide537.xml"/><Relationship Id="rId703" Type="http://schemas.openxmlformats.org/officeDocument/2006/relationships/slide" Target="slides/slide702.xml"/><Relationship Id="rId745" Type="http://schemas.openxmlformats.org/officeDocument/2006/relationships/slide" Target="slides/slide744.xml"/><Relationship Id="rId910" Type="http://schemas.openxmlformats.org/officeDocument/2006/relationships/slide" Target="slides/slide909.xml"/><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591" Type="http://schemas.openxmlformats.org/officeDocument/2006/relationships/slide" Target="slides/slide590.xml"/><Relationship Id="rId605" Type="http://schemas.openxmlformats.org/officeDocument/2006/relationships/slide" Target="slides/slide604.xml"/><Relationship Id="rId787" Type="http://schemas.openxmlformats.org/officeDocument/2006/relationships/slide" Target="slides/slide786.xml"/><Relationship Id="rId812" Type="http://schemas.openxmlformats.org/officeDocument/2006/relationships/slide" Target="slides/slide811.xml"/><Relationship Id="rId202" Type="http://schemas.openxmlformats.org/officeDocument/2006/relationships/slide" Target="slides/slide201.xml"/><Relationship Id="rId244" Type="http://schemas.openxmlformats.org/officeDocument/2006/relationships/slide" Target="slides/slide243.xml"/><Relationship Id="rId647" Type="http://schemas.openxmlformats.org/officeDocument/2006/relationships/slide" Target="slides/slide646.xml"/><Relationship Id="rId689" Type="http://schemas.openxmlformats.org/officeDocument/2006/relationships/slide" Target="slides/slide688.xml"/><Relationship Id="rId854" Type="http://schemas.openxmlformats.org/officeDocument/2006/relationships/slide" Target="slides/slide853.xml"/><Relationship Id="rId896" Type="http://schemas.openxmlformats.org/officeDocument/2006/relationships/slide" Target="slides/slide895.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slide" Target="slides/slide450.xml"/><Relationship Id="rId493" Type="http://schemas.openxmlformats.org/officeDocument/2006/relationships/slide" Target="slides/slide492.xml"/><Relationship Id="rId507" Type="http://schemas.openxmlformats.org/officeDocument/2006/relationships/slide" Target="slides/slide506.xml"/><Relationship Id="rId549" Type="http://schemas.openxmlformats.org/officeDocument/2006/relationships/slide" Target="slides/slide548.xml"/><Relationship Id="rId714" Type="http://schemas.openxmlformats.org/officeDocument/2006/relationships/slide" Target="slides/slide713.xml"/><Relationship Id="rId756" Type="http://schemas.openxmlformats.org/officeDocument/2006/relationships/slide" Target="slides/slide755.xml"/><Relationship Id="rId921" Type="http://schemas.openxmlformats.org/officeDocument/2006/relationships/slide" Target="slides/slide920.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 Id="rId560" Type="http://schemas.openxmlformats.org/officeDocument/2006/relationships/slide" Target="slides/slide559.xml"/><Relationship Id="rId798" Type="http://schemas.openxmlformats.org/officeDocument/2006/relationships/slide" Target="slides/slide797.xml"/><Relationship Id="rId92" Type="http://schemas.openxmlformats.org/officeDocument/2006/relationships/slide" Target="slides/slide91.xml"/><Relationship Id="rId213" Type="http://schemas.openxmlformats.org/officeDocument/2006/relationships/slide" Target="slides/slide212.xml"/><Relationship Id="rId420" Type="http://schemas.openxmlformats.org/officeDocument/2006/relationships/slide" Target="slides/slide419.xml"/><Relationship Id="rId616" Type="http://schemas.openxmlformats.org/officeDocument/2006/relationships/slide" Target="slides/slide615.xml"/><Relationship Id="rId658" Type="http://schemas.openxmlformats.org/officeDocument/2006/relationships/slide" Target="slides/slide657.xml"/><Relationship Id="rId823" Type="http://schemas.openxmlformats.org/officeDocument/2006/relationships/slide" Target="slides/slide822.xml"/><Relationship Id="rId865" Type="http://schemas.openxmlformats.org/officeDocument/2006/relationships/slide" Target="slides/slide864.xml"/><Relationship Id="rId255" Type="http://schemas.openxmlformats.org/officeDocument/2006/relationships/slide" Target="slides/slide254.xml"/><Relationship Id="rId297" Type="http://schemas.openxmlformats.org/officeDocument/2006/relationships/slide" Target="slides/slide296.xml"/><Relationship Id="rId462" Type="http://schemas.openxmlformats.org/officeDocument/2006/relationships/slide" Target="slides/slide461.xml"/><Relationship Id="rId518" Type="http://schemas.openxmlformats.org/officeDocument/2006/relationships/slide" Target="slides/slide517.xml"/><Relationship Id="rId725" Type="http://schemas.openxmlformats.org/officeDocument/2006/relationships/slide" Target="slides/slide724.xml"/><Relationship Id="rId115" Type="http://schemas.openxmlformats.org/officeDocument/2006/relationships/slide" Target="slides/slide114.xml"/><Relationship Id="rId157" Type="http://schemas.openxmlformats.org/officeDocument/2006/relationships/slide" Target="slides/slide156.xml"/><Relationship Id="rId322" Type="http://schemas.openxmlformats.org/officeDocument/2006/relationships/slide" Target="slides/slide321.xml"/><Relationship Id="rId364" Type="http://schemas.openxmlformats.org/officeDocument/2006/relationships/slide" Target="slides/slide363.xml"/><Relationship Id="rId767" Type="http://schemas.openxmlformats.org/officeDocument/2006/relationships/slide" Target="slides/slide766.xml"/><Relationship Id="rId61" Type="http://schemas.openxmlformats.org/officeDocument/2006/relationships/slide" Target="slides/slide60.xml"/><Relationship Id="rId199" Type="http://schemas.openxmlformats.org/officeDocument/2006/relationships/slide" Target="slides/slide198.xml"/><Relationship Id="rId571" Type="http://schemas.openxmlformats.org/officeDocument/2006/relationships/slide" Target="slides/slide570.xml"/><Relationship Id="rId627" Type="http://schemas.openxmlformats.org/officeDocument/2006/relationships/slide" Target="slides/slide626.xml"/><Relationship Id="rId669" Type="http://schemas.openxmlformats.org/officeDocument/2006/relationships/slide" Target="slides/slide668.xml"/><Relationship Id="rId834" Type="http://schemas.openxmlformats.org/officeDocument/2006/relationships/slide" Target="slides/slide833.xml"/><Relationship Id="rId876" Type="http://schemas.openxmlformats.org/officeDocument/2006/relationships/slide" Target="slides/slide875.xml"/><Relationship Id="rId19" Type="http://schemas.openxmlformats.org/officeDocument/2006/relationships/slide" Target="slides/slide18.xml"/><Relationship Id="rId224" Type="http://schemas.openxmlformats.org/officeDocument/2006/relationships/slide" Target="slides/slide223.xml"/><Relationship Id="rId266" Type="http://schemas.openxmlformats.org/officeDocument/2006/relationships/slide" Target="slides/slide265.xml"/><Relationship Id="rId431" Type="http://schemas.openxmlformats.org/officeDocument/2006/relationships/slide" Target="slides/slide430.xml"/><Relationship Id="rId473" Type="http://schemas.openxmlformats.org/officeDocument/2006/relationships/slide" Target="slides/slide472.xml"/><Relationship Id="rId529" Type="http://schemas.openxmlformats.org/officeDocument/2006/relationships/slide" Target="slides/slide528.xml"/><Relationship Id="rId680" Type="http://schemas.openxmlformats.org/officeDocument/2006/relationships/slide" Target="slides/slide679.xml"/><Relationship Id="rId736" Type="http://schemas.openxmlformats.org/officeDocument/2006/relationships/slide" Target="slides/slide735.xml"/><Relationship Id="rId901" Type="http://schemas.openxmlformats.org/officeDocument/2006/relationships/slide" Target="slides/slide900.xml"/><Relationship Id="rId30" Type="http://schemas.openxmlformats.org/officeDocument/2006/relationships/slide" Target="slides/slide29.xml"/><Relationship Id="rId126" Type="http://schemas.openxmlformats.org/officeDocument/2006/relationships/slide" Target="slides/slide125.xml"/><Relationship Id="rId168" Type="http://schemas.openxmlformats.org/officeDocument/2006/relationships/slide" Target="slides/slide167.xml"/><Relationship Id="rId333" Type="http://schemas.openxmlformats.org/officeDocument/2006/relationships/slide" Target="slides/slide332.xml"/><Relationship Id="rId540" Type="http://schemas.openxmlformats.org/officeDocument/2006/relationships/slide" Target="slides/slide539.xml"/><Relationship Id="rId778" Type="http://schemas.openxmlformats.org/officeDocument/2006/relationships/slide" Target="slides/slide777.xml"/><Relationship Id="rId72" Type="http://schemas.openxmlformats.org/officeDocument/2006/relationships/slide" Target="slides/slide71.xml"/><Relationship Id="rId375" Type="http://schemas.openxmlformats.org/officeDocument/2006/relationships/slide" Target="slides/slide374.xml"/><Relationship Id="rId582" Type="http://schemas.openxmlformats.org/officeDocument/2006/relationships/slide" Target="slides/slide581.xml"/><Relationship Id="rId638" Type="http://schemas.openxmlformats.org/officeDocument/2006/relationships/slide" Target="slides/slide637.xml"/><Relationship Id="rId803" Type="http://schemas.openxmlformats.org/officeDocument/2006/relationships/slide" Target="slides/slide802.xml"/><Relationship Id="rId845" Type="http://schemas.openxmlformats.org/officeDocument/2006/relationships/slide" Target="slides/slide844.xml"/><Relationship Id="rId3" Type="http://schemas.openxmlformats.org/officeDocument/2006/relationships/slide" Target="slides/slide2.xml"/><Relationship Id="rId235" Type="http://schemas.openxmlformats.org/officeDocument/2006/relationships/slide" Target="slides/slide234.xml"/><Relationship Id="rId277" Type="http://schemas.openxmlformats.org/officeDocument/2006/relationships/slide" Target="slides/slide276.xml"/><Relationship Id="rId400" Type="http://schemas.openxmlformats.org/officeDocument/2006/relationships/slide" Target="slides/slide399.xml"/><Relationship Id="rId442" Type="http://schemas.openxmlformats.org/officeDocument/2006/relationships/slide" Target="slides/slide441.xml"/><Relationship Id="rId484" Type="http://schemas.openxmlformats.org/officeDocument/2006/relationships/slide" Target="slides/slide483.xml"/><Relationship Id="rId705" Type="http://schemas.openxmlformats.org/officeDocument/2006/relationships/slide" Target="slides/slide704.xml"/><Relationship Id="rId887" Type="http://schemas.openxmlformats.org/officeDocument/2006/relationships/slide" Target="slides/slide886.xml"/><Relationship Id="rId137" Type="http://schemas.openxmlformats.org/officeDocument/2006/relationships/slide" Target="slides/slide136.xml"/><Relationship Id="rId302" Type="http://schemas.openxmlformats.org/officeDocument/2006/relationships/slide" Target="slides/slide301.xml"/><Relationship Id="rId344" Type="http://schemas.openxmlformats.org/officeDocument/2006/relationships/slide" Target="slides/slide343.xml"/><Relationship Id="rId691" Type="http://schemas.openxmlformats.org/officeDocument/2006/relationships/slide" Target="slides/slide690.xml"/><Relationship Id="rId747" Type="http://schemas.openxmlformats.org/officeDocument/2006/relationships/slide" Target="slides/slide746.xml"/><Relationship Id="rId789" Type="http://schemas.openxmlformats.org/officeDocument/2006/relationships/slide" Target="slides/slide788.xml"/><Relationship Id="rId912" Type="http://schemas.openxmlformats.org/officeDocument/2006/relationships/slide" Target="slides/slide911.xml"/><Relationship Id="rId41" Type="http://schemas.openxmlformats.org/officeDocument/2006/relationships/slide" Target="slides/slide40.xml"/><Relationship Id="rId83" Type="http://schemas.openxmlformats.org/officeDocument/2006/relationships/slide" Target="slides/slide82.xml"/><Relationship Id="rId179" Type="http://schemas.openxmlformats.org/officeDocument/2006/relationships/slide" Target="slides/slide178.xml"/><Relationship Id="rId386" Type="http://schemas.openxmlformats.org/officeDocument/2006/relationships/slide" Target="slides/slide385.xml"/><Relationship Id="rId551" Type="http://schemas.openxmlformats.org/officeDocument/2006/relationships/slide" Target="slides/slide550.xml"/><Relationship Id="rId593" Type="http://schemas.openxmlformats.org/officeDocument/2006/relationships/slide" Target="slides/slide592.xml"/><Relationship Id="rId607" Type="http://schemas.openxmlformats.org/officeDocument/2006/relationships/slide" Target="slides/slide606.xml"/><Relationship Id="rId649" Type="http://schemas.openxmlformats.org/officeDocument/2006/relationships/slide" Target="slides/slide648.xml"/><Relationship Id="rId814" Type="http://schemas.openxmlformats.org/officeDocument/2006/relationships/slide" Target="slides/slide813.xml"/><Relationship Id="rId856" Type="http://schemas.openxmlformats.org/officeDocument/2006/relationships/slide" Target="slides/slide855.xml"/><Relationship Id="rId190" Type="http://schemas.openxmlformats.org/officeDocument/2006/relationships/slide" Target="slides/slide189.xml"/><Relationship Id="rId204" Type="http://schemas.openxmlformats.org/officeDocument/2006/relationships/slide" Target="slides/slide203.xml"/><Relationship Id="rId246" Type="http://schemas.openxmlformats.org/officeDocument/2006/relationships/slide" Target="slides/slide245.xml"/><Relationship Id="rId288" Type="http://schemas.openxmlformats.org/officeDocument/2006/relationships/slide" Target="slides/slide287.xml"/><Relationship Id="rId411" Type="http://schemas.openxmlformats.org/officeDocument/2006/relationships/slide" Target="slides/slide410.xml"/><Relationship Id="rId453" Type="http://schemas.openxmlformats.org/officeDocument/2006/relationships/slide" Target="slides/slide452.xml"/><Relationship Id="rId509" Type="http://schemas.openxmlformats.org/officeDocument/2006/relationships/slide" Target="slides/slide508.xml"/><Relationship Id="rId660" Type="http://schemas.openxmlformats.org/officeDocument/2006/relationships/slide" Target="slides/slide659.xml"/><Relationship Id="rId898" Type="http://schemas.openxmlformats.org/officeDocument/2006/relationships/slide" Target="slides/slide897.xml"/><Relationship Id="rId106" Type="http://schemas.openxmlformats.org/officeDocument/2006/relationships/slide" Target="slides/slide105.xml"/><Relationship Id="rId313" Type="http://schemas.openxmlformats.org/officeDocument/2006/relationships/slide" Target="slides/slide312.xml"/><Relationship Id="rId495" Type="http://schemas.openxmlformats.org/officeDocument/2006/relationships/slide" Target="slides/slide494.xml"/><Relationship Id="rId716" Type="http://schemas.openxmlformats.org/officeDocument/2006/relationships/slide" Target="slides/slide715.xml"/><Relationship Id="rId758" Type="http://schemas.openxmlformats.org/officeDocument/2006/relationships/slide" Target="slides/slide757.xml"/><Relationship Id="rId923" Type="http://schemas.openxmlformats.org/officeDocument/2006/relationships/notesMaster" Target="notesMasters/notesMaster1.xml"/><Relationship Id="rId10" Type="http://schemas.openxmlformats.org/officeDocument/2006/relationships/slide" Target="slides/slide9.xml"/><Relationship Id="rId52" Type="http://schemas.openxmlformats.org/officeDocument/2006/relationships/slide" Target="slides/slide51.xml"/><Relationship Id="rId94" Type="http://schemas.openxmlformats.org/officeDocument/2006/relationships/slide" Target="slides/slide93.xml"/><Relationship Id="rId148" Type="http://schemas.openxmlformats.org/officeDocument/2006/relationships/slide" Target="slides/slide147.xml"/><Relationship Id="rId355" Type="http://schemas.openxmlformats.org/officeDocument/2006/relationships/slide" Target="slides/slide354.xml"/><Relationship Id="rId397" Type="http://schemas.openxmlformats.org/officeDocument/2006/relationships/slide" Target="slides/slide396.xml"/><Relationship Id="rId520" Type="http://schemas.openxmlformats.org/officeDocument/2006/relationships/slide" Target="slides/slide519.xml"/><Relationship Id="rId562" Type="http://schemas.openxmlformats.org/officeDocument/2006/relationships/slide" Target="slides/slide561.xml"/><Relationship Id="rId618" Type="http://schemas.openxmlformats.org/officeDocument/2006/relationships/slide" Target="slides/slide617.xml"/><Relationship Id="rId825" Type="http://schemas.openxmlformats.org/officeDocument/2006/relationships/slide" Target="slides/slide824.xml"/><Relationship Id="rId215" Type="http://schemas.openxmlformats.org/officeDocument/2006/relationships/slide" Target="slides/slide214.xml"/><Relationship Id="rId257" Type="http://schemas.openxmlformats.org/officeDocument/2006/relationships/slide" Target="slides/slide256.xml"/><Relationship Id="rId422" Type="http://schemas.openxmlformats.org/officeDocument/2006/relationships/slide" Target="slides/slide421.xml"/><Relationship Id="rId464" Type="http://schemas.openxmlformats.org/officeDocument/2006/relationships/slide" Target="slides/slide463.xml"/><Relationship Id="rId867" Type="http://schemas.openxmlformats.org/officeDocument/2006/relationships/slide" Target="slides/slide866.xml"/><Relationship Id="rId299" Type="http://schemas.openxmlformats.org/officeDocument/2006/relationships/slide" Target="slides/slide298.xml"/><Relationship Id="rId727" Type="http://schemas.openxmlformats.org/officeDocument/2006/relationships/slide" Target="slides/slide726.xml"/><Relationship Id="rId63" Type="http://schemas.openxmlformats.org/officeDocument/2006/relationships/slide" Target="slides/slide62.xml"/><Relationship Id="rId159" Type="http://schemas.openxmlformats.org/officeDocument/2006/relationships/slide" Target="slides/slide158.xml"/><Relationship Id="rId366" Type="http://schemas.openxmlformats.org/officeDocument/2006/relationships/slide" Target="slides/slide365.xml"/><Relationship Id="rId573" Type="http://schemas.openxmlformats.org/officeDocument/2006/relationships/slide" Target="slides/slide572.xml"/><Relationship Id="rId780" Type="http://schemas.openxmlformats.org/officeDocument/2006/relationships/slide" Target="slides/slide779.xml"/><Relationship Id="rId226" Type="http://schemas.openxmlformats.org/officeDocument/2006/relationships/slide" Target="slides/slide225.xml"/><Relationship Id="rId433" Type="http://schemas.openxmlformats.org/officeDocument/2006/relationships/slide" Target="slides/slide432.xml"/><Relationship Id="rId878" Type="http://schemas.openxmlformats.org/officeDocument/2006/relationships/slide" Target="slides/slide877.xml"/><Relationship Id="rId640" Type="http://schemas.openxmlformats.org/officeDocument/2006/relationships/slide" Target="slides/slide639.xml"/><Relationship Id="rId738" Type="http://schemas.openxmlformats.org/officeDocument/2006/relationships/slide" Target="slides/slide737.xml"/><Relationship Id="rId74" Type="http://schemas.openxmlformats.org/officeDocument/2006/relationships/slide" Target="slides/slide73.xml"/><Relationship Id="rId377" Type="http://schemas.openxmlformats.org/officeDocument/2006/relationships/slide" Target="slides/slide376.xml"/><Relationship Id="rId500" Type="http://schemas.openxmlformats.org/officeDocument/2006/relationships/slide" Target="slides/slide499.xml"/><Relationship Id="rId584" Type="http://schemas.openxmlformats.org/officeDocument/2006/relationships/slide" Target="slides/slide583.xml"/><Relationship Id="rId805" Type="http://schemas.openxmlformats.org/officeDocument/2006/relationships/slide" Target="slides/slide804.xml"/><Relationship Id="rId5" Type="http://schemas.openxmlformats.org/officeDocument/2006/relationships/slide" Target="slides/slide4.xml"/><Relationship Id="rId237" Type="http://schemas.openxmlformats.org/officeDocument/2006/relationships/slide" Target="slides/slide236.xml"/><Relationship Id="rId791" Type="http://schemas.openxmlformats.org/officeDocument/2006/relationships/slide" Target="slides/slide790.xml"/><Relationship Id="rId889" Type="http://schemas.openxmlformats.org/officeDocument/2006/relationships/slide" Target="slides/slide888.xml"/><Relationship Id="rId444" Type="http://schemas.openxmlformats.org/officeDocument/2006/relationships/slide" Target="slides/slide443.xml"/><Relationship Id="rId651" Type="http://schemas.openxmlformats.org/officeDocument/2006/relationships/slide" Target="slides/slide650.xml"/><Relationship Id="rId749" Type="http://schemas.openxmlformats.org/officeDocument/2006/relationships/slide" Target="slides/slide748.xml"/><Relationship Id="rId290" Type="http://schemas.openxmlformats.org/officeDocument/2006/relationships/slide" Target="slides/slide289.xml"/><Relationship Id="rId304" Type="http://schemas.openxmlformats.org/officeDocument/2006/relationships/slide" Target="slides/slide303.xml"/><Relationship Id="rId388" Type="http://schemas.openxmlformats.org/officeDocument/2006/relationships/slide" Target="slides/slide387.xml"/><Relationship Id="rId511" Type="http://schemas.openxmlformats.org/officeDocument/2006/relationships/slide" Target="slides/slide510.xml"/><Relationship Id="rId609" Type="http://schemas.openxmlformats.org/officeDocument/2006/relationships/slide" Target="slides/slide608.xml"/><Relationship Id="rId85" Type="http://schemas.openxmlformats.org/officeDocument/2006/relationships/slide" Target="slides/slide84.xml"/><Relationship Id="rId150" Type="http://schemas.openxmlformats.org/officeDocument/2006/relationships/slide" Target="slides/slide149.xml"/><Relationship Id="rId595" Type="http://schemas.openxmlformats.org/officeDocument/2006/relationships/slide" Target="slides/slide594.xml"/><Relationship Id="rId816" Type="http://schemas.openxmlformats.org/officeDocument/2006/relationships/slide" Target="slides/slide815.xml"/><Relationship Id="rId248" Type="http://schemas.openxmlformats.org/officeDocument/2006/relationships/slide" Target="slides/slide247.xml"/><Relationship Id="rId455" Type="http://schemas.openxmlformats.org/officeDocument/2006/relationships/slide" Target="slides/slide454.xml"/><Relationship Id="rId662" Type="http://schemas.openxmlformats.org/officeDocument/2006/relationships/slide" Target="slides/slide661.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22" Type="http://schemas.openxmlformats.org/officeDocument/2006/relationships/slide" Target="slides/slide521.xml"/><Relationship Id="rId96" Type="http://schemas.openxmlformats.org/officeDocument/2006/relationships/slide" Target="slides/slide95.xml"/><Relationship Id="rId161" Type="http://schemas.openxmlformats.org/officeDocument/2006/relationships/slide" Target="slides/slide160.xml"/><Relationship Id="rId399" Type="http://schemas.openxmlformats.org/officeDocument/2006/relationships/slide" Target="slides/slide398.xml"/><Relationship Id="rId827" Type="http://schemas.openxmlformats.org/officeDocument/2006/relationships/slide" Target="slides/slide826.xml"/><Relationship Id="rId259" Type="http://schemas.openxmlformats.org/officeDocument/2006/relationships/slide" Target="slides/slide258.xml"/><Relationship Id="rId466" Type="http://schemas.openxmlformats.org/officeDocument/2006/relationships/slide" Target="slides/slide465.xml"/><Relationship Id="rId673" Type="http://schemas.openxmlformats.org/officeDocument/2006/relationships/slide" Target="slides/slide672.xml"/><Relationship Id="rId880" Type="http://schemas.openxmlformats.org/officeDocument/2006/relationships/slide" Target="slides/slide879.xml"/><Relationship Id="rId23" Type="http://schemas.openxmlformats.org/officeDocument/2006/relationships/slide" Target="slides/slide22.xml"/><Relationship Id="rId119" Type="http://schemas.openxmlformats.org/officeDocument/2006/relationships/slide" Target="slides/slide118.xml"/><Relationship Id="rId326" Type="http://schemas.openxmlformats.org/officeDocument/2006/relationships/slide" Target="slides/slide325.xml"/><Relationship Id="rId533" Type="http://schemas.openxmlformats.org/officeDocument/2006/relationships/slide" Target="slides/slide532.xml"/><Relationship Id="rId740" Type="http://schemas.openxmlformats.org/officeDocument/2006/relationships/slide" Target="slides/slide739.xml"/><Relationship Id="rId838" Type="http://schemas.openxmlformats.org/officeDocument/2006/relationships/slide" Target="slides/slide837.xml"/><Relationship Id="rId172" Type="http://schemas.openxmlformats.org/officeDocument/2006/relationships/slide" Target="slides/slide171.xml"/><Relationship Id="rId477" Type="http://schemas.openxmlformats.org/officeDocument/2006/relationships/slide" Target="slides/slide476.xml"/><Relationship Id="rId600" Type="http://schemas.openxmlformats.org/officeDocument/2006/relationships/slide" Target="slides/slide599.xml"/><Relationship Id="rId684" Type="http://schemas.openxmlformats.org/officeDocument/2006/relationships/slide" Target="slides/slide683.xml"/><Relationship Id="rId337" Type="http://schemas.openxmlformats.org/officeDocument/2006/relationships/slide" Target="slides/slide336.xml"/><Relationship Id="rId891" Type="http://schemas.openxmlformats.org/officeDocument/2006/relationships/slide" Target="slides/slide890.xml"/><Relationship Id="rId905" Type="http://schemas.openxmlformats.org/officeDocument/2006/relationships/slide" Target="slides/slide904.xml"/><Relationship Id="rId34" Type="http://schemas.openxmlformats.org/officeDocument/2006/relationships/slide" Target="slides/slide33.xml"/><Relationship Id="rId544" Type="http://schemas.openxmlformats.org/officeDocument/2006/relationships/slide" Target="slides/slide543.xml"/><Relationship Id="rId751" Type="http://schemas.openxmlformats.org/officeDocument/2006/relationships/slide" Target="slides/slide750.xml"/><Relationship Id="rId849" Type="http://schemas.openxmlformats.org/officeDocument/2006/relationships/slide" Target="slides/slide848.xml"/><Relationship Id="rId183" Type="http://schemas.openxmlformats.org/officeDocument/2006/relationships/slide" Target="slides/slide182.xml"/><Relationship Id="rId390" Type="http://schemas.openxmlformats.org/officeDocument/2006/relationships/slide" Target="slides/slide389.xml"/><Relationship Id="rId404" Type="http://schemas.openxmlformats.org/officeDocument/2006/relationships/slide" Target="slides/slide403.xml"/><Relationship Id="rId611" Type="http://schemas.openxmlformats.org/officeDocument/2006/relationships/slide" Target="slides/slide610.xml"/><Relationship Id="rId250" Type="http://schemas.openxmlformats.org/officeDocument/2006/relationships/slide" Target="slides/slide249.xml"/><Relationship Id="rId488" Type="http://schemas.openxmlformats.org/officeDocument/2006/relationships/slide" Target="slides/slide487.xml"/><Relationship Id="rId695" Type="http://schemas.openxmlformats.org/officeDocument/2006/relationships/slide" Target="slides/slide694.xml"/><Relationship Id="rId709" Type="http://schemas.openxmlformats.org/officeDocument/2006/relationships/slide" Target="slides/slide708.xml"/><Relationship Id="rId916" Type="http://schemas.openxmlformats.org/officeDocument/2006/relationships/slide" Target="slides/slide915.xml"/><Relationship Id="rId45" Type="http://schemas.openxmlformats.org/officeDocument/2006/relationships/slide" Target="slides/slide44.xml"/><Relationship Id="rId110" Type="http://schemas.openxmlformats.org/officeDocument/2006/relationships/slide" Target="slides/slide109.xml"/><Relationship Id="rId348" Type="http://schemas.openxmlformats.org/officeDocument/2006/relationships/slide" Target="slides/slide347.xml"/><Relationship Id="rId555" Type="http://schemas.openxmlformats.org/officeDocument/2006/relationships/slide" Target="slides/slide554.xml"/><Relationship Id="rId762" Type="http://schemas.openxmlformats.org/officeDocument/2006/relationships/slide" Target="slides/slide76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622" Type="http://schemas.openxmlformats.org/officeDocument/2006/relationships/slide" Target="slides/slide621.xml"/><Relationship Id="rId261" Type="http://schemas.openxmlformats.org/officeDocument/2006/relationships/slide" Target="slides/slide260.xml"/><Relationship Id="rId499" Type="http://schemas.openxmlformats.org/officeDocument/2006/relationships/slide" Target="slides/slide498.xml"/><Relationship Id="rId927" Type="http://schemas.openxmlformats.org/officeDocument/2006/relationships/theme" Target="theme/theme1.xml"/><Relationship Id="rId56" Type="http://schemas.openxmlformats.org/officeDocument/2006/relationships/slide" Target="slides/slide55.xml"/><Relationship Id="rId359" Type="http://schemas.openxmlformats.org/officeDocument/2006/relationships/slide" Target="slides/slide358.xml"/><Relationship Id="rId566" Type="http://schemas.openxmlformats.org/officeDocument/2006/relationships/slide" Target="slides/slide565.xml"/><Relationship Id="rId773" Type="http://schemas.openxmlformats.org/officeDocument/2006/relationships/slide" Target="slides/slide772.xml"/><Relationship Id="rId121" Type="http://schemas.openxmlformats.org/officeDocument/2006/relationships/slide" Target="slides/slide120.xml"/><Relationship Id="rId219" Type="http://schemas.openxmlformats.org/officeDocument/2006/relationships/slide" Target="slides/slide218.xml"/><Relationship Id="rId426" Type="http://schemas.openxmlformats.org/officeDocument/2006/relationships/slide" Target="slides/slide425.xml"/><Relationship Id="rId633" Type="http://schemas.openxmlformats.org/officeDocument/2006/relationships/slide" Target="slides/slide632.xml"/><Relationship Id="rId840" Type="http://schemas.openxmlformats.org/officeDocument/2006/relationships/slide" Target="slides/slide839.xml"/><Relationship Id="rId67" Type="http://schemas.openxmlformats.org/officeDocument/2006/relationships/slide" Target="slides/slide66.xml"/><Relationship Id="rId272" Type="http://schemas.openxmlformats.org/officeDocument/2006/relationships/slide" Target="slides/slide271.xml"/><Relationship Id="rId577" Type="http://schemas.openxmlformats.org/officeDocument/2006/relationships/slide" Target="slides/slide576.xml"/><Relationship Id="rId700" Type="http://schemas.openxmlformats.org/officeDocument/2006/relationships/slide" Target="slides/slide699.xml"/><Relationship Id="rId132" Type="http://schemas.openxmlformats.org/officeDocument/2006/relationships/slide" Target="slides/slide131.xml"/><Relationship Id="rId784" Type="http://schemas.openxmlformats.org/officeDocument/2006/relationships/slide" Target="slides/slide783.xml"/><Relationship Id="rId437" Type="http://schemas.openxmlformats.org/officeDocument/2006/relationships/slide" Target="slides/slide436.xml"/><Relationship Id="rId644" Type="http://schemas.openxmlformats.org/officeDocument/2006/relationships/slide" Target="slides/slide643.xml"/><Relationship Id="rId851" Type="http://schemas.openxmlformats.org/officeDocument/2006/relationships/slide" Target="slides/slide850.xml"/><Relationship Id="rId283" Type="http://schemas.openxmlformats.org/officeDocument/2006/relationships/slide" Target="slides/slide282.xml"/><Relationship Id="rId490" Type="http://schemas.openxmlformats.org/officeDocument/2006/relationships/slide" Target="slides/slide489.xml"/><Relationship Id="rId504" Type="http://schemas.openxmlformats.org/officeDocument/2006/relationships/slide" Target="slides/slide503.xml"/><Relationship Id="rId711" Type="http://schemas.openxmlformats.org/officeDocument/2006/relationships/slide" Target="slides/slide710.xml"/><Relationship Id="rId78" Type="http://schemas.openxmlformats.org/officeDocument/2006/relationships/slide" Target="slides/slide77.xml"/><Relationship Id="rId143" Type="http://schemas.openxmlformats.org/officeDocument/2006/relationships/slide" Target="slides/slide142.xml"/><Relationship Id="rId350" Type="http://schemas.openxmlformats.org/officeDocument/2006/relationships/slide" Target="slides/slide349.xml"/><Relationship Id="rId588" Type="http://schemas.openxmlformats.org/officeDocument/2006/relationships/slide" Target="slides/slide587.xml"/><Relationship Id="rId795" Type="http://schemas.openxmlformats.org/officeDocument/2006/relationships/slide" Target="slides/slide794.xml"/><Relationship Id="rId809" Type="http://schemas.openxmlformats.org/officeDocument/2006/relationships/slide" Target="slides/slide808.xml"/><Relationship Id="rId9" Type="http://schemas.openxmlformats.org/officeDocument/2006/relationships/slide" Target="slides/slide8.xml"/><Relationship Id="rId210" Type="http://schemas.openxmlformats.org/officeDocument/2006/relationships/slide" Target="slides/slide209.xml"/><Relationship Id="rId448" Type="http://schemas.openxmlformats.org/officeDocument/2006/relationships/slide" Target="slides/slide447.xml"/><Relationship Id="rId655" Type="http://schemas.openxmlformats.org/officeDocument/2006/relationships/slide" Target="slides/slide654.xml"/><Relationship Id="rId862" Type="http://schemas.openxmlformats.org/officeDocument/2006/relationships/slide" Target="slides/slide861.xml"/><Relationship Id="rId294" Type="http://schemas.openxmlformats.org/officeDocument/2006/relationships/slide" Target="slides/slide293.xml"/><Relationship Id="rId308" Type="http://schemas.openxmlformats.org/officeDocument/2006/relationships/slide" Target="slides/slide307.xml"/><Relationship Id="rId515" Type="http://schemas.openxmlformats.org/officeDocument/2006/relationships/slide" Target="slides/slide514.xml"/><Relationship Id="rId722" Type="http://schemas.openxmlformats.org/officeDocument/2006/relationships/slide" Target="slides/slide721.xml"/><Relationship Id="rId89" Type="http://schemas.openxmlformats.org/officeDocument/2006/relationships/slide" Target="slides/slide88.xml"/><Relationship Id="rId154" Type="http://schemas.openxmlformats.org/officeDocument/2006/relationships/slide" Target="slides/slide153.xml"/><Relationship Id="rId361" Type="http://schemas.openxmlformats.org/officeDocument/2006/relationships/slide" Target="slides/slide360.xml"/><Relationship Id="rId599" Type="http://schemas.openxmlformats.org/officeDocument/2006/relationships/slide" Target="slides/slide598.xml"/><Relationship Id="rId459" Type="http://schemas.openxmlformats.org/officeDocument/2006/relationships/slide" Target="slides/slide458.xml"/><Relationship Id="rId666" Type="http://schemas.openxmlformats.org/officeDocument/2006/relationships/slide" Target="slides/slide665.xml"/><Relationship Id="rId873" Type="http://schemas.openxmlformats.org/officeDocument/2006/relationships/slide" Target="slides/slide872.xml"/><Relationship Id="rId16" Type="http://schemas.openxmlformats.org/officeDocument/2006/relationships/slide" Target="slides/slide15.xml"/><Relationship Id="rId221" Type="http://schemas.openxmlformats.org/officeDocument/2006/relationships/slide" Target="slides/slide220.xml"/><Relationship Id="rId319" Type="http://schemas.openxmlformats.org/officeDocument/2006/relationships/slide" Target="slides/slide318.xml"/><Relationship Id="rId526" Type="http://schemas.openxmlformats.org/officeDocument/2006/relationships/slide" Target="slides/slide525.xml"/><Relationship Id="rId733" Type="http://schemas.openxmlformats.org/officeDocument/2006/relationships/slide" Target="slides/slide732.xml"/><Relationship Id="rId165" Type="http://schemas.openxmlformats.org/officeDocument/2006/relationships/slide" Target="slides/slide164.xml"/><Relationship Id="rId372" Type="http://schemas.openxmlformats.org/officeDocument/2006/relationships/slide" Target="slides/slide371.xml"/><Relationship Id="rId677" Type="http://schemas.openxmlformats.org/officeDocument/2006/relationships/slide" Target="slides/slide676.xml"/><Relationship Id="rId800" Type="http://schemas.openxmlformats.org/officeDocument/2006/relationships/slide" Target="slides/slide799.xml"/><Relationship Id="rId232" Type="http://schemas.openxmlformats.org/officeDocument/2006/relationships/slide" Target="slides/slide231.xml"/><Relationship Id="rId884" Type="http://schemas.openxmlformats.org/officeDocument/2006/relationships/slide" Target="slides/slide883.xml"/><Relationship Id="rId27" Type="http://schemas.openxmlformats.org/officeDocument/2006/relationships/slide" Target="slides/slide26.xml"/><Relationship Id="rId537" Type="http://schemas.openxmlformats.org/officeDocument/2006/relationships/slide" Target="slides/slide536.xml"/><Relationship Id="rId744" Type="http://schemas.openxmlformats.org/officeDocument/2006/relationships/slide" Target="slides/slide743.xml"/><Relationship Id="rId80" Type="http://schemas.openxmlformats.org/officeDocument/2006/relationships/slide" Target="slides/slide79.xml"/><Relationship Id="rId176" Type="http://schemas.openxmlformats.org/officeDocument/2006/relationships/slide" Target="slides/slide175.xml"/><Relationship Id="rId383" Type="http://schemas.openxmlformats.org/officeDocument/2006/relationships/slide" Target="slides/slide382.xml"/><Relationship Id="rId590" Type="http://schemas.openxmlformats.org/officeDocument/2006/relationships/slide" Target="slides/slide589.xml"/><Relationship Id="rId604" Type="http://schemas.openxmlformats.org/officeDocument/2006/relationships/slide" Target="slides/slide603.xml"/><Relationship Id="rId811" Type="http://schemas.openxmlformats.org/officeDocument/2006/relationships/slide" Target="slides/slide810.xml"/><Relationship Id="rId243" Type="http://schemas.openxmlformats.org/officeDocument/2006/relationships/slide" Target="slides/slide242.xml"/><Relationship Id="rId450" Type="http://schemas.openxmlformats.org/officeDocument/2006/relationships/slide" Target="slides/slide449.xml"/><Relationship Id="rId688" Type="http://schemas.openxmlformats.org/officeDocument/2006/relationships/slide" Target="slides/slide687.xml"/><Relationship Id="rId895" Type="http://schemas.openxmlformats.org/officeDocument/2006/relationships/slide" Target="slides/slide894.xml"/><Relationship Id="rId909" Type="http://schemas.openxmlformats.org/officeDocument/2006/relationships/slide" Target="slides/slide908.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548" Type="http://schemas.openxmlformats.org/officeDocument/2006/relationships/slide" Target="slides/slide547.xml"/><Relationship Id="rId755" Type="http://schemas.openxmlformats.org/officeDocument/2006/relationships/slide" Target="slides/slide754.xml"/><Relationship Id="rId91" Type="http://schemas.openxmlformats.org/officeDocument/2006/relationships/slide" Target="slides/slide90.xml"/><Relationship Id="rId187" Type="http://schemas.openxmlformats.org/officeDocument/2006/relationships/slide" Target="slides/slide186.xml"/><Relationship Id="rId394" Type="http://schemas.openxmlformats.org/officeDocument/2006/relationships/slide" Target="slides/slide393.xml"/><Relationship Id="rId408" Type="http://schemas.openxmlformats.org/officeDocument/2006/relationships/slide" Target="slides/slide407.xml"/><Relationship Id="rId615" Type="http://schemas.openxmlformats.org/officeDocument/2006/relationships/slide" Target="slides/slide614.xml"/><Relationship Id="rId822" Type="http://schemas.openxmlformats.org/officeDocument/2006/relationships/slide" Target="slides/slide821.xml"/><Relationship Id="rId254" Type="http://schemas.openxmlformats.org/officeDocument/2006/relationships/slide" Target="slides/slide253.xml"/><Relationship Id="rId699" Type="http://schemas.openxmlformats.org/officeDocument/2006/relationships/slide" Target="slides/slide698.xml"/><Relationship Id="rId49" Type="http://schemas.openxmlformats.org/officeDocument/2006/relationships/slide" Target="slides/slide48.xml"/><Relationship Id="rId114" Type="http://schemas.openxmlformats.org/officeDocument/2006/relationships/slide" Target="slides/slide113.xml"/><Relationship Id="rId461" Type="http://schemas.openxmlformats.org/officeDocument/2006/relationships/slide" Target="slides/slide460.xml"/><Relationship Id="rId559" Type="http://schemas.openxmlformats.org/officeDocument/2006/relationships/slide" Target="slides/slide558.xml"/><Relationship Id="rId766" Type="http://schemas.openxmlformats.org/officeDocument/2006/relationships/slide" Target="slides/slide765.xml"/><Relationship Id="rId198" Type="http://schemas.openxmlformats.org/officeDocument/2006/relationships/slide" Target="slides/slide197.xml"/><Relationship Id="rId321" Type="http://schemas.openxmlformats.org/officeDocument/2006/relationships/slide" Target="slides/slide320.xml"/><Relationship Id="rId419" Type="http://schemas.openxmlformats.org/officeDocument/2006/relationships/slide" Target="slides/slide418.xml"/><Relationship Id="rId626" Type="http://schemas.openxmlformats.org/officeDocument/2006/relationships/slide" Target="slides/slide625.xml"/><Relationship Id="rId833" Type="http://schemas.openxmlformats.org/officeDocument/2006/relationships/slide" Target="slides/slide832.xml"/><Relationship Id="rId265" Type="http://schemas.openxmlformats.org/officeDocument/2006/relationships/slide" Target="slides/slide264.xml"/><Relationship Id="rId472" Type="http://schemas.openxmlformats.org/officeDocument/2006/relationships/slide" Target="slides/slide471.xml"/><Relationship Id="rId900" Type="http://schemas.openxmlformats.org/officeDocument/2006/relationships/slide" Target="slides/slide899.xml"/><Relationship Id="rId125" Type="http://schemas.openxmlformats.org/officeDocument/2006/relationships/slide" Target="slides/slide124.xml"/><Relationship Id="rId332" Type="http://schemas.openxmlformats.org/officeDocument/2006/relationships/slide" Target="slides/slide331.xml"/><Relationship Id="rId777" Type="http://schemas.openxmlformats.org/officeDocument/2006/relationships/slide" Target="slides/slide776.xml"/><Relationship Id="rId637" Type="http://schemas.openxmlformats.org/officeDocument/2006/relationships/slide" Target="slides/slide636.xml"/><Relationship Id="rId844" Type="http://schemas.openxmlformats.org/officeDocument/2006/relationships/slide" Target="slides/slide843.xml"/><Relationship Id="rId276" Type="http://schemas.openxmlformats.org/officeDocument/2006/relationships/slide" Target="slides/slide275.xml"/><Relationship Id="rId483" Type="http://schemas.openxmlformats.org/officeDocument/2006/relationships/slide" Target="slides/slide482.xml"/><Relationship Id="rId690" Type="http://schemas.openxmlformats.org/officeDocument/2006/relationships/slide" Target="slides/slide689.xml"/><Relationship Id="rId704" Type="http://schemas.openxmlformats.org/officeDocument/2006/relationships/slide" Target="slides/slide703.xml"/><Relationship Id="rId911" Type="http://schemas.openxmlformats.org/officeDocument/2006/relationships/slide" Target="slides/slide910.xml"/><Relationship Id="rId40" Type="http://schemas.openxmlformats.org/officeDocument/2006/relationships/slide" Target="slides/slide39.xml"/><Relationship Id="rId136" Type="http://schemas.openxmlformats.org/officeDocument/2006/relationships/slide" Target="slides/slide135.xml"/><Relationship Id="rId343" Type="http://schemas.openxmlformats.org/officeDocument/2006/relationships/slide" Target="slides/slide342.xml"/><Relationship Id="rId550" Type="http://schemas.openxmlformats.org/officeDocument/2006/relationships/slide" Target="slides/slide549.xml"/><Relationship Id="rId788" Type="http://schemas.openxmlformats.org/officeDocument/2006/relationships/slide" Target="slides/slide787.xml"/><Relationship Id="rId203" Type="http://schemas.openxmlformats.org/officeDocument/2006/relationships/slide" Target="slides/slide202.xml"/><Relationship Id="rId648" Type="http://schemas.openxmlformats.org/officeDocument/2006/relationships/slide" Target="slides/slide647.xml"/><Relationship Id="rId855" Type="http://schemas.openxmlformats.org/officeDocument/2006/relationships/slide" Target="slides/slide854.xml"/><Relationship Id="rId287" Type="http://schemas.openxmlformats.org/officeDocument/2006/relationships/slide" Target="slides/slide286.xml"/><Relationship Id="rId410" Type="http://schemas.openxmlformats.org/officeDocument/2006/relationships/slide" Target="slides/slide409.xml"/><Relationship Id="rId494" Type="http://schemas.openxmlformats.org/officeDocument/2006/relationships/slide" Target="slides/slide493.xml"/><Relationship Id="rId508" Type="http://schemas.openxmlformats.org/officeDocument/2006/relationships/slide" Target="slides/slide507.xml"/><Relationship Id="rId715" Type="http://schemas.openxmlformats.org/officeDocument/2006/relationships/slide" Target="slides/slide714.xml"/><Relationship Id="rId922" Type="http://schemas.openxmlformats.org/officeDocument/2006/relationships/slide" Target="slides/slide921.xml"/><Relationship Id="rId147" Type="http://schemas.openxmlformats.org/officeDocument/2006/relationships/slide" Target="slides/slide146.xml"/><Relationship Id="rId354" Type="http://schemas.openxmlformats.org/officeDocument/2006/relationships/slide" Target="slides/slide353.xml"/><Relationship Id="rId799" Type="http://schemas.openxmlformats.org/officeDocument/2006/relationships/slide" Target="slides/slide798.xml"/><Relationship Id="rId51" Type="http://schemas.openxmlformats.org/officeDocument/2006/relationships/slide" Target="slides/slide50.xml"/><Relationship Id="rId561" Type="http://schemas.openxmlformats.org/officeDocument/2006/relationships/slide" Target="slides/slide560.xml"/><Relationship Id="rId659" Type="http://schemas.openxmlformats.org/officeDocument/2006/relationships/slide" Target="slides/slide658.xml"/><Relationship Id="rId866" Type="http://schemas.openxmlformats.org/officeDocument/2006/relationships/slide" Target="slides/slide865.xml"/><Relationship Id="rId214" Type="http://schemas.openxmlformats.org/officeDocument/2006/relationships/slide" Target="slides/slide213.xml"/><Relationship Id="rId298" Type="http://schemas.openxmlformats.org/officeDocument/2006/relationships/slide" Target="slides/slide297.xml"/><Relationship Id="rId421" Type="http://schemas.openxmlformats.org/officeDocument/2006/relationships/slide" Target="slides/slide420.xml"/><Relationship Id="rId519" Type="http://schemas.openxmlformats.org/officeDocument/2006/relationships/slide" Target="slides/slide518.xml"/><Relationship Id="rId158" Type="http://schemas.openxmlformats.org/officeDocument/2006/relationships/slide" Target="slides/slide157.xml"/><Relationship Id="rId726" Type="http://schemas.openxmlformats.org/officeDocument/2006/relationships/slide" Target="slides/slide725.xml"/><Relationship Id="rId62" Type="http://schemas.openxmlformats.org/officeDocument/2006/relationships/slide" Target="slides/slide61.xml"/><Relationship Id="rId365" Type="http://schemas.openxmlformats.org/officeDocument/2006/relationships/slide" Target="slides/slide364.xml"/><Relationship Id="rId572" Type="http://schemas.openxmlformats.org/officeDocument/2006/relationships/slide" Target="slides/slide571.xml"/><Relationship Id="rId225" Type="http://schemas.openxmlformats.org/officeDocument/2006/relationships/slide" Target="slides/slide224.xml"/><Relationship Id="rId432" Type="http://schemas.openxmlformats.org/officeDocument/2006/relationships/slide" Target="slides/slide431.xml"/><Relationship Id="rId877" Type="http://schemas.openxmlformats.org/officeDocument/2006/relationships/slide" Target="slides/slide876.xml"/><Relationship Id="rId737" Type="http://schemas.openxmlformats.org/officeDocument/2006/relationships/slide" Target="slides/slide736.xml"/><Relationship Id="rId73" Type="http://schemas.openxmlformats.org/officeDocument/2006/relationships/slide" Target="slides/slide72.xml"/><Relationship Id="rId169" Type="http://schemas.openxmlformats.org/officeDocument/2006/relationships/slide" Target="slides/slide168.xml"/><Relationship Id="rId376" Type="http://schemas.openxmlformats.org/officeDocument/2006/relationships/slide" Target="slides/slide375.xml"/><Relationship Id="rId583" Type="http://schemas.openxmlformats.org/officeDocument/2006/relationships/slide" Target="slides/slide582.xml"/><Relationship Id="rId790" Type="http://schemas.openxmlformats.org/officeDocument/2006/relationships/slide" Target="slides/slide789.xml"/><Relationship Id="rId804" Type="http://schemas.openxmlformats.org/officeDocument/2006/relationships/slide" Target="slides/slide803.xml"/><Relationship Id="rId4" Type="http://schemas.openxmlformats.org/officeDocument/2006/relationships/slide" Target="slides/slide3.xml"/><Relationship Id="rId236" Type="http://schemas.openxmlformats.org/officeDocument/2006/relationships/slide" Target="slides/slide235.xml"/><Relationship Id="rId443" Type="http://schemas.openxmlformats.org/officeDocument/2006/relationships/slide" Target="slides/slide442.xml"/><Relationship Id="rId650" Type="http://schemas.openxmlformats.org/officeDocument/2006/relationships/slide" Target="slides/slide649.xml"/><Relationship Id="rId888" Type="http://schemas.openxmlformats.org/officeDocument/2006/relationships/slide" Target="slides/slide887.xml"/><Relationship Id="rId303" Type="http://schemas.openxmlformats.org/officeDocument/2006/relationships/slide" Target="slides/slide302.xml"/><Relationship Id="rId748" Type="http://schemas.openxmlformats.org/officeDocument/2006/relationships/slide" Target="slides/slide747.xml"/><Relationship Id="rId84" Type="http://schemas.openxmlformats.org/officeDocument/2006/relationships/slide" Target="slides/slide83.xml"/><Relationship Id="rId387" Type="http://schemas.openxmlformats.org/officeDocument/2006/relationships/slide" Target="slides/slide386.xml"/><Relationship Id="rId510" Type="http://schemas.openxmlformats.org/officeDocument/2006/relationships/slide" Target="slides/slide509.xml"/><Relationship Id="rId594" Type="http://schemas.openxmlformats.org/officeDocument/2006/relationships/slide" Target="slides/slide593.xml"/><Relationship Id="rId608" Type="http://schemas.openxmlformats.org/officeDocument/2006/relationships/slide" Target="slides/slide607.xml"/><Relationship Id="rId815" Type="http://schemas.openxmlformats.org/officeDocument/2006/relationships/slide" Target="slides/slide814.xml"/><Relationship Id="rId247" Type="http://schemas.openxmlformats.org/officeDocument/2006/relationships/slide" Target="slides/slide246.xml"/><Relationship Id="rId899" Type="http://schemas.openxmlformats.org/officeDocument/2006/relationships/slide" Target="slides/slide898.xml"/><Relationship Id="rId107" Type="http://schemas.openxmlformats.org/officeDocument/2006/relationships/slide" Target="slides/slide106.xml"/><Relationship Id="rId454" Type="http://schemas.openxmlformats.org/officeDocument/2006/relationships/slide" Target="slides/slide453.xml"/><Relationship Id="rId661" Type="http://schemas.openxmlformats.org/officeDocument/2006/relationships/slide" Target="slides/slide660.xml"/><Relationship Id="rId759" Type="http://schemas.openxmlformats.org/officeDocument/2006/relationships/slide" Target="slides/slide758.xml"/><Relationship Id="rId11" Type="http://schemas.openxmlformats.org/officeDocument/2006/relationships/slide" Target="slides/slide10.xml"/><Relationship Id="rId314" Type="http://schemas.openxmlformats.org/officeDocument/2006/relationships/slide" Target="slides/slide313.xml"/><Relationship Id="rId398" Type="http://schemas.openxmlformats.org/officeDocument/2006/relationships/slide" Target="slides/slide397.xml"/><Relationship Id="rId521" Type="http://schemas.openxmlformats.org/officeDocument/2006/relationships/slide" Target="slides/slide520.xml"/><Relationship Id="rId619" Type="http://schemas.openxmlformats.org/officeDocument/2006/relationships/slide" Target="slides/slide618.xml"/><Relationship Id="rId95" Type="http://schemas.openxmlformats.org/officeDocument/2006/relationships/slide" Target="slides/slide94.xml"/><Relationship Id="rId160" Type="http://schemas.openxmlformats.org/officeDocument/2006/relationships/slide" Target="slides/slide159.xml"/><Relationship Id="rId826" Type="http://schemas.openxmlformats.org/officeDocument/2006/relationships/slide" Target="slides/slide825.xml"/><Relationship Id="rId258" Type="http://schemas.openxmlformats.org/officeDocument/2006/relationships/slide" Target="slides/slide257.xml"/><Relationship Id="rId465" Type="http://schemas.openxmlformats.org/officeDocument/2006/relationships/slide" Target="slides/slide464.xml"/><Relationship Id="rId672" Type="http://schemas.openxmlformats.org/officeDocument/2006/relationships/slide" Target="slides/slide671.xml"/><Relationship Id="rId22" Type="http://schemas.openxmlformats.org/officeDocument/2006/relationships/slide" Target="slides/slide21.xml"/><Relationship Id="rId118" Type="http://schemas.openxmlformats.org/officeDocument/2006/relationships/slide" Target="slides/slide117.xml"/><Relationship Id="rId325" Type="http://schemas.openxmlformats.org/officeDocument/2006/relationships/slide" Target="slides/slide324.xml"/><Relationship Id="rId532" Type="http://schemas.openxmlformats.org/officeDocument/2006/relationships/slide" Target="slides/slide531.xml"/><Relationship Id="rId171" Type="http://schemas.openxmlformats.org/officeDocument/2006/relationships/slide" Target="slides/slide170.xml"/><Relationship Id="rId837" Type="http://schemas.openxmlformats.org/officeDocument/2006/relationships/slide" Target="slides/slide836.xml"/><Relationship Id="rId269" Type="http://schemas.openxmlformats.org/officeDocument/2006/relationships/slide" Target="slides/slide268.xml"/><Relationship Id="rId476" Type="http://schemas.openxmlformats.org/officeDocument/2006/relationships/slide" Target="slides/slide475.xml"/><Relationship Id="rId683" Type="http://schemas.openxmlformats.org/officeDocument/2006/relationships/slide" Target="slides/slide682.xml"/><Relationship Id="rId890" Type="http://schemas.openxmlformats.org/officeDocument/2006/relationships/slide" Target="slides/slide889.xml"/><Relationship Id="rId904" Type="http://schemas.openxmlformats.org/officeDocument/2006/relationships/slide" Target="slides/slide903.xml"/><Relationship Id="rId33" Type="http://schemas.openxmlformats.org/officeDocument/2006/relationships/slide" Target="slides/slide32.xml"/><Relationship Id="rId129" Type="http://schemas.openxmlformats.org/officeDocument/2006/relationships/slide" Target="slides/slide128.xml"/><Relationship Id="rId336" Type="http://schemas.openxmlformats.org/officeDocument/2006/relationships/slide" Target="slides/slide335.xml"/><Relationship Id="rId543" Type="http://schemas.openxmlformats.org/officeDocument/2006/relationships/slide" Target="slides/slide542.xml"/><Relationship Id="rId182" Type="http://schemas.openxmlformats.org/officeDocument/2006/relationships/slide" Target="slides/slide181.xml"/><Relationship Id="rId403" Type="http://schemas.openxmlformats.org/officeDocument/2006/relationships/slide" Target="slides/slide402.xml"/><Relationship Id="rId750" Type="http://schemas.openxmlformats.org/officeDocument/2006/relationships/slide" Target="slides/slide749.xml"/><Relationship Id="rId848" Type="http://schemas.openxmlformats.org/officeDocument/2006/relationships/slide" Target="slides/slide847.xml"/><Relationship Id="rId487" Type="http://schemas.openxmlformats.org/officeDocument/2006/relationships/slide" Target="slides/slide486.xml"/><Relationship Id="rId610" Type="http://schemas.openxmlformats.org/officeDocument/2006/relationships/slide" Target="slides/slide609.xml"/><Relationship Id="rId694" Type="http://schemas.openxmlformats.org/officeDocument/2006/relationships/slide" Target="slides/slide693.xml"/><Relationship Id="rId708" Type="http://schemas.openxmlformats.org/officeDocument/2006/relationships/slide" Target="slides/slide707.xml"/><Relationship Id="rId915" Type="http://schemas.openxmlformats.org/officeDocument/2006/relationships/slide" Target="slides/slide914.xml"/><Relationship Id="rId347" Type="http://schemas.openxmlformats.org/officeDocument/2006/relationships/slide" Target="slides/slide346.xml"/><Relationship Id="rId44" Type="http://schemas.openxmlformats.org/officeDocument/2006/relationships/slide" Target="slides/slide43.xml"/><Relationship Id="rId554" Type="http://schemas.openxmlformats.org/officeDocument/2006/relationships/slide" Target="slides/slide553.xml"/><Relationship Id="rId761" Type="http://schemas.openxmlformats.org/officeDocument/2006/relationships/slide" Target="slides/slide760.xml"/><Relationship Id="rId859" Type="http://schemas.openxmlformats.org/officeDocument/2006/relationships/slide" Target="slides/slide858.xml"/><Relationship Id="rId193" Type="http://schemas.openxmlformats.org/officeDocument/2006/relationships/slide" Target="slides/slide192.xml"/><Relationship Id="rId207" Type="http://schemas.openxmlformats.org/officeDocument/2006/relationships/slide" Target="slides/slide206.xml"/><Relationship Id="rId414" Type="http://schemas.openxmlformats.org/officeDocument/2006/relationships/slide" Target="slides/slide413.xml"/><Relationship Id="rId498" Type="http://schemas.openxmlformats.org/officeDocument/2006/relationships/slide" Target="slides/slide497.xml"/><Relationship Id="rId621" Type="http://schemas.openxmlformats.org/officeDocument/2006/relationships/slide" Target="slides/slide620.xml"/><Relationship Id="rId260" Type="http://schemas.openxmlformats.org/officeDocument/2006/relationships/slide" Target="slides/slide259.xml"/><Relationship Id="rId719" Type="http://schemas.openxmlformats.org/officeDocument/2006/relationships/slide" Target="slides/slide718.xml"/><Relationship Id="rId926" Type="http://schemas.openxmlformats.org/officeDocument/2006/relationships/viewProps" Target="viewProps.xml"/><Relationship Id="rId55" Type="http://schemas.openxmlformats.org/officeDocument/2006/relationships/slide" Target="slides/slide54.xml"/><Relationship Id="rId120" Type="http://schemas.openxmlformats.org/officeDocument/2006/relationships/slide" Target="slides/slide119.xml"/><Relationship Id="rId358" Type="http://schemas.openxmlformats.org/officeDocument/2006/relationships/slide" Target="slides/slide357.xml"/><Relationship Id="rId565" Type="http://schemas.openxmlformats.org/officeDocument/2006/relationships/slide" Target="slides/slide564.xml"/><Relationship Id="rId772" Type="http://schemas.openxmlformats.org/officeDocument/2006/relationships/slide" Target="slides/slide771.xml"/><Relationship Id="rId218" Type="http://schemas.openxmlformats.org/officeDocument/2006/relationships/slide" Target="slides/slide217.xml"/><Relationship Id="rId425" Type="http://schemas.openxmlformats.org/officeDocument/2006/relationships/slide" Target="slides/slide424.xml"/><Relationship Id="rId632" Type="http://schemas.openxmlformats.org/officeDocument/2006/relationships/slide" Target="slides/slide631.xml"/><Relationship Id="rId271" Type="http://schemas.openxmlformats.org/officeDocument/2006/relationships/slide" Target="slides/slide270.xml"/><Relationship Id="rId66" Type="http://schemas.openxmlformats.org/officeDocument/2006/relationships/slide" Target="slides/slide65.xml"/><Relationship Id="rId131" Type="http://schemas.openxmlformats.org/officeDocument/2006/relationships/slide" Target="slides/slide130.xml"/><Relationship Id="rId369" Type="http://schemas.openxmlformats.org/officeDocument/2006/relationships/slide" Target="slides/slide368.xml"/><Relationship Id="rId576" Type="http://schemas.openxmlformats.org/officeDocument/2006/relationships/slide" Target="slides/slide575.xml"/><Relationship Id="rId783" Type="http://schemas.openxmlformats.org/officeDocument/2006/relationships/slide" Target="slides/slide782.xml"/><Relationship Id="rId229" Type="http://schemas.openxmlformats.org/officeDocument/2006/relationships/slide" Target="slides/slide228.xml"/><Relationship Id="rId436" Type="http://schemas.openxmlformats.org/officeDocument/2006/relationships/slide" Target="slides/slide435.xml"/><Relationship Id="rId643" Type="http://schemas.openxmlformats.org/officeDocument/2006/relationships/slide" Target="slides/slide642.xml"/><Relationship Id="rId850" Type="http://schemas.openxmlformats.org/officeDocument/2006/relationships/slide" Target="slides/slide849.xml"/><Relationship Id="rId77" Type="http://schemas.openxmlformats.org/officeDocument/2006/relationships/slide" Target="slides/slide76.xml"/><Relationship Id="rId282" Type="http://schemas.openxmlformats.org/officeDocument/2006/relationships/slide" Target="slides/slide281.xml"/><Relationship Id="rId503" Type="http://schemas.openxmlformats.org/officeDocument/2006/relationships/slide" Target="slides/slide502.xml"/><Relationship Id="rId587" Type="http://schemas.openxmlformats.org/officeDocument/2006/relationships/slide" Target="slides/slide586.xml"/><Relationship Id="rId710" Type="http://schemas.openxmlformats.org/officeDocument/2006/relationships/slide" Target="slides/slide709.xml"/><Relationship Id="rId808" Type="http://schemas.openxmlformats.org/officeDocument/2006/relationships/slide" Target="slides/slide807.xml"/><Relationship Id="rId8" Type="http://schemas.openxmlformats.org/officeDocument/2006/relationships/slide" Target="slides/slide7.xml"/><Relationship Id="rId142" Type="http://schemas.openxmlformats.org/officeDocument/2006/relationships/slide" Target="slides/slide141.xml"/><Relationship Id="rId447" Type="http://schemas.openxmlformats.org/officeDocument/2006/relationships/slide" Target="slides/slide446.xml"/><Relationship Id="rId794" Type="http://schemas.openxmlformats.org/officeDocument/2006/relationships/slide" Target="slides/slide793.xml"/><Relationship Id="rId654" Type="http://schemas.openxmlformats.org/officeDocument/2006/relationships/slide" Target="slides/slide653.xml"/><Relationship Id="rId861" Type="http://schemas.openxmlformats.org/officeDocument/2006/relationships/slide" Target="slides/slide860.xml"/><Relationship Id="rId293" Type="http://schemas.openxmlformats.org/officeDocument/2006/relationships/slide" Target="slides/slide292.xml"/><Relationship Id="rId307" Type="http://schemas.openxmlformats.org/officeDocument/2006/relationships/slide" Target="slides/slide306.xml"/><Relationship Id="rId514" Type="http://schemas.openxmlformats.org/officeDocument/2006/relationships/slide" Target="slides/slide513.xml"/><Relationship Id="rId721" Type="http://schemas.openxmlformats.org/officeDocument/2006/relationships/slide" Target="slides/slide720.xml"/><Relationship Id="rId88" Type="http://schemas.openxmlformats.org/officeDocument/2006/relationships/slide" Target="slides/slide87.xml"/><Relationship Id="rId153" Type="http://schemas.openxmlformats.org/officeDocument/2006/relationships/slide" Target="slides/slide152.xml"/><Relationship Id="rId360" Type="http://schemas.openxmlformats.org/officeDocument/2006/relationships/slide" Target="slides/slide359.xml"/><Relationship Id="rId598" Type="http://schemas.openxmlformats.org/officeDocument/2006/relationships/slide" Target="slides/slide597.xml"/><Relationship Id="rId819" Type="http://schemas.openxmlformats.org/officeDocument/2006/relationships/slide" Target="slides/slide818.xml"/><Relationship Id="rId220" Type="http://schemas.openxmlformats.org/officeDocument/2006/relationships/slide" Target="slides/slide219.xml"/><Relationship Id="rId458" Type="http://schemas.openxmlformats.org/officeDocument/2006/relationships/slide" Target="slides/slide457.xml"/><Relationship Id="rId665" Type="http://schemas.openxmlformats.org/officeDocument/2006/relationships/slide" Target="slides/slide664.xml"/><Relationship Id="rId872" Type="http://schemas.openxmlformats.org/officeDocument/2006/relationships/slide" Target="slides/slide871.xml"/><Relationship Id="rId15" Type="http://schemas.openxmlformats.org/officeDocument/2006/relationships/slide" Target="slides/slide14.xml"/><Relationship Id="rId318" Type="http://schemas.openxmlformats.org/officeDocument/2006/relationships/slide" Target="slides/slide317.xml"/><Relationship Id="rId525" Type="http://schemas.openxmlformats.org/officeDocument/2006/relationships/slide" Target="slides/slide524.xml"/><Relationship Id="rId732" Type="http://schemas.openxmlformats.org/officeDocument/2006/relationships/slide" Target="slides/slide731.xml"/><Relationship Id="rId99" Type="http://schemas.openxmlformats.org/officeDocument/2006/relationships/slide" Target="slides/slide98.xml"/><Relationship Id="rId164" Type="http://schemas.openxmlformats.org/officeDocument/2006/relationships/slide" Target="slides/slide163.xml"/><Relationship Id="rId371" Type="http://schemas.openxmlformats.org/officeDocument/2006/relationships/slide" Target="slides/slide370.xml"/><Relationship Id="rId469" Type="http://schemas.openxmlformats.org/officeDocument/2006/relationships/slide" Target="slides/slide468.xml"/><Relationship Id="rId676" Type="http://schemas.openxmlformats.org/officeDocument/2006/relationships/slide" Target="slides/slide675.xml"/><Relationship Id="rId883" Type="http://schemas.openxmlformats.org/officeDocument/2006/relationships/slide" Target="slides/slide882.xml"/><Relationship Id="rId26" Type="http://schemas.openxmlformats.org/officeDocument/2006/relationships/slide" Target="slides/slide25.xml"/><Relationship Id="rId231" Type="http://schemas.openxmlformats.org/officeDocument/2006/relationships/slide" Target="slides/slide230.xml"/><Relationship Id="rId329" Type="http://schemas.openxmlformats.org/officeDocument/2006/relationships/slide" Target="slides/slide328.xml"/><Relationship Id="rId536" Type="http://schemas.openxmlformats.org/officeDocument/2006/relationships/slide" Target="slides/slide535.xml"/><Relationship Id="rId175" Type="http://schemas.openxmlformats.org/officeDocument/2006/relationships/slide" Target="slides/slide174.xml"/><Relationship Id="rId743" Type="http://schemas.openxmlformats.org/officeDocument/2006/relationships/slide" Target="slides/slide742.xml"/><Relationship Id="rId382" Type="http://schemas.openxmlformats.org/officeDocument/2006/relationships/slide" Target="slides/slide381.xml"/><Relationship Id="rId603" Type="http://schemas.openxmlformats.org/officeDocument/2006/relationships/slide" Target="slides/slide602.xml"/><Relationship Id="rId687" Type="http://schemas.openxmlformats.org/officeDocument/2006/relationships/slide" Target="slides/slide686.xml"/><Relationship Id="rId810" Type="http://schemas.openxmlformats.org/officeDocument/2006/relationships/slide" Target="slides/slide809.xml"/><Relationship Id="rId908" Type="http://schemas.openxmlformats.org/officeDocument/2006/relationships/slide" Target="slides/slide907.xml"/><Relationship Id="rId242" Type="http://schemas.openxmlformats.org/officeDocument/2006/relationships/slide" Target="slides/slide241.xml"/><Relationship Id="rId894" Type="http://schemas.openxmlformats.org/officeDocument/2006/relationships/slide" Target="slides/slide893.xml"/><Relationship Id="rId37" Type="http://schemas.openxmlformats.org/officeDocument/2006/relationships/slide" Target="slides/slide36.xml"/><Relationship Id="rId102" Type="http://schemas.openxmlformats.org/officeDocument/2006/relationships/slide" Target="slides/slide101.xml"/><Relationship Id="rId547" Type="http://schemas.openxmlformats.org/officeDocument/2006/relationships/slide" Target="slides/slide546.xml"/><Relationship Id="rId754" Type="http://schemas.openxmlformats.org/officeDocument/2006/relationships/slide" Target="slides/slide753.xml"/><Relationship Id="rId90" Type="http://schemas.openxmlformats.org/officeDocument/2006/relationships/slide" Target="slides/slide89.xml"/><Relationship Id="rId186" Type="http://schemas.openxmlformats.org/officeDocument/2006/relationships/slide" Target="slides/slide185.xml"/><Relationship Id="rId393" Type="http://schemas.openxmlformats.org/officeDocument/2006/relationships/slide" Target="slides/slide392.xml"/><Relationship Id="rId407" Type="http://schemas.openxmlformats.org/officeDocument/2006/relationships/slide" Target="slides/slide406.xml"/><Relationship Id="rId614" Type="http://schemas.openxmlformats.org/officeDocument/2006/relationships/slide" Target="slides/slide613.xml"/><Relationship Id="rId821" Type="http://schemas.openxmlformats.org/officeDocument/2006/relationships/slide" Target="slides/slide820.xml"/><Relationship Id="rId253" Type="http://schemas.openxmlformats.org/officeDocument/2006/relationships/slide" Target="slides/slide252.xml"/><Relationship Id="rId460" Type="http://schemas.openxmlformats.org/officeDocument/2006/relationships/slide" Target="slides/slide459.xml"/><Relationship Id="rId698" Type="http://schemas.openxmlformats.org/officeDocument/2006/relationships/slide" Target="slides/slide697.xml"/><Relationship Id="rId919" Type="http://schemas.openxmlformats.org/officeDocument/2006/relationships/slide" Target="slides/slide918.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558" Type="http://schemas.openxmlformats.org/officeDocument/2006/relationships/slide" Target="slides/slide557.xml"/><Relationship Id="rId765" Type="http://schemas.openxmlformats.org/officeDocument/2006/relationships/slide" Target="slides/slide7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57F699C-254E-44B6-B18D-E7E82B2FC743}" type="datetimeFigureOut">
              <a:rPr lang="en-IN" smtClean="0"/>
              <a:pPr/>
              <a:t>30-09-2026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7AC5AE1-8B73-453E-AD5C-7AC64EE599C7}" type="slidenum">
              <a:rPr lang="en-IN" smtClean="0"/>
              <a:pPr/>
              <a:t>‹#›</a:t>
            </a:fld>
            <a:endParaRPr lang="en-IN"/>
          </a:p>
        </p:txBody>
      </p:sp>
    </p:spTree>
    <p:extLst>
      <p:ext uri="{BB962C8B-B14F-4D97-AF65-F5344CB8AC3E}">
        <p14:creationId xmlns:p14="http://schemas.microsoft.com/office/powerpoint/2010/main" val="30012692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9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0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1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7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8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8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0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5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8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8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9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9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9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9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9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9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0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0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0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0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8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84.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94.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05.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7.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8.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3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4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2.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3.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54.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5.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6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31.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32.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3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834.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a:t>
            </a:fld>
            <a:endParaRPr lang="en-IN" dirty="0"/>
          </a:p>
        </p:txBody>
      </p:sp>
    </p:spTree>
    <p:extLst>
      <p:ext uri="{BB962C8B-B14F-4D97-AF65-F5344CB8AC3E}">
        <p14:creationId xmlns:p14="http://schemas.microsoft.com/office/powerpoint/2010/main" val="40901154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a:t>
            </a:fld>
            <a:endParaRPr lang="en-IN" dirty="0"/>
          </a:p>
        </p:txBody>
      </p:sp>
    </p:spTree>
    <p:extLst>
      <p:ext uri="{BB962C8B-B14F-4D97-AF65-F5344CB8AC3E}">
        <p14:creationId xmlns:p14="http://schemas.microsoft.com/office/powerpoint/2010/main" val="16335816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103</a:t>
            </a:fld>
            <a:endParaRPr lang="en-IN"/>
          </a:p>
        </p:txBody>
      </p:sp>
    </p:spTree>
    <p:extLst>
      <p:ext uri="{BB962C8B-B14F-4D97-AF65-F5344CB8AC3E}">
        <p14:creationId xmlns:p14="http://schemas.microsoft.com/office/powerpoint/2010/main" val="8074749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131</a:t>
            </a:fld>
            <a:endParaRPr lang="en-IN"/>
          </a:p>
        </p:txBody>
      </p:sp>
    </p:spTree>
    <p:extLst>
      <p:ext uri="{BB962C8B-B14F-4D97-AF65-F5344CB8AC3E}">
        <p14:creationId xmlns:p14="http://schemas.microsoft.com/office/powerpoint/2010/main" val="7287718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143</a:t>
            </a:fld>
            <a:endParaRPr lang="en-IN"/>
          </a:p>
        </p:txBody>
      </p:sp>
    </p:spTree>
    <p:extLst>
      <p:ext uri="{BB962C8B-B14F-4D97-AF65-F5344CB8AC3E}">
        <p14:creationId xmlns:p14="http://schemas.microsoft.com/office/powerpoint/2010/main" val="23653951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252</a:t>
            </a:fld>
            <a:endParaRPr lang="en-IN"/>
          </a:p>
        </p:txBody>
      </p:sp>
    </p:spTree>
    <p:extLst>
      <p:ext uri="{BB962C8B-B14F-4D97-AF65-F5344CB8AC3E}">
        <p14:creationId xmlns:p14="http://schemas.microsoft.com/office/powerpoint/2010/main" val="31314909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253</a:t>
            </a:fld>
            <a:endParaRPr lang="en-IN"/>
          </a:p>
        </p:txBody>
      </p:sp>
    </p:spTree>
    <p:extLst>
      <p:ext uri="{BB962C8B-B14F-4D97-AF65-F5344CB8AC3E}">
        <p14:creationId xmlns:p14="http://schemas.microsoft.com/office/powerpoint/2010/main" val="17944092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279</a:t>
            </a:fld>
            <a:endParaRPr lang="en-IN"/>
          </a:p>
        </p:txBody>
      </p:sp>
    </p:spTree>
    <p:extLst>
      <p:ext uri="{BB962C8B-B14F-4D97-AF65-F5344CB8AC3E}">
        <p14:creationId xmlns:p14="http://schemas.microsoft.com/office/powerpoint/2010/main" val="1326149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280</a:t>
            </a:fld>
            <a:endParaRPr lang="en-IN"/>
          </a:p>
        </p:txBody>
      </p:sp>
    </p:spTree>
    <p:extLst>
      <p:ext uri="{BB962C8B-B14F-4D97-AF65-F5344CB8AC3E}">
        <p14:creationId xmlns:p14="http://schemas.microsoft.com/office/powerpoint/2010/main" val="23319703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284</a:t>
            </a:fld>
            <a:endParaRPr lang="en-IN"/>
          </a:p>
        </p:txBody>
      </p:sp>
    </p:spTree>
    <p:extLst>
      <p:ext uri="{BB962C8B-B14F-4D97-AF65-F5344CB8AC3E}">
        <p14:creationId xmlns:p14="http://schemas.microsoft.com/office/powerpoint/2010/main" val="740904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286</a:t>
            </a:fld>
            <a:endParaRPr lang="en-IN"/>
          </a:p>
        </p:txBody>
      </p:sp>
    </p:spTree>
    <p:extLst>
      <p:ext uri="{BB962C8B-B14F-4D97-AF65-F5344CB8AC3E}">
        <p14:creationId xmlns:p14="http://schemas.microsoft.com/office/powerpoint/2010/main" val="30411455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290</a:t>
            </a:fld>
            <a:endParaRPr lang="en-IN"/>
          </a:p>
        </p:txBody>
      </p:sp>
    </p:spTree>
    <p:extLst>
      <p:ext uri="{BB962C8B-B14F-4D97-AF65-F5344CB8AC3E}">
        <p14:creationId xmlns:p14="http://schemas.microsoft.com/office/powerpoint/2010/main" val="26770212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292</a:t>
            </a:fld>
            <a:endParaRPr lang="en-IN"/>
          </a:p>
        </p:txBody>
      </p:sp>
    </p:spTree>
    <p:extLst>
      <p:ext uri="{BB962C8B-B14F-4D97-AF65-F5344CB8AC3E}">
        <p14:creationId xmlns:p14="http://schemas.microsoft.com/office/powerpoint/2010/main" val="2133267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301</a:t>
            </a:fld>
            <a:endParaRPr lang="en-US"/>
          </a:p>
        </p:txBody>
      </p:sp>
    </p:spTree>
    <p:extLst>
      <p:ext uri="{BB962C8B-B14F-4D97-AF65-F5344CB8AC3E}">
        <p14:creationId xmlns:p14="http://schemas.microsoft.com/office/powerpoint/2010/main" val="1704597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303</a:t>
            </a:fld>
            <a:endParaRPr lang="en-IN"/>
          </a:p>
        </p:txBody>
      </p:sp>
    </p:spTree>
    <p:extLst>
      <p:ext uri="{BB962C8B-B14F-4D97-AF65-F5344CB8AC3E}">
        <p14:creationId xmlns:p14="http://schemas.microsoft.com/office/powerpoint/2010/main" val="5407499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305</a:t>
            </a:fld>
            <a:endParaRPr lang="en-IN"/>
          </a:p>
        </p:txBody>
      </p:sp>
    </p:spTree>
    <p:extLst>
      <p:ext uri="{BB962C8B-B14F-4D97-AF65-F5344CB8AC3E}">
        <p14:creationId xmlns:p14="http://schemas.microsoft.com/office/powerpoint/2010/main" val="23678077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314</a:t>
            </a:fld>
            <a:endParaRPr lang="en-IN"/>
          </a:p>
        </p:txBody>
      </p:sp>
    </p:spTree>
    <p:extLst>
      <p:ext uri="{BB962C8B-B14F-4D97-AF65-F5344CB8AC3E}">
        <p14:creationId xmlns:p14="http://schemas.microsoft.com/office/powerpoint/2010/main" val="35880810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316</a:t>
            </a:fld>
            <a:endParaRPr lang="en-IN"/>
          </a:p>
        </p:txBody>
      </p:sp>
    </p:spTree>
    <p:extLst>
      <p:ext uri="{BB962C8B-B14F-4D97-AF65-F5344CB8AC3E}">
        <p14:creationId xmlns:p14="http://schemas.microsoft.com/office/powerpoint/2010/main" val="6900896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365</a:t>
            </a:fld>
            <a:endParaRPr lang="en-IN"/>
          </a:p>
        </p:txBody>
      </p:sp>
    </p:spTree>
    <p:extLst>
      <p:ext uri="{BB962C8B-B14F-4D97-AF65-F5344CB8AC3E}">
        <p14:creationId xmlns:p14="http://schemas.microsoft.com/office/powerpoint/2010/main" val="194167239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371</a:t>
            </a:fld>
            <a:endParaRPr lang="en-IN"/>
          </a:p>
        </p:txBody>
      </p:sp>
    </p:spTree>
    <p:extLst>
      <p:ext uri="{BB962C8B-B14F-4D97-AF65-F5344CB8AC3E}">
        <p14:creationId xmlns:p14="http://schemas.microsoft.com/office/powerpoint/2010/main" val="39030089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22BF5-3364-01D3-FA64-A7D93178B1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0FA700-4AC2-4A2C-2F06-3120D386FD3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CE4C6C2-704D-AE07-F028-DA60EDF0661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0E7E95-6853-AD8C-2E17-C43AB35F8A00}"/>
              </a:ext>
            </a:extLst>
          </p:cNvPr>
          <p:cNvSpPr>
            <a:spLocks noGrp="1"/>
          </p:cNvSpPr>
          <p:nvPr>
            <p:ph type="sldNum" sz="quarter" idx="5"/>
          </p:nvPr>
        </p:nvSpPr>
        <p:spPr/>
        <p:txBody>
          <a:bodyPr/>
          <a:lstStyle/>
          <a:p>
            <a:fld id="{A7AC5AE1-8B73-453E-AD5C-7AC64EE599C7}" type="slidenum">
              <a:rPr lang="en-IN" smtClean="0"/>
              <a:pPr/>
              <a:t>380</a:t>
            </a:fld>
            <a:endParaRPr lang="en-IN"/>
          </a:p>
        </p:txBody>
      </p:sp>
    </p:spTree>
    <p:extLst>
      <p:ext uri="{BB962C8B-B14F-4D97-AF65-F5344CB8AC3E}">
        <p14:creationId xmlns:p14="http://schemas.microsoft.com/office/powerpoint/2010/main" val="11714152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252B3-CAC4-1E90-CF91-EF94491C35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63A264-895D-A40A-D4FA-50E29BE26C9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BB6C32E-40E4-6B19-FF32-4A5E2545425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43A428F-1842-8CB9-2C2E-E792A5637446}"/>
              </a:ext>
            </a:extLst>
          </p:cNvPr>
          <p:cNvSpPr>
            <a:spLocks noGrp="1"/>
          </p:cNvSpPr>
          <p:nvPr>
            <p:ph type="sldNum" sz="quarter" idx="5"/>
          </p:nvPr>
        </p:nvSpPr>
        <p:spPr/>
        <p:txBody>
          <a:bodyPr/>
          <a:lstStyle/>
          <a:p>
            <a:fld id="{A7AC5AE1-8B73-453E-AD5C-7AC64EE599C7}" type="slidenum">
              <a:rPr lang="en-IN" smtClean="0"/>
              <a:pPr/>
              <a:t>381</a:t>
            </a:fld>
            <a:endParaRPr lang="en-IN"/>
          </a:p>
        </p:txBody>
      </p:sp>
    </p:spTree>
    <p:extLst>
      <p:ext uri="{BB962C8B-B14F-4D97-AF65-F5344CB8AC3E}">
        <p14:creationId xmlns:p14="http://schemas.microsoft.com/office/powerpoint/2010/main" val="261326336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404</a:t>
            </a:fld>
            <a:endParaRPr lang="en-IN"/>
          </a:p>
        </p:txBody>
      </p:sp>
    </p:spTree>
    <p:extLst>
      <p:ext uri="{BB962C8B-B14F-4D97-AF65-F5344CB8AC3E}">
        <p14:creationId xmlns:p14="http://schemas.microsoft.com/office/powerpoint/2010/main" val="14761166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7EA29-D79C-1315-AF1F-9BA0A4BD8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09091A-86C9-4529-567E-9A5B85D04EC7}"/>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736BD47-0EAE-8D7A-D5AB-76BF454FE9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454E18-AAA8-816C-7CC5-851152718707}"/>
              </a:ext>
            </a:extLst>
          </p:cNvPr>
          <p:cNvSpPr>
            <a:spLocks noGrp="1"/>
          </p:cNvSpPr>
          <p:nvPr>
            <p:ph type="sldNum" sz="quarter" idx="10"/>
          </p:nvPr>
        </p:nvSpPr>
        <p:spPr/>
        <p:txBody>
          <a:bodyPr/>
          <a:lstStyle/>
          <a:p>
            <a:fld id="{A7AC5AE1-8B73-453E-AD5C-7AC64EE599C7}" type="slidenum">
              <a:rPr lang="en-IN" smtClean="0"/>
              <a:pPr/>
              <a:t>428</a:t>
            </a:fld>
            <a:endParaRPr lang="en-IN"/>
          </a:p>
        </p:txBody>
      </p:sp>
    </p:spTree>
    <p:extLst>
      <p:ext uri="{BB962C8B-B14F-4D97-AF65-F5344CB8AC3E}">
        <p14:creationId xmlns:p14="http://schemas.microsoft.com/office/powerpoint/2010/main" val="85718566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457</a:t>
            </a:fld>
            <a:endParaRPr lang="en-IN"/>
          </a:p>
        </p:txBody>
      </p:sp>
    </p:spTree>
    <p:extLst>
      <p:ext uri="{BB962C8B-B14F-4D97-AF65-F5344CB8AC3E}">
        <p14:creationId xmlns:p14="http://schemas.microsoft.com/office/powerpoint/2010/main" val="20423534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487</a:t>
            </a:fld>
            <a:endParaRPr lang="en-IN"/>
          </a:p>
        </p:txBody>
      </p:sp>
    </p:spTree>
    <p:extLst>
      <p:ext uri="{BB962C8B-B14F-4D97-AF65-F5344CB8AC3E}">
        <p14:creationId xmlns:p14="http://schemas.microsoft.com/office/powerpoint/2010/main" val="35670408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488</a:t>
            </a:fld>
            <a:endParaRPr lang="en-IN"/>
          </a:p>
        </p:txBody>
      </p:sp>
    </p:spTree>
    <p:extLst>
      <p:ext uri="{BB962C8B-B14F-4D97-AF65-F5344CB8AC3E}">
        <p14:creationId xmlns:p14="http://schemas.microsoft.com/office/powerpoint/2010/main" val="111304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489</a:t>
            </a:fld>
            <a:endParaRPr lang="en-IN"/>
          </a:p>
        </p:txBody>
      </p:sp>
    </p:spTree>
    <p:extLst>
      <p:ext uri="{BB962C8B-B14F-4D97-AF65-F5344CB8AC3E}">
        <p14:creationId xmlns:p14="http://schemas.microsoft.com/office/powerpoint/2010/main" val="36231334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06DF0-BBFA-0C30-AB87-24F2EDED2F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68E24B-E489-18DC-C1A7-00387DC99FB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CFF2099-3111-5F6B-5272-FF4442A53D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9F2B7B0-4AF8-C7BB-87F1-4A45DCA2D03F}"/>
              </a:ext>
            </a:extLst>
          </p:cNvPr>
          <p:cNvSpPr>
            <a:spLocks noGrp="1"/>
          </p:cNvSpPr>
          <p:nvPr>
            <p:ph type="sldNum" sz="quarter" idx="5"/>
          </p:nvPr>
        </p:nvSpPr>
        <p:spPr/>
        <p:txBody>
          <a:bodyPr/>
          <a:lstStyle/>
          <a:p>
            <a:fld id="{A7AC5AE1-8B73-453E-AD5C-7AC64EE599C7}" type="slidenum">
              <a:rPr lang="en-IN" smtClean="0"/>
              <a:pPr/>
              <a:t>490</a:t>
            </a:fld>
            <a:endParaRPr lang="en-IN"/>
          </a:p>
        </p:txBody>
      </p:sp>
    </p:spTree>
    <p:extLst>
      <p:ext uri="{BB962C8B-B14F-4D97-AF65-F5344CB8AC3E}">
        <p14:creationId xmlns:p14="http://schemas.microsoft.com/office/powerpoint/2010/main" val="217466706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494</a:t>
            </a:fld>
            <a:endParaRPr lang="en-IN"/>
          </a:p>
        </p:txBody>
      </p:sp>
    </p:spTree>
    <p:extLst>
      <p:ext uri="{BB962C8B-B14F-4D97-AF65-F5344CB8AC3E}">
        <p14:creationId xmlns:p14="http://schemas.microsoft.com/office/powerpoint/2010/main" val="129332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4C82F-EC5E-5D5C-5C0B-C777169206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7F5AF9-B25B-AC3D-BB9F-7D5FCEB0AAE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8897D7A-C1E5-A255-3C2E-AA3B0E532C0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29A11C5-9B7F-0347-6851-7D73FC655136}"/>
              </a:ext>
            </a:extLst>
          </p:cNvPr>
          <p:cNvSpPr>
            <a:spLocks noGrp="1"/>
          </p:cNvSpPr>
          <p:nvPr>
            <p:ph type="sldNum" sz="quarter" idx="5"/>
          </p:nvPr>
        </p:nvSpPr>
        <p:spPr/>
        <p:txBody>
          <a:bodyPr/>
          <a:lstStyle/>
          <a:p>
            <a:fld id="{A7AC5AE1-8B73-453E-AD5C-7AC64EE599C7}" type="slidenum">
              <a:rPr lang="en-IN" smtClean="0"/>
              <a:pPr/>
              <a:t>495</a:t>
            </a:fld>
            <a:endParaRPr lang="en-IN"/>
          </a:p>
        </p:txBody>
      </p:sp>
    </p:spTree>
    <p:extLst>
      <p:ext uri="{BB962C8B-B14F-4D97-AF65-F5344CB8AC3E}">
        <p14:creationId xmlns:p14="http://schemas.microsoft.com/office/powerpoint/2010/main" val="21289157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497</a:t>
            </a:fld>
            <a:endParaRPr lang="en-IN"/>
          </a:p>
        </p:txBody>
      </p:sp>
    </p:spTree>
    <p:extLst>
      <p:ext uri="{BB962C8B-B14F-4D97-AF65-F5344CB8AC3E}">
        <p14:creationId xmlns:p14="http://schemas.microsoft.com/office/powerpoint/2010/main" val="41161501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CBF4F-B781-8184-FB1C-575EB60743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456C0E-E3D7-5DE6-036C-E59D6D741DF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1D401AE-B182-A2DB-F5BD-AF28F4E41EB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CE8A3C6-5FDF-F061-FCA4-6733B9AFEB16}"/>
              </a:ext>
            </a:extLst>
          </p:cNvPr>
          <p:cNvSpPr>
            <a:spLocks noGrp="1"/>
          </p:cNvSpPr>
          <p:nvPr>
            <p:ph type="sldNum" sz="quarter" idx="5"/>
          </p:nvPr>
        </p:nvSpPr>
        <p:spPr/>
        <p:txBody>
          <a:bodyPr/>
          <a:lstStyle/>
          <a:p>
            <a:fld id="{A7AC5AE1-8B73-453E-AD5C-7AC64EE599C7}" type="slidenum">
              <a:rPr lang="en-IN" smtClean="0"/>
              <a:pPr/>
              <a:t>498</a:t>
            </a:fld>
            <a:endParaRPr lang="en-IN"/>
          </a:p>
        </p:txBody>
      </p:sp>
    </p:spTree>
    <p:extLst>
      <p:ext uri="{BB962C8B-B14F-4D97-AF65-F5344CB8AC3E}">
        <p14:creationId xmlns:p14="http://schemas.microsoft.com/office/powerpoint/2010/main" val="16775497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499</a:t>
            </a:fld>
            <a:endParaRPr lang="en-IN"/>
          </a:p>
        </p:txBody>
      </p:sp>
    </p:spTree>
    <p:extLst>
      <p:ext uri="{BB962C8B-B14F-4D97-AF65-F5344CB8AC3E}">
        <p14:creationId xmlns:p14="http://schemas.microsoft.com/office/powerpoint/2010/main" val="39995756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76032-02BD-D9C2-5932-CF5BDABF02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85C0E5-57A1-3CA2-A1BD-D1BDCF9F4EA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F0DDA0B-01AF-93E0-3E15-13A3BE5E51C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2C53EFB-79C6-2585-1666-E4D6AD6AE95B}"/>
              </a:ext>
            </a:extLst>
          </p:cNvPr>
          <p:cNvSpPr>
            <a:spLocks noGrp="1"/>
          </p:cNvSpPr>
          <p:nvPr>
            <p:ph type="sldNum" sz="quarter" idx="5"/>
          </p:nvPr>
        </p:nvSpPr>
        <p:spPr/>
        <p:txBody>
          <a:bodyPr/>
          <a:lstStyle/>
          <a:p>
            <a:fld id="{A7AC5AE1-8B73-453E-AD5C-7AC64EE599C7}" type="slidenum">
              <a:rPr lang="en-IN" smtClean="0"/>
              <a:pPr/>
              <a:t>500</a:t>
            </a:fld>
            <a:endParaRPr lang="en-IN"/>
          </a:p>
        </p:txBody>
      </p:sp>
    </p:spTree>
    <p:extLst>
      <p:ext uri="{BB962C8B-B14F-4D97-AF65-F5344CB8AC3E}">
        <p14:creationId xmlns:p14="http://schemas.microsoft.com/office/powerpoint/2010/main" val="89653309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5C367-6653-4EDA-115A-584388524C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2CACB5-977E-2228-24D2-ABDCA777310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DAB83B8F-2C3F-97EB-1D12-CBD5E1435FC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67ACC7A-748A-6CCA-BF36-703E3EFE182E}"/>
              </a:ext>
            </a:extLst>
          </p:cNvPr>
          <p:cNvSpPr>
            <a:spLocks noGrp="1"/>
          </p:cNvSpPr>
          <p:nvPr>
            <p:ph type="sldNum" sz="quarter" idx="5"/>
          </p:nvPr>
        </p:nvSpPr>
        <p:spPr/>
        <p:txBody>
          <a:bodyPr/>
          <a:lstStyle/>
          <a:p>
            <a:fld id="{A7AC5AE1-8B73-453E-AD5C-7AC64EE599C7}" type="slidenum">
              <a:rPr lang="en-IN" smtClean="0"/>
              <a:pPr/>
              <a:t>501</a:t>
            </a:fld>
            <a:endParaRPr lang="en-IN"/>
          </a:p>
        </p:txBody>
      </p:sp>
    </p:spTree>
    <p:extLst>
      <p:ext uri="{BB962C8B-B14F-4D97-AF65-F5344CB8AC3E}">
        <p14:creationId xmlns:p14="http://schemas.microsoft.com/office/powerpoint/2010/main" val="14671679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295AF-A151-E4C8-353F-41E52A941F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499190-8708-C0E0-BF46-5EB0DC93EC50}"/>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A231D9C-10B2-8CC9-A7B1-487C9E84760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D258CCC-7C6C-09F5-B715-382BEF46B67D}"/>
              </a:ext>
            </a:extLst>
          </p:cNvPr>
          <p:cNvSpPr>
            <a:spLocks noGrp="1"/>
          </p:cNvSpPr>
          <p:nvPr>
            <p:ph type="sldNum" sz="quarter" idx="5"/>
          </p:nvPr>
        </p:nvSpPr>
        <p:spPr/>
        <p:txBody>
          <a:bodyPr/>
          <a:lstStyle/>
          <a:p>
            <a:fld id="{A7AC5AE1-8B73-453E-AD5C-7AC64EE599C7}" type="slidenum">
              <a:rPr lang="en-IN" smtClean="0"/>
              <a:pPr/>
              <a:t>502</a:t>
            </a:fld>
            <a:endParaRPr lang="en-IN"/>
          </a:p>
        </p:txBody>
      </p:sp>
    </p:spTree>
    <p:extLst>
      <p:ext uri="{BB962C8B-B14F-4D97-AF65-F5344CB8AC3E}">
        <p14:creationId xmlns:p14="http://schemas.microsoft.com/office/powerpoint/2010/main" val="138728263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503</a:t>
            </a:fld>
            <a:endParaRPr lang="en-IN"/>
          </a:p>
        </p:txBody>
      </p:sp>
    </p:spTree>
    <p:extLst>
      <p:ext uri="{BB962C8B-B14F-4D97-AF65-F5344CB8AC3E}">
        <p14:creationId xmlns:p14="http://schemas.microsoft.com/office/powerpoint/2010/main" val="1159307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504</a:t>
            </a:fld>
            <a:endParaRPr lang="en-IN"/>
          </a:p>
        </p:txBody>
      </p:sp>
    </p:spTree>
    <p:extLst>
      <p:ext uri="{BB962C8B-B14F-4D97-AF65-F5344CB8AC3E}">
        <p14:creationId xmlns:p14="http://schemas.microsoft.com/office/powerpoint/2010/main" val="9355338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4DBE4-45BC-6C0B-268C-87A3AFF11E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A20826-893A-77DB-2413-0BE7358A9E9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F890FBA-99D4-A620-D586-B51D28CD72E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C9D6E53-B171-C52C-527D-E34B94E40EA5}"/>
              </a:ext>
            </a:extLst>
          </p:cNvPr>
          <p:cNvSpPr>
            <a:spLocks noGrp="1"/>
          </p:cNvSpPr>
          <p:nvPr>
            <p:ph type="sldNum" sz="quarter" idx="5"/>
          </p:nvPr>
        </p:nvSpPr>
        <p:spPr/>
        <p:txBody>
          <a:bodyPr/>
          <a:lstStyle/>
          <a:p>
            <a:fld id="{A7AC5AE1-8B73-453E-AD5C-7AC64EE599C7}" type="slidenum">
              <a:rPr lang="en-IN" smtClean="0"/>
              <a:pPr/>
              <a:t>505</a:t>
            </a:fld>
            <a:endParaRPr lang="en-IN"/>
          </a:p>
        </p:txBody>
      </p:sp>
    </p:spTree>
    <p:extLst>
      <p:ext uri="{BB962C8B-B14F-4D97-AF65-F5344CB8AC3E}">
        <p14:creationId xmlns:p14="http://schemas.microsoft.com/office/powerpoint/2010/main" val="205439797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506</a:t>
            </a:fld>
            <a:endParaRPr lang="en-IN"/>
          </a:p>
        </p:txBody>
      </p:sp>
    </p:spTree>
    <p:extLst>
      <p:ext uri="{BB962C8B-B14F-4D97-AF65-F5344CB8AC3E}">
        <p14:creationId xmlns:p14="http://schemas.microsoft.com/office/powerpoint/2010/main" val="174227036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EE6C9-ECEA-9536-3EAD-30B002944C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84228A-FD40-D2B0-14BC-4663499105F5}"/>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FB89FD5-D012-0CFA-6B50-4A3369AF5E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B453273-FD0B-DDC2-D3BE-01FCCC1A944C}"/>
              </a:ext>
            </a:extLst>
          </p:cNvPr>
          <p:cNvSpPr>
            <a:spLocks noGrp="1"/>
          </p:cNvSpPr>
          <p:nvPr>
            <p:ph type="sldNum" sz="quarter" idx="5"/>
          </p:nvPr>
        </p:nvSpPr>
        <p:spPr/>
        <p:txBody>
          <a:bodyPr/>
          <a:lstStyle/>
          <a:p>
            <a:fld id="{A7AC5AE1-8B73-453E-AD5C-7AC64EE599C7}" type="slidenum">
              <a:rPr lang="en-IN" smtClean="0"/>
              <a:pPr/>
              <a:t>507</a:t>
            </a:fld>
            <a:endParaRPr lang="en-IN"/>
          </a:p>
        </p:txBody>
      </p:sp>
    </p:spTree>
    <p:extLst>
      <p:ext uri="{BB962C8B-B14F-4D97-AF65-F5344CB8AC3E}">
        <p14:creationId xmlns:p14="http://schemas.microsoft.com/office/powerpoint/2010/main" val="329561008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6A7B0-BC18-EAEA-AA73-7571EA0BF9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1A4910-5586-F39F-5DC5-10183CB7A302}"/>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ADF050F-4045-9FB1-85A8-C7CE354ABF2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EE3D7D5-7F3A-EF8C-E5D2-F579F367FBFA}"/>
              </a:ext>
            </a:extLst>
          </p:cNvPr>
          <p:cNvSpPr>
            <a:spLocks noGrp="1"/>
          </p:cNvSpPr>
          <p:nvPr>
            <p:ph type="sldNum" sz="quarter" idx="5"/>
          </p:nvPr>
        </p:nvSpPr>
        <p:spPr/>
        <p:txBody>
          <a:bodyPr/>
          <a:lstStyle/>
          <a:p>
            <a:fld id="{A7AC5AE1-8B73-453E-AD5C-7AC64EE599C7}" type="slidenum">
              <a:rPr lang="en-IN" smtClean="0"/>
              <a:pPr/>
              <a:t>508</a:t>
            </a:fld>
            <a:endParaRPr lang="en-IN"/>
          </a:p>
        </p:txBody>
      </p:sp>
    </p:spTree>
    <p:extLst>
      <p:ext uri="{BB962C8B-B14F-4D97-AF65-F5344CB8AC3E}">
        <p14:creationId xmlns:p14="http://schemas.microsoft.com/office/powerpoint/2010/main" val="26481625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583</a:t>
            </a:fld>
            <a:endParaRPr lang="en-IN"/>
          </a:p>
        </p:txBody>
      </p:sp>
    </p:spTree>
    <p:extLst>
      <p:ext uri="{BB962C8B-B14F-4D97-AF65-F5344CB8AC3E}">
        <p14:creationId xmlns:p14="http://schemas.microsoft.com/office/powerpoint/2010/main" val="30453520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584</a:t>
            </a:fld>
            <a:endParaRPr lang="en-IN"/>
          </a:p>
        </p:txBody>
      </p:sp>
    </p:spTree>
    <p:extLst>
      <p:ext uri="{BB962C8B-B14F-4D97-AF65-F5344CB8AC3E}">
        <p14:creationId xmlns:p14="http://schemas.microsoft.com/office/powerpoint/2010/main" val="1729218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594</a:t>
            </a:fld>
            <a:endParaRPr lang="en-IN"/>
          </a:p>
        </p:txBody>
      </p:sp>
    </p:spTree>
    <p:extLst>
      <p:ext uri="{BB962C8B-B14F-4D97-AF65-F5344CB8AC3E}">
        <p14:creationId xmlns:p14="http://schemas.microsoft.com/office/powerpoint/2010/main" val="92369168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605</a:t>
            </a:fld>
            <a:endParaRPr lang="en-IN"/>
          </a:p>
        </p:txBody>
      </p:sp>
    </p:spTree>
    <p:extLst>
      <p:ext uri="{BB962C8B-B14F-4D97-AF65-F5344CB8AC3E}">
        <p14:creationId xmlns:p14="http://schemas.microsoft.com/office/powerpoint/2010/main" val="120712643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607</a:t>
            </a:fld>
            <a:endParaRPr lang="en-IN"/>
          </a:p>
        </p:txBody>
      </p:sp>
    </p:spTree>
    <p:extLst>
      <p:ext uri="{BB962C8B-B14F-4D97-AF65-F5344CB8AC3E}">
        <p14:creationId xmlns:p14="http://schemas.microsoft.com/office/powerpoint/2010/main" val="30271477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608</a:t>
            </a:fld>
            <a:endParaRPr lang="en-IN"/>
          </a:p>
        </p:txBody>
      </p:sp>
    </p:spTree>
    <p:extLst>
      <p:ext uri="{BB962C8B-B14F-4D97-AF65-F5344CB8AC3E}">
        <p14:creationId xmlns:p14="http://schemas.microsoft.com/office/powerpoint/2010/main" val="31521263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631</a:t>
            </a:fld>
            <a:endParaRPr lang="en-IN"/>
          </a:p>
        </p:txBody>
      </p:sp>
    </p:spTree>
    <p:extLst>
      <p:ext uri="{BB962C8B-B14F-4D97-AF65-F5344CB8AC3E}">
        <p14:creationId xmlns:p14="http://schemas.microsoft.com/office/powerpoint/2010/main" val="321614897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644</a:t>
            </a:fld>
            <a:endParaRPr lang="en-IN"/>
          </a:p>
        </p:txBody>
      </p:sp>
    </p:spTree>
    <p:extLst>
      <p:ext uri="{BB962C8B-B14F-4D97-AF65-F5344CB8AC3E}">
        <p14:creationId xmlns:p14="http://schemas.microsoft.com/office/powerpoint/2010/main" val="215008042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F21A-3E74-8CED-2CF8-8A12A4341E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F00D9-7EB6-A17E-B215-25B4D299E89A}"/>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F1001EF-A103-203A-C9B7-A8B8BF0A6D8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E08F5D7-E31A-5A8C-0BF5-0F0B88493C77}"/>
              </a:ext>
            </a:extLst>
          </p:cNvPr>
          <p:cNvSpPr>
            <a:spLocks noGrp="1"/>
          </p:cNvSpPr>
          <p:nvPr>
            <p:ph type="sldNum" sz="quarter" idx="5"/>
          </p:nvPr>
        </p:nvSpPr>
        <p:spPr/>
        <p:txBody>
          <a:bodyPr/>
          <a:lstStyle/>
          <a:p>
            <a:fld id="{A7AC5AE1-8B73-453E-AD5C-7AC64EE599C7}" type="slidenum">
              <a:rPr lang="en-IN" smtClean="0"/>
              <a:pPr/>
              <a:t>645</a:t>
            </a:fld>
            <a:endParaRPr lang="en-IN"/>
          </a:p>
        </p:txBody>
      </p:sp>
    </p:spTree>
    <p:extLst>
      <p:ext uri="{BB962C8B-B14F-4D97-AF65-F5344CB8AC3E}">
        <p14:creationId xmlns:p14="http://schemas.microsoft.com/office/powerpoint/2010/main" val="1031704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4D3B0-1F59-CDA5-D98D-8EDEB29636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2566A1-AF1F-3752-6600-EC7946389AE9}"/>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04C33304-8621-8714-F5BE-4480AE059EB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CD7EB4F-76EF-1830-24A5-A07895C2777D}"/>
              </a:ext>
            </a:extLst>
          </p:cNvPr>
          <p:cNvSpPr>
            <a:spLocks noGrp="1"/>
          </p:cNvSpPr>
          <p:nvPr>
            <p:ph type="sldNum" sz="quarter" idx="5"/>
          </p:nvPr>
        </p:nvSpPr>
        <p:spPr/>
        <p:txBody>
          <a:bodyPr/>
          <a:lstStyle/>
          <a:p>
            <a:fld id="{A7AC5AE1-8B73-453E-AD5C-7AC64EE599C7}" type="slidenum">
              <a:rPr lang="en-IN" smtClean="0"/>
              <a:pPr/>
              <a:t>652</a:t>
            </a:fld>
            <a:endParaRPr lang="en-IN"/>
          </a:p>
        </p:txBody>
      </p:sp>
    </p:spTree>
    <p:extLst>
      <p:ext uri="{BB962C8B-B14F-4D97-AF65-F5344CB8AC3E}">
        <p14:creationId xmlns:p14="http://schemas.microsoft.com/office/powerpoint/2010/main" val="39746067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653</a:t>
            </a:fld>
            <a:endParaRPr lang="en-IN"/>
          </a:p>
        </p:txBody>
      </p:sp>
    </p:spTree>
    <p:extLst>
      <p:ext uri="{BB962C8B-B14F-4D97-AF65-F5344CB8AC3E}">
        <p14:creationId xmlns:p14="http://schemas.microsoft.com/office/powerpoint/2010/main" val="30446845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654</a:t>
            </a:fld>
            <a:endParaRPr lang="en-IN"/>
          </a:p>
        </p:txBody>
      </p:sp>
    </p:spTree>
    <p:extLst>
      <p:ext uri="{BB962C8B-B14F-4D97-AF65-F5344CB8AC3E}">
        <p14:creationId xmlns:p14="http://schemas.microsoft.com/office/powerpoint/2010/main" val="202438072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655</a:t>
            </a:fld>
            <a:endParaRPr lang="en-IN"/>
          </a:p>
        </p:txBody>
      </p:sp>
    </p:spTree>
    <p:extLst>
      <p:ext uri="{BB962C8B-B14F-4D97-AF65-F5344CB8AC3E}">
        <p14:creationId xmlns:p14="http://schemas.microsoft.com/office/powerpoint/2010/main" val="72617671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661</a:t>
            </a:fld>
            <a:endParaRPr lang="en-US"/>
          </a:p>
        </p:txBody>
      </p:sp>
    </p:spTree>
    <p:extLst>
      <p:ext uri="{BB962C8B-B14F-4D97-AF65-F5344CB8AC3E}">
        <p14:creationId xmlns:p14="http://schemas.microsoft.com/office/powerpoint/2010/main" val="136850885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731</a:t>
            </a:fld>
            <a:endParaRPr lang="en-IN"/>
          </a:p>
        </p:txBody>
      </p:sp>
    </p:spTree>
    <p:extLst>
      <p:ext uri="{BB962C8B-B14F-4D97-AF65-F5344CB8AC3E}">
        <p14:creationId xmlns:p14="http://schemas.microsoft.com/office/powerpoint/2010/main" val="179025447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732</a:t>
            </a:fld>
            <a:endParaRPr lang="en-IN"/>
          </a:p>
        </p:txBody>
      </p:sp>
    </p:spTree>
    <p:extLst>
      <p:ext uri="{BB962C8B-B14F-4D97-AF65-F5344CB8AC3E}">
        <p14:creationId xmlns:p14="http://schemas.microsoft.com/office/powerpoint/2010/main" val="14464990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733</a:t>
            </a:fld>
            <a:endParaRPr lang="en-IN"/>
          </a:p>
        </p:txBody>
      </p:sp>
    </p:spTree>
    <p:extLst>
      <p:ext uri="{BB962C8B-B14F-4D97-AF65-F5344CB8AC3E}">
        <p14:creationId xmlns:p14="http://schemas.microsoft.com/office/powerpoint/2010/main" val="228804494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834</a:t>
            </a:fld>
            <a:endParaRPr lang="en-US"/>
          </a:p>
        </p:txBody>
      </p:sp>
    </p:spTree>
    <p:extLst>
      <p:ext uri="{BB962C8B-B14F-4D97-AF65-F5344CB8AC3E}">
        <p14:creationId xmlns:p14="http://schemas.microsoft.com/office/powerpoint/2010/main" val="427987976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862</a:t>
            </a:fld>
            <a:endParaRPr lang="en-IN"/>
          </a:p>
        </p:txBody>
      </p:sp>
    </p:spTree>
    <p:extLst>
      <p:ext uri="{BB962C8B-B14F-4D97-AF65-F5344CB8AC3E}">
        <p14:creationId xmlns:p14="http://schemas.microsoft.com/office/powerpoint/2010/main" val="24155581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a:prstGeom prst="rect">
            <a:avLst/>
          </a:prstGeom>
        </p:spPr>
        <p:txBody>
          <a:bodyPr/>
          <a:lstStyle/>
          <a:p>
            <a:fld id="{52F73076-280E-4994-B9AF-08CB19D7A53F}" type="datetimeFigureOut">
              <a:rPr lang="en-US" smtClean="0"/>
              <a:pPr/>
              <a:t>9/30/2026</a:t>
            </a:fld>
            <a:endParaRPr lang="en-US" dirty="0"/>
          </a:p>
        </p:txBody>
      </p:sp>
      <p:sp>
        <p:nvSpPr>
          <p:cNvPr id="5" name="Footer Placeholder 4"/>
          <p:cNvSpPr>
            <a:spLocks noGrp="1"/>
          </p:cNvSpPr>
          <p:nvPr>
            <p:ph type="ftr" sz="quarter" idx="11"/>
          </p:nvPr>
        </p:nvSpPr>
        <p:spPr>
          <a:xfrm>
            <a:off x="3864864" y="6355080"/>
            <a:ext cx="4632960" cy="365760"/>
          </a:xfrm>
          <a:prstGeom prst="rect">
            <a:avLst/>
          </a:prstGeom>
        </p:spPr>
        <p:txBody>
          <a:bodyPr/>
          <a:lstStyle/>
          <a:p>
            <a:endParaRPr lang="en-US" dirty="0"/>
          </a:p>
        </p:txBody>
      </p:sp>
      <p:sp>
        <p:nvSpPr>
          <p:cNvPr id="6" name="Slide Number Placeholder 5"/>
          <p:cNvSpPr>
            <a:spLocks noGrp="1"/>
          </p:cNvSpPr>
          <p:nvPr>
            <p:ph type="sldNum" sz="quarter" idx="12"/>
          </p:nvPr>
        </p:nvSpPr>
        <p:spPr>
          <a:xfrm>
            <a:off x="1426464" y="6355080"/>
            <a:ext cx="2027936" cy="365760"/>
          </a:xfrm>
        </p:spPr>
        <p:txBody>
          <a:bodyPr/>
          <a:lstStyle/>
          <a:p>
            <a:fld id="{F3BABF9D-069A-4E92-B44E-A92F526D40F2}" type="slidenum">
              <a:rPr lang="en-US" smtClean="0"/>
              <a:pPr/>
              <a:t>‹#›</a:t>
            </a:fld>
            <a:endParaRPr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9" name="Slide Number Placeholder 8"/>
          <p:cNvSpPr>
            <a:spLocks noGrp="1"/>
          </p:cNvSpPr>
          <p:nvPr>
            <p:ph type="sldNum" sz="quarter" idx="12"/>
          </p:nvPr>
        </p:nvSpPr>
        <p:spPr/>
        <p:txBody>
          <a:bodyPr/>
          <a:lstStyle/>
          <a:p>
            <a:fld id="{F3BABF9D-069A-4E92-B44E-A92F526D40F2}" type="slidenum">
              <a:rPr lang="en-US" smtClean="0"/>
              <a:pPr/>
              <a:t>‹#›</a:t>
            </a:fld>
            <a:endParaRPr lang="en-US" dirty="0"/>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9/30/2026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dirty="0"/>
              <a:t>Click icon to add picture</a:t>
            </a:r>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9/30/2026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9/30/2026</a:t>
            </a:fld>
            <a:endParaRPr lang="en-US" dirty="0"/>
          </a:p>
        </p:txBody>
      </p:sp>
      <p:sp>
        <p:nvSpPr>
          <p:cNvPr id="5" name="Footer Placeholder 4"/>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 Target="../slides/slid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 Target="../slides/slide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fld id="{F3BABF9D-069A-4E92-B44E-A92F526D40F2}" type="slidenum">
              <a:rPr lang="en-US" smtClean="0"/>
              <a:pPr/>
              <a:t>‹#›</a:t>
            </a:fld>
            <a:endParaRPr lang="en-US" dirty="0"/>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graphicFrame>
        <p:nvGraphicFramePr>
          <p:cNvPr id="11" name="Table 10"/>
          <p:cNvGraphicFramePr>
            <a:graphicFrameLocks noGrp="1"/>
          </p:cNvGraphicFramePr>
          <p:nvPr userDrawn="1">
            <p:extLst>
              <p:ext uri="{D42A27DB-BD31-4B8C-83A1-F6EECF244321}">
                <p14:modId xmlns:p14="http://schemas.microsoft.com/office/powerpoint/2010/main" val="990093061"/>
              </p:ext>
            </p:extLst>
          </p:nvPr>
        </p:nvGraphicFramePr>
        <p:xfrm>
          <a:off x="7010400" y="6474639"/>
          <a:ext cx="4572000" cy="243840"/>
        </p:xfrm>
        <a:graphic>
          <a:graphicData uri="http://schemas.openxmlformats.org/drawingml/2006/table">
            <a:tbl>
              <a:tblPr firstRow="1" bandRow="1">
                <a:tableStyleId>{073A0DAA-6AF3-43AB-8588-CEC1D06C72B9}</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022683">
                  <a:extLst>
                    <a:ext uri="{9D8B030D-6E8A-4147-A177-3AD203B41FA5}">
                      <a16:colId xmlns:a16="http://schemas.microsoft.com/office/drawing/2014/main" val="20002"/>
                    </a:ext>
                  </a:extLst>
                </a:gridCol>
                <a:gridCol w="1263317">
                  <a:extLst>
                    <a:ext uri="{9D8B030D-6E8A-4147-A177-3AD203B41FA5}">
                      <a16:colId xmlns:a16="http://schemas.microsoft.com/office/drawing/2014/main" val="20003"/>
                    </a:ext>
                  </a:extLst>
                </a:gridCol>
              </a:tblGrid>
              <a:tr h="127000">
                <a:tc>
                  <a:txBody>
                    <a:bodyPr/>
                    <a:lstStyle/>
                    <a:p>
                      <a:pPr algn="ctr"/>
                      <a:r>
                        <a:rPr lang="en-US" sz="1000" dirty="0">
                          <a:latin typeface="Arial" panose="020B0604020202020204" pitchFamily="34" charset="0"/>
                          <a:cs typeface="Arial" panose="020B0604020202020204" pitchFamily="34" charset="0"/>
                          <a:hlinkClick r:id="rId13" action="ppaction://hlinksldjump"/>
                        </a:rPr>
                        <a:t>Home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Link1</a:t>
                      </a: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Link2</a:t>
                      </a:r>
                    </a:p>
                  </a:txBody>
                  <a:tcPr marL="121920" marR="121920">
                    <a:solidFill>
                      <a:schemeClr val="bg1"/>
                    </a:solidFill>
                  </a:tcPr>
                </a:tc>
                <a:tc>
                  <a:txBody>
                    <a:bodyPr/>
                    <a:lstStyle/>
                    <a:p>
                      <a:pPr algn="ctr"/>
                      <a:r>
                        <a:rPr lang="en-US" sz="1000" dirty="0">
                          <a:latin typeface="Arial" panose="020B0604020202020204" pitchFamily="34" charset="0"/>
                          <a:cs typeface="Arial" panose="020B0604020202020204" pitchFamily="34" charset="0"/>
                          <a:hlinkClick r:id="rId14" action="ppaction://hlinksldjump"/>
                        </a:rPr>
                        <a:t>Index Page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extLst>
                  <a:ext uri="{0D108BD9-81ED-4DB2-BD59-A6C34878D82A}">
                    <a16:rowId xmlns:a16="http://schemas.microsoft.com/office/drawing/2014/main" val="10000"/>
                  </a:ext>
                </a:extLst>
              </a:tr>
            </a:tbl>
          </a:graphicData>
        </a:graphic>
      </p:graphicFrame>
    </p:spTree>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slide" Target="slide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24.gif"/><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25.gif"/><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26.gif"/><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slideLayout" Target="../slideLayouts/slideLayout7.xml"/><Relationship Id="rId4" Type="http://schemas.openxmlformats.org/officeDocument/2006/relationships/image" Target="../media/image29.jpeg"/></Relationships>
</file>

<file path=ppt/slides/_rels/slide7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image" Target="../media/image35.png"/></Relationships>
</file>

<file path=ppt/slides/_rels/slide8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6.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 Id="rId4" Type="http://schemas.openxmlformats.org/officeDocument/2006/relationships/image" Target="../media/image66.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0.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6.xml"/></Relationships>
</file>

<file path=ppt/slides/_rels/slide242.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7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0.xml.rels><?xml version="1.0" encoding="UTF-8" standalone="yes"?>
<Relationships xmlns="http://schemas.openxmlformats.org/package/2006/relationships"><Relationship Id="rId3" Type="http://schemas.openxmlformats.org/officeDocument/2006/relationships/image" Target="../media/image78.png"/><Relationship Id="rId7" Type="http://schemas.openxmlformats.org/officeDocument/2006/relationships/image" Target="../media/image82.png"/><Relationship Id="rId2" Type="http://schemas.openxmlformats.org/officeDocument/2006/relationships/image" Target="../media/image77.png"/><Relationship Id="rId1" Type="http://schemas.openxmlformats.org/officeDocument/2006/relationships/slideLayout" Target="../slideLayouts/slideLayout7.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4.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 Id="rId4" Type="http://schemas.openxmlformats.org/officeDocument/2006/relationships/image" Target="../media/image85.png"/></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6.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3.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4" Type="http://schemas.openxmlformats.org/officeDocument/2006/relationships/image" Target="../media/image94.png"/></Relationships>
</file>

<file path=ppt/slides/_rels/slide344.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9.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0.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371.xml.rels><?xml version="1.0" encoding="UTF-8" standalone="yes"?>
<Relationships xmlns="http://schemas.openxmlformats.org/package/2006/relationships"><Relationship Id="rId8" Type="http://schemas.openxmlformats.org/officeDocument/2006/relationships/image" Target="../media/image103.png"/><Relationship Id="rId3" Type="http://schemas.openxmlformats.org/officeDocument/2006/relationships/image" Target="../media/image98.png"/><Relationship Id="rId7" Type="http://schemas.openxmlformats.org/officeDocument/2006/relationships/image" Target="../media/image102.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101.png"/><Relationship Id="rId5" Type="http://schemas.openxmlformats.org/officeDocument/2006/relationships/image" Target="../media/image100.png"/><Relationship Id="rId4" Type="http://schemas.openxmlformats.org/officeDocument/2006/relationships/image" Target="../media/image99.png"/><Relationship Id="rId9" Type="http://schemas.openxmlformats.org/officeDocument/2006/relationships/image" Target="../media/image104.png"/></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5.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8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1.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0.xml.rels><?xml version="1.0" encoding="UTF-8" standalone="yes"?>
<Relationships xmlns="http://schemas.openxmlformats.org/package/2006/relationships"><Relationship Id="rId2" Type="http://schemas.openxmlformats.org/officeDocument/2006/relationships/image" Target="../media/image107.jpeg"/><Relationship Id="rId1" Type="http://schemas.openxmlformats.org/officeDocument/2006/relationships/slideLayout" Target="../slideLayouts/slideLayout7.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7.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448.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7.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458.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6.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 Id="rId4" Type="http://schemas.openxmlformats.org/officeDocument/2006/relationships/image" Target="../media/image115.png"/></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0.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7.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3.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48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48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49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49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9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9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50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501.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502.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503.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504.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505.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506.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507.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508.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509.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jpeg"/><Relationship Id="rId1" Type="http://schemas.openxmlformats.org/officeDocument/2006/relationships/slideLayout" Target="../slideLayouts/slideLayout7.xml"/><Relationship Id="rId4" Type="http://schemas.openxmlformats.org/officeDocument/2006/relationships/image" Target="../media/image121.png"/></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1.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4.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5.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536.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8.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1.xml.rels><?xml version="1.0" encoding="UTF-8" standalone="yes"?>
<Relationships xmlns="http://schemas.openxmlformats.org/package/2006/relationships"><Relationship Id="rId2" Type="http://schemas.openxmlformats.org/officeDocument/2006/relationships/image" Target="../media/image128.jpeg"/><Relationship Id="rId1" Type="http://schemas.openxmlformats.org/officeDocument/2006/relationships/slideLayout" Target="../slideLayouts/slideLayout7.xml"/></Relationships>
</file>

<file path=ppt/slides/_rels/slide542.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7.xml"/></Relationships>
</file>

<file path=ppt/slides/_rels/slide543.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544.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0.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3.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9.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7.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3.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574.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7.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3.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84.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8.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1.png"/><Relationship Id="rId1" Type="http://schemas.openxmlformats.org/officeDocument/2006/relationships/slideLayout" Target="../slideLayouts/slideLayout7.xml"/></Relationships>
</file>

<file path=ppt/slides/_rels/slide589.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7.xml"/></Relationships>
</file>

<file path=ppt/slides/_rels/slide5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1.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 Id="rId4" Type="http://schemas.openxmlformats.org/officeDocument/2006/relationships/image" Target="../media/image146.png"/></Relationships>
</file>

<file path=ppt/slides/_rels/slide592.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9.png"/></Relationships>
</file>

<file path=ppt/slides/_rels/slide593.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50.png"/></Relationships>
</file>

<file path=ppt/slides/_rels/slide594.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95.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5" Type="http://schemas.openxmlformats.org/officeDocument/2006/relationships/image" Target="../media/image154.png"/><Relationship Id="rId4" Type="http://schemas.openxmlformats.org/officeDocument/2006/relationships/image" Target="../media/image153.png"/></Relationships>
</file>

<file path=ppt/slides/_rels/slide596.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97.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0.xml.rels><?xml version="1.0" encoding="UTF-8" standalone="yes"?>
<Relationships xmlns="http://schemas.openxmlformats.org/package/2006/relationships"><Relationship Id="rId2" Type="http://schemas.openxmlformats.org/officeDocument/2006/relationships/image" Target="../media/image156.png"/><Relationship Id="rId1" Type="http://schemas.openxmlformats.org/officeDocument/2006/relationships/slideLayout" Target="../slideLayouts/slideLayout7.xml"/></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2.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603.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6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5.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47.xml"/><Relationship Id="rId1" Type="http://schemas.openxmlformats.org/officeDocument/2006/relationships/slideLayout" Target="../slideLayouts/slideLayout7.xml"/><Relationship Id="rId4" Type="http://schemas.openxmlformats.org/officeDocument/2006/relationships/image" Target="../media/image164.png"/></Relationships>
</file>

<file path=ppt/slides/_rels/slide6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7.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notesSlide" Target="../notesSlides/notesSlide48.xml"/><Relationship Id="rId1" Type="http://schemas.openxmlformats.org/officeDocument/2006/relationships/slideLayout" Target="../slideLayouts/slideLayout7.xml"/><Relationship Id="rId4" Type="http://schemas.openxmlformats.org/officeDocument/2006/relationships/image" Target="../media/image166.png"/></Relationships>
</file>

<file path=ppt/slides/_rels/slide608.xml.rels><?xml version="1.0" encoding="UTF-8" standalone="yes"?>
<Relationships xmlns="http://schemas.openxmlformats.org/package/2006/relationships"><Relationship Id="rId3" Type="http://schemas.openxmlformats.org/officeDocument/2006/relationships/image" Target="../media/image167.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168.png"/></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2.xml.rels><?xml version="1.0" encoding="UTF-8" standalone="yes"?>
<Relationships xmlns="http://schemas.openxmlformats.org/package/2006/relationships"><Relationship Id="rId2" Type="http://schemas.openxmlformats.org/officeDocument/2006/relationships/image" Target="../media/image169.png"/><Relationship Id="rId1" Type="http://schemas.openxmlformats.org/officeDocument/2006/relationships/slideLayout" Target="../slideLayouts/slideLayout7.xml"/></Relationships>
</file>

<file path=ppt/slides/_rels/slide6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5.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7.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618.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619.xml.rels><?xml version="1.0" encoding="UTF-8" standalone="yes"?>
<Relationships xmlns="http://schemas.openxmlformats.org/package/2006/relationships"><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620.xml.rels><?xml version="1.0" encoding="UTF-8" standalone="yes"?>
<Relationships xmlns="http://schemas.openxmlformats.org/package/2006/relationships"><Relationship Id="rId2" Type="http://schemas.openxmlformats.org/officeDocument/2006/relationships/image" Target="../media/image174.png"/><Relationship Id="rId1" Type="http://schemas.openxmlformats.org/officeDocument/2006/relationships/slideLayout" Target="../slideLayouts/slideLayout7.xml"/></Relationships>
</file>

<file path=ppt/slides/_rels/slide6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4.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625.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626.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6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6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4.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645.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6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2.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653.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654.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655.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6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7.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9.png"/><Relationship Id="rId1" Type="http://schemas.openxmlformats.org/officeDocument/2006/relationships/slideLayout" Target="../slideLayouts/slideLayout7.xml"/><Relationship Id="rId4" Type="http://schemas.openxmlformats.org/officeDocument/2006/relationships/image" Target="../media/image181.png"/></Relationships>
</file>

<file path=ppt/slides/_rels/slide6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1.xml.rels><?xml version="1.0" encoding="UTF-8" standalone="yes"?>
<Relationships xmlns="http://schemas.openxmlformats.org/package/2006/relationships"><Relationship Id="rId3" Type="http://schemas.openxmlformats.org/officeDocument/2006/relationships/image" Target="../media/image182.png"/><Relationship Id="rId2" Type="http://schemas.openxmlformats.org/officeDocument/2006/relationships/notesSlide" Target="../notesSlides/notesSlide57.xml"/><Relationship Id="rId1" Type="http://schemas.openxmlformats.org/officeDocument/2006/relationships/slideLayout" Target="../slideLayouts/slideLayout7.xml"/><Relationship Id="rId6" Type="http://schemas.openxmlformats.org/officeDocument/2006/relationships/image" Target="../media/image185.png"/><Relationship Id="rId5" Type="http://schemas.openxmlformats.org/officeDocument/2006/relationships/image" Target="../media/image184.png"/><Relationship Id="rId4" Type="http://schemas.openxmlformats.org/officeDocument/2006/relationships/image" Target="../media/image183.png"/></Relationships>
</file>

<file path=ppt/slides/_rels/slide662.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6.png"/><Relationship Id="rId1" Type="http://schemas.openxmlformats.org/officeDocument/2006/relationships/slideLayout" Target="../slideLayouts/slideLayout7.xml"/><Relationship Id="rId5" Type="http://schemas.openxmlformats.org/officeDocument/2006/relationships/image" Target="../media/image187.png"/><Relationship Id="rId4" Type="http://schemas.openxmlformats.org/officeDocument/2006/relationships/image" Target="../media/image184.png"/></Relationships>
</file>

<file path=ppt/slides/_rels/slide6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6.xml.rels><?xml version="1.0" encoding="UTF-8" standalone="yes"?>
<Relationships xmlns="http://schemas.openxmlformats.org/package/2006/relationships"><Relationship Id="rId3" Type="http://schemas.openxmlformats.org/officeDocument/2006/relationships/image" Target="../media/image189.png"/><Relationship Id="rId2" Type="http://schemas.openxmlformats.org/officeDocument/2006/relationships/image" Target="../media/image188.png"/><Relationship Id="rId1" Type="http://schemas.openxmlformats.org/officeDocument/2006/relationships/slideLayout" Target="../slideLayouts/slideLayout7.xml"/></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3.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1.png"/><Relationship Id="rId4" Type="http://schemas.openxmlformats.org/officeDocument/2006/relationships/image" Target="../media/image190.png"/></Relationships>
</file>

<file path=ppt/slides/_rels/slide6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7.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3.png"/><Relationship Id="rId4" Type="http://schemas.openxmlformats.org/officeDocument/2006/relationships/image" Target="../media/image192.png"/></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4.xml.rels><?xml version="1.0" encoding="UTF-8" standalone="yes"?>
<Relationships xmlns="http://schemas.openxmlformats.org/package/2006/relationships"><Relationship Id="rId2" Type="http://schemas.openxmlformats.org/officeDocument/2006/relationships/image" Target="../media/image194.png"/><Relationship Id="rId1" Type="http://schemas.openxmlformats.org/officeDocument/2006/relationships/slideLayout" Target="../slideLayouts/slideLayout7.xml"/></Relationships>
</file>

<file path=ppt/slides/_rels/slide7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1.xml.rels><?xml version="1.0" encoding="UTF-8" standalone="yes"?>
<Relationships xmlns="http://schemas.openxmlformats.org/package/2006/relationships"><Relationship Id="rId2" Type="http://schemas.openxmlformats.org/officeDocument/2006/relationships/image" Target="../media/image195.png"/><Relationship Id="rId1" Type="http://schemas.openxmlformats.org/officeDocument/2006/relationships/slideLayout" Target="../slideLayouts/slideLayout7.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8.xml.rels><?xml version="1.0" encoding="UTF-8" standalone="yes"?>
<Relationships xmlns="http://schemas.openxmlformats.org/package/2006/relationships"><Relationship Id="rId3" Type="http://schemas.openxmlformats.org/officeDocument/2006/relationships/image" Target="../media/image197.gif"/><Relationship Id="rId2" Type="http://schemas.openxmlformats.org/officeDocument/2006/relationships/image" Target="../media/image196.gif"/><Relationship Id="rId1" Type="http://schemas.openxmlformats.org/officeDocument/2006/relationships/slideLayout" Target="../slideLayouts/slideLayout7.xml"/></Relationships>
</file>

<file path=ppt/slides/_rels/slide7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1.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732.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733.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7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4.xml.rels><?xml version="1.0" encoding="UTF-8" standalone="yes"?>
<Relationships xmlns="http://schemas.openxmlformats.org/package/2006/relationships"><Relationship Id="rId2" Type="http://schemas.openxmlformats.org/officeDocument/2006/relationships/image" Target="../media/image198.png"/><Relationship Id="rId1" Type="http://schemas.openxmlformats.org/officeDocument/2006/relationships/slideLayout" Target="../slideLayouts/slideLayout7.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4.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8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8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7.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image" Target="../media/image199.png"/><Relationship Id="rId1" Type="http://schemas.openxmlformats.org/officeDocument/2006/relationships/slideLayout" Target="../slideLayouts/slideLayout7.xml"/></Relationships>
</file>

<file path=ppt/slides/_rels/slide908.xml.rels><?xml version="1.0" encoding="UTF-8" standalone="yes"?>
<Relationships xmlns="http://schemas.openxmlformats.org/package/2006/relationships"><Relationship Id="rId2" Type="http://schemas.openxmlformats.org/officeDocument/2006/relationships/image" Target="../media/image201.jpeg"/><Relationship Id="rId1" Type="http://schemas.openxmlformats.org/officeDocument/2006/relationships/slideLayout" Target="../slideLayouts/slideLayout7.xml"/></Relationships>
</file>

<file path=ppt/slides/_rels/slide9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1.xml.rels><?xml version="1.0" encoding="UTF-8" standalone="yes"?>
<Relationships xmlns="http://schemas.openxmlformats.org/package/2006/relationships"><Relationship Id="rId2" Type="http://schemas.openxmlformats.org/officeDocument/2006/relationships/image" Target="../media/image202.png"/><Relationship Id="rId1" Type="http://schemas.openxmlformats.org/officeDocument/2006/relationships/slideLayout" Target="../slideLayouts/slideLayout7.xml"/></Relationships>
</file>

<file path=ppt/slides/_rels/slide912.xml.rels><?xml version="1.0" encoding="UTF-8" standalone="yes"?>
<Relationships xmlns="http://schemas.openxmlformats.org/package/2006/relationships"><Relationship Id="rId3" Type="http://schemas.openxmlformats.org/officeDocument/2006/relationships/image" Target="../media/image204.jpeg"/><Relationship Id="rId2" Type="http://schemas.openxmlformats.org/officeDocument/2006/relationships/image" Target="../media/image203.png"/><Relationship Id="rId1" Type="http://schemas.openxmlformats.org/officeDocument/2006/relationships/slideLayout" Target="../slideLayouts/slideLayout7.xml"/></Relationships>
</file>

<file path=ppt/slides/_rels/slide913.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914.xml.rels><?xml version="1.0" encoding="UTF-8" standalone="yes"?>
<Relationships xmlns="http://schemas.openxmlformats.org/package/2006/relationships"><Relationship Id="rId2" Type="http://schemas.openxmlformats.org/officeDocument/2006/relationships/image" Target="../media/image205.gif"/><Relationship Id="rId1" Type="http://schemas.openxmlformats.org/officeDocument/2006/relationships/slideLayout" Target="../slideLayouts/slideLayout7.xml"/></Relationships>
</file>

<file path=ppt/slides/_rels/slide915.xml.rels><?xml version="1.0" encoding="UTF-8" standalone="yes"?>
<Relationships xmlns="http://schemas.openxmlformats.org/package/2006/relationships"><Relationship Id="rId2" Type="http://schemas.openxmlformats.org/officeDocument/2006/relationships/image" Target="../media/image206.jpg"/><Relationship Id="rId1" Type="http://schemas.openxmlformats.org/officeDocument/2006/relationships/slideLayout" Target="../slideLayouts/slideLayout7.xml"/></Relationships>
</file>

<file path=ppt/slides/_rels/slide9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583833" y="145754"/>
            <a:ext cx="7608168" cy="1569660"/>
          </a:xfrm>
          <a:prstGeom prst="rect">
            <a:avLst/>
          </a:prstGeom>
        </p:spPr>
        <p:txBody>
          <a:bodyPr wrap="square">
            <a:spAutoFit/>
          </a:bodyPr>
          <a:lstStyle/>
          <a:p>
            <a:r>
              <a:rPr lang="en-IN" sz="4800" dirty="0">
                <a:solidFill>
                  <a:srgbClr val="FF6000"/>
                </a:solidFill>
                <a:latin typeface="Segoe Print" panose="02000600000000000000" pitchFamily="2" charset="0"/>
              </a:rPr>
              <a:t>A day without new knowledge is a lost day.</a:t>
            </a:r>
          </a:p>
        </p:txBody>
      </p:sp>
      <p:sp>
        <p:nvSpPr>
          <p:cNvPr id="8" name="Title 2"/>
          <p:cNvSpPr>
            <a:spLocks noGrp="1"/>
          </p:cNvSpPr>
          <p:nvPr>
            <p:ph type="ctrTitle"/>
          </p:nvPr>
        </p:nvSpPr>
        <p:spPr>
          <a:xfrm>
            <a:off x="1367120" y="3068960"/>
            <a:ext cx="9142810" cy="990600"/>
          </a:xfrm>
        </p:spPr>
        <p:txBody>
          <a:bodyPr vert="horz" anchor="t" anchorCtr="0">
            <a:noAutofit/>
          </a:bodyPr>
          <a:lstStyle/>
          <a:p>
            <a:pPr algn="l"/>
            <a:r>
              <a:rPr lang="en-US" sz="4200" b="1" i="1" dirty="0">
                <a:solidFill>
                  <a:srgbClr val="00B0F0"/>
                </a:solidFill>
                <a:latin typeface="SimSun" panose="02010600030101010101" pitchFamily="2" charset="-122"/>
                <a:ea typeface="SimSun" panose="02010600030101010101" pitchFamily="2" charset="-122"/>
                <a:cs typeface="Arial" pitchFamily="34" charset="0"/>
              </a:rPr>
              <a:t>Database Technologies - MySQL</a:t>
            </a:r>
          </a:p>
        </p:txBody>
      </p:sp>
      <p:sp>
        <p:nvSpPr>
          <p:cNvPr id="7" name="Rectangle 6">
            <a:extLst>
              <a:ext uri="{FF2B5EF4-FFF2-40B4-BE49-F238E27FC236}">
                <a16:creationId xmlns:a16="http://schemas.microsoft.com/office/drawing/2014/main" id="{682DE853-F794-4EAA-A4F6-EF487D25296F}"/>
              </a:ext>
            </a:extLst>
          </p:cNvPr>
          <p:cNvSpPr/>
          <p:nvPr/>
        </p:nvSpPr>
        <p:spPr>
          <a:xfrm>
            <a:off x="181341" y="1767537"/>
            <a:ext cx="3610403" cy="430887"/>
          </a:xfrm>
          <a:prstGeom prst="rect">
            <a:avLst/>
          </a:prstGeom>
        </p:spPr>
        <p:txBody>
          <a:bodyPr wrap="square">
            <a:spAutoFit/>
          </a:bodyPr>
          <a:lstStyle/>
          <a:p>
            <a:r>
              <a:rPr lang="en-IN" sz="2200" dirty="0">
                <a:solidFill>
                  <a:schemeClr val="bg1"/>
                </a:solidFill>
              </a:rPr>
              <a:t>Before we start DBT module.</a:t>
            </a:r>
          </a:p>
        </p:txBody>
      </p:sp>
      <p:sp>
        <p:nvSpPr>
          <p:cNvPr id="10" name="Rectangle 9">
            <a:extLst>
              <a:ext uri="{FF2B5EF4-FFF2-40B4-BE49-F238E27FC236}">
                <a16:creationId xmlns:a16="http://schemas.microsoft.com/office/drawing/2014/main" id="{EA033D0D-07B9-4A2A-B66B-15AE978EDA36}"/>
              </a:ext>
            </a:extLst>
          </p:cNvPr>
          <p:cNvSpPr/>
          <p:nvPr/>
        </p:nvSpPr>
        <p:spPr>
          <a:xfrm>
            <a:off x="1703512" y="2283869"/>
            <a:ext cx="6324664" cy="461665"/>
          </a:xfrm>
          <a:prstGeom prst="rect">
            <a:avLst/>
          </a:prstGeom>
        </p:spPr>
        <p:txBody>
          <a:bodyPr wrap="square">
            <a:spAutoFit/>
          </a:bodyPr>
          <a:lstStyle/>
          <a:p>
            <a:r>
              <a:rPr lang="en-IN" sz="2400" dirty="0">
                <a:solidFill>
                  <a:schemeClr val="bg1"/>
                </a:solidFill>
              </a:rPr>
              <a:t>Which module(s) you have completed?</a:t>
            </a:r>
          </a:p>
        </p:txBody>
      </p:sp>
      <p:pic>
        <p:nvPicPr>
          <p:cNvPr id="1032" name="Picture 8">
            <a:extLst>
              <a:ext uri="{FF2B5EF4-FFF2-40B4-BE49-F238E27FC236}">
                <a16:creationId xmlns:a16="http://schemas.microsoft.com/office/drawing/2014/main" id="{4CEA847B-AA1F-6196-43E4-496DAB376D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75" y="260648"/>
            <a:ext cx="3240360" cy="1666767"/>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1EF5AF3C-89FD-8BCD-12F6-46FD8E4CB85D}"/>
              </a:ext>
            </a:extLst>
          </p:cNvPr>
          <p:cNvSpPr/>
          <p:nvPr/>
        </p:nvSpPr>
        <p:spPr>
          <a:xfrm>
            <a:off x="184322" y="4869160"/>
            <a:ext cx="11675299" cy="461665"/>
          </a:xfrm>
          <a:prstGeom prst="rect">
            <a:avLst/>
          </a:prstGeom>
        </p:spPr>
        <p:txBody>
          <a:bodyPr wrap="square">
            <a:spAutoFit/>
          </a:bodyPr>
          <a:lstStyle/>
          <a:p>
            <a:r>
              <a:rPr lang="en-IN" sz="2200" dirty="0">
                <a:latin typeface="Open Sans Light" panose="020B0306030504020204" pitchFamily="34" charset="0"/>
                <a:ea typeface="Open Sans Light" panose="020B0306030504020204" pitchFamily="34" charset="0"/>
                <a:cs typeface="Open Sans Light" panose="020B0306030504020204" pitchFamily="34" charset="0"/>
              </a:rPr>
              <a:t>In this module we are going to learn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PL/SQL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200" dirty="0">
                <a:latin typeface="Open Sans Light" panose="020B0306030504020204" pitchFamily="34" charset="0"/>
                <a:ea typeface="Open Sans Light" panose="020B0306030504020204" pitchFamily="34" charset="0"/>
                <a:cs typeface="Open Sans Light" panose="020B0306030504020204" pitchFamily="34" charset="0"/>
              </a:rPr>
              <a:t>and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NoSQL(MongoDB)</a:t>
            </a:r>
            <a:endParaRPr lang="en-IN" sz="2200" b="1" dirty="0">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9" name="TextBox 8">
            <a:extLst>
              <a:ext uri="{FF2B5EF4-FFF2-40B4-BE49-F238E27FC236}">
                <a16:creationId xmlns:a16="http://schemas.microsoft.com/office/drawing/2014/main" id="{3F5ABD52-2B50-1386-A071-1AA2497A245D}"/>
              </a:ext>
            </a:extLst>
          </p:cNvPr>
          <p:cNvSpPr txBox="1"/>
          <p:nvPr/>
        </p:nvSpPr>
        <p:spPr>
          <a:xfrm>
            <a:off x="190575" y="5733256"/>
            <a:ext cx="5400600" cy="400110"/>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51049E"/>
                </a:solidFill>
                <a:latin typeface="Consolas" panose="020B0609020204030204" pitchFamily="49" charset="0"/>
                <a:cs typeface="Segoe UI" panose="020B0502040204020203" pitchFamily="34" charset="0"/>
              </a:rPr>
              <a:t>sudo apt install build-essential</a:t>
            </a:r>
          </a:p>
        </p:txBody>
      </p:sp>
      <p:sp>
        <p:nvSpPr>
          <p:cNvPr id="4" name="TextBox 3">
            <a:extLst>
              <a:ext uri="{FF2B5EF4-FFF2-40B4-BE49-F238E27FC236}">
                <a16:creationId xmlns:a16="http://schemas.microsoft.com/office/drawing/2014/main" id="{72C9C9B1-BB8E-B9A2-8073-918A7BD59A14}"/>
              </a:ext>
            </a:extLst>
          </p:cNvPr>
          <p:cNvSpPr txBox="1"/>
          <p:nvPr/>
        </p:nvSpPr>
        <p:spPr>
          <a:xfrm>
            <a:off x="181080" y="2217058"/>
            <a:ext cx="4320481" cy="70788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nologin.in/1</a:t>
            </a:r>
          </a:p>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https://codeshare.io/saleel</a:t>
            </a:r>
          </a:p>
        </p:txBody>
      </p:sp>
    </p:spTree>
    <p:extLst>
      <p:ext uri="{BB962C8B-B14F-4D97-AF65-F5344CB8AC3E}">
        <p14:creationId xmlns:p14="http://schemas.microsoft.com/office/powerpoint/2010/main" val="32380217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4BE27F9-32A7-80A2-70FA-5F48487B4552}"/>
              </a:ext>
            </a:extLst>
          </p:cNvPr>
          <p:cNvSpPr txBox="1"/>
          <p:nvPr/>
        </p:nvSpPr>
        <p:spPr>
          <a:xfrm>
            <a:off x="335360" y="1124744"/>
            <a:ext cx="11521280" cy="3477875"/>
          </a:xfrm>
          <a:prstGeom prst="rect">
            <a:avLst/>
          </a:prstGeom>
          <a:noFill/>
        </p:spPr>
        <p:txBody>
          <a:bodyPr wrap="square">
            <a:spAutoFit/>
          </a:bodyPr>
          <a:lstStyle/>
          <a:p>
            <a:endParaRPr lang="en-IN" sz="2200" dirty="0"/>
          </a:p>
          <a:p>
            <a:r>
              <a:rPr lang="en-IN" sz="2200" b="1" dirty="0"/>
              <a:t>SQL keywords </a:t>
            </a:r>
            <a:r>
              <a:rPr lang="en-IN" sz="2200" dirty="0"/>
              <a:t>→ Case-insensitive</a:t>
            </a:r>
          </a:p>
          <a:p>
            <a:endParaRPr lang="en-IN" sz="2200" dirty="0"/>
          </a:p>
          <a:p>
            <a:r>
              <a:rPr lang="en-IN" sz="2200" b="1" dirty="0"/>
              <a:t>Table name</a:t>
            </a:r>
            <a:r>
              <a:rPr lang="en-IN" sz="2200" dirty="0"/>
              <a:t>s → Depends on operating system</a:t>
            </a:r>
          </a:p>
          <a:p>
            <a:endParaRPr lang="en-IN" sz="2200" dirty="0"/>
          </a:p>
          <a:p>
            <a:r>
              <a:rPr lang="en-IN" sz="2200" b="1" dirty="0"/>
              <a:t>Database/schema names </a:t>
            </a:r>
            <a:r>
              <a:rPr lang="en-IN" sz="2200" dirty="0"/>
              <a:t>→ can also be OS-dependent</a:t>
            </a:r>
          </a:p>
          <a:p>
            <a:endParaRPr lang="en-IN" sz="2200" dirty="0"/>
          </a:p>
          <a:p>
            <a:r>
              <a:rPr lang="en-IN" sz="2200" b="1" dirty="0"/>
              <a:t>Column names </a:t>
            </a:r>
            <a:r>
              <a:rPr lang="en-IN" sz="2200" dirty="0"/>
              <a:t>→ Case-insensitive</a:t>
            </a:r>
          </a:p>
          <a:p>
            <a:endParaRPr lang="en-IN" sz="2200" dirty="0"/>
          </a:p>
          <a:p>
            <a:r>
              <a:rPr lang="en-IN" sz="2200" b="1" dirty="0"/>
              <a:t>String values </a:t>
            </a:r>
            <a:r>
              <a:rPr lang="en-IN" sz="2200" dirty="0"/>
              <a:t>→ Depends on collation</a:t>
            </a:r>
          </a:p>
        </p:txBody>
      </p:sp>
      <p:sp>
        <p:nvSpPr>
          <p:cNvPr id="5" name="Title 1">
            <a:extLst>
              <a:ext uri="{FF2B5EF4-FFF2-40B4-BE49-F238E27FC236}">
                <a16:creationId xmlns:a16="http://schemas.microsoft.com/office/drawing/2014/main" id="{15F078EE-8314-3CAD-6E88-03C096609D20}"/>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MySQL is case-insensitive</a:t>
            </a:r>
          </a:p>
        </p:txBody>
      </p:sp>
      <p:sp>
        <p:nvSpPr>
          <p:cNvPr id="2" name="TextBox 1">
            <a:extLst>
              <a:ext uri="{FF2B5EF4-FFF2-40B4-BE49-F238E27FC236}">
                <a16:creationId xmlns:a16="http://schemas.microsoft.com/office/drawing/2014/main" id="{628DC9AB-39C0-5264-7205-59DEF003B7F5}"/>
              </a:ext>
            </a:extLst>
          </p:cNvPr>
          <p:cNvSpPr txBox="1"/>
          <p:nvPr/>
        </p:nvSpPr>
        <p:spPr>
          <a:xfrm>
            <a:off x="131865" y="5085184"/>
            <a:ext cx="11881320" cy="830997"/>
          </a:xfrm>
          <a:prstGeom prst="rect">
            <a:avLst/>
          </a:prstGeom>
        </p:spPr>
        <p:txBody>
          <a:bodyPr wrap="square">
            <a:spAutoFit/>
          </a:bodyPr>
          <a:lstStyle>
            <a:defPPr>
              <a:defRPr lang="en-US"/>
            </a:defPPr>
            <a:lvl1pPr>
              <a:defRPr sz="2400">
                <a:solidFill>
                  <a:schemeClr val="accent6">
                    <a:lumMod val="50000"/>
                  </a:schemeClr>
                </a:solidFill>
              </a:defRPr>
            </a:lvl1pPr>
          </a:lstStyle>
          <a:p>
            <a:r>
              <a:rPr lang="en-US" dirty="0">
                <a:solidFill>
                  <a:srgbClr val="0070C0"/>
                </a:solidFill>
              </a:rPr>
              <a:t>If A and a, B and b,  . . . . are treated in the same way then it is case-insensitive. </a:t>
            </a:r>
            <a:r>
              <a:rPr lang="en-US" b="1" dirty="0">
                <a:solidFill>
                  <a:srgbClr val="0070C0"/>
                </a:solidFill>
              </a:rPr>
              <a:t>MySQL is case-insensitive</a:t>
            </a:r>
            <a:endParaRPr lang="en-IN" b="1" dirty="0">
              <a:solidFill>
                <a:srgbClr val="0070C0"/>
              </a:solidFill>
            </a:endParaRPr>
          </a:p>
        </p:txBody>
      </p:sp>
    </p:spTree>
    <p:extLst>
      <p:ext uri="{BB962C8B-B14F-4D97-AF65-F5344CB8AC3E}">
        <p14:creationId xmlns:p14="http://schemas.microsoft.com/office/powerpoint/2010/main" val="34605082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193577F8-FC1B-4AA2-83EF-F1C096585FBF}"/>
              </a:ext>
            </a:extLst>
          </p:cNvPr>
          <p:cNvSpPr/>
          <p:nvPr/>
        </p:nvSpPr>
        <p:spPr>
          <a:xfrm>
            <a:off x="232333" y="5301208"/>
            <a:ext cx="9608083" cy="1569660"/>
          </a:xfrm>
          <a:prstGeom prst="rect">
            <a:avLst/>
          </a:prstGeom>
        </p:spPr>
        <p:txBody>
          <a:bodyPr wrap="square">
            <a:spAutoFit/>
          </a:bodyPr>
          <a:lstStyle/>
          <a:p>
            <a:pPr algn="just"/>
            <a:r>
              <a:rPr lang="en-US" sz="2400" dirty="0">
                <a:solidFill>
                  <a:schemeClr val="bg1"/>
                </a:solidFill>
                <a:latin typeface="-apple-system"/>
              </a:rPr>
              <a:t>I give you a number (</a:t>
            </a:r>
            <a:r>
              <a:rPr lang="en-US" sz="2400" b="1" dirty="0">
                <a:solidFill>
                  <a:schemeClr val="bg1"/>
                </a:solidFill>
                <a:latin typeface="-apple-system"/>
              </a:rPr>
              <a:t>data</a:t>
            </a:r>
            <a:r>
              <a:rPr lang="en-US" sz="2400" dirty="0">
                <a:solidFill>
                  <a:schemeClr val="bg1"/>
                </a:solidFill>
                <a:latin typeface="-apple-system"/>
              </a:rPr>
              <a:t>)</a:t>
            </a:r>
          </a:p>
          <a:p>
            <a:pPr algn="just"/>
            <a:r>
              <a:rPr lang="en-US" sz="2400" dirty="0">
                <a:solidFill>
                  <a:schemeClr val="bg1"/>
                </a:solidFill>
                <a:latin typeface="-apple-system"/>
              </a:rPr>
              <a:t>and tell you it’s the quantity of nuclear warheads (</a:t>
            </a:r>
            <a:r>
              <a:rPr lang="en-US" sz="2400" b="1" dirty="0">
                <a:solidFill>
                  <a:schemeClr val="bg1"/>
                </a:solidFill>
                <a:latin typeface="-apple-system"/>
              </a:rPr>
              <a:t>information</a:t>
            </a:r>
            <a:r>
              <a:rPr lang="en-US" sz="2400" dirty="0">
                <a:solidFill>
                  <a:schemeClr val="bg1"/>
                </a:solidFill>
                <a:latin typeface="-apple-system"/>
              </a:rPr>
              <a:t>)</a:t>
            </a:r>
          </a:p>
          <a:p>
            <a:pPr algn="just"/>
            <a:r>
              <a:rPr lang="en-US" sz="2400" dirty="0">
                <a:solidFill>
                  <a:schemeClr val="bg1"/>
                </a:solidFill>
                <a:latin typeface="-apple-system"/>
              </a:rPr>
              <a:t>and now you know the potential of nuclear warheads (</a:t>
            </a:r>
            <a:r>
              <a:rPr lang="en-US" sz="2400" b="1" dirty="0">
                <a:solidFill>
                  <a:schemeClr val="bg1"/>
                </a:solidFill>
                <a:latin typeface="-apple-system"/>
              </a:rPr>
              <a:t>knowledge</a:t>
            </a:r>
            <a:r>
              <a:rPr lang="en-US" sz="2400" dirty="0">
                <a:solidFill>
                  <a:schemeClr val="bg1"/>
                </a:solidFill>
                <a:latin typeface="-apple-system"/>
              </a:rPr>
              <a:t>)</a:t>
            </a:r>
          </a:p>
          <a:p>
            <a:pPr algn="just"/>
            <a:r>
              <a:rPr lang="en-US" sz="2400" dirty="0">
                <a:solidFill>
                  <a:schemeClr val="bg1"/>
                </a:solidFill>
                <a:latin typeface="-apple-system"/>
              </a:rPr>
              <a:t>and you decide not to use them or to make them more (</a:t>
            </a:r>
            <a:r>
              <a:rPr lang="en-US" sz="2400" b="1" dirty="0">
                <a:solidFill>
                  <a:schemeClr val="bg1"/>
                </a:solidFill>
                <a:latin typeface="-apple-system"/>
              </a:rPr>
              <a:t>wisdom</a:t>
            </a:r>
            <a:r>
              <a:rPr lang="en-US" sz="2400" dirty="0">
                <a:solidFill>
                  <a:schemeClr val="bg1"/>
                </a:solidFill>
                <a:latin typeface="-apple-system"/>
              </a:rPr>
              <a:t>).</a:t>
            </a:r>
            <a:endParaRPr lang="en-IN" sz="2400" dirty="0">
              <a:solidFill>
                <a:schemeClr val="bg1"/>
              </a:solidFill>
            </a:endParaRPr>
          </a:p>
        </p:txBody>
      </p:sp>
      <p:sp>
        <p:nvSpPr>
          <p:cNvPr id="14" name="Rectangle 13">
            <a:extLst>
              <a:ext uri="{FF2B5EF4-FFF2-40B4-BE49-F238E27FC236}">
                <a16:creationId xmlns:a16="http://schemas.microsoft.com/office/drawing/2014/main" id="{A5D25D74-3F29-49B6-9771-5A6AA38B1523}"/>
              </a:ext>
            </a:extLst>
          </p:cNvPr>
          <p:cNvSpPr/>
          <p:nvPr/>
        </p:nvSpPr>
        <p:spPr>
          <a:xfrm>
            <a:off x="263352" y="44625"/>
            <a:ext cx="11305258" cy="830997"/>
          </a:xfrm>
          <a:prstGeom prst="rect">
            <a:avLst/>
          </a:prstGeom>
        </p:spPr>
        <p:txBody>
          <a:bodyPr wrap="square">
            <a:spAutoFit/>
          </a:bodyPr>
          <a:lstStyle/>
          <a:p>
            <a:r>
              <a:rPr lang="en-US" sz="2000" b="1" dirty="0"/>
              <a:t>DIKW Model</a:t>
            </a:r>
            <a:r>
              <a:rPr lang="en-US" sz="2000" dirty="0"/>
              <a:t> describes how the data can be processed and transformed into </a:t>
            </a:r>
            <a:r>
              <a:rPr lang="en-US" sz="2400" b="1" dirty="0">
                <a:solidFill>
                  <a:schemeClr val="accent2">
                    <a:lumMod val="50000"/>
                  </a:schemeClr>
                </a:solidFill>
              </a:rPr>
              <a:t>information</a:t>
            </a:r>
            <a:r>
              <a:rPr lang="en-US" sz="2000" dirty="0"/>
              <a:t>, </a:t>
            </a:r>
            <a:r>
              <a:rPr lang="en-US" sz="2400" b="1" dirty="0">
                <a:solidFill>
                  <a:schemeClr val="accent2">
                    <a:lumMod val="50000"/>
                  </a:schemeClr>
                </a:solidFill>
              </a:rPr>
              <a:t>knowledge</a:t>
            </a:r>
            <a:r>
              <a:rPr lang="en-US" sz="2000" dirty="0"/>
              <a:t>, and </a:t>
            </a:r>
            <a:r>
              <a:rPr lang="en-US" sz="2400" b="1" dirty="0">
                <a:solidFill>
                  <a:schemeClr val="accent2">
                    <a:lumMod val="50000"/>
                  </a:schemeClr>
                </a:solidFill>
              </a:rPr>
              <a:t>wisdom</a:t>
            </a:r>
            <a:r>
              <a:rPr lang="en-US" sz="2000" dirty="0"/>
              <a:t>.</a:t>
            </a:r>
            <a:endParaRPr lang="en-US" sz="2400" dirty="0"/>
          </a:p>
        </p:txBody>
      </p:sp>
      <p:pic>
        <p:nvPicPr>
          <p:cNvPr id="6" name="Picture 2" descr="Related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664" y="813359"/>
            <a:ext cx="4807200" cy="4032448"/>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p:nvPr/>
        </p:nvSpPr>
        <p:spPr>
          <a:xfrm>
            <a:off x="263058" y="992229"/>
            <a:ext cx="1956070" cy="769441"/>
          </a:xfrm>
          <a:prstGeom prst="rect">
            <a:avLst/>
          </a:prstGeom>
        </p:spPr>
        <p:txBody>
          <a:bodyPr wrap="square">
            <a:spAutoFit/>
          </a:bodyPr>
          <a:lstStyle/>
          <a:p>
            <a:r>
              <a:rPr lang="en-IN" sz="2200" dirty="0">
                <a:solidFill>
                  <a:srgbClr val="C00000"/>
                </a:solidFill>
                <a:latin typeface="Arial" panose="020B0604020202020204" pitchFamily="34" charset="0"/>
              </a:rPr>
              <a:t>The </a:t>
            </a:r>
            <a:r>
              <a:rPr lang="en-IN" sz="2200" b="1" dirty="0">
                <a:solidFill>
                  <a:srgbClr val="C00000"/>
                </a:solidFill>
                <a:latin typeface="Arial" panose="020B0604020202020204" pitchFamily="34" charset="0"/>
              </a:rPr>
              <a:t>DIKW pyramid</a:t>
            </a:r>
            <a:endParaRPr lang="en-IN" sz="2200" dirty="0">
              <a:solidFill>
                <a:srgbClr val="C00000"/>
              </a:solidFill>
            </a:endParaRPr>
          </a:p>
        </p:txBody>
      </p:sp>
      <p:sp>
        <p:nvSpPr>
          <p:cNvPr id="3" name="Rectangle 2"/>
          <p:cNvSpPr/>
          <p:nvPr/>
        </p:nvSpPr>
        <p:spPr>
          <a:xfrm>
            <a:off x="4390525" y="3172907"/>
            <a:ext cx="4641720" cy="769441"/>
          </a:xfrm>
          <a:prstGeom prst="rect">
            <a:avLst/>
          </a:prstGeom>
        </p:spPr>
        <p:txBody>
          <a:bodyPr wrap="none">
            <a:spAutoFit/>
          </a:bodyPr>
          <a:lstStyle/>
          <a:p>
            <a:r>
              <a:rPr lang="en-IN" sz="2000" dirty="0"/>
              <a:t>learned about something or someone.</a:t>
            </a:r>
          </a:p>
          <a:p>
            <a:r>
              <a:rPr lang="en-IN" sz="2400" dirty="0">
                <a:solidFill>
                  <a:schemeClr val="accent6">
                    <a:lumMod val="50000"/>
                  </a:schemeClr>
                </a:solidFill>
                <a:latin typeface="-apple-system"/>
              </a:rPr>
              <a:t>as SELECT (symbol: </a:t>
            </a:r>
            <a:r>
              <a:rPr lang="el-GR" sz="2400" dirty="0">
                <a:solidFill>
                  <a:srgbClr val="FFC000"/>
                </a:solidFill>
                <a:latin typeface="-apple-system"/>
                <a:ea typeface="Verdana" panose="020B0604030504040204" pitchFamily="34" charset="0"/>
              </a:rPr>
              <a:t>σ</a:t>
            </a:r>
            <a:r>
              <a:rPr lang="el-GR" sz="2400" dirty="0">
                <a:solidFill>
                  <a:schemeClr val="accent6">
                    <a:lumMod val="50000"/>
                  </a:schemeClr>
                </a:solidFill>
                <a:latin typeface="-apple-system"/>
              </a:rPr>
              <a:t>)</a:t>
            </a:r>
            <a:r>
              <a:rPr lang="en-IN" sz="2400" dirty="0">
                <a:solidFill>
                  <a:schemeClr val="accent6">
                    <a:lumMod val="50000"/>
                  </a:schemeClr>
                </a:solidFill>
                <a:latin typeface="-apple-system"/>
              </a:rPr>
              <a:t> </a:t>
            </a:r>
            <a:r>
              <a:rPr lang="en-US" sz="2400" dirty="0">
                <a:solidFill>
                  <a:schemeClr val="accent6">
                    <a:lumMod val="50000"/>
                  </a:schemeClr>
                </a:solidFill>
                <a:latin typeface="-apple-system"/>
              </a:rPr>
              <a:t>(</a:t>
            </a:r>
            <a:r>
              <a:rPr lang="en-US" sz="2400" b="1" dirty="0">
                <a:solidFill>
                  <a:schemeClr val="accent2">
                    <a:lumMod val="50000"/>
                  </a:schemeClr>
                </a:solidFill>
                <a:latin typeface="-apple-system"/>
              </a:rPr>
              <a:t>information</a:t>
            </a:r>
            <a:r>
              <a:rPr lang="en-US" sz="2400" dirty="0">
                <a:solidFill>
                  <a:schemeClr val="accent6">
                    <a:lumMod val="50000"/>
                  </a:schemeClr>
                </a:solidFill>
                <a:latin typeface="-apple-system"/>
              </a:rPr>
              <a:t>)</a:t>
            </a:r>
          </a:p>
        </p:txBody>
      </p:sp>
      <p:sp>
        <p:nvSpPr>
          <p:cNvPr id="7" name="Rectangle 6"/>
          <p:cNvSpPr/>
          <p:nvPr/>
        </p:nvSpPr>
        <p:spPr>
          <a:xfrm>
            <a:off x="3757606" y="2060848"/>
            <a:ext cx="8315058" cy="1046440"/>
          </a:xfrm>
          <a:prstGeom prst="rect">
            <a:avLst/>
          </a:prstGeom>
        </p:spPr>
        <p:txBody>
          <a:bodyPr wrap="square">
            <a:spAutoFit/>
          </a:bodyPr>
          <a:lstStyle/>
          <a:p>
            <a:r>
              <a:rPr lang="en-IN" sz="1900" dirty="0"/>
              <a:t>skills acquired through education, </a:t>
            </a:r>
            <a:r>
              <a:rPr lang="en-US" sz="1900" dirty="0"/>
              <a:t>it can be theoretical or practical understanding of a subject.</a:t>
            </a:r>
          </a:p>
          <a:p>
            <a:r>
              <a:rPr lang="en-IN" sz="2400" dirty="0">
                <a:solidFill>
                  <a:schemeClr val="accent6">
                    <a:lumMod val="50000"/>
                  </a:schemeClr>
                </a:solidFill>
                <a:latin typeface="-apple-system"/>
              </a:rPr>
              <a:t>SELECT  </a:t>
            </a:r>
            <a:r>
              <a:rPr lang="en-US" sz="2400" dirty="0">
                <a:solidFill>
                  <a:schemeClr val="accent6">
                    <a:lumMod val="50000"/>
                  </a:schemeClr>
                </a:solidFill>
                <a:latin typeface="-apple-system"/>
              </a:rPr>
              <a:t>potential (</a:t>
            </a:r>
            <a:r>
              <a:rPr lang="en-US" sz="2400" b="1" dirty="0">
                <a:solidFill>
                  <a:schemeClr val="accent2">
                    <a:lumMod val="50000"/>
                  </a:schemeClr>
                </a:solidFill>
                <a:latin typeface="-apple-system"/>
              </a:rPr>
              <a:t>knowledge</a:t>
            </a:r>
            <a:r>
              <a:rPr lang="en-US" sz="2400" dirty="0">
                <a:solidFill>
                  <a:schemeClr val="accent6">
                    <a:lumMod val="50000"/>
                  </a:schemeClr>
                </a:solidFill>
                <a:latin typeface="-apple-system"/>
              </a:rPr>
              <a:t>)</a:t>
            </a:r>
          </a:p>
        </p:txBody>
      </p:sp>
      <p:sp>
        <p:nvSpPr>
          <p:cNvPr id="10" name="Rectangle 9"/>
          <p:cNvSpPr/>
          <p:nvPr/>
        </p:nvSpPr>
        <p:spPr>
          <a:xfrm>
            <a:off x="3206983" y="1084675"/>
            <a:ext cx="8631267" cy="769441"/>
          </a:xfrm>
          <a:prstGeom prst="rect">
            <a:avLst/>
          </a:prstGeom>
        </p:spPr>
        <p:txBody>
          <a:bodyPr wrap="square">
            <a:spAutoFit/>
          </a:bodyPr>
          <a:lstStyle/>
          <a:p>
            <a:r>
              <a:rPr lang="en-IN" sz="2000" dirty="0"/>
              <a:t>the quality of having experience, knowledge, and good judgement.</a:t>
            </a:r>
          </a:p>
          <a:p>
            <a:r>
              <a:rPr lang="en-US" sz="2400" dirty="0">
                <a:solidFill>
                  <a:schemeClr val="accent6">
                    <a:lumMod val="50000"/>
                  </a:schemeClr>
                </a:solidFill>
                <a:latin typeface="-apple-system"/>
              </a:rPr>
              <a:t>now you decide when to use and how to use(</a:t>
            </a:r>
            <a:r>
              <a:rPr lang="en-US" sz="2400" b="1" dirty="0">
                <a:solidFill>
                  <a:schemeClr val="accent2">
                    <a:lumMod val="50000"/>
                  </a:schemeClr>
                </a:solidFill>
                <a:latin typeface="-apple-system"/>
              </a:rPr>
              <a:t>wisdom</a:t>
            </a:r>
            <a:r>
              <a:rPr lang="en-US" sz="2400" dirty="0">
                <a:solidFill>
                  <a:schemeClr val="accent6">
                    <a:lumMod val="50000"/>
                  </a:schemeClr>
                </a:solidFill>
                <a:latin typeface="-apple-system"/>
              </a:rPr>
              <a:t>)</a:t>
            </a:r>
            <a:endParaRPr lang="en-IN" sz="2400" dirty="0">
              <a:solidFill>
                <a:schemeClr val="accent6">
                  <a:lumMod val="50000"/>
                </a:schemeClr>
              </a:solidFill>
            </a:endParaRPr>
          </a:p>
        </p:txBody>
      </p:sp>
      <p:sp>
        <p:nvSpPr>
          <p:cNvPr id="5" name="Rectangle 4">
            <a:extLst>
              <a:ext uri="{FF2B5EF4-FFF2-40B4-BE49-F238E27FC236}">
                <a16:creationId xmlns:a16="http://schemas.microsoft.com/office/drawing/2014/main" id="{05256EC0-A8C9-41D3-A488-E7C4127D2426}"/>
              </a:ext>
            </a:extLst>
          </p:cNvPr>
          <p:cNvSpPr/>
          <p:nvPr/>
        </p:nvSpPr>
        <p:spPr>
          <a:xfrm>
            <a:off x="4841177" y="4166194"/>
            <a:ext cx="2343462" cy="523220"/>
          </a:xfrm>
          <a:prstGeom prst="rect">
            <a:avLst/>
          </a:prstGeom>
        </p:spPr>
        <p:txBody>
          <a:bodyPr wrap="none">
            <a:spAutoFit/>
          </a:bodyPr>
          <a:lstStyle/>
          <a:p>
            <a:pPr algn="just"/>
            <a:r>
              <a:rPr lang="en-IN" sz="2400" dirty="0">
                <a:solidFill>
                  <a:schemeClr val="accent6">
                    <a:lumMod val="50000"/>
                  </a:schemeClr>
                </a:solidFill>
                <a:latin typeface="-apple-system"/>
              </a:rPr>
              <a:t>Sigma(</a:t>
            </a:r>
            <a:r>
              <a:rPr lang="el-GR" sz="2400" dirty="0">
                <a:solidFill>
                  <a:srgbClr val="FFC000"/>
                </a:solidFill>
                <a:latin typeface="Verdana" panose="020B0604030504040204" pitchFamily="34" charset="0"/>
                <a:ea typeface="Verdana" panose="020B0604030504040204" pitchFamily="34" charset="0"/>
              </a:rPr>
              <a:t>σ</a:t>
            </a:r>
            <a:r>
              <a:rPr lang="en-IN" sz="2400" dirty="0">
                <a:solidFill>
                  <a:schemeClr val="accent6">
                    <a:lumMod val="50000"/>
                  </a:schemeClr>
                </a:solidFill>
                <a:latin typeface="-apple-system"/>
              </a:rPr>
              <a:t>)</a:t>
            </a:r>
            <a:r>
              <a:rPr lang="en-IN" sz="2400" dirty="0">
                <a:solidFill>
                  <a:schemeClr val="accent6">
                    <a:lumMod val="50000"/>
                  </a:schemeClr>
                </a:solidFill>
                <a:latin typeface="Verdana" panose="020B0604030504040204" pitchFamily="34" charset="0"/>
                <a:ea typeface="Verdana" panose="020B0604030504040204" pitchFamily="34" charset="0"/>
              </a:rPr>
              <a:t> </a:t>
            </a:r>
            <a:r>
              <a:rPr lang="en-US" sz="2400" dirty="0">
                <a:solidFill>
                  <a:schemeClr val="accent6">
                    <a:lumMod val="50000"/>
                  </a:schemeClr>
                </a:solidFill>
                <a:latin typeface="-apple-system"/>
              </a:rPr>
              <a:t>(</a:t>
            </a:r>
            <a:r>
              <a:rPr lang="en-US" sz="2800" b="1" dirty="0">
                <a:solidFill>
                  <a:schemeClr val="accent2">
                    <a:lumMod val="50000"/>
                  </a:schemeClr>
                </a:solidFill>
                <a:latin typeface="-apple-system"/>
              </a:rPr>
              <a:t>data</a:t>
            </a:r>
            <a:r>
              <a:rPr lang="en-US" sz="2400" dirty="0">
                <a:solidFill>
                  <a:schemeClr val="accent6">
                    <a:lumMod val="50000"/>
                  </a:schemeClr>
                </a:solidFill>
                <a:latin typeface="-apple-system"/>
              </a:rPr>
              <a:t>) </a:t>
            </a:r>
          </a:p>
        </p:txBody>
      </p:sp>
      <p:sp>
        <p:nvSpPr>
          <p:cNvPr id="16" name="Rectangle 15">
            <a:extLst>
              <a:ext uri="{FF2B5EF4-FFF2-40B4-BE49-F238E27FC236}">
                <a16:creationId xmlns:a16="http://schemas.microsoft.com/office/drawing/2014/main" id="{39899CA7-13BF-4DA4-9F58-998AD1E51CC0}"/>
              </a:ext>
            </a:extLst>
          </p:cNvPr>
          <p:cNvSpPr/>
          <p:nvPr/>
        </p:nvSpPr>
        <p:spPr>
          <a:xfrm>
            <a:off x="119336" y="4911552"/>
            <a:ext cx="7632848" cy="461665"/>
          </a:xfrm>
          <a:prstGeom prst="rect">
            <a:avLst/>
          </a:prstGeom>
        </p:spPr>
        <p:txBody>
          <a:bodyPr wrap="square">
            <a:spAutoFit/>
          </a:bodyPr>
          <a:lstStyle/>
          <a:p>
            <a:pPr algn="just"/>
            <a:r>
              <a:rPr lang="en-IN" sz="2400" dirty="0">
                <a:solidFill>
                  <a:srgbClr val="00B050"/>
                </a:solidFill>
                <a:latin typeface="-apple-system"/>
              </a:rPr>
              <a:t>Let’s take another example.</a:t>
            </a:r>
            <a:endParaRPr lang="en-US" sz="2400" dirty="0">
              <a:solidFill>
                <a:srgbClr val="00B050"/>
              </a:solidFill>
              <a:latin typeface="-apple-system"/>
            </a:endParaRPr>
          </a:p>
        </p:txBody>
      </p:sp>
    </p:spTree>
    <p:extLst>
      <p:ext uri="{BB962C8B-B14F-4D97-AF65-F5344CB8AC3E}">
        <p14:creationId xmlns:p14="http://schemas.microsoft.com/office/powerpoint/2010/main" val="3331846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3" grpId="0"/>
      <p:bldP spid="7" grpId="0"/>
      <p:bldP spid="10" grpId="0"/>
      <p:bldP spid="5" grpId="0"/>
      <p:bldP spid="16" grpId="0"/>
    </p:bldLst>
  </p:timing>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BAEDABB-F563-4039-90DE-3205895303F5}"/>
              </a:ext>
            </a:extLst>
          </p:cNvPr>
          <p:cNvSpPr/>
          <p:nvPr/>
        </p:nvSpPr>
        <p:spPr>
          <a:xfrm>
            <a:off x="438087" y="5830594"/>
            <a:ext cx="8624704" cy="769441"/>
          </a:xfrm>
          <a:prstGeom prst="rect">
            <a:avLst/>
          </a:prstGeom>
        </p:spPr>
        <p:txBody>
          <a:bodyPr wrap="square">
            <a:spAutoFit/>
          </a:bodyPr>
          <a:lstStyle/>
          <a:p>
            <a:r>
              <a:rPr lang="en-IN" dirty="0">
                <a:solidFill>
                  <a:schemeClr val="accent6">
                    <a:lumMod val="50000"/>
                  </a:schemeClr>
                </a:solidFill>
              </a:rPr>
              <a:t>set A – { 25, 29, 45, 23, 60, 51, 35, …. }</a:t>
            </a:r>
          </a:p>
          <a:p>
            <a:endParaRPr lang="en-IN" sz="800" dirty="0">
              <a:solidFill>
                <a:schemeClr val="accent6">
                  <a:lumMod val="50000"/>
                </a:schemeClr>
              </a:solidFill>
            </a:endParaRPr>
          </a:p>
          <a:p>
            <a:r>
              <a:rPr lang="en-IN" dirty="0">
                <a:solidFill>
                  <a:schemeClr val="accent6">
                    <a:lumMod val="50000"/>
                  </a:schemeClr>
                </a:solidFill>
              </a:rPr>
              <a:t>set B – { Ben, Jo, Kim, Tom, Toy, Sam, Don, …. }  </a:t>
            </a:r>
          </a:p>
        </p:txBody>
      </p:sp>
      <p:sp>
        <p:nvSpPr>
          <p:cNvPr id="7" name="Rectangle 6">
            <a:extLst>
              <a:ext uri="{FF2B5EF4-FFF2-40B4-BE49-F238E27FC236}">
                <a16:creationId xmlns:a16="http://schemas.microsoft.com/office/drawing/2014/main" id="{C15B5B7D-F84D-4CB0-9BE3-E25CC24D8390}"/>
              </a:ext>
            </a:extLst>
          </p:cNvPr>
          <p:cNvSpPr/>
          <p:nvPr/>
        </p:nvSpPr>
        <p:spPr>
          <a:xfrm>
            <a:off x="457747" y="5334825"/>
            <a:ext cx="792088" cy="461665"/>
          </a:xfrm>
          <a:prstGeom prst="rect">
            <a:avLst/>
          </a:prstGeom>
        </p:spPr>
        <p:txBody>
          <a:bodyPr wrap="square">
            <a:spAutoFit/>
          </a:bodyPr>
          <a:lstStyle/>
          <a:p>
            <a:r>
              <a:rPr lang="en-US" sz="2400" b="1" dirty="0">
                <a:solidFill>
                  <a:schemeClr val="accent2">
                    <a:lumMod val="50000"/>
                  </a:schemeClr>
                </a:solidFill>
                <a:latin typeface="-apple-system"/>
              </a:rPr>
              <a:t>data</a:t>
            </a:r>
            <a:endParaRPr lang="en-IN" sz="2200" b="1" dirty="0"/>
          </a:p>
        </p:txBody>
      </p:sp>
      <p:sp>
        <p:nvSpPr>
          <p:cNvPr id="8" name="Rectangle 7">
            <a:extLst>
              <a:ext uri="{FF2B5EF4-FFF2-40B4-BE49-F238E27FC236}">
                <a16:creationId xmlns:a16="http://schemas.microsoft.com/office/drawing/2014/main" id="{B1B66409-5192-407D-9CFA-2C5B1BE8FBEC}"/>
              </a:ext>
            </a:extLst>
          </p:cNvPr>
          <p:cNvSpPr/>
          <p:nvPr/>
        </p:nvSpPr>
        <p:spPr>
          <a:xfrm>
            <a:off x="438088" y="3303894"/>
            <a:ext cx="11296167" cy="461665"/>
          </a:xfrm>
          <a:prstGeom prst="rect">
            <a:avLst/>
          </a:prstGeom>
        </p:spPr>
        <p:txBody>
          <a:bodyPr wrap="square">
            <a:spAutoFit/>
          </a:bodyPr>
          <a:lstStyle/>
          <a:p>
            <a:r>
              <a:rPr lang="en-US" sz="2400" b="1" dirty="0">
                <a:solidFill>
                  <a:schemeClr val="accent2">
                    <a:lumMod val="50000"/>
                  </a:schemeClr>
                </a:solidFill>
                <a:latin typeface="-apple-system"/>
              </a:rPr>
              <a:t>Information</a:t>
            </a:r>
            <a:endParaRPr lang="en-IN" sz="2200" b="1" dirty="0"/>
          </a:p>
        </p:txBody>
      </p:sp>
      <p:sp>
        <p:nvSpPr>
          <p:cNvPr id="11" name="Rectangle 10">
            <a:extLst>
              <a:ext uri="{FF2B5EF4-FFF2-40B4-BE49-F238E27FC236}">
                <a16:creationId xmlns:a16="http://schemas.microsoft.com/office/drawing/2014/main" id="{D1DCE3E7-B13B-43D7-AC3B-8ACA827F63D3}"/>
              </a:ext>
            </a:extLst>
          </p:cNvPr>
          <p:cNvSpPr/>
          <p:nvPr/>
        </p:nvSpPr>
        <p:spPr>
          <a:xfrm>
            <a:off x="457748" y="3757859"/>
            <a:ext cx="11772843" cy="1446550"/>
          </a:xfrm>
          <a:prstGeom prst="rect">
            <a:avLst/>
          </a:prstGeom>
        </p:spPr>
        <p:txBody>
          <a:bodyPr wrap="square">
            <a:spAutoFit/>
          </a:bodyPr>
          <a:lstStyle/>
          <a:p>
            <a:r>
              <a:rPr lang="en-US" dirty="0">
                <a:solidFill>
                  <a:schemeClr val="accent6">
                    <a:lumMod val="50000"/>
                  </a:schemeClr>
                </a:solidFill>
              </a:rPr>
              <a:t>Now we arrange the data and make some sense and create information.</a:t>
            </a:r>
          </a:p>
          <a:p>
            <a:endParaRPr lang="en-US" sz="800" dirty="0">
              <a:solidFill>
                <a:schemeClr val="accent6">
                  <a:lumMod val="50000"/>
                </a:schemeClr>
              </a:solidFill>
            </a:endParaRPr>
          </a:p>
          <a:p>
            <a:r>
              <a:rPr lang="en-US" dirty="0">
                <a:solidFill>
                  <a:schemeClr val="accent6">
                    <a:lumMod val="50000"/>
                  </a:schemeClr>
                </a:solidFill>
              </a:rPr>
              <a:t>set A is </a:t>
            </a:r>
            <a:r>
              <a:rPr lang="en-US" b="1" dirty="0">
                <a:solidFill>
                  <a:schemeClr val="accent6">
                    <a:lumMod val="50000"/>
                  </a:schemeClr>
                </a:solidFill>
              </a:rPr>
              <a:t>Age</a:t>
            </a:r>
            <a:r>
              <a:rPr lang="en-US" dirty="0">
                <a:solidFill>
                  <a:schemeClr val="accent6">
                    <a:lumMod val="50000"/>
                  </a:schemeClr>
                </a:solidFill>
              </a:rPr>
              <a:t>, set B is </a:t>
            </a:r>
            <a:r>
              <a:rPr lang="en-US" b="1" dirty="0">
                <a:solidFill>
                  <a:schemeClr val="accent6">
                    <a:lumMod val="50000"/>
                  </a:schemeClr>
                </a:solidFill>
              </a:rPr>
              <a:t>Name</a:t>
            </a:r>
          </a:p>
          <a:p>
            <a:endParaRPr lang="en-IN" sz="800" dirty="0">
              <a:solidFill>
                <a:schemeClr val="accent6">
                  <a:lumMod val="50000"/>
                </a:schemeClr>
              </a:solidFill>
            </a:endParaRPr>
          </a:p>
          <a:p>
            <a:r>
              <a:rPr lang="en-IN" dirty="0">
                <a:solidFill>
                  <a:schemeClr val="accent6">
                    <a:lumMod val="50000"/>
                  </a:schemeClr>
                </a:solidFill>
              </a:rPr>
              <a:t>Age – { 25, 29, 45, 23, 60, 51, 35, …. }</a:t>
            </a:r>
          </a:p>
          <a:p>
            <a:r>
              <a:rPr lang="en-IN" dirty="0">
                <a:solidFill>
                  <a:schemeClr val="accent6">
                    <a:lumMod val="50000"/>
                  </a:schemeClr>
                </a:solidFill>
              </a:rPr>
              <a:t>Name – { Ben, Jo, Kim, Tom, Toy, Sam, Don, …. }  </a:t>
            </a:r>
            <a:r>
              <a:rPr lang="en-US" dirty="0">
                <a:solidFill>
                  <a:schemeClr val="accent6">
                    <a:lumMod val="50000"/>
                  </a:schemeClr>
                </a:solidFill>
              </a:rPr>
              <a:t> </a:t>
            </a:r>
          </a:p>
        </p:txBody>
      </p:sp>
      <p:sp>
        <p:nvSpPr>
          <p:cNvPr id="14" name="Rectangle 13">
            <a:extLst>
              <a:ext uri="{FF2B5EF4-FFF2-40B4-BE49-F238E27FC236}">
                <a16:creationId xmlns:a16="http://schemas.microsoft.com/office/drawing/2014/main" id="{7F5ED22A-FEB2-4C80-B64C-28D2EDE51207}"/>
              </a:ext>
            </a:extLst>
          </p:cNvPr>
          <p:cNvSpPr/>
          <p:nvPr/>
        </p:nvSpPr>
        <p:spPr>
          <a:xfrm>
            <a:off x="406491" y="1916832"/>
            <a:ext cx="1656184" cy="461665"/>
          </a:xfrm>
          <a:prstGeom prst="rect">
            <a:avLst/>
          </a:prstGeom>
        </p:spPr>
        <p:txBody>
          <a:bodyPr wrap="square">
            <a:spAutoFit/>
          </a:bodyPr>
          <a:lstStyle/>
          <a:p>
            <a:r>
              <a:rPr lang="en-US" sz="2400" b="1" dirty="0">
                <a:solidFill>
                  <a:schemeClr val="accent2">
                    <a:lumMod val="50000"/>
                  </a:schemeClr>
                </a:solidFill>
                <a:latin typeface="-apple-system"/>
              </a:rPr>
              <a:t>knowledge</a:t>
            </a:r>
            <a:endParaRPr lang="en-IN" sz="2200" b="1" dirty="0"/>
          </a:p>
        </p:txBody>
      </p:sp>
      <p:sp>
        <p:nvSpPr>
          <p:cNvPr id="15" name="Rectangle 14">
            <a:extLst>
              <a:ext uri="{FF2B5EF4-FFF2-40B4-BE49-F238E27FC236}">
                <a16:creationId xmlns:a16="http://schemas.microsoft.com/office/drawing/2014/main" id="{D08E8734-6BA9-4783-8F0D-EA96309D347E}"/>
              </a:ext>
            </a:extLst>
          </p:cNvPr>
          <p:cNvSpPr/>
          <p:nvPr/>
        </p:nvSpPr>
        <p:spPr>
          <a:xfrm>
            <a:off x="418365" y="2373595"/>
            <a:ext cx="11772843" cy="769441"/>
          </a:xfrm>
          <a:prstGeom prst="rect">
            <a:avLst/>
          </a:prstGeom>
        </p:spPr>
        <p:txBody>
          <a:bodyPr wrap="square">
            <a:spAutoFit/>
          </a:bodyPr>
          <a:lstStyle/>
          <a:p>
            <a:r>
              <a:rPr lang="en-US" dirty="0">
                <a:solidFill>
                  <a:schemeClr val="accent6">
                    <a:lumMod val="50000"/>
                  </a:schemeClr>
                </a:solidFill>
              </a:rPr>
              <a:t>Age of employees: </a:t>
            </a:r>
          </a:p>
          <a:p>
            <a:endParaRPr lang="en-US" sz="800" dirty="0">
              <a:solidFill>
                <a:schemeClr val="accent6">
                  <a:lumMod val="50000"/>
                </a:schemeClr>
              </a:solidFill>
            </a:endParaRPr>
          </a:p>
          <a:p>
            <a:r>
              <a:rPr lang="en-US" dirty="0">
                <a:solidFill>
                  <a:schemeClr val="accent6">
                    <a:lumMod val="50000"/>
                  </a:schemeClr>
                </a:solidFill>
              </a:rPr>
              <a:t>R = { Ben is 25 yrs. Old, Jo is 29 yrs. Old, </a:t>
            </a:r>
            <a:r>
              <a:rPr lang="en-IN" dirty="0">
                <a:solidFill>
                  <a:schemeClr val="accent6">
                    <a:lumMod val="50000"/>
                  </a:schemeClr>
                </a:solidFill>
              </a:rPr>
              <a:t>Kim</a:t>
            </a:r>
            <a:r>
              <a:rPr lang="en-US" dirty="0">
                <a:solidFill>
                  <a:schemeClr val="accent6">
                    <a:lumMod val="50000"/>
                  </a:schemeClr>
                </a:solidFill>
              </a:rPr>
              <a:t> is 45 yrs. Old, </a:t>
            </a:r>
            <a:r>
              <a:rPr lang="en-IN" dirty="0">
                <a:solidFill>
                  <a:schemeClr val="accent6">
                    <a:lumMod val="50000"/>
                  </a:schemeClr>
                </a:solidFill>
              </a:rPr>
              <a:t>Tom</a:t>
            </a:r>
            <a:r>
              <a:rPr lang="en-US" dirty="0">
                <a:solidFill>
                  <a:schemeClr val="accent6">
                    <a:lumMod val="50000"/>
                  </a:schemeClr>
                </a:solidFill>
              </a:rPr>
              <a:t> is 23 yrs. Old, </a:t>
            </a:r>
            <a:r>
              <a:rPr lang="en-IN" dirty="0">
                <a:solidFill>
                  <a:schemeClr val="accent6">
                    <a:lumMod val="50000"/>
                  </a:schemeClr>
                </a:solidFill>
              </a:rPr>
              <a:t>Toy</a:t>
            </a:r>
            <a:r>
              <a:rPr lang="en-US" dirty="0">
                <a:solidFill>
                  <a:schemeClr val="accent6">
                    <a:lumMod val="50000"/>
                  </a:schemeClr>
                </a:solidFill>
              </a:rPr>
              <a:t> is 60 yrs. Old</a:t>
            </a:r>
            <a:r>
              <a:rPr lang="en-IN" dirty="0">
                <a:solidFill>
                  <a:schemeClr val="accent6">
                    <a:lumMod val="50000"/>
                  </a:schemeClr>
                </a:solidFill>
              </a:rPr>
              <a:t> , ….  }</a:t>
            </a:r>
          </a:p>
        </p:txBody>
      </p:sp>
      <p:sp>
        <p:nvSpPr>
          <p:cNvPr id="16" name="Rectangle 15">
            <a:extLst>
              <a:ext uri="{FF2B5EF4-FFF2-40B4-BE49-F238E27FC236}">
                <a16:creationId xmlns:a16="http://schemas.microsoft.com/office/drawing/2014/main" id="{FDDC83C1-EBE6-49E4-92ED-CEA0081C7912}"/>
              </a:ext>
            </a:extLst>
          </p:cNvPr>
          <p:cNvSpPr/>
          <p:nvPr/>
        </p:nvSpPr>
        <p:spPr>
          <a:xfrm>
            <a:off x="403016" y="6749"/>
            <a:ext cx="1327603" cy="461665"/>
          </a:xfrm>
          <a:prstGeom prst="rect">
            <a:avLst/>
          </a:prstGeom>
        </p:spPr>
        <p:txBody>
          <a:bodyPr wrap="square">
            <a:spAutoFit/>
          </a:bodyPr>
          <a:lstStyle/>
          <a:p>
            <a:r>
              <a:rPr lang="en-US" sz="2400" b="1" dirty="0">
                <a:solidFill>
                  <a:schemeClr val="accent2">
                    <a:lumMod val="50000"/>
                  </a:schemeClr>
                </a:solidFill>
                <a:latin typeface="-apple-system"/>
              </a:rPr>
              <a:t>wisdom</a:t>
            </a:r>
            <a:endParaRPr lang="en-IN" sz="2200" b="1" dirty="0"/>
          </a:p>
        </p:txBody>
      </p:sp>
      <p:sp>
        <p:nvSpPr>
          <p:cNvPr id="17" name="Rectangle 16">
            <a:extLst>
              <a:ext uri="{FF2B5EF4-FFF2-40B4-BE49-F238E27FC236}">
                <a16:creationId xmlns:a16="http://schemas.microsoft.com/office/drawing/2014/main" id="{8DD21DF6-5DCF-40F5-8749-8D201E3020F9}"/>
              </a:ext>
            </a:extLst>
          </p:cNvPr>
          <p:cNvSpPr/>
          <p:nvPr/>
        </p:nvSpPr>
        <p:spPr>
          <a:xfrm>
            <a:off x="403018" y="552133"/>
            <a:ext cx="11772843" cy="1200329"/>
          </a:xfrm>
          <a:prstGeom prst="rect">
            <a:avLst/>
          </a:prstGeom>
        </p:spPr>
        <p:txBody>
          <a:bodyPr wrap="square">
            <a:spAutoFit/>
          </a:bodyPr>
          <a:lstStyle/>
          <a:p>
            <a:pPr marL="342900" indent="-342900">
              <a:buFont typeface="Arial" panose="020B0604020202020204" pitchFamily="34" charset="0"/>
              <a:buChar char="•"/>
            </a:pPr>
            <a:r>
              <a:rPr lang="en-US" dirty="0">
                <a:solidFill>
                  <a:schemeClr val="accent6">
                    <a:lumMod val="50000"/>
                  </a:schemeClr>
                </a:solidFill>
              </a:rPr>
              <a:t>Our employees Ben, Jo, and Tom are young.</a:t>
            </a:r>
          </a:p>
          <a:p>
            <a:pPr marL="342900" indent="-342900">
              <a:buFont typeface="Arial" panose="020B0604020202020204" pitchFamily="34" charset="0"/>
              <a:buChar char="•"/>
            </a:pPr>
            <a:r>
              <a:rPr lang="en-US" dirty="0">
                <a:solidFill>
                  <a:schemeClr val="accent6">
                    <a:lumMod val="50000"/>
                  </a:schemeClr>
                </a:solidFill>
              </a:rPr>
              <a:t>Our employees Ben, Jo, and Tom are in 20’s</a:t>
            </a:r>
          </a:p>
          <a:p>
            <a:pPr marL="342900" indent="-342900">
              <a:buFont typeface="Arial" panose="020B0604020202020204" pitchFamily="34" charset="0"/>
              <a:buChar char="•"/>
            </a:pPr>
            <a:r>
              <a:rPr lang="en-US" dirty="0">
                <a:solidFill>
                  <a:schemeClr val="accent6">
                    <a:lumMod val="50000"/>
                  </a:schemeClr>
                </a:solidFill>
              </a:rPr>
              <a:t>Toy is going to retire next year.</a:t>
            </a:r>
          </a:p>
          <a:p>
            <a:pPr marL="342900" indent="-342900">
              <a:buFont typeface="Arial" panose="020B0604020202020204" pitchFamily="34" charset="0"/>
              <a:buChar char="•"/>
            </a:pPr>
            <a:r>
              <a:rPr lang="en-US" dirty="0">
                <a:solidFill>
                  <a:schemeClr val="accent6">
                    <a:lumMod val="50000"/>
                  </a:schemeClr>
                </a:solidFill>
              </a:rPr>
              <a:t>….</a:t>
            </a:r>
          </a:p>
        </p:txBody>
      </p:sp>
      <p:pic>
        <p:nvPicPr>
          <p:cNvPr id="18" name="Picture 2" descr="Related image">
            <a:extLst>
              <a:ext uri="{FF2B5EF4-FFF2-40B4-BE49-F238E27FC236}">
                <a16:creationId xmlns:a16="http://schemas.microsoft.com/office/drawing/2014/main" id="{1BA4D43C-4A0F-4990-A50E-06B71D2750C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75247" y="3542079"/>
            <a:ext cx="3824152" cy="3199289"/>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AAF5B0A7-FEC2-447A-854C-8248C07EE76F}"/>
              </a:ext>
            </a:extLst>
          </p:cNvPr>
          <p:cNvSpPr/>
          <p:nvPr/>
        </p:nvSpPr>
        <p:spPr>
          <a:xfrm>
            <a:off x="10796388" y="3789765"/>
            <a:ext cx="1327332" cy="646331"/>
          </a:xfrm>
          <a:prstGeom prst="rect">
            <a:avLst/>
          </a:prstGeom>
        </p:spPr>
        <p:txBody>
          <a:bodyPr wrap="square">
            <a:spAutoFit/>
          </a:bodyPr>
          <a:lstStyle/>
          <a:p>
            <a:r>
              <a:rPr lang="en-IN" dirty="0">
                <a:solidFill>
                  <a:srgbClr val="C00000"/>
                </a:solidFill>
                <a:latin typeface="Arial" panose="020B0604020202020204" pitchFamily="34" charset="0"/>
              </a:rPr>
              <a:t>The </a:t>
            </a:r>
            <a:r>
              <a:rPr lang="en-IN" b="1" dirty="0">
                <a:solidFill>
                  <a:srgbClr val="C00000"/>
                </a:solidFill>
                <a:latin typeface="Arial" panose="020B0604020202020204" pitchFamily="34" charset="0"/>
              </a:rPr>
              <a:t>DIKW pyramid</a:t>
            </a:r>
            <a:endParaRPr lang="en-IN" dirty="0">
              <a:solidFill>
                <a:srgbClr val="C00000"/>
              </a:solidFill>
            </a:endParaRPr>
          </a:p>
        </p:txBody>
      </p:sp>
    </p:spTree>
    <p:extLst>
      <p:ext uri="{BB962C8B-B14F-4D97-AF65-F5344CB8AC3E}">
        <p14:creationId xmlns:p14="http://schemas.microsoft.com/office/powerpoint/2010/main" val="978662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1" grpId="0"/>
      <p:bldP spid="14" grpId="0"/>
      <p:bldP spid="15" grpId="0"/>
      <p:bldP spid="16" grpId="0"/>
      <p:bldP spid="17" grpId="0"/>
    </p:bldLst>
  </p:timing>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315634"/>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If anyone who wants to develop a good application </a:t>
            </a:r>
          </a:p>
          <a:p>
            <a:r>
              <a:rPr lang="en-US" sz="2000" dirty="0">
                <a:latin typeface="Arial" panose="020B0604020202020204" pitchFamily="34" charset="0"/>
                <a:cs typeface="Arial" pitchFamily="34" charset="0"/>
              </a:rPr>
              <a:t>	then he should have the knowledge three major components. </a:t>
            </a:r>
          </a:p>
          <a:p>
            <a:r>
              <a:rPr lang="en-US" sz="2000" dirty="0">
                <a:latin typeface="Arial" panose="020B0604020202020204" pitchFamily="34" charset="0"/>
                <a:cs typeface="Arial" pitchFamily="34" charset="0"/>
              </a:rPr>
              <a:t>They are </a:t>
            </a:r>
            <a:r>
              <a:rPr lang="en-US" sz="2000" dirty="0">
                <a:solidFill>
                  <a:schemeClr val="bg1">
                    <a:lumMod val="50000"/>
                  </a:schemeClr>
                </a:solidFill>
                <a:latin typeface="Arial" panose="020B0604020202020204" pitchFamily="34" charset="0"/>
                <a:cs typeface="Arial" pitchFamily="34" charset="0"/>
              </a:rPr>
              <a:t>. . .</a:t>
            </a:r>
            <a:r>
              <a:rPr lang="en-US" sz="2000" dirty="0">
                <a:latin typeface="Arial" panose="020B0604020202020204" pitchFamily="34" charset="0"/>
                <a:cs typeface="Arial" pitchFamily="34" charset="0"/>
              </a:rPr>
              <a:t> . . </a:t>
            </a:r>
          </a:p>
          <a:p>
            <a:r>
              <a:rPr lang="en-US" sz="800" dirty="0">
                <a:latin typeface="Arial" panose="020B0604020202020204" pitchFamily="34" charset="0"/>
                <a:cs typeface="Arial" pitchFamily="34" charset="0"/>
              </a:rPr>
              <a:t>           </a:t>
            </a:r>
          </a:p>
          <a:p>
            <a:pPr marL="342900" indent="-342900">
              <a:buFont typeface="Arial" panose="020B0604020202020204" pitchFamily="34" charset="0"/>
              <a:buChar char="•"/>
            </a:pPr>
            <a:r>
              <a:rPr lang="en-US" sz="2000" dirty="0">
                <a:latin typeface="Arial" panose="020B0604020202020204" pitchFamily="34" charset="0"/>
                <a:cs typeface="Arial" pitchFamily="34" charset="0"/>
              </a:rPr>
              <a:t> </a:t>
            </a:r>
            <a:r>
              <a:rPr lang="en-IN" sz="2000" dirty="0">
                <a:latin typeface="Gill Sans MT (Body)"/>
              </a:rPr>
              <a:t>Presentation </a:t>
            </a:r>
            <a:r>
              <a:rPr lang="en-US" sz="2000" dirty="0">
                <a:latin typeface="Gill Sans MT (Body)"/>
              </a:rPr>
              <a:t>Layer</a:t>
            </a:r>
            <a:r>
              <a:rPr lang="en-IN" sz="2000" dirty="0">
                <a:latin typeface="Gill Sans MT (Body)"/>
              </a:rPr>
              <a:t> [ </a:t>
            </a:r>
            <a:r>
              <a:rPr lang="en-US" sz="2000" dirty="0">
                <a:latin typeface="Gill Sans MT (Body)"/>
              </a:rPr>
              <a:t>UI</a:t>
            </a:r>
            <a:r>
              <a:rPr lang="en-IN" sz="2000" dirty="0">
                <a:latin typeface="Gill Sans MT (Body)"/>
              </a:rPr>
              <a:t>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latin typeface="Gill Sans MT (Body)"/>
              </a:rPr>
              <a:t>Application </a:t>
            </a:r>
            <a:r>
              <a:rPr lang="en-US" sz="2000" dirty="0">
                <a:latin typeface="Gill Sans MT (Body)"/>
              </a:rPr>
              <a:t>Layer</a:t>
            </a:r>
            <a:r>
              <a:rPr lang="en-IN" sz="2000" dirty="0">
                <a:latin typeface="Gill Sans MT (Body)"/>
              </a:rPr>
              <a:t> [ Server Application and Client Application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solidFill>
                  <a:srgbClr val="F63122"/>
                </a:solidFill>
                <a:latin typeface="Gill Sans MT (Body)"/>
              </a:rPr>
              <a:t>Data </a:t>
            </a:r>
            <a:r>
              <a:rPr lang="en-US" sz="2000" dirty="0">
                <a:solidFill>
                  <a:srgbClr val="F63122"/>
                </a:solidFill>
                <a:latin typeface="Gill Sans MT (Body)"/>
              </a:rPr>
              <a:t>Layer [</a:t>
            </a:r>
            <a:r>
              <a:rPr lang="en-IN" sz="2000" dirty="0">
                <a:solidFill>
                  <a:srgbClr val="F63122"/>
                </a:solidFill>
                <a:latin typeface="Gill Sans MT (Body)"/>
              </a:rPr>
              <a:t> Data Access Object (DAO) / Data Access Layer (DAL) ]</a:t>
            </a:r>
            <a:r>
              <a:rPr lang="en-IN" sz="2000" dirty="0">
                <a:solidFill>
                  <a:srgbClr val="C00000"/>
                </a:solidFill>
                <a:latin typeface="Gill Sans MT (Body)"/>
              </a:rPr>
              <a:t> </a:t>
            </a:r>
            <a:r>
              <a:rPr lang="en-IN" sz="2000" dirty="0">
                <a:latin typeface="Gill Sans MT (Body)"/>
              </a:rPr>
              <a:t>{ Flat Files </a:t>
            </a:r>
            <a:r>
              <a:rPr lang="en-IN" sz="2000" dirty="0">
                <a:solidFill>
                  <a:schemeClr val="bg1">
                    <a:lumMod val="50000"/>
                  </a:schemeClr>
                </a:solidFill>
                <a:latin typeface="Gill Sans MT (Body)"/>
              </a:rPr>
              <a:t>|</a:t>
            </a:r>
            <a:r>
              <a:rPr lang="en-IN" sz="2000" dirty="0">
                <a:latin typeface="Gill Sans MT (Body)"/>
              </a:rPr>
              <a:t> RDBMS </a:t>
            </a:r>
            <a:r>
              <a:rPr lang="en-IN" sz="2000" dirty="0">
                <a:solidFill>
                  <a:schemeClr val="bg1">
                    <a:lumMod val="50000"/>
                  </a:schemeClr>
                </a:solidFill>
                <a:latin typeface="Gill Sans MT (Body)"/>
              </a:rPr>
              <a:t>|</a:t>
            </a:r>
            <a:r>
              <a:rPr lang="en-IN" sz="2000" dirty="0">
                <a:latin typeface="Gill Sans MT (Body)"/>
              </a:rPr>
              <a:t> NoSQL</a:t>
            </a:r>
            <a:r>
              <a:rPr lang="en-US" sz="2000" dirty="0">
                <a:latin typeface="Gill Sans MT (Body)"/>
              </a:rPr>
              <a:t> } </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pic>
        <p:nvPicPr>
          <p:cNvPr id="1026" name="Picture 2" descr="1-Tier Architecture Diagram">
            <a:extLst>
              <a:ext uri="{FF2B5EF4-FFF2-40B4-BE49-F238E27FC236}">
                <a16:creationId xmlns:a16="http://schemas.microsoft.com/office/drawing/2014/main" id="{A071065B-9567-D57F-2EDF-17B157F86B2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28" y="3645024"/>
            <a:ext cx="3312368" cy="2607833"/>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073F7CF2-D60F-D64A-7012-CE14F7FF9EF1}"/>
              </a:ext>
            </a:extLst>
          </p:cNvPr>
          <p:cNvPicPr>
            <a:picLocks noChangeAspect="1"/>
          </p:cNvPicPr>
          <p:nvPr/>
        </p:nvPicPr>
        <p:blipFill>
          <a:blip r:embed="rId3"/>
          <a:stretch>
            <a:fillRect/>
          </a:stretch>
        </p:blipFill>
        <p:spPr>
          <a:xfrm>
            <a:off x="7446315" y="3648697"/>
            <a:ext cx="4680520" cy="2164123"/>
          </a:xfrm>
          <a:prstGeom prst="rect">
            <a:avLst/>
          </a:prstGeom>
        </p:spPr>
      </p:pic>
      <p:pic>
        <p:nvPicPr>
          <p:cNvPr id="5" name="Picture 4">
            <a:extLst>
              <a:ext uri="{FF2B5EF4-FFF2-40B4-BE49-F238E27FC236}">
                <a16:creationId xmlns:a16="http://schemas.microsoft.com/office/drawing/2014/main" id="{5B07BC83-F9D7-21E1-2643-0C6CA392C34F}"/>
              </a:ext>
            </a:extLst>
          </p:cNvPr>
          <p:cNvPicPr>
            <a:picLocks noChangeAspect="1"/>
          </p:cNvPicPr>
          <p:nvPr/>
        </p:nvPicPr>
        <p:blipFill>
          <a:blip r:embed="rId4"/>
          <a:stretch>
            <a:fillRect/>
          </a:stretch>
        </p:blipFill>
        <p:spPr>
          <a:xfrm>
            <a:off x="3935760" y="3630568"/>
            <a:ext cx="2952328" cy="3078856"/>
          </a:xfrm>
          <a:prstGeom prst="rect">
            <a:avLst/>
          </a:prstGeom>
        </p:spPr>
      </p:pic>
    </p:spTree>
    <p:extLst>
      <p:ext uri="{BB962C8B-B14F-4D97-AF65-F5344CB8AC3E}">
        <p14:creationId xmlns:p14="http://schemas.microsoft.com/office/powerpoint/2010/main" val="2273926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2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A7A7-C3B7-93CF-1AD7-17A6943B5825}"/>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9A57E0F8-ED21-CB42-4354-78395F2F39E2}"/>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IN" dirty="0"/>
              <a:t>Types of Database Architecture</a:t>
            </a:r>
            <a:r>
              <a:rPr lang="en-US" dirty="0"/>
              <a:t> </a:t>
            </a:r>
          </a:p>
        </p:txBody>
      </p:sp>
      <p:sp>
        <p:nvSpPr>
          <p:cNvPr id="6" name="TextBox 5">
            <a:extLst>
              <a:ext uri="{FF2B5EF4-FFF2-40B4-BE49-F238E27FC236}">
                <a16:creationId xmlns:a16="http://schemas.microsoft.com/office/drawing/2014/main" id="{DF461CFE-6AF4-F9AF-E2B8-F916B3CF7DA3}"/>
              </a:ext>
            </a:extLst>
          </p:cNvPr>
          <p:cNvSpPr txBox="1"/>
          <p:nvPr/>
        </p:nvSpPr>
        <p:spPr>
          <a:xfrm>
            <a:off x="407368" y="980728"/>
            <a:ext cx="11305256" cy="1656864"/>
          </a:xfrm>
          <a:prstGeom prst="rect">
            <a:avLst/>
          </a:prstGeom>
          <a:noFill/>
        </p:spPr>
        <p:txBody>
          <a:bodyPr wrap="square">
            <a:spAutoFit/>
          </a:bodyPr>
          <a:lstStyle/>
          <a:p>
            <a:r>
              <a:rPr lang="en-IN" b="1" dirty="0">
                <a:latin typeface="Arial" panose="020B0604020202020204" pitchFamily="34" charset="0"/>
                <a:cs typeface="Arial" panose="020B0604020202020204" pitchFamily="34" charset="0"/>
              </a:rPr>
              <a:t>Single-Tier Architecture</a:t>
            </a:r>
          </a:p>
          <a:p>
            <a:endParaRPr lang="en-IN" sz="600" b="1" dirty="0">
              <a:latin typeface="Arial" panose="020B0604020202020204" pitchFamily="34" charset="0"/>
              <a:cs typeface="Arial" panose="020B0604020202020204" pitchFamily="34" charset="0"/>
            </a:endParaRP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The database and application (</a:t>
            </a:r>
            <a:r>
              <a:rPr lang="en-US" dirty="0">
                <a:latin typeface="Arial" panose="020B0604020202020204" pitchFamily="34" charset="0"/>
                <a:cs typeface="Arial" panose="020B0604020202020204" pitchFamily="34" charset="0"/>
              </a:rPr>
              <a:t>UI, Business Logic, and Data are all combined</a:t>
            </a:r>
            <a:r>
              <a:rPr lang="en-IN" dirty="0">
                <a:latin typeface="Arial" panose="020B0604020202020204" pitchFamily="34" charset="0"/>
                <a:cs typeface="Arial" panose="020B0604020202020204" pitchFamily="34" charset="0"/>
              </a:rPr>
              <a:t>) reside on the same system.</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No network communication is required since everything runs locally.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Used for small-scale applications.</a:t>
            </a:r>
          </a:p>
        </p:txBody>
      </p:sp>
      <p:sp>
        <p:nvSpPr>
          <p:cNvPr id="9" name="TextBox 8">
            <a:extLst>
              <a:ext uri="{FF2B5EF4-FFF2-40B4-BE49-F238E27FC236}">
                <a16:creationId xmlns:a16="http://schemas.microsoft.com/office/drawing/2014/main" id="{8FDEEBC4-BE49-33CA-81BE-675D9D5CE9DF}"/>
              </a:ext>
            </a:extLst>
          </p:cNvPr>
          <p:cNvSpPr txBox="1"/>
          <p:nvPr/>
        </p:nvSpPr>
        <p:spPr>
          <a:xfrm>
            <a:off x="479376" y="2996952"/>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Two-Tier Architecture (Client-Server)</a:t>
            </a:r>
          </a:p>
          <a:p>
            <a:endParaRPr lang="en-IN" sz="600" dirty="0"/>
          </a:p>
          <a:p>
            <a:pPr marL="342900" indent="-342900">
              <a:lnSpc>
                <a:spcPct val="150000"/>
              </a:lnSpc>
              <a:buFont typeface="+mj-lt"/>
              <a:buAutoNum type="arabicPeriod"/>
            </a:pPr>
            <a:r>
              <a:rPr lang="en-IN" b="0" dirty="0"/>
              <a:t>The (client) application (Frontend/UI + Business Logic) communicates with the database server.</a:t>
            </a:r>
          </a:p>
          <a:p>
            <a:pPr marL="342900" indent="-342900">
              <a:lnSpc>
                <a:spcPct val="150000"/>
              </a:lnSpc>
              <a:buFont typeface="+mj-lt"/>
              <a:buAutoNum type="arabicPeriod"/>
            </a:pPr>
            <a:r>
              <a:rPr lang="en-IN" b="0" dirty="0"/>
              <a:t>The client sends queries, and the server processes them and returns results.</a:t>
            </a:r>
          </a:p>
          <a:p>
            <a:pPr marL="342900" indent="-342900">
              <a:lnSpc>
                <a:spcPct val="150000"/>
              </a:lnSpc>
              <a:buFont typeface="+mj-lt"/>
              <a:buAutoNum type="arabicPeriod"/>
            </a:pPr>
            <a:r>
              <a:rPr lang="en-IN" b="0" dirty="0"/>
              <a:t>Used in medium-scale applications.</a:t>
            </a:r>
          </a:p>
        </p:txBody>
      </p:sp>
      <p:sp>
        <p:nvSpPr>
          <p:cNvPr id="11" name="TextBox 10">
            <a:extLst>
              <a:ext uri="{FF2B5EF4-FFF2-40B4-BE49-F238E27FC236}">
                <a16:creationId xmlns:a16="http://schemas.microsoft.com/office/drawing/2014/main" id="{416EF34F-5908-FB7E-ECBE-E2F50D30703A}"/>
              </a:ext>
            </a:extLst>
          </p:cNvPr>
          <p:cNvSpPr txBox="1"/>
          <p:nvPr/>
        </p:nvSpPr>
        <p:spPr>
          <a:xfrm>
            <a:off x="479376" y="4940488"/>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Three-Tier Architecture</a:t>
            </a:r>
          </a:p>
          <a:p>
            <a:endParaRPr lang="en-IN" sz="600" dirty="0"/>
          </a:p>
          <a:p>
            <a:pPr marL="342900" indent="-342900">
              <a:lnSpc>
                <a:spcPct val="150000"/>
              </a:lnSpc>
              <a:buFont typeface="+mj-lt"/>
              <a:buAutoNum type="arabicPeriod"/>
            </a:pPr>
            <a:r>
              <a:rPr lang="en-IN" b="0" dirty="0"/>
              <a:t>Introduces a middle layer (Application Server) between the client and database.</a:t>
            </a:r>
          </a:p>
          <a:p>
            <a:pPr marL="342900" indent="-342900">
              <a:lnSpc>
                <a:spcPct val="150000"/>
              </a:lnSpc>
              <a:buFont typeface="+mj-lt"/>
              <a:buAutoNum type="arabicPeriod"/>
            </a:pPr>
            <a:r>
              <a:rPr lang="en-IN" b="0" dirty="0"/>
              <a:t>The middle layer handles business logic, security, and processing before accessing the database.</a:t>
            </a:r>
          </a:p>
          <a:p>
            <a:pPr marL="342900" indent="-342900">
              <a:lnSpc>
                <a:spcPct val="150000"/>
              </a:lnSpc>
              <a:buFont typeface="+mj-lt"/>
              <a:buAutoNum type="arabicPeriod"/>
            </a:pPr>
            <a:r>
              <a:rPr lang="en-IN" b="0" dirty="0"/>
              <a:t>Used in large-scale web applications.</a:t>
            </a:r>
          </a:p>
        </p:txBody>
      </p:sp>
    </p:spTree>
    <p:extLst>
      <p:ext uri="{BB962C8B-B14F-4D97-AF65-F5344CB8AC3E}">
        <p14:creationId xmlns:p14="http://schemas.microsoft.com/office/powerpoint/2010/main" val="1614915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246769"/>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A layer refers to pieces of software that are logically separated, but typically live within the same process and machine. </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instead, refers to pieces of software that live in distinct processes or AppDomains or machines.</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refers to physical separation; a layer is about logical separation.</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27117102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56AA22-718B-48EE-BC0B-389C35895DB4}"/>
              </a:ext>
            </a:extLst>
          </p:cNvPr>
          <p:cNvSpPr/>
          <p:nvPr/>
        </p:nvSpPr>
        <p:spPr>
          <a:xfrm>
            <a:off x="335360" y="1382287"/>
            <a:ext cx="11449272" cy="2616101"/>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Why do we need databases (Use Case)?</a:t>
            </a:r>
          </a:p>
          <a:p>
            <a:endParaRPr lang="en-US" sz="2000" dirty="0">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We </a:t>
            </a:r>
            <a:r>
              <a:rPr lang="en-US" sz="2000" b="1" dirty="0">
                <a:solidFill>
                  <a:srgbClr val="222222"/>
                </a:solidFill>
                <a:latin typeface="Arial" panose="020B0604020202020204" pitchFamily="34" charset="0"/>
                <a:cs typeface="Arial" panose="020B0604020202020204" pitchFamily="34" charset="0"/>
              </a:rPr>
              <a:t>need databases</a:t>
            </a:r>
            <a:r>
              <a:rPr lang="en-US" sz="2000" dirty="0">
                <a:solidFill>
                  <a:srgbClr val="222222"/>
                </a:solidFill>
                <a:latin typeface="Arial" panose="020B0604020202020204" pitchFamily="34" charset="0"/>
                <a:cs typeface="Arial" panose="020B0604020202020204" pitchFamily="34" charset="0"/>
              </a:rPr>
              <a:t> because they organize data in a manner which allows us to </a:t>
            </a:r>
            <a:r>
              <a:rPr lang="en-US" sz="2000" dirty="0">
                <a:solidFill>
                  <a:srgbClr val="006C86"/>
                </a:solidFill>
                <a:latin typeface="Arial" panose="020B0604020202020204" pitchFamily="34" charset="0"/>
                <a:cs typeface="Arial" panose="020B0604020202020204" pitchFamily="34" charset="0"/>
              </a:rPr>
              <a:t>store</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query</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sort</a:t>
            </a:r>
            <a:r>
              <a:rPr lang="en-US" sz="2000" dirty="0">
                <a:solidFill>
                  <a:srgbClr val="222222"/>
                </a:solidFill>
                <a:latin typeface="Arial" panose="020B0604020202020204" pitchFamily="34" charset="0"/>
                <a:cs typeface="Arial" panose="020B0604020202020204" pitchFamily="34" charset="0"/>
              </a:rPr>
              <a:t>, and </a:t>
            </a:r>
            <a:r>
              <a:rPr lang="en-US" sz="2000" dirty="0">
                <a:solidFill>
                  <a:srgbClr val="006C86"/>
                </a:solidFill>
                <a:latin typeface="Arial" panose="020B0604020202020204" pitchFamily="34" charset="0"/>
                <a:cs typeface="Arial" panose="020B0604020202020204" pitchFamily="34" charset="0"/>
              </a:rPr>
              <a:t>manipulate</a:t>
            </a:r>
            <a:r>
              <a:rPr lang="en-US" sz="2000" dirty="0">
                <a:solidFill>
                  <a:srgbClr val="222222"/>
                </a:solidFill>
                <a:latin typeface="Arial" panose="020B0604020202020204" pitchFamily="34" charset="0"/>
                <a:cs typeface="Arial" panose="020B0604020202020204" pitchFamily="34" charset="0"/>
              </a:rPr>
              <a:t> data in various ways.</a:t>
            </a:r>
            <a:r>
              <a:rPr lang="en-US" sz="2000" dirty="0">
                <a:solidFill>
                  <a:srgbClr val="006C86"/>
                </a:solidFill>
                <a:latin typeface="Arial" panose="020B0604020202020204" pitchFamily="34" charset="0"/>
                <a:cs typeface="Arial" panose="020B0604020202020204" pitchFamily="34" charset="0"/>
              </a:rPr>
              <a:t> </a:t>
            </a:r>
            <a:r>
              <a:rPr lang="en-US" sz="2000" dirty="0">
                <a:solidFill>
                  <a:srgbClr val="C74C49"/>
                </a:solidFill>
                <a:latin typeface="Arial" panose="020B0604020202020204" pitchFamily="34" charset="0"/>
                <a:cs typeface="Arial" panose="020B0604020202020204" pitchFamily="34" charset="0"/>
              </a:rPr>
              <a:t>Databases  allow us to do all this things.</a:t>
            </a:r>
          </a:p>
          <a:p>
            <a:endParaRPr lang="en-US" sz="2000" dirty="0">
              <a:solidFill>
                <a:srgbClr val="222222"/>
              </a:solidFill>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Many companies collects data from different resource (like Weather data, Geographical data, Finance data, Scientific data, Transport data, Cultural data (</a:t>
            </a:r>
            <a:r>
              <a:rPr lang="en-US" sz="2000" dirty="0">
                <a:solidFill>
                  <a:srgbClr val="202124"/>
                </a:solidFill>
                <a:latin typeface="Arial" panose="020B0604020202020204" pitchFamily="34" charset="0"/>
                <a:cs typeface="Arial" panose="020B0604020202020204" pitchFamily="34" charset="0"/>
              </a:rPr>
              <a:t>the ideas, customs, and social behaviour of a particular people or society</a:t>
            </a:r>
            <a:r>
              <a:rPr lang="en-US" sz="2000" dirty="0">
                <a:solidFill>
                  <a:srgbClr val="222222"/>
                </a:solidFill>
                <a:latin typeface="Arial" panose="020B0604020202020204" pitchFamily="34" charset="0"/>
                <a:cs typeface="Arial" panose="020B0604020202020204" pitchFamily="34" charset="0"/>
              </a:rPr>
              <a:t>), etc.)</a:t>
            </a:r>
            <a:endParaRPr lang="en-US" sz="2000" dirty="0">
              <a:latin typeface="Arial" panose="020B0604020202020204" pitchFamily="34" charset="0"/>
              <a:cs typeface="Arial" panose="020B0604020202020204" pitchFamily="34" charset="0"/>
            </a:endParaRPr>
          </a:p>
        </p:txBody>
      </p:sp>
      <p:sp>
        <p:nvSpPr>
          <p:cNvPr id="4" name="Title 1">
            <a:extLst>
              <a:ext uri="{FF2B5EF4-FFF2-40B4-BE49-F238E27FC236}">
                <a16:creationId xmlns:a16="http://schemas.microsoft.com/office/drawing/2014/main" id="{CB338E01-6A4B-470B-891B-450FBF1E1147}"/>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06210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99BBE88-11C7-789B-509E-EBB165F4329A}"/>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role of database engineer</a:t>
            </a:r>
          </a:p>
        </p:txBody>
      </p:sp>
      <p:sp>
        <p:nvSpPr>
          <p:cNvPr id="7" name="TextBox 6">
            <a:extLst>
              <a:ext uri="{FF2B5EF4-FFF2-40B4-BE49-F238E27FC236}">
                <a16:creationId xmlns:a16="http://schemas.microsoft.com/office/drawing/2014/main" id="{04E0FB62-5737-B6BE-D0ED-ED210D0E0B11}"/>
              </a:ext>
            </a:extLst>
          </p:cNvPr>
          <p:cNvSpPr txBox="1"/>
          <p:nvPr/>
        </p:nvSpPr>
        <p:spPr>
          <a:xfrm>
            <a:off x="263352" y="977600"/>
            <a:ext cx="11593288" cy="504368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also known as software application developer or computer </a:t>
            </a:r>
            <a:r>
              <a:rPr lang="en-US" b="0" i="0" dirty="0">
                <a:effectLst/>
                <a:latin typeface="Arial" panose="020B0604020202020204" pitchFamily="34" charset="0"/>
                <a:cs typeface="Arial" panose="020B0604020202020204" pitchFamily="34" charset="0"/>
              </a:rPr>
              <a:t>software engineer</a:t>
            </a:r>
            <a:r>
              <a:rPr lang="en-US" b="0" i="0" dirty="0">
                <a:solidFill>
                  <a:srgbClr val="273239"/>
                </a:solidFill>
                <a:effectLst/>
                <a:latin typeface="Arial" panose="020B0604020202020204" pitchFamily="34" charset="0"/>
                <a:cs typeface="Arial" panose="020B0604020202020204" pitchFamily="34" charset="0"/>
              </a:rPr>
              <a:t>.</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responsible for developing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handles the physical and logical models of a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identifies and handles the errors in a database system.</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creates the logical Design of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Engineers are not concerned much with the end users.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designs the database system to cater to the needs of the users.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guides the Database Administrator for the effective management of the databases.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Responsible for designing, developing, and testing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Implements new database features and upgrades.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Collaborates with other teams to integrate database with other applications and systems.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Works with developers to ensure database design meets application requirements.</a:t>
            </a:r>
          </a:p>
        </p:txBody>
      </p:sp>
    </p:spTree>
    <p:extLst>
      <p:ext uri="{BB962C8B-B14F-4D97-AF65-F5344CB8AC3E}">
        <p14:creationId xmlns:p14="http://schemas.microsoft.com/office/powerpoint/2010/main" val="9195838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E9D341-54A5-4EC9-9716-C5E492FD3BF4}"/>
              </a:ext>
            </a:extLst>
          </p:cNvPr>
          <p:cNvSpPr/>
          <p:nvPr/>
        </p:nvSpPr>
        <p:spPr>
          <a:xfrm>
            <a:off x="407368" y="1382286"/>
            <a:ext cx="11233248" cy="2482154"/>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4 Important Roles of Database in Industry.</a:t>
            </a:r>
          </a:p>
          <a:p>
            <a:endParaRPr lang="en-US" sz="1500" dirty="0">
              <a:latin typeface="Arial" panose="020B0604020202020204" pitchFamily="34" charset="0"/>
              <a:cs typeface="Arial" panose="020B0604020202020204" pitchFamily="34" charset="0"/>
            </a:endParaRP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for data access within the company.</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to maintain strong relationships between data.</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This system allows newer(latest) and better updates.</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helps to search data in a better manner.</a:t>
            </a:r>
          </a:p>
        </p:txBody>
      </p:sp>
      <p:sp>
        <p:nvSpPr>
          <p:cNvPr id="4" name="Title 1">
            <a:extLst>
              <a:ext uri="{FF2B5EF4-FFF2-40B4-BE49-F238E27FC236}">
                <a16:creationId xmlns:a16="http://schemas.microsoft.com/office/drawing/2014/main" id="{04E72E37-85DF-4E4D-BC22-7EC8EE7856D0}"/>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1148159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057400"/>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Relation and Relationship?</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B854859D-AA44-96A7-43C0-53A64C39D046}"/>
              </a:ext>
            </a:extLst>
          </p:cNvPr>
          <p:cNvSpPr/>
          <p:nvPr/>
        </p:nvSpPr>
        <p:spPr>
          <a:xfrm>
            <a:off x="223458" y="4149080"/>
            <a:ext cx="11705190"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reference</a:t>
            </a:r>
            <a:r>
              <a:rPr lang="en-IN" dirty="0"/>
              <a:t> is a relationship between two tables where the values in one table refer to the values in another table. </a:t>
            </a:r>
            <a:r>
              <a:rPr lang="en-US" dirty="0"/>
              <a:t>This is usually enforced using a </a:t>
            </a:r>
            <a:r>
              <a:rPr lang="en-US" b="1" i="1" dirty="0"/>
              <a:t>foreign key </a:t>
            </a:r>
            <a:r>
              <a:rPr lang="en-US" dirty="0"/>
              <a:t>constraint to maintain referential integrity.</a:t>
            </a:r>
          </a:p>
          <a:p>
            <a:pPr marL="177800" indent="-177800">
              <a:buFont typeface="Arial" panose="020B0604020202020204" pitchFamily="34" charset="0"/>
              <a:buChar char="•"/>
            </a:pPr>
            <a:endParaRPr lang="en-US" sz="400" dirty="0"/>
          </a:p>
          <a:p>
            <a:pPr marL="622300" indent="-342900">
              <a:buFont typeface="+mj-lt"/>
              <a:buAutoNum type="alphaLcParenR"/>
            </a:pPr>
            <a:r>
              <a:rPr lang="en-US" b="1" i="1" dirty="0"/>
              <a:t>The referencing column is called the Foreign Key.</a:t>
            </a:r>
          </a:p>
          <a:p>
            <a:pPr marL="622300" indent="-342900">
              <a:buFont typeface="+mj-lt"/>
              <a:buAutoNum type="alphaLcParenR"/>
            </a:pPr>
            <a:r>
              <a:rPr lang="en-US" b="1" i="1" dirty="0"/>
              <a:t>The referenced column is usually the Primary Key of the parent table.</a:t>
            </a:r>
            <a:endParaRPr lang="en-IN" b="1" i="1" dirty="0"/>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referential key </a:t>
            </a:r>
            <a:r>
              <a:rPr lang="en-IN" dirty="0"/>
              <a:t>is a column or set of columns in a table that refers to the </a:t>
            </a:r>
            <a:r>
              <a:rPr lang="en-IN" b="1" i="1" dirty="0"/>
              <a:t>primary key </a:t>
            </a:r>
            <a:r>
              <a:rPr lang="en-IN" dirty="0"/>
              <a:t>of another table. It establishes a relationship between two tables, where one table is called the parent table, and the other is called the child table.</a:t>
            </a:r>
          </a:p>
        </p:txBody>
      </p:sp>
      <p:sp>
        <p:nvSpPr>
          <p:cNvPr id="3" name="TextBox 3">
            <a:extLst>
              <a:ext uri="{FF2B5EF4-FFF2-40B4-BE49-F238E27FC236}">
                <a16:creationId xmlns:a16="http://schemas.microsoft.com/office/drawing/2014/main" id="{DCEB2FA9-4076-1CDD-C222-8F00D31DCA31}"/>
              </a:ext>
            </a:extLst>
          </p:cNvPr>
          <p:cNvSpPr txBox="1"/>
          <p:nvPr/>
        </p:nvSpPr>
        <p:spPr>
          <a:xfrm>
            <a:off x="279409" y="332656"/>
            <a:ext cx="11593288" cy="1477328"/>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b="1" dirty="0">
                <a:latin typeface="Gill Sans MT (Body)"/>
              </a:rPr>
              <a:t>A foreign key constraint is also known as a </a:t>
            </a:r>
            <a:r>
              <a:rPr lang="en-IN" b="1" dirty="0">
                <a:solidFill>
                  <a:srgbClr val="006C86"/>
                </a:solidFill>
                <a:latin typeface="Gill Sans MT (Body)"/>
                <a:cs typeface="Arial" panose="020B0604020202020204" pitchFamily="34" charset="0"/>
              </a:rPr>
              <a:t>referential constraint </a:t>
            </a:r>
            <a:r>
              <a:rPr lang="en-IN" b="1" dirty="0">
                <a:latin typeface="Gill Sans MT (Body)"/>
              </a:rPr>
              <a:t>or </a:t>
            </a:r>
            <a:r>
              <a:rPr lang="en-IN" b="1" dirty="0">
                <a:solidFill>
                  <a:srgbClr val="006C86"/>
                </a:solidFill>
                <a:latin typeface="Gill Sans MT (Body)"/>
                <a:cs typeface="Arial" panose="020B0604020202020204" pitchFamily="34" charset="0"/>
              </a:rPr>
              <a:t>referential integrity constraint</a:t>
            </a:r>
            <a:r>
              <a:rPr lang="en-IN" dirty="0">
                <a:latin typeface="Gill Sans MT (Body)"/>
              </a:rPr>
              <a:t>. </a:t>
            </a:r>
          </a:p>
          <a:p>
            <a:pPr marL="285750" indent="-285750">
              <a:buFont typeface="Arial" panose="020B0604020202020204" pitchFamily="34" charset="0"/>
              <a:buChar char="•"/>
            </a:pPr>
            <a:r>
              <a:rPr lang="en-IN" dirty="0">
                <a:latin typeface="Gill Sans MT (Body)"/>
              </a:rPr>
              <a:t>A foreign key is a column or group of columns in a relational database table that establishes a link between data in two tables. </a:t>
            </a:r>
          </a:p>
          <a:p>
            <a:pPr marL="285750" indent="-285750">
              <a:buFont typeface="Arial" panose="020B0604020202020204" pitchFamily="34" charset="0"/>
              <a:buChar char="•"/>
            </a:pPr>
            <a:r>
              <a:rPr lang="en-IN" dirty="0">
                <a:latin typeface="Gill Sans MT (Body)"/>
              </a:rPr>
              <a:t>It references a </a:t>
            </a:r>
            <a:r>
              <a:rPr lang="en-IN" b="1" i="1" dirty="0">
                <a:latin typeface="Gill Sans MT (Body)"/>
              </a:rPr>
              <a:t>primary key </a:t>
            </a:r>
            <a:r>
              <a:rPr lang="en-IN" dirty="0">
                <a:latin typeface="Gill Sans MT (Body)"/>
              </a:rPr>
              <a:t>in another table and can </a:t>
            </a:r>
            <a:r>
              <a:rPr lang="en-IN" b="1" dirty="0">
                <a:latin typeface="Gill Sans MT (Body)"/>
              </a:rPr>
              <a:t>cascade changes </a:t>
            </a:r>
            <a:r>
              <a:rPr lang="en-IN" dirty="0">
                <a:latin typeface="Gill Sans MT (Body)"/>
              </a:rPr>
              <a:t>or </a:t>
            </a:r>
            <a:r>
              <a:rPr lang="en-IN" b="1" dirty="0">
                <a:latin typeface="Gill Sans MT (Body)"/>
              </a:rPr>
              <a:t>delete</a:t>
            </a:r>
            <a:r>
              <a:rPr lang="en-IN" dirty="0">
                <a:latin typeface="Gill Sans MT (Body)"/>
              </a:rPr>
              <a:t> related data if the </a:t>
            </a:r>
            <a:r>
              <a:rPr lang="en-IN" b="1" i="1" dirty="0">
                <a:latin typeface="Gill Sans MT (Body)"/>
              </a:rPr>
              <a:t>primary key is updated or deleted. </a:t>
            </a:r>
          </a:p>
        </p:txBody>
      </p:sp>
      <p:sp>
        <p:nvSpPr>
          <p:cNvPr id="4" name="TextBox 5">
            <a:extLst>
              <a:ext uri="{FF2B5EF4-FFF2-40B4-BE49-F238E27FC236}">
                <a16:creationId xmlns:a16="http://schemas.microsoft.com/office/drawing/2014/main" id="{6FE845AF-BE05-6C69-A6C8-DB3987C7F85B}"/>
              </a:ext>
            </a:extLst>
          </p:cNvPr>
          <p:cNvSpPr txBox="1"/>
          <p:nvPr/>
        </p:nvSpPr>
        <p:spPr>
          <a:xfrm>
            <a:off x="4429843" y="3676962"/>
            <a:ext cx="3250334"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000" b="1" i="1" dirty="0"/>
              <a:t>Reference / Referential key </a:t>
            </a:r>
            <a:endParaRPr lang="en-IN" sz="2000" dirty="0"/>
          </a:p>
        </p:txBody>
      </p:sp>
    </p:spTree>
    <p:extLst>
      <p:ext uri="{BB962C8B-B14F-4D97-AF65-F5344CB8AC3E}">
        <p14:creationId xmlns:p14="http://schemas.microsoft.com/office/powerpoint/2010/main" val="2612254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5B43ABC-45AF-80AF-11AD-8C4FF7629A19}"/>
              </a:ext>
            </a:extLst>
          </p:cNvPr>
          <p:cNvSpPr txBox="1"/>
          <p:nvPr/>
        </p:nvSpPr>
        <p:spPr>
          <a:xfrm>
            <a:off x="407368" y="836712"/>
            <a:ext cx="11449272" cy="1154162"/>
          </a:xfrm>
          <a:prstGeom prst="rect">
            <a:avLst/>
          </a:prstGeom>
          <a:noFill/>
        </p:spPr>
        <p:txBody>
          <a:bodyPr wrap="square">
            <a:spAutoFit/>
          </a:bodyPr>
          <a:lstStyle/>
          <a:p>
            <a:r>
              <a:rPr lang="en-IN" sz="2000" b="1" dirty="0">
                <a:latin typeface="Gill Sans MT (Body)"/>
              </a:rPr>
              <a:t>To understand the difference is to think as</a:t>
            </a:r>
          </a:p>
          <a:p>
            <a:endParaRPr lang="en-IN" sz="900" dirty="0">
              <a:latin typeface="Gill Sans MT (Body)"/>
            </a:endParaRPr>
          </a:p>
          <a:p>
            <a:pPr marL="342900" indent="-342900">
              <a:buFont typeface="+mj-lt"/>
              <a:buAutoNum type="arabicPeriod"/>
            </a:pPr>
            <a:r>
              <a:rPr lang="en-IN" sz="2000" b="1" i="1" dirty="0">
                <a:solidFill>
                  <a:srgbClr val="7D2170"/>
                </a:solidFill>
                <a:latin typeface="Gill Sans MT (Body)"/>
              </a:rPr>
              <a:t>“reference” </a:t>
            </a:r>
            <a:r>
              <a:rPr lang="en-IN" sz="2000" dirty="0">
                <a:latin typeface="Gill Sans MT (Body)"/>
              </a:rPr>
              <a:t>as the relationship and </a:t>
            </a:r>
          </a:p>
          <a:p>
            <a:pPr marL="342900" indent="-342900">
              <a:buFont typeface="+mj-lt"/>
              <a:buAutoNum type="arabicPeriod"/>
            </a:pPr>
            <a:r>
              <a:rPr lang="en-IN" sz="2000" b="1" i="1" dirty="0">
                <a:solidFill>
                  <a:srgbClr val="7D2170"/>
                </a:solidFill>
                <a:latin typeface="Gill Sans MT (Body)"/>
              </a:rPr>
              <a:t>“referential key” </a:t>
            </a:r>
            <a:r>
              <a:rPr lang="en-IN" sz="2000" dirty="0">
                <a:latin typeface="Gill Sans MT (Body)"/>
              </a:rPr>
              <a:t>as the key used to create that relationship.</a:t>
            </a:r>
          </a:p>
        </p:txBody>
      </p:sp>
      <p:sp>
        <p:nvSpPr>
          <p:cNvPr id="5" name="Rectangle 4">
            <a:extLst>
              <a:ext uri="{FF2B5EF4-FFF2-40B4-BE49-F238E27FC236}">
                <a16:creationId xmlns:a16="http://schemas.microsoft.com/office/drawing/2014/main" id="{B41BAFB0-76C1-BE6F-A7EE-2A2BDB621278}"/>
              </a:ext>
            </a:extLst>
          </p:cNvPr>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reference / referential key </a:t>
            </a:r>
          </a:p>
        </p:txBody>
      </p:sp>
      <p:sp>
        <p:nvSpPr>
          <p:cNvPr id="7" name="TextBox 6">
            <a:extLst>
              <a:ext uri="{FF2B5EF4-FFF2-40B4-BE49-F238E27FC236}">
                <a16:creationId xmlns:a16="http://schemas.microsoft.com/office/drawing/2014/main" id="{178A282C-09BB-C344-100E-A1B6D9C238C4}"/>
              </a:ext>
            </a:extLst>
          </p:cNvPr>
          <p:cNvSpPr txBox="1"/>
          <p:nvPr/>
        </p:nvSpPr>
        <p:spPr>
          <a:xfrm>
            <a:off x="119336" y="2564904"/>
            <a:ext cx="6408712" cy="4154984"/>
          </a:xfrm>
          <a:prstGeom prst="rect">
            <a:avLst/>
          </a:prstGeom>
          <a:noFill/>
        </p:spPr>
        <p:txBody>
          <a:bodyPr wrap="square">
            <a:spAutoFit/>
          </a:bodyPr>
          <a:lstStyle/>
          <a:p>
            <a:r>
              <a:rPr lang="en-IN" sz="2000" dirty="0"/>
              <a:t>                             </a:t>
            </a:r>
            <a:r>
              <a:rPr lang="en-IN" sz="2000" b="1" dirty="0"/>
              <a:t>REFERENCE</a:t>
            </a:r>
          </a:p>
          <a:p>
            <a:r>
              <a:rPr lang="en-IN" sz="2000" dirty="0"/>
              <a:t>                      </a:t>
            </a:r>
            <a:r>
              <a:rPr lang="en-IN" sz="2000" b="1" dirty="0"/>
              <a:t>"Connection / pointing"</a:t>
            </a:r>
          </a:p>
          <a:p>
            <a:r>
              <a:rPr lang="en-IN" sz="2000" dirty="0"/>
              <a:t>                                     │</a:t>
            </a:r>
          </a:p>
          <a:p>
            <a:r>
              <a:rPr lang="en-IN" sz="2000" dirty="0"/>
              <a:t>                                      ↓</a:t>
            </a:r>
          </a:p>
          <a:p>
            <a:r>
              <a:rPr lang="en-IN" sz="2000" dirty="0"/>
              <a:t>EMPLOYEE </a:t>
            </a:r>
            <a:r>
              <a:rPr lang="en-IN" sz="2400" dirty="0">
                <a:solidFill>
                  <a:srgbClr val="FF0000"/>
                </a:solidFill>
              </a:rPr>
              <a:t>─────────────→</a:t>
            </a:r>
            <a:r>
              <a:rPr lang="en-IN" sz="2000" dirty="0"/>
              <a:t> DEPARTMENT</a:t>
            </a:r>
          </a:p>
          <a:p>
            <a:r>
              <a:rPr lang="en-IN" sz="2000" dirty="0"/>
              <a:t>      </a:t>
            </a:r>
            <a:r>
              <a:rPr lang="en-IN" sz="2000" dirty="0">
                <a:solidFill>
                  <a:srgbClr val="FF0000"/>
                </a:solidFill>
              </a:rPr>
              <a:t>│                                                              │</a:t>
            </a:r>
          </a:p>
          <a:p>
            <a:r>
              <a:rPr lang="en-IN" sz="2000" dirty="0">
                <a:solidFill>
                  <a:srgbClr val="FF0000"/>
                </a:solidFill>
              </a:rPr>
              <a:t>      │                                                              │</a:t>
            </a:r>
          </a:p>
          <a:p>
            <a:r>
              <a:rPr lang="en-IN" sz="2000" dirty="0">
                <a:solidFill>
                  <a:srgbClr val="FF0000"/>
                </a:solidFill>
              </a:rPr>
              <a:t>       ↓                                                                ↓</a:t>
            </a:r>
          </a:p>
          <a:p>
            <a:r>
              <a:rPr lang="en-IN" sz="2000" dirty="0"/>
              <a:t>  </a:t>
            </a:r>
            <a:r>
              <a:rPr lang="en-IN" sz="2000" b="1" i="1" dirty="0">
                <a:solidFill>
                  <a:srgbClr val="B212AA"/>
                </a:solidFill>
              </a:rPr>
              <a:t>Foreign Key</a:t>
            </a:r>
            <a:r>
              <a:rPr lang="en-IN" sz="2000" dirty="0"/>
              <a:t>                                           Referenced Key</a:t>
            </a:r>
          </a:p>
          <a:p>
            <a:r>
              <a:rPr lang="en-IN" sz="2000" dirty="0"/>
              <a:t>department_id                                          department_id</a:t>
            </a:r>
          </a:p>
          <a:p>
            <a:r>
              <a:rPr lang="en-IN" sz="2000" dirty="0"/>
              <a:t>                                                                        </a:t>
            </a:r>
            <a:r>
              <a:rPr lang="en-IN" sz="2000" dirty="0">
                <a:solidFill>
                  <a:srgbClr val="FF0000"/>
                </a:solidFill>
              </a:rPr>
              <a:t>│</a:t>
            </a:r>
          </a:p>
          <a:p>
            <a:r>
              <a:rPr lang="en-IN" sz="2000">
                <a:solidFill>
                  <a:srgbClr val="FF0000"/>
                </a:solidFill>
              </a:rPr>
              <a:t>                                                                         </a:t>
            </a:r>
            <a:r>
              <a:rPr lang="en-IN" sz="2000" dirty="0">
                <a:solidFill>
                  <a:srgbClr val="FF0000"/>
                </a:solidFill>
              </a:rPr>
              <a:t>↓</a:t>
            </a:r>
          </a:p>
          <a:p>
            <a:r>
              <a:rPr lang="en-IN" sz="2000" dirty="0"/>
              <a:t>                                                                 </a:t>
            </a:r>
            <a:r>
              <a:rPr lang="en-IN" sz="2000" b="1" i="1" dirty="0">
                <a:solidFill>
                  <a:srgbClr val="B212AA"/>
                </a:solidFill>
              </a:rPr>
              <a:t>Primary</a:t>
            </a:r>
            <a:r>
              <a:rPr lang="en-IN" sz="2000" dirty="0"/>
              <a:t> </a:t>
            </a:r>
            <a:r>
              <a:rPr lang="en-IN" sz="2000" b="1" i="1" dirty="0">
                <a:solidFill>
                  <a:srgbClr val="B212AA"/>
                </a:solidFill>
              </a:rPr>
              <a:t>Key</a:t>
            </a:r>
            <a:r>
              <a:rPr lang="en-IN" sz="2000" dirty="0"/>
              <a:t>   </a:t>
            </a:r>
          </a:p>
        </p:txBody>
      </p:sp>
      <p:sp>
        <p:nvSpPr>
          <p:cNvPr id="4" name="TextBox 3">
            <a:extLst>
              <a:ext uri="{FF2B5EF4-FFF2-40B4-BE49-F238E27FC236}">
                <a16:creationId xmlns:a16="http://schemas.microsoft.com/office/drawing/2014/main" id="{250CD23E-B567-C687-1381-12108EC4C3A0}"/>
              </a:ext>
            </a:extLst>
          </p:cNvPr>
          <p:cNvSpPr txBox="1"/>
          <p:nvPr/>
        </p:nvSpPr>
        <p:spPr>
          <a:xfrm>
            <a:off x="8112224" y="4543960"/>
            <a:ext cx="2903046" cy="1477328"/>
          </a:xfrm>
          <a:prstGeom prst="rect">
            <a:avLst/>
          </a:prstGeom>
          <a:noFill/>
        </p:spPr>
        <p:txBody>
          <a:bodyPr wrap="square">
            <a:spAutoFit/>
          </a:bodyPr>
          <a:lstStyle/>
          <a:p>
            <a:r>
              <a:rPr lang="en-IN" b="1" i="1" dirty="0"/>
              <a:t>employee</a:t>
            </a:r>
            <a:r>
              <a:rPr lang="en-IN" dirty="0"/>
              <a:t>.department_id</a:t>
            </a:r>
          </a:p>
          <a:p>
            <a:r>
              <a:rPr lang="en-IN" dirty="0"/>
              <a:t>              │</a:t>
            </a:r>
          </a:p>
          <a:p>
            <a:r>
              <a:rPr lang="en-IN" dirty="0"/>
              <a:t>              │ </a:t>
            </a:r>
            <a:r>
              <a:rPr lang="en-IN" b="1" i="1" dirty="0"/>
              <a:t>REFERENCES</a:t>
            </a:r>
          </a:p>
          <a:p>
            <a:r>
              <a:rPr lang="en-IN" dirty="0"/>
              <a:t>               ↓</a:t>
            </a:r>
          </a:p>
          <a:p>
            <a:r>
              <a:rPr lang="en-IN" b="1" i="1" dirty="0"/>
              <a:t>department</a:t>
            </a:r>
            <a:r>
              <a:rPr lang="en-IN" dirty="0"/>
              <a:t>.department_id</a:t>
            </a:r>
          </a:p>
        </p:txBody>
      </p:sp>
    </p:spTree>
    <p:extLst>
      <p:ext uri="{BB962C8B-B14F-4D97-AF65-F5344CB8AC3E}">
        <p14:creationId xmlns:p14="http://schemas.microsoft.com/office/powerpoint/2010/main" val="27548465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C70CCFD-3886-15EB-7B14-5A1CCEE6E28C}"/>
              </a:ext>
            </a:extLst>
          </p:cNvPr>
          <p:cNvPicPr>
            <a:picLocks noChangeAspect="1"/>
          </p:cNvPicPr>
          <p:nvPr/>
        </p:nvPicPr>
        <p:blipFill>
          <a:blip r:embed="rId2"/>
          <a:stretch>
            <a:fillRect/>
          </a:stretch>
        </p:blipFill>
        <p:spPr>
          <a:xfrm>
            <a:off x="6755188" y="3156532"/>
            <a:ext cx="5318381" cy="2492990"/>
          </a:xfrm>
          <a:prstGeom prst="rect">
            <a:avLst/>
          </a:prstGeom>
        </p:spPr>
      </p:pic>
      <p:sp>
        <p:nvSpPr>
          <p:cNvPr id="4" name="Rectangle 3"/>
          <p:cNvSpPr/>
          <p:nvPr/>
        </p:nvSpPr>
        <p:spPr>
          <a:xfrm>
            <a:off x="223458" y="476672"/>
            <a:ext cx="11745084" cy="1815882"/>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a:t>
            </a:r>
            <a:r>
              <a:rPr lang="en-IN" sz="2800" b="1" dirty="0">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(in Relational Algebra </a:t>
            </a:r>
            <a:r>
              <a:rPr lang="en-IN" sz="2000" i="1" dirty="0">
                <a:solidFill>
                  <a:srgbClr val="FF0000"/>
                </a:solidFill>
                <a:latin typeface="Arial" panose="020B0604020202020204" pitchFamily="34" charset="0"/>
                <a:cs typeface="Arial" panose="020B0604020202020204" pitchFamily="34" charset="0"/>
              </a:rPr>
              <a:t>"</a:t>
            </a:r>
            <a:r>
              <a:rPr lang="en-IN" sz="2000" b="1" i="1" dirty="0">
                <a:solidFill>
                  <a:srgbClr val="FF0000"/>
                </a:solidFill>
                <a:latin typeface="Arial" panose="020B0604020202020204" pitchFamily="34" charset="0"/>
                <a:cs typeface="Arial" panose="020B0604020202020204" pitchFamily="34" charset="0"/>
              </a:rPr>
              <a:t>R</a:t>
            </a:r>
            <a:r>
              <a:rPr lang="en-IN" sz="2000" i="1" dirty="0">
                <a:solidFill>
                  <a:srgbClr val="FF0000"/>
                </a:solidFill>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stands for relation)</a:t>
            </a:r>
            <a:r>
              <a:rPr lang="en-IN" sz="2800" b="1" dirty="0">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In Database, </a:t>
            </a:r>
          </a:p>
          <a:p>
            <a:pPr marL="342900" indent="-342900">
              <a:buFont typeface="Arial" panose="020B0604020202020204" pitchFamily="34" charset="0"/>
              <a:buChar char="•"/>
            </a:pPr>
            <a:r>
              <a:rPr lang="en-IN" sz="2000" dirty="0">
                <a:latin typeface="Arial" panose="020B0604020202020204" pitchFamily="34" charset="0"/>
                <a:cs typeface="Arial" panose="020B0604020202020204" pitchFamily="34" charset="0"/>
              </a:rPr>
              <a:t>a relation represents a </a:t>
            </a:r>
            <a:r>
              <a:rPr lang="en-IN" sz="2400" b="1" dirty="0">
                <a:solidFill>
                  <a:srgbClr val="C00000"/>
                </a:solidFill>
                <a:latin typeface="Arial" panose="020B0604020202020204" pitchFamily="34" charset="0"/>
                <a:cs typeface="Arial" panose="020B0604020202020204" pitchFamily="34" charset="0"/>
              </a:rPr>
              <a:t>table</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or an </a:t>
            </a:r>
            <a:r>
              <a:rPr lang="en-IN" sz="2400" b="1" dirty="0">
                <a:solidFill>
                  <a:srgbClr val="C00000"/>
                </a:solidFill>
                <a:latin typeface="Arial" panose="020B0604020202020204" pitchFamily="34" charset="0"/>
                <a:cs typeface="Arial" panose="020B0604020202020204" pitchFamily="34" charset="0"/>
              </a:rPr>
              <a:t>entity</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than contain attributes. </a:t>
            </a:r>
          </a:p>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In Relational Algebra, a relation is a table with rows and columns, just like in a RDBMS. </a:t>
            </a:r>
          </a:p>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It represents a set of tuples (records) that share the same structure. Relation is a Logical Instantiation</a:t>
            </a:r>
            <a:r>
              <a:rPr lang="en-US" sz="2000" dirty="0">
                <a:solidFill>
                  <a:schemeClr val="tx1">
                    <a:lumMod val="85000"/>
                    <a:lumOff val="15000"/>
                  </a:schemeClr>
                </a:solidFill>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Model of a TABLE.</a:t>
            </a:r>
            <a:endParaRPr lang="en-IN" sz="2000" dirty="0">
              <a:latin typeface="Arial" panose="020B0604020202020204" pitchFamily="34" charset="0"/>
              <a:cs typeface="Arial" panose="020B0604020202020204" pitchFamily="34" charset="0"/>
            </a:endParaRPr>
          </a:p>
        </p:txBody>
      </p:sp>
      <p:sp>
        <p:nvSpPr>
          <p:cNvPr id="5" name="Rectangle 4"/>
          <p:cNvSpPr/>
          <p:nvPr/>
        </p:nvSpPr>
        <p:spPr>
          <a:xfrm>
            <a:off x="223458" y="2353725"/>
            <a:ext cx="11745084" cy="830997"/>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Relationship:</a:t>
            </a:r>
            <a:r>
              <a:rPr lang="en-IN" sz="2800" b="1" dirty="0">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In database, relationship is that how the two entities are </a:t>
            </a:r>
            <a:r>
              <a:rPr lang="en-IN" sz="2400" b="1" dirty="0">
                <a:solidFill>
                  <a:srgbClr val="0070C0"/>
                </a:solidFill>
                <a:latin typeface="Arial" panose="020B0604020202020204" pitchFamily="34" charset="0"/>
                <a:cs typeface="Arial" panose="020B0604020202020204" pitchFamily="34" charset="0"/>
              </a:rPr>
              <a:t>connected</a:t>
            </a:r>
            <a:r>
              <a:rPr lang="en-IN" sz="2400" dirty="0">
                <a:solidFill>
                  <a:srgbClr val="0070C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to each other, i.e. what kind of </a:t>
            </a:r>
            <a:r>
              <a:rPr lang="en-IN" sz="2000" b="1" i="1" dirty="0">
                <a:latin typeface="Arial" panose="020B0604020202020204" pitchFamily="34" charset="0"/>
                <a:cs typeface="Arial" panose="020B0604020202020204" pitchFamily="34" charset="0"/>
              </a:rPr>
              <a:t>relationship type </a:t>
            </a:r>
            <a:r>
              <a:rPr lang="en-IN" sz="2000" dirty="0">
                <a:latin typeface="Arial" panose="020B0604020202020204" pitchFamily="34" charset="0"/>
                <a:cs typeface="Arial" panose="020B0604020202020204" pitchFamily="34" charset="0"/>
              </a:rPr>
              <a:t>they hold between them. </a:t>
            </a:r>
          </a:p>
        </p:txBody>
      </p:sp>
      <p:sp>
        <p:nvSpPr>
          <p:cNvPr id="6" name="Rectangle 5"/>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 and relationship?</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223458" y="3407595"/>
            <a:ext cx="5440494" cy="707886"/>
          </a:xfrm>
          <a:prstGeom prst="rect">
            <a:avLst/>
          </a:prstGeom>
          <a:noFill/>
        </p:spPr>
        <p:txBody>
          <a:bodyPr wrap="square">
            <a:spAutoFit/>
          </a:bodyPr>
          <a:lstStyle/>
          <a:p>
            <a:r>
              <a:rPr lang="en-IN" sz="2000" b="1" dirty="0">
                <a:solidFill>
                  <a:srgbClr val="00B050"/>
                </a:solidFill>
                <a:latin typeface="Arial" panose="020B0604020202020204" pitchFamily="34" charset="0"/>
                <a:cs typeface="Arial" panose="020B0604020202020204" pitchFamily="34" charset="0"/>
              </a:rPr>
              <a:t>Primary/Foreign key</a:t>
            </a:r>
            <a:r>
              <a:rPr lang="en-IN" sz="2000" dirty="0">
                <a:solidFill>
                  <a:srgbClr val="00B05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is used to specify this relationship.</a:t>
            </a:r>
          </a:p>
        </p:txBody>
      </p:sp>
      <p:sp>
        <p:nvSpPr>
          <p:cNvPr id="7" name="Rectangle 6"/>
          <p:cNvSpPr/>
          <p:nvPr/>
        </p:nvSpPr>
        <p:spPr>
          <a:xfrm>
            <a:off x="5663952" y="5165229"/>
            <a:ext cx="6520614" cy="169277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342900" indent="-342900">
              <a:buFont typeface="Arial" pitchFamily="34" charset="0"/>
              <a:buChar char="•"/>
            </a:pPr>
            <a:endParaRPr lang="en-US" sz="800" b="1" dirty="0">
              <a:solidFill>
                <a:srgbClr val="006C86"/>
              </a:solidFill>
              <a:latin typeface="Arial" panose="020B0604020202020204" pitchFamily="34" charset="0"/>
              <a:cs typeface="Arial" panose="020B0604020202020204" pitchFamily="34" charset="0"/>
            </a:endParaRP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Table -</a:t>
            </a:r>
            <a:r>
              <a:rPr lang="en-US" sz="1700" dirty="0">
                <a:solidFill>
                  <a:schemeClr val="tx1">
                    <a:lumMod val="85000"/>
                    <a:lumOff val="15000"/>
                  </a:schemeClr>
                </a:solidFill>
                <a:latin typeface="Arial" panose="020B0604020202020204" pitchFamily="34" charset="0"/>
                <a:cs typeface="Arial" panose="020B0604020202020204" pitchFamily="34" charset="0"/>
              </a:rPr>
              <a:t> The physical instantiation of a relation in the database schema.</a:t>
            </a: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Relation</a:t>
            </a:r>
            <a:r>
              <a:rPr lang="en-US" sz="1700" dirty="0">
                <a:solidFill>
                  <a:schemeClr val="tx1">
                    <a:lumMod val="85000"/>
                    <a:lumOff val="15000"/>
                  </a:schemeClr>
                </a:solidFill>
                <a:latin typeface="Arial" panose="020B0604020202020204" pitchFamily="34" charset="0"/>
                <a:cs typeface="Arial" panose="020B0604020202020204" pitchFamily="34" charset="0"/>
              </a:rPr>
              <a:t> </a:t>
            </a:r>
            <a:r>
              <a:rPr lang="en-US" sz="1700" b="1" dirty="0">
                <a:solidFill>
                  <a:schemeClr val="tx1">
                    <a:lumMod val="85000"/>
                    <a:lumOff val="15000"/>
                  </a:schemeClr>
                </a:solidFill>
                <a:latin typeface="Arial" panose="020B0604020202020204" pitchFamily="34" charset="0"/>
                <a:cs typeface="Arial" panose="020B0604020202020204" pitchFamily="34" charset="0"/>
              </a:rPr>
              <a:t> -</a:t>
            </a:r>
            <a:r>
              <a:rPr lang="en-US" sz="1700" dirty="0">
                <a:solidFill>
                  <a:schemeClr val="tx1">
                    <a:lumMod val="85000"/>
                    <a:lumOff val="15000"/>
                  </a:schemeClr>
                </a:solidFill>
                <a:latin typeface="Arial" panose="020B0604020202020204" pitchFamily="34" charset="0"/>
                <a:cs typeface="Arial" panose="020B0604020202020204" pitchFamily="34" charset="0"/>
              </a:rPr>
              <a:t> A logical construct that organizes data into rows and columns.</a:t>
            </a:r>
          </a:p>
        </p:txBody>
      </p:sp>
      <p:sp>
        <p:nvSpPr>
          <p:cNvPr id="8" name="Rectangle 7">
            <a:extLst>
              <a:ext uri="{FF2B5EF4-FFF2-40B4-BE49-F238E27FC236}">
                <a16:creationId xmlns:a16="http://schemas.microsoft.com/office/drawing/2014/main" id="{ECC75D2E-3F8B-4393-BA52-71E177F89F46}"/>
              </a:ext>
            </a:extLst>
          </p:cNvPr>
          <p:cNvSpPr/>
          <p:nvPr/>
        </p:nvSpPr>
        <p:spPr>
          <a:xfrm>
            <a:off x="119336" y="4164638"/>
            <a:ext cx="5544616"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Foreign Key is also known as</a:t>
            </a:r>
          </a:p>
          <a:p>
            <a:endParaRPr lang="en-US" sz="800" dirty="0">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constraint</a:t>
            </a:r>
          </a:p>
          <a:p>
            <a:pPr marL="177800" indent="-177800">
              <a:buFont typeface="Arial" panose="020B0604020202020204" pitchFamily="34" charset="0"/>
              <a:buChar char="•"/>
            </a:pPr>
            <a:endParaRPr lang="en-US" sz="8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integrity constraint. </a:t>
            </a:r>
            <a:r>
              <a:rPr lang="en-US" dirty="0">
                <a:latin typeface="Arial" panose="020B0604020202020204" pitchFamily="34" charset="0"/>
                <a:cs typeface="Arial" panose="020B0604020202020204" pitchFamily="34" charset="0"/>
              </a:rPr>
              <a:t>(Referential Integrity is a constraint (rule) in a relational database that ensures the relationship between two tables remains consistent.)</a:t>
            </a:r>
            <a:endParaRPr lang="en-US"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51618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2" grpId="0"/>
      <p:bldP spid="7" grpId="0"/>
      <p:bldP spid="8"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5E2C2-1B3F-5B07-BE7B-5B029FC9606C}"/>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EF7C805-D1A4-F1F9-1A4B-624ECC2CA1F4}"/>
              </a:ext>
            </a:extLst>
          </p:cNvPr>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 table, and entity in RDBMS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250605DC-2DC1-F4C0-37F3-B45595679140}"/>
              </a:ext>
            </a:extLst>
          </p:cNvPr>
          <p:cNvGraphicFramePr>
            <a:graphicFrameLocks noGrp="1"/>
          </p:cNvGraphicFramePr>
          <p:nvPr>
            <p:extLst>
              <p:ext uri="{D42A27DB-BD31-4B8C-83A1-F6EECF244321}">
                <p14:modId xmlns:p14="http://schemas.microsoft.com/office/powerpoint/2010/main" val="586128111"/>
              </p:ext>
            </p:extLst>
          </p:nvPr>
        </p:nvGraphicFramePr>
        <p:xfrm>
          <a:off x="97310" y="683673"/>
          <a:ext cx="11953328" cy="256540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3277805147"/>
                    </a:ext>
                  </a:extLst>
                </a:gridCol>
                <a:gridCol w="6888766">
                  <a:extLst>
                    <a:ext uri="{9D8B030D-6E8A-4147-A177-3AD203B41FA5}">
                      <a16:colId xmlns:a16="http://schemas.microsoft.com/office/drawing/2014/main" val="3788007318"/>
                    </a:ext>
                  </a:extLst>
                </a:gridCol>
                <a:gridCol w="3984442">
                  <a:extLst>
                    <a:ext uri="{9D8B030D-6E8A-4147-A177-3AD203B41FA5}">
                      <a16:colId xmlns:a16="http://schemas.microsoft.com/office/drawing/2014/main" val="3324250954"/>
                    </a:ext>
                  </a:extLst>
                </a:gridCol>
              </a:tblGrid>
              <a:tr h="370840">
                <a:tc>
                  <a:txBody>
                    <a:bodyPr/>
                    <a:lstStyle/>
                    <a:p>
                      <a:r>
                        <a:rPr lang="en-IN" b="1" dirty="0">
                          <a:latin typeface="Arial" panose="020B0604020202020204" pitchFamily="34" charset="0"/>
                          <a:cs typeface="Arial" panose="020B0604020202020204" pitchFamily="34" charset="0"/>
                        </a:rPr>
                        <a:t>Term</a:t>
                      </a:r>
                      <a:endParaRPr lang="en-IN" dirty="0">
                        <a:latin typeface="Arial" panose="020B0604020202020204" pitchFamily="34" charset="0"/>
                        <a:cs typeface="Arial" panose="020B0604020202020204" pitchFamily="34" charset="0"/>
                      </a:endParaRPr>
                    </a:p>
                  </a:txBody>
                  <a:tcPr anchor="ct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Definition</a:t>
                      </a:r>
                    </a:p>
                  </a:txBody>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Example</a:t>
                      </a:r>
                    </a:p>
                  </a:txBody>
                  <a:tcPr/>
                </a:tc>
                <a:extLst>
                  <a:ext uri="{0D108BD9-81ED-4DB2-BD59-A6C34878D82A}">
                    <a16:rowId xmlns:a16="http://schemas.microsoft.com/office/drawing/2014/main" val="1756792218"/>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Relation</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concept</a:t>
                      </a:r>
                      <a:r>
                        <a:rPr lang="en-US" sz="1800" dirty="0">
                          <a:latin typeface="Arial" panose="020B0604020202020204" pitchFamily="34" charset="0"/>
                          <a:cs typeface="Arial" panose="020B0604020202020204" pitchFamily="34" charset="0"/>
                        </a:rPr>
                        <a:t> representing a </a:t>
                      </a:r>
                      <a:r>
                        <a:rPr lang="en-US" sz="1800" b="1" dirty="0">
                          <a:latin typeface="Arial" panose="020B0604020202020204" pitchFamily="34" charset="0"/>
                          <a:cs typeface="Arial" panose="020B0604020202020204" pitchFamily="34" charset="0"/>
                        </a:rPr>
                        <a:t>set of tuples</a:t>
                      </a:r>
                      <a:r>
                        <a:rPr lang="en-US" sz="1800" dirty="0">
                          <a:latin typeface="Arial" panose="020B0604020202020204" pitchFamily="34" charset="0"/>
                          <a:cs typeface="Arial" panose="020B0604020202020204" pitchFamily="34" charset="0"/>
                        </a:rPr>
                        <a:t> (rows) with attributes (columns). Used in </a:t>
                      </a:r>
                      <a:r>
                        <a:rPr lang="en-US" sz="1800" b="1" dirty="0">
                          <a:latin typeface="Arial" panose="020B0604020202020204" pitchFamily="34" charset="0"/>
                          <a:cs typeface="Arial" panose="020B0604020202020204" pitchFamily="34" charset="0"/>
                        </a:rPr>
                        <a:t>Relational Algebra</a:t>
                      </a:r>
                      <a:r>
                        <a:rPr lang="en-US" sz="1800" dirty="0">
                          <a:latin typeface="Arial" panose="020B0604020202020204" pitchFamily="34" charset="0"/>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Employee(EmpID, Name, Dept, Salary) defines a relation.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3252681"/>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Table</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physical structure</a:t>
                      </a:r>
                      <a:r>
                        <a:rPr lang="en-US" sz="1800" dirty="0">
                          <a:latin typeface="Arial" panose="020B0604020202020204" pitchFamily="34" charset="0"/>
                          <a:cs typeface="Arial" panose="020B0604020202020204" pitchFamily="34" charset="0"/>
                        </a:rPr>
                        <a:t> in an RDBMS that stores data in </a:t>
                      </a:r>
                      <a:r>
                        <a:rPr lang="en-US" sz="1800" b="1" dirty="0">
                          <a:latin typeface="Arial" panose="020B0604020202020204" pitchFamily="34" charset="0"/>
                          <a:cs typeface="Arial" panose="020B0604020202020204" pitchFamily="34" charset="0"/>
                        </a:rPr>
                        <a:t>rows and columns</a:t>
                      </a:r>
                      <a:r>
                        <a:rPr lang="en-US" sz="1800" dirty="0">
                          <a:latin typeface="Arial" panose="020B0604020202020204" pitchFamily="34" charset="0"/>
                          <a:cs typeface="Arial" panose="020B0604020202020204" pitchFamily="34" charset="0"/>
                        </a:rPr>
                        <a:t>. It is an </a:t>
                      </a:r>
                      <a:r>
                        <a:rPr lang="en-US" sz="1800" b="1" dirty="0">
                          <a:latin typeface="Arial" panose="020B0604020202020204" pitchFamily="34" charset="0"/>
                          <a:cs typeface="Arial" panose="020B0604020202020204" pitchFamily="34" charset="0"/>
                        </a:rPr>
                        <a:t>implementation</a:t>
                      </a:r>
                      <a:r>
                        <a:rPr lang="en-US" sz="1800" dirty="0">
                          <a:latin typeface="Arial" panose="020B0604020202020204" pitchFamily="34" charset="0"/>
                          <a:cs typeface="Arial" panose="020B0604020202020204" pitchFamily="34" charset="0"/>
                        </a:rPr>
                        <a:t> of a relation.</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Employee table</a:t>
                      </a:r>
                    </a:p>
                  </a:txBody>
                  <a:tcPr anchor="ctr"/>
                </a:tc>
                <a:extLst>
                  <a:ext uri="{0D108BD9-81ED-4DB2-BD59-A6C34878D82A}">
                    <a16:rowId xmlns:a16="http://schemas.microsoft.com/office/drawing/2014/main" val="3914151654"/>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Entity</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real-world object</a:t>
                      </a:r>
                      <a:r>
                        <a:rPr lang="en-US" sz="1800" dirty="0">
                          <a:latin typeface="Arial" panose="020B0604020202020204" pitchFamily="34" charset="0"/>
                          <a:cs typeface="Arial" panose="020B0604020202020204" pitchFamily="34" charset="0"/>
                        </a:rPr>
                        <a:t> that has attributes and is represented as a table in a database. Entities are later transformed into </a:t>
                      </a:r>
                      <a:r>
                        <a:rPr lang="en-US" sz="1800" b="1" dirty="0">
                          <a:latin typeface="Arial" panose="020B0604020202020204" pitchFamily="34" charset="0"/>
                          <a:cs typeface="Arial" panose="020B0604020202020204" pitchFamily="34" charset="0"/>
                        </a:rPr>
                        <a:t>tables in an RDBMS</a:t>
                      </a:r>
                      <a:r>
                        <a:rPr lang="en-US" sz="1800" dirty="0">
                          <a:latin typeface="Arial" panose="020B0604020202020204" pitchFamily="34" charset="0"/>
                          <a:cs typeface="Arial" panose="020B0604020202020204" pitchFamily="34" charset="0"/>
                        </a:rPr>
                        <a:t>. Used in </a:t>
                      </a:r>
                      <a:r>
                        <a:rPr lang="en-US" sz="1800" b="1" dirty="0">
                          <a:latin typeface="Arial" panose="020B0604020202020204" pitchFamily="34" charset="0"/>
                          <a:cs typeface="Arial" panose="020B0604020202020204" pitchFamily="34" charset="0"/>
                        </a:rPr>
                        <a:t>ERD</a:t>
                      </a:r>
                      <a:endParaRPr lang="en-IN" sz="1800" b="1"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An "Employee" is an entity with attributes like { EmpID (Primary Key), Name, Dept, Salary, . . . }</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524785788"/>
                  </a:ext>
                </a:extLst>
              </a:tr>
            </a:tbl>
          </a:graphicData>
        </a:graphic>
      </p:graphicFrame>
      <p:grpSp>
        <p:nvGrpSpPr>
          <p:cNvPr id="8" name="Group 7">
            <a:extLst>
              <a:ext uri="{FF2B5EF4-FFF2-40B4-BE49-F238E27FC236}">
                <a16:creationId xmlns:a16="http://schemas.microsoft.com/office/drawing/2014/main" id="{FF5F1B36-7547-68A2-F673-22989DBA0977}"/>
              </a:ext>
            </a:extLst>
          </p:cNvPr>
          <p:cNvGrpSpPr/>
          <p:nvPr/>
        </p:nvGrpSpPr>
        <p:grpSpPr>
          <a:xfrm>
            <a:off x="1524000" y="3501008"/>
            <a:ext cx="9289032" cy="3508653"/>
            <a:chOff x="119336" y="3573016"/>
            <a:chExt cx="9289032" cy="3508653"/>
          </a:xfrm>
        </p:grpSpPr>
        <p:sp>
          <p:nvSpPr>
            <p:cNvPr id="4" name="TextBox 3">
              <a:extLst>
                <a:ext uri="{FF2B5EF4-FFF2-40B4-BE49-F238E27FC236}">
                  <a16:creationId xmlns:a16="http://schemas.microsoft.com/office/drawing/2014/main" id="{986C19CB-D3CA-00CA-2BDB-115ACBE879F3}"/>
                </a:ext>
              </a:extLst>
            </p:cNvPr>
            <p:cNvSpPr txBox="1"/>
            <p:nvPr/>
          </p:nvSpPr>
          <p:spPr>
            <a:xfrm>
              <a:off x="119336" y="3573016"/>
              <a:ext cx="3456384" cy="3139321"/>
            </a:xfrm>
            <a:prstGeom prst="rect">
              <a:avLst/>
            </a:prstGeom>
            <a:noFill/>
          </p:spPr>
          <p:txBody>
            <a:bodyPr wrap="square">
              <a:spAutoFit/>
            </a:bodyPr>
            <a:lstStyle/>
            <a:p>
              <a:r>
                <a:rPr lang="en-IN" sz="2200" dirty="0"/>
                <a:t>RELATIONAL MODEL</a:t>
              </a:r>
            </a:p>
            <a:p>
              <a:r>
                <a:rPr lang="en-IN" sz="2200" dirty="0"/>
                <a:t>              ↓</a:t>
              </a:r>
            </a:p>
            <a:p>
              <a:r>
                <a:rPr lang="en-IN" sz="2200" dirty="0"/>
                <a:t>        RELATION</a:t>
              </a:r>
            </a:p>
            <a:p>
              <a:r>
                <a:rPr lang="en-IN" sz="2200" dirty="0"/>
                <a:t>              ↓</a:t>
              </a:r>
            </a:p>
            <a:p>
              <a:r>
                <a:rPr lang="en-IN" sz="2200" dirty="0"/>
                <a:t>     implemented as</a:t>
              </a:r>
            </a:p>
            <a:p>
              <a:r>
                <a:rPr lang="en-IN" sz="2200" dirty="0"/>
                <a:t>              ↓</a:t>
              </a:r>
            </a:p>
            <a:p>
              <a:r>
                <a:rPr lang="en-IN" sz="2200" dirty="0"/>
                <a:t>          TABLE</a:t>
              </a:r>
            </a:p>
            <a:p>
              <a:r>
                <a:rPr lang="en-IN" sz="2200" dirty="0"/>
                <a:t>              ↓</a:t>
              </a:r>
            </a:p>
            <a:p>
              <a:r>
                <a:rPr lang="en-IN" sz="2200" dirty="0"/>
                <a:t>      rows + columns</a:t>
              </a:r>
            </a:p>
          </p:txBody>
        </p:sp>
        <p:sp>
          <p:nvSpPr>
            <p:cNvPr id="7" name="TextBox 6">
              <a:extLst>
                <a:ext uri="{FF2B5EF4-FFF2-40B4-BE49-F238E27FC236}">
                  <a16:creationId xmlns:a16="http://schemas.microsoft.com/office/drawing/2014/main" id="{9DB8D51D-A640-2DE1-0B6B-64E4E93F4CED}"/>
                </a:ext>
              </a:extLst>
            </p:cNvPr>
            <p:cNvSpPr txBox="1"/>
            <p:nvPr/>
          </p:nvSpPr>
          <p:spPr>
            <a:xfrm>
              <a:off x="4799856" y="3573016"/>
              <a:ext cx="4608512" cy="3508653"/>
            </a:xfrm>
            <a:prstGeom prst="rect">
              <a:avLst/>
            </a:prstGeom>
            <a:noFill/>
          </p:spPr>
          <p:txBody>
            <a:bodyPr wrap="square">
              <a:spAutoFit/>
            </a:bodyPr>
            <a:lstStyle/>
            <a:p>
              <a:r>
                <a:rPr lang="en-IN" sz="2200" dirty="0"/>
                <a:t>Employee</a:t>
              </a:r>
              <a:r>
                <a:rPr lang="en-IN" sz="2200" b="1" dirty="0"/>
                <a:t> Relation</a:t>
              </a:r>
            </a:p>
            <a:p>
              <a:endParaRPr lang="en-IN" sz="1200" dirty="0"/>
            </a:p>
            <a:p>
              <a:r>
                <a:rPr lang="en-IN" sz="2200" b="1" i="1" dirty="0"/>
                <a:t>Attributes</a:t>
              </a:r>
            </a:p>
            <a:p>
              <a:r>
                <a:rPr lang="en-IN" sz="2200" dirty="0"/>
                <a:t>      ↓</a:t>
              </a:r>
            </a:p>
            <a:p>
              <a:r>
                <a:rPr lang="en-IN" sz="2200" dirty="0"/>
                <a:t>(employee_id, employee_name, salary)</a:t>
              </a:r>
            </a:p>
            <a:p>
              <a:endParaRPr lang="en-IN" sz="1200" dirty="0"/>
            </a:p>
            <a:p>
              <a:r>
                <a:rPr lang="en-IN" sz="2200" b="1" i="1" dirty="0"/>
                <a:t>Tuples</a:t>
              </a:r>
            </a:p>
            <a:p>
              <a:r>
                <a:rPr lang="en-IN" sz="2200" dirty="0"/>
                <a:t>    ↓</a:t>
              </a:r>
            </a:p>
            <a:p>
              <a:r>
                <a:rPr lang="en-IN" sz="2200" dirty="0"/>
                <a:t>(101, Rahul, 50000)</a:t>
              </a:r>
            </a:p>
            <a:p>
              <a:r>
                <a:rPr lang="en-IN" sz="2200" dirty="0"/>
                <a:t>(102, Neel, 60000)</a:t>
              </a:r>
            </a:p>
            <a:p>
              <a:r>
                <a:rPr lang="en-IN" sz="2200" dirty="0"/>
                <a:t>(103, Riya, 55000)</a:t>
              </a:r>
            </a:p>
          </p:txBody>
        </p:sp>
      </p:grpSp>
    </p:spTree>
    <p:extLst>
      <p:ext uri="{BB962C8B-B14F-4D97-AF65-F5344CB8AC3E}">
        <p14:creationId xmlns:p14="http://schemas.microsoft.com/office/powerpoint/2010/main" val="18908009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File System </a:t>
            </a:r>
          </a:p>
          <a:p>
            <a:r>
              <a:rPr lang="en-IN" dirty="0">
                <a:solidFill>
                  <a:srgbClr val="DC525C"/>
                </a:solidFill>
                <a:latin typeface="Segoe UI Light" panose="020B0502040204020203" pitchFamily="34" charset="0"/>
                <a:cs typeface="Segoe UI Light" panose="020B0502040204020203" pitchFamily="34" charset="0"/>
              </a:rPr>
              <a:t>vs </a:t>
            </a:r>
          </a:p>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F46346E-5596-AB25-2690-A57F50CF6E9E}"/>
              </a:ext>
            </a:extLst>
          </p:cNvPr>
          <p:cNvSpPr/>
          <p:nvPr/>
        </p:nvSpPr>
        <p:spPr>
          <a:xfrm>
            <a:off x="407368" y="436602"/>
            <a:ext cx="8712968" cy="400110"/>
          </a:xfrm>
          <a:prstGeom prst="rect">
            <a:avLst/>
          </a:prstGeom>
        </p:spPr>
        <p:txBody>
          <a:bodyPr wrap="square">
            <a:spAutoFit/>
          </a:bodyPr>
          <a:lstStyle/>
          <a:p>
            <a:r>
              <a:rPr lang="en-US" sz="2000" dirty="0">
                <a:solidFill>
                  <a:srgbClr val="444444"/>
                </a:solidFill>
                <a:latin typeface="Arial" panose="020B0604020202020204" pitchFamily="34" charset="0"/>
                <a:cs typeface="Arial" panose="020B0604020202020204" pitchFamily="34" charset="0"/>
              </a:rPr>
              <a:t>File Systems is the traditional way to keep your data organized. </a:t>
            </a:r>
            <a:endParaRPr lang="en-IN" sz="2000"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F1EDDDE4-F9AC-9182-986A-AC2486B3A393}"/>
              </a:ext>
            </a:extLst>
          </p:cNvPr>
          <p:cNvSpPr txBox="1"/>
          <p:nvPr/>
        </p:nvSpPr>
        <p:spPr>
          <a:xfrm>
            <a:off x="371378" y="4406815"/>
            <a:ext cx="11423798" cy="2062103"/>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 A File-Oriented System is the traditional way of storing and managing data before databases (like MySQL, Oracle, . . .) were introduced.</a:t>
            </a:r>
          </a:p>
          <a:p>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Data is stored in separate files (text files, spreadsheets, binary files).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Each application manages its own files independently.</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There is no central control over data.</a:t>
            </a:r>
          </a:p>
        </p:txBody>
      </p:sp>
    </p:spTree>
    <p:extLst>
      <p:ext uri="{BB962C8B-B14F-4D97-AF65-F5344CB8AC3E}">
        <p14:creationId xmlns:p14="http://schemas.microsoft.com/office/powerpoint/2010/main" val="4034063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04167B9-CF4F-4BE8-BCF9-63B5235F3024}"/>
              </a:ext>
            </a:extLst>
          </p:cNvPr>
          <p:cNvSpPr txBox="1"/>
          <p:nvPr/>
        </p:nvSpPr>
        <p:spPr>
          <a:xfrm>
            <a:off x="263353" y="116632"/>
            <a:ext cx="2952328" cy="140038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 </a:t>
            </a:r>
            <a:r>
              <a:rPr lang="en-IN" sz="1700" dirty="0">
                <a:solidFill>
                  <a:srgbClr val="006C86"/>
                </a:solidFill>
                <a:latin typeface="Arial" panose="020B0604020202020204" pitchFamily="34" charset="0"/>
                <a:cs typeface="Arial" panose="020B0604020202020204" pitchFamily="34" charset="0"/>
              </a:rPr>
              <a:t>emp</a:t>
            </a:r>
            <a:r>
              <a:rPr lang="en-IN" sz="1700" dirty="0">
                <a:latin typeface="Arial" panose="020B0604020202020204" pitchFamily="34" charset="0"/>
                <a:cs typeface="Arial" panose="020B0604020202020204" pitchFamily="34" charset="0"/>
              </a:rPr>
              <a:t>[1000];</a:t>
            </a:r>
          </a:p>
        </p:txBody>
      </p:sp>
      <p:sp>
        <p:nvSpPr>
          <p:cNvPr id="16" name="TextBox 15">
            <a:extLst>
              <a:ext uri="{FF2B5EF4-FFF2-40B4-BE49-F238E27FC236}">
                <a16:creationId xmlns:a16="http://schemas.microsoft.com/office/drawing/2014/main" id="{87EE7AF9-3F3D-40C9-89C8-1F76A8E14EB9}"/>
              </a:ext>
            </a:extLst>
          </p:cNvPr>
          <p:cNvSpPr txBox="1"/>
          <p:nvPr/>
        </p:nvSpPr>
        <p:spPr>
          <a:xfrm>
            <a:off x="4007767" y="116632"/>
            <a:ext cx="3888432" cy="166199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a:t>
            </a:r>
          </a:p>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 emp</a:t>
            </a:r>
            <a:r>
              <a:rPr lang="en-IN" sz="1700" dirty="0">
                <a:latin typeface="Arial" panose="020B0604020202020204" pitchFamily="34" charset="0"/>
                <a:cs typeface="Arial" panose="020B0604020202020204" pitchFamily="34" charset="0"/>
              </a:rPr>
              <a:t>[1000];</a:t>
            </a:r>
          </a:p>
        </p:txBody>
      </p:sp>
      <p:sp>
        <p:nvSpPr>
          <p:cNvPr id="8" name="Rectangle 7">
            <a:extLst>
              <a:ext uri="{FF2B5EF4-FFF2-40B4-BE49-F238E27FC236}">
                <a16:creationId xmlns:a16="http://schemas.microsoft.com/office/drawing/2014/main" id="{65116A2C-B559-406D-96AF-79271E02C4D7}"/>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2" name="TextBox 21">
            <a:extLst>
              <a:ext uri="{FF2B5EF4-FFF2-40B4-BE49-F238E27FC236}">
                <a16:creationId xmlns:a16="http://schemas.microsoft.com/office/drawing/2014/main" id="{F6799C23-E059-4D4E-9E9B-37AADF2EC663}"/>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8639E09-8671-429F-A84D-38A2FB0A1C06}"/>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3" name="TextBox 4">
            <a:extLst>
              <a:ext uri="{FF2B5EF4-FFF2-40B4-BE49-F238E27FC236}">
                <a16:creationId xmlns:a16="http://schemas.microsoft.com/office/drawing/2014/main" id="{00D74674-582E-433A-939A-183876D246DB}"/>
              </a:ext>
            </a:extLst>
          </p:cNvPr>
          <p:cNvSpPr txBox="1"/>
          <p:nvPr/>
        </p:nvSpPr>
        <p:spPr>
          <a:xfrm>
            <a:off x="4771004" y="2375961"/>
            <a:ext cx="2223923" cy="369331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pPr marL="342900" indent="-342900">
              <a:buAutoNum type="arabicPlain" startAt="500"/>
            </a:pPr>
            <a:r>
              <a:rPr lang="en-IN" dirty="0">
                <a:latin typeface="Arial" panose="020B0604020202020204" pitchFamily="34" charset="0"/>
                <a:cs typeface="Arial" panose="020B0604020202020204" pitchFamily="34" charset="0"/>
              </a:rPr>
              <a:t>  sam 3500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5" name="TextBox 4">
            <a:extLst>
              <a:ext uri="{FF2B5EF4-FFF2-40B4-BE49-F238E27FC236}">
                <a16:creationId xmlns:a16="http://schemas.microsoft.com/office/drawing/2014/main" id="{C9813531-AC4C-46B3-9CFE-85225D89B018}"/>
              </a:ext>
            </a:extLst>
          </p:cNvPr>
          <p:cNvSpPr txBox="1"/>
          <p:nvPr/>
        </p:nvSpPr>
        <p:spPr>
          <a:xfrm>
            <a:off x="9847562" y="2375961"/>
            <a:ext cx="2081082" cy="2031325"/>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US" dirty="0">
                <a:latin typeface="Arial" panose="020B0604020202020204" pitchFamily="34" charset="0"/>
                <a:cs typeface="Arial" panose="020B0604020202020204" pitchFamily="34" charset="0"/>
              </a:rPr>
              <a:t>600</a:t>
            </a:r>
            <a:r>
              <a:rPr lang="en-IN" dirty="0">
                <a:latin typeface="Arial" panose="020B0604020202020204" pitchFamily="34" charset="0"/>
                <a:cs typeface="Arial" panose="020B0604020202020204" pitchFamily="34" charset="0"/>
              </a:rPr>
              <a:t> neel 4500</a:t>
            </a:r>
          </a:p>
        </p:txBody>
      </p:sp>
      <p:sp>
        <p:nvSpPr>
          <p:cNvPr id="18" name="TextBox 4">
            <a:extLst>
              <a:ext uri="{FF2B5EF4-FFF2-40B4-BE49-F238E27FC236}">
                <a16:creationId xmlns:a16="http://schemas.microsoft.com/office/drawing/2014/main" id="{538D7DD9-7751-4D7E-8D6B-76F445598B88}"/>
              </a:ext>
            </a:extLst>
          </p:cNvPr>
          <p:cNvSpPr txBox="1"/>
          <p:nvPr/>
        </p:nvSpPr>
        <p:spPr>
          <a:xfrm>
            <a:off x="7409687" y="2375961"/>
            <a:ext cx="2081083" cy="2862322"/>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sam 500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ram  550</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5000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4" name="Rectangle 13">
            <a:extLst>
              <a:ext uri="{FF2B5EF4-FFF2-40B4-BE49-F238E27FC236}">
                <a16:creationId xmlns:a16="http://schemas.microsoft.com/office/drawing/2014/main" id="{6F38807E-9DF8-49BA-B7A9-FC2C7B2FB5CF}"/>
              </a:ext>
            </a:extLst>
          </p:cNvPr>
          <p:cNvSpPr/>
          <p:nvPr/>
        </p:nvSpPr>
        <p:spPr>
          <a:xfrm>
            <a:off x="2425262" y="1916832"/>
            <a:ext cx="1985029"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7" name="TextBox 4">
            <a:extLst>
              <a:ext uri="{FF2B5EF4-FFF2-40B4-BE49-F238E27FC236}">
                <a16:creationId xmlns:a16="http://schemas.microsoft.com/office/drawing/2014/main" id="{D93F6A11-1A0B-4A71-96FA-3C658A4236AB}"/>
              </a:ext>
            </a:extLst>
          </p:cNvPr>
          <p:cNvSpPr txBox="1"/>
          <p:nvPr/>
        </p:nvSpPr>
        <p:spPr>
          <a:xfrm>
            <a:off x="2415535" y="2375961"/>
            <a:ext cx="1964951" cy="4247317"/>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2000 jerry 4500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p:txBody>
      </p:sp>
      <p:sp>
        <p:nvSpPr>
          <p:cNvPr id="19" name="Rectangle 18">
            <a:extLst>
              <a:ext uri="{FF2B5EF4-FFF2-40B4-BE49-F238E27FC236}">
                <a16:creationId xmlns:a16="http://schemas.microsoft.com/office/drawing/2014/main" id="{2242D56B-5252-4AD1-9242-02566D0B09A2}"/>
              </a:ext>
            </a:extLst>
          </p:cNvPr>
          <p:cNvSpPr/>
          <p:nvPr/>
        </p:nvSpPr>
        <p:spPr>
          <a:xfrm>
            <a:off x="4771004" y="1916832"/>
            <a:ext cx="2223923"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Rectangle 19">
            <a:extLst>
              <a:ext uri="{FF2B5EF4-FFF2-40B4-BE49-F238E27FC236}">
                <a16:creationId xmlns:a16="http://schemas.microsoft.com/office/drawing/2014/main" id="{60BCF4B4-20D2-418C-A6FA-91F42912E3AC}"/>
              </a:ext>
            </a:extLst>
          </p:cNvPr>
          <p:cNvSpPr/>
          <p:nvPr/>
        </p:nvSpPr>
        <p:spPr>
          <a:xfrm>
            <a:off x="7409687"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1" name="Rectangle 20">
            <a:extLst>
              <a:ext uri="{FF2B5EF4-FFF2-40B4-BE49-F238E27FC236}">
                <a16:creationId xmlns:a16="http://schemas.microsoft.com/office/drawing/2014/main" id="{9C034FE0-D7F2-489F-B5C5-C84D05074D86}"/>
              </a:ext>
            </a:extLst>
          </p:cNvPr>
          <p:cNvSpPr/>
          <p:nvPr/>
        </p:nvSpPr>
        <p:spPr>
          <a:xfrm>
            <a:off x="9847562"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 name="TextBox 4">
            <a:extLst>
              <a:ext uri="{FF2B5EF4-FFF2-40B4-BE49-F238E27FC236}">
                <a16:creationId xmlns:a16="http://schemas.microsoft.com/office/drawing/2014/main" id="{FAFB7A80-233C-5E06-18E7-0EC30FCAF371}"/>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839792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5" grpId="0" animBg="1"/>
      <p:bldP spid="18" grpId="0" animBg="1"/>
      <p:bldP spid="14" grpId="0"/>
      <p:bldP spid="17" grpId="0" animBg="1"/>
      <p:bldP spid="19" grpId="0"/>
      <p:bldP spid="20" grpId="0"/>
      <p:bldP spid="21" grpId="0"/>
    </p:bldLst>
  </p:timing>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C3B22D99-4A36-47B2-8903-58F427E1A124}"/>
              </a:ext>
            </a:extLst>
          </p:cNvPr>
          <p:cNvSpPr txBox="1"/>
          <p:nvPr/>
        </p:nvSpPr>
        <p:spPr>
          <a:xfrm>
            <a:off x="119336" y="-27384"/>
            <a:ext cx="5544616"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Create/Open an existing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Reading from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Writing to a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Closing a file</a:t>
            </a:r>
          </a:p>
        </p:txBody>
      </p:sp>
      <p:sp>
        <p:nvSpPr>
          <p:cNvPr id="18" name="TextBox 17">
            <a:extLst>
              <a:ext uri="{FF2B5EF4-FFF2-40B4-BE49-F238E27FC236}">
                <a16:creationId xmlns:a16="http://schemas.microsoft.com/office/drawing/2014/main" id="{C4F9A9FF-76FC-4078-A624-AD40401DC63A}"/>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22" name="Rectangle 21">
            <a:extLst>
              <a:ext uri="{FF2B5EF4-FFF2-40B4-BE49-F238E27FC236}">
                <a16:creationId xmlns:a16="http://schemas.microsoft.com/office/drawing/2014/main" id="{5EFC949E-29DF-444B-8719-BAD3F1F04B14}"/>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6" name="TextBox 4">
            <a:extLst>
              <a:ext uri="{FF2B5EF4-FFF2-40B4-BE49-F238E27FC236}">
                <a16:creationId xmlns:a16="http://schemas.microsoft.com/office/drawing/2014/main" id="{20946110-F3E8-40E3-9676-FB824CE1EF73}"/>
              </a:ext>
            </a:extLst>
          </p:cNvPr>
          <p:cNvSpPr txBox="1"/>
          <p:nvPr/>
        </p:nvSpPr>
        <p:spPr>
          <a:xfrm>
            <a:off x="2423593" y="2377913"/>
            <a:ext cx="1808524" cy="92332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Name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Type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Location</a:t>
            </a:r>
          </a:p>
        </p:txBody>
      </p:sp>
      <p:sp>
        <p:nvSpPr>
          <p:cNvPr id="21" name="Rectangle 20">
            <a:extLst>
              <a:ext uri="{FF2B5EF4-FFF2-40B4-BE49-F238E27FC236}">
                <a16:creationId xmlns:a16="http://schemas.microsoft.com/office/drawing/2014/main" id="{86C9DE47-F852-4AFB-9BE2-68D7EB386403}"/>
              </a:ext>
            </a:extLst>
          </p:cNvPr>
          <p:cNvSpPr/>
          <p:nvPr/>
        </p:nvSpPr>
        <p:spPr>
          <a:xfrm>
            <a:off x="9802598" y="1918800"/>
            <a:ext cx="2180641"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emp_name</a:t>
            </a:r>
            <a:endParaRPr lang="en-IN" dirty="0">
              <a:solidFill>
                <a:srgbClr val="0070C0"/>
              </a:solidFill>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57046FE5-1679-441F-BA13-495986EF56C2}"/>
              </a:ext>
            </a:extLst>
          </p:cNvPr>
          <p:cNvSpPr/>
          <p:nvPr/>
        </p:nvSpPr>
        <p:spPr>
          <a:xfrm>
            <a:off x="4533927" y="1909491"/>
            <a:ext cx="237555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permissions</a:t>
            </a:r>
          </a:p>
        </p:txBody>
      </p:sp>
      <p:sp>
        <p:nvSpPr>
          <p:cNvPr id="17" name="Rectangle 16">
            <a:extLst>
              <a:ext uri="{FF2B5EF4-FFF2-40B4-BE49-F238E27FC236}">
                <a16:creationId xmlns:a16="http://schemas.microsoft.com/office/drawing/2014/main" id="{7B5A4814-66DD-4E55-A395-B9F34714EFEA}"/>
              </a:ext>
            </a:extLst>
          </p:cNvPr>
          <p:cNvSpPr/>
          <p:nvPr/>
        </p:nvSpPr>
        <p:spPr>
          <a:xfrm>
            <a:off x="7328592" y="1918800"/>
            <a:ext cx="2055607"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empl ID=1</a:t>
            </a:r>
            <a:endParaRPr lang="en-IN" dirty="0">
              <a:solidFill>
                <a:srgbClr val="0070C0"/>
              </a:solidFill>
              <a:latin typeface="Arial" panose="020B0604020202020204" pitchFamily="34" charset="0"/>
              <a:cs typeface="Arial" panose="020B0604020202020204" pitchFamily="34" charset="0"/>
            </a:endParaRPr>
          </a:p>
        </p:txBody>
      </p:sp>
      <p:sp>
        <p:nvSpPr>
          <p:cNvPr id="23" name="Rectangle 22">
            <a:extLst>
              <a:ext uri="{FF2B5EF4-FFF2-40B4-BE49-F238E27FC236}">
                <a16:creationId xmlns:a16="http://schemas.microsoft.com/office/drawing/2014/main" id="{5C0BDFE7-2335-44E2-8A2E-C5E8DD9E4350}"/>
              </a:ext>
            </a:extLst>
          </p:cNvPr>
          <p:cNvSpPr/>
          <p:nvPr/>
        </p:nvSpPr>
        <p:spPr>
          <a:xfrm>
            <a:off x="2423594" y="1909491"/>
            <a:ext cx="1808524"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attributes</a:t>
            </a:r>
          </a:p>
        </p:txBody>
      </p:sp>
      <p:sp>
        <p:nvSpPr>
          <p:cNvPr id="2" name="TextBox 4">
            <a:extLst>
              <a:ext uri="{FF2B5EF4-FFF2-40B4-BE49-F238E27FC236}">
                <a16:creationId xmlns:a16="http://schemas.microsoft.com/office/drawing/2014/main" id="{F932B940-6A80-47DA-829E-4A613FD0B722}"/>
              </a:ext>
            </a:extLst>
          </p:cNvPr>
          <p:cNvSpPr txBox="1"/>
          <p:nvPr/>
        </p:nvSpPr>
        <p:spPr>
          <a:xfrm>
            <a:off x="4533928" y="2377927"/>
            <a:ext cx="2376264" cy="64633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permissions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Share permissions</a:t>
            </a:r>
          </a:p>
        </p:txBody>
      </p:sp>
      <p:sp>
        <p:nvSpPr>
          <p:cNvPr id="27" name="TextBox 4">
            <a:extLst>
              <a:ext uri="{FF2B5EF4-FFF2-40B4-BE49-F238E27FC236}">
                <a16:creationId xmlns:a16="http://schemas.microsoft.com/office/drawing/2014/main" id="{05DAF722-F723-4E3F-A184-637E6D3898B0}"/>
              </a:ext>
            </a:extLst>
          </p:cNvPr>
          <p:cNvSpPr txBox="1"/>
          <p:nvPr/>
        </p:nvSpPr>
        <p:spPr>
          <a:xfrm>
            <a:off x="7327881"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28" name="TextBox 4">
            <a:extLst>
              <a:ext uri="{FF2B5EF4-FFF2-40B4-BE49-F238E27FC236}">
                <a16:creationId xmlns:a16="http://schemas.microsoft.com/office/drawing/2014/main" id="{DB657414-EF56-48C4-AE23-E300C67885DD}"/>
              </a:ext>
            </a:extLst>
          </p:cNvPr>
          <p:cNvSpPr txBox="1"/>
          <p:nvPr/>
        </p:nvSpPr>
        <p:spPr>
          <a:xfrm>
            <a:off x="9802598"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19" name="Rectangle 18">
            <a:extLst>
              <a:ext uri="{FF2B5EF4-FFF2-40B4-BE49-F238E27FC236}">
                <a16:creationId xmlns:a16="http://schemas.microsoft.com/office/drawing/2014/main" id="{8E895052-1A1F-0A6E-ED2B-5CD5C36084DC}"/>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TextBox 4">
            <a:extLst>
              <a:ext uri="{FF2B5EF4-FFF2-40B4-BE49-F238E27FC236}">
                <a16:creationId xmlns:a16="http://schemas.microsoft.com/office/drawing/2014/main" id="{3F3F2131-0422-120B-6F66-1CDAF3BA8BC0}"/>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768154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1" grpId="0"/>
      <p:bldP spid="16" grpId="0"/>
      <p:bldP spid="17" grpId="0"/>
      <p:bldP spid="23" grpId="0"/>
      <p:bldP spid="2" grpId="0" animBg="1"/>
      <p:bldP spid="27" grpId="0" animBg="1"/>
      <p:bldP spid="28" grpId="0" animBg="1"/>
    </p:bldLst>
  </p:timing>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p:cNvSpPr/>
          <p:nvPr/>
        </p:nvSpPr>
        <p:spPr>
          <a:xfrm>
            <a:off x="214484" y="622429"/>
            <a:ext cx="11714164" cy="646331"/>
          </a:xfrm>
          <a:prstGeom prst="rect">
            <a:avLst/>
          </a:prstGeom>
        </p:spPr>
        <p:txBody>
          <a:bodyPr wrap="square">
            <a:spAutoFit/>
          </a:bodyPr>
          <a:lstStyle/>
          <a:p>
            <a:r>
              <a:rPr lang="en-US" dirty="0">
                <a:latin typeface="Palatino Linotype" pitchFamily="18" charset="0"/>
              </a:rPr>
              <a:t>A </a:t>
            </a:r>
            <a:r>
              <a:rPr lang="en-US" b="1" dirty="0">
                <a:latin typeface="Palatino Linotype" pitchFamily="18" charset="0"/>
              </a:rPr>
              <a:t>flat file</a:t>
            </a:r>
            <a:r>
              <a:rPr lang="en-US" dirty="0">
                <a:latin typeface="Palatino Linotype" pitchFamily="18" charset="0"/>
              </a:rPr>
              <a:t> database is a database that stores data in a plain text </a:t>
            </a:r>
            <a:r>
              <a:rPr lang="en-US" b="1" dirty="0">
                <a:latin typeface="Palatino Linotype" pitchFamily="18" charset="0"/>
              </a:rPr>
              <a:t>file (</a:t>
            </a:r>
            <a:r>
              <a:rPr lang="en-US" dirty="0">
                <a:solidFill>
                  <a:srgbClr val="C00000"/>
                </a:solidFill>
                <a:latin typeface="Palatino Linotype" pitchFamily="18" charset="0"/>
              </a:rPr>
              <a:t>e.g.</a:t>
            </a:r>
            <a:r>
              <a:rPr lang="en-US" b="1" dirty="0">
                <a:solidFill>
                  <a:srgbClr val="00B0F0"/>
                </a:solidFill>
                <a:latin typeface="Palatino Linotype" pitchFamily="18" charset="0"/>
              </a:rPr>
              <a:t> *.txt, *.csv</a:t>
            </a:r>
            <a:r>
              <a:rPr lang="en-US" b="1" dirty="0">
                <a:latin typeface="Palatino Linotype" pitchFamily="18" charset="0"/>
              </a:rPr>
              <a:t> </a:t>
            </a:r>
            <a:r>
              <a:rPr lang="en-US" dirty="0">
                <a:latin typeface="Palatino Linotype" pitchFamily="18" charset="0"/>
              </a:rPr>
              <a:t>format</a:t>
            </a:r>
            <a:r>
              <a:rPr lang="en-US" b="1" dirty="0">
                <a:latin typeface="Palatino Linotype" pitchFamily="18" charset="0"/>
              </a:rPr>
              <a:t>)</a:t>
            </a:r>
            <a:r>
              <a:rPr lang="en-US" dirty="0">
                <a:latin typeface="Palatino Linotype" pitchFamily="18" charset="0"/>
              </a:rPr>
              <a:t>. Each line of the text </a:t>
            </a:r>
            <a:r>
              <a:rPr lang="en-US" b="1" dirty="0">
                <a:latin typeface="Palatino Linotype" pitchFamily="18" charset="0"/>
              </a:rPr>
              <a:t>file</a:t>
            </a:r>
            <a:r>
              <a:rPr lang="en-US" dirty="0">
                <a:latin typeface="Palatino Linotype" pitchFamily="18" charset="0"/>
              </a:rPr>
              <a:t> holds one record, with fields separated by delimiters, such as </a:t>
            </a:r>
            <a:r>
              <a:rPr lang="en-US" b="1" dirty="0">
                <a:latin typeface="Palatino Linotype" pitchFamily="18" charset="0"/>
              </a:rPr>
              <a:t>commas</a:t>
            </a:r>
            <a:r>
              <a:rPr lang="en-US" dirty="0">
                <a:latin typeface="Palatino Linotype" pitchFamily="18" charset="0"/>
              </a:rPr>
              <a:t> or </a:t>
            </a:r>
            <a:r>
              <a:rPr lang="en-US" b="1" dirty="0">
                <a:latin typeface="Palatino Linotype" pitchFamily="18" charset="0"/>
              </a:rPr>
              <a:t>tabs</a:t>
            </a:r>
            <a:r>
              <a:rPr lang="en-US" dirty="0">
                <a:latin typeface="Palatino Linotype" pitchFamily="18" charset="0"/>
              </a:rPr>
              <a:t>.</a:t>
            </a:r>
          </a:p>
        </p:txBody>
      </p:sp>
      <p:pic>
        <p:nvPicPr>
          <p:cNvPr id="2" name="Picture 1"/>
          <p:cNvPicPr>
            <a:picLocks noChangeAspect="1"/>
          </p:cNvPicPr>
          <p:nvPr/>
        </p:nvPicPr>
        <p:blipFill>
          <a:blip r:embed="rId2"/>
          <a:stretch>
            <a:fillRect/>
          </a:stretch>
        </p:blipFill>
        <p:spPr>
          <a:xfrm>
            <a:off x="78859" y="4044265"/>
            <a:ext cx="5844473" cy="1829147"/>
          </a:xfrm>
          <a:prstGeom prst="rect">
            <a:avLst/>
          </a:prstGeom>
          <a:noFill/>
        </p:spPr>
      </p:pic>
      <p:sp>
        <p:nvSpPr>
          <p:cNvPr id="8" name="TextBox 7">
            <a:extLst>
              <a:ext uri="{FF2B5EF4-FFF2-40B4-BE49-F238E27FC236}">
                <a16:creationId xmlns:a16="http://schemas.microsoft.com/office/drawing/2014/main" id="{81AC86ED-4214-4F96-9550-B577D647BECF}"/>
              </a:ext>
            </a:extLst>
          </p:cNvPr>
          <p:cNvSpPr txBox="1"/>
          <p:nvPr/>
        </p:nvSpPr>
        <p:spPr>
          <a:xfrm>
            <a:off x="6095999" y="1412776"/>
            <a:ext cx="6017142" cy="5262979"/>
          </a:xfrm>
          <a:prstGeom prst="rect">
            <a:avLst/>
          </a:prstGeom>
          <a:noFill/>
        </p:spPr>
        <p:txBody>
          <a:bodyPr wrap="square">
            <a:spAutoFit/>
          </a:bodyPr>
          <a:lstStyle/>
          <a:p>
            <a:r>
              <a:rPr lang="en-IN" sz="1600" dirty="0"/>
              <a:t>The Zen of Python, </a:t>
            </a:r>
          </a:p>
          <a:p>
            <a:endParaRPr lang="en-IN" sz="1600" dirty="0"/>
          </a:p>
          <a:p>
            <a:r>
              <a:rPr lang="en-IN" sz="1600" dirty="0"/>
              <a:t>Beautiful is better than ugly.</a:t>
            </a:r>
          </a:p>
          <a:p>
            <a:r>
              <a:rPr lang="en-IN" sz="1600" dirty="0"/>
              <a:t>Explicit is better than implicit.</a:t>
            </a:r>
          </a:p>
          <a:p>
            <a:r>
              <a:rPr lang="en-IN" sz="1600" dirty="0"/>
              <a:t>Simple is better than complex.</a:t>
            </a:r>
          </a:p>
          <a:p>
            <a:r>
              <a:rPr lang="en-IN" sz="1600" dirty="0"/>
              <a:t>Complex is better than complicated.</a:t>
            </a:r>
          </a:p>
          <a:p>
            <a:r>
              <a:rPr lang="en-IN" sz="1600" dirty="0"/>
              <a:t>Flat is better than nested.</a:t>
            </a:r>
          </a:p>
          <a:p>
            <a:r>
              <a:rPr lang="en-IN" sz="1600" dirty="0"/>
              <a:t>Sparse is better than dense.</a:t>
            </a:r>
          </a:p>
          <a:p>
            <a:r>
              <a:rPr lang="en-IN" sz="1600" dirty="0"/>
              <a:t>Readability counts.</a:t>
            </a:r>
          </a:p>
          <a:p>
            <a:r>
              <a:rPr lang="en-IN" sz="1600" dirty="0"/>
              <a:t>Special cases aren't special enough to break the rules.</a:t>
            </a:r>
          </a:p>
          <a:p>
            <a:r>
              <a:rPr lang="en-IN" sz="1600" dirty="0"/>
              <a:t>Although practicality beats purity.</a:t>
            </a:r>
          </a:p>
          <a:p>
            <a:r>
              <a:rPr lang="en-IN" sz="1600" dirty="0"/>
              <a:t>Errors should never pass silently.</a:t>
            </a:r>
          </a:p>
          <a:p>
            <a:r>
              <a:rPr lang="en-IN" sz="1600" dirty="0"/>
              <a:t>Unless explicitly silenced.</a:t>
            </a:r>
          </a:p>
          <a:p>
            <a:r>
              <a:rPr lang="en-IN" sz="1600" dirty="0"/>
              <a:t>In the face of ambiguity, refuse the temptation to guess.</a:t>
            </a:r>
          </a:p>
          <a:p>
            <a:r>
              <a:rPr lang="en-IN" sz="1600" dirty="0"/>
              <a:t>There should be one-- and preferably only one --obvious way to do it.</a:t>
            </a:r>
          </a:p>
          <a:p>
            <a:r>
              <a:rPr lang="en-IN" sz="1600" dirty="0"/>
              <a:t>Although that way may not be obvious at first unless you're Dutch.</a:t>
            </a:r>
          </a:p>
          <a:p>
            <a:r>
              <a:rPr lang="en-IN" sz="1600" dirty="0"/>
              <a:t>Now is better than never.</a:t>
            </a:r>
          </a:p>
          <a:p>
            <a:r>
              <a:rPr lang="en-IN" sz="1600" dirty="0"/>
              <a:t>Although never is often better than *right* now.</a:t>
            </a:r>
          </a:p>
          <a:p>
            <a:r>
              <a:rPr lang="en-IN" sz="1600" dirty="0"/>
              <a:t>If the implementation is hard to explain, it's a bad idea.</a:t>
            </a:r>
          </a:p>
          <a:p>
            <a:r>
              <a:rPr lang="en-IN" sz="1600" dirty="0"/>
              <a:t>If the implementation is easy to explain, it may be a good idea.</a:t>
            </a:r>
          </a:p>
          <a:p>
            <a:r>
              <a:rPr lang="en-IN" sz="1600" dirty="0"/>
              <a:t>Namespaces are one honking great idea -- let's do more of those!</a:t>
            </a:r>
          </a:p>
        </p:txBody>
      </p:sp>
      <p:sp>
        <p:nvSpPr>
          <p:cNvPr id="11" name="Rectangle 10">
            <a:extLst>
              <a:ext uri="{FF2B5EF4-FFF2-40B4-BE49-F238E27FC236}">
                <a16:creationId xmlns:a16="http://schemas.microsoft.com/office/drawing/2014/main" id="{CA24B14F-CA2B-4611-BAC8-374137E5800D}"/>
              </a:ext>
            </a:extLst>
          </p:cNvPr>
          <p:cNvSpPr/>
          <p:nvPr/>
        </p:nvSpPr>
        <p:spPr>
          <a:xfrm>
            <a:off x="78859" y="1490008"/>
            <a:ext cx="6017141" cy="1938992"/>
          </a:xfrm>
          <a:prstGeom prst="rect">
            <a:avLst/>
          </a:prstGeom>
          <a:noFill/>
        </p:spPr>
        <p:txBody>
          <a:bodyPr wrap="square">
            <a:spAutoFit/>
          </a:bodyPr>
          <a:lstStyle/>
          <a:p>
            <a:r>
              <a:rPr lang="en-US" sz="2000" dirty="0">
                <a:latin typeface="Palatino Linotype" pitchFamily="18" charset="0"/>
              </a:rPr>
              <a:t>1 rajan MG Road Pune MH 34500</a:t>
            </a:r>
          </a:p>
          <a:p>
            <a:r>
              <a:rPr lang="en-US" sz="2000" dirty="0">
                <a:latin typeface="Palatino Linotype" pitchFamily="18" charset="0"/>
              </a:rPr>
              <a:t>2 rahul patil SSG Lane Pune MH 54000</a:t>
            </a:r>
          </a:p>
          <a:p>
            <a:r>
              <a:rPr lang="en-US" sz="2000" dirty="0">
                <a:latin typeface="Palatino Linotype" pitchFamily="18" charset="0"/>
              </a:rPr>
              <a:t>3 suraj raj k </a:t>
            </a:r>
            <a:r>
              <a:rPr lang="en-IN" sz="2000" dirty="0">
                <a:latin typeface="Palatino Linotype" pitchFamily="18" charset="0"/>
              </a:rPr>
              <a:t>Deccan Gymkhana </a:t>
            </a:r>
            <a:r>
              <a:rPr lang="en-US" sz="2000" dirty="0">
                <a:latin typeface="Palatino Linotype" pitchFamily="18" charset="0"/>
              </a:rPr>
              <a:t>Pune MH 22000</a:t>
            </a:r>
          </a:p>
          <a:p>
            <a:endParaRPr lang="en-US" sz="2000" dirty="0">
              <a:latin typeface="Palatino Linotype" pitchFamily="18" charset="0"/>
            </a:endParaRPr>
          </a:p>
          <a:p>
            <a:r>
              <a:rPr lang="en-US" sz="2000" dirty="0">
                <a:latin typeface="Palatino Linotype" pitchFamily="18" charset="0"/>
              </a:rPr>
              <a:t>4, S M Kumar, Mg Road Pune MH, 32000</a:t>
            </a:r>
          </a:p>
          <a:p>
            <a:r>
              <a:rPr lang="en-US" sz="2000" dirty="0">
                <a:latin typeface="Palatino Linotype" pitchFamily="18" charset="0"/>
              </a:rPr>
              <a:t>5, S M Kumar, Mg Road, Pune, MH, 32000</a:t>
            </a:r>
          </a:p>
        </p:txBody>
      </p:sp>
      <p:sp>
        <p:nvSpPr>
          <p:cNvPr id="9" name="Rectangle 8">
            <a:extLst>
              <a:ext uri="{FF2B5EF4-FFF2-40B4-BE49-F238E27FC236}">
                <a16:creationId xmlns:a16="http://schemas.microsoft.com/office/drawing/2014/main" id="{06974AF1-AFEC-4B2E-BB90-50B55556CA61}"/>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Tree>
    <p:extLst>
      <p:ext uri="{BB962C8B-B14F-4D97-AF65-F5344CB8AC3E}">
        <p14:creationId xmlns:p14="http://schemas.microsoft.com/office/powerpoint/2010/main" val="19413588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90CD33E-3569-8E73-EE45-34CAABAD38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3B667C-AA00-DA84-630A-57198EE809CE}"/>
              </a:ext>
            </a:extLst>
          </p:cNvPr>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US" dirty="0">
                <a:solidFill>
                  <a:srgbClr val="DC525C"/>
                </a:solidFill>
                <a:latin typeface="Segoe UI Light" panose="020B0502040204020203" pitchFamily="34" charset="0"/>
                <a:cs typeface="Segoe UI Light" panose="020B0502040204020203" pitchFamily="34" charset="0"/>
              </a:rPr>
              <a:t>advantages &amp; </a:t>
            </a:r>
            <a:r>
              <a:rPr lang="en-IN" dirty="0">
                <a:solidFill>
                  <a:srgbClr val="DC525C"/>
                </a:solidFill>
                <a:latin typeface="Segoe UI Light" panose="020B0502040204020203" pitchFamily="34" charset="0"/>
                <a:cs typeface="Segoe UI Light" panose="020B0502040204020203" pitchFamily="34" charset="0"/>
              </a:rPr>
              <a:t>disadvantage</a:t>
            </a:r>
            <a:r>
              <a:rPr lang="en-US" dirty="0">
                <a:solidFill>
                  <a:srgbClr val="DC525C"/>
                </a:solidFill>
                <a:latin typeface="Segoe UI Light" panose="020B0502040204020203" pitchFamily="34" charset="0"/>
                <a:cs typeface="Segoe UI Light" panose="020B0502040204020203" pitchFamily="34" charset="0"/>
              </a:rPr>
              <a:t> of file-</a:t>
            </a:r>
            <a:r>
              <a:rPr lang="en-IN" dirty="0">
                <a:solidFill>
                  <a:srgbClr val="DC525C"/>
                </a:solidFill>
                <a:latin typeface="Segoe UI Light" panose="020B0502040204020203" pitchFamily="34" charset="0"/>
                <a:cs typeface="Segoe UI Light" panose="020B0502040204020203" pitchFamily="34" charset="0"/>
              </a:rPr>
              <a:t>oriented</a:t>
            </a:r>
            <a:r>
              <a:rPr lang="en-US" dirty="0">
                <a:solidFill>
                  <a:srgbClr val="DC525C"/>
                </a:solidFill>
                <a:latin typeface="Segoe UI Light" panose="020B0502040204020203" pitchFamily="34" charset="0"/>
                <a:cs typeface="Segoe UI Light" panose="020B0502040204020203" pitchFamily="34" charset="0"/>
              </a:rPr>
              <a:t> system</a:t>
            </a:r>
          </a:p>
        </p:txBody>
      </p:sp>
    </p:spTree>
    <p:extLst>
      <p:ext uri="{BB962C8B-B14F-4D97-AF65-F5344CB8AC3E}">
        <p14:creationId xmlns:p14="http://schemas.microsoft.com/office/powerpoint/2010/main" val="16499217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advantages 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2" name="Rectangle 1">
            <a:extLst>
              <a:ext uri="{FF2B5EF4-FFF2-40B4-BE49-F238E27FC236}">
                <a16:creationId xmlns:a16="http://schemas.microsoft.com/office/drawing/2014/main" id="{2B38F028-BDF5-25F1-8D3F-2ABB8C6755B6}"/>
              </a:ext>
            </a:extLst>
          </p:cNvPr>
          <p:cNvSpPr/>
          <p:nvPr/>
        </p:nvSpPr>
        <p:spPr>
          <a:xfrm>
            <a:off x="119337" y="892800"/>
            <a:ext cx="11637137" cy="452431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Backup</a:t>
            </a:r>
            <a:r>
              <a:rPr lang="en-US" dirty="0">
                <a:latin typeface="Palatino Linotype" panose="02040502050505030304" pitchFamily="18" charset="0"/>
              </a:rPr>
              <a:t>: It is possible to take faster and automatic back-up of database stored in files of computer-based systems.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retrieval: </a:t>
            </a:r>
            <a:r>
              <a:rPr lang="en-US" dirty="0">
                <a:latin typeface="Palatino Linotype" panose="02040502050505030304" pitchFamily="18" charset="0"/>
              </a:rPr>
              <a:t>It is possible to retrieve data stored in files in easy and efficient way.</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Flexibility:</a:t>
            </a:r>
            <a:r>
              <a:rPr lang="en-US" b="0" i="0" dirty="0">
                <a:solidFill>
                  <a:srgbClr val="374151"/>
                </a:solidFill>
                <a:effectLst/>
                <a:latin typeface="Palatino Linotype" panose="02040502050505030304" pitchFamily="18" charset="0"/>
              </a:rPr>
              <a:t> </a:t>
            </a:r>
            <a:r>
              <a:rPr lang="en-US" dirty="0">
                <a:latin typeface="Palatino Linotype" panose="02040502050505030304" pitchFamily="18" charset="0"/>
              </a:rPr>
              <a:t>File systems provide flexibility in storing various types of data, including text documents, images, audio, video, and more</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Cost-Effectiveness</a:t>
            </a:r>
            <a:r>
              <a:rPr lang="en-US" dirty="0">
                <a:latin typeface="Palatino Linotype" panose="02040502050505030304" pitchFamily="18" charset="0"/>
              </a:rPr>
              <a:t>: File systems often do not incur licensing costs, making them cost-effective for basic data storage needs.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Editing</a:t>
            </a:r>
            <a:r>
              <a:rPr lang="en-US" i="1" dirty="0">
                <a:latin typeface="Palatino Linotype" panose="02040502050505030304" pitchFamily="18" charset="0"/>
              </a:rPr>
              <a:t>: </a:t>
            </a:r>
            <a:r>
              <a:rPr lang="en-US" dirty="0">
                <a:latin typeface="Palatino Linotype" panose="02040502050505030304" pitchFamily="18" charset="0"/>
              </a:rPr>
              <a:t>It is easy to edit any information stored in computers in form of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Remote</a:t>
            </a:r>
            <a:r>
              <a:rPr lang="en-US" i="1" dirty="0">
                <a:latin typeface="Palatino Linotype" panose="02040502050505030304" pitchFamily="18" charset="0"/>
              </a:rPr>
              <a:t> </a:t>
            </a:r>
            <a:r>
              <a:rPr lang="en-US" b="1" dirty="0">
                <a:latin typeface="Palatino Linotype" panose="02040502050505030304" pitchFamily="18" charset="0"/>
              </a:rPr>
              <a:t>access</a:t>
            </a:r>
            <a:r>
              <a:rPr lang="en-US" i="1" dirty="0">
                <a:latin typeface="Palatino Linotype" panose="02040502050505030304" pitchFamily="18" charset="0"/>
              </a:rPr>
              <a:t>: </a:t>
            </a:r>
            <a:r>
              <a:rPr lang="en-US" dirty="0">
                <a:latin typeface="Palatino Linotype" panose="02040502050505030304" pitchFamily="18" charset="0"/>
              </a:rPr>
              <a:t>It is possible to access data from remote location.</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The files stored in systems can be shared among multiple users at a same time.</a:t>
            </a:r>
          </a:p>
        </p:txBody>
      </p:sp>
      <p:sp>
        <p:nvSpPr>
          <p:cNvPr id="3" name="Rectangle 2">
            <a:extLst>
              <a:ext uri="{FF2B5EF4-FFF2-40B4-BE49-F238E27FC236}">
                <a16:creationId xmlns:a16="http://schemas.microsoft.com/office/drawing/2014/main" id="{7E70DCF9-95F2-0DFF-88CF-E650C535AD1A}"/>
              </a:ext>
            </a:extLst>
          </p:cNvPr>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advantage of file-based storage is as follows.</a:t>
            </a:r>
          </a:p>
        </p:txBody>
      </p:sp>
    </p:spTree>
    <p:extLst>
      <p:ext uri="{BB962C8B-B14F-4D97-AF65-F5344CB8AC3E}">
        <p14:creationId xmlns:p14="http://schemas.microsoft.com/office/powerpoint/2010/main" val="913553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2065758"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disadvantage of file-based storage is as follows.</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893613"/>
            <a:ext cx="11953327" cy="584775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redundancy</a:t>
            </a:r>
            <a:r>
              <a:rPr lang="en-US" i="1" dirty="0">
                <a:latin typeface="Palatino Linotype" panose="02040502050505030304" pitchFamily="18" charset="0"/>
              </a:rPr>
              <a:t>: </a:t>
            </a:r>
            <a:r>
              <a:rPr lang="en-US" dirty="0">
                <a:latin typeface="Palatino Linotype" panose="02040502050505030304" pitchFamily="18" charset="0"/>
              </a:rPr>
              <a:t>It is possible that the same information may be duplicated in different files. This leads to data redundancy results in memory wastage. </a:t>
            </a:r>
          </a:p>
          <a:p>
            <a:pPr marL="273050"/>
            <a:r>
              <a:rPr lang="en-US" dirty="0">
                <a:solidFill>
                  <a:srgbClr val="006C86"/>
                </a:solidFill>
                <a:latin typeface="Palatino Linotype" panose="02040502050505030304" pitchFamily="18" charset="0"/>
              </a:rPr>
              <a:t>(Suppose a</a:t>
            </a:r>
            <a:r>
              <a:rPr lang="en-US" b="0" i="0" dirty="0">
                <a:solidFill>
                  <a:srgbClr val="006C86"/>
                </a:solidFill>
                <a:effectLst/>
                <a:latin typeface="Palatino Linotype" panose="02040502050505030304" pitchFamily="18" charset="0"/>
              </a:rPr>
              <a:t> </a:t>
            </a:r>
            <a:r>
              <a:rPr lang="en-US" dirty="0">
                <a:solidFill>
                  <a:srgbClr val="006C86"/>
                </a:solidFill>
                <a:latin typeface="Palatino Linotype" panose="02040502050505030304" pitchFamily="18" charset="0"/>
              </a:rPr>
              <a:t>customer having both kind of accounts - </a:t>
            </a:r>
            <a:r>
              <a:rPr lang="en-US" b="1" dirty="0">
                <a:solidFill>
                  <a:srgbClr val="FF0000"/>
                </a:solidFill>
                <a:latin typeface="Palatino Linotype" panose="02040502050505030304" pitchFamily="18" charset="0"/>
              </a:rPr>
              <a:t>saving</a:t>
            </a:r>
            <a:r>
              <a:rPr lang="en-US" dirty="0">
                <a:solidFill>
                  <a:srgbClr val="006C86"/>
                </a:solidFill>
                <a:latin typeface="Palatino Linotype" panose="02040502050505030304" pitchFamily="18" charset="0"/>
              </a:rPr>
              <a:t> and </a:t>
            </a:r>
            <a:r>
              <a:rPr lang="en-US" b="1" dirty="0">
                <a:solidFill>
                  <a:srgbClr val="FF0000"/>
                </a:solidFill>
                <a:latin typeface="Palatino Linotype" panose="02040502050505030304" pitchFamily="18" charset="0"/>
              </a:rPr>
              <a:t>current</a:t>
            </a:r>
            <a:r>
              <a:rPr lang="en-US" dirty="0">
                <a:solidFill>
                  <a:srgbClr val="006C86"/>
                </a:solidFill>
                <a:latin typeface="Palatino Linotype" panose="02040502050505030304" pitchFamily="18" charset="0"/>
              </a:rPr>
              <a:t> account. In such a situation a customer detail are stored in both the file, saving.txt- file and current.txt- file , which leads to Data Redundancy.)</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inconsistency</a:t>
            </a:r>
            <a:r>
              <a:rPr lang="en-US" i="1" dirty="0">
                <a:latin typeface="Palatino Linotype" panose="02040502050505030304" pitchFamily="18" charset="0"/>
              </a:rPr>
              <a:t>: </a:t>
            </a:r>
            <a:r>
              <a:rPr lang="en-US" dirty="0">
                <a:latin typeface="Palatino Linotype" panose="02040502050505030304" pitchFamily="18" charset="0"/>
              </a:rPr>
              <a:t>Because of data redundancy, it is possible that data may not be in consistent state. </a:t>
            </a:r>
          </a:p>
          <a:p>
            <a:pPr marL="273050"/>
            <a:r>
              <a:rPr lang="en-US" dirty="0">
                <a:solidFill>
                  <a:srgbClr val="006C86"/>
                </a:solidFill>
                <a:latin typeface="Palatino Linotype" panose="02040502050505030304" pitchFamily="18" charset="0"/>
              </a:rPr>
              <a:t>(Suppose customer changed his/her address. There might be a possibility that address is changed in only one file (saving.txt) and other (current.txt) remain unchanged.)</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Limited</a:t>
            </a:r>
            <a:r>
              <a:rPr lang="en-US" i="1" dirty="0">
                <a:latin typeface="Palatino Linotype" panose="02040502050505030304" pitchFamily="18" charset="0"/>
              </a:rPr>
              <a:t> </a:t>
            </a: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Data are scattered in various files and also different files may have different formats </a:t>
            </a:r>
            <a:r>
              <a:rPr lang="en-US" dirty="0">
                <a:solidFill>
                  <a:srgbClr val="006C86"/>
                </a:solidFill>
                <a:latin typeface="Palatino Linotype" panose="02040502050505030304" pitchFamily="18" charset="0"/>
              </a:rPr>
              <a:t>(for example: .txt, .csv, .tsv and .xml) </a:t>
            </a:r>
            <a:r>
              <a:rPr lang="en-US" dirty="0">
                <a:latin typeface="Palatino Linotype" panose="02040502050505030304" pitchFamily="18" charset="0"/>
              </a:rPr>
              <a:t>and these files may be stored in different folders so, due to this it is difficult to share data among different applications also if the saving account department wants to share data with loan department, they need to manually copy files, leading to delays because File Systems do not support multi-user environments.</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Isolation: </a:t>
            </a:r>
            <a:r>
              <a:rPr lang="en-US" dirty="0">
                <a:latin typeface="Palatino Linotype" panose="02040502050505030304" pitchFamily="18" charset="0"/>
              </a:rPr>
              <a:t>Because data are scattered in various files, and files may be in different formats</a:t>
            </a:r>
            <a:r>
              <a:rPr lang="en-US" dirty="0">
                <a:solidFill>
                  <a:srgbClr val="006C86"/>
                </a:solidFill>
                <a:latin typeface="Palatino Linotype" panose="02040502050505030304" pitchFamily="18" charset="0"/>
              </a:rPr>
              <a:t> (for example: .txt, .csv, .tsv and .xml)</a:t>
            </a:r>
            <a:r>
              <a:rPr lang="en-US" dirty="0">
                <a:latin typeface="Palatino Linotype" panose="02040502050505030304" pitchFamily="18" charset="0"/>
              </a:rPr>
              <a:t>, writing new application programs to retrieve the appropriate data is difficult. </a:t>
            </a:r>
          </a:p>
          <a:p>
            <a:pPr marL="285750" indent="-285750">
              <a:buFont typeface="Arial" panose="020B0604020202020204" pitchFamily="34" charset="0"/>
              <a:buChar char="•"/>
            </a:pPr>
            <a:r>
              <a:rPr lang="en-US" dirty="0">
                <a:solidFill>
                  <a:srgbClr val="006C86"/>
                </a:solidFill>
                <a:latin typeface="Palatino Linotype" panose="02040502050505030304" pitchFamily="18" charset="0"/>
              </a:rPr>
              <a:t>(Suppose a loan data is in one file and account holder data in another, there is no easy way to analyze account holder data with his loan status.)</a:t>
            </a:r>
          </a:p>
          <a:p>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security: </a:t>
            </a:r>
            <a:r>
              <a:rPr lang="en-US" dirty="0">
                <a:latin typeface="Palatino Linotype" panose="02040502050505030304" pitchFamily="18" charset="0"/>
              </a:rPr>
              <a:t>Data should be secured from unauthorized access, </a:t>
            </a:r>
            <a:r>
              <a:rPr lang="en-US" dirty="0">
                <a:solidFill>
                  <a:srgbClr val="006C86"/>
                </a:solidFill>
                <a:latin typeface="Palatino Linotype" panose="02040502050505030304" pitchFamily="18" charset="0"/>
              </a:rPr>
              <a:t>for example a account holder in a bank should not be able to see the account details of another account holder,</a:t>
            </a:r>
            <a:r>
              <a:rPr lang="en-US" dirty="0">
                <a:latin typeface="Palatino Linotype" panose="02040502050505030304" pitchFamily="18" charset="0"/>
              </a:rPr>
              <a:t> such kind of security constraints are difficult to apply in file processing systems.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3017321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335360" y="827420"/>
            <a:ext cx="6408712" cy="369332"/>
          </a:xfrm>
          <a:prstGeom prst="rect">
            <a:avLst/>
          </a:prstGeom>
        </p:spPr>
        <p:txBody>
          <a:bodyPr wrap="square">
            <a:spAutoFit/>
          </a:bodyPr>
          <a:lstStyle/>
          <a:p>
            <a:r>
              <a:rPr lang="en-US" dirty="0">
                <a:latin typeface="Palatino Linotype" pitchFamily="18" charset="0"/>
              </a:rPr>
              <a:t>The biggest disadvantage of file-based storage is as follows.</a:t>
            </a:r>
          </a:p>
        </p:txBody>
      </p:sp>
      <p:sp>
        <p:nvSpPr>
          <p:cNvPr id="2" name="Rectangle 1"/>
          <p:cNvSpPr/>
          <p:nvPr/>
        </p:nvSpPr>
        <p:spPr>
          <a:xfrm>
            <a:off x="335360" y="1340768"/>
            <a:ext cx="7992888" cy="400110"/>
          </a:xfrm>
          <a:prstGeom prst="rect">
            <a:avLst/>
          </a:prstGeom>
        </p:spPr>
        <p:txBody>
          <a:bodyPr wrap="square">
            <a:spAutoFit/>
          </a:bodyPr>
          <a:lstStyle/>
          <a:p>
            <a:r>
              <a:rPr lang="en-IN" sz="2000" b="1" dirty="0">
                <a:latin typeface="Palatino Linotype" panose="02040502050505030304" pitchFamily="18" charset="0"/>
              </a:rPr>
              <a:t>Disadvantage </a:t>
            </a:r>
            <a:r>
              <a:rPr lang="en-IN" sz="2000" b="1" dirty="0">
                <a:solidFill>
                  <a:srgbClr val="000000"/>
                </a:solidFill>
                <a:latin typeface="Palatino Linotype" panose="02040502050505030304" pitchFamily="18" charset="0"/>
              </a:rPr>
              <a:t> of File-oriented system</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1844824"/>
            <a:ext cx="11881319" cy="4216539"/>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Integrity</a:t>
            </a:r>
            <a:r>
              <a:rPr lang="en-US" i="1" dirty="0">
                <a:latin typeface="Palatino Linotype" panose="02040502050505030304" pitchFamily="18" charset="0"/>
              </a:rPr>
              <a:t>: </a:t>
            </a:r>
            <a:r>
              <a:rPr lang="en-US" dirty="0">
                <a:latin typeface="Palatino Linotype" panose="02040502050505030304" pitchFamily="18" charset="0"/>
              </a:rPr>
              <a:t>Data integrity refers to the accuracy and consistency of data. In a file-oriented system, enforcing data integrity is difficult because there are no built-in mechanisms to ensure that data is valid or consistent across multiple files</a:t>
            </a:r>
            <a:r>
              <a:rPr lang="en-US" dirty="0">
                <a:solidFill>
                  <a:srgbClr val="006C86"/>
                </a:solidFill>
                <a:latin typeface="Palatino Linotype" panose="02040502050505030304" pitchFamily="18" charset="0"/>
              </a:rPr>
              <a:t>. </a:t>
            </a:r>
          </a:p>
          <a:p>
            <a:pPr marL="273050"/>
            <a:r>
              <a:rPr lang="en-US" dirty="0">
                <a:solidFill>
                  <a:srgbClr val="006C86"/>
                </a:solidFill>
                <a:latin typeface="Palatino Linotype" panose="02040502050505030304" pitchFamily="18" charset="0"/>
              </a:rPr>
              <a:t>(the balance field value must be grater than 5000.)</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Concurrency Issues: </a:t>
            </a:r>
            <a:r>
              <a:rPr lang="en-US" dirty="0">
                <a:latin typeface="Palatino Linotype" panose="02040502050505030304" pitchFamily="18" charset="0"/>
              </a:rPr>
              <a:t>When multiple users or applications try to access and modify a file at the same time, concurrency problems can arise. </a:t>
            </a:r>
          </a:p>
          <a:p>
            <a:pPr marL="273050"/>
            <a:r>
              <a:rPr lang="en-US" dirty="0">
                <a:solidFill>
                  <a:srgbClr val="006C86"/>
                </a:solidFill>
                <a:latin typeface="Palatino Linotype" panose="02040502050505030304" pitchFamily="18" charset="0"/>
              </a:rPr>
              <a:t>(if two users attempt to update the same file simultaneously, it can lead to data corruption or loss of data.)</a:t>
            </a:r>
          </a:p>
          <a:p>
            <a:pPr marL="273050"/>
            <a:endParaRPr lang="en-US"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Lack of Flexibility: </a:t>
            </a:r>
            <a:r>
              <a:rPr lang="en-US" dirty="0">
                <a:latin typeface="Palatino Linotype" panose="02040502050505030304" pitchFamily="18" charset="0"/>
              </a:rPr>
              <a:t>Modifying the structure of files, such as adding new fields or changing data formats, can be difficult and time-consuming. Changes might require manual updates to each file or even rewriting entire applications that interact with the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Poor Scalability: </a:t>
            </a:r>
            <a:r>
              <a:rPr lang="en-US" dirty="0">
                <a:latin typeface="Palatino Linotype" panose="02040502050505030304" pitchFamily="18" charset="0"/>
              </a:rPr>
              <a:t>As the amount of data grows, file-based systems become less efficient and more difficult to manage. Searching through large files can be slow, and as more files are added, the complexity of managing the system increases.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941968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database?</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59192" y="3140968"/>
            <a:ext cx="2592288" cy="3583060"/>
          </a:xfrm>
          <a:prstGeom prst="rect">
            <a:avLst/>
          </a:prstGeom>
        </p:spPr>
      </p:pic>
      <p:sp>
        <p:nvSpPr>
          <p:cNvPr id="3" name="Rectangle 2"/>
          <p:cNvSpPr/>
          <p:nvPr/>
        </p:nvSpPr>
        <p:spPr>
          <a:xfrm>
            <a:off x="436984" y="836712"/>
            <a:ext cx="11214496" cy="707886"/>
          </a:xfrm>
          <a:prstGeom prst="rect">
            <a:avLst/>
          </a:prstGeom>
        </p:spPr>
        <p:txBody>
          <a:bodyPr wrap="square">
            <a:spAutoFit/>
          </a:bodyPr>
          <a:lstStyle/>
          <a:p>
            <a:r>
              <a:rPr lang="en-IN" sz="2000" dirty="0">
                <a:solidFill>
                  <a:schemeClr val="accent5">
                    <a:lumMod val="50000"/>
                  </a:schemeClr>
                </a:solidFill>
                <a:latin typeface="arial" panose="020B0604020202020204" pitchFamily="34" charset="0"/>
              </a:rPr>
              <a:t>A </a:t>
            </a:r>
            <a:r>
              <a:rPr lang="en-IN" sz="2000" b="1" dirty="0">
                <a:solidFill>
                  <a:schemeClr val="accent5">
                    <a:lumMod val="50000"/>
                  </a:schemeClr>
                </a:solidFill>
                <a:latin typeface="arial" panose="020B0604020202020204" pitchFamily="34" charset="0"/>
              </a:rPr>
              <a:t>database application</a:t>
            </a:r>
            <a:r>
              <a:rPr lang="en-IN" sz="2000" dirty="0">
                <a:solidFill>
                  <a:schemeClr val="accent5">
                    <a:lumMod val="50000"/>
                  </a:schemeClr>
                </a:solidFill>
                <a:latin typeface="arial" panose="020B0604020202020204" pitchFamily="34" charset="0"/>
              </a:rPr>
              <a:t> is a computer program whose primary purpose is entering and retrieving information.</a:t>
            </a:r>
            <a:endParaRPr lang="en-IN" sz="2000" dirty="0">
              <a:solidFill>
                <a:schemeClr val="accent5">
                  <a:lumMod val="50000"/>
                </a:schemeClr>
              </a:solidFill>
            </a:endParaRPr>
          </a:p>
        </p:txBody>
      </p:sp>
      <p:sp>
        <p:nvSpPr>
          <p:cNvPr id="6" name="TextBox 5">
            <a:extLst>
              <a:ext uri="{FF2B5EF4-FFF2-40B4-BE49-F238E27FC236}">
                <a16:creationId xmlns:a16="http://schemas.microsoft.com/office/drawing/2014/main" id="{7763F8B1-366E-892E-CDFF-EA524E28C296}"/>
              </a:ext>
            </a:extLst>
          </p:cNvPr>
          <p:cNvSpPr txBox="1"/>
          <p:nvPr/>
        </p:nvSpPr>
        <p:spPr>
          <a:xfrm>
            <a:off x="436984" y="4149080"/>
            <a:ext cx="7891264" cy="769441"/>
          </a:xfrm>
          <a:prstGeom prst="rect">
            <a:avLst/>
          </a:prstGeom>
        </p:spPr>
        <p:txBody>
          <a:bodyPr wrap="square">
            <a:spAutoFit/>
          </a:bodyPr>
          <a:lstStyle>
            <a:defPPr>
              <a:defRPr lang="en-US"/>
            </a:defPPr>
            <a:lvl1pPr>
              <a:defRPr sz="2000">
                <a:solidFill>
                  <a:schemeClr val="accent5">
                    <a:lumMod val="50000"/>
                  </a:schemeClr>
                </a:solidFill>
                <a:latin typeface="arial" panose="020B0604020202020204" pitchFamily="34" charset="0"/>
              </a:defRPr>
            </a:lvl1pPr>
          </a:lstStyle>
          <a:p>
            <a:r>
              <a:rPr lang="en-IN" dirty="0"/>
              <a:t>A major purpose of a database system is to provide users with an </a:t>
            </a:r>
            <a:r>
              <a:rPr lang="en-IN" sz="2400" b="1" i="1" dirty="0"/>
              <a:t>abstract view </a:t>
            </a:r>
            <a:r>
              <a:rPr lang="en-IN" dirty="0"/>
              <a:t>of the data.</a:t>
            </a:r>
          </a:p>
        </p:txBody>
      </p:sp>
      <p:sp>
        <p:nvSpPr>
          <p:cNvPr id="8" name="TextBox 7">
            <a:extLst>
              <a:ext uri="{FF2B5EF4-FFF2-40B4-BE49-F238E27FC236}">
                <a16:creationId xmlns:a16="http://schemas.microsoft.com/office/drawing/2014/main" id="{0769970B-7918-A231-F0ED-BEE0B30595B2}"/>
              </a:ext>
            </a:extLst>
          </p:cNvPr>
          <p:cNvSpPr txBox="1"/>
          <p:nvPr/>
        </p:nvSpPr>
        <p:spPr>
          <a:xfrm>
            <a:off x="436984" y="5253116"/>
            <a:ext cx="7891264" cy="646331"/>
          </a:xfrm>
          <a:prstGeom prst="rect">
            <a:avLst/>
          </a:prstGeom>
          <a:noFill/>
        </p:spPr>
        <p:txBody>
          <a:bodyPr wrap="square">
            <a:spAutoFit/>
          </a:bodyPr>
          <a:lstStyle/>
          <a:p>
            <a:r>
              <a:rPr lang="en-IN" sz="1800" b="1" i="1" dirty="0"/>
              <a:t>abstract means </a:t>
            </a:r>
            <a:r>
              <a:rPr lang="en-US" b="0" i="0" dirty="0">
                <a:solidFill>
                  <a:srgbClr val="202124"/>
                </a:solidFill>
                <a:effectLst/>
                <a:latin typeface="arial" panose="020B0604020202020204" pitchFamily="34" charset="0"/>
              </a:rPr>
              <a:t>existing in thought or as an idea but not having a physical or concrete existence.</a:t>
            </a:r>
            <a:endParaRPr lang="en-IN" dirty="0"/>
          </a:p>
        </p:txBody>
      </p:sp>
    </p:spTree>
    <p:extLst>
      <p:ext uri="{BB962C8B-B14F-4D97-AF65-F5344CB8AC3E}">
        <p14:creationId xmlns:p14="http://schemas.microsoft.com/office/powerpoint/2010/main" val="7694451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360" y="914400"/>
            <a:ext cx="11521280" cy="1569660"/>
          </a:xfrm>
          <a:prstGeom prst="rect">
            <a:avLst/>
          </a:prstGeom>
        </p:spPr>
        <p:txBody>
          <a:bodyPr wrap="square">
            <a:spAutoFit/>
          </a:bodyPr>
          <a:lstStyle/>
          <a:p>
            <a:r>
              <a:rPr lang="en-US" sz="2400" dirty="0">
                <a:latin typeface="Arial" pitchFamily="34" charset="0"/>
                <a:cs typeface="Arial" pitchFamily="34" charset="0"/>
              </a:rPr>
              <a:t>A database is a system to </a:t>
            </a:r>
            <a:r>
              <a:rPr lang="en-US" sz="3200" b="1" dirty="0">
                <a:solidFill>
                  <a:schemeClr val="bg2">
                    <a:lumMod val="50000"/>
                  </a:schemeClr>
                </a:solidFill>
                <a:latin typeface="Arial" pitchFamily="34" charset="0"/>
                <a:cs typeface="Arial" pitchFamily="34" charset="0"/>
              </a:rPr>
              <a:t>organize, store </a:t>
            </a:r>
            <a:r>
              <a:rPr lang="en-US" sz="2400" dirty="0">
                <a:latin typeface="Arial" pitchFamily="34" charset="0"/>
                <a:cs typeface="Arial" pitchFamily="34" charset="0"/>
              </a:rPr>
              <a:t>and</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retrieve</a:t>
            </a:r>
            <a:r>
              <a:rPr lang="en-US" sz="2800" b="1" dirty="0">
                <a:solidFill>
                  <a:srgbClr val="C00000"/>
                </a:solidFill>
                <a:latin typeface="Arial" pitchFamily="34" charset="0"/>
                <a:cs typeface="Arial" pitchFamily="34" charset="0"/>
              </a:rPr>
              <a:t> </a:t>
            </a:r>
            <a:r>
              <a:rPr lang="en-US" sz="2400" dirty="0">
                <a:latin typeface="Arial" pitchFamily="34" charset="0"/>
                <a:cs typeface="Arial" pitchFamily="34" charset="0"/>
              </a:rPr>
              <a:t>large amounts of data easily, which is stored in </a:t>
            </a:r>
            <a:r>
              <a:rPr lang="en-US" sz="3200" b="1" dirty="0">
                <a:solidFill>
                  <a:schemeClr val="bg2">
                    <a:lumMod val="50000"/>
                  </a:schemeClr>
                </a:solidFill>
                <a:latin typeface="Arial" pitchFamily="34" charset="0"/>
                <a:cs typeface="Arial" pitchFamily="34" charset="0"/>
              </a:rPr>
              <a:t>one</a:t>
            </a:r>
            <a:r>
              <a:rPr lang="en-US" sz="3200" b="1" dirty="0">
                <a:solidFill>
                  <a:srgbClr val="C0000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files</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by </a:t>
            </a:r>
            <a:r>
              <a:rPr lang="en-US" sz="3200" b="1" dirty="0">
                <a:solidFill>
                  <a:srgbClr val="C00000"/>
                </a:solidFill>
                <a:latin typeface="Arial" pitchFamily="34" charset="0"/>
                <a:cs typeface="Arial" pitchFamily="34" charset="0"/>
              </a:rPr>
              <a:t>one</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users</a:t>
            </a:r>
            <a:r>
              <a:rPr lang="en-US" sz="3200" b="1" dirty="0">
                <a:latin typeface="Arial" pitchFamily="34" charset="0"/>
                <a:cs typeface="Arial" pitchFamily="34" charset="0"/>
              </a:rPr>
              <a:t>.</a:t>
            </a:r>
          </a:p>
        </p:txBody>
      </p:sp>
      <p:sp>
        <p:nvSpPr>
          <p:cNvPr id="4" name="Rectangle 3"/>
          <p:cNvSpPr/>
          <p:nvPr/>
        </p:nvSpPr>
        <p:spPr>
          <a:xfrm>
            <a:off x="335360" y="2895601"/>
            <a:ext cx="11521280" cy="1077218"/>
          </a:xfrm>
          <a:prstGeom prst="rect">
            <a:avLst/>
          </a:prstGeom>
        </p:spPr>
        <p:txBody>
          <a:bodyPr wrap="square">
            <a:spAutoFit/>
          </a:bodyPr>
          <a:lstStyle/>
          <a:p>
            <a:r>
              <a:rPr lang="en-US" sz="2400" dirty="0">
                <a:latin typeface="Arial" pitchFamily="34" charset="0"/>
                <a:cs typeface="Arial" pitchFamily="34" charset="0"/>
              </a:rPr>
              <a:t>Each database is a collection of tables, which are called </a:t>
            </a:r>
            <a:r>
              <a:rPr lang="en-US" sz="3200" b="1" dirty="0">
                <a:solidFill>
                  <a:schemeClr val="bg2">
                    <a:lumMod val="50000"/>
                  </a:schemeClr>
                </a:solidFill>
                <a:latin typeface="Arial" pitchFamily="34" charset="0"/>
                <a:cs typeface="Arial" pitchFamily="34" charset="0"/>
              </a:rPr>
              <a:t>relations</a:t>
            </a:r>
            <a:r>
              <a:rPr lang="en-US" sz="2400" dirty="0">
                <a:latin typeface="Arial" pitchFamily="34" charset="0"/>
                <a:cs typeface="Arial" pitchFamily="34" charset="0"/>
              </a:rPr>
              <a:t>, hence the name </a:t>
            </a:r>
            <a:r>
              <a:rPr lang="en-US" sz="2400" b="1" dirty="0">
                <a:latin typeface="Arial" pitchFamily="34" charset="0"/>
                <a:cs typeface="Arial" pitchFamily="34" charset="0"/>
              </a:rPr>
              <a:t>"</a:t>
            </a:r>
            <a:r>
              <a:rPr lang="en-US" sz="3200" b="1" dirty="0">
                <a:solidFill>
                  <a:schemeClr val="bg2">
                    <a:lumMod val="50000"/>
                  </a:schemeClr>
                </a:solidFill>
                <a:latin typeface="Arial" pitchFamily="34" charset="0"/>
                <a:cs typeface="Arial" pitchFamily="34" charset="0"/>
              </a:rPr>
              <a:t>relational</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database</a:t>
            </a:r>
            <a:r>
              <a:rPr lang="en-US" sz="2400" b="1" dirty="0">
                <a:latin typeface="Arial" pitchFamily="34" charset="0"/>
                <a:cs typeface="Arial" pitchFamily="34" charset="0"/>
              </a:rPr>
              <a:t>"</a:t>
            </a:r>
            <a:r>
              <a:rPr lang="en-US" sz="2400" dirty="0">
                <a:latin typeface="Arial" pitchFamily="34" charset="0"/>
                <a:cs typeface="Arial" pitchFamily="34" charset="0"/>
              </a:rPr>
              <a:t>.</a:t>
            </a:r>
          </a:p>
        </p:txBody>
      </p:sp>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database</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aphicFrame>
        <p:nvGraphicFramePr>
          <p:cNvPr id="6" name="Table 5"/>
          <p:cNvGraphicFramePr>
            <a:graphicFrameLocks noGrp="1"/>
          </p:cNvGraphicFramePr>
          <p:nvPr/>
        </p:nvGraphicFramePr>
        <p:xfrm>
          <a:off x="9296400" y="6441743"/>
          <a:ext cx="1205552" cy="370840"/>
        </p:xfrm>
        <a:graphic>
          <a:graphicData uri="http://schemas.openxmlformats.org/drawingml/2006/table">
            <a:tbl>
              <a:tblPr firstRow="1" bandRow="1">
                <a:tableStyleId>{5C22544A-7EE6-4342-B048-85BDC9FD1C3A}</a:tableStyleId>
              </a:tblPr>
              <a:tblGrid>
                <a:gridCol w="1205552">
                  <a:extLst>
                    <a:ext uri="{9D8B030D-6E8A-4147-A177-3AD203B41FA5}">
                      <a16:colId xmlns:a16="http://schemas.microsoft.com/office/drawing/2014/main" val="20000"/>
                    </a:ext>
                  </a:extLst>
                </a:gridCol>
              </a:tblGrid>
              <a:tr h="370840">
                <a:tc>
                  <a:txBody>
                    <a:bodyPr/>
                    <a:lstStyle/>
                    <a:p>
                      <a:pPr algn="ctr"/>
                      <a:r>
                        <a:rPr lang="en-US" sz="1400" dirty="0">
                          <a:solidFill>
                            <a:schemeClr val="tx1"/>
                          </a:solidFill>
                          <a:latin typeface="Arial" panose="020B0604020202020204" pitchFamily="34" charset="0"/>
                          <a:cs typeface="Arial" panose="020B0604020202020204" pitchFamily="34" charset="0"/>
                          <a:hlinkClick r:id="rId2" action="ppaction://hlinksldjump"/>
                        </a:rPr>
                        <a:t>Index Page</a:t>
                      </a:r>
                      <a:endParaRPr lang="en-US" sz="1400" dirty="0">
                        <a:solidFill>
                          <a:schemeClr val="tx1"/>
                        </a:solidFill>
                        <a:latin typeface="Arial" panose="020B0604020202020204" pitchFamily="34" charset="0"/>
                        <a:cs typeface="Arial" panose="020B0604020202020204" pitchFamily="34" charset="0"/>
                      </a:endParaRPr>
                    </a:p>
                  </a:txBody>
                  <a:tcPr>
                    <a:solidFill>
                      <a:schemeClr val="bg1"/>
                    </a:solidFill>
                  </a:tcPr>
                </a:tc>
                <a:extLst>
                  <a:ext uri="{0D108BD9-81ED-4DB2-BD59-A6C34878D82A}">
                    <a16:rowId xmlns:a16="http://schemas.microsoft.com/office/drawing/2014/main" val="10000"/>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6200" y="3972819"/>
            <a:ext cx="3816723" cy="2821057"/>
          </a:xfrm>
          <a:prstGeom prst="rect">
            <a:avLst/>
          </a:prstGeom>
        </p:spPr>
      </p:pic>
    </p:spTree>
    <p:extLst>
      <p:ext uri="{BB962C8B-B14F-4D97-AF65-F5344CB8AC3E}">
        <p14:creationId xmlns:p14="http://schemas.microsoft.com/office/powerpoint/2010/main" val="7306746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047B32F-2DEE-4BF6-BF71-0D507C6D187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752184" y="4959918"/>
            <a:ext cx="4319686" cy="1898081"/>
          </a:xfrm>
          <a:prstGeom prst="rect">
            <a:avLst/>
          </a:prstGeom>
        </p:spPr>
      </p:pic>
      <p:sp>
        <p:nvSpPr>
          <p:cNvPr id="9" name="Title 1">
            <a:extLst>
              <a:ext uri="{FF2B5EF4-FFF2-40B4-BE49-F238E27FC236}">
                <a16:creationId xmlns:a16="http://schemas.microsoft.com/office/drawing/2014/main" id="{EDD29AA8-AA0C-4658-8F05-BAE35E63CA82}"/>
              </a:ext>
            </a:extLst>
          </p:cNvPr>
          <p:cNvSpPr txBox="1">
            <a:spLocks/>
          </p:cNvSpPr>
          <p:nvPr/>
        </p:nvSpPr>
        <p:spPr>
          <a:xfrm>
            <a:off x="1676182" y="2619851"/>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11" name="Rectangle 10">
            <a:extLst>
              <a:ext uri="{FF2B5EF4-FFF2-40B4-BE49-F238E27FC236}">
                <a16:creationId xmlns:a16="http://schemas.microsoft.com/office/drawing/2014/main" id="{5643E37C-A7AB-4B13-B6A8-ACC4B9D0F70E}"/>
              </a:ext>
            </a:extLst>
          </p:cNvPr>
          <p:cNvSpPr/>
          <p:nvPr/>
        </p:nvSpPr>
        <p:spPr>
          <a:xfrm>
            <a:off x="190550" y="3429000"/>
            <a:ext cx="11881320" cy="1754326"/>
          </a:xfrm>
          <a:prstGeom prst="rect">
            <a:avLst/>
          </a:prstGeom>
        </p:spPr>
        <p:txBody>
          <a:bodyPr wrap="square">
            <a:spAutoFit/>
          </a:bodyPr>
          <a:lstStyle/>
          <a:p>
            <a:pPr marL="285750" indent="-285750">
              <a:buFont typeface="Arial" panose="020B0604020202020204" pitchFamily="34" charset="0"/>
              <a:buChar char="•"/>
            </a:pPr>
            <a:r>
              <a:rPr lang="en-US" sz="2000" b="1" dirty="0">
                <a:latin typeface="Palatino Linotype" panose="02040502050505030304" pitchFamily="18" charset="0"/>
              </a:rPr>
              <a:t>database: </a:t>
            </a:r>
            <a:r>
              <a:rPr lang="en-US" sz="2000" dirty="0">
                <a:latin typeface="Palatino Linotype" panose="02040502050505030304" pitchFamily="18" charset="0"/>
              </a:rPr>
              <a:t>Is the collection of </a:t>
            </a:r>
            <a:r>
              <a:rPr lang="en-US" sz="2000" b="1" dirty="0">
                <a:latin typeface="Palatino Linotype" panose="02040502050505030304" pitchFamily="18" charset="0"/>
              </a:rPr>
              <a:t>related</a:t>
            </a:r>
            <a:r>
              <a:rPr lang="en-US" sz="2000" dirty="0">
                <a:latin typeface="Palatino Linotype" panose="02040502050505030304" pitchFamily="18" charset="0"/>
              </a:rPr>
              <a:t> </a:t>
            </a:r>
            <a:r>
              <a:rPr lang="en-US" sz="2000" b="1" dirty="0">
                <a:latin typeface="Palatino Linotype" panose="02040502050505030304" pitchFamily="18" charset="0"/>
              </a:rPr>
              <a:t>data </a:t>
            </a:r>
            <a:r>
              <a:rPr lang="en-US" sz="2000" dirty="0">
                <a:latin typeface="Palatino Linotype" panose="02040502050505030304" pitchFamily="18" charset="0"/>
              </a:rPr>
              <a:t>which is </a:t>
            </a:r>
            <a:r>
              <a:rPr lang="en-US" sz="2000" b="1" dirty="0">
                <a:latin typeface="Palatino Linotype" panose="02040502050505030304" pitchFamily="18" charset="0"/>
              </a:rPr>
              <a:t>organized, </a:t>
            </a:r>
            <a:r>
              <a:rPr lang="en-US" sz="2000" dirty="0">
                <a:latin typeface="Palatino Linotype" panose="02040502050505030304" pitchFamily="18" charset="0"/>
              </a:rPr>
              <a:t>database can store and retrieve large amount of data easily, which is stored in one or more data files by one or more users, it is called as </a:t>
            </a:r>
            <a:r>
              <a:rPr lang="en-US" sz="2400" b="1" dirty="0">
                <a:solidFill>
                  <a:srgbClr val="570528"/>
                </a:solidFill>
                <a:latin typeface="Palatino Linotype" panose="02040502050505030304" pitchFamily="18" charset="0"/>
              </a:rPr>
              <a:t>structured data</a:t>
            </a:r>
            <a:r>
              <a:rPr lang="en-US" sz="2400" b="1" dirty="0">
                <a:latin typeface="Palatino Linotype" panose="02040502050505030304" pitchFamily="18" charset="0"/>
              </a:rPr>
              <a:t>.</a:t>
            </a:r>
          </a:p>
          <a:p>
            <a:pPr marL="285750" indent="-285750">
              <a:buFont typeface="Arial" panose="020B0604020202020204" pitchFamily="34" charset="0"/>
              <a:buChar char="•"/>
            </a:pPr>
            <a:endParaRPr lang="en-US" sz="400" b="1" dirty="0">
              <a:latin typeface="Palatino Linotype" panose="02040502050505030304" pitchFamily="18" charset="0"/>
            </a:endParaRPr>
          </a:p>
          <a:p>
            <a:pPr marL="285750" indent="-285750">
              <a:buFont typeface="Arial" panose="020B0604020202020204" pitchFamily="34" charset="0"/>
              <a:buChar char="•"/>
            </a:pPr>
            <a:r>
              <a:rPr lang="en-IN" sz="2000" b="1" dirty="0">
                <a:latin typeface="Palatino Linotype" panose="02040502050505030304" pitchFamily="18" charset="0"/>
              </a:rPr>
              <a:t>management</a:t>
            </a:r>
            <a:r>
              <a:rPr lang="en-IN" sz="2000" dirty="0">
                <a:latin typeface="Palatino Linotype" panose="02040502050505030304" pitchFamily="18" charset="0"/>
              </a:rPr>
              <a:t> </a:t>
            </a:r>
            <a:r>
              <a:rPr lang="en-IN" sz="2000" b="1" dirty="0">
                <a:latin typeface="Palatino Linotype" panose="02040502050505030304" pitchFamily="18" charset="0"/>
              </a:rPr>
              <a:t>system</a:t>
            </a:r>
            <a:r>
              <a:rPr lang="en-IN" sz="2000" dirty="0">
                <a:latin typeface="Palatino Linotype" panose="02040502050505030304" pitchFamily="18" charset="0"/>
              </a:rPr>
              <a:t>: it </a:t>
            </a:r>
            <a:r>
              <a:rPr lang="en-US" sz="2000" dirty="0">
                <a:latin typeface="Palatino Linotype" panose="02040502050505030304" pitchFamily="18" charset="0"/>
              </a:rPr>
              <a:t>is a software, designed to </a:t>
            </a:r>
            <a:r>
              <a:rPr lang="en-US" sz="2000" b="1" dirty="0">
                <a:latin typeface="Palatino Linotype" panose="02040502050505030304" pitchFamily="18" charset="0"/>
              </a:rPr>
              <a:t>define</a:t>
            </a:r>
            <a:r>
              <a:rPr lang="en-US" sz="2000" dirty="0">
                <a:latin typeface="Palatino Linotype" panose="02040502050505030304" pitchFamily="18" charset="0"/>
              </a:rPr>
              <a:t>, </a:t>
            </a:r>
            <a:r>
              <a:rPr lang="en-US" sz="2000" b="1" dirty="0">
                <a:latin typeface="Palatino Linotype" panose="02040502050505030304" pitchFamily="18" charset="0"/>
              </a:rPr>
              <a:t>manipulate</a:t>
            </a:r>
            <a:r>
              <a:rPr lang="en-US" sz="2000" dirty="0">
                <a:latin typeface="Palatino Linotype" panose="02040502050505030304" pitchFamily="18" charset="0"/>
              </a:rPr>
              <a:t>, </a:t>
            </a:r>
            <a:r>
              <a:rPr lang="en-US" sz="2000" b="1" dirty="0">
                <a:latin typeface="Palatino Linotype" panose="02040502050505030304" pitchFamily="18" charset="0"/>
              </a:rPr>
              <a:t>retrieve</a:t>
            </a:r>
            <a:r>
              <a:rPr lang="en-US" sz="2000" dirty="0">
                <a:latin typeface="Palatino Linotype" panose="02040502050505030304" pitchFamily="18" charset="0"/>
              </a:rPr>
              <a:t> and </a:t>
            </a:r>
            <a:r>
              <a:rPr lang="en-US" sz="2000" b="1" dirty="0">
                <a:latin typeface="Palatino Linotype" panose="02040502050505030304" pitchFamily="18" charset="0"/>
              </a:rPr>
              <a:t>manage</a:t>
            </a:r>
            <a:r>
              <a:rPr lang="en-US" sz="2000" dirty="0">
                <a:latin typeface="Palatino Linotype" panose="02040502050505030304" pitchFamily="18" charset="0"/>
              </a:rPr>
              <a:t> data in a database.</a:t>
            </a:r>
            <a:endParaRPr lang="en-IN" sz="2000" dirty="0">
              <a:latin typeface="Palatino Linotype" panose="02040502050505030304" pitchFamily="18" charset="0"/>
            </a:endParaRPr>
          </a:p>
        </p:txBody>
      </p:sp>
      <p:sp>
        <p:nvSpPr>
          <p:cNvPr id="5" name="Rectangle 4">
            <a:extLst>
              <a:ext uri="{FF2B5EF4-FFF2-40B4-BE49-F238E27FC236}">
                <a16:creationId xmlns:a16="http://schemas.microsoft.com/office/drawing/2014/main" id="{C008A4DD-53D6-43AE-A7FD-1A80ED3421CE}"/>
              </a:ext>
            </a:extLst>
          </p:cNvPr>
          <p:cNvSpPr/>
          <p:nvPr/>
        </p:nvSpPr>
        <p:spPr>
          <a:xfrm>
            <a:off x="19998" y="263769"/>
            <a:ext cx="2115562" cy="369332"/>
          </a:xfrm>
          <a:prstGeom prst="rect">
            <a:avLst/>
          </a:prstGeom>
        </p:spPr>
        <p:txBody>
          <a:bodyPr wrap="square">
            <a:spAutoFit/>
          </a:bodyPr>
          <a:lstStyle/>
          <a:p>
            <a:r>
              <a:rPr lang="en-US" b="1" i="1" dirty="0">
                <a:latin typeface="Palatino Linotype" panose="02040502050505030304" pitchFamily="18" charset="0"/>
              </a:rPr>
              <a:t>Relation Schema</a:t>
            </a:r>
            <a:r>
              <a:rPr lang="en-US" b="1" dirty="0">
                <a:latin typeface="Palatino Linotype" panose="02040502050505030304" pitchFamily="18" charset="0"/>
              </a:rPr>
              <a:t>:</a:t>
            </a:r>
            <a:r>
              <a:rPr lang="en-US" dirty="0">
                <a:latin typeface="Palatino Linotype" panose="02040502050505030304" pitchFamily="18" charset="0"/>
              </a:rPr>
              <a:t> </a:t>
            </a:r>
          </a:p>
        </p:txBody>
      </p:sp>
      <p:sp>
        <p:nvSpPr>
          <p:cNvPr id="4" name="TextBox 3">
            <a:extLst>
              <a:ext uri="{FF2B5EF4-FFF2-40B4-BE49-F238E27FC236}">
                <a16:creationId xmlns:a16="http://schemas.microsoft.com/office/drawing/2014/main" id="{8C5B7DA4-E0E4-3BF8-58DE-A11975780342}"/>
              </a:ext>
            </a:extLst>
          </p:cNvPr>
          <p:cNvSpPr txBox="1"/>
          <p:nvPr/>
        </p:nvSpPr>
        <p:spPr>
          <a:xfrm>
            <a:off x="1919536" y="260648"/>
            <a:ext cx="10152334" cy="646331"/>
          </a:xfrm>
          <a:prstGeom prst="rect">
            <a:avLst/>
          </a:prstGeom>
          <a:noFill/>
        </p:spPr>
        <p:txBody>
          <a:bodyPr wrap="square">
            <a:spAutoFit/>
          </a:bodyPr>
          <a:lstStyle/>
          <a:p>
            <a:r>
              <a:rPr lang="en-US" dirty="0">
                <a:latin typeface="Palatino Linotype" panose="02040502050505030304" pitchFamily="18" charset="0"/>
              </a:rPr>
              <a:t>A relation schema represents name of the relation with its attributes, every attribute would have an associated domain.</a:t>
            </a:r>
          </a:p>
        </p:txBody>
      </p:sp>
      <p:sp>
        <p:nvSpPr>
          <p:cNvPr id="7" name="TextBox 6">
            <a:extLst>
              <a:ext uri="{FF2B5EF4-FFF2-40B4-BE49-F238E27FC236}">
                <a16:creationId xmlns:a16="http://schemas.microsoft.com/office/drawing/2014/main" id="{E569948D-CD50-27E0-7620-F0A863D84D45}"/>
              </a:ext>
            </a:extLst>
          </p:cNvPr>
          <p:cNvSpPr txBox="1"/>
          <p:nvPr/>
        </p:nvSpPr>
        <p:spPr>
          <a:xfrm>
            <a:off x="190550" y="836712"/>
            <a:ext cx="11738098" cy="1661993"/>
          </a:xfrm>
          <a:prstGeom prst="rect">
            <a:avLst/>
          </a:prstGeom>
          <a:noFill/>
        </p:spPr>
        <p:txBody>
          <a:bodyPr wrap="square">
            <a:spAutoFit/>
          </a:bodyPr>
          <a:lstStyle/>
          <a:p>
            <a:r>
              <a:rPr lang="en-US" dirty="0">
                <a:solidFill>
                  <a:srgbClr val="FF0000"/>
                </a:solidFill>
                <a:latin typeface="Palatino Linotype" panose="02040502050505030304" pitchFamily="18" charset="0"/>
              </a:rPr>
              <a:t>e.g. </a:t>
            </a:r>
          </a:p>
          <a:p>
            <a:endParaRPr lang="en-US" sz="6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Student</a:t>
            </a:r>
            <a:r>
              <a:rPr lang="en-US" dirty="0">
                <a:latin typeface="Palatino Linotype" panose="02040502050505030304" pitchFamily="18" charset="0"/>
              </a:rPr>
              <a:t>(rollNo:INT, name:VARCHAR(20), address:VARCHAR(50), phone:VARCHAR(12), age:INT, PRIMARY KEY(rollNo)) is relation schema for STUDENT</a:t>
            </a:r>
          </a:p>
          <a:p>
            <a:endParaRPr lang="en-US" sz="7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Customers</a:t>
            </a:r>
            <a:r>
              <a:rPr lang="en-US" dirty="0">
                <a:latin typeface="Palatino Linotype" panose="02040502050505030304" pitchFamily="18" charset="0"/>
              </a:rPr>
              <a:t>(CustomerID:INT, Name:VARCHAR(50), Email:VARCHAR(100), City:VARCHAR(50), PRIMARY KEY(CustomerID)) is relation schema for CUSTOMERS</a:t>
            </a:r>
            <a:endParaRPr lang="en-IN" dirty="0">
              <a:solidFill>
                <a:schemeClr val="bg1"/>
              </a:solidFill>
              <a:latin typeface="Palatino Linotype" panose="02040502050505030304" pitchFamily="18" charset="0"/>
            </a:endParaRPr>
          </a:p>
        </p:txBody>
      </p:sp>
    </p:spTree>
    <p:extLst>
      <p:ext uri="{BB962C8B-B14F-4D97-AF65-F5344CB8AC3E}">
        <p14:creationId xmlns:p14="http://schemas.microsoft.com/office/powerpoint/2010/main" val="2016092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4" grpId="0"/>
      <p:bldP spid="7" grpId="0"/>
    </p:bldLst>
  </p:timing>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3505" y="260648"/>
            <a:ext cx="6298519" cy="400110"/>
          </a:xfrm>
          <a:prstGeom prst="rect">
            <a:avLst/>
          </a:prstGeom>
        </p:spPr>
        <p:txBody>
          <a:bodyPr wrap="none">
            <a:spAutoFit/>
          </a:bodyPr>
          <a:lstStyle/>
          <a:p>
            <a:pPr fontAlgn="base"/>
            <a:r>
              <a:rPr lang="en-US" sz="2000" b="1" dirty="0">
                <a:solidFill>
                  <a:srgbClr val="FF9900"/>
                </a:solidFill>
                <a:latin typeface="Verdana" panose="020B0604030504040204" pitchFamily="34" charset="0"/>
                <a:ea typeface="Verdana" panose="020B0604030504040204" pitchFamily="34" charset="0"/>
                <a:cs typeface="Arial" pitchFamily="34" charset="0"/>
              </a:rPr>
              <a:t>Difference between File System and DBMS</a:t>
            </a: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3300146419"/>
              </p:ext>
            </p:extLst>
          </p:nvPr>
        </p:nvGraphicFramePr>
        <p:xfrm>
          <a:off x="119336" y="836712"/>
          <a:ext cx="11953328" cy="5071002"/>
        </p:xfrm>
        <a:graphic>
          <a:graphicData uri="http://schemas.openxmlformats.org/drawingml/2006/table">
            <a:tbl>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411414">
                <a:tc>
                  <a:txBody>
                    <a:bodyPr/>
                    <a:lstStyle/>
                    <a:p>
                      <a:pPr algn="ctr" fontAlgn="base"/>
                      <a:r>
                        <a:rPr lang="en-IN" sz="2000" b="1" dirty="0">
                          <a:solidFill>
                            <a:schemeClr val="accent2">
                              <a:lumMod val="50000"/>
                            </a:schemeClr>
                          </a:solidFill>
                          <a:effectLst/>
                          <a:latin typeface="Palatino Linotype" panose="02040502050505030304" pitchFamily="18" charset="0"/>
                        </a:rPr>
                        <a:t>File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algn="ctr" fontAlgn="base"/>
                      <a:r>
                        <a:rPr lang="en-IN" sz="2000" b="1" dirty="0">
                          <a:solidFill>
                            <a:schemeClr val="accent2">
                              <a:lumMod val="50000"/>
                            </a:schemeClr>
                          </a:solidFill>
                          <a:effectLst/>
                          <a:latin typeface="Palatino Linotype" panose="02040502050505030304" pitchFamily="18" charset="0"/>
                        </a:rPr>
                        <a:t>Database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00950636"/>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File System is easy-to-use system to store data which require less security and constraints.</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is used when security constraints are high.</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7622094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60521205"/>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10239887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 is hard to get when it comes to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a:t>
                      </a:r>
                      <a:r>
                        <a:rPr lang="en-IN" sz="1800" b="0" dirty="0">
                          <a:effectLst/>
                          <a:latin typeface="Palatino Linotype" panose="02040502050505030304" pitchFamily="18" charset="0"/>
                        </a:rPr>
                        <a:t> is achieved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056554043"/>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User locates the physical address of the files to access data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In Database Management System, user is unaware of physical address where data is stored.</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64864743"/>
                  </a:ext>
                </a:extLst>
              </a:tr>
              <a:tr h="41141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low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high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4288000239"/>
                  </a:ext>
                </a:extLst>
              </a:tr>
              <a:tr h="688255">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IN" sz="1800" b="0" dirty="0">
                          <a:effectLst/>
                          <a:latin typeface="Palatino Linotype" panose="02040502050505030304" pitchFamily="18" charset="0"/>
                        </a:rPr>
                        <a:t>File System stores unstructured data. </a:t>
                      </a:r>
                      <a:r>
                        <a:rPr lang="en-US" sz="1800" b="0" dirty="0">
                          <a:solidFill>
                            <a:schemeClr val="tx1"/>
                          </a:solidFill>
                          <a:latin typeface="Palatino Linotype" panose="02040502050505030304" pitchFamily="18" charset="0"/>
                        </a:rPr>
                        <a:t>"unstructured data" may include documents, audio, video, images, etc.</a:t>
                      </a:r>
                      <a:endParaRPr lang="en-IN" sz="1800" b="0" dirty="0">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stores structured data.</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317731900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pSp>
        <p:nvGrpSpPr>
          <p:cNvPr id="10" name="Group 9">
            <a:extLst>
              <a:ext uri="{FF2B5EF4-FFF2-40B4-BE49-F238E27FC236}">
                <a16:creationId xmlns:a16="http://schemas.microsoft.com/office/drawing/2014/main" id="{8F0DFC84-0A3A-4F81-B59D-7B1B26BF054F}"/>
              </a:ext>
            </a:extLst>
          </p:cNvPr>
          <p:cNvGrpSpPr/>
          <p:nvPr/>
        </p:nvGrpSpPr>
        <p:grpSpPr>
          <a:xfrm>
            <a:off x="336842" y="1628800"/>
            <a:ext cx="11447789" cy="3600400"/>
            <a:chOff x="816171" y="2137172"/>
            <a:chExt cx="10326647" cy="3600400"/>
          </a:xfrm>
        </p:grpSpPr>
        <p:sp>
          <p:nvSpPr>
            <p:cNvPr id="11" name="Rectangle 10">
              <a:extLst>
                <a:ext uri="{FF2B5EF4-FFF2-40B4-BE49-F238E27FC236}">
                  <a16:creationId xmlns:a16="http://schemas.microsoft.com/office/drawing/2014/main" id="{945BD07E-DE5E-469B-9CD5-01048F38BCFD}"/>
                </a:ext>
              </a:extLst>
            </p:cNvPr>
            <p:cNvSpPr/>
            <p:nvPr/>
          </p:nvSpPr>
          <p:spPr>
            <a:xfrm>
              <a:off x="816171" y="2137172"/>
              <a:ext cx="2165696" cy="400058"/>
            </a:xfrm>
            <a:prstGeom prst="rect">
              <a:avLst/>
            </a:prstGeom>
          </p:spPr>
          <p:txBody>
            <a:bodyPr wrap="none">
              <a:spAutoFit/>
            </a:bodyPr>
            <a:lstStyle/>
            <a:p>
              <a:r>
                <a:rPr lang="en-IN" sz="2000" dirty="0">
                  <a:latin typeface="Arial" panose="020B0604020202020204" pitchFamily="34" charset="0"/>
                  <a:cs typeface="Arial" panose="020B0604020202020204" pitchFamily="34" charset="0"/>
                </a:rPr>
                <a:t>RDBMS supports</a:t>
              </a:r>
            </a:p>
          </p:txBody>
        </p:sp>
        <p:sp>
          <p:nvSpPr>
            <p:cNvPr id="12" name="Rectangle 11">
              <a:extLst>
                <a:ext uri="{FF2B5EF4-FFF2-40B4-BE49-F238E27FC236}">
                  <a16:creationId xmlns:a16="http://schemas.microsoft.com/office/drawing/2014/main" id="{352B7D7E-779C-4363-BC03-32CBAD9AB671}"/>
                </a:ext>
              </a:extLst>
            </p:cNvPr>
            <p:cNvSpPr/>
            <p:nvPr/>
          </p:nvSpPr>
          <p:spPr>
            <a:xfrm>
              <a:off x="816171" y="2682493"/>
              <a:ext cx="3733314" cy="2804698"/>
            </a:xfrm>
            <a:prstGeom prst="rect">
              <a:avLst/>
            </a:prstGeom>
            <a:solidFill>
              <a:schemeClr val="bg1">
                <a:lumMod val="95000"/>
              </a:schemeClr>
            </a:solidFill>
          </p:spPr>
          <p:txBody>
            <a:bodyPr wrap="square">
              <a:spAutoFit/>
            </a:bodyPr>
            <a:lstStyle/>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client/server Technology</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Highly Secured</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Relationship (PK/FK)</a:t>
              </a:r>
            </a:p>
          </p:txBody>
        </p:sp>
        <p:pic>
          <p:nvPicPr>
            <p:cNvPr id="13" name="Picture 12">
              <a:extLst>
                <a:ext uri="{FF2B5EF4-FFF2-40B4-BE49-F238E27FC236}">
                  <a16:creationId xmlns:a16="http://schemas.microsoft.com/office/drawing/2014/main" id="{BD65E3C3-450E-4AE7-8985-6D1ADCA59E0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08598" y="2425204"/>
              <a:ext cx="4290066" cy="1444138"/>
            </a:xfrm>
            <a:prstGeom prst="rect">
              <a:avLst/>
            </a:prstGeom>
          </p:spPr>
        </p:pic>
        <p:pic>
          <p:nvPicPr>
            <p:cNvPr id="14" name="Picture 13">
              <a:extLst>
                <a:ext uri="{FF2B5EF4-FFF2-40B4-BE49-F238E27FC236}">
                  <a16:creationId xmlns:a16="http://schemas.microsoft.com/office/drawing/2014/main" id="{900D1A2F-DD5B-499D-A8D2-0B1089E7EF5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47231" y="3869342"/>
              <a:ext cx="1015950" cy="1015949"/>
            </a:xfrm>
            <a:prstGeom prst="rect">
              <a:avLst/>
            </a:prstGeom>
          </p:spPr>
        </p:pic>
        <p:pic>
          <p:nvPicPr>
            <p:cNvPr id="15" name="Picture 14">
              <a:extLst>
                <a:ext uri="{FF2B5EF4-FFF2-40B4-BE49-F238E27FC236}">
                  <a16:creationId xmlns:a16="http://schemas.microsoft.com/office/drawing/2014/main" id="{4957A242-C553-47DA-B217-4CDEC1F863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39451" y="4040904"/>
              <a:ext cx="2403367" cy="1696668"/>
            </a:xfrm>
            <a:prstGeom prst="rect">
              <a:avLst/>
            </a:prstGeom>
          </p:spPr>
        </p:pic>
      </p:grpSp>
      <p:sp>
        <p:nvSpPr>
          <p:cNvPr id="16" name="Rectangle 15">
            <a:extLst>
              <a:ext uri="{FF2B5EF4-FFF2-40B4-BE49-F238E27FC236}">
                <a16:creationId xmlns:a16="http://schemas.microsoft.com/office/drawing/2014/main" id="{402C5F64-027D-4CD5-B0EB-E26F9EC49933}"/>
              </a:ext>
            </a:extLst>
          </p:cNvPr>
          <p:cNvSpPr/>
          <p:nvPr/>
        </p:nvSpPr>
        <p:spPr>
          <a:xfrm>
            <a:off x="407315" y="692696"/>
            <a:ext cx="11375783" cy="707794"/>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 RDBMS is a database management system (DBMS) that is based on the </a:t>
            </a:r>
            <a:r>
              <a:rPr lang="en-IN" sz="2000" b="1" dirty="0">
                <a:solidFill>
                  <a:srgbClr val="C00000"/>
                </a:solidFill>
                <a:latin typeface="Arial" panose="020B0604020202020204" pitchFamily="34" charset="0"/>
                <a:cs typeface="Arial" panose="020B0604020202020204" pitchFamily="34" charset="0"/>
              </a:rPr>
              <a:t>relational model </a:t>
            </a:r>
            <a:r>
              <a:rPr lang="en-US" sz="2000" dirty="0">
                <a:solidFill>
                  <a:srgbClr val="000000"/>
                </a:solidFill>
                <a:latin typeface="verdana" panose="020B0604030504040204" pitchFamily="34" charset="0"/>
              </a:rPr>
              <a:t>introduced by Edgar Frank Codd </a:t>
            </a:r>
            <a:r>
              <a:rPr lang="en-US" sz="2000" dirty="0">
                <a:solidFill>
                  <a:srgbClr val="202122"/>
                </a:solidFill>
                <a:latin typeface="Arial" panose="020B0604020202020204" pitchFamily="34" charset="0"/>
              </a:rPr>
              <a:t>at </a:t>
            </a:r>
            <a:r>
              <a:rPr lang="en-US" sz="2000" dirty="0">
                <a:solidFill>
                  <a:srgbClr val="000000"/>
                </a:solidFill>
                <a:latin typeface="verdana" panose="020B0604030504040204" pitchFamily="34" charset="0"/>
              </a:rPr>
              <a:t>IBM</a:t>
            </a:r>
            <a:r>
              <a:rPr lang="en-US" sz="2000" dirty="0">
                <a:solidFill>
                  <a:srgbClr val="202122"/>
                </a:solidFill>
                <a:latin typeface="Arial" panose="020B0604020202020204" pitchFamily="34" charset="0"/>
              </a:rPr>
              <a:t> </a:t>
            </a:r>
            <a:r>
              <a:rPr lang="en-US" sz="2000" dirty="0">
                <a:latin typeface="Arial" panose="020B0604020202020204" pitchFamily="34" charset="0"/>
                <a:cs typeface="Arial" panose="020B0604020202020204" pitchFamily="34" charset="0"/>
              </a:rPr>
              <a:t>in 1970.</a:t>
            </a:r>
            <a:endParaRPr lang="en-IN" sz="2000" dirty="0">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22784A09-86C1-4B0E-8277-2B5C1D60D7CE}"/>
              </a:ext>
            </a:extLst>
          </p:cNvPr>
          <p:cNvSpPr txBox="1"/>
          <p:nvPr/>
        </p:nvSpPr>
        <p:spPr>
          <a:xfrm>
            <a:off x="144016" y="5345921"/>
            <a:ext cx="9120336" cy="1323439"/>
          </a:xfrm>
          <a:prstGeom prst="rect">
            <a:avLst/>
          </a:prstGeom>
          <a:noFill/>
        </p:spPr>
        <p:txBody>
          <a:bodyPr wrap="square">
            <a:spAutoFit/>
          </a:bodyPr>
          <a:lstStyle/>
          <a:p>
            <a:pPr marL="285750" indent="-285750">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A server is a computer program or a device that provides service to another computer program, also known as the client.</a:t>
            </a:r>
          </a:p>
          <a:p>
            <a:pPr marL="285750" indent="-285750">
              <a:buFont typeface="Arial" panose="020B0604020202020204" pitchFamily="34" charset="0"/>
              <a:buChar char="•"/>
            </a:pPr>
            <a:endParaRPr lang="en-US" sz="800" b="0" i="0" dirty="0">
              <a:solidFill>
                <a:schemeClr val="tx1">
                  <a:lumMod val="95000"/>
                  <a:lumOff val="5000"/>
                </a:schemeClr>
              </a:solidFill>
              <a:effectLst/>
              <a:latin typeface="Arial" panose="020B0604020202020204" pitchFamily="34" charset="0"/>
            </a:endParaRPr>
          </a:p>
          <a:p>
            <a:pPr marL="285750" indent="-285750" algn="just">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In the client/server programming model, a server program awaits and fulfills requests from client programs, which might be running in the same, or other computers.</a:t>
            </a:r>
            <a:endParaRPr lang="en-IN" dirty="0">
              <a:solidFill>
                <a:schemeClr val="tx1">
                  <a:lumMod val="95000"/>
                  <a:lumOff val="5000"/>
                </a:schemeClr>
              </a:solidFill>
            </a:endParaRPr>
          </a:p>
        </p:txBody>
      </p:sp>
    </p:spTree>
    <p:extLst>
      <p:ext uri="{BB962C8B-B14F-4D97-AF65-F5344CB8AC3E}">
        <p14:creationId xmlns:p14="http://schemas.microsoft.com/office/powerpoint/2010/main" val="150880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8" name="Rectangle 7">
            <a:extLst>
              <a:ext uri="{FF2B5EF4-FFF2-40B4-BE49-F238E27FC236}">
                <a16:creationId xmlns:a16="http://schemas.microsoft.com/office/drawing/2014/main" id="{98B98928-9ADD-41A9-8076-C44946E143A6}"/>
              </a:ext>
            </a:extLst>
          </p:cNvPr>
          <p:cNvSpPr/>
          <p:nvPr/>
        </p:nvSpPr>
        <p:spPr>
          <a:xfrm>
            <a:off x="407368" y="914400"/>
            <a:ext cx="11377264" cy="707886"/>
          </a:xfrm>
          <a:prstGeom prst="rect">
            <a:avLst/>
          </a:prstGeom>
        </p:spPr>
        <p:txBody>
          <a:bodyPr wrap="square">
            <a:spAutoFit/>
          </a:bodyPr>
          <a:lstStyle/>
          <a:p>
            <a:r>
              <a:rPr lang="en-US" sz="2000" b="0" i="0" dirty="0">
                <a:solidFill>
                  <a:srgbClr val="212121"/>
                </a:solidFill>
                <a:effectLst/>
                <a:latin typeface="Arial" panose="020B0604020202020204" pitchFamily="34" charset="0"/>
                <a:cs typeface="Arial" panose="020B0604020202020204" pitchFamily="34" charset="0"/>
              </a:rPr>
              <a:t>An object database is a database management system in which information is represented in the form of objects.</a:t>
            </a:r>
            <a:endParaRPr lang="en-IN" sz="2000" dirty="0">
              <a:latin typeface="Arial" panose="020B0604020202020204" pitchFamily="34" charset="0"/>
              <a:cs typeface="Arial" panose="020B0604020202020204" pitchFamily="34" charset="0"/>
            </a:endParaRPr>
          </a:p>
        </p:txBody>
      </p:sp>
      <p:sp>
        <p:nvSpPr>
          <p:cNvPr id="10" name="TextBox 4">
            <a:extLst>
              <a:ext uri="{FF2B5EF4-FFF2-40B4-BE49-F238E27FC236}">
                <a16:creationId xmlns:a16="http://schemas.microsoft.com/office/drawing/2014/main" id="{931C2ED3-26CD-46EC-9E6E-27D639140DBE}"/>
              </a:ext>
            </a:extLst>
          </p:cNvPr>
          <p:cNvSpPr txBox="1"/>
          <p:nvPr/>
        </p:nvSpPr>
        <p:spPr>
          <a:xfrm>
            <a:off x="407368" y="1844824"/>
            <a:ext cx="11233248"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b="0" i="0" dirty="0">
                <a:solidFill>
                  <a:schemeClr val="tx1">
                    <a:lumMod val="65000"/>
                    <a:lumOff val="35000"/>
                  </a:schemeClr>
                </a:solidFill>
                <a:effectLst/>
                <a:latin typeface="Arial" panose="020B0604020202020204" pitchFamily="34" charset="0"/>
                <a:cs typeface="Arial" panose="020B0604020202020204" pitchFamily="34" charset="0"/>
              </a:rPr>
              <a:t>PostgreSQL is the most popular pure ORDBMS. Some popular databases including Microsoft SQL Server, Oracle, and IBM DB2 also support objects and can be considered as ORDBMS.</a:t>
            </a:r>
            <a:endParaRPr lang="en-IN" sz="2000" dirty="0">
              <a:solidFill>
                <a:schemeClr val="tx1">
                  <a:lumMod val="65000"/>
                  <a:lumOff val="35000"/>
                </a:schemeClr>
              </a:solidFill>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B42E2EA1-2E37-2135-DAC5-8AB44A659EB3}"/>
              </a:ext>
            </a:extLst>
          </p:cNvPr>
          <p:cNvGrpSpPr/>
          <p:nvPr/>
        </p:nvGrpSpPr>
        <p:grpSpPr>
          <a:xfrm>
            <a:off x="407368" y="3068960"/>
            <a:ext cx="11233248" cy="2073716"/>
            <a:chOff x="407368" y="2924944"/>
            <a:chExt cx="11233248" cy="2073716"/>
          </a:xfrm>
        </p:grpSpPr>
        <p:sp>
          <p:nvSpPr>
            <p:cNvPr id="3" name="TextBox 2">
              <a:extLst>
                <a:ext uri="{FF2B5EF4-FFF2-40B4-BE49-F238E27FC236}">
                  <a16:creationId xmlns:a16="http://schemas.microsoft.com/office/drawing/2014/main" id="{755B5BE8-C7C7-B80F-0350-BE06FE72580B}"/>
                </a:ext>
              </a:extLst>
            </p:cNvPr>
            <p:cNvSpPr txBox="1"/>
            <p:nvPr/>
          </p:nvSpPr>
          <p:spPr>
            <a:xfrm>
              <a:off x="407368" y="3429000"/>
              <a:ext cx="11233248" cy="1569660"/>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Function/Procedure overloading.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Extending server functionality with external functions written in C or Java.</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User defined data types.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Inheritance of tables under other tables.</a:t>
              </a:r>
            </a:p>
          </p:txBody>
        </p:sp>
        <p:sp>
          <p:nvSpPr>
            <p:cNvPr id="4" name="Rectangle 3">
              <a:extLst>
                <a:ext uri="{FF2B5EF4-FFF2-40B4-BE49-F238E27FC236}">
                  <a16:creationId xmlns:a16="http://schemas.microsoft.com/office/drawing/2014/main" id="{8259C6C3-1C87-6EC2-88B5-752C356FF903}"/>
                </a:ext>
              </a:extLst>
            </p:cNvPr>
            <p:cNvSpPr/>
            <p:nvPr/>
          </p:nvSpPr>
          <p:spPr>
            <a:xfrm>
              <a:off x="407368" y="2924944"/>
              <a:ext cx="4536504" cy="400110"/>
            </a:xfrm>
            <a:prstGeom prst="rect">
              <a:avLst/>
            </a:prstGeom>
          </p:spPr>
          <p:txBody>
            <a:bodyPr wrap="square">
              <a:spAutoFit/>
            </a:bodyPr>
            <a:lstStyle/>
            <a:p>
              <a:r>
                <a:rPr lang="en-IN" sz="2000" b="1" dirty="0">
                  <a:solidFill>
                    <a:srgbClr val="000000"/>
                  </a:solidFill>
                  <a:latin typeface="Arial" panose="020B0604020202020204" pitchFamily="34" charset="0"/>
                  <a:cs typeface="Arial" panose="020B0604020202020204" pitchFamily="34" charset="0"/>
                </a:rPr>
                <a:t>Advantage of </a:t>
              </a:r>
              <a:r>
                <a:rPr lang="en-US" sz="2000" b="1" dirty="0">
                  <a:solidFill>
                    <a:srgbClr val="000000"/>
                  </a:solidFill>
                  <a:latin typeface="Arial" panose="020B0604020202020204" pitchFamily="34" charset="0"/>
                  <a:cs typeface="Arial" panose="020B0604020202020204" pitchFamily="34" charset="0"/>
                </a:rPr>
                <a:t>ORDBMS</a:t>
              </a:r>
              <a:endParaRPr lang="en-IN" sz="2000" b="1" dirty="0">
                <a:solidFill>
                  <a:srgbClr val="000000"/>
                </a:solidFill>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286130774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AF7808-8F46-7FB3-9B06-A7B22F816254}"/>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677D48C-1222-8D9C-97A7-2ADE864AC3E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TextBox 1">
            <a:extLst>
              <a:ext uri="{FF2B5EF4-FFF2-40B4-BE49-F238E27FC236}">
                <a16:creationId xmlns:a16="http://schemas.microsoft.com/office/drawing/2014/main" id="{C9F8CB3C-B786-24C4-AC16-6F42EBBFC194}"/>
              </a:ext>
            </a:extLst>
          </p:cNvPr>
          <p:cNvSpPr txBox="1"/>
          <p:nvPr/>
        </p:nvSpPr>
        <p:spPr>
          <a:xfrm>
            <a:off x="407368" y="3249698"/>
            <a:ext cx="11233248"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TYPE</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AS</a:t>
            </a:r>
            <a:r>
              <a:rPr lang="en-US" dirty="0">
                <a:latin typeface="Liberation Mono"/>
                <a:cs typeface="Arial" panose="020B0604020202020204" pitchFamily="34" charset="0"/>
              </a:rPr>
              <a:t> </a:t>
            </a:r>
            <a:r>
              <a:rPr lang="en-US" dirty="0">
                <a:solidFill>
                  <a:srgbClr val="C00000"/>
                </a:solidFill>
                <a:latin typeface="Liberation Mono"/>
                <a:ea typeface="Verdana" panose="020B0604030504040204" pitchFamily="34" charset="0"/>
              </a:rPr>
              <a:t>VARRAY</a:t>
            </a:r>
            <a:r>
              <a:rPr lang="en-US" dirty="0">
                <a:latin typeface="Liberation Mono"/>
                <a:cs typeface="Arial" panose="020B0604020202020204" pitchFamily="34" charset="0"/>
              </a:rPr>
              <a:t>(3) </a:t>
            </a:r>
            <a:r>
              <a:rPr lang="en-US" dirty="0">
                <a:solidFill>
                  <a:srgbClr val="0077AA"/>
                </a:solidFill>
                <a:latin typeface="Liberation Mono"/>
                <a:cs typeface="Arial" panose="020B0604020202020204" pitchFamily="34" charset="0"/>
              </a:rPr>
              <a:t>OF</a:t>
            </a:r>
            <a:r>
              <a:rPr lang="en-US" dirty="0">
                <a:latin typeface="Liberation Mono"/>
                <a:cs typeface="Arial" panose="020B0604020202020204" pitchFamily="34" charset="0"/>
              </a:rPr>
              <a:t>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x (id </a:t>
            </a:r>
            <a:r>
              <a:rPr lang="en-US" dirty="0">
                <a:solidFill>
                  <a:srgbClr val="834689"/>
                </a:solidFill>
                <a:latin typeface="Liberation Mono"/>
                <a:ea typeface="Verdana" panose="020B0604030504040204" pitchFamily="34" charset="0"/>
              </a:rPr>
              <a:t>INT</a:t>
            </a:r>
            <a:r>
              <a:rPr lang="en-US" dirty="0">
                <a:latin typeface="Liberation Mono"/>
                <a:cs typeface="Arial" panose="020B0604020202020204" pitchFamily="34" charset="0"/>
              </a:rPr>
              <a:t>, ename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 c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x values(</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surat</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bharuch</a:t>
            </a:r>
            <a:r>
              <a:rPr lang="en-US" dirty="0">
                <a:solidFill>
                  <a:srgbClr val="669900"/>
                </a:solidFill>
                <a:latin typeface="Liberation Mono"/>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n.id, n.ename, nn.</a:t>
            </a:r>
            <a:r>
              <a:rPr lang="en-IN" dirty="0">
                <a:solidFill>
                  <a:srgbClr val="C00000"/>
                </a:solidFill>
                <a:latin typeface="Liberation Mono"/>
                <a:cs typeface="Arial" panose="020B0604020202020204" pitchFamily="34" charset="0"/>
              </a:rPr>
              <a:t>column_value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x n,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(n.c) nn;</a:t>
            </a:r>
          </a:p>
        </p:txBody>
      </p:sp>
      <p:sp>
        <p:nvSpPr>
          <p:cNvPr id="9" name="TextBox 8">
            <a:extLst>
              <a:ext uri="{FF2B5EF4-FFF2-40B4-BE49-F238E27FC236}">
                <a16:creationId xmlns:a16="http://schemas.microsoft.com/office/drawing/2014/main" id="{9BB507F9-B5AB-C4C7-93B0-E795E9827F1C}"/>
              </a:ext>
            </a:extLst>
          </p:cNvPr>
          <p:cNvSpPr txBox="1"/>
          <p:nvPr/>
        </p:nvSpPr>
        <p:spPr>
          <a:xfrm>
            <a:off x="407368" y="1177632"/>
            <a:ext cx="1137726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US" dirty="0">
                <a:latin typeface="Liberation Mono"/>
                <a:cs typeface="Arial" panose="020B0604020202020204" pitchFamily="34" charset="0"/>
              </a:rPr>
              <a:t>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TYPE</a:t>
            </a:r>
            <a:r>
              <a:rPr lang="en-IN" dirty="0">
                <a:latin typeface="Liberation Mono"/>
              </a:rPr>
              <a:t> </a:t>
            </a:r>
            <a:r>
              <a:rPr lang="en-IN" b="1" i="1" dirty="0">
                <a:latin typeface="Liberation Mono"/>
                <a:cs typeface="Arial" panose="020B0604020202020204" pitchFamily="34" charset="0"/>
              </a:rPr>
              <a:t>address</a:t>
            </a:r>
            <a:r>
              <a:rPr lang="en-IN" dirty="0">
                <a:latin typeface="Liberation Mono"/>
              </a:rPr>
              <a:t> </a:t>
            </a:r>
            <a:r>
              <a:rPr lang="en-US" dirty="0">
                <a:solidFill>
                  <a:srgbClr val="0077AA"/>
                </a:solidFill>
                <a:latin typeface="Liberation Mono"/>
                <a:cs typeface="Arial" panose="020B0604020202020204" pitchFamily="34" charset="0"/>
              </a:rPr>
              <a:t>AS</a:t>
            </a:r>
            <a:r>
              <a:rPr lang="en-IN" dirty="0">
                <a:latin typeface="Liberation Mono"/>
              </a:rPr>
              <a:t> </a:t>
            </a:r>
            <a:r>
              <a:rPr lang="en-IN" dirty="0">
                <a:solidFill>
                  <a:srgbClr val="C00000"/>
                </a:solidFill>
                <a:latin typeface="Liberation Mono"/>
                <a:ea typeface="Verdana" panose="020B0604030504040204" pitchFamily="34" charset="0"/>
              </a:rPr>
              <a:t>OBJECT</a:t>
            </a:r>
            <a:r>
              <a:rPr lang="en-IN" dirty="0">
                <a:latin typeface="Liberation Mono"/>
              </a:rPr>
              <a:t>(city </a:t>
            </a:r>
            <a:r>
              <a:rPr lang="en-US" dirty="0">
                <a:solidFill>
                  <a:srgbClr val="834689"/>
                </a:solidFill>
                <a:latin typeface="Liberation Mono"/>
                <a:ea typeface="Verdana" panose="020B0604030504040204" pitchFamily="34" charset="0"/>
              </a:rPr>
              <a:t>VARCHAR2</a:t>
            </a:r>
            <a:r>
              <a:rPr lang="en-IN" dirty="0">
                <a:latin typeface="Liberation Mono"/>
              </a:rPr>
              <a:t>(10), state </a:t>
            </a:r>
            <a:r>
              <a:rPr lang="en-US" dirty="0">
                <a:solidFill>
                  <a:srgbClr val="834689"/>
                </a:solidFill>
                <a:latin typeface="Liberation Mono"/>
                <a:ea typeface="Verdana" panose="020B0604030504040204" pitchFamily="34" charset="0"/>
              </a:rPr>
              <a:t>VARCHAR2</a:t>
            </a:r>
            <a:r>
              <a:rPr lang="en-IN" dirty="0">
                <a:latin typeface="Liberation Mono"/>
              </a:rPr>
              <a:t>(2));</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person(id </a:t>
            </a:r>
            <a:r>
              <a:rPr lang="en-US" dirty="0">
                <a:solidFill>
                  <a:srgbClr val="834689"/>
                </a:solidFill>
                <a:latin typeface="Liberation Mono"/>
                <a:ea typeface="Verdana" panose="020B0604030504040204" pitchFamily="34" charset="0"/>
              </a:rPr>
              <a:t>INT</a:t>
            </a:r>
            <a:r>
              <a:rPr lang="en-US" dirty="0">
                <a:latin typeface="Liberation Mono"/>
              </a:rPr>
              <a:t>, name </a:t>
            </a:r>
            <a:r>
              <a:rPr lang="en-US" dirty="0">
                <a:solidFill>
                  <a:srgbClr val="834689"/>
                </a:solidFill>
                <a:latin typeface="Liberation Mono"/>
                <a:ea typeface="Verdana" panose="020B0604030504040204" pitchFamily="34" charset="0"/>
              </a:rPr>
              <a:t>VARCHAR2</a:t>
            </a:r>
            <a:r>
              <a:rPr lang="en-US" dirty="0">
                <a:latin typeface="Liberation Mono"/>
              </a:rPr>
              <a:t>(10), addr </a:t>
            </a:r>
            <a:r>
              <a:rPr lang="en-IN" b="1" i="1" dirty="0">
                <a:latin typeface="Liberation Mono"/>
                <a:cs typeface="Arial" panose="020B0604020202020204" pitchFamily="34" charset="0"/>
              </a:rPr>
              <a:t>address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person </a:t>
            </a:r>
            <a:r>
              <a:rPr lang="en-US" dirty="0">
                <a:solidFill>
                  <a:srgbClr val="0077AA"/>
                </a:solidFill>
                <a:latin typeface="Liberation Mono"/>
                <a:cs typeface="Arial" panose="020B0604020202020204" pitchFamily="34" charset="0"/>
              </a:rPr>
              <a:t>VALUES</a:t>
            </a:r>
            <a:r>
              <a:rPr lang="en-US" dirty="0">
                <a:latin typeface="Liberation Mono"/>
              </a:rPr>
              <a:t>(</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'saleel'</a:t>
            </a:r>
            <a:r>
              <a:rPr lang="en-US" dirty="0">
                <a:latin typeface="Liberation Mono"/>
              </a:rPr>
              <a:t>, address(</a:t>
            </a:r>
            <a:r>
              <a:rPr lang="en-US" dirty="0">
                <a:solidFill>
                  <a:srgbClr val="669900"/>
                </a:solidFill>
                <a:latin typeface="Liberation Mono"/>
              </a:rPr>
              <a:t>'baroda'</a:t>
            </a:r>
            <a:r>
              <a:rPr lang="en-US" dirty="0">
                <a:latin typeface="Liberation Mono"/>
              </a:rPr>
              <a:t>, </a:t>
            </a:r>
            <a:r>
              <a:rPr lang="en-US" dirty="0">
                <a:solidFill>
                  <a:srgbClr val="669900"/>
                </a:solidFill>
                <a:latin typeface="Liberation Mono"/>
              </a:rPr>
              <a:t>'GJ'</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id, name, </a:t>
            </a:r>
            <a:r>
              <a:rPr lang="en-US" b="1" i="1" dirty="0">
                <a:latin typeface="Liberation Mono"/>
                <a:cs typeface="Arial" panose="020B0604020202020204" pitchFamily="34" charset="0"/>
              </a:rPr>
              <a:t>n</a:t>
            </a:r>
            <a:r>
              <a:rPr lang="en-US" dirty="0">
                <a:latin typeface="Liberation Mono"/>
              </a:rPr>
              <a:t>.addr.city </a:t>
            </a:r>
            <a:r>
              <a:rPr lang="en-US" dirty="0">
                <a:solidFill>
                  <a:srgbClr val="0077AA"/>
                </a:solidFill>
                <a:latin typeface="Liberation Mono"/>
                <a:cs typeface="Arial" panose="020B0604020202020204" pitchFamily="34" charset="0"/>
              </a:rPr>
              <a:t>FROM</a:t>
            </a:r>
            <a:r>
              <a:rPr lang="en-US" dirty="0">
                <a:latin typeface="Liberation Mono"/>
              </a:rPr>
              <a:t> person </a:t>
            </a:r>
            <a:r>
              <a:rPr lang="en-US" b="1" i="1" dirty="0">
                <a:latin typeface="Liberation Mono"/>
                <a:cs typeface="Arial" panose="020B0604020202020204" pitchFamily="34" charset="0"/>
              </a:rPr>
              <a:t>n</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166975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p:bldLst>
  </p:timing>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4649" y="260648"/>
            <a:ext cx="5998693" cy="523220"/>
          </a:xfrm>
          <a:prstGeom prst="rect">
            <a:avLst/>
          </a:prstGeom>
        </p:spPr>
        <p:txBody>
          <a:bodyPr wrap="none">
            <a:spAutoFit/>
          </a:bodyPr>
          <a:lstStyle/>
          <a:p>
            <a:pPr fontAlgn="base"/>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difference between </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 </a:t>
            </a:r>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and r</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a:t>
            </a:r>
            <a:endParaRPr lang="en-US" sz="2800" dirty="0">
              <a:solidFill>
                <a:srgbClr val="FF9900"/>
              </a:solidFill>
              <a:latin typeface="Arial" panose="020B0604020202020204" pitchFamily="34" charset="0"/>
              <a:ea typeface="Verdana" panose="020B0604030504040204" pitchFamily="34" charset="0"/>
              <a:cs typeface="Arial" panose="020B0604020202020204" pitchFamily="34" charset="0"/>
            </a:endParaRP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1089436921"/>
              </p:ext>
            </p:extLst>
          </p:nvPr>
        </p:nvGraphicFramePr>
        <p:xfrm>
          <a:off x="119336" y="836713"/>
          <a:ext cx="11953328" cy="4320480"/>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506251">
                <a:tc>
                  <a:txBody>
                    <a:bodyPr/>
                    <a:lstStyle/>
                    <a:p>
                      <a:pPr algn="ctr" fontAlgn="base"/>
                      <a:r>
                        <a:rPr lang="en-IN" sz="2000" b="1" dirty="0">
                          <a:solidFill>
                            <a:schemeClr val="accent2">
                              <a:lumMod val="50000"/>
                            </a:schemeClr>
                          </a:solidFill>
                          <a:effectLst/>
                          <a:latin typeface="Palatino Linotype" panose="02040502050505030304" pitchFamily="18" charset="0"/>
                        </a:rPr>
                        <a:t>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tc>
                  <a:txBody>
                    <a:bodyPr/>
                    <a:lstStyle/>
                    <a:p>
                      <a:pPr algn="ctr" fontAlgn="base"/>
                      <a:r>
                        <a:rPr lang="en-IN" sz="2000" b="1" dirty="0">
                          <a:solidFill>
                            <a:schemeClr val="accent2">
                              <a:lumMod val="50000"/>
                            </a:schemeClr>
                          </a:solidFill>
                          <a:effectLst/>
                          <a:latin typeface="Palatino Linotype" panose="02040502050505030304" pitchFamily="18" charset="0"/>
                        </a:rPr>
                        <a:t>RDBMS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extLst>
                  <a:ext uri="{0D108BD9-81ED-4DB2-BD59-A6C34878D82A}">
                    <a16:rowId xmlns:a16="http://schemas.microsoft.com/office/drawing/2014/main" val="1900950636"/>
                  </a:ext>
                </a:extLst>
              </a:tr>
              <a:tr h="559233">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file.</a:t>
                      </a:r>
                    </a:p>
                  </a:txBody>
                  <a:tcPr marL="50348" marR="50348" marT="50348" marB="50348" anchor="ctr"/>
                </a:tc>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tables.</a:t>
                      </a:r>
                    </a:p>
                  </a:txBody>
                  <a:tcPr marL="50348" marR="50348" marT="50348" marB="50348" anchor="ctr"/>
                </a:tc>
                <a:extLst>
                  <a:ext uri="{0D108BD9-81ED-4DB2-BD59-A6C34878D82A}">
                    <a16:rowId xmlns:a16="http://schemas.microsoft.com/office/drawing/2014/main" val="1976220946"/>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There is no relationship between data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is present in multiple tables which can be related to each other.</a:t>
                      </a:r>
                    </a:p>
                  </a:txBody>
                  <a:tcPr marL="34385" marR="34385" marT="34385" marB="34385" anchor="ctr"/>
                </a:tc>
                <a:extLst>
                  <a:ext uri="{0D108BD9-81ED-4DB2-BD59-A6C34878D82A}">
                    <a16:rowId xmlns:a16="http://schemas.microsoft.com/office/drawing/2014/main" val="60521205"/>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has no support for distributed databases.</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RDBMS supports distributed databases.</a:t>
                      </a:r>
                    </a:p>
                  </a:txBody>
                  <a:tcPr marL="34385" marR="34385" marT="34385" marB="34385" anchor="ctr"/>
                </a:tc>
                <a:extLst>
                  <a:ext uri="{0D108BD9-81ED-4DB2-BD59-A6C34878D82A}">
                    <a16:rowId xmlns:a16="http://schemas.microsoft.com/office/drawing/2014/main" val="1102398876"/>
                  </a:ext>
                </a:extLst>
              </a:tr>
              <a:tr h="428339">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cannot be achieved.</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 be achieved.</a:t>
                      </a:r>
                    </a:p>
                  </a:txBody>
                  <a:tcPr marL="34385" marR="34385" marT="34385" marB="34385" anchor="ctr"/>
                </a:tc>
                <a:extLst>
                  <a:ext uri="{0D108BD9-81ED-4DB2-BD59-A6C34878D82A}">
                    <a16:rowId xmlns:a16="http://schemas.microsoft.com/office/drawing/2014/main" val="10565540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supports single user at a time.</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supports multiple users at a time.</a:t>
                      </a:r>
                    </a:p>
                  </a:txBody>
                  <a:tcPr marL="34385" marR="34385" marT="34385" marB="34385" anchor="ctr"/>
                </a:tc>
                <a:extLst>
                  <a:ext uri="{0D108BD9-81ED-4DB2-BD59-A6C34878D82A}">
                    <a16:rowId xmlns:a16="http://schemas.microsoft.com/office/drawing/2014/main" val="1648647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is common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can be reduced in RDBMS.</a:t>
                      </a:r>
                    </a:p>
                  </a:txBody>
                  <a:tcPr marL="34385" marR="34385" marT="34385" marB="34385" anchor="ctr"/>
                </a:tc>
                <a:extLst>
                  <a:ext uri="{0D108BD9-81ED-4DB2-BD59-A6C34878D82A}">
                    <a16:rowId xmlns:a16="http://schemas.microsoft.com/office/drawing/2014/main" val="4288000239"/>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provides low level of security during data manipulation.</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has high level of security during data manipulation.</a:t>
                      </a:r>
                    </a:p>
                  </a:txBody>
                  <a:tcPr marL="34385" marR="34385" marT="34385" marB="34385" anchor="ct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28576204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20D9750-8111-4BD2-9930-D32A738BCA47}"/>
              </a:ext>
            </a:extLst>
          </p:cNvPr>
          <p:cNvSpPr txBox="1">
            <a:spLocks/>
          </p:cNvSpPr>
          <p:nvPr/>
        </p:nvSpPr>
        <p:spPr>
          <a:xfrm>
            <a:off x="1676182" y="1905000"/>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Codd's Rules</a:t>
            </a:r>
            <a:endParaRPr lang="en-US"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50123011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5816977"/>
          </a:xfrm>
          <a:prstGeom prst="rect">
            <a:avLst/>
          </a:prstGeom>
          <a:noFill/>
        </p:spPr>
        <p:txBody>
          <a:bodyPr wrap="square" tIns="43200">
            <a:spAutoFit/>
          </a:bodyPr>
          <a:lstStyle/>
          <a:p>
            <a:pPr algn="l"/>
            <a:r>
              <a:rPr lang="en-US" sz="2400" b="0" i="0" dirty="0">
                <a:solidFill>
                  <a:schemeClr val="bg2">
                    <a:lumMod val="25000"/>
                  </a:schemeClr>
                </a:solidFill>
                <a:effectLst/>
                <a:latin typeface="Open Sans" panose="020B0606030504020204" pitchFamily="34" charset="0"/>
                <a:ea typeface="Open Sans" panose="020B0606030504020204" pitchFamily="34" charset="0"/>
                <a:cs typeface="Open Sans" panose="020B0606030504020204" pitchFamily="34" charset="0"/>
              </a:rPr>
              <a:t>Rule 1: Information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data stored in a database, may it be user data or metadata, must be a value of some table cell. Everything in a database must be stored in a table format.</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2: Guaranteed Access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Every single data is guaranteed to be accessible with a combination of table-name, primary-key (row value), and attribute-name (column value).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3: Systematic Treatment of NULL Values </a:t>
            </a:r>
            <a:r>
              <a:rPr lang="en-US" sz="20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(absence of a value)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NULL values in a database must be given a systematic and uniform treatment. This is a very important rule because a NULL can be interpreted as one the following − data is missing, data is not known, or data is not applicable.</a:t>
            </a:r>
          </a:p>
          <a:p>
            <a:pPr algn="just"/>
            <a:endPar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4: Active Online Catalog</a:t>
            </a:r>
          </a:p>
          <a:p>
            <a:pPr algn="just"/>
            <a:endParaRPr lang="en-US" sz="800"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structure description of the entire database must be stored in an online catalog, known as </a:t>
            </a:r>
            <a:r>
              <a:rPr lang="en-US" b="1"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data dictionary</a:t>
            </a:r>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 which can be accessed by authorized users.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58348617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6124754"/>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5: Comprehensive Data Sub-Language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can only be accessed using a language having linear syntax that supports data definition, data manipulation, and transaction management operations. This language can be used directly or by means of some application. If the database allows access to data without any help of this language, then it is considered as a violation.</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6: View Updating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All the views of a database, which can theoretically be updated, must also be updatable by the system.</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7: High-Level Insert, Update, and Delete Rule</a:t>
            </a:r>
          </a:p>
          <a:p>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support high-level insertion, </a:t>
            </a:r>
            <a:r>
              <a:rPr lang="en-US" dirty="0" err="1">
                <a:solidFill>
                  <a:srgbClr val="000000"/>
                </a:solidFill>
                <a:latin typeface="Open Sans" panose="020B0606030504020204" pitchFamily="34" charset="0"/>
                <a:ea typeface="Open Sans" panose="020B0606030504020204" pitchFamily="34" charset="0"/>
                <a:cs typeface="Open Sans" panose="020B0606030504020204" pitchFamily="34" charset="0"/>
              </a:rPr>
              <a:t>updation</a:t>
            </a:r>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 and deletion. This must not be limited to a single row, that is, it must also support union, intersection and minus operations to yield sets of data records.</a:t>
            </a:r>
          </a:p>
          <a:p>
            <a:pPr algn="l"/>
            <a:endParaRPr lang="en-US"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8: Physical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data stored in a database must be independent of the applications that access the database. Any change in the physical structure of a database must not have any impact on how the data is being accessed by external applications.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36596149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6672"/>
            <a:ext cx="11593288" cy="6401753"/>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9: Logical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logical data in a database must be independent of its user’s view (application). Any change in logical data must not affect the applications using it. For example, if two tables are merged or one is split into two different tables, there should be no impact or change on the user application. This is one of the most difficult rule to apply.</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10: Integrity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be independent of the application that uses it. All its integrity constraints can be independently modified without the need of any change in the application. This rule makes a database independent of the front-end application and its interface.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11: Distribution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end-user must not be able to see that the data is distributed over various locations. Users should always get the impression that the data is located at one site only. This rule has been regarded as the foundation of distributed database systems.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12: Non-Subversion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If a system has an interface that provides access to low-level records, then the interface must not be able to subvert the system and bypass security and integrity constraints.</a:t>
            </a:r>
          </a:p>
        </p:txBody>
      </p:sp>
    </p:spTree>
    <p:extLst>
      <p:ext uri="{BB962C8B-B14F-4D97-AF65-F5344CB8AC3E}">
        <p14:creationId xmlns:p14="http://schemas.microsoft.com/office/powerpoint/2010/main" val="321980991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2519536"/>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relational model concepts</a:t>
            </a:r>
          </a:p>
          <a:p>
            <a:r>
              <a:rPr lang="en-IN" sz="3600" dirty="0">
                <a:solidFill>
                  <a:srgbClr val="DC525C"/>
                </a:solidFill>
                <a:latin typeface="Segoe UI Light" panose="020B0502040204020203" pitchFamily="34" charset="0"/>
                <a:cs typeface="Segoe UI Light" panose="020B0502040204020203" pitchFamily="34" charset="0"/>
              </a:rPr>
              <a:t>and</a:t>
            </a:r>
            <a:endParaRPr lang="en-IN" dirty="0">
              <a:solidFill>
                <a:srgbClr val="DC525C"/>
              </a:solidFill>
              <a:latin typeface="Segoe UI Light" panose="020B0502040204020203" pitchFamily="34" charset="0"/>
              <a:cs typeface="Segoe UI Light" panose="020B0502040204020203" pitchFamily="34" charset="0"/>
            </a:endParaRPr>
          </a:p>
          <a:p>
            <a:r>
              <a:rPr lang="en-IN" dirty="0">
                <a:solidFill>
                  <a:srgbClr val="DC525C"/>
                </a:solidFill>
                <a:latin typeface="Segoe UI Light" panose="020B0502040204020203" pitchFamily="34" charset="0"/>
                <a:cs typeface="Segoe UI Light" panose="020B0502040204020203" pitchFamily="34" charset="0"/>
              </a:rPr>
              <a:t>properties of relational table</a:t>
            </a:r>
          </a:p>
        </p:txBody>
      </p:sp>
    </p:spTree>
    <p:extLst>
      <p:ext uri="{BB962C8B-B14F-4D97-AF65-F5344CB8AC3E}">
        <p14:creationId xmlns:p14="http://schemas.microsoft.com/office/powerpoint/2010/main" val="286619617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model concepts</a:t>
            </a:r>
          </a:p>
        </p:txBody>
      </p:sp>
      <p:sp>
        <p:nvSpPr>
          <p:cNvPr id="9" name="Rectangle 8">
            <a:extLst>
              <a:ext uri="{FF2B5EF4-FFF2-40B4-BE49-F238E27FC236}">
                <a16:creationId xmlns:a16="http://schemas.microsoft.com/office/drawing/2014/main" id="{729FC44F-7384-47D1-AB43-E3D17B9872A8}"/>
              </a:ext>
            </a:extLst>
          </p:cNvPr>
          <p:cNvSpPr/>
          <p:nvPr/>
        </p:nvSpPr>
        <p:spPr>
          <a:xfrm>
            <a:off x="130801" y="1743194"/>
            <a:ext cx="11930398" cy="3508653"/>
          </a:xfrm>
          <a:prstGeom prst="rect">
            <a:avLst/>
          </a:prstGeom>
        </p:spPr>
        <p:txBody>
          <a:bodyPr wrap="square">
            <a:spAutoFit/>
          </a:bodyPr>
          <a:lstStyle/>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Relation (Table)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In relational model, relations are saved in the form of Tables. A table has rows and columns.</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Attribute (Column)</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Attributes are the properties that define a relation. </a:t>
            </a:r>
            <a:r>
              <a:rPr lang="en-US" b="1" dirty="0">
                <a:solidFill>
                  <a:srgbClr val="FF0000"/>
                </a:solidFill>
                <a:latin typeface="Palatino Linotype" panose="02040502050505030304" pitchFamily="18" charset="0"/>
              </a:rPr>
              <a:t>e.g.</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roll_no, name, address, age, . . . )</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Tuple (Row/Record)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 single row of a table, which contains a single record for that relation is called a tuple.</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Relation</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schema</a:t>
            </a:r>
            <a:r>
              <a:rPr lang="en-US" dirty="0">
                <a:solidFill>
                  <a:schemeClr val="tx1">
                    <a:lumMod val="85000"/>
                    <a:lumOff val="15000"/>
                  </a:schemeClr>
                </a:solidFill>
                <a:latin typeface="Palatino Linotype" panose="02040502050505030304" pitchFamily="18" charset="0"/>
              </a:rPr>
              <a:t> − A relation schema describes the  Relation Name (Table Name), Attributes (Column Names), Domain of Attributes (Data Types &amp; Allowed values), Constraints (Primary Key, Foreign Key, etc.).</a:t>
            </a:r>
          </a:p>
          <a:p>
            <a:pPr algn="just"/>
            <a:endParaRPr lang="en-US" dirty="0">
              <a:solidFill>
                <a:schemeClr val="tx1">
                  <a:lumMod val="85000"/>
                  <a:lumOff val="15000"/>
                </a:schemeClr>
              </a:solidFill>
              <a:latin typeface="Palatino Linotype" panose="02040502050505030304" pitchFamily="18" charset="0"/>
            </a:endParaRPr>
          </a:p>
          <a:p>
            <a:pPr algn="just"/>
            <a:endParaRPr lang="en-US"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Attribute</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domain</a:t>
            </a:r>
            <a:r>
              <a:rPr lang="en-US" dirty="0">
                <a:solidFill>
                  <a:schemeClr val="tx1">
                    <a:lumMod val="85000"/>
                    <a:lumOff val="15000"/>
                  </a:schemeClr>
                </a:solidFill>
                <a:latin typeface="Palatino Linotype" panose="02040502050505030304" pitchFamily="18" charset="0"/>
              </a:rPr>
              <a:t> − An attribute domain in a relational database refers to the set of allowed values for an attribute (column). It defines the data type and constraints that restrict the values an attribute can take.</a:t>
            </a:r>
          </a:p>
        </p:txBody>
      </p:sp>
      <p:cxnSp>
        <p:nvCxnSpPr>
          <p:cNvPr id="10" name="Straight Connector 9">
            <a:extLst>
              <a:ext uri="{FF2B5EF4-FFF2-40B4-BE49-F238E27FC236}">
                <a16:creationId xmlns:a16="http://schemas.microsoft.com/office/drawing/2014/main" id="{0F5A2780-991E-4458-BDDE-7EA69311C413}"/>
              </a:ext>
            </a:extLst>
          </p:cNvPr>
          <p:cNvCxnSpPr/>
          <p:nvPr/>
        </p:nvCxnSpPr>
        <p:spPr>
          <a:xfrm>
            <a:off x="334566" y="5445224"/>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7013D3AF-D1D5-4633-97A9-7D3B9E1F54AD}"/>
              </a:ext>
            </a:extLst>
          </p:cNvPr>
          <p:cNvSpPr/>
          <p:nvPr/>
        </p:nvSpPr>
        <p:spPr>
          <a:xfrm>
            <a:off x="623392" y="3790781"/>
            <a:ext cx="10945216" cy="646331"/>
          </a:xfrm>
          <a:prstGeom prst="rect">
            <a:avLst/>
          </a:prstGeom>
        </p:spPr>
        <p:txBody>
          <a:bodyPr wrap="square">
            <a:spAutoFit/>
          </a:bodyPr>
          <a:lstStyle/>
          <a:p>
            <a:r>
              <a:rPr lang="en-US" b="1" dirty="0">
                <a:solidFill>
                  <a:srgbClr val="FF0000"/>
                </a:solidFill>
                <a:latin typeface="Palatino Linotype" panose="02040502050505030304" pitchFamily="18" charset="0"/>
              </a:rPr>
              <a:t>e.g.</a:t>
            </a:r>
            <a:r>
              <a:rPr lang="en-US" b="1" dirty="0">
                <a:latin typeface="Palatino Linotype" panose="02040502050505030304" pitchFamily="18" charset="0"/>
              </a:rPr>
              <a:t> Customers</a:t>
            </a:r>
            <a:r>
              <a:rPr lang="en-US" dirty="0">
                <a:latin typeface="Palatino Linotype" panose="02040502050505030304" pitchFamily="18" charset="0"/>
              </a:rPr>
              <a:t>(CustomerID:INT, Name:VARCHAR(50), Email:VARCHAR(100), City:VARCHAR(50), </a:t>
            </a:r>
          </a:p>
          <a:p>
            <a:r>
              <a:rPr lang="en-US" dirty="0">
                <a:latin typeface="Palatino Linotype" panose="02040502050505030304" pitchFamily="18" charset="0"/>
              </a:rPr>
              <a:t>                            PRIMARY KEY(CustomerID)) is relation schema for CUSTOMERS</a:t>
            </a:r>
            <a:endParaRPr lang="en-IN" dirty="0">
              <a:solidFill>
                <a:schemeClr val="bg1"/>
              </a:solidFill>
              <a:latin typeface="Palatino Linotype" panose="02040502050505030304" pitchFamily="18" charset="0"/>
            </a:endParaRPr>
          </a:p>
        </p:txBody>
      </p:sp>
      <p:sp>
        <p:nvSpPr>
          <p:cNvPr id="12" name="Rectangle 11">
            <a:extLst>
              <a:ext uri="{FF2B5EF4-FFF2-40B4-BE49-F238E27FC236}">
                <a16:creationId xmlns:a16="http://schemas.microsoft.com/office/drawing/2014/main" id="{7E744384-0880-4809-81FF-459E1F7D11EF}"/>
              </a:ext>
            </a:extLst>
          </p:cNvPr>
          <p:cNvSpPr/>
          <p:nvPr/>
        </p:nvSpPr>
        <p:spPr>
          <a:xfrm>
            <a:off x="334566" y="901740"/>
            <a:ext cx="11726633" cy="646331"/>
          </a:xfrm>
          <a:prstGeom prst="rect">
            <a:avLst/>
          </a:prstGeom>
        </p:spPr>
        <p:txBody>
          <a:bodyPr wrap="square">
            <a:spAutoFit/>
          </a:bodyPr>
          <a:lstStyle/>
          <a:p>
            <a:r>
              <a:rPr lang="en-US" dirty="0">
                <a:solidFill>
                  <a:srgbClr val="222222"/>
                </a:solidFill>
                <a:latin typeface="Arial" panose="020B0604020202020204" pitchFamily="34" charset="0"/>
              </a:rPr>
              <a:t>Relational model organizes data into one or more </a:t>
            </a:r>
            <a:r>
              <a:rPr lang="en-US" dirty="0">
                <a:solidFill>
                  <a:srgbClr val="2658E6"/>
                </a:solidFill>
                <a:latin typeface="Arial" panose="020B0604020202020204" pitchFamily="34" charset="0"/>
              </a:rPr>
              <a:t>tables</a:t>
            </a:r>
            <a:r>
              <a:rPr lang="en-US" dirty="0">
                <a:solidFill>
                  <a:srgbClr val="222222"/>
                </a:solidFill>
                <a:latin typeface="Arial" panose="020B0604020202020204" pitchFamily="34" charset="0"/>
              </a:rPr>
              <a:t> (or "relations") of </a:t>
            </a:r>
            <a:r>
              <a:rPr lang="en-US" dirty="0">
                <a:solidFill>
                  <a:srgbClr val="2658E6"/>
                </a:solidFill>
                <a:latin typeface="Arial" panose="020B0604020202020204" pitchFamily="34" charset="0"/>
              </a:rPr>
              <a:t>columns</a:t>
            </a:r>
            <a:r>
              <a:rPr lang="en-US" dirty="0">
                <a:solidFill>
                  <a:srgbClr val="222222"/>
                </a:solidFill>
                <a:latin typeface="Arial" panose="020B0604020202020204" pitchFamily="34" charset="0"/>
              </a:rPr>
              <a:t> and </a:t>
            </a:r>
            <a:r>
              <a:rPr lang="en-US" dirty="0">
                <a:solidFill>
                  <a:srgbClr val="2658E6"/>
                </a:solidFill>
                <a:latin typeface="Arial" panose="020B0604020202020204" pitchFamily="34" charset="0"/>
              </a:rPr>
              <a:t>rows</a:t>
            </a:r>
            <a:r>
              <a:rPr lang="en-US" dirty="0">
                <a:solidFill>
                  <a:srgbClr val="222222"/>
                </a:solidFill>
                <a:latin typeface="Arial" panose="020B0604020202020204" pitchFamily="34" charset="0"/>
              </a:rPr>
              <a:t>. Rows are also called </a:t>
            </a:r>
            <a:r>
              <a:rPr lang="en-US" dirty="0">
                <a:solidFill>
                  <a:srgbClr val="2658E6"/>
                </a:solidFill>
                <a:latin typeface="Arial" panose="020B0604020202020204" pitchFamily="34" charset="0"/>
              </a:rPr>
              <a:t>records</a:t>
            </a:r>
            <a:r>
              <a:rPr lang="en-US" dirty="0">
                <a:solidFill>
                  <a:srgbClr val="222222"/>
                </a:solidFill>
                <a:latin typeface="Arial" panose="020B0604020202020204" pitchFamily="34" charset="0"/>
              </a:rPr>
              <a:t> or </a:t>
            </a:r>
            <a:r>
              <a:rPr lang="en-US" dirty="0">
                <a:solidFill>
                  <a:srgbClr val="2658E6"/>
                </a:solidFill>
                <a:latin typeface="Arial" panose="020B0604020202020204" pitchFamily="34" charset="0"/>
              </a:rPr>
              <a:t>tuples</a:t>
            </a:r>
            <a:r>
              <a:rPr lang="en-US" dirty="0">
                <a:solidFill>
                  <a:srgbClr val="222222"/>
                </a:solidFill>
                <a:latin typeface="Arial" panose="020B0604020202020204" pitchFamily="34" charset="0"/>
              </a:rPr>
              <a:t>. Columns are also called </a:t>
            </a:r>
            <a:r>
              <a:rPr lang="en-US" dirty="0">
                <a:solidFill>
                  <a:srgbClr val="2658E6"/>
                </a:solidFill>
                <a:latin typeface="Arial" panose="020B0604020202020204" pitchFamily="34" charset="0"/>
              </a:rPr>
              <a:t>attributes</a:t>
            </a:r>
            <a:r>
              <a:rPr lang="en-US" dirty="0">
                <a:solidFill>
                  <a:srgbClr val="0B0080"/>
                </a:solidFill>
                <a:latin typeface="Arial" panose="020B0604020202020204" pitchFamily="34" charset="0"/>
              </a:rPr>
              <a:t>.</a:t>
            </a:r>
            <a:endParaRPr lang="en-IN" dirty="0">
              <a:solidFill>
                <a:srgbClr val="0B0080"/>
              </a:solidFill>
              <a:latin typeface="Arial" panose="020B0604020202020204" pitchFamily="34" charset="0"/>
            </a:endParaRPr>
          </a:p>
        </p:txBody>
      </p:sp>
      <p:sp>
        <p:nvSpPr>
          <p:cNvPr id="3" name="TextBox 2">
            <a:extLst>
              <a:ext uri="{FF2B5EF4-FFF2-40B4-BE49-F238E27FC236}">
                <a16:creationId xmlns:a16="http://schemas.microsoft.com/office/drawing/2014/main" id="{F635C33E-77E3-514E-4FDF-65802D53D236}"/>
              </a:ext>
            </a:extLst>
          </p:cNvPr>
          <p:cNvSpPr txBox="1"/>
          <p:nvPr/>
        </p:nvSpPr>
        <p:spPr>
          <a:xfrm>
            <a:off x="232683" y="5589240"/>
            <a:ext cx="11726633" cy="1077218"/>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4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374151"/>
                </a:solidFill>
                <a:latin typeface="Palatino Linotype" panose="02040502050505030304" pitchFamily="18" charset="0"/>
              </a:rPr>
              <a:t>In database management systems, </a:t>
            </a:r>
            <a:r>
              <a:rPr lang="en-US" b="1" dirty="0">
                <a:solidFill>
                  <a:srgbClr val="374151"/>
                </a:solidFill>
                <a:latin typeface="Palatino Linotype" panose="02040502050505030304" pitchFamily="18" charset="0"/>
              </a:rPr>
              <a:t>null</a:t>
            </a:r>
            <a:r>
              <a:rPr lang="en-US" dirty="0">
                <a:solidFill>
                  <a:srgbClr val="374151"/>
                </a:solidFill>
                <a:latin typeface="Palatino Linotype" panose="02040502050505030304" pitchFamily="18" charset="0"/>
              </a:rPr>
              <a:t> (</a:t>
            </a:r>
            <a:r>
              <a:rPr lang="en-US" sz="2000" b="1" i="1" dirty="0">
                <a:solidFill>
                  <a:srgbClr val="7E007E"/>
                </a:solidFill>
                <a:latin typeface="Palatino Linotype" panose="02040502050505030304" pitchFamily="18" charset="0"/>
              </a:rPr>
              <a:t>absence of a value</a:t>
            </a:r>
            <a:r>
              <a:rPr lang="en-US" dirty="0">
                <a:solidFill>
                  <a:srgbClr val="374151"/>
                </a:solidFill>
                <a:latin typeface="Palatino Linotype" panose="02040502050505030304" pitchFamily="18" charset="0"/>
              </a:rPr>
              <a:t>) is used to represent </a:t>
            </a:r>
            <a:r>
              <a:rPr lang="en-US" b="1" dirty="0">
                <a:solidFill>
                  <a:srgbClr val="374151"/>
                </a:solidFill>
                <a:latin typeface="Palatino Linotype" panose="02040502050505030304" pitchFamily="18" charset="0"/>
              </a:rPr>
              <a:t>missing</a:t>
            </a:r>
            <a:r>
              <a:rPr lang="en-US" dirty="0">
                <a:solidFill>
                  <a:srgbClr val="374151"/>
                </a:solidFill>
                <a:latin typeface="Palatino Linotype" panose="02040502050505030304" pitchFamily="18" charset="0"/>
              </a:rPr>
              <a:t> or </a:t>
            </a:r>
            <a:r>
              <a:rPr lang="en-US" b="1" dirty="0">
                <a:solidFill>
                  <a:srgbClr val="374151"/>
                </a:solidFill>
                <a:latin typeface="Palatino Linotype" panose="02040502050505030304" pitchFamily="18" charset="0"/>
              </a:rPr>
              <a:t>unknown</a:t>
            </a:r>
            <a:r>
              <a:rPr lang="en-US" dirty="0">
                <a:solidFill>
                  <a:srgbClr val="374151"/>
                </a:solidFill>
                <a:latin typeface="Palatino Linotype" panose="02040502050505030304" pitchFamily="18" charset="0"/>
              </a:rPr>
              <a:t> data in a table column.</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2759758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2"/>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properties of relational table</a:t>
            </a:r>
          </a:p>
        </p:txBody>
      </p:sp>
      <p:graphicFrame>
        <p:nvGraphicFramePr>
          <p:cNvPr id="6" name="Table 5">
            <a:extLst>
              <a:ext uri="{FF2B5EF4-FFF2-40B4-BE49-F238E27FC236}">
                <a16:creationId xmlns:a16="http://schemas.microsoft.com/office/drawing/2014/main" id="{F6E5EB7C-7CB0-4227-98E4-49F6FD72FD2C}"/>
              </a:ext>
            </a:extLst>
          </p:cNvPr>
          <p:cNvGraphicFramePr>
            <a:graphicFrameLocks noGrp="1"/>
          </p:cNvGraphicFramePr>
          <p:nvPr>
            <p:extLst>
              <p:ext uri="{D42A27DB-BD31-4B8C-83A1-F6EECF244321}">
                <p14:modId xmlns:p14="http://schemas.microsoft.com/office/powerpoint/2010/main" val="759536784"/>
              </p:ext>
            </p:extLst>
          </p:nvPr>
        </p:nvGraphicFramePr>
        <p:xfrm>
          <a:off x="191344" y="620688"/>
          <a:ext cx="7560841" cy="2628974"/>
        </p:xfrm>
        <a:graphic>
          <a:graphicData uri="http://schemas.openxmlformats.org/drawingml/2006/table">
            <a:tbl>
              <a:tblPr firstRow="1" bandRow="1">
                <a:tableStyleId>{5940675A-B579-460E-94D1-54222C63F5DA}</a:tableStyleId>
              </a:tblPr>
              <a:tblGrid>
                <a:gridCol w="924515">
                  <a:extLst>
                    <a:ext uri="{9D8B030D-6E8A-4147-A177-3AD203B41FA5}">
                      <a16:colId xmlns:a16="http://schemas.microsoft.com/office/drawing/2014/main" val="2396132272"/>
                    </a:ext>
                  </a:extLst>
                </a:gridCol>
                <a:gridCol w="1699547">
                  <a:extLst>
                    <a:ext uri="{9D8B030D-6E8A-4147-A177-3AD203B41FA5}">
                      <a16:colId xmlns:a16="http://schemas.microsoft.com/office/drawing/2014/main" val="20001"/>
                    </a:ext>
                  </a:extLst>
                </a:gridCol>
                <a:gridCol w="1696418">
                  <a:extLst>
                    <a:ext uri="{9D8B030D-6E8A-4147-A177-3AD203B41FA5}">
                      <a16:colId xmlns:a16="http://schemas.microsoft.com/office/drawing/2014/main" val="1693957219"/>
                    </a:ext>
                  </a:extLst>
                </a:gridCol>
                <a:gridCol w="1656184">
                  <a:extLst>
                    <a:ext uri="{9D8B030D-6E8A-4147-A177-3AD203B41FA5}">
                      <a16:colId xmlns:a16="http://schemas.microsoft.com/office/drawing/2014/main" val="1961816629"/>
                    </a:ext>
                  </a:extLst>
                </a:gridCol>
                <a:gridCol w="1584177">
                  <a:extLst>
                    <a:ext uri="{9D8B030D-6E8A-4147-A177-3AD203B41FA5}">
                      <a16:colId xmlns:a16="http://schemas.microsoft.com/office/drawing/2014/main" val="4213359356"/>
                    </a:ext>
                  </a:extLst>
                </a:gridCol>
              </a:tblGrid>
              <a:tr h="403934">
                <a:tc>
                  <a:txBody>
                    <a:bodyPr/>
                    <a:lstStyle/>
                    <a:p>
                      <a:pPr algn="ctr"/>
                      <a:r>
                        <a:rPr lang="en-IN" dirty="0"/>
                        <a:t>ID</a:t>
                      </a:r>
                    </a:p>
                  </a:txBody>
                  <a:tcPr>
                    <a:solidFill>
                      <a:srgbClr val="FFFF00"/>
                    </a:solidFill>
                  </a:tcPr>
                </a:tc>
                <a:tc>
                  <a:txBody>
                    <a:bodyPr/>
                    <a:lstStyle/>
                    <a:p>
                      <a:pPr algn="ctr"/>
                      <a:r>
                        <a:rPr lang="en-IN" dirty="0"/>
                        <a:t>job</a:t>
                      </a:r>
                    </a:p>
                  </a:txBody>
                  <a:tcPr>
                    <a:solidFill>
                      <a:srgbClr val="FFFF00"/>
                    </a:solidFill>
                  </a:tcPr>
                </a:tc>
                <a:tc>
                  <a:txBody>
                    <a:bodyPr/>
                    <a:lstStyle/>
                    <a:p>
                      <a:pPr algn="ctr"/>
                      <a:r>
                        <a:rPr lang="en-IN" dirty="0"/>
                        <a:t>firstName</a:t>
                      </a:r>
                    </a:p>
                  </a:txBody>
                  <a:tcPr>
                    <a:solidFill>
                      <a:srgbClr val="FFFF00"/>
                    </a:solidFill>
                  </a:tcPr>
                </a:tc>
                <a:tc>
                  <a:txBody>
                    <a:bodyPr/>
                    <a:lstStyle/>
                    <a:p>
                      <a:pPr algn="ctr"/>
                      <a:r>
                        <a:rPr lang="en-IN" dirty="0"/>
                        <a:t>DoB</a:t>
                      </a:r>
                    </a:p>
                  </a:txBody>
                  <a:tcPr>
                    <a:solidFill>
                      <a:srgbClr val="FFFF00"/>
                    </a:solidFill>
                  </a:tcPr>
                </a:tc>
                <a:tc>
                  <a:txBody>
                    <a:bodyPr/>
                    <a:lstStyle/>
                    <a:p>
                      <a:pPr algn="ctr"/>
                      <a:r>
                        <a:rPr lang="en-US" dirty="0"/>
                        <a:t>salary</a:t>
                      </a:r>
                      <a:endParaRPr lang="en-IN" dirty="0"/>
                    </a:p>
                  </a:txBody>
                  <a:tcPr>
                    <a:solidFill>
                      <a:srgbClr val="FFFF00"/>
                    </a:solidFill>
                  </a:tcPr>
                </a:tc>
                <a:extLst>
                  <a:ext uri="{0D108BD9-81ED-4DB2-BD59-A6C34878D82A}">
                    <a16:rowId xmlns:a16="http://schemas.microsoft.com/office/drawing/2014/main" val="10000"/>
                  </a:ext>
                </a:extLst>
              </a:tr>
              <a:tr h="370840">
                <a:tc>
                  <a:txBody>
                    <a:bodyPr/>
                    <a:lstStyle/>
                    <a:p>
                      <a:pPr algn="ctr"/>
                      <a:r>
                        <a:rPr lang="en-IN" dirty="0"/>
                        <a:t>1</a:t>
                      </a:r>
                    </a:p>
                  </a:txBody>
                  <a:tcPr/>
                </a:tc>
                <a:tc>
                  <a:txBody>
                    <a:bodyPr/>
                    <a:lstStyle/>
                    <a:p>
                      <a:r>
                        <a:rPr lang="en-IN" dirty="0"/>
                        <a:t>manager</a:t>
                      </a:r>
                    </a:p>
                  </a:txBody>
                  <a:tcPr/>
                </a:tc>
                <a:tc>
                  <a:txBody>
                    <a:bodyPr/>
                    <a:lstStyle/>
                    <a:p>
                      <a:r>
                        <a:rPr lang="en-IN" dirty="0">
                          <a:solidFill>
                            <a:srgbClr val="FF0000"/>
                          </a:solidFill>
                        </a:rPr>
                        <a:t>Saleel Bagde</a:t>
                      </a:r>
                    </a:p>
                  </a:txBody>
                  <a:tcPr/>
                </a:tc>
                <a:tc>
                  <a:txBody>
                    <a:bodyPr/>
                    <a:lstStyle/>
                    <a:p>
                      <a:pPr algn="ctr"/>
                      <a:r>
                        <a:rPr lang="en-US" b="0" dirty="0"/>
                        <a:t>yyyy-mm-dd</a:t>
                      </a:r>
                      <a:endParaRPr lang="en-IN" b="0" dirty="0"/>
                    </a:p>
                  </a:txBody>
                  <a:tcPr/>
                </a:tc>
                <a:tc>
                  <a:txBody>
                    <a:bodyPr/>
                    <a:lstStyle/>
                    <a:p>
                      <a:pPr algn="ctr"/>
                      <a:r>
                        <a:rPr lang="en-IN" sz="1400" dirty="0">
                          <a:latin typeface="Arial" panose="020B0604020202020204" pitchFamily="34" charset="0"/>
                          <a:cs typeface="Arial" panose="020B0604020202020204" pitchFamily="34" charset="0"/>
                        </a:rPr>
                        <a:t>●●●●●●</a:t>
                      </a:r>
                      <a:endParaRPr lang="en-IN" sz="1400" dirty="0"/>
                    </a:p>
                  </a:txBody>
                  <a:tcPr/>
                </a:tc>
                <a:extLst>
                  <a:ext uri="{0D108BD9-81ED-4DB2-BD59-A6C34878D82A}">
                    <a16:rowId xmlns:a16="http://schemas.microsoft.com/office/drawing/2014/main" val="10001"/>
                  </a:ext>
                </a:extLst>
              </a:tr>
              <a:tr h="370840">
                <a:tc>
                  <a:txBody>
                    <a:bodyPr/>
                    <a:lstStyle/>
                    <a:p>
                      <a:pPr algn="ctr"/>
                      <a:r>
                        <a:rPr lang="en-IN" dirty="0"/>
                        <a:t>3</a:t>
                      </a:r>
                    </a:p>
                  </a:txBody>
                  <a:tcPr/>
                </a:tc>
                <a:tc>
                  <a:txBody>
                    <a:bodyPr/>
                    <a:lstStyle/>
                    <a:p>
                      <a:r>
                        <a:rPr lang="en-IN" dirty="0"/>
                        <a:t>salesman</a:t>
                      </a:r>
                    </a:p>
                  </a:txBody>
                  <a:tcPr/>
                </a:tc>
                <a:tc>
                  <a:txBody>
                    <a:bodyPr/>
                    <a:lstStyle/>
                    <a:p>
                      <a:r>
                        <a:rPr lang="en-IN" dirty="0"/>
                        <a:t>Sharmin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2"/>
                  </a:ext>
                </a:extLst>
              </a:tr>
              <a:tr h="370840">
                <a:tc>
                  <a:txBody>
                    <a:bodyPr/>
                    <a:lstStyle/>
                    <a:p>
                      <a:pPr algn="ctr"/>
                      <a:r>
                        <a:rPr lang="en-IN" dirty="0"/>
                        <a:t>4</a:t>
                      </a:r>
                    </a:p>
                  </a:txBody>
                  <a:tcPr/>
                </a:tc>
                <a:tc>
                  <a:txBody>
                    <a:bodyPr/>
                    <a:lstStyle/>
                    <a:p>
                      <a:r>
                        <a:rPr lang="en-US" dirty="0"/>
                        <a:t>accountant</a:t>
                      </a:r>
                      <a:endParaRPr lang="en-IN" dirty="0"/>
                    </a:p>
                  </a:txBody>
                  <a:tcPr/>
                </a:tc>
                <a:tc>
                  <a:txBody>
                    <a:bodyPr/>
                    <a:lstStyle/>
                    <a:p>
                      <a:r>
                        <a:rPr lang="en-IN" dirty="0"/>
                        <a:t>Vrushali</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1"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ABC</a:t>
                      </a:r>
                      <a:endParaRPr kumimoji="0" lang="en-IN" sz="1400" b="1" i="0" u="none" strike="noStrike" kern="1200" cap="none" spc="0" normalizeH="0" baseline="0" noProof="0" dirty="0">
                        <a:ln>
                          <a:noFill/>
                        </a:ln>
                        <a:solidFill>
                          <a:srgbClr val="FF0000"/>
                        </a:solidFill>
                        <a:effectLst/>
                        <a:uLnTx/>
                        <a:uFillTx/>
                        <a:latin typeface="Gill Sans MT"/>
                        <a:ea typeface="+mn-ea"/>
                        <a:cs typeface="+mn-cs"/>
                      </a:endParaRPr>
                    </a:p>
                  </a:txBody>
                  <a:tcPr/>
                </a:tc>
                <a:extLst>
                  <a:ext uri="{0D108BD9-81ED-4DB2-BD59-A6C34878D82A}">
                    <a16:rowId xmlns:a16="http://schemas.microsoft.com/office/drawing/2014/main" val="10003"/>
                  </a:ext>
                </a:extLst>
              </a:tr>
              <a:tr h="370840">
                <a:tc>
                  <a:txBody>
                    <a:bodyPr/>
                    <a:lstStyle/>
                    <a:p>
                      <a:pPr algn="ctr"/>
                      <a:r>
                        <a:rPr lang="en-IN" dirty="0"/>
                        <a:t>2</a:t>
                      </a:r>
                    </a:p>
                  </a:txBody>
                  <a:tcPr/>
                </a:tc>
                <a:tc>
                  <a:txBody>
                    <a:bodyPr/>
                    <a:lstStyle/>
                    <a:p>
                      <a:r>
                        <a:rPr lang="en-IN" dirty="0"/>
                        <a:t>salesman</a:t>
                      </a:r>
                    </a:p>
                  </a:txBody>
                  <a:tcPr/>
                </a:tc>
                <a:tc>
                  <a:txBody>
                    <a:bodyPr/>
                    <a:lstStyle/>
                    <a:p>
                      <a:r>
                        <a:rPr lang="en-IN" dirty="0"/>
                        <a:t>Ruhan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4"/>
                  </a:ext>
                </a:extLst>
              </a:tr>
              <a:tr h="370840">
                <a:tc>
                  <a:txBody>
                    <a:bodyPr/>
                    <a:lstStyle/>
                    <a:p>
                      <a:pPr algn="ctr"/>
                      <a:r>
                        <a:rPr lang="en-IN" dirty="0"/>
                        <a:t>5</a:t>
                      </a:r>
                    </a:p>
                  </a:txBody>
                  <a:tcPr/>
                </a:tc>
                <a:tc>
                  <a:txBody>
                    <a:bodyPr/>
                    <a:lstStyle/>
                    <a:p>
                      <a:r>
                        <a:rPr lang="en-IN" dirty="0">
                          <a:solidFill>
                            <a:srgbClr val="FF0000"/>
                          </a:solidFill>
                        </a:rPr>
                        <a:t>9500</a:t>
                      </a:r>
                    </a:p>
                  </a:txBody>
                  <a:tcPr/>
                </a:tc>
                <a:tc>
                  <a:txBody>
                    <a:bodyPr/>
                    <a:lstStyle/>
                    <a:p>
                      <a:r>
                        <a:rPr lang="en-IN" dirty="0"/>
                        <a:t>manager</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105242808"/>
                  </a:ext>
                </a:extLst>
              </a:tr>
              <a:tr h="370840">
                <a:tc>
                  <a:txBody>
                    <a:bodyPr/>
                    <a:lstStyle/>
                    <a:p>
                      <a:pPr algn="ctr"/>
                      <a:r>
                        <a:rPr lang="en-IN" dirty="0">
                          <a:solidFill>
                            <a:srgbClr val="FF0000"/>
                          </a:solidFill>
                        </a:rPr>
                        <a:t>5</a:t>
                      </a:r>
                    </a:p>
                  </a:txBody>
                  <a:tcPr/>
                </a:tc>
                <a:tc>
                  <a:txBody>
                    <a:bodyPr/>
                    <a:lstStyle/>
                    <a:p>
                      <a:r>
                        <a:rPr lang="en-IN" dirty="0"/>
                        <a:t>Salesman</a:t>
                      </a:r>
                    </a:p>
                  </a:txBody>
                  <a:tcPr/>
                </a:tc>
                <a:tc>
                  <a:txBody>
                    <a:bodyPr/>
                    <a:lstStyle/>
                    <a:p>
                      <a:r>
                        <a:rPr lang="en-IN" dirty="0">
                          <a:solidFill>
                            <a:srgbClr val="FF0000"/>
                          </a:solidFill>
                        </a:rPr>
                        <a:t>Rahul Patil</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536796661"/>
                  </a:ext>
                </a:extLst>
              </a:tr>
            </a:tbl>
          </a:graphicData>
        </a:graphic>
      </p:graphicFrame>
      <p:sp>
        <p:nvSpPr>
          <p:cNvPr id="2" name="Rectangle 1">
            <a:extLst>
              <a:ext uri="{FF2B5EF4-FFF2-40B4-BE49-F238E27FC236}">
                <a16:creationId xmlns:a16="http://schemas.microsoft.com/office/drawing/2014/main" id="{A3A16706-C24B-A755-035E-D79B66B01582}"/>
              </a:ext>
            </a:extLst>
          </p:cNvPr>
          <p:cNvSpPr/>
          <p:nvPr/>
        </p:nvSpPr>
        <p:spPr>
          <a:xfrm>
            <a:off x="191344" y="3356992"/>
            <a:ext cx="11809312" cy="3416320"/>
          </a:xfrm>
          <a:prstGeom prst="rect">
            <a:avLst/>
          </a:prstGeom>
        </p:spPr>
        <p:txBody>
          <a:bodyPr wrap="square">
            <a:spAutoFit/>
          </a:bodyPr>
          <a:lstStyle/>
          <a:p>
            <a:r>
              <a:rPr lang="en-IN" sz="2400" b="1" dirty="0"/>
              <a:t>Properties of Relational Tables</a:t>
            </a:r>
            <a:r>
              <a:rPr lang="en-IN" sz="2400" b="1" dirty="0">
                <a:latin typeface="Arial" panose="020B0604020202020204" pitchFamily="34" charset="0"/>
                <a:cs typeface="Arial" panose="020B0604020202020204" pitchFamily="34" charset="0"/>
              </a:rPr>
              <a:t>:</a:t>
            </a:r>
          </a:p>
          <a:p>
            <a:endParaRPr lang="en-IN"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Values are atomic </a:t>
            </a:r>
            <a:r>
              <a:rPr lang="en-IN" dirty="0">
                <a:solidFill>
                  <a:srgbClr val="FF0000"/>
                </a:solidFill>
                <a:latin typeface="Palatino Linotype" panose="02040502050505030304" pitchFamily="18" charset="0"/>
              </a:rPr>
              <a:t>(no multivalued cells)</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Column values are of the same kind. (</a:t>
            </a:r>
            <a:r>
              <a:rPr lang="en-IN" b="1" i="1" u="sng" dirty="0">
                <a:solidFill>
                  <a:srgbClr val="006C86"/>
                </a:solidFill>
                <a:latin typeface="Palatino Linotype" panose="02040502050505030304" pitchFamily="18" charset="0"/>
              </a:rPr>
              <a:t>Attribute Domain</a:t>
            </a:r>
            <a:r>
              <a:rPr lang="en-IN" b="1" dirty="0">
                <a:solidFill>
                  <a:srgbClr val="006C86"/>
                </a:solidFill>
                <a:latin typeface="Palatino Linotype" panose="02040502050505030304" pitchFamily="18" charset="0"/>
              </a:rPr>
              <a:t>: </a:t>
            </a:r>
            <a:r>
              <a:rPr lang="en-US" dirty="0">
                <a:solidFill>
                  <a:srgbClr val="006C86"/>
                </a:solidFill>
                <a:latin typeface="Palatino Linotype" panose="02040502050505030304" pitchFamily="18" charset="0"/>
              </a:rPr>
              <a:t>Every attribute has some pre-defined datatypes, format, constraints of a column, and defines the range of values that are valid for that column known as attribute domain.</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row is unique.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columns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rows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a:t>
            </a:r>
            <a:r>
              <a:rPr lang="en-IN" dirty="0">
                <a:latin typeface="Palatino Linotype" panose="02040502050505030304" pitchFamily="18" charset="0"/>
              </a:rPr>
              <a:t>table name, </a:t>
            </a:r>
            <a:r>
              <a:rPr lang="en-IN" dirty="0">
                <a:solidFill>
                  <a:schemeClr val="tx2">
                    <a:lumMod val="50000"/>
                  </a:schemeClr>
                </a:solidFill>
                <a:latin typeface="Palatino Linotype" panose="02040502050505030304" pitchFamily="18" charset="0"/>
              </a:rPr>
              <a:t>attribute/column must have a unique name.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Attributes may contain </a:t>
            </a:r>
            <a:r>
              <a:rPr lang="en-US" b="1" dirty="0">
                <a:latin typeface="Palatino Linotype" panose="02040502050505030304" pitchFamily="18" charset="0"/>
              </a:rPr>
              <a:t>NULL</a:t>
            </a:r>
            <a:r>
              <a:rPr lang="en-US" dirty="0">
                <a:latin typeface="Palatino Linotype" panose="02040502050505030304" pitchFamily="18" charset="0"/>
              </a:rPr>
              <a:t> (unknown/missing values)</a:t>
            </a:r>
            <a:endParaRPr lang="en-IN" dirty="0">
              <a:solidFill>
                <a:schemeClr val="tx2">
                  <a:lumMod val="50000"/>
                </a:schemeClr>
              </a:solidFill>
              <a:latin typeface="Palatino Linotype" panose="02040502050505030304" pitchFamily="18" charset="0"/>
            </a:endParaRPr>
          </a:p>
        </p:txBody>
      </p:sp>
    </p:spTree>
    <p:extLst>
      <p:ext uri="{BB962C8B-B14F-4D97-AF65-F5344CB8AC3E}">
        <p14:creationId xmlns:p14="http://schemas.microsoft.com/office/powerpoint/2010/main" val="2639356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981200" y="2957689"/>
            <a:ext cx="8153400" cy="3406422"/>
          </a:xfrm>
          <a:prstGeom prst="rect">
            <a:avLst/>
          </a:prstGeom>
        </p:spPr>
      </p:pic>
    </p:spTree>
    <p:extLst>
      <p:ext uri="{BB962C8B-B14F-4D97-AF65-F5344CB8AC3E}">
        <p14:creationId xmlns:p14="http://schemas.microsoft.com/office/powerpoint/2010/main" val="123537432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39433" y="758315"/>
            <a:ext cx="11617207" cy="2739211"/>
          </a:xfrm>
          <a:prstGeom prst="rect">
            <a:avLst/>
          </a:prstGeom>
        </p:spPr>
        <p:txBody>
          <a:bodyPr wrap="square">
            <a:spAutoFit/>
          </a:bodyPr>
          <a:lstStyle/>
          <a:p>
            <a:r>
              <a:rPr lang="en-US" sz="2200" dirty="0">
                <a:latin typeface="Arial" pitchFamily="34" charset="0"/>
                <a:cs typeface="Arial" pitchFamily="34" charset="0"/>
              </a:rPr>
              <a:t>Data is any facts that can be stored and that can be processed by a computer.</a:t>
            </a:r>
          </a:p>
          <a:p>
            <a:endParaRPr lang="en-US" sz="2200" dirty="0">
              <a:latin typeface="Arial" pitchFamily="34" charset="0"/>
              <a:cs typeface="Arial" pitchFamily="34" charset="0"/>
            </a:endParaRPr>
          </a:p>
          <a:p>
            <a:r>
              <a:rPr lang="en-US" sz="2400" dirty="0">
                <a:latin typeface="Arial" pitchFamily="34" charset="0"/>
                <a:cs typeface="Arial" pitchFamily="34" charset="0"/>
              </a:rPr>
              <a:t>Data can be in the form of </a:t>
            </a:r>
            <a:r>
              <a:rPr lang="en-US" sz="2800" dirty="0">
                <a:solidFill>
                  <a:schemeClr val="bg2">
                    <a:lumMod val="25000"/>
                  </a:schemeClr>
                </a:solidFill>
                <a:latin typeface="Arial" pitchFamily="34" charset="0"/>
                <a:cs typeface="Arial" pitchFamily="34" charset="0"/>
              </a:rPr>
              <a:t>Text</a:t>
            </a:r>
            <a:r>
              <a:rPr lang="en-US" sz="2800" dirty="0">
                <a:latin typeface="Arial" pitchFamily="34" charset="0"/>
                <a:cs typeface="Arial" pitchFamily="34" charset="0"/>
              </a:rPr>
              <a:t> or </a:t>
            </a:r>
            <a:r>
              <a:rPr lang="en-US" sz="2800" dirty="0">
                <a:solidFill>
                  <a:schemeClr val="bg2">
                    <a:lumMod val="25000"/>
                  </a:schemeClr>
                </a:solidFill>
                <a:latin typeface="Arial" pitchFamily="34" charset="0"/>
                <a:cs typeface="Arial" pitchFamily="34" charset="0"/>
              </a:rPr>
              <a:t>Multimedia</a:t>
            </a:r>
            <a:endParaRPr lang="en-US" sz="3200" dirty="0">
              <a:solidFill>
                <a:schemeClr val="bg2">
                  <a:lumMod val="25000"/>
                </a:schemeClr>
              </a:solidFill>
              <a:latin typeface="Arial" pitchFamily="34" charset="0"/>
              <a:cs typeface="Arial" pitchFamily="34" charset="0"/>
            </a:endParaRPr>
          </a:p>
          <a:p>
            <a:endParaRPr lang="en-US" sz="2200" dirty="0">
              <a:solidFill>
                <a:srgbClr val="FF0000"/>
              </a:solidFill>
              <a:latin typeface="Arial" panose="020B0604020202020204" pitchFamily="34" charset="0"/>
              <a:cs typeface="Arial" panose="020B0604020202020204" pitchFamily="34" charset="0"/>
            </a:endParaRPr>
          </a:p>
          <a:p>
            <a:r>
              <a:rPr lang="en-US" sz="2200" dirty="0">
                <a:solidFill>
                  <a:srgbClr val="FF0000"/>
                </a:solidFill>
                <a:latin typeface="Arial" panose="020B0604020202020204" pitchFamily="34" charset="0"/>
                <a:cs typeface="Arial" panose="020B0604020202020204" pitchFamily="34" charset="0"/>
              </a:rPr>
              <a:t>e.g.</a:t>
            </a:r>
          </a:p>
          <a:p>
            <a:endParaRPr lang="en-US" sz="800" dirty="0">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number</a:t>
            </a:r>
            <a:r>
              <a:rPr lang="en-US" sz="2000" b="1" dirty="0">
                <a:solidFill>
                  <a:schemeClr val="bg2">
                    <a:lumMod val="25000"/>
                  </a:schemeClr>
                </a:solidFill>
                <a:latin typeface="Arial" pitchFamily="34" charset="0"/>
                <a:cs typeface="Arial" pitchFamily="34" charset="0"/>
              </a:rPr>
              <a:t>, </a:t>
            </a:r>
            <a:r>
              <a:rPr lang="en-IN" sz="2000" dirty="0">
                <a:solidFill>
                  <a:schemeClr val="bg2">
                    <a:lumMod val="25000"/>
                  </a:schemeClr>
                </a:solidFill>
                <a:latin typeface="Arial" pitchFamily="34" charset="0"/>
                <a:cs typeface="Arial" pitchFamily="34" charset="0"/>
              </a:rPr>
              <a:t>characters</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dirty="0">
                <a:solidFill>
                  <a:schemeClr val="bg2">
                    <a:lumMod val="25000"/>
                  </a:schemeClr>
                </a:solidFill>
                <a:latin typeface="Arial" pitchFamily="34" charset="0"/>
                <a:cs typeface="Arial" pitchFamily="34" charset="0"/>
              </a:rPr>
              <a:t> symbol</a:t>
            </a:r>
          </a:p>
          <a:p>
            <a:pPr marL="457200" indent="-457200">
              <a:buFont typeface="Arial" panose="020B0604020202020204" pitchFamily="34" charset="0"/>
              <a:buChar char="•"/>
            </a:pPr>
            <a:endParaRPr lang="en-US" sz="800" b="1" dirty="0">
              <a:solidFill>
                <a:schemeClr val="bg2">
                  <a:lumMod val="25000"/>
                </a:schemeClr>
              </a:solidFill>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images</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audio</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video</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signal</a:t>
            </a:r>
            <a:endParaRPr lang="en-US" sz="1600" dirty="0">
              <a:solidFill>
                <a:schemeClr val="bg2">
                  <a:lumMod val="25000"/>
                </a:schemeClr>
              </a:solidFill>
              <a:latin typeface="Arial" pitchFamily="34" charset="0"/>
              <a:cs typeface="Arial" pitchFamily="34" charset="0"/>
            </a:endParaRPr>
          </a:p>
        </p:txBody>
      </p:sp>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96200" y="2626251"/>
            <a:ext cx="3816424" cy="3972779"/>
          </a:xfrm>
          <a:prstGeom prst="rect">
            <a:avLst/>
          </a:prstGeom>
        </p:spPr>
      </p:pic>
      <p:sp>
        <p:nvSpPr>
          <p:cNvPr id="4" name="TextBox 3">
            <a:extLst>
              <a:ext uri="{FF2B5EF4-FFF2-40B4-BE49-F238E27FC236}">
                <a16:creationId xmlns:a16="http://schemas.microsoft.com/office/drawing/2014/main" id="{3F008859-495E-85BE-2582-63E2E05F9AE8}"/>
              </a:ext>
            </a:extLst>
          </p:cNvPr>
          <p:cNvSpPr txBox="1"/>
          <p:nvPr/>
        </p:nvSpPr>
        <p:spPr>
          <a:xfrm>
            <a:off x="239432" y="4207147"/>
            <a:ext cx="7512751" cy="2462213"/>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0" i="0" dirty="0">
                <a:solidFill>
                  <a:srgbClr val="202124"/>
                </a:solidFill>
                <a:effectLst/>
                <a:latin typeface="Palatino Linotype" panose="02040502050505030304" pitchFamily="18" charset="0"/>
              </a:rPr>
              <a:t>A </a:t>
            </a:r>
            <a:r>
              <a:rPr lang="en-US" b="1" i="0" dirty="0">
                <a:solidFill>
                  <a:srgbClr val="040C28"/>
                </a:solidFill>
                <a:effectLst/>
                <a:latin typeface="Palatino Linotype" panose="02040502050505030304" pitchFamily="18" charset="0"/>
              </a:rPr>
              <a:t>Binary Large Object ( BLOB )</a:t>
            </a:r>
            <a:r>
              <a:rPr lang="en-US" b="0" i="0" dirty="0">
                <a:solidFill>
                  <a:srgbClr val="202124"/>
                </a:solidFill>
                <a:effectLst/>
                <a:latin typeface="Palatino Linotype" panose="02040502050505030304" pitchFamily="18" charset="0"/>
              </a:rPr>
              <a:t> is a MySQL data type that can store binary data such as multimedia, and PDF files.</a:t>
            </a:r>
          </a:p>
          <a:p>
            <a:pPr marL="285750" indent="-285750">
              <a:buFont typeface="Arial" panose="020B0604020202020204" pitchFamily="34" charset="0"/>
              <a:buChar char="•"/>
            </a:pPr>
            <a:endParaRPr lang="en-US" sz="800" dirty="0">
              <a:solidFill>
                <a:srgbClr val="202124"/>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  </a:t>
            </a:r>
            <a:r>
              <a:rPr lang="en-US" b="1" dirty="0">
                <a:solidFill>
                  <a:srgbClr val="040C28"/>
                </a:solidFill>
                <a:latin typeface="Palatino Linotype" panose="02040502050505030304" pitchFamily="18" charset="0"/>
              </a:rPr>
              <a:t>Character Large Object(CLOB) </a:t>
            </a:r>
            <a:r>
              <a:rPr lang="en-US" dirty="0">
                <a:latin typeface="Palatino Linotype" panose="02040502050505030304" pitchFamily="18" charset="0"/>
              </a:rPr>
              <a:t>is aa MySQL data type which is used to store large amount of textual data. Using this datatype, you can store data up to 2,147,483,647 characters.</a:t>
            </a:r>
            <a:endParaRPr lang="en-IN" dirty="0">
              <a:latin typeface="Palatino Linotype" panose="02040502050505030304" pitchFamily="18" charset="0"/>
            </a:endParaRP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number is a mathematical value used to count, measure, and label.</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ACID</a:t>
            </a:r>
          </a:p>
        </p:txBody>
      </p:sp>
    </p:spTree>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4" name="Rectangle 3"/>
          <p:cNvSpPr/>
          <p:nvPr/>
        </p:nvSpPr>
        <p:spPr>
          <a:xfrm>
            <a:off x="119336" y="1005110"/>
            <a:ext cx="11953328" cy="5524589"/>
          </a:xfrm>
          <a:prstGeom prst="rect">
            <a:avLst/>
          </a:prstGeom>
          <a:solidFill>
            <a:schemeClr val="bg1"/>
          </a:solidFill>
        </p:spPr>
        <p:txBody>
          <a:bodyPr wrap="square">
            <a:spAutoFit/>
          </a:bodyPr>
          <a:lstStyle/>
          <a:p>
            <a:r>
              <a:rPr lang="en-US" sz="1900" b="1" u="sng" dirty="0">
                <a:latin typeface="Palatino Linotype" panose="02040502050505030304" pitchFamily="18" charset="0"/>
                <a:cs typeface="Arial" pitchFamily="34" charset="0"/>
              </a:rPr>
              <a:t>Atomicity</a:t>
            </a:r>
            <a:r>
              <a:rPr lang="en-US" sz="1900" dirty="0">
                <a:latin typeface="Palatino Linotype" panose="02040502050505030304" pitchFamily="18" charset="0"/>
                <a:cs typeface="Arial" pitchFamily="34" charset="0"/>
              </a:rPr>
              <a:t>. In a transaction involving two or more separate</a:t>
            </a:r>
            <a:r>
              <a:rPr lang="en-US" sz="1900" dirty="0">
                <a:latin typeface="Palatino Linotype" panose="02040502050505030304" pitchFamily="18" charset="0"/>
              </a:rPr>
              <a:t> </a:t>
            </a:r>
            <a:r>
              <a:rPr lang="en-US" sz="1900" dirty="0">
                <a:latin typeface="Palatino Linotype" panose="02040502050505030304" pitchFamily="18" charset="0"/>
                <a:cs typeface="Arial" pitchFamily="34" charset="0"/>
              </a:rPr>
              <a:t>pieces of information, either all of the pieces are committed or none are.</a:t>
            </a:r>
          </a:p>
          <a:p>
            <a:r>
              <a:rPr lang="en-US" sz="1900" b="0" i="0" dirty="0">
                <a:solidFill>
                  <a:srgbClr val="FF0000"/>
                </a:solidFill>
                <a:effectLst/>
                <a:latin typeface="Palatino Linotype" panose="02040502050505030304" pitchFamily="18" charset="0"/>
              </a:rPr>
              <a:t>For example</a:t>
            </a:r>
            <a:r>
              <a:rPr lang="en-US" sz="1900" b="0" i="0" dirty="0">
                <a:effectLst/>
                <a:latin typeface="Palatino Linotype" panose="02040502050505030304" pitchFamily="18" charset="0"/>
              </a:rPr>
              <a:t>,</a:t>
            </a:r>
            <a:r>
              <a:rPr lang="en-US" sz="1900" b="0" i="0" dirty="0">
                <a:solidFill>
                  <a:srgbClr val="FF0000"/>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atomicity property ensures that, if a debit is made successfully from one account, the corresponding credit is made to the other account.</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Consistency</a:t>
            </a:r>
            <a:r>
              <a:rPr lang="en-US" sz="1900" dirty="0">
                <a:latin typeface="Palatino Linotype" panose="02040502050505030304" pitchFamily="18" charset="0"/>
                <a:cs typeface="Arial" pitchFamily="34" charset="0"/>
              </a:rPr>
              <a:t>. A transaction either creates a new and valid state of data, or, if any failure occurs, returns all data to its state before the transaction was started.</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consistency property ensures that the total value of funds in both the accounts is the same at the start and end of each transaction.</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Isolation</a:t>
            </a:r>
            <a:r>
              <a:rPr lang="en-US" sz="1900" dirty="0">
                <a:latin typeface="Palatino Linotype" panose="02040502050505030304" pitchFamily="18" charset="0"/>
                <a:cs typeface="Arial" pitchFamily="34" charset="0"/>
              </a:rPr>
              <a:t>. A transaction in process and not yet committed must remain isolated from any other transaction.</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If multiple users attempt to transfer money at the same time, the transactions should be isolated from one another to prevent conflicts or inconsistencies. Each transaction should be treated as if it is the only transaction being executed at that time.</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Durability</a:t>
            </a:r>
            <a:r>
              <a:rPr lang="en-US" sz="1900" dirty="0">
                <a:latin typeface="Palatino Linotype" panose="02040502050505030304" pitchFamily="18" charset="0"/>
                <a:cs typeface="Arial" pitchFamily="34" charset="0"/>
              </a:rPr>
              <a:t>. Committed data is saved by the system such that, even in the event of a failure and system restart, the data is available in its correct state.</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durability property ensures that the changes made to each account will not be reversed.</a:t>
            </a:r>
          </a:p>
        </p:txBody>
      </p:sp>
      <p:sp>
        <p:nvSpPr>
          <p:cNvPr id="5" name="Rectangle 4"/>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D5CB-89D7-4682-2B1C-F542C663AD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D98F9-B8A6-F27F-09A6-FF40170AB2B1}"/>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B6DE754D-00B2-5865-5C1A-69D79D2D2B27}"/>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E385279F-20A0-E18B-AEB7-B384429300D3}"/>
              </a:ext>
            </a:extLst>
          </p:cNvPr>
          <p:cNvSpPr txBox="1"/>
          <p:nvPr/>
        </p:nvSpPr>
        <p:spPr>
          <a:xfrm>
            <a:off x="119336" y="1098024"/>
            <a:ext cx="11881319" cy="5062924"/>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If any part of the order fails (e.g., payment gateway timeout), the entire transaction must be  rolled back.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Inventory should not reduce</a:t>
            </a:r>
            <a:r>
              <a:rPr lang="en-IN" sz="1900" dirty="0">
                <a:latin typeface="Palatino Linotype" panose="02040502050505030304" pitchFamily="18" charset="0"/>
              </a:rPr>
              <a:t>,</a:t>
            </a:r>
            <a:r>
              <a:rPr lang="en-IN" sz="1900" dirty="0">
                <a:solidFill>
                  <a:srgbClr val="006C86"/>
                </a:solidFill>
                <a:latin typeface="Palatino Linotype" panose="02040502050505030304" pitchFamily="18" charset="0"/>
              </a:rPr>
              <a:t> </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Order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created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Customer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charged</a:t>
            </a:r>
            <a:r>
              <a:rPr lang="en-IN" sz="1900" dirty="0">
                <a:latin typeface="Palatino Linotype" panose="02040502050505030304" pitchFamily="18" charset="0"/>
              </a:rPr>
              <a:t>.</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a:t>
            </a:r>
            <a:r>
              <a:rPr lang="en-IN" sz="1900" b="1" u="sng" dirty="0">
                <a:latin typeface="Palatino Linotype" panose="02040502050505030304" pitchFamily="18" charset="0"/>
                <a:cs typeface="Arial" pitchFamily="34" charset="0"/>
              </a:rPr>
              <a:t> </a:t>
            </a:r>
            <a:r>
              <a:rPr lang="en-IN" sz="1900" dirty="0">
                <a:latin typeface="Palatino Linotype" panose="02040502050505030304" pitchFamily="18" charset="0"/>
              </a:rPr>
              <a:t>The system should enforces constraints.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Product quantity ≥ 0</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valid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payment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methods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used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in-stock items can be purchased</a:t>
            </a:r>
          </a:p>
          <a:p>
            <a:endParaRPr lang="en-IN" sz="1900" dirty="0">
              <a:latin typeface="Palatino Linotype" panose="02040502050505030304" pitchFamily="18" charset="0"/>
            </a:endParaRPr>
          </a:p>
          <a:p>
            <a:r>
              <a:rPr lang="en-IN" sz="1900" b="1" dirty="0">
                <a:solidFill>
                  <a:srgbClr val="C00000"/>
                </a:solidFill>
                <a:latin typeface="Palatino Linotype" panose="02040502050505030304" pitchFamily="18" charset="0"/>
              </a:rPr>
              <a:t>Note</a:t>
            </a:r>
            <a:r>
              <a:rPr lang="en-IN" sz="1900" dirty="0">
                <a:latin typeface="Palatino Linotype" panose="02040502050505030304" pitchFamily="18" charset="0"/>
              </a:rPr>
              <a:t>:- The system enforces constraints: After a successful order, 1. the stock decreases by 1. 2. It should never show negative stock.</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Imagine 5 customers try to order the last phone at the same time. Isolation ensures: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transaction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succeeds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reducing</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stock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zero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Others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blocked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rolled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back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with</a:t>
            </a:r>
            <a:r>
              <a:rPr lang="en-IN" sz="1900" dirty="0">
                <a:latin typeface="Palatino Linotype" panose="02040502050505030304" pitchFamily="18" charset="0"/>
              </a:rPr>
              <a:t> </a:t>
            </a:r>
            <a:r>
              <a:rPr lang="en-IN" sz="1900" dirty="0">
                <a:solidFill>
                  <a:srgbClr val="00B050"/>
                </a:solidFill>
                <a:latin typeface="Palatino Linotype" panose="02040502050505030304" pitchFamily="18" charset="0"/>
              </a:rPr>
              <a:t>“Out of Stock” </a:t>
            </a:r>
            <a:r>
              <a:rPr lang="en-IN" sz="1900" dirty="0">
                <a:solidFill>
                  <a:srgbClr val="006C86"/>
                </a:solidFill>
                <a:latin typeface="Palatino Linotype" panose="02040502050505030304" pitchFamily="18" charset="0"/>
              </a:rPr>
              <a:t>message</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After a successful order:  The order confirmation and payment details are stored permanently,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Even if the site crashes or database restarts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The customer still sees their order in “My Orders”</a:t>
            </a:r>
          </a:p>
        </p:txBody>
      </p:sp>
    </p:spTree>
    <p:extLst>
      <p:ext uri="{BB962C8B-B14F-4D97-AF65-F5344CB8AC3E}">
        <p14:creationId xmlns:p14="http://schemas.microsoft.com/office/powerpoint/2010/main" val="3948534370"/>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520A4-DF69-34A4-6557-5083D06410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10113B-5F6C-7CD9-1C4D-D5E00265DBF2}"/>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C49C936E-1450-4D09-F9A3-198A0E3E0C74}"/>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579B8463-67C1-0F11-4442-5EB87A8EDAF3}"/>
              </a:ext>
            </a:extLst>
          </p:cNvPr>
          <p:cNvSpPr txBox="1"/>
          <p:nvPr/>
        </p:nvSpPr>
        <p:spPr>
          <a:xfrm>
            <a:off x="119336" y="1098024"/>
            <a:ext cx="11881319" cy="4816703"/>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a:t>
            </a:r>
            <a:r>
              <a:rPr lang="en-US" sz="1900" dirty="0">
                <a:latin typeface="Palatino Linotype" panose="02040502050505030304" pitchFamily="18" charset="0"/>
              </a:rPr>
              <a:t>If the system crashes after booking the appointment but before processing payment, everything is rolled back.</a:t>
            </a:r>
            <a:r>
              <a:rPr lang="en-IN" sz="1900" dirty="0">
                <a:latin typeface="Palatino Linotype" panose="02040502050505030304" pitchFamily="18" charset="0"/>
              </a:rPr>
              <a:t>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appointment is confirmed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Doctor’s time slot is not blocked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No bill is generated</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Ensures appointments are booked only with existing patients and available time slots , Booking without checking doctor availability violates consistency</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double-booking of the doctor’s slot</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Payment amount matches consultation fee</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A patient must be registered before booking</a:t>
            </a:r>
            <a:endParaRPr lang="en-IN" sz="1900" dirty="0">
              <a:solidFill>
                <a:srgbClr val="006C86"/>
              </a:solidFill>
              <a:latin typeface="Palatino Linotype" panose="02040502050505030304" pitchFamily="18" charset="0"/>
            </a:endParaRPr>
          </a:p>
          <a:p>
            <a:endParaRPr lang="en-IN" sz="1900" dirty="0">
              <a:latin typeface="Palatino Linotype" panose="02040502050505030304" pitchFamily="18" charset="0"/>
            </a:endParaRPr>
          </a:p>
          <a:p>
            <a:pPr>
              <a:tabLst>
                <a:tab pos="6548438" algn="l"/>
              </a:tabLst>
            </a:pPr>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 " </a:t>
            </a:r>
            <a:r>
              <a:rPr lang="en-IN" sz="1900" b="1" dirty="0">
                <a:latin typeface="Palatino Linotype" panose="02040502050505030304" pitchFamily="18" charset="0"/>
                <a:cs typeface="Arial" pitchFamily="34" charset="0"/>
              </a:rPr>
              <a:t>:- </a:t>
            </a:r>
            <a:r>
              <a:rPr lang="en-US" sz="1900" dirty="0">
                <a:latin typeface="Palatino Linotype" panose="02040502050505030304" pitchFamily="18" charset="0"/>
              </a:rPr>
              <a:t>Two patients booking the same 10:00 AM slot with the same doctor at the same time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One transaction succeeds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other fails or chooses another time slot, Isolation prevents race conditions like double-booking</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If appointment and payment are successfully done: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Even if the server crashes or restarts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appointment, payment, and receipt remain in the system</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No data loss after confirmation</a:t>
            </a:r>
            <a:endParaRPr lang="en-IN" sz="1900" dirty="0">
              <a:solidFill>
                <a:srgbClr val="006C86"/>
              </a:solidFill>
              <a:latin typeface="Palatino Linotype" panose="02040502050505030304" pitchFamily="18" charset="0"/>
            </a:endParaRPr>
          </a:p>
        </p:txBody>
      </p:sp>
    </p:spTree>
    <p:extLst>
      <p:ext uri="{BB962C8B-B14F-4D97-AF65-F5344CB8AC3E}">
        <p14:creationId xmlns:p14="http://schemas.microsoft.com/office/powerpoint/2010/main" val="1633561274"/>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Relationship Diagram?</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latin typeface="Arial" pitchFamily="34" charset="0"/>
                <a:cs typeface="Arial" pitchFamily="34" charset="0"/>
              </a:rPr>
              <a:t>Entity Relationship Diagram (ER Diagram)</a:t>
            </a:r>
          </a:p>
        </p:txBody>
      </p:sp>
      <p:sp>
        <p:nvSpPr>
          <p:cNvPr id="1025" name="Rectangle 1"/>
          <p:cNvSpPr>
            <a:spLocks noChangeArrowheads="1"/>
          </p:cNvSpPr>
          <p:nvPr/>
        </p:nvSpPr>
        <p:spPr bwMode="auto">
          <a:xfrm>
            <a:off x="1752600" y="2304001"/>
            <a:ext cx="86868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algn="ctr" fontAlgn="base">
              <a:spcBef>
                <a:spcPct val="0"/>
              </a:spcBef>
              <a:spcAft>
                <a:spcPct val="0"/>
              </a:spcAft>
            </a:pPr>
            <a:r>
              <a:rPr lang="en-US" sz="2400" dirty="0">
                <a:latin typeface="Arial" pitchFamily="34" charset="0"/>
                <a:cs typeface="Arial" pitchFamily="34" charset="0"/>
              </a:rPr>
              <a:t>Use E-R model to get a high-level graphical view to describe the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ENTITIES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dirty="0">
                <a:latin typeface="Arial" pitchFamily="34" charset="0"/>
                <a:cs typeface="Arial" pitchFamily="34" charset="0"/>
              </a:rPr>
              <a:t> </a:t>
            </a:r>
            <a:r>
              <a:rPr lang="en-US" sz="2400" dirty="0">
                <a:latin typeface="Arial" pitchFamily="34" charset="0"/>
                <a:cs typeface="Arial" pitchFamily="34" charset="0"/>
              </a:rPr>
              <a:t>their</a:t>
            </a:r>
            <a:r>
              <a:rPr lang="en-US" sz="3200" dirty="0">
                <a:latin typeface="Arial" pitchFamily="34" charset="0"/>
                <a:cs typeface="Arial" pitchFamily="34" charset="0"/>
              </a:rPr>
              <a:t>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RELATIONSHIP</a:t>
            </a:r>
            <a:r>
              <a:rPr lang="en-US" sz="3200" b="1" dirty="0">
                <a:latin typeface="Arial" pitchFamily="34" charset="0"/>
                <a:cs typeface="Arial" pitchFamily="34" charset="0"/>
              </a:rPr>
              <a:t>"</a:t>
            </a:r>
          </a:p>
        </p:txBody>
      </p:sp>
      <p:sp>
        <p:nvSpPr>
          <p:cNvPr id="4" name="Rectangle 1">
            <a:extLst>
              <a:ext uri="{FF2B5EF4-FFF2-40B4-BE49-F238E27FC236}">
                <a16:creationId xmlns:a16="http://schemas.microsoft.com/office/drawing/2014/main" id="{DB2C897C-865C-4C4F-A081-01929F3A02DB}"/>
              </a:ext>
            </a:extLst>
          </p:cNvPr>
          <p:cNvSpPr>
            <a:spLocks noChangeArrowheads="1"/>
          </p:cNvSpPr>
          <p:nvPr/>
        </p:nvSpPr>
        <p:spPr bwMode="auto">
          <a:xfrm>
            <a:off x="1752600" y="4149081"/>
            <a:ext cx="87630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fontAlgn="base">
              <a:spcBef>
                <a:spcPct val="0"/>
              </a:spcBef>
              <a:spcAft>
                <a:spcPct val="0"/>
              </a:spcAft>
            </a:pPr>
            <a:r>
              <a:rPr lang="en-US" sz="2400" dirty="0">
                <a:latin typeface="Arial" pitchFamily="34" charset="0"/>
                <a:cs typeface="Arial" pitchFamily="34" charset="0"/>
              </a:rPr>
              <a:t>The </a:t>
            </a:r>
            <a:r>
              <a:rPr lang="en-US" sz="2400">
                <a:latin typeface="Arial" pitchFamily="34" charset="0"/>
                <a:cs typeface="Arial" pitchFamily="34" charset="0"/>
              </a:rPr>
              <a:t>basic constructs/components </a:t>
            </a:r>
            <a:r>
              <a:rPr lang="en-US" sz="2400" dirty="0">
                <a:latin typeface="Arial" pitchFamily="34" charset="0"/>
                <a:cs typeface="Arial" pitchFamily="34" charset="0"/>
              </a:rPr>
              <a:t>of  ER Model are</a:t>
            </a:r>
          </a:p>
          <a:p>
            <a:pPr algn="ctr" fontAlgn="base">
              <a:spcBef>
                <a:spcPct val="0"/>
              </a:spcBef>
              <a:spcAft>
                <a:spcPct val="0"/>
              </a:spcAft>
            </a:pPr>
            <a:r>
              <a:rPr lang="en-US" sz="2400" dirty="0">
                <a:latin typeface="Arial" pitchFamily="34" charset="0"/>
                <a:cs typeface="Arial" pitchFamily="34" charset="0"/>
              </a:rPr>
              <a:t> </a:t>
            </a:r>
            <a:r>
              <a:rPr lang="en-US" sz="3200" b="1" dirty="0">
                <a:solidFill>
                  <a:srgbClr val="C00000"/>
                </a:solidFill>
                <a:latin typeface="Arial" pitchFamily="34" charset="0"/>
                <a:cs typeface="Arial" pitchFamily="34" charset="0"/>
              </a:rPr>
              <a:t>Entity</a:t>
            </a:r>
            <a:r>
              <a:rPr lang="en-US" sz="2400" dirty="0">
                <a:latin typeface="Arial" pitchFamily="34" charset="0"/>
                <a:cs typeface="Arial" pitchFamily="34" charset="0"/>
              </a:rPr>
              <a:t>,</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Attributes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Relationships</a:t>
            </a:r>
            <a:r>
              <a:rPr lang="en-US" sz="3200" dirty="0">
                <a:latin typeface="Arial" pitchFamily="34" charset="0"/>
                <a:cs typeface="Arial" pitchFamily="34" charset="0"/>
              </a:rPr>
              <a:t>.</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a:t>
            </a:r>
          </a:p>
        </p:txBody>
      </p:sp>
      <p:sp>
        <p:nvSpPr>
          <p:cNvPr id="4" name="Rectangle 3"/>
          <p:cNvSpPr/>
          <p:nvPr/>
        </p:nvSpPr>
        <p:spPr>
          <a:xfrm>
            <a:off x="335360" y="692696"/>
            <a:ext cx="8686800" cy="492443"/>
          </a:xfrm>
          <a:prstGeom prst="rect">
            <a:avLst/>
          </a:prstGeom>
        </p:spPr>
        <p:txBody>
          <a:bodyPr wrap="square">
            <a:spAutoFit/>
          </a:bodyPr>
          <a:lstStyle/>
          <a:p>
            <a:pPr lvl="0" algn="just" fontAlgn="base">
              <a:spcBef>
                <a:spcPct val="0"/>
              </a:spcBef>
              <a:spcAft>
                <a:spcPct val="0"/>
              </a:spcAft>
            </a:pPr>
            <a:r>
              <a:rPr lang="en-US" sz="2600" dirty="0">
                <a:solidFill>
                  <a:srgbClr val="527E67"/>
                </a:solidFill>
                <a:latin typeface="Arial" pitchFamily="34" charset="0"/>
                <a:ea typeface="MS Mincho" pitchFamily="49" charset="-128"/>
                <a:cs typeface="Arial" pitchFamily="34" charset="0"/>
              </a:rPr>
              <a:t>An entity can be a </a:t>
            </a:r>
            <a:r>
              <a:rPr lang="en-US" sz="2600" b="1" dirty="0">
                <a:solidFill>
                  <a:srgbClr val="527E67"/>
                </a:solidFill>
                <a:latin typeface="Arial" pitchFamily="34" charset="0"/>
                <a:ea typeface="MS Mincho" pitchFamily="49" charset="-128"/>
                <a:cs typeface="Arial" pitchFamily="34" charset="0"/>
              </a:rPr>
              <a:t>real-world object.</a:t>
            </a:r>
            <a:endParaRPr lang="en-US" sz="2600" dirty="0">
              <a:solidFill>
                <a:srgbClr val="527E67"/>
              </a:solidFill>
              <a:latin typeface="Arial" pitchFamily="34" charset="0"/>
              <a:ea typeface="MS Mincho" pitchFamily="49" charset="-128"/>
              <a:cs typeface="Arial" pitchFamily="34" charset="0"/>
            </a:endParaRPr>
          </a:p>
        </p:txBody>
      </p:sp>
      <p:sp>
        <p:nvSpPr>
          <p:cNvPr id="5" name="Rectangle 4">
            <a:extLst>
              <a:ext uri="{FF2B5EF4-FFF2-40B4-BE49-F238E27FC236}">
                <a16:creationId xmlns:a16="http://schemas.microsoft.com/office/drawing/2014/main" id="{439F918E-6E78-C2CF-8BC9-27F07780B344}"/>
              </a:ext>
            </a:extLst>
          </p:cNvPr>
          <p:cNvSpPr/>
          <p:nvPr/>
        </p:nvSpPr>
        <p:spPr>
          <a:xfrm>
            <a:off x="2171564" y="3212976"/>
            <a:ext cx="7848872" cy="707886"/>
          </a:xfrm>
          <a:prstGeom prst="rect">
            <a:avLst/>
          </a:prstGeom>
        </p:spPr>
        <p:txBody>
          <a:bodyPr wrap="square">
            <a:spAutoFit/>
          </a:bodyPr>
          <a:lstStyle/>
          <a:p>
            <a:r>
              <a:rPr lang="en-US" sz="2000" dirty="0">
                <a:latin typeface="Palatino Linotype" panose="02040502050505030304" pitchFamily="18" charset="0"/>
              </a:rPr>
              <a:t>An entity in DBMS is a real-world object that has certain properties called attributes that define the nature of the entity.</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79113831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2706" name="Rectangle 2"/>
          <p:cNvSpPr>
            <a:spLocks noChangeArrowheads="1"/>
          </p:cNvSpPr>
          <p:nvPr/>
        </p:nvSpPr>
        <p:spPr bwMode="auto">
          <a:xfrm>
            <a:off x="3205844" y="5508521"/>
            <a:ext cx="8686800" cy="584775"/>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r" fontAlgn="base">
              <a:spcBef>
                <a:spcPct val="0"/>
              </a:spcBef>
              <a:spcAft>
                <a:spcPct val="0"/>
              </a:spcAft>
            </a:pPr>
            <a:r>
              <a:rPr lang="en-US" sz="3200" b="1" i="1" dirty="0">
                <a:latin typeface="Arial" pitchFamily="34" charset="0"/>
                <a:ea typeface="MS Mincho" pitchFamily="49" charset="-128"/>
                <a:cs typeface="Arial" pitchFamily="34" charset="0"/>
              </a:rPr>
              <a:t>Every entity has its own characteristics.</a:t>
            </a:r>
          </a:p>
        </p:txBody>
      </p:sp>
      <p:sp>
        <p:nvSpPr>
          <p:cNvPr id="6" name="Rectangle 5"/>
          <p:cNvSpPr/>
          <p:nvPr/>
        </p:nvSpPr>
        <p:spPr>
          <a:xfrm>
            <a:off x="299356" y="950480"/>
            <a:ext cx="11593288" cy="4185761"/>
          </a:xfrm>
          <a:prstGeom prst="rect">
            <a:avLst/>
          </a:prstGeom>
        </p:spPr>
        <p:txBody>
          <a:bodyPr wrap="square">
            <a:spAutoFit/>
          </a:bodyPr>
          <a:lstStyle/>
          <a:p>
            <a:r>
              <a:rPr lang="en-US" sz="2600" dirty="0">
                <a:latin typeface="Palatino Linotype" panose="02040502050505030304" pitchFamily="18" charset="0"/>
                <a:cs typeface="Arial" pitchFamily="34" charset="0"/>
              </a:rPr>
              <a:t>In relation to a database , an entity is a </a:t>
            </a:r>
          </a:p>
          <a:p>
            <a:endParaRPr lang="en-US" sz="1000" dirty="0">
              <a:latin typeface="Palatino Linotype" panose="02040502050505030304" pitchFamily="18" charset="0"/>
              <a:cs typeface="Arial" pitchFamily="34" charset="0"/>
            </a:endParaRPr>
          </a:p>
          <a:p>
            <a:endParaRPr lang="en-US" sz="1000" dirty="0">
              <a:latin typeface="Palatino Linotype" panose="02040502050505030304" pitchFamily="18" charset="0"/>
              <a:cs typeface="Arial" pitchFamily="34"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Person(</a:t>
            </a:r>
            <a:r>
              <a:rPr lang="en-IN" sz="2200" dirty="0">
                <a:solidFill>
                  <a:schemeClr val="tx1">
                    <a:lumMod val="85000"/>
                    <a:lumOff val="15000"/>
                  </a:schemeClr>
                </a:solidFill>
                <a:latin typeface="Palatino Linotype" panose="02040502050505030304" pitchFamily="18" charset="0"/>
              </a:rPr>
              <a:t>student, teacher, employee, client, department, …</a:t>
            </a:r>
            <a:r>
              <a:rPr lang="en-IN" sz="2200" dirty="0">
                <a:solidFill>
                  <a:schemeClr val="bg2">
                    <a:lumMod val="25000"/>
                  </a:schemeClr>
                </a:solidFill>
                <a:latin typeface="Palatino Linotype" panose="02040502050505030304" pitchFamily="18" charset="0"/>
              </a:rPr>
              <a: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Place(</a:t>
            </a:r>
            <a:r>
              <a:rPr lang="en-IN" sz="2200" dirty="0">
                <a:solidFill>
                  <a:schemeClr val="tx1">
                    <a:lumMod val="85000"/>
                    <a:lumOff val="15000"/>
                  </a:schemeClr>
                </a:solidFill>
                <a:latin typeface="Palatino Linotype" panose="02040502050505030304" pitchFamily="18" charset="0"/>
              </a:rPr>
              <a:t>classroom, building,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 particular position or area</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Thing(</a:t>
            </a:r>
            <a:r>
              <a:rPr lang="en-IN" sz="2200" dirty="0">
                <a:solidFill>
                  <a:schemeClr val="tx1">
                    <a:lumMod val="85000"/>
                    <a:lumOff val="15000"/>
                  </a:schemeClr>
                </a:solidFill>
                <a:latin typeface="Palatino Linotype" panose="02040502050505030304" pitchFamily="18" charset="0"/>
              </a:rPr>
              <a:t>computer, lab equipment,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an object that is not named (represents a tangible object)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Concept(</a:t>
            </a:r>
            <a:r>
              <a:rPr lang="en-IN" sz="2200" dirty="0">
                <a:solidFill>
                  <a:schemeClr val="tx1">
                    <a:lumMod val="85000"/>
                    <a:lumOff val="15000"/>
                  </a:schemeClr>
                </a:solidFill>
                <a:latin typeface="Palatino Linotype" panose="02040502050505030304" pitchFamily="18" charset="0"/>
              </a:rPr>
              <a:t>course, batch, student’s attendance, …</a:t>
            </a:r>
            <a:r>
              <a:rPr lang="en-IN" sz="2200" dirty="0">
                <a:solidFill>
                  <a:schemeClr val="bg2">
                    <a:lumMod val="25000"/>
                  </a:schemeClr>
                </a:solidFill>
                <a:latin typeface="Palatino Linotype" panose="02040502050505030304" pitchFamily="18" charset="0"/>
              </a:rPr>
              <a:t>) --</a:t>
            </a:r>
            <a:r>
              <a:rPr lang="en-IN" sz="2200" b="0" i="0" dirty="0">
                <a:solidFill>
                  <a:srgbClr val="202124"/>
                </a:solidFill>
                <a:effectLst/>
                <a:latin typeface="Palatino Linotype" panose="02040502050505030304" pitchFamily="18" charset="0"/>
              </a:rPr>
              <a:t> an idea</a:t>
            </a:r>
            <a:r>
              <a:rPr lang="en-IN" sz="2200" dirty="0">
                <a:latin typeface="Palatino Linotype" panose="02040502050505030304" pitchFamily="18" charset="0"/>
              </a:rPr>
              <a:t>,  </a:t>
            </a:r>
          </a:p>
          <a:p>
            <a:endParaRPr lang="en-IN" sz="1000" dirty="0">
              <a:latin typeface="Palatino Linotype" panose="02040502050505030304" pitchFamily="18" charset="0"/>
              <a:cs typeface="Arial" pitchFamily="34" charset="0"/>
            </a:endParaRPr>
          </a:p>
          <a:p>
            <a:endParaRPr lang="en-IN" sz="1000" dirty="0">
              <a:latin typeface="Palatino Linotype" panose="02040502050505030304" pitchFamily="18" charset="0"/>
              <a:cs typeface="Arial" pitchFamily="34" charset="0"/>
            </a:endParaRPr>
          </a:p>
          <a:p>
            <a:r>
              <a:rPr lang="en-US" sz="2400" dirty="0">
                <a:latin typeface="Palatino Linotype" panose="02040502050505030304" pitchFamily="18" charset="0"/>
                <a:cs typeface="Arial" pitchFamily="34" charset="0"/>
              </a:rPr>
              <a:t>about which data can be stored. </a:t>
            </a:r>
            <a:r>
              <a:rPr lang="en-US" sz="2400" dirty="0">
                <a:latin typeface="Palatino Linotype" panose="02040502050505030304" pitchFamily="18" charset="0"/>
                <a:ea typeface="MS Mincho" pitchFamily="49" charset="-128"/>
                <a:cs typeface="Arial" pitchFamily="34" charset="0"/>
              </a:rPr>
              <a:t>All these entities have some</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attributes</a:t>
            </a:r>
            <a:r>
              <a:rPr lang="en-US" sz="2400" b="1" dirty="0">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or</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properties</a:t>
            </a:r>
            <a:r>
              <a:rPr lang="en-US" sz="2400" dirty="0">
                <a:solidFill>
                  <a:srgbClr val="C00000"/>
                </a:solidFill>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that give them their </a:t>
            </a:r>
            <a:r>
              <a:rPr lang="en-US" sz="2400" b="1" dirty="0">
                <a:latin typeface="Palatino Linotype" panose="02040502050505030304" pitchFamily="18" charset="0"/>
                <a:ea typeface="MS Mincho" pitchFamily="49" charset="-128"/>
                <a:cs typeface="Arial" pitchFamily="34" charset="0"/>
              </a:rPr>
              <a:t>identity</a:t>
            </a:r>
            <a:r>
              <a:rPr lang="en-US" sz="2400" dirty="0">
                <a:latin typeface="Palatino Linotype" panose="02040502050505030304" pitchFamily="18" charset="0"/>
                <a:ea typeface="MS Mincho" pitchFamily="49" charset="-128"/>
                <a:cs typeface="Arial" pitchFamily="34" charset="0"/>
              </a:rPr>
              <a:t>.</a:t>
            </a:r>
            <a:endParaRPr lang="en-US" sz="2400" dirty="0">
              <a:latin typeface="Palatino Linotype" panose="02040502050505030304" pitchFamily="18" charset="0"/>
              <a:cs typeface="Arial" pitchFamily="34" charset="0"/>
            </a:endParaRPr>
          </a:p>
        </p:txBody>
      </p:sp>
      <p:sp>
        <p:nvSpPr>
          <p:cNvPr id="7" name="Rectangle 6"/>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a:t>
            </a:r>
          </a:p>
        </p:txBody>
      </p:sp>
    </p:spTree>
    <p:extLst>
      <p:ext uri="{BB962C8B-B14F-4D97-AF65-F5344CB8AC3E}">
        <p14:creationId xmlns:p14="http://schemas.microsoft.com/office/powerpoint/2010/main" val="2597974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27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2706" grpId="0"/>
    </p:bldLst>
  </p:timing>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Type?</a:t>
            </a:r>
          </a:p>
        </p:txBody>
      </p:sp>
    </p:spTree>
    <p:extLst>
      <p:ext uri="{BB962C8B-B14F-4D97-AF65-F5344CB8AC3E}">
        <p14:creationId xmlns:p14="http://schemas.microsoft.com/office/powerpoint/2010/main" val="920805210"/>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1"/>
          <p:cNvSpPr>
            <a:spLocks noChangeArrowheads="1"/>
          </p:cNvSpPr>
          <p:nvPr/>
        </p:nvSpPr>
        <p:spPr bwMode="auto">
          <a:xfrm>
            <a:off x="407368" y="980728"/>
            <a:ext cx="11305256" cy="193899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r>
              <a:rPr lang="en-US" sz="2400" dirty="0">
                <a:latin typeface="Arial" pitchFamily="34" charset="0"/>
                <a:ea typeface="MS Mincho" pitchFamily="49" charset="-128"/>
                <a:cs typeface="Arial" pitchFamily="34" charset="0"/>
              </a:rPr>
              <a:t>The entities that have the </a:t>
            </a:r>
            <a:r>
              <a:rPr lang="en-IN" sz="2400" b="1" dirty="0">
                <a:latin typeface="Arial" pitchFamily="34" charset="0"/>
                <a:ea typeface="MS Mincho" pitchFamily="49" charset="-128"/>
                <a:cs typeface="Arial" pitchFamily="34" charset="0"/>
              </a:rPr>
              <a:t>common</a:t>
            </a:r>
            <a:r>
              <a:rPr lang="en-IN" sz="2400" dirty="0"/>
              <a:t> </a:t>
            </a:r>
            <a:r>
              <a:rPr lang="en-US" sz="2400" b="1" dirty="0">
                <a:latin typeface="Arial" pitchFamily="34" charset="0"/>
                <a:ea typeface="MS Mincho" pitchFamily="49" charset="-128"/>
                <a:cs typeface="Arial" pitchFamily="34" charset="0"/>
              </a:rPr>
              <a:t>attributes </a:t>
            </a:r>
            <a:r>
              <a:rPr lang="en-US" sz="2400" dirty="0">
                <a:latin typeface="Arial" pitchFamily="34" charset="0"/>
                <a:ea typeface="MS Mincho" pitchFamily="49" charset="-128"/>
                <a:cs typeface="Arial" pitchFamily="34" charset="0"/>
              </a:rPr>
              <a:t>is called an </a:t>
            </a:r>
            <a:r>
              <a:rPr lang="en-US" sz="2400" b="1" dirty="0">
                <a:latin typeface="Arial" pitchFamily="34" charset="0"/>
                <a:ea typeface="MS Mincho" pitchFamily="49" charset="-128"/>
                <a:cs typeface="Arial" pitchFamily="34" charset="0"/>
              </a:rPr>
              <a:t>entity type. </a:t>
            </a:r>
          </a:p>
          <a:p>
            <a:endParaRPr lang="en-US" sz="2400" dirty="0">
              <a:latin typeface="Arial" pitchFamily="34" charset="0"/>
              <a:ea typeface="MS Mincho" pitchFamily="49" charset="-128"/>
              <a:cs typeface="Arial" pitchFamily="34" charset="0"/>
            </a:endParaRPr>
          </a:p>
          <a:p>
            <a:r>
              <a:rPr lang="en-US" sz="2400" dirty="0">
                <a:latin typeface="Arial" pitchFamily="34" charset="0"/>
                <a:ea typeface="MS Mincho" pitchFamily="49" charset="-128"/>
                <a:cs typeface="Arial" pitchFamily="34" charset="0"/>
              </a:rPr>
              <a:t>Each entity type in the database is described by a </a:t>
            </a:r>
            <a:r>
              <a:rPr lang="en-US" sz="2400" b="1" dirty="0">
                <a:latin typeface="Arial" pitchFamily="34" charset="0"/>
                <a:ea typeface="MS Mincho" pitchFamily="49" charset="-128"/>
                <a:cs typeface="Arial" pitchFamily="34" charset="0"/>
              </a:rPr>
              <a:t>name </a:t>
            </a:r>
            <a:r>
              <a:rPr lang="en-US" sz="2400" dirty="0">
                <a:latin typeface="Arial" pitchFamily="34" charset="0"/>
                <a:ea typeface="MS Mincho" pitchFamily="49" charset="-128"/>
                <a:cs typeface="Arial" pitchFamily="34" charset="0"/>
              </a:rPr>
              <a:t>and</a:t>
            </a:r>
            <a:r>
              <a:rPr lang="en-US" sz="2400" b="1" dirty="0">
                <a:latin typeface="Arial" pitchFamily="34" charset="0"/>
                <a:ea typeface="MS Mincho" pitchFamily="49" charset="-128"/>
                <a:cs typeface="Arial" pitchFamily="34" charset="0"/>
              </a:rPr>
              <a:t> a list of attributes.</a:t>
            </a:r>
            <a:r>
              <a:rPr lang="en-US" sz="2400" dirty="0">
                <a:latin typeface="Arial" pitchFamily="34" charset="0"/>
                <a:ea typeface="MS Mincho" pitchFamily="49" charset="-128"/>
                <a:cs typeface="Arial" pitchFamily="34" charset="0"/>
              </a:rPr>
              <a:t> </a:t>
            </a:r>
          </a:p>
          <a:p>
            <a:endParaRPr lang="en-US" sz="2400" dirty="0">
              <a:latin typeface="Arial" pitchFamily="34" charset="0"/>
              <a:ea typeface="MS Mincho" pitchFamily="49" charset="-128"/>
              <a:cs typeface="Arial" pitchFamily="34" charset="0"/>
            </a:endParaRPr>
          </a:p>
          <a:p>
            <a:r>
              <a:rPr lang="en-US" sz="2400" b="1" i="1" dirty="0">
                <a:solidFill>
                  <a:srgbClr val="FF0000"/>
                </a:solidFill>
                <a:latin typeface="Arial" pitchFamily="34" charset="0"/>
                <a:ea typeface="MS Mincho" pitchFamily="49" charset="-128"/>
                <a:cs typeface="Arial" pitchFamily="34" charset="0"/>
              </a:rPr>
              <a:t>e.g.</a:t>
            </a:r>
            <a:r>
              <a:rPr lang="en-US" sz="2400" b="1" dirty="0">
                <a:solidFill>
                  <a:srgbClr val="FF0000"/>
                </a:solidFill>
                <a:latin typeface="Arial" pitchFamily="34" charset="0"/>
                <a:ea typeface="MS Mincho" pitchFamily="49" charset="-128"/>
                <a:cs typeface="Arial" pitchFamily="34" charset="0"/>
              </a:rPr>
              <a:t> </a:t>
            </a:r>
            <a:r>
              <a:rPr lang="en-US" sz="2400" dirty="0">
                <a:latin typeface="Arial" pitchFamily="34" charset="0"/>
                <a:ea typeface="MS Mincho" pitchFamily="49" charset="-128"/>
                <a:cs typeface="Arial" pitchFamily="34" charset="0"/>
              </a:rPr>
              <a:t>an entity Person is an entity type that has </a:t>
            </a:r>
            <a:r>
              <a:rPr lang="en-US" sz="2400" i="1" dirty="0">
                <a:latin typeface="Arial" pitchFamily="34" charset="0"/>
                <a:ea typeface="MS Mincho" pitchFamily="49" charset="-128"/>
                <a:cs typeface="Arial" pitchFamily="34" charset="0"/>
              </a:rPr>
              <a:t>Age, Name</a:t>
            </a:r>
            <a:r>
              <a:rPr lang="en-US" sz="2400" dirty="0">
                <a:latin typeface="Arial" pitchFamily="34" charset="0"/>
                <a:ea typeface="MS Mincho" pitchFamily="49" charset="-128"/>
                <a:cs typeface="Arial" pitchFamily="34" charset="0"/>
              </a:rPr>
              <a:t> and </a:t>
            </a:r>
            <a:r>
              <a:rPr lang="en-US" sz="2400" i="1" dirty="0">
                <a:latin typeface="Arial" pitchFamily="34" charset="0"/>
                <a:ea typeface="MS Mincho" pitchFamily="49" charset="-128"/>
                <a:cs typeface="Arial" pitchFamily="34" charset="0"/>
              </a:rPr>
              <a:t>Address</a:t>
            </a:r>
            <a:r>
              <a:rPr lang="en-US" sz="2400" dirty="0">
                <a:latin typeface="Arial" pitchFamily="34" charset="0"/>
                <a:ea typeface="MS Mincho" pitchFamily="49" charset="-128"/>
                <a:cs typeface="Arial" pitchFamily="34" charset="0"/>
              </a:rPr>
              <a:t> attributes.</a:t>
            </a:r>
          </a:p>
        </p:txBody>
      </p:sp>
      <p:sp>
        <p:nvSpPr>
          <p:cNvPr id="58369" name="Rectangle 1"/>
          <p:cNvSpPr>
            <a:spLocks noChangeArrowheads="1"/>
          </p:cNvSpPr>
          <p:nvPr/>
        </p:nvSpPr>
        <p:spPr bwMode="auto">
          <a:xfrm>
            <a:off x="434841" y="3408536"/>
            <a:ext cx="8763000" cy="107721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pPr>
            <a:r>
              <a:rPr lang="en-US" b="1" i="1" dirty="0">
                <a:solidFill>
                  <a:srgbClr val="FF0000"/>
                </a:solidFill>
                <a:latin typeface="Arial" pitchFamily="34" charset="0"/>
                <a:ea typeface="MS Mincho" pitchFamily="49" charset="-128"/>
                <a:cs typeface="Arial" pitchFamily="34" charset="0"/>
              </a:rPr>
              <a:t>Eg.</a:t>
            </a:r>
            <a:endParaRPr lang="en-US" sz="1000" dirty="0">
              <a:latin typeface="Arial" pitchFamily="34" charset="0"/>
              <a:cs typeface="Arial" pitchFamily="34" charset="0"/>
            </a:endParaRPr>
          </a:p>
          <a:p>
            <a:pPr eaLnBrk="0" fontAlgn="base" hangingPunct="0">
              <a:spcBef>
                <a:spcPct val="0"/>
              </a:spcBef>
              <a:spcAft>
                <a:spcPct val="0"/>
              </a:spcAft>
            </a:pPr>
            <a:r>
              <a:rPr lang="en-US" sz="2800" b="1" i="1" dirty="0">
                <a:solidFill>
                  <a:srgbClr val="002060"/>
                </a:solidFill>
                <a:latin typeface="Arial" pitchFamily="34" charset="0"/>
                <a:ea typeface="MS Mincho" pitchFamily="49" charset="-128"/>
                <a:cs typeface="Arial" pitchFamily="34" charset="0"/>
              </a:rPr>
              <a:t>Entity TYPE		                   Entity</a:t>
            </a:r>
            <a:r>
              <a:rPr lang="en-US" sz="2400" b="1" i="1" dirty="0">
                <a:solidFill>
                  <a:srgbClr val="002060"/>
                </a:solidFill>
                <a:latin typeface="Arial" pitchFamily="34" charset="0"/>
                <a:ea typeface="MS Mincho" pitchFamily="49" charset="-128"/>
                <a:cs typeface="Arial" pitchFamily="34" charset="0"/>
              </a:rPr>
              <a:t>	</a:t>
            </a:r>
            <a:endParaRPr lang="en-US" sz="800" dirty="0">
              <a:latin typeface="Arial" pitchFamily="34" charset="0"/>
              <a:cs typeface="Arial" pitchFamily="34" charset="0"/>
            </a:endParaRPr>
          </a:p>
          <a:p>
            <a:pPr eaLnBrk="0" fontAlgn="base" hangingPunct="0">
              <a:spcBef>
                <a:spcPct val="0"/>
              </a:spcBef>
              <a:spcAft>
                <a:spcPct val="0"/>
              </a:spcAft>
            </a:pPr>
            <a:r>
              <a:rPr lang="en-US" b="1" i="1" dirty="0">
                <a:latin typeface="Arial" pitchFamily="34" charset="0"/>
                <a:ea typeface="MS Mincho" pitchFamily="49" charset="-128"/>
                <a:cs typeface="Arial" pitchFamily="34" charset="0"/>
              </a:rPr>
              <a:t>Person (Age, Name, Address</a:t>
            </a:r>
            <a:r>
              <a:rPr lang="en-US" sz="1200" b="1" i="1" dirty="0">
                <a:latin typeface="Arial" pitchFamily="34" charset="0"/>
                <a:ea typeface="MS Mincho" pitchFamily="49" charset="-128"/>
                <a:cs typeface="Arial" pitchFamily="34" charset="0"/>
              </a:rPr>
              <a:t> ,</a:t>
            </a:r>
            <a:r>
              <a:rPr lang="en-US" sz="1200" b="1" i="1" dirty="0">
                <a:solidFill>
                  <a:schemeClr val="bg1">
                    <a:lumMod val="50000"/>
                  </a:schemeClr>
                </a:solidFill>
                <a:latin typeface="Arial" pitchFamily="34" charset="0"/>
                <a:ea typeface="MS Mincho" pitchFamily="49" charset="-128"/>
                <a:cs typeface="Arial" pitchFamily="34" charset="0"/>
              </a:rPr>
              <a:t>. . .</a:t>
            </a:r>
            <a:r>
              <a:rPr lang="en-US" sz="1200" b="1" i="1" dirty="0">
                <a:latin typeface="Arial" pitchFamily="34" charset="0"/>
                <a:ea typeface="MS Mincho" pitchFamily="49" charset="-128"/>
                <a:cs typeface="Arial" pitchFamily="34" charset="0"/>
              </a:rPr>
              <a:t>)		                      </a:t>
            </a:r>
            <a:r>
              <a:rPr lang="en-US" b="1" i="1" dirty="0">
                <a:latin typeface="Arial" pitchFamily="34" charset="0"/>
                <a:ea typeface="MS Mincho" pitchFamily="49" charset="-128"/>
                <a:cs typeface="Arial" pitchFamily="34" charset="0"/>
              </a:rPr>
              <a:t>17 , Sharmin, Paud Road, …</a:t>
            </a: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type</a:t>
            </a:r>
          </a:p>
        </p:txBody>
      </p:sp>
    </p:spTree>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an Attribute?</a:t>
            </a:r>
          </a:p>
        </p:txBody>
      </p:sp>
      <p:sp>
        <p:nvSpPr>
          <p:cNvPr id="4" name="Rectangle 3"/>
          <p:cNvSpPr/>
          <p:nvPr/>
        </p:nvSpPr>
        <p:spPr>
          <a:xfrm>
            <a:off x="184737" y="83265"/>
            <a:ext cx="11800289" cy="1569660"/>
          </a:xfrm>
          <a:prstGeom prst="rect">
            <a:avLst/>
          </a:prstGeom>
        </p:spPr>
        <p:txBody>
          <a:bodyPr wrap="square">
            <a:spAutoFit/>
          </a:bodyPr>
          <a:lstStyle/>
          <a:p>
            <a:pPr algn="just"/>
            <a:r>
              <a:rPr lang="en-IN" dirty="0">
                <a:solidFill>
                  <a:schemeClr val="accent6">
                    <a:lumMod val="75000"/>
                  </a:schemeClr>
                </a:solidFill>
                <a:latin typeface="Palatino Linotype" panose="02040502050505030304" pitchFamily="18" charset="0"/>
                <a:cs typeface="Arial" panose="020B0604020202020204" pitchFamily="34" charset="0"/>
              </a:rPr>
              <a:t>When you are designing attributes for your entities, </a:t>
            </a:r>
          </a:p>
          <a:p>
            <a:pPr marL="342900" indent="-342900" algn="just">
              <a:buFont typeface="Arial" panose="020B0604020202020204" pitchFamily="34" charset="0"/>
              <a:buChar char="•"/>
            </a:pPr>
            <a:r>
              <a:rPr lang="en-IN" sz="2000" b="1" dirty="0">
                <a:solidFill>
                  <a:srgbClr val="006C86"/>
                </a:solidFill>
                <a:latin typeface="Palatino Linotype" panose="02040502050505030304" pitchFamily="18" charset="0"/>
                <a:cs typeface="Arial" panose="020B0604020202020204" pitchFamily="34" charset="0"/>
              </a:rPr>
              <a:t>you will sometimes find that an attribute does not have a value</a:t>
            </a:r>
            <a:r>
              <a:rPr lang="en-IN" dirty="0">
                <a:solidFill>
                  <a:schemeClr val="accent6">
                    <a:lumMod val="75000"/>
                  </a:schemeClr>
                </a:solidFill>
                <a:latin typeface="Palatino Linotype" panose="02040502050505030304" pitchFamily="18" charset="0"/>
                <a:cs typeface="Arial" panose="020B0604020202020204" pitchFamily="34" charset="0"/>
              </a:rPr>
              <a:t>. </a:t>
            </a:r>
          </a:p>
          <a:p>
            <a:pPr marL="342900" indent="-342900" algn="just">
              <a:buFont typeface="Arial" panose="020B0604020202020204" pitchFamily="34" charset="0"/>
              <a:buChar char="•"/>
            </a:pPr>
            <a:r>
              <a:rPr lang="en-IN" dirty="0">
                <a:solidFill>
                  <a:srgbClr val="FF0000"/>
                </a:solidFill>
                <a:latin typeface="Palatino Linotype" panose="02040502050505030304" pitchFamily="18" charset="0"/>
                <a:cs typeface="Arial" panose="020B0604020202020204" pitchFamily="34" charset="0"/>
              </a:rPr>
              <a:t>For example</a:t>
            </a:r>
            <a:r>
              <a:rPr lang="en-IN" dirty="0">
                <a:solidFill>
                  <a:schemeClr val="accent6">
                    <a:lumMod val="75000"/>
                  </a:schemeClr>
                </a:solidFill>
                <a:latin typeface="Palatino Linotype" panose="02040502050505030304" pitchFamily="18" charset="0"/>
                <a:cs typeface="Arial" panose="020B0604020202020204" pitchFamily="34" charset="0"/>
              </a:rPr>
              <a:t>, you might want an attribute for a person's middle name, but you can't require a value because some people have no middle name</a:t>
            </a:r>
            <a:r>
              <a:rPr lang="en-IN" i="1" dirty="0">
                <a:solidFill>
                  <a:srgbClr val="D9DD21"/>
                </a:solidFill>
                <a:latin typeface="Palatino Linotype" panose="02040502050505030304" pitchFamily="18" charset="0"/>
                <a:cs typeface="Arial" panose="020B0604020202020204" pitchFamily="34" charset="0"/>
              </a:rPr>
              <a:t>. </a:t>
            </a:r>
            <a:r>
              <a:rPr lang="en-IN" sz="2000" b="1" dirty="0">
                <a:latin typeface="Palatino Linotype" panose="02040502050505030304" pitchFamily="18" charset="0"/>
                <a:cs typeface="Arial" panose="020B0604020202020204" pitchFamily="34" charset="0"/>
              </a:rPr>
              <a:t>For these, you can define the attribute so that it can contain null (</a:t>
            </a:r>
            <a:r>
              <a:rPr lang="en-IN" sz="2000" b="1" i="1" dirty="0">
                <a:solidFill>
                  <a:srgbClr val="7E007E"/>
                </a:solidFill>
                <a:latin typeface="Palatino Linotype" panose="02040502050505030304" pitchFamily="18" charset="0"/>
              </a:rPr>
              <a:t>absence of a value</a:t>
            </a:r>
            <a:r>
              <a:rPr lang="en-IN" sz="2000" b="1" dirty="0">
                <a:latin typeface="Palatino Linotype" panose="02040502050505030304" pitchFamily="18" charset="0"/>
                <a:cs typeface="Arial" panose="020B0604020202020204" pitchFamily="34" charset="0"/>
              </a:rPr>
              <a:t>) values.</a:t>
            </a:r>
            <a:endParaRPr lang="en-IN" b="1" dirty="0">
              <a:latin typeface="Palatino Linotype" panose="02040502050505030304" pitchFamily="18" charset="0"/>
              <a:cs typeface="Arial" panose="020B0604020202020204" pitchFamily="34" charset="0"/>
            </a:endParaRPr>
          </a:p>
        </p:txBody>
      </p:sp>
      <p:sp>
        <p:nvSpPr>
          <p:cNvPr id="5" name="Rectangle 4"/>
          <p:cNvSpPr/>
          <p:nvPr/>
        </p:nvSpPr>
        <p:spPr>
          <a:xfrm>
            <a:off x="184738" y="4636874"/>
            <a:ext cx="7270513" cy="1600438"/>
          </a:xfrm>
          <a:prstGeom prst="rect">
            <a:avLst/>
          </a:prstGeom>
        </p:spPr>
        <p:txBody>
          <a:bodyPr wrap="square">
            <a:spAutoFit/>
          </a:bodyPr>
          <a:lstStyle/>
          <a:p>
            <a:pPr algn="just"/>
            <a:r>
              <a:rPr lang="en-IN" sz="2000" b="1" dirty="0">
                <a:solidFill>
                  <a:srgbClr val="006C86"/>
                </a:solidFill>
                <a:latin typeface="Palatino Linotype" panose="02040502050505030304" pitchFamily="18" charset="0"/>
                <a:cs typeface="Arial" panose="020B0604020202020204" pitchFamily="34" charset="0"/>
              </a:rPr>
              <a:t>In some cases, you might not want a specific attribute to contain a NULL value</a:t>
            </a:r>
            <a:r>
              <a:rPr lang="en-IN" dirty="0">
                <a:solidFill>
                  <a:schemeClr val="accent6">
                    <a:lumMod val="75000"/>
                  </a:schemeClr>
                </a:solidFill>
                <a:latin typeface="Palatino Linotype" panose="02040502050505030304" pitchFamily="18" charset="0"/>
                <a:cs typeface="Arial" panose="020B0604020202020204" pitchFamily="34" charset="0"/>
              </a:rPr>
              <a:t>, but you don't want to require that the user or program always provide a value. In this case, a default value might be appropriate. </a:t>
            </a:r>
            <a:r>
              <a:rPr lang="en-IN" sz="2000" b="1" dirty="0">
                <a:latin typeface="Palatino Linotype" panose="02040502050505030304" pitchFamily="18" charset="0"/>
                <a:cs typeface="Arial" panose="020B0604020202020204" pitchFamily="34" charset="0"/>
              </a:rPr>
              <a:t>A default value is a value that applies to an attribute if no other valid value is available</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82208478-F271-4139-8A17-511DF10D4431}"/>
              </a:ext>
            </a:extLst>
          </p:cNvPr>
          <p:cNvSpPr/>
          <p:nvPr/>
        </p:nvSpPr>
        <p:spPr>
          <a:xfrm>
            <a:off x="184737" y="3107918"/>
            <a:ext cx="11800290" cy="400110"/>
          </a:xfrm>
          <a:prstGeom prst="rect">
            <a:avLst/>
          </a:prstGeom>
        </p:spPr>
        <p:txBody>
          <a:bodyPr wrap="square">
            <a:spAutoFit/>
          </a:bodyPr>
          <a:lstStyle/>
          <a:p>
            <a:pPr algn="ctr"/>
            <a:r>
              <a:rPr lang="en-US" sz="2000" dirty="0">
                <a:latin typeface="Palatino Linotype" panose="02040502050505030304" pitchFamily="18" charset="0"/>
              </a:rPr>
              <a:t>Attributes are the properties that define a relation</a:t>
            </a:r>
            <a:r>
              <a:rPr lang="en-US" sz="2000" dirty="0">
                <a:solidFill>
                  <a:srgbClr val="0089A4"/>
                </a:solidFill>
                <a:latin typeface="Palatino Linotype" panose="02040502050505030304" pitchFamily="18" charset="0"/>
              </a:rPr>
              <a:t>. </a:t>
            </a:r>
            <a:endParaRPr lang="en-IN" sz="2000" dirty="0">
              <a:solidFill>
                <a:schemeClr val="bg1">
                  <a:lumMod val="65000"/>
                </a:schemeClr>
              </a:solidFill>
              <a:latin typeface="Palatino Linotype" panose="02040502050505030304" pitchFamily="18" charset="0"/>
            </a:endParaRPr>
          </a:p>
        </p:txBody>
      </p:sp>
      <p:sp>
        <p:nvSpPr>
          <p:cNvPr id="8" name="TextBox 7">
            <a:extLst>
              <a:ext uri="{FF2B5EF4-FFF2-40B4-BE49-F238E27FC236}">
                <a16:creationId xmlns:a16="http://schemas.microsoft.com/office/drawing/2014/main" id="{ABAFAE02-F1D4-2E2A-90DF-B4ADD1F11AEF}"/>
              </a:ext>
            </a:extLst>
          </p:cNvPr>
          <p:cNvSpPr txBox="1"/>
          <p:nvPr/>
        </p:nvSpPr>
        <p:spPr>
          <a:xfrm>
            <a:off x="184737" y="1772816"/>
            <a:ext cx="11886040" cy="738664"/>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In database management systems, </a:t>
            </a:r>
            <a:r>
              <a:rPr lang="en-US" sz="2000" b="1" i="0" dirty="0">
                <a:solidFill>
                  <a:srgbClr val="374151"/>
                </a:solidFill>
                <a:effectLst/>
                <a:latin typeface="Palatino Linotype" panose="02040502050505030304" pitchFamily="18" charset="0"/>
              </a:rPr>
              <a:t>null</a:t>
            </a:r>
            <a:r>
              <a:rPr lang="en-US" sz="2000" b="0" i="0" dirty="0">
                <a:solidFill>
                  <a:srgbClr val="374151"/>
                </a:solidFill>
                <a:effectLst/>
                <a:latin typeface="Palatino Linotype" panose="02040502050505030304" pitchFamily="18" charset="0"/>
              </a:rPr>
              <a:t> (</a:t>
            </a:r>
            <a:r>
              <a:rPr lang="en-US" sz="2200" b="1" i="1" dirty="0">
                <a:solidFill>
                  <a:srgbClr val="7E007E"/>
                </a:solidFill>
                <a:effectLst/>
                <a:latin typeface="Palatino Linotype" panose="02040502050505030304" pitchFamily="18" charset="0"/>
              </a:rPr>
              <a:t>absence of a value</a:t>
            </a:r>
            <a:r>
              <a:rPr lang="en-US" sz="2000" b="0" i="0" dirty="0">
                <a:solidFill>
                  <a:srgbClr val="374151"/>
                </a:solidFill>
                <a:effectLst/>
                <a:latin typeface="Palatino Linotype" panose="02040502050505030304" pitchFamily="18" charset="0"/>
              </a:rPr>
              <a:t>) is used to represent </a:t>
            </a:r>
            <a:r>
              <a:rPr lang="en-US" sz="2000" b="1" i="0" dirty="0">
                <a:solidFill>
                  <a:srgbClr val="374151"/>
                </a:solidFill>
                <a:effectLst/>
                <a:latin typeface="Palatino Linotype" panose="02040502050505030304" pitchFamily="18" charset="0"/>
              </a:rPr>
              <a:t>missing</a:t>
            </a:r>
            <a:r>
              <a:rPr lang="en-US" sz="2000" b="0" i="0" dirty="0">
                <a:solidFill>
                  <a:srgbClr val="374151"/>
                </a:solidFill>
                <a:effectLst/>
                <a:latin typeface="Palatino Linotype" panose="02040502050505030304" pitchFamily="18" charset="0"/>
              </a:rPr>
              <a:t> or </a:t>
            </a:r>
            <a:r>
              <a:rPr lang="en-US" sz="2000" b="1" i="0" dirty="0">
                <a:solidFill>
                  <a:srgbClr val="374151"/>
                </a:solidFill>
                <a:effectLst/>
                <a:latin typeface="Palatino Linotype" panose="02040502050505030304" pitchFamily="18" charset="0"/>
              </a:rPr>
              <a:t>unknown</a:t>
            </a:r>
            <a:r>
              <a:rPr lang="en-US" sz="2000" b="0" i="0" dirty="0">
                <a:solidFill>
                  <a:srgbClr val="374151"/>
                </a:solidFill>
                <a:effectLst/>
                <a:latin typeface="Palatino Linotype" panose="02040502050505030304" pitchFamily="18" charset="0"/>
              </a:rPr>
              <a:t> data in a table column. </a:t>
            </a:r>
            <a:endParaRPr lang="en-IN" sz="2000" dirty="0">
              <a:latin typeface="Palatino Linotype" panose="02040502050505030304" pitchFamily="18" charset="0"/>
            </a:endParaRPr>
          </a:p>
        </p:txBody>
      </p:sp>
      <p:grpSp>
        <p:nvGrpSpPr>
          <p:cNvPr id="9" name="Group 8">
            <a:extLst>
              <a:ext uri="{FF2B5EF4-FFF2-40B4-BE49-F238E27FC236}">
                <a16:creationId xmlns:a16="http://schemas.microsoft.com/office/drawing/2014/main" id="{E44BCBDA-F728-848E-DB0D-FD5D225D8BDA}"/>
              </a:ext>
            </a:extLst>
          </p:cNvPr>
          <p:cNvGrpSpPr/>
          <p:nvPr/>
        </p:nvGrpSpPr>
        <p:grpSpPr>
          <a:xfrm>
            <a:off x="7715134" y="4248472"/>
            <a:ext cx="4357530" cy="2420888"/>
            <a:chOff x="9874933" y="3958791"/>
            <a:chExt cx="2245156" cy="1981171"/>
          </a:xfrm>
        </p:grpSpPr>
        <p:sp>
          <p:nvSpPr>
            <p:cNvPr id="10" name="Rectangle 9">
              <a:extLst>
                <a:ext uri="{FF2B5EF4-FFF2-40B4-BE49-F238E27FC236}">
                  <a16:creationId xmlns:a16="http://schemas.microsoft.com/office/drawing/2014/main" id="{17BCE0EA-7EF0-9355-F289-17045BE3BA37}"/>
                </a:ext>
              </a:extLst>
            </p:cNvPr>
            <p:cNvSpPr/>
            <p:nvPr/>
          </p:nvSpPr>
          <p:spPr>
            <a:xfrm>
              <a:off x="9874933" y="3958791"/>
              <a:ext cx="2244184" cy="635320"/>
            </a:xfrm>
            <a:prstGeom prst="rect">
              <a:avLst/>
            </a:prstGeom>
            <a:solidFill>
              <a:schemeClr val="accent3">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solidFill>
                    <a:schemeClr val="tx1"/>
                  </a:solidFill>
                </a:rPr>
                <a:t>Entity</a:t>
              </a:r>
            </a:p>
          </p:txBody>
        </p:sp>
        <p:sp>
          <p:nvSpPr>
            <p:cNvPr id="11" name="Rectangle 10">
              <a:extLst>
                <a:ext uri="{FF2B5EF4-FFF2-40B4-BE49-F238E27FC236}">
                  <a16:creationId xmlns:a16="http://schemas.microsoft.com/office/drawing/2014/main" id="{7568C4A3-3DAA-27F4-D868-19378B78F228}"/>
                </a:ext>
              </a:extLst>
            </p:cNvPr>
            <p:cNvSpPr/>
            <p:nvPr/>
          </p:nvSpPr>
          <p:spPr>
            <a:xfrm>
              <a:off x="9878952"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1</a:t>
              </a:r>
            </a:p>
          </p:txBody>
        </p:sp>
        <p:cxnSp>
          <p:nvCxnSpPr>
            <p:cNvPr id="12" name="Straight Arrow Connector 11">
              <a:extLst>
                <a:ext uri="{FF2B5EF4-FFF2-40B4-BE49-F238E27FC236}">
                  <a16:creationId xmlns:a16="http://schemas.microsoft.com/office/drawing/2014/main" id="{F91985EE-E9E4-276B-3F5B-8911117E6AA4}"/>
                </a:ext>
              </a:extLst>
            </p:cNvPr>
            <p:cNvCxnSpPr>
              <a:cxnSpLocks/>
            </p:cNvCxnSpPr>
            <p:nvPr/>
          </p:nvCxnSpPr>
          <p:spPr>
            <a:xfrm>
              <a:off x="11084655" y="4594111"/>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CAEF95D4-7BC6-4222-CE97-A426370650AE}"/>
                </a:ext>
              </a:extLst>
            </p:cNvPr>
            <p:cNvCxnSpPr/>
            <p:nvPr/>
          </p:nvCxnSpPr>
          <p:spPr>
            <a:xfrm>
              <a:off x="10129449"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ABDB2370-5CBD-DE38-D5A5-B0082D969FEA}"/>
                </a:ext>
              </a:extLst>
            </p:cNvPr>
            <p:cNvSpPr/>
            <p:nvPr/>
          </p:nvSpPr>
          <p:spPr>
            <a:xfrm>
              <a:off x="988362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1</a:t>
              </a:r>
            </a:p>
          </p:txBody>
        </p:sp>
        <p:sp>
          <p:nvSpPr>
            <p:cNvPr id="16" name="Rectangle 15">
              <a:extLst>
                <a:ext uri="{FF2B5EF4-FFF2-40B4-BE49-F238E27FC236}">
                  <a16:creationId xmlns:a16="http://schemas.microsoft.com/office/drawing/2014/main" id="{7B39DF09-8CC0-7AAA-E8EC-1A36D5F7F0EC}"/>
                </a:ext>
              </a:extLst>
            </p:cNvPr>
            <p:cNvSpPr/>
            <p:nvPr/>
          </p:nvSpPr>
          <p:spPr>
            <a:xfrm>
              <a:off x="1032387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2</a:t>
              </a:r>
            </a:p>
          </p:txBody>
        </p:sp>
        <p:sp>
          <p:nvSpPr>
            <p:cNvPr id="19" name="Rectangle 18">
              <a:extLst>
                <a:ext uri="{FF2B5EF4-FFF2-40B4-BE49-F238E27FC236}">
                  <a16:creationId xmlns:a16="http://schemas.microsoft.com/office/drawing/2014/main" id="{2F831D8D-D86B-528D-9129-66146AE44C19}"/>
                </a:ext>
              </a:extLst>
            </p:cNvPr>
            <p:cNvSpPr/>
            <p:nvPr/>
          </p:nvSpPr>
          <p:spPr>
            <a:xfrm>
              <a:off x="1077163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3</a:t>
              </a:r>
            </a:p>
          </p:txBody>
        </p:sp>
        <p:sp>
          <p:nvSpPr>
            <p:cNvPr id="20" name="Rectangle 19">
              <a:extLst>
                <a:ext uri="{FF2B5EF4-FFF2-40B4-BE49-F238E27FC236}">
                  <a16:creationId xmlns:a16="http://schemas.microsoft.com/office/drawing/2014/main" id="{CCDFC3D8-3569-270F-CF19-232357088E84}"/>
                </a:ext>
              </a:extLst>
            </p:cNvPr>
            <p:cNvSpPr/>
            <p:nvPr/>
          </p:nvSpPr>
          <p:spPr>
            <a:xfrm>
              <a:off x="11220766"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4</a:t>
              </a:r>
            </a:p>
          </p:txBody>
        </p:sp>
        <p:sp>
          <p:nvSpPr>
            <p:cNvPr id="22" name="Rectangle 21">
              <a:extLst>
                <a:ext uri="{FF2B5EF4-FFF2-40B4-BE49-F238E27FC236}">
                  <a16:creationId xmlns:a16="http://schemas.microsoft.com/office/drawing/2014/main" id="{4623AC5B-9E4B-8D58-E5B1-087684CFD1F5}"/>
                </a:ext>
              </a:extLst>
            </p:cNvPr>
            <p:cNvSpPr/>
            <p:nvPr/>
          </p:nvSpPr>
          <p:spPr>
            <a:xfrm>
              <a:off x="11669144"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a:t>
              </a:r>
            </a:p>
          </p:txBody>
        </p:sp>
        <p:cxnSp>
          <p:nvCxnSpPr>
            <p:cNvPr id="36" name="Straight Arrow Connector 35">
              <a:extLst>
                <a:ext uri="{FF2B5EF4-FFF2-40B4-BE49-F238E27FC236}">
                  <a16:creationId xmlns:a16="http://schemas.microsoft.com/office/drawing/2014/main" id="{6A307175-06F2-3A1D-EF20-982A4D7DF32F}"/>
                </a:ext>
              </a:extLst>
            </p:cNvPr>
            <p:cNvCxnSpPr/>
            <p:nvPr/>
          </p:nvCxnSpPr>
          <p:spPr>
            <a:xfrm>
              <a:off x="1056795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FF92BFCD-FC2B-8815-FBB7-D6710B4CFEC0}"/>
                </a:ext>
              </a:extLst>
            </p:cNvPr>
            <p:cNvSpPr/>
            <p:nvPr/>
          </p:nvSpPr>
          <p:spPr>
            <a:xfrm>
              <a:off x="1032213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2</a:t>
              </a:r>
            </a:p>
          </p:txBody>
        </p:sp>
        <p:cxnSp>
          <p:nvCxnSpPr>
            <p:cNvPr id="38" name="Straight Arrow Connector 37">
              <a:extLst>
                <a:ext uri="{FF2B5EF4-FFF2-40B4-BE49-F238E27FC236}">
                  <a16:creationId xmlns:a16="http://schemas.microsoft.com/office/drawing/2014/main" id="{A82E240A-9E41-0495-9018-9B13062BB855}"/>
                </a:ext>
              </a:extLst>
            </p:cNvPr>
            <p:cNvCxnSpPr/>
            <p:nvPr/>
          </p:nvCxnSpPr>
          <p:spPr>
            <a:xfrm>
              <a:off x="1100627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F5F629C1-1CA3-7843-5D4F-10C86ACEC02F}"/>
                </a:ext>
              </a:extLst>
            </p:cNvPr>
            <p:cNvSpPr/>
            <p:nvPr/>
          </p:nvSpPr>
          <p:spPr>
            <a:xfrm>
              <a:off x="1076045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NULL</a:t>
              </a:r>
              <a:endParaRPr lang="en-IN" b="1" baseline="-25000" dirty="0">
                <a:solidFill>
                  <a:schemeClr val="tx1"/>
                </a:solidFill>
                <a:latin typeface="Arial" panose="020B0604020202020204" pitchFamily="34" charset="0"/>
                <a:cs typeface="Arial" panose="020B0604020202020204" pitchFamily="34" charset="0"/>
              </a:endParaRPr>
            </a:p>
          </p:txBody>
        </p:sp>
        <p:cxnSp>
          <p:nvCxnSpPr>
            <p:cNvPr id="40" name="Straight Arrow Connector 39">
              <a:extLst>
                <a:ext uri="{FF2B5EF4-FFF2-40B4-BE49-F238E27FC236}">
                  <a16:creationId xmlns:a16="http://schemas.microsoft.com/office/drawing/2014/main" id="{C5377BFB-D587-D04E-38E7-9B5AE22F5436}"/>
                </a:ext>
              </a:extLst>
            </p:cNvPr>
            <p:cNvCxnSpPr/>
            <p:nvPr/>
          </p:nvCxnSpPr>
          <p:spPr>
            <a:xfrm>
              <a:off x="11466587"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1B041E-9F3F-A718-0B68-16C2CDEED0DC}"/>
                </a:ext>
              </a:extLst>
            </p:cNvPr>
            <p:cNvSpPr/>
            <p:nvPr/>
          </p:nvSpPr>
          <p:spPr>
            <a:xfrm>
              <a:off x="1121103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pune</a:t>
              </a:r>
              <a:endParaRPr lang="en-IN" baseline="-25000" dirty="0">
                <a:solidFill>
                  <a:schemeClr val="tx1"/>
                </a:solidFill>
                <a:latin typeface="Arial" panose="020B0604020202020204" pitchFamily="34" charset="0"/>
                <a:cs typeface="Arial" panose="020B0604020202020204" pitchFamily="34" charset="0"/>
              </a:endParaRPr>
            </a:p>
          </p:txBody>
        </p:sp>
        <p:cxnSp>
          <p:nvCxnSpPr>
            <p:cNvPr id="42" name="Straight Arrow Connector 41">
              <a:extLst>
                <a:ext uri="{FF2B5EF4-FFF2-40B4-BE49-F238E27FC236}">
                  <a16:creationId xmlns:a16="http://schemas.microsoft.com/office/drawing/2014/main" id="{33825C61-EEC3-F79E-97E3-0073BF89D882}"/>
                </a:ext>
              </a:extLst>
            </p:cNvPr>
            <p:cNvCxnSpPr/>
            <p:nvPr/>
          </p:nvCxnSpPr>
          <p:spPr>
            <a:xfrm>
              <a:off x="11874486"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59E06DB1-0782-0871-7EF4-A75BEAA20F5D}"/>
                </a:ext>
              </a:extLst>
            </p:cNvPr>
            <p:cNvSpPr/>
            <p:nvPr/>
          </p:nvSpPr>
          <p:spPr>
            <a:xfrm>
              <a:off x="11628665"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t>
              </a:r>
            </a:p>
          </p:txBody>
        </p:sp>
      </p:grpSp>
      <p:sp>
        <p:nvSpPr>
          <p:cNvPr id="3" name="Rectangle 2">
            <a:extLst>
              <a:ext uri="{FF2B5EF4-FFF2-40B4-BE49-F238E27FC236}">
                <a16:creationId xmlns:a16="http://schemas.microsoft.com/office/drawing/2014/main" id="{C610EE6D-9B58-30CE-F533-59D77E22DE6F}"/>
              </a:ext>
            </a:extLst>
          </p:cNvPr>
          <p:cNvSpPr/>
          <p:nvPr/>
        </p:nvSpPr>
        <p:spPr>
          <a:xfrm>
            <a:off x="227612" y="3356992"/>
            <a:ext cx="11800290" cy="492443"/>
          </a:xfrm>
          <a:prstGeom prst="rect">
            <a:avLst/>
          </a:prstGeom>
        </p:spPr>
        <p:txBody>
          <a:bodyPr wrap="square">
            <a:spAutoFit/>
          </a:bodyPr>
          <a:lstStyle/>
          <a:p>
            <a:pPr algn="ctr"/>
            <a:endParaRPr lang="en-US" sz="600" dirty="0">
              <a:solidFill>
                <a:srgbClr val="0089A4"/>
              </a:solidFill>
              <a:latin typeface="Palatino Linotype" panose="02040502050505030304" pitchFamily="18" charset="0"/>
            </a:endParaRPr>
          </a:p>
          <a:p>
            <a:pPr algn="ctr"/>
            <a:r>
              <a:rPr lang="en-US" sz="2000" dirty="0">
                <a:solidFill>
                  <a:srgbClr val="FF0000"/>
                </a:solidFill>
                <a:latin typeface="Palatino Linotype" panose="02040502050505030304" pitchFamily="18" charset="0"/>
              </a:rPr>
              <a:t>e.g. </a:t>
            </a:r>
            <a:r>
              <a:rPr lang="en-US" sz="2000" b="1" dirty="0">
                <a:latin typeface="Palatino Linotype" panose="02040502050505030304" pitchFamily="18" charset="0"/>
              </a:rPr>
              <a:t>Student</a:t>
            </a:r>
            <a:r>
              <a:rPr lang="en-US" sz="2000" dirty="0">
                <a:latin typeface="Palatino Linotype" panose="02040502050505030304" pitchFamily="18" charset="0"/>
              </a:rPr>
              <a:t>(</a:t>
            </a:r>
            <a:r>
              <a:rPr lang="en-US" sz="2000" b="1" i="1" dirty="0">
                <a:latin typeface="Palatino Linotype" panose="02040502050505030304" pitchFamily="18" charset="0"/>
              </a:rPr>
              <a:t>rollNo</a:t>
            </a:r>
            <a:r>
              <a:rPr lang="en-US" sz="2000" dirty="0">
                <a:latin typeface="Palatino Linotype" panose="02040502050505030304" pitchFamily="18" charset="0"/>
              </a:rPr>
              <a:t>:INT, </a:t>
            </a:r>
            <a:r>
              <a:rPr lang="en-US" sz="2000" b="1" i="1" dirty="0">
                <a:latin typeface="Palatino Linotype" panose="02040502050505030304" pitchFamily="18" charset="0"/>
              </a:rPr>
              <a:t>name</a:t>
            </a:r>
            <a:r>
              <a:rPr lang="en-US" sz="2000" dirty="0">
                <a:latin typeface="Palatino Linotype" panose="02040502050505030304" pitchFamily="18" charset="0"/>
              </a:rPr>
              <a:t>:VARCHAR(20), </a:t>
            </a:r>
            <a:r>
              <a:rPr lang="en-US" sz="2000" b="1" i="1" dirty="0">
                <a:latin typeface="Palatino Linotype" panose="02040502050505030304" pitchFamily="18" charset="0"/>
              </a:rPr>
              <a:t>address</a:t>
            </a:r>
            <a:r>
              <a:rPr lang="en-US" sz="2000" dirty="0">
                <a:latin typeface="Palatino Linotype" panose="02040502050505030304" pitchFamily="18" charset="0"/>
              </a:rPr>
              <a:t>:VARCHAR(50), </a:t>
            </a:r>
            <a:r>
              <a:rPr lang="en-US" sz="2000" b="1" i="1" dirty="0">
                <a:latin typeface="Palatino Linotype" panose="02040502050505030304" pitchFamily="18" charset="0"/>
              </a:rPr>
              <a:t>age</a:t>
            </a:r>
            <a:r>
              <a:rPr lang="en-US" sz="2000" dirty="0">
                <a:latin typeface="Palatino Linotype" panose="02040502050505030304" pitchFamily="18" charset="0"/>
              </a:rPr>
              <a:t>:INT)</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2234012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8" grpId="0"/>
      <p:bldP spid="3" grpId="0"/>
    </p:bldLst>
  </p:timing>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259550" y="777710"/>
            <a:ext cx="8839200" cy="646331"/>
          </a:xfrm>
          <a:prstGeom prst="rect">
            <a:avLst/>
          </a:prstGeom>
        </p:spPr>
        <p:txBody>
          <a:bodyPr wrap="square">
            <a:spAutoFit/>
          </a:bodyPr>
          <a:lstStyle/>
          <a:p>
            <a:r>
              <a:rPr lang="en-IN" sz="3600" dirty="0">
                <a:solidFill>
                  <a:srgbClr val="222222"/>
                </a:solidFill>
                <a:latin typeface="arial" panose="020B0604020202020204" pitchFamily="34" charset="0"/>
              </a:rPr>
              <a:t>A table has rows and columns</a:t>
            </a:r>
            <a:endParaRPr lang="en-IN" sz="3600" dirty="0"/>
          </a:p>
        </p:txBody>
      </p:sp>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8" name="Rectangle 7"/>
          <p:cNvSpPr/>
          <p:nvPr/>
        </p:nvSpPr>
        <p:spPr>
          <a:xfrm>
            <a:off x="259549" y="1700808"/>
            <a:ext cx="11525081" cy="707886"/>
          </a:xfrm>
          <a:prstGeom prst="rect">
            <a:avLst/>
          </a:prstGeom>
        </p:spPr>
        <p:txBody>
          <a:bodyPr wrap="square">
            <a:spAutoFit/>
          </a:bodyPr>
          <a:lstStyle/>
          <a:p>
            <a:r>
              <a:rPr lang="en-IN" sz="2000" dirty="0">
                <a:solidFill>
                  <a:srgbClr val="222426"/>
                </a:solidFill>
                <a:latin typeface="Arial" panose="020B0604020202020204" pitchFamily="34" charset="0"/>
                <a:cs typeface="Arial" panose="020B0604020202020204" pitchFamily="34" charset="0"/>
              </a:rPr>
              <a:t>In RDBMS, a table organizes data in rows and columns. The </a:t>
            </a:r>
            <a:r>
              <a:rPr lang="en-IN" sz="2000" b="1" dirty="0">
                <a:solidFill>
                  <a:srgbClr val="C00000"/>
                </a:solidFill>
                <a:latin typeface="Arial" panose="020B0604020202020204" pitchFamily="34" charset="0"/>
                <a:cs typeface="Arial" panose="020B0604020202020204" pitchFamily="34" charset="0"/>
              </a:rPr>
              <a:t>COLUMNS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ATTRIBUTES / FIELDS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whereas the </a:t>
            </a:r>
            <a:r>
              <a:rPr lang="en-IN" sz="2000" b="1" dirty="0">
                <a:solidFill>
                  <a:srgbClr val="C00000"/>
                </a:solidFill>
                <a:latin typeface="Arial" panose="020B0604020202020204" pitchFamily="34" charset="0"/>
                <a:cs typeface="Arial" panose="020B0604020202020204" pitchFamily="34" charset="0"/>
              </a:rPr>
              <a:t>ROWS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RECORDS / TUPLE</a:t>
            </a:r>
            <a:r>
              <a:rPr lang="en-IN" sz="2000" dirty="0">
                <a:solidFill>
                  <a:srgbClr val="222426"/>
                </a:solidFill>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902772141"/>
              </p:ext>
            </p:extLst>
          </p:nvPr>
        </p:nvGraphicFramePr>
        <p:xfrm>
          <a:off x="2209802" y="3860800"/>
          <a:ext cx="7162799" cy="2006600"/>
        </p:xfrm>
        <a:graphic>
          <a:graphicData uri="http://schemas.openxmlformats.org/drawingml/2006/table">
            <a:tbl>
              <a:tblPr firstRow="1" bandRow="1">
                <a:tableStyleId>{5940675A-B579-460E-94D1-54222C63F5DA}</a:tableStyleId>
              </a:tblPr>
              <a:tblGrid>
                <a:gridCol w="778565">
                  <a:extLst>
                    <a:ext uri="{9D8B030D-6E8A-4147-A177-3AD203B41FA5}">
                      <a16:colId xmlns:a16="http://schemas.microsoft.com/office/drawing/2014/main" val="20000"/>
                    </a:ext>
                  </a:extLst>
                </a:gridCol>
                <a:gridCol w="2117035">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577008">
                  <a:extLst>
                    <a:ext uri="{9D8B030D-6E8A-4147-A177-3AD203B41FA5}">
                      <a16:colId xmlns:a16="http://schemas.microsoft.com/office/drawing/2014/main" val="20003"/>
                    </a:ext>
                  </a:extLst>
                </a:gridCol>
                <a:gridCol w="1089991">
                  <a:extLst>
                    <a:ext uri="{9D8B030D-6E8A-4147-A177-3AD203B41FA5}">
                      <a16:colId xmlns:a16="http://schemas.microsoft.com/office/drawing/2014/main" val="20004"/>
                    </a:ext>
                  </a:extLst>
                </a:gridCol>
              </a:tblGrid>
              <a:tr h="401320">
                <a:tc>
                  <a:txBody>
                    <a:bodyPr/>
                    <a:lstStyle/>
                    <a:p>
                      <a:pPr algn="l"/>
                      <a:r>
                        <a:rPr lang="en-US" b="1" dirty="0">
                          <a:latin typeface="Arial" panose="020B0604020202020204" pitchFamily="34" charset="0"/>
                          <a:cs typeface="Arial" panose="020B0604020202020204" pitchFamily="34" charset="0"/>
                        </a:rPr>
                        <a:t>I</a:t>
                      </a:r>
                      <a:r>
                        <a:rPr lang="en-IN" b="1" dirty="0">
                          <a:latin typeface="Arial" panose="020B0604020202020204" pitchFamily="34" charset="0"/>
                          <a:cs typeface="Arial" panose="020B0604020202020204" pitchFamily="34" charset="0"/>
                        </a:rPr>
                        <a:t>D</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EmployeeName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 Job</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Hiredate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Salary</a:t>
                      </a:r>
                    </a:p>
                  </a:txBody>
                  <a:tcPr anchor="ctr">
                    <a:solidFill>
                      <a:schemeClr val="accent4"/>
                    </a:solidFill>
                  </a:tcPr>
                </a:tc>
                <a:extLst>
                  <a:ext uri="{0D108BD9-81ED-4DB2-BD59-A6C34878D82A}">
                    <a16:rowId xmlns:a16="http://schemas.microsoft.com/office/drawing/2014/main" val="10000"/>
                  </a:ext>
                </a:extLst>
              </a:tr>
              <a:tr h="401320">
                <a:tc>
                  <a:txBody>
                    <a:bodyPr/>
                    <a:lstStyle/>
                    <a:p>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KING</a:t>
                      </a:r>
                    </a:p>
                  </a:txBody>
                  <a:tcPr/>
                </a:tc>
                <a:tc>
                  <a:txBody>
                    <a:bodyPr/>
                    <a:lstStyle/>
                    <a:p>
                      <a:r>
                        <a:rPr lang="en-IN" dirty="0">
                          <a:latin typeface="Arial" panose="020B0604020202020204" pitchFamily="34" charset="0"/>
                          <a:cs typeface="Arial" panose="020B0604020202020204" pitchFamily="34" charset="0"/>
                        </a:rPr>
                        <a:t>PRESIDENT</a:t>
                      </a:r>
                    </a:p>
                  </a:txBody>
                  <a:tcPr/>
                </a:tc>
                <a:tc>
                  <a:txBody>
                    <a:bodyPr/>
                    <a:lstStyle/>
                    <a:p>
                      <a:r>
                        <a:rPr lang="en-IN" dirty="0">
                          <a:latin typeface="Arial" panose="020B0604020202020204" pitchFamily="34" charset="0"/>
                          <a:cs typeface="Arial" panose="020B0604020202020204" pitchFamily="34" charset="0"/>
                        </a:rPr>
                        <a:t>2017-02-15</a:t>
                      </a:r>
                    </a:p>
                  </a:txBody>
                  <a:tcPr/>
                </a:tc>
                <a:tc>
                  <a:txBody>
                    <a:bodyPr/>
                    <a:lstStyle/>
                    <a:p>
                      <a:r>
                        <a:rPr lang="en-IN" dirty="0">
                          <a:latin typeface="Arial" panose="020B0604020202020204" pitchFamily="34" charset="0"/>
                          <a:cs typeface="Arial" panose="020B0604020202020204" pitchFamily="34" charset="0"/>
                        </a:rPr>
                        <a:t>5000</a:t>
                      </a:r>
                    </a:p>
                  </a:txBody>
                  <a:tcPr/>
                </a:tc>
                <a:extLst>
                  <a:ext uri="{0D108BD9-81ED-4DB2-BD59-A6C34878D82A}">
                    <a16:rowId xmlns:a16="http://schemas.microsoft.com/office/drawing/2014/main" val="10001"/>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2"/>
                  </a:ext>
                </a:extLst>
              </a:tr>
              <a:tr h="401320">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3"/>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4"/>
                  </a:ext>
                </a:extLst>
              </a:tr>
            </a:tbl>
          </a:graphicData>
        </a:graphic>
      </p:graphicFrame>
      <p:grpSp>
        <p:nvGrpSpPr>
          <p:cNvPr id="14" name="Group 13">
            <a:extLst>
              <a:ext uri="{FF2B5EF4-FFF2-40B4-BE49-F238E27FC236}">
                <a16:creationId xmlns:a16="http://schemas.microsoft.com/office/drawing/2014/main" id="{88328BE5-92DD-42B5-A967-04A0A19FBDAE}"/>
              </a:ext>
            </a:extLst>
          </p:cNvPr>
          <p:cNvGrpSpPr/>
          <p:nvPr/>
        </p:nvGrpSpPr>
        <p:grpSpPr>
          <a:xfrm>
            <a:off x="1525708" y="2708920"/>
            <a:ext cx="9218491" cy="3456384"/>
            <a:chOff x="1556658" y="2819400"/>
            <a:chExt cx="9218491" cy="3456384"/>
          </a:xfrm>
        </p:grpSpPr>
        <p:sp>
          <p:nvSpPr>
            <p:cNvPr id="17" name="TextBox 16"/>
            <p:cNvSpPr txBox="1"/>
            <p:nvPr/>
          </p:nvSpPr>
          <p:spPr>
            <a:xfrm>
              <a:off x="5234466" y="3004066"/>
              <a:ext cx="1394934" cy="400110"/>
            </a:xfrm>
            <a:prstGeom prst="rect">
              <a:avLst/>
            </a:prstGeom>
            <a:noFill/>
          </p:spPr>
          <p:txBody>
            <a:bodyPr wrap="none" rtlCol="0">
              <a:spAutoFit/>
            </a:bodyPr>
            <a:lstStyle/>
            <a:p>
              <a:r>
                <a:rPr lang="en-IN" sz="2000" b="1" dirty="0">
                  <a:latin typeface="Arial" panose="020B0604020202020204" pitchFamily="34" charset="0"/>
                  <a:cs typeface="Arial" panose="020B0604020202020204" pitchFamily="34" charset="0"/>
                </a:rPr>
                <a:t>Attributes</a:t>
              </a:r>
            </a:p>
          </p:txBody>
        </p:sp>
        <p:sp>
          <p:nvSpPr>
            <p:cNvPr id="58" name="TextBox 57"/>
            <p:cNvSpPr txBox="1"/>
            <p:nvPr/>
          </p:nvSpPr>
          <p:spPr>
            <a:xfrm>
              <a:off x="9906000" y="4867562"/>
              <a:ext cx="869149" cy="400110"/>
            </a:xfrm>
            <a:prstGeom prst="rect">
              <a:avLst/>
            </a:prstGeom>
            <a:noFill/>
          </p:spPr>
          <p:txBody>
            <a:bodyPr wrap="square" rtlCol="0">
              <a:spAutoFit/>
            </a:bodyPr>
            <a:lstStyle/>
            <a:p>
              <a:r>
                <a:rPr lang="en-IN" sz="2000" b="1" dirty="0">
                  <a:latin typeface="Arial" panose="020B0604020202020204" pitchFamily="34" charset="0"/>
                  <a:cs typeface="Arial" panose="020B0604020202020204" pitchFamily="34" charset="0"/>
                </a:rPr>
                <a:t>Rows</a:t>
              </a:r>
            </a:p>
          </p:txBody>
        </p:sp>
        <p:sp>
          <p:nvSpPr>
            <p:cNvPr id="11" name="TextBox 10"/>
            <p:cNvSpPr txBox="1"/>
            <p:nvPr/>
          </p:nvSpPr>
          <p:spPr>
            <a:xfrm>
              <a:off x="1556658" y="2819400"/>
              <a:ext cx="2005677" cy="369332"/>
            </a:xfrm>
            <a:prstGeom prst="rect">
              <a:avLst/>
            </a:prstGeom>
            <a:noFill/>
          </p:spPr>
          <p:txBody>
            <a:bodyPr wrap="none" rtlCol="0">
              <a:spAutoFit/>
            </a:bodyPr>
            <a:lstStyle/>
            <a:p>
              <a:r>
                <a:rPr lang="en-IN" b="1" dirty="0">
                  <a:latin typeface="Arial" panose="020B0604020202020204" pitchFamily="34" charset="0"/>
                  <a:cs typeface="Arial" panose="020B0604020202020204" pitchFamily="34" charset="0"/>
                </a:rPr>
                <a:t>In Relation: EMP</a:t>
              </a:r>
            </a:p>
          </p:txBody>
        </p:sp>
        <p:grpSp>
          <p:nvGrpSpPr>
            <p:cNvPr id="13" name="Group 12">
              <a:extLst>
                <a:ext uri="{FF2B5EF4-FFF2-40B4-BE49-F238E27FC236}">
                  <a16:creationId xmlns:a16="http://schemas.microsoft.com/office/drawing/2014/main" id="{1D28ED62-3F5B-4128-BA80-E1DBCFDB575F}"/>
                </a:ext>
              </a:extLst>
            </p:cNvPr>
            <p:cNvGrpSpPr/>
            <p:nvPr/>
          </p:nvGrpSpPr>
          <p:grpSpPr>
            <a:xfrm>
              <a:off x="1600202" y="3159072"/>
              <a:ext cx="8305798" cy="3116712"/>
              <a:chOff x="1600202" y="3159072"/>
              <a:chExt cx="8305798" cy="3116712"/>
            </a:xfrm>
          </p:grpSpPr>
          <p:sp>
            <p:nvSpPr>
              <p:cNvPr id="89" name="Left Brace 88"/>
              <p:cNvSpPr/>
              <p:nvPr/>
            </p:nvSpPr>
            <p:spPr>
              <a:xfrm>
                <a:off x="1611088" y="3505200"/>
                <a:ext cx="827312" cy="2514600"/>
              </a:xfrm>
              <a:prstGeom prst="leftBrace">
                <a:avLst>
                  <a:gd name="adj1" fmla="val 8333"/>
                  <a:gd name="adj2" fmla="val 47355"/>
                </a:avLst>
              </a:prstGeom>
              <a:ln w="38100">
                <a:solidFill>
                  <a:srgbClr val="FF0000"/>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nvGrpSpPr>
              <p:cNvPr id="12" name="Group 11">
                <a:extLst>
                  <a:ext uri="{FF2B5EF4-FFF2-40B4-BE49-F238E27FC236}">
                    <a16:creationId xmlns:a16="http://schemas.microsoft.com/office/drawing/2014/main" id="{935CDA9E-1A83-401B-8B16-510BA6A8A4C3}"/>
                  </a:ext>
                </a:extLst>
              </p:cNvPr>
              <p:cNvGrpSpPr/>
              <p:nvPr/>
            </p:nvGrpSpPr>
            <p:grpSpPr>
              <a:xfrm>
                <a:off x="1600202" y="3159072"/>
                <a:ext cx="8305798" cy="3116712"/>
                <a:chOff x="1600202" y="3159072"/>
                <a:chExt cx="8305798" cy="3116712"/>
              </a:xfrm>
            </p:grpSpPr>
            <p:grpSp>
              <p:nvGrpSpPr>
                <p:cNvPr id="5" name="Group 4">
                  <a:extLst>
                    <a:ext uri="{FF2B5EF4-FFF2-40B4-BE49-F238E27FC236}">
                      <a16:creationId xmlns:a16="http://schemas.microsoft.com/office/drawing/2014/main" id="{C41844B2-F668-4544-A1A3-C5FB9E65A881}"/>
                    </a:ext>
                  </a:extLst>
                </p:cNvPr>
                <p:cNvGrpSpPr/>
                <p:nvPr/>
              </p:nvGrpSpPr>
              <p:grpSpPr>
                <a:xfrm>
                  <a:off x="1600202" y="3159072"/>
                  <a:ext cx="1600198" cy="1536918"/>
                  <a:chOff x="1600202" y="3159072"/>
                  <a:chExt cx="1600198" cy="1536918"/>
                </a:xfrm>
              </p:grpSpPr>
              <p:cxnSp>
                <p:nvCxnSpPr>
                  <p:cNvPr id="128" name="Straight Connector 127"/>
                  <p:cNvCxnSpPr>
                    <a:stCxn id="89" idx="1"/>
                  </p:cNvCxnSpPr>
                  <p:nvPr/>
                </p:nvCxnSpPr>
                <p:spPr>
                  <a:xfrm flipV="1">
                    <a:off x="1611088" y="3423167"/>
                    <a:ext cx="0" cy="1272823"/>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flipH="1">
                    <a:off x="1600202" y="3429000"/>
                    <a:ext cx="1600198"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41" name="Straight Arrow Connector 140"/>
                  <p:cNvCxnSpPr/>
                  <p:nvPr/>
                </p:nvCxnSpPr>
                <p:spPr>
                  <a:xfrm flipV="1">
                    <a:off x="3200400" y="3159072"/>
                    <a:ext cx="0" cy="279976"/>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9" name="Group 8">
                  <a:extLst>
                    <a:ext uri="{FF2B5EF4-FFF2-40B4-BE49-F238E27FC236}">
                      <a16:creationId xmlns:a16="http://schemas.microsoft.com/office/drawing/2014/main" id="{89E79E13-3EF4-4136-AEC3-6022E6378D96}"/>
                    </a:ext>
                  </a:extLst>
                </p:cNvPr>
                <p:cNvGrpSpPr/>
                <p:nvPr/>
              </p:nvGrpSpPr>
              <p:grpSpPr>
                <a:xfrm>
                  <a:off x="9098750" y="4565052"/>
                  <a:ext cx="807250" cy="1710732"/>
                  <a:chOff x="9098750" y="4565052"/>
                  <a:chExt cx="807250" cy="1710732"/>
                </a:xfrm>
              </p:grpSpPr>
              <p:cxnSp>
                <p:nvCxnSpPr>
                  <p:cNvPr id="63" name="Straight Arrow Connector 62"/>
                  <p:cNvCxnSpPr/>
                  <p:nvPr/>
                </p:nvCxnSpPr>
                <p:spPr>
                  <a:xfrm>
                    <a:off x="9636916" y="5085705"/>
                    <a:ext cx="269084"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62044C4-FE6A-4D8C-8828-D4692F0EADFC}"/>
                      </a:ext>
                    </a:extLst>
                  </p:cNvPr>
                  <p:cNvGrpSpPr/>
                  <p:nvPr/>
                </p:nvGrpSpPr>
                <p:grpSpPr>
                  <a:xfrm>
                    <a:off x="9098750" y="4565052"/>
                    <a:ext cx="484351" cy="1710732"/>
                    <a:chOff x="9098750" y="4565052"/>
                    <a:chExt cx="484351" cy="1710732"/>
                  </a:xfrm>
                </p:grpSpPr>
                <p:cxnSp>
                  <p:nvCxnSpPr>
                    <p:cNvPr id="70" name="Straight Arrow Connector 69"/>
                    <p:cNvCxnSpPr/>
                    <p:nvPr/>
                  </p:nvCxnSpPr>
                  <p:spPr>
                    <a:xfrm flipH="1">
                      <a:off x="9098750" y="4566726"/>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p:cNvCxnSpPr/>
                    <p:nvPr/>
                  </p:nvCxnSpPr>
                  <p:spPr>
                    <a:xfrm flipH="1">
                      <a:off x="9098750" y="5742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flipH="1">
                      <a:off x="9098750" y="4980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H="1">
                      <a:off x="9098750" y="5361384"/>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2" name="Straight Arrow Connector 161"/>
                    <p:cNvCxnSpPr/>
                    <p:nvPr/>
                  </p:nvCxnSpPr>
                  <p:spPr>
                    <a:xfrm>
                      <a:off x="9572730" y="4565052"/>
                      <a:ext cx="10370" cy="17107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nvGrpSpPr>
                <p:cNvPr id="6" name="Group 5">
                  <a:extLst>
                    <a:ext uri="{FF2B5EF4-FFF2-40B4-BE49-F238E27FC236}">
                      <a16:creationId xmlns:a16="http://schemas.microsoft.com/office/drawing/2014/main" id="{641AFF62-3334-4F72-97FD-77A90710EA23}"/>
                    </a:ext>
                  </a:extLst>
                </p:cNvPr>
                <p:cNvGrpSpPr/>
                <p:nvPr/>
              </p:nvGrpSpPr>
              <p:grpSpPr>
                <a:xfrm>
                  <a:off x="2498412" y="3313668"/>
                  <a:ext cx="7315200" cy="648732"/>
                  <a:chOff x="2498412" y="3313668"/>
                  <a:chExt cx="7315200" cy="648732"/>
                </a:xfrm>
              </p:grpSpPr>
              <p:cxnSp>
                <p:nvCxnSpPr>
                  <p:cNvPr id="44" name="Straight Arrow Connector 43"/>
                  <p:cNvCxnSpPr/>
                  <p:nvPr/>
                </p:nvCxnSpPr>
                <p:spPr>
                  <a:xfrm flipV="1">
                    <a:off x="5878284" y="3313668"/>
                    <a:ext cx="0" cy="2931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AEBEAD12-8566-4817-9B97-8EE7F5277472}"/>
                      </a:ext>
                    </a:extLst>
                  </p:cNvPr>
                  <p:cNvGrpSpPr/>
                  <p:nvPr/>
                </p:nvGrpSpPr>
                <p:grpSpPr>
                  <a:xfrm>
                    <a:off x="2498412" y="3657600"/>
                    <a:ext cx="7315200" cy="304800"/>
                    <a:chOff x="2498412" y="3657600"/>
                    <a:chExt cx="7315200" cy="304800"/>
                  </a:xfrm>
                </p:grpSpPr>
                <p:cxnSp>
                  <p:nvCxnSpPr>
                    <p:cNvPr id="39" name="Straight Arrow Connector 38"/>
                    <p:cNvCxnSpPr/>
                    <p:nvPr/>
                  </p:nvCxnSpPr>
                  <p:spPr>
                    <a:xfrm>
                      <a:off x="2503712" y="3659852"/>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p:cNvCxnSpPr/>
                    <p:nvPr/>
                  </p:nvCxnSpPr>
                  <p:spPr>
                    <a:xfrm>
                      <a:off x="3820885"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p:nvPr/>
                  </p:nvCxnSpPr>
                  <p:spPr>
                    <a:xfrm>
                      <a:off x="54210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a:off x="72498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a:off x="8693500" y="3667649"/>
                      <a:ext cx="4185" cy="2707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5" name="Straight Arrow Connector 164"/>
                    <p:cNvCxnSpPr/>
                    <p:nvPr/>
                  </p:nvCxnSpPr>
                  <p:spPr>
                    <a:xfrm>
                      <a:off x="2498412" y="3666531"/>
                      <a:ext cx="73152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grpSp>
      </p:grpSp>
    </p:spTree>
    <p:extLst>
      <p:ext uri="{BB962C8B-B14F-4D97-AF65-F5344CB8AC3E}">
        <p14:creationId xmlns:p14="http://schemas.microsoft.com/office/powerpoint/2010/main" val="243956014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4" name="Rectangle 1"/>
          <p:cNvSpPr>
            <a:spLocks noChangeArrowheads="1"/>
          </p:cNvSpPr>
          <p:nvPr/>
        </p:nvSpPr>
        <p:spPr bwMode="auto">
          <a:xfrm>
            <a:off x="407368" y="838200"/>
            <a:ext cx="11233248" cy="1077218"/>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a:r>
              <a:rPr lang="en-US" sz="3200" dirty="0">
                <a:latin typeface="Arial" pitchFamily="34" charset="0"/>
                <a:cs typeface="Arial" pitchFamily="34" charset="0"/>
              </a:rPr>
              <a:t>In Entity Relationship(ER) Model attributes can be classified into the following types.</a:t>
            </a:r>
            <a:endParaRPr lang="en-US" sz="3200" dirty="0">
              <a:latin typeface="Arial" pitchFamily="34" charset="0"/>
              <a:ea typeface="MS Mincho" pitchFamily="49" charset="-128"/>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B447163-08AF-8244-C54B-BE28D4A2D678}"/>
              </a:ext>
            </a:extLst>
          </p:cNvPr>
          <p:cNvSpPr/>
          <p:nvPr/>
        </p:nvSpPr>
        <p:spPr>
          <a:xfrm>
            <a:off x="407368" y="2383279"/>
            <a:ext cx="9955832" cy="1981825"/>
          </a:xfrm>
          <a:prstGeom prst="rect">
            <a:avLst/>
          </a:prstGeom>
          <a:solidFill>
            <a:schemeClr val="bg1"/>
          </a:solidFill>
        </p:spPr>
        <p:txBody>
          <a:bodyPr wrap="square">
            <a:spAutoFit/>
          </a:bodyPr>
          <a:lstStyle/>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cs typeface="Arial" pitchFamily="34" charset="0"/>
              </a:rPr>
              <a:t> </a:t>
            </a: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Simple/Atomic and Composite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Single Valued and Multi Valued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Stored and Derived Attributes</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Complex Attribute</a:t>
            </a:r>
          </a:p>
        </p:txBody>
      </p:sp>
      <p:sp>
        <p:nvSpPr>
          <p:cNvPr id="8" name="TextBox 7">
            <a:extLst>
              <a:ext uri="{FF2B5EF4-FFF2-40B4-BE49-F238E27FC236}">
                <a16:creationId xmlns:a16="http://schemas.microsoft.com/office/drawing/2014/main" id="{AB3C5AC8-8EE2-CF41-5BD3-CAB6C24EB602}"/>
              </a:ext>
            </a:extLst>
          </p:cNvPr>
          <p:cNvSpPr txBox="1"/>
          <p:nvPr/>
        </p:nvSpPr>
        <p:spPr>
          <a:xfrm>
            <a:off x="335360" y="5391337"/>
            <a:ext cx="11665296" cy="830997"/>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p>
          <a:p>
            <a:r>
              <a:rPr lang="en-IN" dirty="0">
                <a:latin typeface="Palatino Linotype" panose="02040502050505030304" pitchFamily="18" charset="0"/>
              </a:rPr>
              <a:t>In SQL, the same name can be used for two (or more) attributes as long as the attributes are in different relations.</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1025" name="Rectangle 1"/>
          <p:cNvSpPr>
            <a:spLocks noChangeArrowheads="1"/>
          </p:cNvSpPr>
          <p:nvPr/>
        </p:nvSpPr>
        <p:spPr bwMode="auto">
          <a:xfrm>
            <a:off x="191344" y="188640"/>
            <a:ext cx="8424936" cy="263149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Simple / Atomic Attribute       --VS--        Composite Attribute</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(Can’t be divided further)</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 be divided further)</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Single Value Attribute             --VS--        Multi Valued Attribute </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 </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(Multiple values)</a:t>
            </a:r>
          </a:p>
          <a:p>
            <a:pPr eaLnBrk="0" fontAlgn="base" hangingPunct="0">
              <a:spcBef>
                <a:spcPct val="0"/>
              </a:spcBef>
              <a:spcAft>
                <a:spcPct val="0"/>
              </a:spcAft>
            </a:pPr>
            <a:r>
              <a:rPr lang="en-US" sz="700" dirty="0">
                <a:latin typeface="Palatino Linotype" panose="02040502050505030304" pitchFamily="18" charset="0"/>
                <a:ea typeface="MS Mincho" pitchFamily="49" charset="-128"/>
                <a:cs typeface="Arial" pitchFamily="34" charset="0"/>
              </a:rPr>
              <a:t>	</a:t>
            </a: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Stored Attribute                        --VS--        Derived Attribute</a:t>
            </a:r>
            <a:endParaRPr lang="en-US" dirty="0">
              <a:latin typeface="Palatino Linotype" panose="02040502050505030304" pitchFamily="18" charset="0"/>
              <a:cs typeface="Arial" pitchFamily="34" charset="0"/>
            </a:endParaRPr>
          </a:p>
          <a:p>
            <a:pPr lvl="0"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(Virtual)</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Complex Attribute </a:t>
            </a: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(Composite &amp; Multivalued)</a:t>
            </a:r>
          </a:p>
        </p:txBody>
      </p:sp>
      <p:sp>
        <p:nvSpPr>
          <p:cNvPr id="5" name="Rectangle 4"/>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6" name="TextBox 5">
            <a:extLst>
              <a:ext uri="{FF2B5EF4-FFF2-40B4-BE49-F238E27FC236}">
                <a16:creationId xmlns:a16="http://schemas.microsoft.com/office/drawing/2014/main" id="{567DFBA1-EB48-9374-3259-4686F132EE49}"/>
              </a:ext>
            </a:extLst>
          </p:cNvPr>
          <p:cNvSpPr txBox="1"/>
          <p:nvPr/>
        </p:nvSpPr>
        <p:spPr>
          <a:xfrm>
            <a:off x="7608168" y="1035886"/>
            <a:ext cx="4487144" cy="1631216"/>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Employee ID: An employee ID can be a composite attribute, which is composed of sub-attributes such as department code, job code, and employee number.</a:t>
            </a:r>
          </a:p>
        </p:txBody>
      </p:sp>
      <p:sp>
        <p:nvSpPr>
          <p:cNvPr id="3" name="TextBox 3">
            <a:extLst>
              <a:ext uri="{FF2B5EF4-FFF2-40B4-BE49-F238E27FC236}">
                <a16:creationId xmlns:a16="http://schemas.microsoft.com/office/drawing/2014/main" id="{98E2650D-7E6C-49B9-BDC9-4E0AB7D1E25A}"/>
              </a:ext>
            </a:extLst>
          </p:cNvPr>
          <p:cNvSpPr txBox="1"/>
          <p:nvPr/>
        </p:nvSpPr>
        <p:spPr>
          <a:xfrm>
            <a:off x="191344" y="3078827"/>
            <a:ext cx="11809312" cy="366254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Atomic Attribute: </a:t>
            </a:r>
            <a:r>
              <a:rPr lang="en-US" b="0" i="0" dirty="0">
                <a:solidFill>
                  <a:srgbClr val="2F2E2E"/>
                </a:solidFill>
                <a:effectLst/>
                <a:latin typeface="Palatino Linotype" panose="02040502050505030304" pitchFamily="18" charset="0"/>
                <a:cs typeface="Arial" panose="020B0604020202020204" pitchFamily="34" charset="0"/>
              </a:rPr>
              <a:t>An attribute that cannot be divided into smaller independent attribute is known as </a:t>
            </a:r>
            <a:r>
              <a:rPr lang="en-US" dirty="0">
                <a:solidFill>
                  <a:srgbClr val="2F2E2E"/>
                </a:solidFill>
                <a:effectLst/>
                <a:latin typeface="Palatino Linotype" panose="02040502050505030304" pitchFamily="18" charset="0"/>
                <a:cs typeface="Arial" panose="020B0604020202020204" pitchFamily="34" charset="0"/>
              </a:rPr>
              <a:t>atomic attribute</a:t>
            </a:r>
            <a:r>
              <a:rPr lang="en-US" b="0" i="0" dirty="0">
                <a:solidFill>
                  <a:srgbClr val="2F2E2E"/>
                </a:solidFill>
                <a:effectLst/>
                <a:latin typeface="Palatino Linotype" panose="02040502050505030304" pitchFamily="18" charset="0"/>
                <a:cs typeface="Arial" panose="020B0604020202020204" pitchFamily="34" charset="0"/>
              </a:rPr>
              <a:t>.</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ID’s, PRN, </a:t>
            </a:r>
            <a:r>
              <a:rPr lang="en-US" b="0" i="0" dirty="0">
                <a:solidFill>
                  <a:srgbClr val="2F2E2E"/>
                </a:solidFill>
                <a:effectLst/>
                <a:latin typeface="Palatino Linotype" panose="02040502050505030304" pitchFamily="18" charset="0"/>
              </a:rPr>
              <a:t>age, gender, zip, </a:t>
            </a:r>
            <a:r>
              <a:rPr lang="en-IN" dirty="0">
                <a:solidFill>
                  <a:srgbClr val="2F2E2E"/>
                </a:solidFill>
                <a:latin typeface="Palatino Linotype" panose="02040502050505030304" pitchFamily="18" charset="0"/>
              </a:rPr>
              <a:t>marital status</a:t>
            </a:r>
            <a:r>
              <a:rPr lang="en-US" dirty="0">
                <a:solidFill>
                  <a:srgbClr val="2F2E2E"/>
                </a:solidFill>
                <a:latin typeface="Palatino Linotype" panose="02040502050505030304" pitchFamily="18" charset="0"/>
              </a:rPr>
              <a:t> cannot further divide.</a:t>
            </a:r>
          </a:p>
          <a:p>
            <a:pPr marL="273050"/>
            <a:endParaRPr lang="en-US" sz="800" dirty="0">
              <a:solidFill>
                <a:srgbClr val="2F2E2E"/>
              </a:solidFill>
              <a:latin typeface="Palatino Linotype" panose="02040502050505030304" pitchFamily="18"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Single Value Attribute: </a:t>
            </a:r>
            <a:r>
              <a:rPr lang="en-US" dirty="0">
                <a:solidFill>
                  <a:srgbClr val="2F2E2E"/>
                </a:solidFill>
                <a:latin typeface="Palatino Linotype" panose="02040502050505030304" pitchFamily="18" charset="0"/>
              </a:rPr>
              <a:t>An attribute that holds exactly one value for a given record at any point in time is known as single valued attribute. Single-valued attributes are typically used to provide a unique identifier for a record.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manufactured part can have only one serial number, voter card ID, blood group, branchID can have only one value.</a:t>
            </a:r>
          </a:p>
          <a:p>
            <a:pPr marL="273050"/>
            <a:endParaRPr lang="en-US" sz="800" dirty="0">
              <a:solidFill>
                <a:srgbClr val="2F2E2E"/>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Stored Attribute: </a:t>
            </a:r>
            <a:r>
              <a:rPr lang="en-US" dirty="0">
                <a:solidFill>
                  <a:srgbClr val="2F2E2E"/>
                </a:solidFill>
                <a:latin typeface="Palatino Linotype" panose="02040502050505030304" pitchFamily="18" charset="0"/>
              </a:rPr>
              <a:t>The stored attribute are such attributes which are already stored in the database and from which the value of another attribute is derived.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(HRA, DA…) can be derive from salary, age can be derived from </a:t>
            </a:r>
            <a:r>
              <a:rPr lang="en-US" b="0" i="0" dirty="0">
                <a:solidFill>
                  <a:srgbClr val="2F2E2E"/>
                </a:solidFill>
                <a:effectLst/>
                <a:latin typeface="Palatino Linotype" panose="02040502050505030304" pitchFamily="18" charset="0"/>
              </a:rPr>
              <a:t>DoB, t</a:t>
            </a:r>
            <a:r>
              <a:rPr lang="en-US" dirty="0">
                <a:solidFill>
                  <a:srgbClr val="2F2E2E"/>
                </a:solidFill>
                <a:latin typeface="Palatino Linotype" panose="02040502050505030304" pitchFamily="18" charset="0"/>
              </a:rPr>
              <a:t>otal marks or average marks of a student can be derived from marks, TotalPrice can be derived from Quantity × UnitPrice.</a:t>
            </a:r>
            <a:endParaRPr lang="en-IN" dirty="0">
              <a:solidFill>
                <a:srgbClr val="2F2E2E"/>
              </a:solidFill>
              <a:latin typeface="Palatino Linotype" panose="0204050205050503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Composite</a:t>
            </a:r>
            <a:r>
              <a:rPr lang="en-US" sz="4800" b="1" dirty="0">
                <a:latin typeface="Arial" pitchFamily="34" charset="0"/>
                <a:ea typeface="MS Mincho" pitchFamily="49" charset="-128"/>
                <a:cs typeface="Arial" pitchFamily="34" charset="0"/>
              </a:rPr>
              <a:t> </a:t>
            </a:r>
            <a:r>
              <a:rPr lang="en-US" sz="4800" b="1" dirty="0">
                <a:solidFill>
                  <a:srgbClr val="DC525C"/>
                </a:solidFill>
                <a:latin typeface="Segoe UI Light" panose="020B0502040204020203" pitchFamily="34" charset="0"/>
                <a:cs typeface="Segoe UI Light" panose="020B0502040204020203" pitchFamily="34" charset="0"/>
              </a:rPr>
              <a:t>VS </a:t>
            </a:r>
            <a:r>
              <a:rPr lang="en-US" sz="4800" dirty="0">
                <a:solidFill>
                  <a:srgbClr val="DC525C"/>
                </a:solidFill>
                <a:latin typeface="Segoe UI Light" panose="020B0502040204020203" pitchFamily="34" charset="0"/>
                <a:cs typeface="Segoe UI Light" panose="020B0502040204020203" pitchFamily="34" charset="0"/>
              </a:rPr>
              <a:t>Multi</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Valued</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Attribute</a:t>
            </a:r>
          </a:p>
        </p:txBody>
      </p:sp>
    </p:spTree>
    <p:extLst>
      <p:ext uri="{BB962C8B-B14F-4D97-AF65-F5344CB8AC3E}">
        <p14:creationId xmlns:p14="http://schemas.microsoft.com/office/powerpoint/2010/main" val="192350063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composite / multi valued attributes</a:t>
            </a:r>
          </a:p>
        </p:txBody>
      </p:sp>
      <p:sp>
        <p:nvSpPr>
          <p:cNvPr id="4" name="Rectangle 3"/>
          <p:cNvSpPr/>
          <p:nvPr/>
        </p:nvSpPr>
        <p:spPr>
          <a:xfrm>
            <a:off x="479377" y="44624"/>
            <a:ext cx="3130793"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Composite Attribute</a:t>
            </a:r>
            <a:endParaRPr lang="en-IN" sz="2400" dirty="0">
              <a:solidFill>
                <a:srgbClr val="2658E6"/>
              </a:solidFill>
            </a:endParaRPr>
          </a:p>
        </p:txBody>
      </p:sp>
      <p:sp>
        <p:nvSpPr>
          <p:cNvPr id="5" name="Rectangle 4"/>
          <p:cNvSpPr/>
          <p:nvPr/>
        </p:nvSpPr>
        <p:spPr>
          <a:xfrm>
            <a:off x="479376" y="4149080"/>
            <a:ext cx="3418372"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Multi Valued Attribute </a:t>
            </a:r>
            <a:endParaRPr lang="en-IN" sz="2400" dirty="0">
              <a:solidFill>
                <a:srgbClr val="2658E6"/>
              </a:solidFill>
            </a:endParaRPr>
          </a:p>
        </p:txBody>
      </p:sp>
      <p:sp>
        <p:nvSpPr>
          <p:cNvPr id="6" name="Rectangle 5"/>
          <p:cNvSpPr/>
          <p:nvPr/>
        </p:nvSpPr>
        <p:spPr>
          <a:xfrm>
            <a:off x="479376" y="548680"/>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Name</a:t>
            </a:r>
            <a:r>
              <a:rPr lang="en-IN" b="1" dirty="0">
                <a:solidFill>
                  <a:schemeClr val="bg2">
                    <a:lumMod val="50000"/>
                  </a:schemeClr>
                </a:solidFill>
                <a:latin typeface="Palatino Linotype" panose="02040502050505030304" pitchFamily="18" charset="0"/>
              </a:rPr>
              <a:t> </a:t>
            </a:r>
            <a:r>
              <a:rPr lang="en-IN" dirty="0">
                <a:latin typeface="Palatino Linotype" panose="02040502050505030304" pitchFamily="18" charset="0"/>
              </a:rPr>
              <a:t>attribute: (`firstName` + `middleName` + `lastName`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PhoneNumber</a:t>
            </a:r>
            <a:r>
              <a:rPr lang="en-IN" b="1" dirty="0">
                <a:latin typeface="Palatino Linotype" panose="02040502050505030304" pitchFamily="18" charset="0"/>
              </a:rPr>
              <a:t> </a:t>
            </a:r>
            <a:r>
              <a:rPr lang="en-IN" dirty="0">
                <a:latin typeface="Palatino Linotype" panose="02040502050505030304" pitchFamily="18" charset="0"/>
              </a:rPr>
              <a:t>attribute: (`countryCode` + `cityCode` + `phoneNumber`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Date</a:t>
            </a:r>
            <a:r>
              <a:rPr lang="en-IN" dirty="0">
                <a:latin typeface="Palatino Linotype" panose="02040502050505030304" pitchFamily="18" charset="0"/>
              </a:rPr>
              <a:t> attribute:  (`Day` + `Month` + `Year`)</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productDimensions</a:t>
            </a:r>
            <a:r>
              <a:rPr lang="en-IN" dirty="0">
                <a:latin typeface="Palatino Linotype" panose="02040502050505030304" pitchFamily="18" charset="0"/>
              </a:rPr>
              <a:t> attribute: (`Length` + `Width` + `Height`)</a:t>
            </a:r>
          </a:p>
          <a:p>
            <a:pPr marL="285750" indent="-285750">
              <a:buFont typeface="Arial" panose="020B0604020202020204" pitchFamily="34" charset="0"/>
              <a:buChar char="•"/>
            </a:pPr>
            <a:endParaRPr lang="en-IN" sz="400" b="1" i="1"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carRegistration</a:t>
            </a:r>
            <a:r>
              <a:rPr lang="en-IN" dirty="0">
                <a:latin typeface="Palatino Linotype" panose="02040502050505030304" pitchFamily="18" charset="0"/>
              </a:rPr>
              <a:t> attribute: (`State_Code` + `Series` + `Number`)</a:t>
            </a:r>
          </a:p>
        </p:txBody>
      </p:sp>
      <p:sp>
        <p:nvSpPr>
          <p:cNvPr id="7" name="Rectangle 6"/>
          <p:cNvSpPr/>
          <p:nvPr/>
        </p:nvSpPr>
        <p:spPr>
          <a:xfrm>
            <a:off x="479376" y="4653136"/>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Hobbies</a:t>
            </a:r>
            <a:r>
              <a:rPr lang="en-IN" b="1" dirty="0">
                <a:latin typeface="Palatino Linotype" panose="02040502050505030304" pitchFamily="18" charset="0"/>
              </a:rPr>
              <a:t> </a:t>
            </a:r>
            <a:r>
              <a:rPr lang="en-IN" dirty="0">
                <a:latin typeface="Palatino Linotype" panose="02040502050505030304" pitchFamily="18" charset="0"/>
              </a:rPr>
              <a:t>attribute: [ reading, hiking, hockey, skiing, photography,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SpokenLanguages</a:t>
            </a:r>
            <a:r>
              <a:rPr lang="en-IN" b="1" dirty="0">
                <a:latin typeface="Palatino Linotype" panose="02040502050505030304" pitchFamily="18" charset="0"/>
              </a:rPr>
              <a:t> </a:t>
            </a:r>
            <a:r>
              <a:rPr lang="en-IN" dirty="0">
                <a:latin typeface="Palatino Linotype" panose="02040502050505030304" pitchFamily="18" charset="0"/>
              </a:rPr>
              <a:t>attribute: [ Hindi, Marathi, Gujarati, English,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Degrees</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dirty="0">
                <a:latin typeface="Palatino Linotype" panose="02040502050505030304" pitchFamily="18" charset="0"/>
              </a:rPr>
              <a:t>: </a:t>
            </a:r>
            <a:r>
              <a:rPr lang="en-IN" dirty="0">
                <a:latin typeface="Palatino Linotype" panose="02040502050505030304" pitchFamily="18" charset="0"/>
              </a:rPr>
              <a:t>[ 10</a:t>
            </a:r>
            <a:r>
              <a:rPr lang="en-IN" baseline="30000" dirty="0">
                <a:latin typeface="Palatino Linotype" panose="02040502050505030304" pitchFamily="18" charset="0"/>
              </a:rPr>
              <a:t>th</a:t>
            </a:r>
            <a:r>
              <a:rPr lang="en-IN" dirty="0">
                <a:latin typeface="Palatino Linotype" panose="02040502050505030304" pitchFamily="18" charset="0"/>
              </a:rPr>
              <a:t>, 12</a:t>
            </a:r>
            <a:r>
              <a:rPr lang="en-IN" baseline="30000" dirty="0">
                <a:latin typeface="Palatino Linotype" panose="02040502050505030304" pitchFamily="18" charset="0"/>
              </a:rPr>
              <a:t>th</a:t>
            </a:r>
            <a:r>
              <a:rPr lang="en-IN" dirty="0">
                <a:latin typeface="Palatino Linotype" panose="02040502050505030304" pitchFamily="18" charset="0"/>
              </a:rPr>
              <a:t>, BE, ME, PhD,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emailID</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i="1" dirty="0">
                <a:latin typeface="Palatino Linotype" panose="02040502050505030304" pitchFamily="18" charset="0"/>
              </a:rPr>
              <a:t>:</a:t>
            </a:r>
            <a:r>
              <a:rPr lang="en-IN" dirty="0">
                <a:latin typeface="Palatino Linotype" panose="02040502050505030304" pitchFamily="18" charset="0"/>
              </a:rPr>
              <a:t> [ saleel@gmail.com, salil@yahoomail.com,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Skills</a:t>
            </a:r>
            <a:r>
              <a:rPr lang="en-IN" dirty="0">
                <a:latin typeface="Palatino Linotype" panose="02040502050505030304" pitchFamily="18" charset="0"/>
              </a:rPr>
              <a:t> attribute: [ MySQL, Oracle, Redis, MongoDB, Java,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p:txBody>
      </p:sp>
      <p:grpSp>
        <p:nvGrpSpPr>
          <p:cNvPr id="2" name="Group 1">
            <a:extLst>
              <a:ext uri="{FF2B5EF4-FFF2-40B4-BE49-F238E27FC236}">
                <a16:creationId xmlns:a16="http://schemas.microsoft.com/office/drawing/2014/main" id="{C89E1B55-B447-470E-AF99-30CAD90C8986}"/>
              </a:ext>
            </a:extLst>
          </p:cNvPr>
          <p:cNvGrpSpPr/>
          <p:nvPr/>
        </p:nvGrpSpPr>
        <p:grpSpPr>
          <a:xfrm>
            <a:off x="623392" y="2636913"/>
            <a:ext cx="5832648" cy="1368151"/>
            <a:chOff x="1850572" y="2570650"/>
            <a:chExt cx="7896225" cy="1536099"/>
          </a:xfrm>
        </p:grpSpPr>
        <p:pic>
          <p:nvPicPr>
            <p:cNvPr id="9" name="Picture 8"/>
            <p:cNvPicPr>
              <a:picLocks noChangeAspect="1"/>
            </p:cNvPicPr>
            <p:nvPr/>
          </p:nvPicPr>
          <p:blipFill>
            <a:blip r:embed="rId2" cstate="print"/>
            <a:stretch>
              <a:fillRect/>
            </a:stretch>
          </p:blipFill>
          <p:spPr>
            <a:xfrm>
              <a:off x="1900917" y="2570650"/>
              <a:ext cx="1543050" cy="419100"/>
            </a:xfrm>
            <a:prstGeom prst="rect">
              <a:avLst/>
            </a:prstGeom>
          </p:spPr>
        </p:pic>
        <p:pic>
          <p:nvPicPr>
            <p:cNvPr id="10" name="Picture 9"/>
            <p:cNvPicPr>
              <a:picLocks noChangeAspect="1"/>
            </p:cNvPicPr>
            <p:nvPr/>
          </p:nvPicPr>
          <p:blipFill>
            <a:blip r:embed="rId3" cstate="print"/>
            <a:stretch>
              <a:fillRect/>
            </a:stretch>
          </p:blipFill>
          <p:spPr>
            <a:xfrm>
              <a:off x="1879147" y="3165889"/>
              <a:ext cx="5819775" cy="371475"/>
            </a:xfrm>
            <a:prstGeom prst="rect">
              <a:avLst/>
            </a:prstGeom>
          </p:spPr>
        </p:pic>
        <p:pic>
          <p:nvPicPr>
            <p:cNvPr id="11" name="Picture 10"/>
            <p:cNvPicPr>
              <a:picLocks noChangeAspect="1"/>
            </p:cNvPicPr>
            <p:nvPr/>
          </p:nvPicPr>
          <p:blipFill>
            <a:blip r:embed="rId4" cstate="print"/>
            <a:stretch>
              <a:fillRect/>
            </a:stretch>
          </p:blipFill>
          <p:spPr>
            <a:xfrm>
              <a:off x="1850572" y="3735274"/>
              <a:ext cx="7896225" cy="371475"/>
            </a:xfrm>
            <a:prstGeom prst="rect">
              <a:avLst/>
            </a:prstGeom>
          </p:spPr>
        </p:pic>
        <p:cxnSp>
          <p:nvCxnSpPr>
            <p:cNvPr id="13" name="Straight Arrow Connector 12"/>
            <p:cNvCxnSpPr/>
            <p:nvPr/>
          </p:nvCxnSpPr>
          <p:spPr>
            <a:xfrm>
              <a:off x="2514600" y="2895601"/>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2514600" y="3481024"/>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a:off x="2514601" y="3060088"/>
              <a:ext cx="275282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2508188" y="3635828"/>
              <a:ext cx="3664013"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731327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10" end="1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7">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types of Keys</a:t>
            </a:r>
            <a:r>
              <a:rPr lang="en-IN" sz="4800" dirty="0">
                <a:solidFill>
                  <a:srgbClr val="DC525C"/>
                </a:solidFill>
                <a:latin typeface="Segoe UI Light" panose="020B0502040204020203" pitchFamily="34" charset="0"/>
                <a:cs typeface="Segoe UI Light" panose="020B0502040204020203" pitchFamily="34" charset="0"/>
              </a:rPr>
              <a: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10682599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p:spPr>
        <p:txBody>
          <a:bodyPr wrap="square">
            <a:spAutoFit/>
          </a:bodyPr>
          <a:lstStyle/>
          <a:p>
            <a:pPr lvl="0" algn="r">
              <a:spcBef>
                <a:spcPct val="0"/>
              </a:spcBef>
              <a:defRPr/>
            </a:pPr>
            <a:r>
              <a:rPr lang="en-US" sz="3200" i="1" dirty="0">
                <a:solidFill>
                  <a:srgbClr val="FF9900"/>
                </a:solidFill>
                <a:latin typeface="Arial" pitchFamily="34" charset="0"/>
                <a:cs typeface="Arial" pitchFamily="34" charset="0"/>
              </a:rPr>
              <a:t>types</a:t>
            </a:r>
            <a:r>
              <a:rPr lang="en-US" sz="3200" dirty="0"/>
              <a:t> </a:t>
            </a:r>
            <a:r>
              <a:rPr lang="en-US" sz="3200" i="1" dirty="0">
                <a:solidFill>
                  <a:srgbClr val="FF9900"/>
                </a:solidFill>
                <a:latin typeface="Arial" pitchFamily="34" charset="0"/>
                <a:cs typeface="Arial" pitchFamily="34" charset="0"/>
              </a:rPr>
              <a:t>of</a:t>
            </a:r>
            <a:r>
              <a:rPr lang="en-US" sz="3200" dirty="0"/>
              <a:t> </a:t>
            </a:r>
            <a:r>
              <a:rPr lang="en-US" sz="3200" i="1" dirty="0">
                <a:solidFill>
                  <a:srgbClr val="FF9900"/>
                </a:solidFill>
                <a:latin typeface="Arial" pitchFamily="34" charset="0"/>
                <a:cs typeface="Arial" pitchFamily="34" charset="0"/>
              </a:rPr>
              <a:t>Keys</a:t>
            </a:r>
            <a:r>
              <a:rPr lang="en-IN" sz="3200" i="1" dirty="0">
                <a:solidFill>
                  <a:srgbClr val="FF9900"/>
                </a:solidFill>
                <a:latin typeface="Arial" pitchFamily="34" charset="0"/>
                <a:cs typeface="Arial" pitchFamily="34" charset="0"/>
              </a:rPr>
              <a:t>?</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
        <p:nvSpPr>
          <p:cNvPr id="4" name="Rectangle 3">
            <a:extLst>
              <a:ext uri="{FF2B5EF4-FFF2-40B4-BE49-F238E27FC236}">
                <a16:creationId xmlns:a16="http://schemas.microsoft.com/office/drawing/2014/main" id="{4978F73A-C0FE-6045-2DBD-29B7C3761F10}"/>
              </a:ext>
            </a:extLst>
          </p:cNvPr>
          <p:cNvSpPr/>
          <p:nvPr/>
        </p:nvSpPr>
        <p:spPr>
          <a:xfrm>
            <a:off x="143904" y="1954617"/>
            <a:ext cx="11856751" cy="4801314"/>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or EmployeeID + deptno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 Ensures data uniqueness in many-to-many relationships. </a:t>
            </a:r>
            <a:r>
              <a:rPr lang="en-US" dirty="0">
                <a:solidFill>
                  <a:srgbClr val="FF0000"/>
                </a:solidFill>
                <a:latin typeface="Palatino Linotype" panose="02040502050505030304" pitchFamily="18" charset="0"/>
                <a:cs typeface="Arial" panose="020B0604020202020204" pitchFamily="34" charset="0"/>
              </a:rPr>
              <a:t>e.g.</a:t>
            </a:r>
            <a:r>
              <a:rPr lang="en-US" dirty="0">
                <a:solidFill>
                  <a:schemeClr val="tx1">
                    <a:lumMod val="65000"/>
                    <a:lumOff val="35000"/>
                  </a:schemeClr>
                </a:solidFill>
                <a:latin typeface="Palatino Linotype" panose="02040502050505030304" pitchFamily="18" charset="0"/>
                <a:cs typeface="Arial" panose="020B0604020202020204" pitchFamily="34" charset="0"/>
              </a:rPr>
              <a:t> in </a:t>
            </a:r>
            <a:r>
              <a:rPr lang="en-IN" dirty="0">
                <a:latin typeface="Palatino Linotype" panose="02040502050505030304" pitchFamily="18" charset="0"/>
              </a:rPr>
              <a:t>order_details </a:t>
            </a:r>
            <a:r>
              <a:rPr lang="en-IN" dirty="0">
                <a:solidFill>
                  <a:schemeClr val="tx1">
                    <a:lumMod val="65000"/>
                    <a:lumOff val="35000"/>
                  </a:schemeClr>
                </a:solidFill>
                <a:latin typeface="Palatino Linotype" panose="02040502050505030304" pitchFamily="18" charset="0"/>
                <a:cs typeface="Arial" panose="020B0604020202020204" pitchFamily="34" charset="0"/>
              </a:rPr>
              <a:t>table</a:t>
            </a:r>
            <a:r>
              <a:rPr lang="en-US" dirty="0">
                <a:solidFill>
                  <a:schemeClr val="tx1">
                    <a:lumMod val="65000"/>
                    <a:lumOff val="35000"/>
                  </a:schemeClr>
                </a:solidFill>
                <a:latin typeface="Palatino Linotype" panose="02040502050505030304" pitchFamily="18" charset="0"/>
                <a:cs typeface="Arial" panose="020B0604020202020204" pitchFamily="34" charset="0"/>
              </a:rPr>
              <a:t> we can have multiple products  </a:t>
            </a:r>
            <a:r>
              <a:rPr lang="en-IN" dirty="0">
                <a:latin typeface="Palatino Linotype" panose="02040502050505030304" pitchFamily="18" charset="0"/>
              </a:rPr>
              <a:t>OrderID + ProductID</a:t>
            </a: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08269674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8707610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 Prime, Non-Prime Attribute?</a:t>
            </a:r>
          </a:p>
        </p:txBody>
      </p:sp>
    </p:spTree>
    <p:extLst>
      <p:ext uri="{BB962C8B-B14F-4D97-AF65-F5344CB8AC3E}">
        <p14:creationId xmlns:p14="http://schemas.microsoft.com/office/powerpoint/2010/main" val="74770426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9E024B5-30E2-68A2-E593-B46147DFDB7E}"/>
              </a:ext>
            </a:extLst>
          </p:cNvPr>
          <p:cNvSpPr/>
          <p:nvPr/>
        </p:nvSpPr>
        <p:spPr>
          <a:xfrm>
            <a:off x="263352" y="840769"/>
            <a:ext cx="11665296" cy="5478423"/>
          </a:xfrm>
          <a:prstGeom prst="rect">
            <a:avLst/>
          </a:prstGeom>
        </p:spPr>
        <p:txBody>
          <a:bodyPr wrap="square">
            <a:spAutoFit/>
          </a:bodyPr>
          <a:lstStyle/>
          <a:p>
            <a:r>
              <a:rPr lang="en-IN" sz="2400" b="1" u="sng" dirty="0">
                <a:solidFill>
                  <a:schemeClr val="accent6">
                    <a:lumMod val="50000"/>
                  </a:schemeClr>
                </a:solidFill>
                <a:latin typeface="Palatino Linotype" panose="02040502050505030304" pitchFamily="18" charset="0"/>
                <a:cs typeface="Arial" panose="020B0604020202020204" pitchFamily="34" charset="0"/>
              </a:rPr>
              <a:t>Prime attribute</a:t>
            </a:r>
            <a:r>
              <a:rPr lang="en-IN" sz="2400" b="1" dirty="0">
                <a:solidFill>
                  <a:schemeClr val="bg2">
                    <a:lumMod val="50000"/>
                  </a:schemeClr>
                </a:solidFill>
                <a:latin typeface="Palatino Linotype" panose="02040502050505030304" pitchFamily="18" charset="0"/>
                <a:cs typeface="Arial" panose="020B0604020202020204" pitchFamily="34" charset="0"/>
              </a:rPr>
              <a:t> </a:t>
            </a:r>
            <a:r>
              <a:rPr lang="en-IN" sz="2400" dirty="0">
                <a:solidFill>
                  <a:schemeClr val="accent6">
                    <a:lumMod val="50000"/>
                  </a:schemeClr>
                </a:solidFill>
                <a:latin typeface="Palatino Linotype" panose="02040502050505030304" pitchFamily="18" charset="0"/>
                <a:cs typeface="Arial" panose="020B0604020202020204" pitchFamily="34" charset="0"/>
              </a:rPr>
              <a:t>(</a:t>
            </a:r>
            <a:r>
              <a:rPr lang="en-IN" sz="2400" i="1" dirty="0">
                <a:solidFill>
                  <a:schemeClr val="accent6">
                    <a:lumMod val="50000"/>
                  </a:schemeClr>
                </a:solidFill>
                <a:latin typeface="Palatino Linotype" panose="02040502050505030304" pitchFamily="18" charset="0"/>
              </a:rPr>
              <a:t>Entity</a:t>
            </a:r>
            <a:r>
              <a:rPr lang="en-IN" sz="2400" dirty="0">
                <a:solidFill>
                  <a:schemeClr val="accent6">
                    <a:lumMod val="50000"/>
                  </a:schemeClr>
                </a:solidFill>
                <a:latin typeface="Palatino Linotype" panose="02040502050505030304" pitchFamily="18" charset="0"/>
              </a:rPr>
              <a:t> </a:t>
            </a:r>
            <a:r>
              <a:rPr lang="en-IN" sz="2400" i="1" dirty="0">
                <a:solidFill>
                  <a:schemeClr val="accent6">
                    <a:lumMod val="50000"/>
                  </a:schemeClr>
                </a:solidFill>
                <a:latin typeface="Palatino Linotype" panose="02040502050505030304" pitchFamily="18" charset="0"/>
              </a:rPr>
              <a:t>integrity</a:t>
            </a:r>
            <a:r>
              <a:rPr lang="en-IN" sz="2400" dirty="0">
                <a:solidFill>
                  <a:schemeClr val="accent6">
                    <a:lumMod val="50000"/>
                  </a:schemeClr>
                </a:solidFill>
                <a:latin typeface="Palatino Linotype" panose="02040502050505030304" pitchFamily="18" charset="0"/>
              </a:rPr>
              <a:t>):- </a:t>
            </a:r>
            <a:r>
              <a:rPr lang="en-IN" sz="2000" dirty="0">
                <a:latin typeface="Palatino Linotype" panose="02040502050505030304" pitchFamily="18" charset="0"/>
                <a:cs typeface="Arial" panose="020B0604020202020204" pitchFamily="34" charset="0"/>
              </a:rPr>
              <a:t>An attribute, which is a </a:t>
            </a:r>
            <a:r>
              <a:rPr lang="en-IN" sz="2000" b="1" dirty="0">
                <a:solidFill>
                  <a:srgbClr val="C00000"/>
                </a:solidFill>
                <a:latin typeface="Palatino Linotype" panose="02040502050505030304" pitchFamily="18" charset="0"/>
                <a:cs typeface="Arial" panose="020B0604020202020204" pitchFamily="34" charset="0"/>
              </a:rPr>
              <a:t>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known as a 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Consider a relation Student(StudentID, Name, Email, Phone).</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 (since they are part of a Candidate Key).</a:t>
            </a:r>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r>
              <a:rPr lang="en-IN" sz="2400" b="1" u="sng" dirty="0">
                <a:solidFill>
                  <a:schemeClr val="accent6">
                    <a:lumMod val="50000"/>
                  </a:schemeClr>
                </a:solidFill>
                <a:latin typeface="Palatino Linotype" panose="02040502050505030304" pitchFamily="18" charset="0"/>
                <a:cs typeface="Arial" panose="020B0604020202020204" pitchFamily="34" charset="0"/>
              </a:rPr>
              <a:t>Non-prime attribute</a:t>
            </a:r>
            <a:r>
              <a:rPr lang="en-IN" sz="2400" b="1" dirty="0">
                <a:solidFill>
                  <a:schemeClr val="accent6">
                    <a:lumMod val="50000"/>
                  </a:schemeClr>
                </a:solidFill>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An attribute, which is </a:t>
            </a:r>
            <a:r>
              <a:rPr lang="en-IN" sz="2000" b="1" dirty="0">
                <a:solidFill>
                  <a:srgbClr val="C00000"/>
                </a:solidFill>
                <a:latin typeface="Palatino Linotype" panose="02040502050505030304" pitchFamily="18" charset="0"/>
                <a:cs typeface="Arial" panose="020B0604020202020204" pitchFamily="34" charset="0"/>
              </a:rPr>
              <a:t>not a 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said to be a non-prime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In the Student(StudentID, Name, Email, Phone) relation:</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 </a:t>
            </a:r>
            <a:r>
              <a:rPr lang="en-US" sz="2000" dirty="0">
                <a:latin typeface="Palatino Linotype" panose="02040502050505030304" pitchFamily="18" charset="0"/>
                <a:cs typeface="Arial" panose="020B0604020202020204" pitchFamily="34" charset="0"/>
              </a:rPr>
              <a:t>{StudentID},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Non-Prime Attribute:</a:t>
            </a:r>
            <a:r>
              <a:rPr lang="en-US" sz="2000" dirty="0">
                <a:latin typeface="Palatino Linotype" panose="02040502050505030304" pitchFamily="18" charset="0"/>
                <a:cs typeface="Arial" panose="020B0604020202020204" pitchFamily="34" charset="0"/>
              </a:rPr>
              <a:t> Name (because it is not part of any Candidate Key).</a:t>
            </a:r>
            <a:endParaRPr lang="en-IN" sz="2000"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48396811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Entity Relationship Diagram Symbols </a:t>
            </a:r>
          </a:p>
        </p:txBody>
      </p:sp>
    </p:spTree>
    <p:extLst>
      <p:ext uri="{BB962C8B-B14F-4D97-AF65-F5344CB8AC3E}">
        <p14:creationId xmlns:p14="http://schemas.microsoft.com/office/powerpoint/2010/main" val="415138968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 symbols</a:t>
            </a:r>
          </a:p>
        </p:txBody>
      </p:sp>
      <p:grpSp>
        <p:nvGrpSpPr>
          <p:cNvPr id="4" name="Group 4"/>
          <p:cNvGrpSpPr>
            <a:grpSpLocks/>
          </p:cNvGrpSpPr>
          <p:nvPr/>
        </p:nvGrpSpPr>
        <p:grpSpPr bwMode="auto">
          <a:xfrm>
            <a:off x="1567880" y="5105400"/>
            <a:ext cx="1905000" cy="914400"/>
            <a:chOff x="4430" y="11685"/>
            <a:chExt cx="2310" cy="960"/>
          </a:xfrm>
        </p:grpSpPr>
        <p:sp>
          <p:nvSpPr>
            <p:cNvPr id="59397" name="Oval 5"/>
            <p:cNvSpPr>
              <a:spLocks noChangeArrowheads="1"/>
            </p:cNvSpPr>
            <p:nvPr/>
          </p:nvSpPr>
          <p:spPr bwMode="auto">
            <a:xfrm>
              <a:off x="4430" y="11685"/>
              <a:ext cx="2310" cy="960"/>
            </a:xfrm>
            <a:prstGeom prst="ellipse">
              <a:avLst/>
            </a:prstGeom>
            <a:solidFill>
              <a:srgbClr val="FFFFFF"/>
            </a:solidFill>
            <a:ln w="57150" cmpd="dbl">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398" name="Text Box 6"/>
            <p:cNvSpPr txBox="1">
              <a:spLocks noChangeArrowheads="1"/>
            </p:cNvSpPr>
            <p:nvPr/>
          </p:nvSpPr>
          <p:spPr bwMode="auto">
            <a:xfrm>
              <a:off x="4747" y="11841"/>
              <a:ext cx="1763"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Multivalued Attribute</a:t>
              </a:r>
              <a:endParaRPr lang="en-US" sz="2800" dirty="0">
                <a:latin typeface="Arial" pitchFamily="34" charset="0"/>
                <a:cs typeface="Arial" pitchFamily="34" charset="0"/>
              </a:endParaRPr>
            </a:p>
          </p:txBody>
        </p:sp>
      </p:grpSp>
      <p:grpSp>
        <p:nvGrpSpPr>
          <p:cNvPr id="5" name="Group 10"/>
          <p:cNvGrpSpPr>
            <a:grpSpLocks/>
          </p:cNvGrpSpPr>
          <p:nvPr/>
        </p:nvGrpSpPr>
        <p:grpSpPr bwMode="auto">
          <a:xfrm>
            <a:off x="1472630" y="3886200"/>
            <a:ext cx="2000250" cy="914400"/>
            <a:chOff x="4395" y="5490"/>
            <a:chExt cx="2310" cy="960"/>
          </a:xfrm>
        </p:grpSpPr>
        <p:sp>
          <p:nvSpPr>
            <p:cNvPr id="59403" name="Oval 11"/>
            <p:cNvSpPr>
              <a:spLocks noChangeArrowheads="1"/>
            </p:cNvSpPr>
            <p:nvPr/>
          </p:nvSpPr>
          <p:spPr bwMode="auto">
            <a:xfrm>
              <a:off x="4395" y="5490"/>
              <a:ext cx="2310" cy="960"/>
            </a:xfrm>
            <a:prstGeom prst="ellipse">
              <a:avLst/>
            </a:prstGeom>
            <a:solidFill>
              <a:srgbClr val="FFFFFF"/>
            </a:solidFill>
            <a:ln w="44450">
              <a:solidFill>
                <a:schemeClr val="tx1"/>
              </a:solidFill>
              <a:prstDash val="dash"/>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4" name="Text Box 12"/>
            <p:cNvSpPr txBox="1">
              <a:spLocks noChangeArrowheads="1"/>
            </p:cNvSpPr>
            <p:nvPr/>
          </p:nvSpPr>
          <p:spPr bwMode="auto">
            <a:xfrm>
              <a:off x="4826" y="5611"/>
              <a:ext cx="1535"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Derived Attribute</a:t>
              </a:r>
              <a:endParaRPr lang="en-US" sz="2800" dirty="0">
                <a:latin typeface="Arial" pitchFamily="34" charset="0"/>
                <a:cs typeface="Arial" pitchFamily="34" charset="0"/>
              </a:endParaRPr>
            </a:p>
          </p:txBody>
        </p:sp>
      </p:grpSp>
      <p:grpSp>
        <p:nvGrpSpPr>
          <p:cNvPr id="6" name="Group 13"/>
          <p:cNvGrpSpPr>
            <a:grpSpLocks/>
          </p:cNvGrpSpPr>
          <p:nvPr/>
        </p:nvGrpSpPr>
        <p:grpSpPr bwMode="auto">
          <a:xfrm>
            <a:off x="6019800" y="1295400"/>
            <a:ext cx="3124200" cy="1600200"/>
            <a:chOff x="5249" y="8164"/>
            <a:chExt cx="3886" cy="2206"/>
          </a:xfrm>
        </p:grpSpPr>
        <p:sp>
          <p:nvSpPr>
            <p:cNvPr id="59406" name="Oval 14"/>
            <p:cNvSpPr>
              <a:spLocks noChangeArrowheads="1"/>
            </p:cNvSpPr>
            <p:nvPr/>
          </p:nvSpPr>
          <p:spPr bwMode="auto">
            <a:xfrm>
              <a:off x="5249" y="880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7" name="Text Box 15"/>
            <p:cNvSpPr txBox="1">
              <a:spLocks noChangeArrowheads="1"/>
            </p:cNvSpPr>
            <p:nvPr/>
          </p:nvSpPr>
          <p:spPr bwMode="auto">
            <a:xfrm>
              <a:off x="5704" y="8900"/>
              <a:ext cx="1535" cy="806"/>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sz="1600" b="1" i="1" dirty="0">
                  <a:latin typeface="Cambria" pitchFamily="18" charset="0"/>
                  <a:cs typeface="Arial" pitchFamily="34" charset="0"/>
                </a:rPr>
                <a:t>Composite Attribute</a:t>
              </a:r>
              <a:endParaRPr lang="en-US" sz="2400" dirty="0">
                <a:latin typeface="Arial" pitchFamily="34" charset="0"/>
                <a:cs typeface="Arial" pitchFamily="34" charset="0"/>
              </a:endParaRPr>
            </a:p>
          </p:txBody>
        </p:sp>
        <p:sp>
          <p:nvSpPr>
            <p:cNvPr id="59408" name="Oval 16"/>
            <p:cNvSpPr>
              <a:spLocks noChangeArrowheads="1"/>
            </p:cNvSpPr>
            <p:nvPr/>
          </p:nvSpPr>
          <p:spPr bwMode="auto">
            <a:xfrm>
              <a:off x="7739" y="8900"/>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9" name="Oval 17"/>
            <p:cNvSpPr>
              <a:spLocks noChangeArrowheads="1"/>
            </p:cNvSpPr>
            <p:nvPr/>
          </p:nvSpPr>
          <p:spPr bwMode="auto">
            <a:xfrm>
              <a:off x="7215" y="816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0" name="Oval 18"/>
            <p:cNvSpPr>
              <a:spLocks noChangeArrowheads="1"/>
            </p:cNvSpPr>
            <p:nvPr/>
          </p:nvSpPr>
          <p:spPr bwMode="auto">
            <a:xfrm>
              <a:off x="7215" y="968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cxnSp>
          <p:nvCxnSpPr>
            <p:cNvPr id="59411" name="AutoShape 19"/>
            <p:cNvCxnSpPr>
              <a:cxnSpLocks noChangeShapeType="1"/>
            </p:cNvCxnSpPr>
            <p:nvPr/>
          </p:nvCxnSpPr>
          <p:spPr bwMode="auto">
            <a:xfrm flipV="1">
              <a:off x="7305" y="8798"/>
              <a:ext cx="165" cy="196"/>
            </a:xfrm>
            <a:prstGeom prst="straightConnector1">
              <a:avLst/>
            </a:prstGeom>
            <a:noFill/>
            <a:ln w="9525">
              <a:solidFill>
                <a:srgbClr val="000000"/>
              </a:solidFill>
              <a:round/>
              <a:headEnd/>
              <a:tailEnd/>
            </a:ln>
            <a:effectLst/>
          </p:spPr>
        </p:cxnSp>
        <p:cxnSp>
          <p:nvCxnSpPr>
            <p:cNvPr id="59412" name="AutoShape 20"/>
            <p:cNvCxnSpPr>
              <a:cxnSpLocks noChangeShapeType="1"/>
            </p:cNvCxnSpPr>
            <p:nvPr/>
          </p:nvCxnSpPr>
          <p:spPr bwMode="auto">
            <a:xfrm>
              <a:off x="7545" y="9234"/>
              <a:ext cx="165" cy="0"/>
            </a:xfrm>
            <a:prstGeom prst="straightConnector1">
              <a:avLst/>
            </a:prstGeom>
            <a:noFill/>
            <a:ln w="9525">
              <a:solidFill>
                <a:srgbClr val="000000"/>
              </a:solidFill>
              <a:round/>
              <a:headEnd/>
              <a:tailEnd/>
            </a:ln>
            <a:effectLst/>
          </p:spPr>
        </p:cxnSp>
        <p:cxnSp>
          <p:nvCxnSpPr>
            <p:cNvPr id="59413" name="AutoShape 21"/>
            <p:cNvCxnSpPr>
              <a:cxnSpLocks noChangeShapeType="1"/>
            </p:cNvCxnSpPr>
            <p:nvPr/>
          </p:nvCxnSpPr>
          <p:spPr bwMode="auto">
            <a:xfrm flipH="1" flipV="1">
              <a:off x="7215" y="9654"/>
              <a:ext cx="255" cy="111"/>
            </a:xfrm>
            <a:prstGeom prst="straightConnector1">
              <a:avLst/>
            </a:prstGeom>
            <a:noFill/>
            <a:ln w="9525">
              <a:solidFill>
                <a:srgbClr val="000000"/>
              </a:solidFill>
              <a:round/>
              <a:headEnd/>
              <a:tailEnd/>
            </a:ln>
            <a:effectLst/>
          </p:spPr>
        </p:cxnSp>
      </p:grpSp>
      <p:grpSp>
        <p:nvGrpSpPr>
          <p:cNvPr id="7" name="Group 22"/>
          <p:cNvGrpSpPr>
            <a:grpSpLocks/>
          </p:cNvGrpSpPr>
          <p:nvPr/>
        </p:nvGrpSpPr>
        <p:grpSpPr bwMode="auto">
          <a:xfrm>
            <a:off x="1472630" y="2667000"/>
            <a:ext cx="2000250" cy="914400"/>
            <a:chOff x="4565" y="12915"/>
            <a:chExt cx="2310" cy="960"/>
          </a:xfrm>
        </p:grpSpPr>
        <p:sp>
          <p:nvSpPr>
            <p:cNvPr id="59415" name="Oval 23"/>
            <p:cNvSpPr>
              <a:spLocks noChangeArrowheads="1"/>
            </p:cNvSpPr>
            <p:nvPr/>
          </p:nvSpPr>
          <p:spPr bwMode="auto">
            <a:xfrm>
              <a:off x="4565" y="1291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6" name="Text Box 24"/>
            <p:cNvSpPr txBox="1">
              <a:spLocks noChangeArrowheads="1"/>
            </p:cNvSpPr>
            <p:nvPr/>
          </p:nvSpPr>
          <p:spPr bwMode="auto">
            <a:xfrm>
              <a:off x="4826" y="13198"/>
              <a:ext cx="191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u="heavy" dirty="0">
                  <a:uFill>
                    <a:solidFill>
                      <a:srgbClr val="FF0000"/>
                    </a:solidFill>
                  </a:uFill>
                  <a:latin typeface="Cambria" pitchFamily="18" charset="0"/>
                  <a:cs typeface="Arial" pitchFamily="34" charset="0"/>
                </a:rPr>
                <a:t>Key Attribute</a:t>
              </a:r>
              <a:endParaRPr lang="en-US" sz="2800" u="heavy" dirty="0">
                <a:uFill>
                  <a:solidFill>
                    <a:srgbClr val="FF0000"/>
                  </a:solidFill>
                </a:uFill>
                <a:latin typeface="Arial" pitchFamily="34" charset="0"/>
                <a:cs typeface="Arial" pitchFamily="34" charset="0"/>
              </a:endParaRPr>
            </a:p>
          </p:txBody>
        </p:sp>
      </p:grpSp>
      <p:grpSp>
        <p:nvGrpSpPr>
          <p:cNvPr id="8" name="Group 1"/>
          <p:cNvGrpSpPr>
            <a:grpSpLocks/>
          </p:cNvGrpSpPr>
          <p:nvPr/>
        </p:nvGrpSpPr>
        <p:grpSpPr bwMode="auto">
          <a:xfrm>
            <a:off x="1415480" y="1447800"/>
            <a:ext cx="2152650" cy="914400"/>
            <a:chOff x="1246" y="11760"/>
            <a:chExt cx="2310" cy="960"/>
          </a:xfrm>
        </p:grpSpPr>
        <p:sp>
          <p:nvSpPr>
            <p:cNvPr id="30" name="Oval 2"/>
            <p:cNvSpPr>
              <a:spLocks noChangeArrowheads="1"/>
            </p:cNvSpPr>
            <p:nvPr/>
          </p:nvSpPr>
          <p:spPr bwMode="auto">
            <a:xfrm>
              <a:off x="1246" y="11760"/>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1" name="Text Box 3"/>
            <p:cNvSpPr txBox="1">
              <a:spLocks noChangeArrowheads="1"/>
            </p:cNvSpPr>
            <p:nvPr/>
          </p:nvSpPr>
          <p:spPr bwMode="auto">
            <a:xfrm>
              <a:off x="1676" y="12003"/>
              <a:ext cx="153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Attribute</a:t>
              </a:r>
              <a:endParaRPr lang="en-US" sz="1600" dirty="0">
                <a:latin typeface="Arial" pitchFamily="34" charset="0"/>
                <a:cs typeface="Arial" pitchFamily="34" charset="0"/>
              </a:endParaRPr>
            </a:p>
          </p:txBody>
        </p:sp>
      </p:grpSp>
      <p:grpSp>
        <p:nvGrpSpPr>
          <p:cNvPr id="9" name="Group 25"/>
          <p:cNvGrpSpPr>
            <a:grpSpLocks/>
          </p:cNvGrpSpPr>
          <p:nvPr/>
        </p:nvGrpSpPr>
        <p:grpSpPr bwMode="auto">
          <a:xfrm>
            <a:off x="7772400" y="3429000"/>
            <a:ext cx="1905000" cy="762000"/>
            <a:chOff x="4550" y="10246"/>
            <a:chExt cx="2505" cy="855"/>
          </a:xfrm>
        </p:grpSpPr>
        <p:sp>
          <p:nvSpPr>
            <p:cNvPr id="59418" name="Rectangle 26"/>
            <p:cNvSpPr>
              <a:spLocks noChangeArrowheads="1"/>
            </p:cNvSpPr>
            <p:nvPr/>
          </p:nvSpPr>
          <p:spPr bwMode="auto">
            <a:xfrm>
              <a:off x="4550" y="10246"/>
              <a:ext cx="2505" cy="855"/>
            </a:xfrm>
            <a:prstGeom prst="rect">
              <a:avLst/>
            </a:prstGeom>
            <a:solidFill>
              <a:srgbClr val="FFFFFF"/>
            </a:solidFill>
            <a:ln w="5715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9" name="Text Box 27"/>
            <p:cNvSpPr txBox="1">
              <a:spLocks noChangeArrowheads="1"/>
            </p:cNvSpPr>
            <p:nvPr/>
          </p:nvSpPr>
          <p:spPr bwMode="auto">
            <a:xfrm>
              <a:off x="4825" y="10411"/>
              <a:ext cx="2030"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Weak Entity</a:t>
              </a:r>
              <a:endParaRPr lang="en-US" sz="2800" dirty="0">
                <a:latin typeface="Arial" pitchFamily="34" charset="0"/>
                <a:cs typeface="Arial" pitchFamily="34" charset="0"/>
              </a:endParaRPr>
            </a:p>
          </p:txBody>
        </p:sp>
      </p:grpSp>
      <p:grpSp>
        <p:nvGrpSpPr>
          <p:cNvPr id="10" name="Group 28"/>
          <p:cNvGrpSpPr>
            <a:grpSpLocks/>
          </p:cNvGrpSpPr>
          <p:nvPr/>
        </p:nvGrpSpPr>
        <p:grpSpPr bwMode="auto">
          <a:xfrm>
            <a:off x="5638800" y="3429000"/>
            <a:ext cx="1905000" cy="762000"/>
            <a:chOff x="1051" y="10005"/>
            <a:chExt cx="2505" cy="855"/>
          </a:xfrm>
        </p:grpSpPr>
        <p:sp>
          <p:nvSpPr>
            <p:cNvPr id="59421" name="Rectangle 29"/>
            <p:cNvSpPr>
              <a:spLocks noChangeArrowheads="1"/>
            </p:cNvSpPr>
            <p:nvPr/>
          </p:nvSpPr>
          <p:spPr bwMode="auto">
            <a:xfrm>
              <a:off x="1051" y="10005"/>
              <a:ext cx="2505" cy="855"/>
            </a:xfrm>
            <a:prstGeom prst="rect">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2" name="Text Box 30"/>
            <p:cNvSpPr txBox="1">
              <a:spLocks noChangeArrowheads="1"/>
            </p:cNvSpPr>
            <p:nvPr/>
          </p:nvSpPr>
          <p:spPr bwMode="auto">
            <a:xfrm>
              <a:off x="1210" y="10186"/>
              <a:ext cx="2246"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Strong Entity</a:t>
              </a:r>
              <a:endParaRPr lang="en-US" sz="2800" dirty="0">
                <a:latin typeface="Arial" pitchFamily="34" charset="0"/>
                <a:cs typeface="Arial" pitchFamily="34" charset="0"/>
              </a:endParaRPr>
            </a:p>
          </p:txBody>
        </p:sp>
      </p:grpSp>
      <p:grpSp>
        <p:nvGrpSpPr>
          <p:cNvPr id="11" name="Group 31"/>
          <p:cNvGrpSpPr>
            <a:grpSpLocks/>
          </p:cNvGrpSpPr>
          <p:nvPr/>
        </p:nvGrpSpPr>
        <p:grpSpPr bwMode="auto">
          <a:xfrm>
            <a:off x="5486400" y="4648200"/>
            <a:ext cx="2114550" cy="1295400"/>
            <a:chOff x="2588" y="6440"/>
            <a:chExt cx="2129" cy="1720"/>
          </a:xfrm>
        </p:grpSpPr>
        <p:sp>
          <p:nvSpPr>
            <p:cNvPr id="59424" name="AutoShape 32"/>
            <p:cNvSpPr>
              <a:spLocks noChangeArrowheads="1"/>
            </p:cNvSpPr>
            <p:nvPr/>
          </p:nvSpPr>
          <p:spPr bwMode="auto">
            <a:xfrm>
              <a:off x="2588" y="6440"/>
              <a:ext cx="2129" cy="1720"/>
            </a:xfrm>
            <a:prstGeom prst="flowChartDecision">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5" name="Text Box 33"/>
            <p:cNvSpPr txBox="1">
              <a:spLocks noChangeArrowheads="1"/>
            </p:cNvSpPr>
            <p:nvPr/>
          </p:nvSpPr>
          <p:spPr bwMode="auto">
            <a:xfrm>
              <a:off x="2704" y="7055"/>
              <a:ext cx="1856" cy="430"/>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Relationship</a:t>
              </a:r>
              <a:endParaRPr lang="en-US" sz="2800" dirty="0">
                <a:latin typeface="Arial" pitchFamily="34" charset="0"/>
                <a:cs typeface="Arial" pitchFamily="34" charset="0"/>
              </a:endParaRPr>
            </a:p>
          </p:txBody>
        </p:sp>
      </p:grpSp>
      <p:grpSp>
        <p:nvGrpSpPr>
          <p:cNvPr id="12" name="Group 34"/>
          <p:cNvGrpSpPr>
            <a:grpSpLocks/>
          </p:cNvGrpSpPr>
          <p:nvPr/>
        </p:nvGrpSpPr>
        <p:grpSpPr bwMode="auto">
          <a:xfrm>
            <a:off x="7942262" y="4648200"/>
            <a:ext cx="2268538" cy="1219200"/>
            <a:chOff x="5865" y="6561"/>
            <a:chExt cx="2131" cy="1764"/>
          </a:xfrm>
        </p:grpSpPr>
        <p:sp>
          <p:nvSpPr>
            <p:cNvPr id="59427" name="AutoShape 35"/>
            <p:cNvSpPr>
              <a:spLocks noChangeArrowheads="1"/>
            </p:cNvSpPr>
            <p:nvPr/>
          </p:nvSpPr>
          <p:spPr bwMode="auto">
            <a:xfrm>
              <a:off x="5865" y="6561"/>
              <a:ext cx="2131" cy="1764"/>
            </a:xfrm>
            <a:prstGeom prst="flowChartDecision">
              <a:avLst/>
            </a:prstGeom>
            <a:solidFill>
              <a:srgbClr val="FFFFFF"/>
            </a:solidFill>
            <a:ln w="6350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8" name="Text Box 36"/>
            <p:cNvSpPr txBox="1">
              <a:spLocks noChangeArrowheads="1"/>
            </p:cNvSpPr>
            <p:nvPr/>
          </p:nvSpPr>
          <p:spPr bwMode="auto">
            <a:xfrm>
              <a:off x="6018" y="6855"/>
              <a:ext cx="1825" cy="803"/>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Weak Relationship</a:t>
              </a:r>
              <a:endParaRPr lang="en-US" sz="2800" dirty="0">
                <a:latin typeface="Arial" pitchFamily="34" charset="0"/>
                <a:cs typeface="Arial" pitchFamily="34" charset="0"/>
              </a:endParaRPr>
            </a:p>
          </p:txBody>
        </p:sp>
      </p:grpSp>
      <p:grpSp>
        <p:nvGrpSpPr>
          <p:cNvPr id="13" name="Group 48"/>
          <p:cNvGrpSpPr/>
          <p:nvPr/>
        </p:nvGrpSpPr>
        <p:grpSpPr>
          <a:xfrm>
            <a:off x="551384" y="1143000"/>
            <a:ext cx="10945216" cy="5121434"/>
            <a:chOff x="532606" y="1143000"/>
            <a:chExt cx="8138954" cy="5121434"/>
          </a:xfrm>
        </p:grpSpPr>
        <p:cxnSp>
          <p:nvCxnSpPr>
            <p:cNvPr id="33" name="Straight Connector 32"/>
            <p:cNvCxnSpPr/>
            <p:nvPr/>
          </p:nvCxnSpPr>
          <p:spPr>
            <a:xfrm rot="5400000">
              <a:off x="-2026920" y="3703320"/>
              <a:ext cx="5120640" cy="1588"/>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a:off x="533400" y="1143000"/>
              <a:ext cx="81381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2" name="TextBox 4">
            <a:extLst>
              <a:ext uri="{FF2B5EF4-FFF2-40B4-BE49-F238E27FC236}">
                <a16:creationId xmlns:a16="http://schemas.microsoft.com/office/drawing/2014/main" id="{F751A2D5-5197-47C4-85D2-95A855B71848}"/>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sp>
        <p:nvSpPr>
          <p:cNvPr id="4" name="Rectangle 3">
            <a:extLst>
              <a:ext uri="{FF2B5EF4-FFF2-40B4-BE49-F238E27FC236}">
                <a16:creationId xmlns:a16="http://schemas.microsoft.com/office/drawing/2014/main" id="{7EAC3D1F-F685-55C9-173D-6CB3BF2E8926}"/>
              </a:ext>
            </a:extLst>
          </p:cNvPr>
          <p:cNvSpPr/>
          <p:nvPr/>
        </p:nvSpPr>
        <p:spPr>
          <a:xfrm>
            <a:off x="191344" y="964777"/>
            <a:ext cx="11737304" cy="2246769"/>
          </a:xfrm>
          <a:prstGeom prst="rect">
            <a:avLst/>
          </a:prstGeom>
        </p:spPr>
        <p:txBody>
          <a:bodyPr wrap="square">
            <a:spAutoFit/>
          </a:bodyPr>
          <a:lstStyle/>
          <a:p>
            <a:r>
              <a:rPr lang="en-IN" sz="2000" b="1" dirty="0">
                <a:latin typeface="Palatino Linotype" panose="02040502050505030304" pitchFamily="18" charset="0"/>
              </a:rPr>
              <a:t>Strong Entity</a:t>
            </a:r>
            <a:r>
              <a:rPr lang="en-IN" sz="2000" dirty="0">
                <a:latin typeface="Palatino Linotype" panose="02040502050505030304" pitchFamily="18" charset="0"/>
              </a:rPr>
              <a:t>: </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 strong entity is not dependent on any other entity in the schema. A strong entity will always have a primary key. Strong entities are represented by a single rectangle.</a:t>
            </a:r>
          </a:p>
          <a:p>
            <a:endParaRPr lang="en-IN" sz="2000" dirty="0">
              <a:latin typeface="Palatino Linotype" panose="02040502050505030304" pitchFamily="18" charset="0"/>
              <a:cs typeface="Arial" panose="020B0604020202020204" pitchFamily="34" charset="0"/>
            </a:endParaRPr>
          </a:p>
          <a:p>
            <a:r>
              <a:rPr lang="en-IN" sz="2000" b="1" dirty="0">
                <a:latin typeface="Palatino Linotype" panose="02040502050505030304" pitchFamily="18" charset="0"/>
              </a:rPr>
              <a:t>Weak Entity</a:t>
            </a:r>
            <a:r>
              <a:rPr lang="en-IN" sz="2000" dirty="0">
                <a:latin typeface="Palatino Linotype" panose="02040502050505030304" pitchFamily="18" charset="0"/>
                <a:cs typeface="Arial" panose="020B0604020202020204" pitchFamily="34" charset="0"/>
              </a:rPr>
              <a:t>: A weak entity is dependent on a strong entity to ensure its existence. Unlike a strong entity, a weak entity does not have any primary key. A weak entity is represented by a double rectangle. The relation between one strong and one weak entity is represented by a double diamond. This relationship is also known as </a:t>
            </a:r>
            <a:r>
              <a:rPr lang="en-IN" sz="2000" b="1" i="1" dirty="0">
                <a:latin typeface="Palatino Linotype" panose="02040502050505030304" pitchFamily="18" charset="0"/>
                <a:cs typeface="Arial" panose="020B0604020202020204" pitchFamily="34" charset="0"/>
              </a:rPr>
              <a:t>identifying relationship</a:t>
            </a:r>
            <a:r>
              <a:rPr lang="en-IN" sz="2000" dirty="0">
                <a:latin typeface="Palatino Linotype" panose="02040502050505030304" pitchFamily="18" charset="0"/>
                <a:cs typeface="Arial" panose="020B0604020202020204" pitchFamily="34" charset="0"/>
              </a:rPr>
              <a:t>.</a:t>
            </a:r>
          </a:p>
        </p:txBody>
      </p:sp>
      <p:sp>
        <p:nvSpPr>
          <p:cNvPr id="6" name="TextBox 5">
            <a:extLst>
              <a:ext uri="{FF2B5EF4-FFF2-40B4-BE49-F238E27FC236}">
                <a16:creationId xmlns:a16="http://schemas.microsoft.com/office/drawing/2014/main" id="{4DF2AC29-AAB3-76E7-4DA0-A051637DB4FE}"/>
              </a:ext>
            </a:extLst>
          </p:cNvPr>
          <p:cNvSpPr txBox="1"/>
          <p:nvPr/>
        </p:nvSpPr>
        <p:spPr>
          <a:xfrm>
            <a:off x="191344" y="3652746"/>
            <a:ext cx="11737304" cy="1792478"/>
          </a:xfrm>
          <a:prstGeom prst="rect">
            <a:avLst/>
          </a:prstGeom>
          <a:noFill/>
        </p:spPr>
        <p:txBody>
          <a:bodyPr wrap="square">
            <a:spAutoFit/>
          </a:bodyPr>
          <a:lstStyle/>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1 – </a:t>
            </a:r>
            <a:r>
              <a:rPr lang="en-US" sz="1900" b="0" i="0" dirty="0">
                <a:solidFill>
                  <a:srgbClr val="343434"/>
                </a:solidFill>
                <a:effectLst/>
                <a:latin typeface="Arial" panose="020B0604020202020204" pitchFamily="34" charset="0"/>
                <a:cs typeface="Arial" panose="020B0604020202020204" pitchFamily="34" charset="0"/>
              </a:rPr>
              <a:t>A loan entity can not be created for a customer if the customer doesn’t exist</a:t>
            </a:r>
          </a:p>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2 –</a:t>
            </a:r>
            <a:r>
              <a:rPr lang="en-US" sz="1900" b="0" i="0" dirty="0">
                <a:solidFill>
                  <a:srgbClr val="343434"/>
                </a:solidFill>
                <a:effectLst/>
                <a:latin typeface="Arial" panose="020B0604020202020204" pitchFamily="34" charset="0"/>
                <a:cs typeface="Arial" panose="020B0604020202020204" pitchFamily="34" charset="0"/>
              </a:rPr>
              <a:t> A payment entity can not be created for a loan if the loan doesn’t exist</a:t>
            </a: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3 –</a:t>
            </a:r>
            <a:r>
              <a:rPr lang="en-US" sz="1900" b="0" i="0" dirty="0">
                <a:solidFill>
                  <a:srgbClr val="343434"/>
                </a:solidFill>
                <a:effectLst/>
                <a:latin typeface="Arial" panose="020B0604020202020204" pitchFamily="34" charset="0"/>
                <a:cs typeface="Arial" panose="020B0604020202020204" pitchFamily="34" charset="0"/>
              </a:rPr>
              <a:t> A customer address entity can </a:t>
            </a:r>
            <a:r>
              <a:rPr lang="en-US" sz="1900" dirty="0">
                <a:solidFill>
                  <a:srgbClr val="343434"/>
                </a:solidFill>
                <a:latin typeface="Arial" panose="020B0604020202020204" pitchFamily="34" charset="0"/>
                <a:cs typeface="Arial" panose="020B0604020202020204" pitchFamily="34" charset="0"/>
              </a:rPr>
              <a:t>not be created for the customer if the customer doesn’t exist</a:t>
            </a:r>
            <a:endParaRPr lang="en-US" sz="1900" b="0" i="0" dirty="0">
              <a:solidFill>
                <a:srgbClr val="343434"/>
              </a:solidFill>
              <a:effectLst/>
              <a:latin typeface="Arial" panose="020B0604020202020204" pitchFamily="34" charset="0"/>
              <a:cs typeface="Arial" panose="020B0604020202020204" pitchFamily="34" charset="0"/>
            </a:endParaRP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4 –</a:t>
            </a:r>
            <a:r>
              <a:rPr lang="en-US" sz="1900" b="0" i="0" dirty="0">
                <a:solidFill>
                  <a:srgbClr val="343434"/>
                </a:solidFill>
                <a:effectLst/>
                <a:latin typeface="Arial" panose="020B0604020202020204" pitchFamily="34" charset="0"/>
                <a:cs typeface="Arial" panose="020B0604020202020204" pitchFamily="34" charset="0"/>
              </a:rPr>
              <a:t> A </a:t>
            </a:r>
            <a:r>
              <a:rPr lang="en-IN" sz="1900" dirty="0">
                <a:solidFill>
                  <a:srgbClr val="374151"/>
                </a:solidFill>
                <a:latin typeface="Arial" panose="020B0604020202020204" pitchFamily="34" charset="0"/>
                <a:cs typeface="Arial" panose="020B0604020202020204" pitchFamily="34" charset="0"/>
              </a:rPr>
              <a:t>p</a:t>
            </a:r>
            <a:r>
              <a:rPr lang="en-IN" sz="1900" b="0" i="0" dirty="0">
                <a:solidFill>
                  <a:srgbClr val="374151"/>
                </a:solidFill>
                <a:effectLst/>
                <a:latin typeface="Arial" panose="020B0604020202020204" pitchFamily="34" charset="0"/>
                <a:cs typeface="Arial" panose="020B0604020202020204" pitchFamily="34" charset="0"/>
              </a:rPr>
              <a:t>rescription </a:t>
            </a:r>
            <a:r>
              <a:rPr lang="en-US" sz="1900" b="0" i="0" dirty="0">
                <a:solidFill>
                  <a:srgbClr val="343434"/>
                </a:solidFill>
                <a:effectLst/>
                <a:latin typeface="Arial" panose="020B0604020202020204" pitchFamily="34" charset="0"/>
                <a:cs typeface="Arial" panose="020B0604020202020204" pitchFamily="34" charset="0"/>
              </a:rPr>
              <a:t>entity can not be created for a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if the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doesn’t exist</a:t>
            </a:r>
          </a:p>
        </p:txBody>
      </p:sp>
    </p:spTree>
    <p:extLst>
      <p:ext uri="{BB962C8B-B14F-4D97-AF65-F5344CB8AC3E}">
        <p14:creationId xmlns:p14="http://schemas.microsoft.com/office/powerpoint/2010/main" val="88548573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EEB86-1928-EC89-4956-C66976F47B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24234E-A693-DA3A-BC13-E67AFB7E03F9}"/>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E292DD13-D728-B927-2619-23D504A97EC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F1BEB245-69E9-D71A-53C7-DE1B4667CDD7}"/>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a:extLst>
              <a:ext uri="{FF2B5EF4-FFF2-40B4-BE49-F238E27FC236}">
                <a16:creationId xmlns:a16="http://schemas.microsoft.com/office/drawing/2014/main" id="{8D350772-F84D-5FA0-D439-3A969F934120}"/>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graphicFrame>
        <p:nvGraphicFramePr>
          <p:cNvPr id="3" name="Table 2">
            <a:extLst>
              <a:ext uri="{FF2B5EF4-FFF2-40B4-BE49-F238E27FC236}">
                <a16:creationId xmlns:a16="http://schemas.microsoft.com/office/drawing/2014/main" id="{76E4E6B4-9C7E-09DB-0762-9BC8B4AF8FF2}"/>
              </a:ext>
            </a:extLst>
          </p:cNvPr>
          <p:cNvGraphicFramePr>
            <a:graphicFrameLocks noGrp="1"/>
          </p:cNvGraphicFramePr>
          <p:nvPr>
            <p:extLst>
              <p:ext uri="{D42A27DB-BD31-4B8C-83A1-F6EECF244321}">
                <p14:modId xmlns:p14="http://schemas.microsoft.com/office/powerpoint/2010/main" val="2115051779"/>
              </p:ext>
            </p:extLst>
          </p:nvPr>
        </p:nvGraphicFramePr>
        <p:xfrm>
          <a:off x="501052" y="764704"/>
          <a:ext cx="11139564" cy="5562600"/>
        </p:xfrm>
        <a:graphic>
          <a:graphicData uri="http://schemas.openxmlformats.org/drawingml/2006/table">
            <a:tbl>
              <a:tblPr firstRow="1" bandRow="1">
                <a:tableStyleId>{5940675A-B579-460E-94D1-54222C63F5DA}</a:tableStyleId>
              </a:tblPr>
              <a:tblGrid>
                <a:gridCol w="5569782">
                  <a:extLst>
                    <a:ext uri="{9D8B030D-6E8A-4147-A177-3AD203B41FA5}">
                      <a16:colId xmlns:a16="http://schemas.microsoft.com/office/drawing/2014/main" val="503115970"/>
                    </a:ext>
                  </a:extLst>
                </a:gridCol>
                <a:gridCol w="5569782">
                  <a:extLst>
                    <a:ext uri="{9D8B030D-6E8A-4147-A177-3AD203B41FA5}">
                      <a16:colId xmlns:a16="http://schemas.microsoft.com/office/drawing/2014/main" val="1410665302"/>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Strong Entity</a:t>
                      </a:r>
                      <a:endParaRPr lang="en-IN"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Weak Entity</a:t>
                      </a:r>
                      <a:endParaRPr lang="en-IN" dirty="0"/>
                    </a:p>
                  </a:txBody>
                  <a:tcPr/>
                </a:tc>
                <a:extLst>
                  <a:ext uri="{0D108BD9-81ED-4DB2-BD59-A6C34878D82A}">
                    <a16:rowId xmlns:a16="http://schemas.microsoft.com/office/drawing/2014/main" val="320571192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Order (OrderID)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OrderItem (ItemID, OrderID)</a:t>
                      </a:r>
                    </a:p>
                  </a:txBody>
                  <a:tcPr/>
                </a:tc>
                <a:extLst>
                  <a:ext uri="{0D108BD9-81ED-4DB2-BD59-A6C34878D82A}">
                    <a16:rowId xmlns:a16="http://schemas.microsoft.com/office/drawing/2014/main" val="325869931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University (UniID)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Scholarship (ScholarshipID, UniID)</a:t>
                      </a:r>
                    </a:p>
                  </a:txBody>
                  <a:tcPr/>
                </a:tc>
                <a:extLst>
                  <a:ext uri="{0D108BD9-81ED-4DB2-BD59-A6C34878D82A}">
                    <a16:rowId xmlns:a16="http://schemas.microsoft.com/office/drawing/2014/main" val="394675214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Patient (PatientID)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MedicalRecord (RecordID, PatientID)</a:t>
                      </a:r>
                    </a:p>
                  </a:txBody>
                  <a:tcPr/>
                </a:tc>
                <a:extLst>
                  <a:ext uri="{0D108BD9-81ED-4DB2-BD59-A6C34878D82A}">
                    <a16:rowId xmlns:a16="http://schemas.microsoft.com/office/drawing/2014/main" val="55391395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Account (AccountID)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Transaction (TransactionID, AccountID)</a:t>
                      </a:r>
                    </a:p>
                  </a:txBody>
                  <a:tcPr/>
                </a:tc>
                <a:extLst>
                  <a:ext uri="{0D108BD9-81ED-4DB2-BD59-A6C34878D82A}">
                    <a16:rowId xmlns:a16="http://schemas.microsoft.com/office/drawing/2014/main" val="363556228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Grade (GradeID, StudentID)</a:t>
                      </a:r>
                    </a:p>
                  </a:txBody>
                  <a:tcPr/>
                </a:tc>
                <a:extLst>
                  <a:ext uri="{0D108BD9-81ED-4DB2-BD59-A6C34878D82A}">
                    <a16:rowId xmlns:a16="http://schemas.microsoft.com/office/drawing/2014/main" val="345858109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Vehicle (VehicleID)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InsurancePolicy (PolicyID, VehicleID)</a:t>
                      </a:r>
                    </a:p>
                  </a:txBody>
                  <a:tcPr/>
                </a:tc>
                <a:extLst>
                  <a:ext uri="{0D108BD9-81ED-4DB2-BD59-A6C34878D82A}">
                    <a16:rowId xmlns:a16="http://schemas.microsoft.com/office/drawing/2014/main" val="3597331611"/>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Hotel (HotelID)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RoomBooking (BookingID, HotelID)</a:t>
                      </a:r>
                    </a:p>
                  </a:txBody>
                  <a:tcPr/>
                </a:tc>
                <a:extLst>
                  <a:ext uri="{0D108BD9-81ED-4DB2-BD59-A6C34878D82A}">
                    <a16:rowId xmlns:a16="http://schemas.microsoft.com/office/drawing/2014/main" val="706203708"/>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Product (ProductID)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WarrantyClaim (ClaimID, ProductID)</a:t>
                      </a:r>
                    </a:p>
                  </a:txBody>
                  <a:tcPr/>
                </a:tc>
                <a:extLst>
                  <a:ext uri="{0D108BD9-81ED-4DB2-BD59-A6C34878D82A}">
                    <a16:rowId xmlns:a16="http://schemas.microsoft.com/office/drawing/2014/main" val="141665376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AttendanceRecord (RecordID, StudentID)</a:t>
                      </a:r>
                    </a:p>
                  </a:txBody>
                  <a:tcPr anchor="ctr"/>
                </a:tc>
                <a:extLst>
                  <a:ext uri="{0D108BD9-81ED-4DB2-BD59-A6C34878D82A}">
                    <a16:rowId xmlns:a16="http://schemas.microsoft.com/office/drawing/2014/main" val="685513924"/>
                  </a:ext>
                </a:extLst>
              </a:tr>
              <a:tr h="370840">
                <a:tc>
                  <a:txBody>
                    <a:bodyPr/>
                    <a:lstStyle/>
                    <a:p>
                      <a:endParaRPr lang="en-IN" dirty="0">
                        <a:latin typeface="Palatino Linotype" panose="02040502050505030304" pitchFamily="18" charset="0"/>
                      </a:endParaRPr>
                    </a:p>
                  </a:txBody>
                  <a:tcPr/>
                </a:tc>
                <a:tc>
                  <a:txBody>
                    <a:bodyPr/>
                    <a:lstStyle/>
                    <a:p>
                      <a:endParaRPr lang="en-IN" dirty="0">
                        <a:latin typeface="Palatino Linotype" panose="02040502050505030304" pitchFamily="18" charset="0"/>
                      </a:endParaRPr>
                    </a:p>
                  </a:txBody>
                  <a:tcPr anchor="ctr"/>
                </a:tc>
                <a:extLst>
                  <a:ext uri="{0D108BD9-81ED-4DB2-BD59-A6C34878D82A}">
                    <a16:rowId xmlns:a16="http://schemas.microsoft.com/office/drawing/2014/main" val="16678676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2771436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3182621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50715579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nchor="ctr"/>
                </a:tc>
                <a:extLst>
                  <a:ext uri="{0D108BD9-81ED-4DB2-BD59-A6C34878D82A}">
                    <a16:rowId xmlns:a16="http://schemas.microsoft.com/office/drawing/2014/main" val="1656949846"/>
                  </a:ext>
                </a:extLst>
              </a:tr>
            </a:tbl>
          </a:graphicData>
        </a:graphic>
      </p:graphicFrame>
    </p:spTree>
    <p:extLst>
      <p:ext uri="{BB962C8B-B14F-4D97-AF65-F5344CB8AC3E}">
        <p14:creationId xmlns:p14="http://schemas.microsoft.com/office/powerpoint/2010/main" val="2061619591"/>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participation constraints</a:t>
            </a:r>
          </a:p>
        </p:txBody>
      </p:sp>
      <p:sp>
        <p:nvSpPr>
          <p:cNvPr id="3" name="Rectangle 2"/>
          <p:cNvSpPr/>
          <p:nvPr/>
        </p:nvSpPr>
        <p:spPr>
          <a:xfrm>
            <a:off x="479376" y="838201"/>
            <a:ext cx="11161240" cy="298543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An entity may participate in a relation either totally or partially.</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Total participation</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means that every entity is involved in the relationship, e.g., each student must be guided by a professor (there are no students who are not guided by any professor. This kind of relation is represented as a double line.</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Partial participation </a:t>
            </a:r>
            <a:r>
              <a:rPr lang="en-IN" sz="2000" dirty="0">
                <a:latin typeface="Palatino Linotype" panose="02040502050505030304" pitchFamily="18" charset="0"/>
                <a:cs typeface="Arial" panose="020B0604020202020204" pitchFamily="34" charset="0"/>
              </a:rPr>
              <a:t>means that not all entities are involved in the relationship, e.g., not every professor guides a student (there are professors who don’t). A partial participation is represented by a single line.</a:t>
            </a:r>
          </a:p>
        </p:txBody>
      </p:sp>
      <p:pic>
        <p:nvPicPr>
          <p:cNvPr id="5122" name="Picture 2" descr="http://www.vertabelo.com/_file/blog/chen-erd-notation/chen-notation-participation-constraints.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24000" y="4191000"/>
            <a:ext cx="9144000" cy="1762126"/>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5EB7A031-8184-2E26-C4DA-4E563E47614E}"/>
              </a:ext>
            </a:extLst>
          </p:cNvPr>
          <p:cNvSpPr/>
          <p:nvPr/>
        </p:nvSpPr>
        <p:spPr>
          <a:xfrm>
            <a:off x="8112224" y="4437112"/>
            <a:ext cx="2376264" cy="864096"/>
          </a:xfrm>
          <a:prstGeom prst="rect">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5" name="Flowchart: Decision 4">
            <a:extLst>
              <a:ext uri="{FF2B5EF4-FFF2-40B4-BE49-F238E27FC236}">
                <a16:creationId xmlns:a16="http://schemas.microsoft.com/office/drawing/2014/main" id="{0CACAC3E-164B-7BCA-7FEF-0CC08A6F6220}"/>
              </a:ext>
            </a:extLst>
          </p:cNvPr>
          <p:cNvSpPr/>
          <p:nvPr/>
        </p:nvSpPr>
        <p:spPr>
          <a:xfrm>
            <a:off x="4727848" y="4293096"/>
            <a:ext cx="2736304" cy="1152128"/>
          </a:xfrm>
          <a:prstGeom prst="flowChartDecision">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87661726"/>
      </p:ext>
    </p:extLst>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99392"/>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a:t>
            </a:r>
          </a:p>
        </p:txBody>
      </p:sp>
      <p:grpSp>
        <p:nvGrpSpPr>
          <p:cNvPr id="13" name="Group 12">
            <a:extLst>
              <a:ext uri="{FF2B5EF4-FFF2-40B4-BE49-F238E27FC236}">
                <a16:creationId xmlns:a16="http://schemas.microsoft.com/office/drawing/2014/main" id="{DE2DFFA6-F420-42E9-B5AF-D7C629FF8F68}"/>
              </a:ext>
            </a:extLst>
          </p:cNvPr>
          <p:cNvGrpSpPr/>
          <p:nvPr/>
        </p:nvGrpSpPr>
        <p:grpSpPr>
          <a:xfrm>
            <a:off x="743068" y="432048"/>
            <a:ext cx="10705864" cy="6381328"/>
            <a:chOff x="743068" y="432048"/>
            <a:chExt cx="10705864" cy="6381328"/>
          </a:xfrm>
        </p:grpSpPr>
        <p:pic>
          <p:nvPicPr>
            <p:cNvPr id="4" name="Picture 3">
              <a:extLst>
                <a:ext uri="{FF2B5EF4-FFF2-40B4-BE49-F238E27FC236}">
                  <a16:creationId xmlns:a16="http://schemas.microsoft.com/office/drawing/2014/main" id="{2C80A607-6F18-41A4-BF70-2AF2C08732C1}"/>
                </a:ext>
              </a:extLst>
            </p:cNvPr>
            <p:cNvPicPr>
              <a:picLocks noChangeAspect="1"/>
            </p:cNvPicPr>
            <p:nvPr/>
          </p:nvPicPr>
          <p:blipFill>
            <a:blip r:embed="rId2"/>
            <a:stretch>
              <a:fillRect/>
            </a:stretch>
          </p:blipFill>
          <p:spPr>
            <a:xfrm>
              <a:off x="743068" y="432048"/>
              <a:ext cx="10705864" cy="6381328"/>
            </a:xfrm>
            <a:prstGeom prst="rect">
              <a:avLst/>
            </a:prstGeom>
          </p:spPr>
        </p:pic>
        <p:grpSp>
          <p:nvGrpSpPr>
            <p:cNvPr id="12" name="Group 11">
              <a:extLst>
                <a:ext uri="{FF2B5EF4-FFF2-40B4-BE49-F238E27FC236}">
                  <a16:creationId xmlns:a16="http://schemas.microsoft.com/office/drawing/2014/main" id="{434FB312-BCF8-4310-932A-832A3D7BAD96}"/>
                </a:ext>
              </a:extLst>
            </p:cNvPr>
            <p:cNvGrpSpPr/>
            <p:nvPr/>
          </p:nvGrpSpPr>
          <p:grpSpPr>
            <a:xfrm>
              <a:off x="839416" y="812659"/>
              <a:ext cx="2681706" cy="2094314"/>
              <a:chOff x="839416" y="812659"/>
              <a:chExt cx="2681706" cy="2094314"/>
            </a:xfrm>
          </p:grpSpPr>
          <p:sp>
            <p:nvSpPr>
              <p:cNvPr id="2" name="Oval 1">
                <a:extLst>
                  <a:ext uri="{FF2B5EF4-FFF2-40B4-BE49-F238E27FC236}">
                    <a16:creationId xmlns:a16="http://schemas.microsoft.com/office/drawing/2014/main" id="{7F1C6CBD-DE88-43DC-81F1-E8EF9D7E4C57}"/>
                  </a:ext>
                </a:extLst>
              </p:cNvPr>
              <p:cNvSpPr/>
              <p:nvPr/>
            </p:nvSpPr>
            <p:spPr>
              <a:xfrm>
                <a:off x="839416" y="812659"/>
                <a:ext cx="1296144" cy="53144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905E3FFE-385A-4C5F-B4EA-67F717BFC305}"/>
                  </a:ext>
                </a:extLst>
              </p:cNvPr>
              <p:cNvSpPr txBox="1"/>
              <p:nvPr/>
            </p:nvSpPr>
            <p:spPr>
              <a:xfrm>
                <a:off x="1227641" y="924490"/>
                <a:ext cx="519694" cy="307777"/>
              </a:xfrm>
              <a:prstGeom prst="rect">
                <a:avLst/>
              </a:prstGeom>
              <a:noFill/>
            </p:spPr>
            <p:txBody>
              <a:bodyPr wrap="none" rtlCol="0">
                <a:spAutoFit/>
              </a:bodyPr>
              <a:lstStyle/>
              <a:p>
                <a:r>
                  <a:rPr lang="en-US" sz="1400" dirty="0"/>
                  <a:t>DoB</a:t>
                </a:r>
                <a:endParaRPr lang="en-IN" sz="1400" dirty="0"/>
              </a:p>
            </p:txBody>
          </p:sp>
          <p:cxnSp>
            <p:nvCxnSpPr>
              <p:cNvPr id="8" name="Straight Connector 7">
                <a:extLst>
                  <a:ext uri="{FF2B5EF4-FFF2-40B4-BE49-F238E27FC236}">
                    <a16:creationId xmlns:a16="http://schemas.microsoft.com/office/drawing/2014/main" id="{39F3AD6F-7A5F-4B60-BD80-F78ED6CC1F1E}"/>
                  </a:ext>
                </a:extLst>
              </p:cNvPr>
              <p:cNvCxnSpPr>
                <a:cxnSpLocks/>
                <a:stCxn id="2" idx="5"/>
              </p:cNvCxnSpPr>
              <p:nvPr/>
            </p:nvCxnSpPr>
            <p:spPr>
              <a:xfrm>
                <a:off x="1945744" y="1266271"/>
                <a:ext cx="1575378" cy="164070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407368" y="2362200"/>
            <a:ext cx="11377264"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a degree, cardinality and union in database?</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564993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1752600" y="344270"/>
            <a:ext cx="8686800"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What is a degree, cardinality and union in database?</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4" name="Rectangle 3">
            <a:extLst>
              <a:ext uri="{FF2B5EF4-FFF2-40B4-BE49-F238E27FC236}">
                <a16:creationId xmlns:a16="http://schemas.microsoft.com/office/drawing/2014/main" id="{F36CD6D3-A61F-3593-12EF-0A8EE8CBE688}"/>
              </a:ext>
            </a:extLst>
          </p:cNvPr>
          <p:cNvSpPr/>
          <p:nvPr/>
        </p:nvSpPr>
        <p:spPr>
          <a:xfrm>
            <a:off x="191344" y="1988840"/>
            <a:ext cx="11809312" cy="4739759"/>
          </a:xfrm>
          <a:prstGeom prst="rect">
            <a:avLst/>
          </a:prstGeom>
        </p:spPr>
        <p:txBody>
          <a:bodyPr wrap="square">
            <a:spAutoFit/>
          </a:bodyPr>
          <a:lstStyle/>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Degree d(R) / Arity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attributes/columns</a:t>
            </a:r>
            <a:r>
              <a:rPr lang="en-IN" dirty="0">
                <a:solidFill>
                  <a:schemeClr val="tx1">
                    <a:lumMod val="75000"/>
                    <a:lumOff val="25000"/>
                  </a:schemeClr>
                </a:solidFill>
                <a:latin typeface="Palatino Linotype" panose="02040502050505030304" pitchFamily="18" charset="0"/>
              </a:rPr>
              <a:t> present in a relation/table is called </a:t>
            </a:r>
            <a:r>
              <a:rPr lang="en-IN" b="1" dirty="0">
                <a:solidFill>
                  <a:schemeClr val="tx1">
                    <a:lumMod val="75000"/>
                    <a:lumOff val="25000"/>
                  </a:schemeClr>
                </a:solidFill>
                <a:latin typeface="Palatino Linotype" panose="02040502050505030304" pitchFamily="18" charset="0"/>
              </a:rPr>
              <a:t>degree of the relation </a:t>
            </a:r>
            <a:r>
              <a:rPr lang="en-IN" dirty="0">
                <a:solidFill>
                  <a:schemeClr val="tx1">
                    <a:lumMod val="75000"/>
                    <a:lumOff val="25000"/>
                  </a:schemeClr>
                </a:solidFill>
                <a:latin typeface="Palatino Linotype" panose="02040502050505030304" pitchFamily="18" charset="0"/>
              </a:rPr>
              <a:t>and is denoted by </a:t>
            </a:r>
            <a:r>
              <a:rPr lang="en-IN" sz="2200" b="1" dirty="0">
                <a:solidFill>
                  <a:schemeClr val="tx1">
                    <a:lumMod val="75000"/>
                    <a:lumOff val="25000"/>
                  </a:schemeClr>
                </a:solidFill>
                <a:latin typeface="Palatino Linotype" panose="02040502050505030304" pitchFamily="18" charset="0"/>
              </a:rPr>
              <a:t>d(R)</a:t>
            </a:r>
            <a:r>
              <a:rPr lang="en-IN" dirty="0">
                <a:solidFill>
                  <a:schemeClr val="tx1">
                    <a:lumMod val="75000"/>
                    <a:lumOff val="25000"/>
                  </a:schemeClr>
                </a:solidFill>
                <a:latin typeface="Palatino Linotype" panose="02040502050505030304" pitchFamily="18" charset="0"/>
              </a:rPr>
              <a:t>. </a:t>
            </a:r>
            <a:endParaRPr lang="en-IN" sz="1200" dirty="0">
              <a:solidFill>
                <a:srgbClr val="0089A4"/>
              </a:solidFill>
              <a:latin typeface="Palatino Linotype" panose="02040502050505030304" pitchFamily="18" charset="0"/>
            </a:endParaRPr>
          </a:p>
          <a:p>
            <a:pPr marL="1096963" indent="-457200" algn="just">
              <a:buFont typeface="+mj-lt"/>
              <a:buAutoNum type="arabicPeriod"/>
            </a:pPr>
            <a:r>
              <a:rPr lang="en-IN" sz="2100" b="1" dirty="0">
                <a:latin typeface="Palatino Linotype" panose="02040502050505030304" pitchFamily="18" charset="0"/>
              </a:rPr>
              <a:t>Degree / Arity = </a:t>
            </a:r>
            <a:r>
              <a:rPr lang="en-IN" sz="2100" b="1" i="1" dirty="0">
                <a:latin typeface="Palatino Linotype" panose="02040502050505030304" pitchFamily="18" charset="0"/>
              </a:rPr>
              <a:t>Number of columns</a:t>
            </a:r>
          </a:p>
          <a:p>
            <a:pPr marL="1096963" indent="-457200" algn="just">
              <a:buFont typeface="+mj-lt"/>
              <a:buAutoNum type="arabicPeriod"/>
            </a:pPr>
            <a:r>
              <a:rPr lang="en-IN" sz="2100" b="1" dirty="0">
                <a:latin typeface="Palatino Linotype" panose="02040502050505030304" pitchFamily="18" charset="0"/>
              </a:rPr>
              <a:t>d(Employee) = </a:t>
            </a:r>
            <a:r>
              <a:rPr lang="en-IN" sz="2100" b="1" i="1" dirty="0">
                <a:latin typeface="Palatino Linotype" panose="02040502050505030304" pitchFamily="18" charset="0"/>
              </a:rPr>
              <a:t>8</a:t>
            </a:r>
          </a:p>
          <a:p>
            <a:pPr marL="342900" indent="-342900" algn="just">
              <a:buFont typeface="Arial" panose="020B0604020202020204" pitchFamily="34" charset="0"/>
              <a:buChar char="•"/>
            </a:pPr>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Cardinality |R|</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tuples/rows</a:t>
            </a:r>
            <a:r>
              <a:rPr lang="en-IN" dirty="0">
                <a:solidFill>
                  <a:schemeClr val="tx1">
                    <a:lumMod val="75000"/>
                    <a:lumOff val="25000"/>
                  </a:schemeClr>
                </a:solidFill>
                <a:latin typeface="Palatino Linotype" panose="02040502050505030304" pitchFamily="18" charset="0"/>
              </a:rPr>
              <a:t> present in a relation/table, </a:t>
            </a:r>
            <a:r>
              <a:rPr lang="en-IN" b="1" dirty="0">
                <a:solidFill>
                  <a:schemeClr val="tx1">
                    <a:lumMod val="75000"/>
                    <a:lumOff val="25000"/>
                  </a:schemeClr>
                </a:solidFill>
                <a:latin typeface="Palatino Linotype" panose="02040502050505030304" pitchFamily="18" charset="0"/>
              </a:rPr>
              <a:t>is called cardinality of a relation </a:t>
            </a:r>
            <a:r>
              <a:rPr lang="en-IN" dirty="0">
                <a:solidFill>
                  <a:schemeClr val="tx1">
                    <a:lumMod val="75000"/>
                    <a:lumOff val="25000"/>
                  </a:schemeClr>
                </a:solidFill>
                <a:latin typeface="Palatino Linotype" panose="02040502050505030304" pitchFamily="18" charset="0"/>
              </a:rPr>
              <a:t>and is denoted by </a:t>
            </a:r>
            <a:r>
              <a:rPr lang="en-IN" sz="2200" b="1" i="1" dirty="0">
                <a:solidFill>
                  <a:schemeClr val="tx1">
                    <a:lumMod val="75000"/>
                    <a:lumOff val="25000"/>
                  </a:schemeClr>
                </a:solidFill>
                <a:latin typeface="Palatino Linotype" panose="02040502050505030304" pitchFamily="18" charset="0"/>
              </a:rPr>
              <a:t>|R|, </a:t>
            </a:r>
            <a:r>
              <a:rPr lang="en-IN" dirty="0">
                <a:solidFill>
                  <a:schemeClr val="tx1">
                    <a:lumMod val="75000"/>
                    <a:lumOff val="25000"/>
                  </a:schemeClr>
                </a:solidFill>
                <a:latin typeface="Palatino Linotype" panose="02040502050505030304" pitchFamily="18" charset="0"/>
              </a:rPr>
              <a:t>which</a:t>
            </a:r>
            <a:r>
              <a:rPr lang="en-IN" sz="2200" b="1" i="1" dirty="0">
                <a:solidFill>
                  <a:schemeClr val="tx1">
                    <a:lumMod val="75000"/>
                    <a:lumOff val="25000"/>
                  </a:schemeClr>
                </a:solidFill>
                <a:latin typeface="Palatino Linotype" panose="02040502050505030304" pitchFamily="18" charset="0"/>
              </a:rPr>
              <a:t> </a:t>
            </a:r>
            <a:r>
              <a:rPr lang="en-US" dirty="0">
                <a:solidFill>
                  <a:schemeClr val="tx1">
                    <a:lumMod val="75000"/>
                    <a:lumOff val="25000"/>
                  </a:schemeClr>
                </a:solidFill>
                <a:latin typeface="Palatino Linotype" panose="02040502050505030304" pitchFamily="18" charset="0"/>
              </a:rPr>
              <a:t>changes dynamically as rows are inserted or deleted</a:t>
            </a:r>
            <a:r>
              <a:rPr lang="en-US" dirty="0">
                <a:latin typeface="Palatino Linotype" panose="02040502050505030304" pitchFamily="18" charset="0"/>
              </a:rPr>
              <a:t>.</a:t>
            </a:r>
            <a:endParaRPr lang="en-US" b="0" i="0" dirty="0">
              <a:solidFill>
                <a:srgbClr val="202122"/>
              </a:solidFill>
              <a:effectLst/>
              <a:latin typeface="Palatino Linotype" panose="02040502050505030304" pitchFamily="18" charset="0"/>
            </a:endParaRPr>
          </a:p>
          <a:p>
            <a:pPr marL="1079500" indent="-457200" algn="just">
              <a:buFont typeface="+mj-lt"/>
              <a:buAutoNum type="arabicPeriod"/>
            </a:pPr>
            <a:r>
              <a:rPr lang="en-IN" sz="2100" b="1" dirty="0">
                <a:latin typeface="Palatino Linotype" panose="02040502050505030304" pitchFamily="18" charset="0"/>
              </a:rPr>
              <a:t>Cardinality |R| = </a:t>
            </a:r>
            <a:r>
              <a:rPr lang="en-IN" sz="2100" b="1" i="1" dirty="0">
                <a:latin typeface="Palatino Linotype" panose="02040502050505030304" pitchFamily="18" charset="0"/>
              </a:rPr>
              <a:t>Number of rows/records in relation </a:t>
            </a:r>
            <a:r>
              <a:rPr lang="en-IN" sz="2100" b="1" dirty="0">
                <a:latin typeface="Palatino Linotype" panose="02040502050505030304" pitchFamily="18" charset="0"/>
              </a:rPr>
              <a:t>|R|.</a:t>
            </a:r>
            <a:endParaRPr lang="en-US" sz="2100" b="1" dirty="0">
              <a:latin typeface="Palatino Linotype" panose="02040502050505030304" pitchFamily="18" charset="0"/>
            </a:endParaRPr>
          </a:p>
          <a:p>
            <a:pPr marL="360363" algn="just"/>
            <a:endParaRPr lang="en-US" sz="1000" b="1" i="0" dirty="0">
              <a:solidFill>
                <a:srgbClr val="202122"/>
              </a:solidFill>
              <a:effectLst/>
              <a:latin typeface="Palatino Linotype" panose="02040502050505030304" pitchFamily="18" charset="0"/>
            </a:endParaRPr>
          </a:p>
          <a:p>
            <a:pPr marL="360363" algn="just"/>
            <a:r>
              <a:rPr lang="en-US" b="1" i="0" dirty="0">
                <a:solidFill>
                  <a:srgbClr val="202122"/>
                </a:solidFill>
                <a:effectLst/>
                <a:latin typeface="Palatino Linotype" panose="02040502050505030304" pitchFamily="18" charset="0"/>
              </a:rPr>
              <a:t>Cardinality</a:t>
            </a:r>
            <a:r>
              <a:rPr lang="en-US" b="0" i="0" dirty="0">
                <a:solidFill>
                  <a:srgbClr val="202122"/>
                </a:solidFill>
                <a:effectLst/>
                <a:latin typeface="Palatino Linotype" panose="02040502050505030304" pitchFamily="18" charset="0"/>
              </a:rPr>
              <a:t> is the numerical relationship between rows of one table and rows in another. Common cardinalities include </a:t>
            </a:r>
            <a:r>
              <a:rPr lang="en-US" sz="2400" b="1" i="1" dirty="0">
                <a:solidFill>
                  <a:srgbClr val="202122"/>
                </a:solidFill>
                <a:effectLst/>
                <a:latin typeface="Palatino Linotype" panose="02040502050505030304" pitchFamily="18" charset="0"/>
              </a:rPr>
              <a:t>one-to-one</a:t>
            </a:r>
            <a:r>
              <a:rPr lang="en-US" sz="2400" b="1" i="0" dirty="0">
                <a:solidFill>
                  <a:srgbClr val="202122"/>
                </a:solidFill>
                <a:effectLst/>
                <a:latin typeface="Palatino Linotype" panose="02040502050505030304" pitchFamily="18" charset="0"/>
              </a:rPr>
              <a:t>, </a:t>
            </a:r>
            <a:r>
              <a:rPr lang="en-US" sz="2400" b="1" i="1" dirty="0">
                <a:solidFill>
                  <a:srgbClr val="202122"/>
                </a:solidFill>
                <a:effectLst/>
                <a:latin typeface="Palatino Linotype" panose="02040502050505030304" pitchFamily="18" charset="0"/>
              </a:rPr>
              <a:t>one-to-many</a:t>
            </a:r>
            <a:r>
              <a:rPr lang="en-US" sz="2400" b="1" i="0" dirty="0">
                <a:solidFill>
                  <a:srgbClr val="202122"/>
                </a:solidFill>
                <a:effectLst/>
                <a:latin typeface="Palatino Linotype" panose="02040502050505030304" pitchFamily="18" charset="0"/>
              </a:rPr>
              <a:t>, </a:t>
            </a:r>
            <a:r>
              <a:rPr lang="en-US" i="0" dirty="0">
                <a:solidFill>
                  <a:srgbClr val="202122"/>
                </a:solidFill>
                <a:effectLst/>
                <a:latin typeface="Palatino Linotype" panose="02040502050505030304" pitchFamily="18" charset="0"/>
              </a:rPr>
              <a:t>and</a:t>
            </a:r>
            <a:r>
              <a:rPr lang="en-US" sz="2400" b="1" i="0" dirty="0">
                <a:solidFill>
                  <a:srgbClr val="202122"/>
                </a:solidFill>
                <a:effectLst/>
                <a:latin typeface="Palatino Linotype" panose="02040502050505030304" pitchFamily="18" charset="0"/>
              </a:rPr>
              <a:t> </a:t>
            </a:r>
            <a:r>
              <a:rPr lang="en-US" sz="2400" b="1" i="1" dirty="0">
                <a:solidFill>
                  <a:srgbClr val="202122"/>
                </a:solidFill>
                <a:effectLst/>
                <a:latin typeface="Palatino Linotype" panose="02040502050505030304" pitchFamily="18" charset="0"/>
              </a:rPr>
              <a:t>many-to-many</a:t>
            </a:r>
            <a:r>
              <a:rPr lang="en-US" sz="2400" b="1" i="0" dirty="0">
                <a:solidFill>
                  <a:srgbClr val="202122"/>
                </a:solidFill>
                <a:effectLst/>
                <a:latin typeface="Palatino Linotype" panose="02040502050505030304" pitchFamily="18" charset="0"/>
              </a:rPr>
              <a:t>.</a:t>
            </a:r>
            <a:endParaRPr lang="en-IN" sz="2400" b="1" dirty="0">
              <a:solidFill>
                <a:schemeClr val="tx1">
                  <a:lumMod val="75000"/>
                  <a:lumOff val="25000"/>
                </a:schemeClr>
              </a:solidFill>
              <a:latin typeface="Palatino Linotype" panose="02040502050505030304" pitchFamily="18" charset="0"/>
            </a:endParaRPr>
          </a:p>
          <a:p>
            <a:pPr algn="just"/>
            <a:endParaRPr lang="en-IN" sz="1600" b="1"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Union Compatibility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Two relations </a:t>
            </a:r>
            <a:r>
              <a:rPr lang="en-IN" b="1" i="1" dirty="0">
                <a:solidFill>
                  <a:schemeClr val="tx1">
                    <a:lumMod val="75000"/>
                    <a:lumOff val="25000"/>
                  </a:schemeClr>
                </a:solidFill>
                <a:latin typeface="Palatino Linotype" panose="02040502050505030304" pitchFamily="18" charset="0"/>
              </a:rPr>
              <a:t>R</a:t>
            </a:r>
            <a:r>
              <a:rPr lang="en-IN" dirty="0">
                <a:solidFill>
                  <a:schemeClr val="tx1">
                    <a:lumMod val="75000"/>
                    <a:lumOff val="25000"/>
                  </a:schemeClr>
                </a:solidFill>
                <a:latin typeface="Palatino Linotype" panose="02040502050505030304" pitchFamily="18" charset="0"/>
              </a:rPr>
              <a:t> and </a:t>
            </a:r>
            <a:r>
              <a:rPr lang="en-IN" b="1" i="1" dirty="0">
                <a:solidFill>
                  <a:schemeClr val="tx1">
                    <a:lumMod val="75000"/>
                    <a:lumOff val="25000"/>
                  </a:schemeClr>
                </a:solidFill>
                <a:latin typeface="Palatino Linotype" panose="02040502050505030304" pitchFamily="18" charset="0"/>
              </a:rPr>
              <a:t>S</a:t>
            </a:r>
            <a:r>
              <a:rPr lang="en-IN" dirty="0">
                <a:solidFill>
                  <a:schemeClr val="tx1">
                    <a:lumMod val="75000"/>
                    <a:lumOff val="25000"/>
                  </a:schemeClr>
                </a:solidFill>
                <a:latin typeface="Palatino Linotype" panose="02040502050505030304" pitchFamily="18" charset="0"/>
              </a:rPr>
              <a:t> are set to be Union Compatible to each other if and only if:</a:t>
            </a:r>
          </a:p>
          <a:p>
            <a:pPr marL="1079500" lvl="1" indent="-457200" algn="just">
              <a:buFont typeface="+mj-lt"/>
              <a:buAutoNum type="arabicPeriod"/>
            </a:pPr>
            <a:r>
              <a:rPr lang="en-IN" sz="2100" b="1" i="1" dirty="0">
                <a:solidFill>
                  <a:schemeClr val="tx1">
                    <a:lumMod val="75000"/>
                    <a:lumOff val="25000"/>
                  </a:schemeClr>
                </a:solidFill>
                <a:latin typeface="Palatino Linotype" panose="02040502050505030304" pitchFamily="18" charset="0"/>
              </a:rPr>
              <a:t>They have the same degree d(</a:t>
            </a:r>
            <a:r>
              <a:rPr lang="en-IN" sz="2100" b="1" dirty="0">
                <a:solidFill>
                  <a:schemeClr val="tx1">
                    <a:lumMod val="75000"/>
                    <a:lumOff val="25000"/>
                  </a:schemeClr>
                </a:solidFill>
                <a:latin typeface="Palatino Linotype" panose="02040502050505030304" pitchFamily="18" charset="0"/>
              </a:rPr>
              <a:t>R</a:t>
            </a:r>
            <a:r>
              <a:rPr lang="en-IN" sz="2100" b="1" i="1" dirty="0">
                <a:solidFill>
                  <a:schemeClr val="tx1">
                    <a:lumMod val="75000"/>
                    <a:lumOff val="25000"/>
                  </a:schemeClr>
                </a:solidFill>
                <a:latin typeface="Palatino Linotype" panose="02040502050505030304" pitchFamily="18" charset="0"/>
              </a:rPr>
              <a:t>).</a:t>
            </a:r>
          </a:p>
          <a:p>
            <a:pPr marL="1079500" lvl="1" indent="-457200" algn="just">
              <a:buFont typeface="+mj-lt"/>
              <a:buAutoNum type="arabicPeriod"/>
            </a:pPr>
            <a:r>
              <a:rPr lang="en-IN" sz="2100" b="1" i="1" dirty="0">
                <a:solidFill>
                  <a:schemeClr val="tx1">
                    <a:lumMod val="75000"/>
                    <a:lumOff val="25000"/>
                  </a:schemeClr>
                </a:solidFill>
                <a:latin typeface="Palatino Linotype" panose="02040502050505030304" pitchFamily="18" charset="0"/>
              </a:rPr>
              <a:t>Domains of the respective attributes should also be same.</a:t>
            </a:r>
          </a:p>
          <a:p>
            <a:pPr marL="1079500" lvl="1" indent="-457200" algn="just">
              <a:buFont typeface="+mj-lt"/>
              <a:buAutoNum type="arabicPeriod"/>
            </a:pPr>
            <a:r>
              <a:rPr lang="en-US" sz="2100" b="1" i="1" dirty="0">
                <a:latin typeface="Palatino Linotype" panose="02040502050505030304" pitchFamily="18" charset="0"/>
              </a:rPr>
              <a:t>Column names don’t need to match, but positions must match.</a:t>
            </a:r>
            <a:endParaRPr lang="en-IN" sz="2100" b="1" i="1" dirty="0">
              <a:solidFill>
                <a:schemeClr val="tx1">
                  <a:lumMod val="75000"/>
                  <a:lumOff val="25000"/>
                </a:schemeClr>
              </a:solidFill>
              <a:latin typeface="Palatino Linotype" panose="02040502050505030304" pitchFamily="18" charset="0"/>
            </a:endParaRPr>
          </a:p>
        </p:txBody>
      </p:sp>
      <p:sp>
        <p:nvSpPr>
          <p:cNvPr id="6" name="Rectangle 5">
            <a:extLst>
              <a:ext uri="{FF2B5EF4-FFF2-40B4-BE49-F238E27FC236}">
                <a16:creationId xmlns:a16="http://schemas.microsoft.com/office/drawing/2014/main" id="{56ED2ED9-5C39-ECC2-8EEA-60A2C118BE42}"/>
              </a:ext>
            </a:extLst>
          </p:cNvPr>
          <p:cNvSpPr/>
          <p:nvPr/>
        </p:nvSpPr>
        <p:spPr>
          <a:xfrm>
            <a:off x="551384" y="1386200"/>
            <a:ext cx="11449272"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Tree>
    <p:extLst>
      <p:ext uri="{BB962C8B-B14F-4D97-AF65-F5344CB8AC3E}">
        <p14:creationId xmlns:p14="http://schemas.microsoft.com/office/powerpoint/2010/main" val="86844237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
                                            <p:txEl>
                                              <p:pRg st="11" end="11"/>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domain constraint and types of data integrity constraints?</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297823674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p:cNvSpPr/>
          <p:nvPr/>
        </p:nvSpPr>
        <p:spPr>
          <a:xfrm>
            <a:off x="191344" y="1628800"/>
            <a:ext cx="11486869" cy="877163"/>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sz="1900"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sz="2800" b="1" dirty="0">
                <a:solidFill>
                  <a:srgbClr val="C00000"/>
                </a:solidFill>
                <a:latin typeface="Palatino Linotype" panose="02040502050505030304" pitchFamily="18" charset="0"/>
                <a:cs typeface="Arial" panose="020B0604020202020204" pitchFamily="34" charset="0"/>
              </a:rPr>
              <a:t>+</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 </a:t>
            </a:r>
            <a:r>
              <a:rPr lang="en-IN" sz="1900" dirty="0">
                <a:solidFill>
                  <a:schemeClr val="tx1">
                    <a:lumMod val="65000"/>
                    <a:lumOff val="35000"/>
                  </a:schemeClr>
                </a:solidFill>
                <a:latin typeface="Palatino Linotype" panose="02040502050505030304" pitchFamily="18" charset="0"/>
                <a:cs typeface="Arial" panose="020B0604020202020204" pitchFamily="34" charset="0"/>
              </a:rPr>
              <a:t>constraints</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 </a:t>
            </a:r>
            <a:r>
              <a:rPr lang="en-IN"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FE1212"/>
                </a:solidFill>
                <a:latin typeface="Liberation Mono"/>
                <a:cs typeface="Arial" panose="020B0604020202020204" pitchFamily="34" charset="0"/>
              </a:rPr>
              <a:t>PRIMARY 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6" name="Rectangle 5"/>
          <p:cNvSpPr/>
          <p:nvPr/>
        </p:nvSpPr>
        <p:spPr>
          <a:xfrm>
            <a:off x="195513" y="3169999"/>
            <a:ext cx="11809312" cy="2585323"/>
          </a:xfrm>
          <a:prstGeom prst="rect">
            <a:avLst/>
          </a:prstGeom>
        </p:spPr>
        <p:txBody>
          <a:bodyPr wrap="square">
            <a:spAutoFit/>
          </a:bodyPr>
          <a:lstStyle/>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Entity</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 </a:t>
            </a:r>
            <a:r>
              <a:rPr lang="en-US" b="0" dirty="0">
                <a:effectLst/>
                <a:latin typeface="Palatino Linotype" panose="02040502050505030304" pitchFamily="18" charset="0"/>
              </a:rPr>
              <a:t>Entity Integrity Constraint is used to ensure the uniqueness of each record the table. There are primarily two types of integrity constraints that help us in ensuring the uniqueness of each row, namely, UNIQUE KEY constraint and PRIMARY KEY constraint.</a:t>
            </a: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Referential</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US" b="0" i="0" dirty="0">
                <a:effectLst/>
                <a:latin typeface="Palatino Linotype" panose="02040502050505030304" pitchFamily="18" charset="0"/>
              </a:rPr>
              <a:t>Referential Integrity Constraint ensures that there always exists a valid relationship between two tables. This makes sure that if a foreign key exists in a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2 </a:t>
            </a:r>
            <a:r>
              <a:rPr lang="en-US" b="0" i="0" dirty="0">
                <a:effectLst/>
                <a:latin typeface="Palatino Linotype" panose="02040502050505030304" pitchFamily="18" charset="0"/>
              </a:rPr>
              <a:t>relationship then it should always reference a corresponding value in the second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 </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PK</a:t>
            </a:r>
            <a:r>
              <a:rPr lang="en-IN" sz="1800" b="1" i="1" dirty="0">
                <a:solidFill>
                  <a:schemeClr val="accent5">
                    <a:lumMod val="50000"/>
                  </a:schemeClr>
                </a:solidFill>
                <a:latin typeface="Palatino Linotype" panose="02040502050505030304" pitchFamily="18" charset="0"/>
              </a:rPr>
              <a:t>] = t</a:t>
            </a:r>
            <a:r>
              <a:rPr lang="en-IN" sz="1800" b="1" i="1" baseline="-25000" dirty="0">
                <a:solidFill>
                  <a:schemeClr val="accent5">
                    <a:lumMod val="50000"/>
                  </a:schemeClr>
                </a:solidFill>
                <a:latin typeface="Palatino Linotype" panose="02040502050505030304" pitchFamily="18" charset="0"/>
              </a:rPr>
              <a:t>2</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FK</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or it should be null.</a:t>
            </a:r>
            <a:endParaRPr lang="en-IN" b="0" i="0" dirty="0">
              <a:effectLst/>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dirty="0">
              <a:solidFill>
                <a:srgbClr val="006C86"/>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Domain</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A domain is a set of values of the same type (</a:t>
            </a:r>
            <a:r>
              <a:rPr lang="en-US" dirty="0">
                <a:latin typeface="Palatino Linotype" panose="02040502050505030304" pitchFamily="18" charset="0"/>
              </a:rPr>
              <a:t>data type, range, and format</a:t>
            </a:r>
            <a:r>
              <a:rPr lang="en-IN" dirty="0">
                <a:latin typeface="Palatino Linotype" panose="02040502050505030304" pitchFamily="18" charset="0"/>
                <a:cs typeface="Arial" panose="020B0604020202020204" pitchFamily="34" charset="0"/>
              </a:rPr>
              <a:t>).</a:t>
            </a:r>
          </a:p>
        </p:txBody>
      </p:sp>
      <p:sp>
        <p:nvSpPr>
          <p:cNvPr id="7" name="Rectangle 6"/>
          <p:cNvSpPr/>
          <p:nvPr/>
        </p:nvSpPr>
        <p:spPr>
          <a:xfrm>
            <a:off x="382688" y="2607295"/>
            <a:ext cx="11622137" cy="430887"/>
          </a:xfrm>
          <a:prstGeom prst="rect">
            <a:avLst/>
          </a:prstGeom>
        </p:spPr>
        <p:txBody>
          <a:bodyPr wrap="square">
            <a:spAutoFit/>
          </a:bodyPr>
          <a:lstStyle/>
          <a:p>
            <a:r>
              <a:rPr lang="en-IN" sz="2000" dirty="0">
                <a:solidFill>
                  <a:schemeClr val="tx1">
                    <a:lumMod val="75000"/>
                    <a:lumOff val="25000"/>
                  </a:schemeClr>
                </a:solidFill>
                <a:latin typeface="Palatino Linotype" panose="02040502050505030304" pitchFamily="18" charset="0"/>
                <a:cs typeface="Arial" panose="020B0604020202020204" pitchFamily="34" charset="0"/>
              </a:rPr>
              <a:t>Three types of integrity constraints: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entity integrity, referential integrity </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and</a:t>
            </a:r>
            <a:r>
              <a:rPr lang="en-IN" sz="2000" b="1" dirty="0">
                <a:solidFill>
                  <a:schemeClr val="tx1">
                    <a:lumMod val="75000"/>
                    <a:lumOff val="25000"/>
                  </a:schemeClr>
                </a:solidFill>
                <a:latin typeface="Palatino Linotype" panose="02040502050505030304" pitchFamily="18" charset="0"/>
                <a:cs typeface="Arial" panose="020B0604020202020204" pitchFamily="34" charset="0"/>
              </a:rPr>
              <a:t>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domain integrity</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t>
            </a:r>
          </a:p>
        </p:txBody>
      </p:sp>
      <p:sp>
        <p:nvSpPr>
          <p:cNvPr id="8" name="Rectangle 7"/>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Tree>
    <p:extLst>
      <p:ext uri="{BB962C8B-B14F-4D97-AF65-F5344CB8AC3E}">
        <p14:creationId xmlns:p14="http://schemas.microsoft.com/office/powerpoint/2010/main" val="302070392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D50F1-2616-E464-6514-EDF86DA3DD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51E493-7598-1D30-F99C-1DD3FE077A12}"/>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9BF96D4E-A3D0-7AF4-79C7-0EBCAF9CB793}"/>
              </a:ext>
            </a:extLst>
          </p:cNvPr>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3233C7AF-405D-4912-8F8B-80F678D440B6}"/>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C1832707-D4A9-F918-2D1A-CECD80AD2F62}"/>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a:extLst>
              <a:ext uri="{FF2B5EF4-FFF2-40B4-BE49-F238E27FC236}">
                <a16:creationId xmlns:a16="http://schemas.microsoft.com/office/drawing/2014/main" id="{C6CCC9BE-C79A-F6A4-E0F2-4E04BE1A01CF}"/>
              </a:ext>
            </a:extLst>
          </p:cNvPr>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C10A102F-E34B-F5C4-1EB3-F1D827160447}"/>
              </a:ext>
            </a:extLst>
          </p:cNvPr>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
        <p:nvSpPr>
          <p:cNvPr id="10" name="TextBox 9">
            <a:extLst>
              <a:ext uri="{FF2B5EF4-FFF2-40B4-BE49-F238E27FC236}">
                <a16:creationId xmlns:a16="http://schemas.microsoft.com/office/drawing/2014/main" id="{4F8587F7-3B54-7B25-866D-6051C6321CAF}"/>
              </a:ext>
            </a:extLst>
          </p:cNvPr>
          <p:cNvSpPr txBox="1"/>
          <p:nvPr/>
        </p:nvSpPr>
        <p:spPr>
          <a:xfrm>
            <a:off x="191344" y="2492896"/>
            <a:ext cx="6696744" cy="369332"/>
          </a:xfrm>
          <a:prstGeom prst="rect">
            <a:avLst/>
          </a:prstGeom>
          <a:noFill/>
        </p:spPr>
        <p:txBody>
          <a:bodyPr wrap="square">
            <a:spAutoFit/>
          </a:bodyPr>
          <a:lstStyle/>
          <a:p>
            <a:r>
              <a:rPr lang="en-IN" b="1" dirty="0"/>
              <a:t>Domain integrity is enforced using the following constraints:</a:t>
            </a:r>
          </a:p>
        </p:txBody>
      </p:sp>
      <p:graphicFrame>
        <p:nvGraphicFramePr>
          <p:cNvPr id="6" name="Table 5">
            <a:extLst>
              <a:ext uri="{FF2B5EF4-FFF2-40B4-BE49-F238E27FC236}">
                <a16:creationId xmlns:a16="http://schemas.microsoft.com/office/drawing/2014/main" id="{B99047C5-9DC4-84DB-7730-0F6BE9F1C51C}"/>
              </a:ext>
            </a:extLst>
          </p:cNvPr>
          <p:cNvGraphicFramePr>
            <a:graphicFrameLocks noGrp="1"/>
          </p:cNvGraphicFramePr>
          <p:nvPr>
            <p:extLst>
              <p:ext uri="{D42A27DB-BD31-4B8C-83A1-F6EECF244321}">
                <p14:modId xmlns:p14="http://schemas.microsoft.com/office/powerpoint/2010/main" val="3842127808"/>
              </p:ext>
            </p:extLst>
          </p:nvPr>
        </p:nvGraphicFramePr>
        <p:xfrm>
          <a:off x="191344" y="2996952"/>
          <a:ext cx="11809312" cy="3606800"/>
        </p:xfrm>
        <a:graphic>
          <a:graphicData uri="http://schemas.openxmlformats.org/drawingml/2006/table">
            <a:tbl>
              <a:tblPr firstRow="1" bandRow="1">
                <a:tableStyleId>{5940675A-B579-460E-94D1-54222C63F5DA}</a:tableStyleId>
              </a:tblPr>
              <a:tblGrid>
                <a:gridCol w="1530837">
                  <a:extLst>
                    <a:ext uri="{9D8B030D-6E8A-4147-A177-3AD203B41FA5}">
                      <a16:colId xmlns:a16="http://schemas.microsoft.com/office/drawing/2014/main" val="3100486186"/>
                    </a:ext>
                  </a:extLst>
                </a:gridCol>
                <a:gridCol w="5685965">
                  <a:extLst>
                    <a:ext uri="{9D8B030D-6E8A-4147-A177-3AD203B41FA5}">
                      <a16:colId xmlns:a16="http://schemas.microsoft.com/office/drawing/2014/main" val="742021988"/>
                    </a:ext>
                  </a:extLst>
                </a:gridCol>
                <a:gridCol w="4592510">
                  <a:extLst>
                    <a:ext uri="{9D8B030D-6E8A-4147-A177-3AD203B41FA5}">
                      <a16:colId xmlns:a16="http://schemas.microsoft.com/office/drawing/2014/main" val="3862026928"/>
                    </a:ext>
                  </a:extLst>
                </a:gridCol>
              </a:tblGrid>
              <a:tr h="370840">
                <a:tc>
                  <a:txBody>
                    <a:bodyPr/>
                    <a:lstStyle/>
                    <a:p>
                      <a:r>
                        <a:rPr lang="en-IN" b="1" dirty="0">
                          <a:latin typeface="Palatino Linotype" panose="02040502050505030304" pitchFamily="18" charset="0"/>
                        </a:rPr>
                        <a:t>Constraint</a:t>
                      </a:r>
                      <a:endParaRPr lang="en-IN" dirty="0">
                        <a:latin typeface="Palatino Linotype" panose="02040502050505030304" pitchFamily="18" charset="0"/>
                      </a:endParaRPr>
                    </a:p>
                  </a:txBody>
                  <a:tcPr anchor="ctr"/>
                </a:tc>
                <a:tc>
                  <a:txBody>
                    <a:bodyPr/>
                    <a:lstStyle/>
                    <a:p>
                      <a:r>
                        <a:rPr kumimoji="0" lang="en-IN" b="1" kern="1200" dirty="0">
                          <a:solidFill>
                            <a:schemeClr val="tx1"/>
                          </a:solidFill>
                          <a:latin typeface="Palatino Linotype" panose="02040502050505030304" pitchFamily="18" charset="0"/>
                          <a:ea typeface="+mn-ea"/>
                          <a:cs typeface="+mn-cs"/>
                        </a:rPr>
                        <a:t>Description</a:t>
                      </a:r>
                    </a:p>
                  </a:txBody>
                  <a:tcPr anchor="ctr"/>
                </a:tc>
                <a:tc>
                  <a:txBody>
                    <a:bodyPr/>
                    <a:lstStyle/>
                    <a:p>
                      <a:r>
                        <a:rPr kumimoji="0" lang="en-IN" b="1" kern="1200" dirty="0">
                          <a:solidFill>
                            <a:schemeClr val="tx1"/>
                          </a:solidFill>
                          <a:latin typeface="Palatino Linotype" panose="02040502050505030304" pitchFamily="18" charset="0"/>
                          <a:ea typeface="+mn-ea"/>
                          <a:cs typeface="+mn-cs"/>
                        </a:rPr>
                        <a:t>Example</a:t>
                      </a:r>
                    </a:p>
                  </a:txBody>
                  <a:tcPr anchor="ctr"/>
                </a:tc>
                <a:extLst>
                  <a:ext uri="{0D108BD9-81ED-4DB2-BD59-A6C34878D82A}">
                    <a16:rowId xmlns:a16="http://schemas.microsoft.com/office/drawing/2014/main" val="3449609250"/>
                  </a:ext>
                </a:extLst>
              </a:tr>
              <a:tr h="370840">
                <a:tc>
                  <a:txBody>
                    <a:bodyPr/>
                    <a:lstStyle/>
                    <a:p>
                      <a:r>
                        <a:rPr lang="en-IN" dirty="0">
                          <a:latin typeface="Palatino Linotype" panose="02040502050505030304" pitchFamily="18" charset="0"/>
                        </a:rPr>
                        <a:t>Data Type</a:t>
                      </a:r>
                    </a:p>
                  </a:txBody>
                  <a:tcPr/>
                </a:tc>
                <a:tc>
                  <a:txBody>
                    <a:bodyPr/>
                    <a:lstStyle/>
                    <a:p>
                      <a:r>
                        <a:rPr lang="en-US" dirty="0">
                          <a:latin typeface="Palatino Linotype" panose="02040502050505030304" pitchFamily="18" charset="0"/>
                        </a:rPr>
                        <a:t>Ensures that values match a specific type (e.g., INT, VARCHAR, DATE, . . . ).</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age </a:t>
                      </a:r>
                      <a:r>
                        <a:rPr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r>
                        <a:rPr lang="en-US" dirty="0">
                          <a:latin typeface="Palatino Linotype" panose="02040502050505030304" pitchFamily="18" charset="0"/>
                        </a:rPr>
                        <a:t> (Only integers allowed)</a:t>
                      </a:r>
                      <a:endParaRPr lang="en-IN" dirty="0">
                        <a:latin typeface="Palatino Linotype" panose="02040502050505030304" pitchFamily="18" charset="0"/>
                      </a:endParaRPr>
                    </a:p>
                  </a:txBody>
                  <a:tcPr/>
                </a:tc>
                <a:extLst>
                  <a:ext uri="{0D108BD9-81ED-4DB2-BD59-A6C34878D82A}">
                    <a16:rowId xmlns:a16="http://schemas.microsoft.com/office/drawing/2014/main" val="4147579823"/>
                  </a:ext>
                </a:extLst>
              </a:tr>
              <a:tr h="370840">
                <a:tc>
                  <a:txBody>
                    <a:bodyPr/>
                    <a:lstStyle/>
                    <a:p>
                      <a:r>
                        <a:rPr lang="en-IN" dirty="0">
                          <a:latin typeface="Palatino Linotype" panose="02040502050505030304" pitchFamily="18" charset="0"/>
                        </a:rPr>
                        <a:t>NOT NULL</a:t>
                      </a:r>
                    </a:p>
                  </a:txBody>
                  <a:tcPr/>
                </a:tc>
                <a:tc>
                  <a:txBody>
                    <a:bodyPr/>
                    <a:lstStyle/>
                    <a:p>
                      <a:r>
                        <a:rPr lang="en-US" dirty="0">
                          <a:latin typeface="Palatino Linotype" panose="02040502050505030304" pitchFamily="18" charset="0"/>
                        </a:rPr>
                        <a:t>Prevents NULL (empty) values in a column.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name </a:t>
                      </a:r>
                      <a:r>
                        <a:rPr kumimoji="0" lang="en-US" sz="1800" kern="1200" dirty="0">
                          <a:solidFill>
                            <a:srgbClr val="834689"/>
                          </a:solidFill>
                          <a:latin typeface="Palatino Linotype" panose="02040502050505030304" pitchFamily="18" charset="0"/>
                          <a:ea typeface="Verdana" panose="020B0604030504040204" pitchFamily="34" charset="0"/>
                          <a:cs typeface="+mn-cs"/>
                        </a:rPr>
                        <a:t>VARCHAR</a:t>
                      </a:r>
                      <a:r>
                        <a:rPr lang="en-US" dirty="0">
                          <a:latin typeface="Palatino Linotype" panose="02040502050505030304" pitchFamily="18" charset="0"/>
                        </a:rPr>
                        <a:t>(50)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endParaRPr kumimoji="0" lang="en-IN" sz="1800" kern="1200" dirty="0">
                        <a:solidFill>
                          <a:schemeClr val="accent4">
                            <a:lumMod val="50000"/>
                          </a:schemeClr>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180783245"/>
                  </a:ext>
                </a:extLst>
              </a:tr>
              <a:tr h="370840">
                <a:tc>
                  <a:txBody>
                    <a:bodyPr/>
                    <a:lstStyle/>
                    <a:p>
                      <a:r>
                        <a:rPr lang="en-US" dirty="0">
                          <a:latin typeface="Palatino Linotype" panose="02040502050505030304" pitchFamily="18" charset="0"/>
                        </a:rPr>
                        <a:t>PRIMARY </a:t>
                      </a:r>
                      <a:endParaRPr lang="en-IN" dirty="0">
                        <a:latin typeface="Palatino Linotype" panose="02040502050505030304" pitchFamily="18" charset="0"/>
                      </a:endParaRPr>
                    </a:p>
                  </a:txBody>
                  <a:tcPr/>
                </a:tc>
                <a:tc>
                  <a:txBody>
                    <a:bodyPr/>
                    <a:lstStyle/>
                    <a:p>
                      <a:r>
                        <a:rPr kumimoji="0" lang="en-US" kern="1200" dirty="0">
                          <a:solidFill>
                            <a:schemeClr val="tx1"/>
                          </a:solidFill>
                          <a:latin typeface="Palatino Linotype" panose="02040502050505030304" pitchFamily="18" charset="0"/>
                          <a:ea typeface="+mn-ea"/>
                          <a:cs typeface="+mn-cs"/>
                        </a:rPr>
                        <a:t>Unique and Not Null; identifies rows</a:t>
                      </a:r>
                      <a:endParaRPr kumimoji="0" lang="en-IN" kern="1200" dirty="0">
                        <a:solidFill>
                          <a:schemeClr val="tx1"/>
                        </a:solidFill>
                        <a:latin typeface="Palatino Linotype" panose="02040502050505030304" pitchFamily="18" charset="0"/>
                        <a:ea typeface="+mn-ea"/>
                        <a:cs typeface="+mn-cs"/>
                      </a:endParaRP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rgbClr val="C00000"/>
                          </a:solidFill>
                          <a:latin typeface="Palatino Linotype" panose="02040502050505030304" pitchFamily="18" charset="0"/>
                          <a:ea typeface="+mn-ea"/>
                          <a:cs typeface="Arial" panose="020B0604020202020204" pitchFamily="34" charset="0"/>
                        </a:rPr>
                        <a:t>PRIMARY</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KEY</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2032942229"/>
                  </a:ext>
                </a:extLst>
              </a:tr>
              <a:tr h="370840">
                <a:tc>
                  <a:txBody>
                    <a:bodyPr/>
                    <a:lstStyle/>
                    <a:p>
                      <a:r>
                        <a:rPr lang="en-US" dirty="0">
                          <a:latin typeface="Palatino Linotype" panose="02040502050505030304" pitchFamily="18" charset="0"/>
                        </a:rPr>
                        <a:t>UNIQUE</a:t>
                      </a:r>
                      <a:endParaRPr lang="en-IN" dirty="0">
                        <a:latin typeface="Palatino Linotype" panose="02040502050505030304" pitchFamily="18" charset="0"/>
                      </a:endParaRPr>
                    </a:p>
                  </a:txBody>
                  <a:tcPr/>
                </a:tc>
                <a:tc>
                  <a:txBody>
                    <a:bodyPr/>
                    <a:lstStyle/>
                    <a:p>
                      <a:r>
                        <a:rPr kumimoji="0" lang="en-IN" kern="1200" dirty="0">
                          <a:solidFill>
                            <a:schemeClr val="tx1"/>
                          </a:solidFill>
                          <a:latin typeface="Palatino Linotype" panose="02040502050505030304" pitchFamily="18" charset="0"/>
                          <a:ea typeface="+mn-ea"/>
                          <a:cs typeface="+mn-cs"/>
                        </a:rPr>
                        <a:t>No duplicate values</a:t>
                      </a: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UNIQUE</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4040080233"/>
                  </a:ext>
                </a:extLst>
              </a:tr>
              <a:tr h="370840">
                <a:tc>
                  <a:txBody>
                    <a:bodyPr/>
                    <a:lstStyle/>
                    <a:p>
                      <a:r>
                        <a:rPr lang="en-IN" dirty="0">
                          <a:latin typeface="Palatino Linotype" panose="02040502050505030304" pitchFamily="18" charset="0"/>
                        </a:rPr>
                        <a:t>CHECK</a:t>
                      </a:r>
                    </a:p>
                  </a:txBody>
                  <a:tcPr/>
                </a:tc>
                <a:tc>
                  <a:txBody>
                    <a:bodyPr/>
                    <a:lstStyle/>
                    <a:p>
                      <a:r>
                        <a:rPr lang="en-US" dirty="0">
                          <a:latin typeface="Palatino Linotype" panose="02040502050505030304" pitchFamily="18" charset="0"/>
                        </a:rPr>
                        <a:t>Restricts values based on a condition.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salary </a:t>
                      </a:r>
                      <a:r>
                        <a:rPr kumimoji="0" lang="en-US" sz="1800" kern="1200" dirty="0">
                          <a:solidFill>
                            <a:srgbClr val="834689"/>
                          </a:solidFill>
                          <a:latin typeface="Palatino Linotype" panose="02040502050505030304" pitchFamily="18" charset="0"/>
                          <a:ea typeface="Verdana" panose="020B0604030504040204" pitchFamily="34" charset="0"/>
                          <a:cs typeface="+mn-cs"/>
                        </a:rPr>
                        <a:t>DECIMAL</a:t>
                      </a:r>
                      <a:r>
                        <a:rPr lang="en-US" dirty="0">
                          <a:latin typeface="Palatino Linotype" panose="02040502050505030304" pitchFamily="18" charset="0"/>
                        </a:rPr>
                        <a:t>(10, 2) </a:t>
                      </a:r>
                      <a:r>
                        <a:rPr kumimoji="0" lang="en-US" sz="1800" kern="1200" dirty="0">
                          <a:solidFill>
                            <a:srgbClr val="C00000"/>
                          </a:solidFill>
                          <a:latin typeface="Palatino Linotype" panose="02040502050505030304" pitchFamily="18" charset="0"/>
                          <a:ea typeface="+mn-ea"/>
                          <a:cs typeface="Arial" panose="020B0604020202020204" pitchFamily="34" charset="0"/>
                        </a:rPr>
                        <a:t>CHECK</a:t>
                      </a:r>
                      <a:r>
                        <a:rPr lang="en-US" dirty="0">
                          <a:latin typeface="Palatino Linotype" panose="02040502050505030304" pitchFamily="18" charset="0"/>
                        </a:rPr>
                        <a:t> (salary &gt; </a:t>
                      </a:r>
                      <a:r>
                        <a:rPr lang="en-US" sz="1800" kern="1200" dirty="0">
                          <a:solidFill>
                            <a:srgbClr val="990055"/>
                          </a:solidFill>
                          <a:latin typeface="Liberation Mono"/>
                          <a:ea typeface="+mn-ea"/>
                          <a:cs typeface="+mn-cs"/>
                        </a:rPr>
                        <a:t>0</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4124618210"/>
                  </a:ext>
                </a:extLst>
              </a:tr>
              <a:tr h="370840">
                <a:tc>
                  <a:txBody>
                    <a:bodyPr/>
                    <a:lstStyle/>
                    <a:p>
                      <a:r>
                        <a:rPr lang="en-IN" dirty="0">
                          <a:latin typeface="Palatino Linotype" panose="02040502050505030304" pitchFamily="18" charset="0"/>
                        </a:rPr>
                        <a:t>DEFAULT</a:t>
                      </a:r>
                    </a:p>
                  </a:txBody>
                  <a:tcPr/>
                </a:tc>
                <a:tc>
                  <a:txBody>
                    <a:bodyPr/>
                    <a:lstStyle/>
                    <a:p>
                      <a:r>
                        <a:rPr lang="en-US" dirty="0">
                          <a:latin typeface="Palatino Linotype" panose="02040502050505030304" pitchFamily="18" charset="0"/>
                        </a:rPr>
                        <a:t>Sets a default value if none is provided.</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status </a:t>
                      </a:r>
                      <a:r>
                        <a:rPr kumimoji="0" lang="en-IN" sz="1800" kern="1200" dirty="0">
                          <a:solidFill>
                            <a:srgbClr val="834689"/>
                          </a:solidFill>
                          <a:latin typeface="Palatino Linotype" panose="02040502050505030304" pitchFamily="18" charset="0"/>
                          <a:ea typeface="Verdana" panose="020B0604030504040204" pitchFamily="34" charset="0"/>
                          <a:cs typeface="+mn-cs"/>
                        </a:rPr>
                        <a:t>VARCHAR</a:t>
                      </a:r>
                      <a:r>
                        <a:rPr lang="en-IN" dirty="0">
                          <a:latin typeface="Palatino Linotype" panose="02040502050505030304" pitchFamily="18" charset="0"/>
                        </a:rPr>
                        <a:t>(10) DEFAULT </a:t>
                      </a:r>
                      <a:r>
                        <a:rPr lang="en-IN" sz="1800" kern="1200" dirty="0">
                          <a:solidFill>
                            <a:srgbClr val="669900"/>
                          </a:solidFill>
                          <a:latin typeface="Liberation Mono"/>
                          <a:ea typeface="+mn-ea"/>
                          <a:cs typeface="+mn-cs"/>
                        </a:rPr>
                        <a:t>'Active'</a:t>
                      </a:r>
                    </a:p>
                  </a:txBody>
                  <a:tcPr/>
                </a:tc>
                <a:extLst>
                  <a:ext uri="{0D108BD9-81ED-4DB2-BD59-A6C34878D82A}">
                    <a16:rowId xmlns:a16="http://schemas.microsoft.com/office/drawing/2014/main" val="1689696033"/>
                  </a:ext>
                </a:extLst>
              </a:tr>
              <a:tr h="370840">
                <a:tc>
                  <a:txBody>
                    <a:bodyPr/>
                    <a:lstStyle/>
                    <a:p>
                      <a:r>
                        <a:rPr lang="en-IN" dirty="0">
                          <a:latin typeface="Palatino Linotype" panose="02040502050505030304" pitchFamily="18" charset="0"/>
                        </a:rPr>
                        <a:t>ENUM</a:t>
                      </a:r>
                    </a:p>
                  </a:txBody>
                  <a:tcPr/>
                </a:tc>
                <a:tc>
                  <a:txBody>
                    <a:bodyPr/>
                    <a:lstStyle/>
                    <a:p>
                      <a:r>
                        <a:rPr lang="en-US" dirty="0">
                          <a:latin typeface="Palatino Linotype" panose="02040502050505030304" pitchFamily="18" charset="0"/>
                        </a:rPr>
                        <a:t>Limits a column to predefined values.</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gender </a:t>
                      </a:r>
                      <a:r>
                        <a:rPr kumimoji="0" lang="en-IN" sz="1800" kern="1200" dirty="0">
                          <a:solidFill>
                            <a:srgbClr val="834689"/>
                          </a:solidFill>
                          <a:latin typeface="Palatino Linotype" panose="02040502050505030304" pitchFamily="18" charset="0"/>
                          <a:ea typeface="Verdana" panose="020B0604030504040204" pitchFamily="34" charset="0"/>
                          <a:cs typeface="+mn-cs"/>
                        </a:rPr>
                        <a:t>ENUM</a:t>
                      </a:r>
                      <a:r>
                        <a:rPr lang="en-IN" dirty="0">
                          <a:latin typeface="Palatino Linotype" panose="02040502050505030304" pitchFamily="18" charset="0"/>
                        </a:rPr>
                        <a:t>(</a:t>
                      </a:r>
                      <a:r>
                        <a:rPr lang="en-IN" sz="1800" kern="1200" dirty="0">
                          <a:solidFill>
                            <a:srgbClr val="669900"/>
                          </a:solidFill>
                          <a:latin typeface="Palatino Linotype" panose="02040502050505030304" pitchFamily="18" charset="0"/>
                          <a:ea typeface="+mn-ea"/>
                          <a:cs typeface="+mn-cs"/>
                        </a:rPr>
                        <a:t>'Male'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'Female'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'Other'</a:t>
                      </a:r>
                      <a:r>
                        <a:rPr lang="en-IN" dirty="0">
                          <a:latin typeface="Palatino Linotype" panose="02040502050505030304" pitchFamily="18" charset="0"/>
                        </a:rPr>
                        <a:t>)</a:t>
                      </a:r>
                    </a:p>
                  </a:txBody>
                  <a:tcPr/>
                </a:tc>
                <a:extLst>
                  <a:ext uri="{0D108BD9-81ED-4DB2-BD59-A6C34878D82A}">
                    <a16:rowId xmlns:a16="http://schemas.microsoft.com/office/drawing/2014/main" val="2809062647"/>
                  </a:ext>
                </a:extLst>
              </a:tr>
              <a:tr h="370840">
                <a:tc>
                  <a:txBody>
                    <a:bodyPr/>
                    <a:lstStyle/>
                    <a:p>
                      <a:r>
                        <a:rPr lang="en-IN" dirty="0">
                          <a:latin typeface="Palatino Linotype" panose="02040502050505030304" pitchFamily="18" charset="0"/>
                        </a:rPr>
                        <a:t>SET </a:t>
                      </a:r>
                    </a:p>
                  </a:txBody>
                  <a:tcPr/>
                </a:tc>
                <a:tc>
                  <a:txBody>
                    <a:bodyPr/>
                    <a:lstStyle/>
                    <a:p>
                      <a:r>
                        <a:rPr lang="en-IN" dirty="0">
                          <a:latin typeface="Palatino Linotype" panose="02040502050505030304" pitchFamily="18" charset="0"/>
                        </a:rPr>
                        <a:t>Allows multiple predefined values.</a:t>
                      </a:r>
                    </a:p>
                  </a:txBody>
                  <a:tcPr/>
                </a:tc>
                <a:tc>
                  <a:txBody>
                    <a:bodyPr/>
                    <a:lstStyle/>
                    <a:p>
                      <a:r>
                        <a:rPr lang="en-US" dirty="0">
                          <a:latin typeface="Palatino Linotype" panose="02040502050505030304" pitchFamily="18" charset="0"/>
                        </a:rPr>
                        <a:t>roles </a:t>
                      </a:r>
                      <a:r>
                        <a:rPr kumimoji="0" lang="en-US" sz="1800" kern="1200" dirty="0">
                          <a:solidFill>
                            <a:srgbClr val="834689"/>
                          </a:solidFill>
                          <a:latin typeface="Palatino Linotype" panose="02040502050505030304" pitchFamily="18" charset="0"/>
                          <a:ea typeface="Verdana" panose="020B0604030504040204" pitchFamily="34" charset="0"/>
                          <a:cs typeface="+mn-cs"/>
                        </a:rPr>
                        <a:t>SET</a:t>
                      </a:r>
                      <a:r>
                        <a:rPr lang="en-US" dirty="0">
                          <a:latin typeface="Palatino Linotype" panose="02040502050505030304" pitchFamily="18" charset="0"/>
                        </a:rPr>
                        <a:t>(</a:t>
                      </a:r>
                      <a:r>
                        <a:rPr lang="en-US" sz="1800" kern="1200" dirty="0">
                          <a:solidFill>
                            <a:srgbClr val="669900"/>
                          </a:solidFill>
                          <a:latin typeface="Palatino Linotype" panose="02040502050505030304" pitchFamily="18" charset="0"/>
                          <a:ea typeface="+mn-ea"/>
                          <a:cs typeface="+mn-cs"/>
                        </a:rPr>
                        <a:t>'Admin'</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'Editor'</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'User'</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3639670010"/>
                  </a:ext>
                </a:extLst>
              </a:tr>
            </a:tbl>
          </a:graphicData>
        </a:graphic>
      </p:graphicFrame>
    </p:spTree>
    <p:extLst>
      <p:ext uri="{BB962C8B-B14F-4D97-AF65-F5344CB8AC3E}">
        <p14:creationId xmlns:p14="http://schemas.microsoft.com/office/powerpoint/2010/main" val="3973552672"/>
      </p:ext>
    </p:extLst>
  </p:cSld>
  <p:clrMapOvr>
    <a:masterClrMapping/>
  </p:clrMapOvr>
  <p:transition/>
</p:sld>
</file>

<file path=ppt/slides/slide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Degrees of relationship</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5DCCA1B9-8EBD-4BBB-9D77-CDDDCFA9434F}"/>
              </a:ext>
            </a:extLst>
          </p:cNvPr>
          <p:cNvSpPr txBox="1"/>
          <p:nvPr/>
        </p:nvSpPr>
        <p:spPr>
          <a:xfrm>
            <a:off x="1581944" y="3276600"/>
            <a:ext cx="9028112" cy="707886"/>
          </a:xfrm>
          <a:prstGeom prst="rect">
            <a:avLst/>
          </a:prstGeom>
          <a:noFill/>
        </p:spPr>
        <p:txBody>
          <a:bodyPr wrap="square">
            <a:spAutoFit/>
          </a:bodyPr>
          <a:lstStyle/>
          <a:p>
            <a:r>
              <a:rPr lang="en-US" sz="2000" b="0" i="0" dirty="0">
                <a:solidFill>
                  <a:srgbClr val="222222"/>
                </a:solidFill>
                <a:effectLst/>
                <a:latin typeface="Palatino Linotype" panose="02040502050505030304" pitchFamily="18" charset="0"/>
              </a:rPr>
              <a:t>In </a:t>
            </a:r>
            <a:r>
              <a:rPr lang="en-US" sz="2000" i="0" dirty="0">
                <a:solidFill>
                  <a:srgbClr val="222222"/>
                </a:solidFill>
                <a:effectLst/>
                <a:latin typeface="Palatino Linotype" panose="02040502050505030304" pitchFamily="18" charset="0"/>
              </a:rPr>
              <a:t>DBMS</a:t>
            </a:r>
            <a:r>
              <a:rPr lang="en-US" sz="2000" b="0" i="0" dirty="0">
                <a:solidFill>
                  <a:srgbClr val="222222"/>
                </a:solidFill>
                <a:effectLst/>
                <a:latin typeface="Palatino Linotype" panose="02040502050505030304" pitchFamily="18" charset="0"/>
              </a:rPr>
              <a:t>, </a:t>
            </a:r>
            <a:r>
              <a:rPr lang="en-US" sz="2000" b="1" i="0" dirty="0">
                <a:solidFill>
                  <a:srgbClr val="222222"/>
                </a:solidFill>
                <a:effectLst/>
                <a:latin typeface="Palatino Linotype" panose="02040502050505030304" pitchFamily="18" charset="0"/>
              </a:rPr>
              <a:t>a degree of relationship</a:t>
            </a:r>
            <a:r>
              <a:rPr lang="en-US" sz="2000" b="0" i="0" dirty="0">
                <a:solidFill>
                  <a:srgbClr val="222222"/>
                </a:solidFill>
                <a:effectLst/>
                <a:latin typeface="Palatino Linotype" panose="02040502050505030304" pitchFamily="18" charset="0"/>
              </a:rPr>
              <a:t> represents the number of entity types that associate in a relationship.</a:t>
            </a:r>
            <a:endParaRPr lang="en-IN" sz="2000" dirty="0">
              <a:latin typeface="Palatino Linotype" panose="02040502050505030304" pitchFamily="18" charset="0"/>
            </a:endParaRPr>
          </a:p>
        </p:txBody>
      </p:sp>
      <p:sp>
        <p:nvSpPr>
          <p:cNvPr id="5" name="TextBox 4">
            <a:extLst>
              <a:ext uri="{FF2B5EF4-FFF2-40B4-BE49-F238E27FC236}">
                <a16:creationId xmlns:a16="http://schemas.microsoft.com/office/drawing/2014/main" id="{491C8D1D-57F3-0D38-67AF-5D57B829CB72}"/>
              </a:ext>
            </a:extLst>
          </p:cNvPr>
          <p:cNvSpPr txBox="1"/>
          <p:nvPr/>
        </p:nvSpPr>
        <p:spPr>
          <a:xfrm>
            <a:off x="551384" y="4509120"/>
            <a:ext cx="3312368" cy="1881990"/>
          </a:xfrm>
          <a:prstGeom prst="rect">
            <a:avLst/>
          </a:prstGeom>
          <a:noFill/>
        </p:spPr>
        <p:txBody>
          <a:bodyPr wrap="square">
            <a:spAutoFit/>
          </a:bodyPr>
          <a:lstStyle/>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Unary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Binary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Ternary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N-</a:t>
            </a:r>
            <a:r>
              <a:rPr lang="en-IN" sz="2000" b="0" i="0" dirty="0" err="1">
                <a:solidFill>
                  <a:srgbClr val="273239"/>
                </a:solidFill>
                <a:effectLst/>
                <a:latin typeface="Arial" panose="020B0604020202020204" pitchFamily="34" charset="0"/>
                <a:cs typeface="Arial" panose="020B0604020202020204" pitchFamily="34" charset="0"/>
              </a:rPr>
              <a:t>ary</a:t>
            </a:r>
            <a:endParaRPr lang="en-IN" sz="2000" b="0" i="0" dirty="0">
              <a:solidFill>
                <a:srgbClr val="273239"/>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8591336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unary</a:t>
            </a:r>
          </a:p>
        </p:txBody>
      </p:sp>
      <p:pic>
        <p:nvPicPr>
          <p:cNvPr id="3074" name="Picture 2" descr="U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2371" y="2996952"/>
            <a:ext cx="2439208" cy="2116134"/>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E873D4C9-C8A3-47AA-9EA7-94F3288E24E8}"/>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3" name="Rectangle 12">
            <a:extLst>
              <a:ext uri="{FF2B5EF4-FFF2-40B4-BE49-F238E27FC236}">
                <a16:creationId xmlns:a16="http://schemas.microsoft.com/office/drawing/2014/main" id="{38139BD4-C2D0-4F31-A33A-99D6E814FE2F}"/>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unary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both participants in the relationship are the same entity.</a:t>
            </a:r>
          </a:p>
        </p:txBody>
      </p:sp>
      <p:sp>
        <p:nvSpPr>
          <p:cNvPr id="4" name="TextBox 3">
            <a:extLst>
              <a:ext uri="{FF2B5EF4-FFF2-40B4-BE49-F238E27FC236}">
                <a16:creationId xmlns:a16="http://schemas.microsoft.com/office/drawing/2014/main" id="{CFFF943B-8845-7850-DE8C-230004310083}"/>
              </a:ext>
            </a:extLst>
          </p:cNvPr>
          <p:cNvSpPr txBox="1"/>
          <p:nvPr/>
        </p:nvSpPr>
        <p:spPr>
          <a:xfrm>
            <a:off x="436290" y="5432435"/>
            <a:ext cx="4824536" cy="400110"/>
          </a:xfrm>
          <a:prstGeom prst="rect">
            <a:avLst/>
          </a:prstGeom>
          <a:noFill/>
        </p:spPr>
        <p:txBody>
          <a:bodyPr wrap="square">
            <a:spAutoFit/>
          </a:bodyPr>
          <a:lstStyle/>
          <a:p>
            <a:r>
              <a:rPr lang="en-IN" sz="2000" dirty="0">
                <a:solidFill>
                  <a:schemeClr val="accent5">
                    <a:lumMod val="75000"/>
                  </a:schemeClr>
                </a:solidFill>
                <a:latin typeface="Arial" panose="020B0604020202020204" pitchFamily="34" charset="0"/>
                <a:cs typeface="Arial" panose="020B0604020202020204" pitchFamily="34" charset="0"/>
              </a:rPr>
              <a:t>Employee ── manages ──&gt; Employee</a:t>
            </a:r>
          </a:p>
        </p:txBody>
      </p:sp>
    </p:spTree>
    <p:extLst>
      <p:ext uri="{BB962C8B-B14F-4D97-AF65-F5344CB8AC3E}">
        <p14:creationId xmlns:p14="http://schemas.microsoft.com/office/powerpoint/2010/main" val="367463021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binary</a:t>
            </a:r>
          </a:p>
        </p:txBody>
      </p:sp>
      <p:sp>
        <p:nvSpPr>
          <p:cNvPr id="3" name="Rectangle 2"/>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binary</a:t>
            </a:r>
            <a:r>
              <a:rPr lang="en-IN" sz="2000" b="1" dirty="0">
                <a:solidFill>
                  <a:schemeClr val="bg2">
                    <a:lumMod val="75000"/>
                  </a:schemeClr>
                </a:solidFill>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dirty="0">
                <a:solidFill>
                  <a:schemeClr val="bg2">
                    <a:lumMod val="75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two entities participate and is the most common relationship.</a:t>
            </a:r>
          </a:p>
        </p:txBody>
      </p:sp>
      <p:pic>
        <p:nvPicPr>
          <p:cNvPr id="1028" name="Picture 4" descr="Bi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68" y="3258457"/>
            <a:ext cx="6384132" cy="10668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6" name="TextBox 5">
            <a:extLst>
              <a:ext uri="{FF2B5EF4-FFF2-40B4-BE49-F238E27FC236}">
                <a16:creationId xmlns:a16="http://schemas.microsoft.com/office/drawing/2014/main" id="{BCAF924D-A17C-0A62-8281-75A2CEE4DD29}"/>
              </a:ext>
            </a:extLst>
          </p:cNvPr>
          <p:cNvSpPr txBox="1"/>
          <p:nvPr/>
        </p:nvSpPr>
        <p:spPr>
          <a:xfrm>
            <a:off x="407368" y="4797152"/>
            <a:ext cx="6094378" cy="369332"/>
          </a:xfrm>
          <a:prstGeom prst="rect">
            <a:avLst/>
          </a:prstGeom>
          <a:noFill/>
        </p:spPr>
        <p:txBody>
          <a:bodyPr wrap="square">
            <a:spAutoFit/>
          </a:bodyPr>
          <a:lstStyle/>
          <a:p>
            <a:r>
              <a:rPr lang="en-IN" dirty="0">
                <a:solidFill>
                  <a:schemeClr val="accent5">
                    <a:lumMod val="75000"/>
                  </a:schemeClr>
                </a:solidFill>
              </a:rPr>
              <a:t>STUDENT ── enrolls ──&gt; COURSE</a:t>
            </a:r>
          </a:p>
        </p:txBody>
      </p:sp>
    </p:spTree>
    <p:extLst>
      <p:ext uri="{BB962C8B-B14F-4D97-AF65-F5344CB8AC3E}">
        <p14:creationId xmlns:p14="http://schemas.microsoft.com/office/powerpoint/2010/main" val="45027005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ternary</a:t>
            </a:r>
          </a:p>
        </p:txBody>
      </p:sp>
      <p:pic>
        <p:nvPicPr>
          <p:cNvPr id="2050" name="Picture 2" descr="Ter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376" y="2820775"/>
            <a:ext cx="5669006" cy="2514600"/>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9ADFD213-71FC-4932-8C92-33C46D76CA1E}"/>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4" name="Rectangle 13">
            <a:extLst>
              <a:ext uri="{FF2B5EF4-FFF2-40B4-BE49-F238E27FC236}">
                <a16:creationId xmlns:a16="http://schemas.microsoft.com/office/drawing/2014/main" id="{80A4E90E-C8B2-44CC-B214-DC0B063B4E00}"/>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ternary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three entities participate in the relationship.</a:t>
            </a:r>
          </a:p>
        </p:txBody>
      </p:sp>
      <p:sp>
        <p:nvSpPr>
          <p:cNvPr id="3" name="TextBox 2">
            <a:extLst>
              <a:ext uri="{FF2B5EF4-FFF2-40B4-BE49-F238E27FC236}">
                <a16:creationId xmlns:a16="http://schemas.microsoft.com/office/drawing/2014/main" id="{4CC16CA3-5F67-A525-465F-45AD6679CA85}"/>
              </a:ext>
            </a:extLst>
          </p:cNvPr>
          <p:cNvSpPr txBox="1"/>
          <p:nvPr/>
        </p:nvSpPr>
        <p:spPr>
          <a:xfrm>
            <a:off x="479376" y="5738937"/>
            <a:ext cx="6696744" cy="369332"/>
          </a:xfrm>
          <a:prstGeom prst="rect">
            <a:avLst/>
          </a:prstGeom>
          <a:noFill/>
        </p:spPr>
        <p:txBody>
          <a:bodyPr wrap="square">
            <a:spAutoFit/>
          </a:bodyPr>
          <a:lstStyle>
            <a:defPPr>
              <a:defRPr lang="en-US"/>
            </a:defPPr>
            <a:lvl1pPr>
              <a:defRPr>
                <a:solidFill>
                  <a:schemeClr val="accent5">
                    <a:lumMod val="75000"/>
                  </a:schemeClr>
                </a:solidFill>
              </a:defRPr>
            </a:lvl1pPr>
          </a:lstStyle>
          <a:p>
            <a:r>
              <a:rPr lang="en-IN" dirty="0"/>
              <a:t>DOCTOR ── prescribes ──&gt; PATIENT ── uses ──&gt; MEDICINE</a:t>
            </a:r>
          </a:p>
        </p:txBody>
      </p:sp>
    </p:spTree>
    <p:extLst>
      <p:ext uri="{BB962C8B-B14F-4D97-AF65-F5344CB8AC3E}">
        <p14:creationId xmlns:p14="http://schemas.microsoft.com/office/powerpoint/2010/main" val="383072447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Common relationships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16535787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 name="Rectangle 1"/>
          <p:cNvSpPr>
            <a:spLocks noChangeArrowheads="1"/>
          </p:cNvSpPr>
          <p:nvPr/>
        </p:nvSpPr>
        <p:spPr bwMode="auto">
          <a:xfrm>
            <a:off x="695400" y="2163628"/>
            <a:ext cx="9614812" cy="378565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514350" indent="-514350">
              <a:buFont typeface="+mj-lt"/>
              <a:buAutoNum type="arabicPeriod"/>
            </a:pPr>
            <a:r>
              <a:rPr lang="en-US" sz="2400" dirty="0">
                <a:solidFill>
                  <a:srgbClr val="F63122"/>
                </a:solidFill>
                <a:latin typeface="Arial" pitchFamily="34" charset="0"/>
                <a:cs typeface="Arial" pitchFamily="34" charset="0"/>
              </a:rPr>
              <a:t>one-to-one</a:t>
            </a:r>
            <a:r>
              <a:rPr lang="en-US" sz="2400" dirty="0">
                <a:latin typeface="Arial" pitchFamily="34" charset="0"/>
                <a:cs typeface="Arial" pitchFamily="34" charset="0"/>
              </a:rPr>
              <a:t> (1:1)</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one-to-many</a:t>
            </a:r>
            <a:r>
              <a:rPr lang="en-US" sz="2400" dirty="0">
                <a:latin typeface="Arial" pitchFamily="34" charset="0"/>
                <a:cs typeface="Arial" pitchFamily="34" charset="0"/>
              </a:rPr>
              <a:t> (1:M)</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many-to-many</a:t>
            </a:r>
            <a:r>
              <a:rPr lang="en-US" sz="2400" dirty="0">
                <a:latin typeface="Arial" pitchFamily="34" charset="0"/>
                <a:cs typeface="Arial" pitchFamily="34" charset="0"/>
              </a:rPr>
              <a:t> (M:N)</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Self-Referencing</a:t>
            </a:r>
            <a:r>
              <a:rPr lang="en-US" sz="2400" dirty="0">
                <a:latin typeface="Arial" pitchFamily="34" charset="0"/>
                <a:cs typeface="Arial" pitchFamily="34" charset="0"/>
              </a:rPr>
              <a:t> (Recursive)</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8" name="Picture 7" descr="many_to_many_entity_relationship_diagram.jpg"/>
          <p:cNvPicPr>
            <a:picLocks noChangeAspect="1"/>
          </p:cNvPicPr>
          <p:nvPr/>
        </p:nvPicPr>
        <p:blipFill>
          <a:blip r:embed="rId2" cstate="print"/>
          <a:stretch>
            <a:fillRect/>
          </a:stretch>
        </p:blipFill>
        <p:spPr>
          <a:xfrm>
            <a:off x="9048328" y="3992603"/>
            <a:ext cx="2590761" cy="1631220"/>
          </a:xfrm>
          <a:prstGeom prst="rect">
            <a:avLst/>
          </a:prstGeom>
        </p:spPr>
      </p:pic>
      <p:sp>
        <p:nvSpPr>
          <p:cNvPr id="4" name="Rectangle 3"/>
          <p:cNvSpPr/>
          <p:nvPr/>
        </p:nvSpPr>
        <p:spPr>
          <a:xfrm>
            <a:off x="695400" y="1174532"/>
            <a:ext cx="3733454" cy="523220"/>
          </a:xfrm>
          <a:prstGeom prst="rect">
            <a:avLst/>
          </a:prstGeom>
          <a:solidFill>
            <a:schemeClr val="bg1">
              <a:lumMod val="95000"/>
            </a:schemeClr>
          </a:solidFill>
        </p:spPr>
        <p:txBody>
          <a:bodyPr wrap="square">
            <a:spAutoFit/>
          </a:bodyPr>
          <a:lstStyle/>
          <a:p>
            <a:pPr algn="ctr"/>
            <a:r>
              <a:rPr lang="en-IN" sz="2800" dirty="0">
                <a:solidFill>
                  <a:srgbClr val="00B0F0"/>
                </a:solidFill>
                <a:latin typeface="Arial" panose="020B0604020202020204" pitchFamily="34" charset="0"/>
                <a:cs typeface="Arial" panose="020B0604020202020204" pitchFamily="34" charset="0"/>
              </a:rPr>
              <a:t>Common relationship</a:t>
            </a: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grpSp>
        <p:nvGrpSpPr>
          <p:cNvPr id="3" name="Group 2">
            <a:extLst>
              <a:ext uri="{FF2B5EF4-FFF2-40B4-BE49-F238E27FC236}">
                <a16:creationId xmlns:a16="http://schemas.microsoft.com/office/drawing/2014/main" id="{E27C2B45-0E78-BE2F-BCFC-63B53B0321BC}"/>
              </a:ext>
            </a:extLst>
          </p:cNvPr>
          <p:cNvGrpSpPr/>
          <p:nvPr/>
        </p:nvGrpSpPr>
        <p:grpSpPr>
          <a:xfrm>
            <a:off x="3597516" y="1261070"/>
            <a:ext cx="4680519" cy="1187669"/>
            <a:chOff x="3647728" y="2056256"/>
            <a:chExt cx="3801591" cy="790575"/>
          </a:xfrm>
        </p:grpSpPr>
        <p:pic>
          <p:nvPicPr>
            <p:cNvPr id="7" name="Picture 6" descr="one_to_one_entity_relationship_diagram.jpg"/>
            <p:cNvPicPr>
              <a:picLocks noChangeAspect="1"/>
            </p:cNvPicPr>
            <p:nvPr/>
          </p:nvPicPr>
          <p:blipFill>
            <a:blip r:embed="rId3" cstate="print"/>
            <a:stretch>
              <a:fillRect/>
            </a:stretch>
          </p:blipFill>
          <p:spPr>
            <a:xfrm>
              <a:off x="5591944" y="2056256"/>
              <a:ext cx="1857375" cy="790575"/>
            </a:xfrm>
            <a:prstGeom prst="rect">
              <a:avLst/>
            </a:prstGeom>
          </p:spPr>
        </p:pic>
        <p:cxnSp>
          <p:nvCxnSpPr>
            <p:cNvPr id="12" name="Straight Arrow Connector 11">
              <a:extLst>
                <a:ext uri="{FF2B5EF4-FFF2-40B4-BE49-F238E27FC236}">
                  <a16:creationId xmlns:a16="http://schemas.microsoft.com/office/drawing/2014/main" id="{C2B009D3-FEA8-FFC1-CBF3-4C2F768C3443}"/>
                </a:ext>
              </a:extLst>
            </p:cNvPr>
            <p:cNvCxnSpPr>
              <a:endCxn id="7" idx="1"/>
            </p:cNvCxnSpPr>
            <p:nvPr/>
          </p:nvCxnSpPr>
          <p:spPr>
            <a:xfrm flipV="1">
              <a:off x="3647728" y="2451544"/>
              <a:ext cx="1944216" cy="36785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Group 5">
            <a:extLst>
              <a:ext uri="{FF2B5EF4-FFF2-40B4-BE49-F238E27FC236}">
                <a16:creationId xmlns:a16="http://schemas.microsoft.com/office/drawing/2014/main" id="{D548CBDD-523A-AC32-6C32-0C6560B65B0E}"/>
              </a:ext>
            </a:extLst>
          </p:cNvPr>
          <p:cNvGrpSpPr/>
          <p:nvPr/>
        </p:nvGrpSpPr>
        <p:grpSpPr>
          <a:xfrm>
            <a:off x="3935760" y="2448739"/>
            <a:ext cx="5904656" cy="1457325"/>
            <a:chOff x="3865974" y="3114638"/>
            <a:chExt cx="5816146" cy="1333500"/>
          </a:xfrm>
        </p:grpSpPr>
        <p:pic>
          <p:nvPicPr>
            <p:cNvPr id="9" name="Picture 8" descr="one_to_many_entity_relationship_diagram.jpg"/>
            <p:cNvPicPr>
              <a:picLocks noChangeAspect="1"/>
            </p:cNvPicPr>
            <p:nvPr/>
          </p:nvPicPr>
          <p:blipFill>
            <a:blip r:embed="rId4" cstate="print"/>
            <a:stretch>
              <a:fillRect/>
            </a:stretch>
          </p:blipFill>
          <p:spPr>
            <a:xfrm>
              <a:off x="6853195" y="3114638"/>
              <a:ext cx="2828925" cy="1333500"/>
            </a:xfrm>
            <a:prstGeom prst="rect">
              <a:avLst/>
            </a:prstGeom>
          </p:spPr>
        </p:pic>
        <p:cxnSp>
          <p:nvCxnSpPr>
            <p:cNvPr id="14" name="Straight Arrow Connector 13">
              <a:extLst>
                <a:ext uri="{FF2B5EF4-FFF2-40B4-BE49-F238E27FC236}">
                  <a16:creationId xmlns:a16="http://schemas.microsoft.com/office/drawing/2014/main" id="{5D1C4D99-C188-F4C4-65BC-A10B9460E9AE}"/>
                </a:ext>
              </a:extLst>
            </p:cNvPr>
            <p:cNvCxnSpPr>
              <a:cxnSpLocks/>
            </p:cNvCxnSpPr>
            <p:nvPr/>
          </p:nvCxnSpPr>
          <p:spPr>
            <a:xfrm>
              <a:off x="3865974" y="3924349"/>
              <a:ext cx="2910376" cy="872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6" name="Straight Arrow Connector 15">
            <a:extLst>
              <a:ext uri="{FF2B5EF4-FFF2-40B4-BE49-F238E27FC236}">
                <a16:creationId xmlns:a16="http://schemas.microsoft.com/office/drawing/2014/main" id="{87A0F4AD-278D-E59A-C7E7-95E977788AA6}"/>
              </a:ext>
            </a:extLst>
          </p:cNvPr>
          <p:cNvCxnSpPr>
            <a:cxnSpLocks/>
          </p:cNvCxnSpPr>
          <p:nvPr/>
        </p:nvCxnSpPr>
        <p:spPr>
          <a:xfrm>
            <a:off x="4295800" y="4653226"/>
            <a:ext cx="4896544" cy="14392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FAEB0201-0E6E-141D-0A9D-582800E3E5E7}"/>
              </a:ext>
            </a:extLst>
          </p:cNvPr>
          <p:cNvGrpSpPr/>
          <p:nvPr/>
        </p:nvGrpSpPr>
        <p:grpSpPr>
          <a:xfrm>
            <a:off x="5348049" y="5580007"/>
            <a:ext cx="2929986" cy="1029896"/>
            <a:chOff x="6033573" y="5818280"/>
            <a:chExt cx="2929986" cy="1029896"/>
          </a:xfrm>
        </p:grpSpPr>
        <p:grpSp>
          <p:nvGrpSpPr>
            <p:cNvPr id="32" name="Group 31">
              <a:extLst>
                <a:ext uri="{FF2B5EF4-FFF2-40B4-BE49-F238E27FC236}">
                  <a16:creationId xmlns:a16="http://schemas.microsoft.com/office/drawing/2014/main" id="{8B9528CE-0A80-9447-CED1-E5A415CFA5F2}"/>
                </a:ext>
              </a:extLst>
            </p:cNvPr>
            <p:cNvGrpSpPr/>
            <p:nvPr/>
          </p:nvGrpSpPr>
          <p:grpSpPr>
            <a:xfrm>
              <a:off x="7578360" y="5818280"/>
              <a:ext cx="1385199" cy="1029896"/>
              <a:chOff x="7250538" y="5746906"/>
              <a:chExt cx="1385199" cy="1029896"/>
            </a:xfrm>
          </p:grpSpPr>
          <p:sp>
            <p:nvSpPr>
              <p:cNvPr id="21" name="Rectangle 20">
                <a:extLst>
                  <a:ext uri="{FF2B5EF4-FFF2-40B4-BE49-F238E27FC236}">
                    <a16:creationId xmlns:a16="http://schemas.microsoft.com/office/drawing/2014/main" id="{595FD0A8-653B-1B77-111B-6F80069E0D1C}"/>
                  </a:ext>
                </a:extLst>
              </p:cNvPr>
              <p:cNvSpPr/>
              <p:nvPr/>
            </p:nvSpPr>
            <p:spPr>
              <a:xfrm>
                <a:off x="7250538" y="6048909"/>
                <a:ext cx="878305" cy="727893"/>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27" name="Straight Connector 26">
                <a:extLst>
                  <a:ext uri="{FF2B5EF4-FFF2-40B4-BE49-F238E27FC236}">
                    <a16:creationId xmlns:a16="http://schemas.microsoft.com/office/drawing/2014/main" id="{58EC698D-0DA3-4B7F-C48B-16B843311C16}"/>
                  </a:ext>
                </a:extLst>
              </p:cNvPr>
              <p:cNvCxnSpPr>
                <a:cxnSpLocks/>
              </p:cNvCxnSpPr>
              <p:nvPr/>
            </p:nvCxnSpPr>
            <p:spPr>
              <a:xfrm flipV="1">
                <a:off x="8626008" y="5752712"/>
                <a:ext cx="0" cy="61495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C82AAD0-B846-DF77-FC94-CDEECC0B6621}"/>
                  </a:ext>
                </a:extLst>
              </p:cNvPr>
              <p:cNvCxnSpPr>
                <a:cxnSpLocks/>
              </p:cNvCxnSpPr>
              <p:nvPr/>
            </p:nvCxnSpPr>
            <p:spPr>
              <a:xfrm>
                <a:off x="8156558" y="6361840"/>
                <a:ext cx="46945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Connector: Elbow 30">
                <a:extLst>
                  <a:ext uri="{FF2B5EF4-FFF2-40B4-BE49-F238E27FC236}">
                    <a16:creationId xmlns:a16="http://schemas.microsoft.com/office/drawing/2014/main" id="{01A3291E-027D-B90C-219A-F1FE5E9DCB7A}"/>
                  </a:ext>
                </a:extLst>
              </p:cNvPr>
              <p:cNvCxnSpPr>
                <a:cxnSpLocks/>
              </p:cNvCxnSpPr>
              <p:nvPr/>
            </p:nvCxnSpPr>
            <p:spPr>
              <a:xfrm rot="10800000" flipV="1">
                <a:off x="7677554" y="5746906"/>
                <a:ext cx="958183" cy="251013"/>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34" name="Straight Arrow Connector 33">
              <a:extLst>
                <a:ext uri="{FF2B5EF4-FFF2-40B4-BE49-F238E27FC236}">
                  <a16:creationId xmlns:a16="http://schemas.microsoft.com/office/drawing/2014/main" id="{32D6F2EF-FED5-B1EA-06B5-3C7A950267C2}"/>
                </a:ext>
              </a:extLst>
            </p:cNvPr>
            <p:cNvCxnSpPr/>
            <p:nvPr/>
          </p:nvCxnSpPr>
          <p:spPr>
            <a:xfrm>
              <a:off x="6033573" y="5984269"/>
              <a:ext cx="1512168" cy="53072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7" name="TextBox 16">
            <a:extLst>
              <a:ext uri="{FF2B5EF4-FFF2-40B4-BE49-F238E27FC236}">
                <a16:creationId xmlns:a16="http://schemas.microsoft.com/office/drawing/2014/main" id="{69F088BE-440C-C824-3E25-B85F58C1EFA1}"/>
              </a:ext>
            </a:extLst>
          </p:cNvPr>
          <p:cNvSpPr txBox="1"/>
          <p:nvPr/>
        </p:nvSpPr>
        <p:spPr>
          <a:xfrm>
            <a:off x="7134635" y="6064548"/>
            <a:ext cx="338554" cy="369333"/>
          </a:xfrm>
          <a:prstGeom prst="rect">
            <a:avLst/>
          </a:prstGeom>
          <a:noFill/>
        </p:spPr>
        <p:txBody>
          <a:bodyPr wrap="none" rtlCol="0">
            <a:spAutoFit/>
          </a:bodyPr>
          <a:lstStyle/>
          <a:p>
            <a:r>
              <a:rPr lang="en-IN" dirty="0"/>
              <a:t>A</a:t>
            </a:r>
          </a:p>
        </p:txBody>
      </p:sp>
    </p:spTree>
    <p:extLst>
      <p:ext uri="{BB962C8B-B14F-4D97-AF65-F5344CB8AC3E}">
        <p14:creationId xmlns:p14="http://schemas.microsoft.com/office/powerpoint/2010/main" val="206908695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1038" name="Picture 14" descr="https://d2slcw3kip6qmk.cloudfront.net/marketing/pages/chart/erd-symbols/ERD-Notation.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9416" y="1143001"/>
            <a:ext cx="10585176" cy="5015051"/>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C8520ECA-1F5D-1CB9-17F3-5E3B4A382E1E}"/>
              </a:ext>
            </a:extLst>
          </p:cNvPr>
          <p:cNvSpPr/>
          <p:nvPr/>
        </p:nvSpPr>
        <p:spPr>
          <a:xfrm>
            <a:off x="0" y="79058"/>
            <a:ext cx="7920880" cy="707886"/>
          </a:xfrm>
          <a:prstGeom prst="rect">
            <a:avLst/>
          </a:prstGeom>
        </p:spPr>
        <p:txBody>
          <a:bodyPr wrap="square">
            <a:spAutoFit/>
          </a:bodyPr>
          <a:lstStyle/>
          <a:p>
            <a:pPr marL="342900" indent="-342900">
              <a:buFont typeface="Arial" panose="020B0604020202020204" pitchFamily="34" charset="0"/>
              <a:buChar char="•"/>
            </a:pPr>
            <a:r>
              <a:rPr lang="en-IN" sz="2000" dirty="0">
                <a:latin typeface="Arial" pitchFamily="34" charset="0"/>
                <a:cs typeface="Arial" pitchFamily="34" charset="0"/>
              </a:rPr>
              <a:t>ONE patient is allocated ONE bed </a:t>
            </a:r>
            <a:r>
              <a:rPr lang="en-IN" sz="2000" dirty="0">
                <a:solidFill>
                  <a:schemeClr val="bg1"/>
                </a:solidFill>
                <a:latin typeface="Arial" pitchFamily="34" charset="0"/>
                <a:cs typeface="Arial" pitchFamily="34" charset="0"/>
              </a:rPr>
              <a:t>(</a:t>
            </a:r>
          </a:p>
          <a:p>
            <a:pPr marL="342900" indent="-342900">
              <a:buFont typeface="Arial" panose="020B0604020202020204" pitchFamily="34" charset="0"/>
              <a:buChar char="•"/>
            </a:pPr>
            <a:r>
              <a:rPr lang="en-IN" sz="2000" dirty="0">
                <a:latin typeface="Arial" pitchFamily="34" charset="0"/>
                <a:cs typeface="Arial" pitchFamily="34" charset="0"/>
              </a:rPr>
              <a:t>ONE bed is occupied by ONLY ONE patient</a:t>
            </a:r>
          </a:p>
        </p:txBody>
      </p:sp>
    </p:spTree>
    <p:extLst>
      <p:ext uri="{BB962C8B-B14F-4D97-AF65-F5344CB8AC3E}">
        <p14:creationId xmlns:p14="http://schemas.microsoft.com/office/powerpoint/2010/main" val="359450163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5360" y="620688"/>
            <a:ext cx="11593287" cy="6150114"/>
          </a:xfrm>
          <a:prstGeom prst="rect">
            <a:avLst/>
          </a:prstGeom>
        </p:spPr>
      </p:pic>
      <p:sp>
        <p:nvSpPr>
          <p:cNvPr id="3" name="Rectangle 2">
            <a:extLst>
              <a:ext uri="{FF2B5EF4-FFF2-40B4-BE49-F238E27FC236}">
                <a16:creationId xmlns:a16="http://schemas.microsoft.com/office/drawing/2014/main" id="{672B1AD0-5EB5-6B92-0293-948A1AFE69C9}"/>
              </a:ext>
            </a:extLst>
          </p:cNvPr>
          <p:cNvSpPr/>
          <p:nvPr/>
        </p:nvSpPr>
        <p:spPr>
          <a:xfrm>
            <a:off x="263352" y="30777"/>
            <a:ext cx="6410934" cy="400110"/>
          </a:xfrm>
          <a:prstGeom prst="rect">
            <a:avLst/>
          </a:prstGeom>
        </p:spPr>
        <p:txBody>
          <a:bodyPr wrap="square">
            <a:spAutoFit/>
          </a:bodyPr>
          <a:lstStyle/>
          <a:p>
            <a:r>
              <a:rPr lang="en-IN" sz="2000" dirty="0">
                <a:solidFill>
                  <a:srgbClr val="F63122"/>
                </a:solidFill>
                <a:latin typeface="Arial" pitchFamily="34" charset="0"/>
                <a:cs typeface="Arial" pitchFamily="34" charset="0"/>
              </a:rPr>
              <a:t>One and ONLY One </a:t>
            </a:r>
            <a:r>
              <a:rPr lang="en-IN" sz="2000" dirty="0">
                <a:latin typeface="Arial" pitchFamily="34" charset="0"/>
                <a:cs typeface="Arial" pitchFamily="34" charset="0"/>
              </a:rPr>
              <a:t>(||)</a:t>
            </a:r>
            <a:r>
              <a:rPr lang="en-IN" sz="2000" dirty="0">
                <a:solidFill>
                  <a:srgbClr val="F63122"/>
                </a:solidFill>
                <a:latin typeface="Arial" pitchFamily="34" charset="0"/>
                <a:cs typeface="Arial" pitchFamily="34" charset="0"/>
              </a:rPr>
              <a:t> Min &amp; Max only One</a:t>
            </a:r>
          </a:p>
        </p:txBody>
      </p:sp>
    </p:spTree>
    <p:extLst>
      <p:ext uri="{BB962C8B-B14F-4D97-AF65-F5344CB8AC3E}">
        <p14:creationId xmlns:p14="http://schemas.microsoft.com/office/powerpoint/2010/main" val="167128863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Sample Database Schema"/>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99455" y="44624"/>
            <a:ext cx="9577065" cy="67413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43874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one-to-one relationship</a:t>
            </a:r>
          </a:p>
        </p:txBody>
      </p:sp>
      <p:sp>
        <p:nvSpPr>
          <p:cNvPr id="3" name="TextBox 2">
            <a:extLst>
              <a:ext uri="{FF2B5EF4-FFF2-40B4-BE49-F238E27FC236}">
                <a16:creationId xmlns:a16="http://schemas.microsoft.com/office/drawing/2014/main" id="{EBC1A492-8948-F28F-29E2-2B0EA9088234}"/>
              </a:ext>
            </a:extLst>
          </p:cNvPr>
          <p:cNvSpPr txBox="1"/>
          <p:nvPr/>
        </p:nvSpPr>
        <p:spPr>
          <a:xfrm>
            <a:off x="2074776" y="3276600"/>
            <a:ext cx="8042448" cy="400110"/>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corresponds to </a:t>
            </a:r>
            <a:r>
              <a:rPr lang="en-US" sz="2000" b="1" dirty="0">
                <a:latin typeface="Palatino Linotype" panose="02040502050505030304" pitchFamily="18" charset="0"/>
              </a:rPr>
              <a:t>one and only one</a:t>
            </a:r>
            <a:r>
              <a:rPr lang="en-US" sz="2000" dirty="0">
                <a:latin typeface="Palatino Linotype" panose="02040502050505030304" pitchFamily="18" charset="0"/>
              </a:rPr>
              <a:t> row in </a:t>
            </a:r>
            <a:r>
              <a:rPr lang="en-US" sz="2000" b="1" dirty="0">
                <a:latin typeface="Palatino Linotype" panose="02040502050505030304" pitchFamily="18" charset="0"/>
              </a:rPr>
              <a:t>Table B</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64540267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7" name="Rectangle 16">
            <a:extLst>
              <a:ext uri="{FF2B5EF4-FFF2-40B4-BE49-F238E27FC236}">
                <a16:creationId xmlns:a16="http://schemas.microsoft.com/office/drawing/2014/main" id="{C078924E-739D-44F4-A904-71C9047A4AB9}"/>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grpSp>
        <p:nvGrpSpPr>
          <p:cNvPr id="27" name="Group 26">
            <a:extLst>
              <a:ext uri="{FF2B5EF4-FFF2-40B4-BE49-F238E27FC236}">
                <a16:creationId xmlns:a16="http://schemas.microsoft.com/office/drawing/2014/main" id="{1B7E5188-DF80-4F4A-B8C1-EE8DC1356550}"/>
              </a:ext>
            </a:extLst>
          </p:cNvPr>
          <p:cNvGrpSpPr/>
          <p:nvPr/>
        </p:nvGrpSpPr>
        <p:grpSpPr>
          <a:xfrm>
            <a:off x="292512" y="3276600"/>
            <a:ext cx="11492120" cy="2616932"/>
            <a:chOff x="292512" y="3265124"/>
            <a:chExt cx="11492120" cy="2616932"/>
          </a:xfrm>
        </p:grpSpPr>
        <p:sp>
          <p:nvSpPr>
            <p:cNvPr id="28" name="Rectangle 27">
              <a:extLst>
                <a:ext uri="{FF2B5EF4-FFF2-40B4-BE49-F238E27FC236}">
                  <a16:creationId xmlns:a16="http://schemas.microsoft.com/office/drawing/2014/main" id="{6CB30761-DCA7-4384-9E12-EE8F4F5CC2E8}"/>
                </a:ext>
              </a:extLst>
            </p:cNvPr>
            <p:cNvSpPr/>
            <p:nvPr/>
          </p:nvSpPr>
          <p:spPr>
            <a:xfrm>
              <a:off x="292512" y="3265124"/>
              <a:ext cx="1987063"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29" name="Rectangle 28">
              <a:extLst>
                <a:ext uri="{FF2B5EF4-FFF2-40B4-BE49-F238E27FC236}">
                  <a16:creationId xmlns:a16="http://schemas.microsoft.com/office/drawing/2014/main" id="{AB153281-0BCF-4321-AAF6-FF64733E8762}"/>
                </a:ext>
              </a:extLst>
            </p:cNvPr>
            <p:cNvSpPr/>
            <p:nvPr/>
          </p:nvSpPr>
          <p:spPr>
            <a:xfrm>
              <a:off x="4367808"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0" name="Rectangle 29">
              <a:extLst>
                <a:ext uri="{FF2B5EF4-FFF2-40B4-BE49-F238E27FC236}">
                  <a16:creationId xmlns:a16="http://schemas.microsoft.com/office/drawing/2014/main" id="{0E7B610C-77A8-4A89-8C11-EDD2D96A6189}"/>
                </a:ext>
              </a:extLst>
            </p:cNvPr>
            <p:cNvSpPr/>
            <p:nvPr/>
          </p:nvSpPr>
          <p:spPr>
            <a:xfrm>
              <a:off x="7680176" y="3265124"/>
              <a:ext cx="2029780"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1" name="Rectangle 30">
              <a:extLst>
                <a:ext uri="{FF2B5EF4-FFF2-40B4-BE49-F238E27FC236}">
                  <a16:creationId xmlns:a16="http://schemas.microsoft.com/office/drawing/2014/main" id="{9CA91BFD-3989-45A8-9F8D-CD5B22D2C472}"/>
                </a:ext>
              </a:extLst>
            </p:cNvPr>
            <p:cNvSpPr/>
            <p:nvPr/>
          </p:nvSpPr>
          <p:spPr>
            <a:xfrm>
              <a:off x="2294090" y="4258971"/>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sp>
          <p:nvSpPr>
            <p:cNvPr id="32" name="Rectangle 31">
              <a:extLst>
                <a:ext uri="{FF2B5EF4-FFF2-40B4-BE49-F238E27FC236}">
                  <a16:creationId xmlns:a16="http://schemas.microsoft.com/office/drawing/2014/main" id="{11161B47-E3C0-4939-B14D-A47C8662ACE2}"/>
                </a:ext>
              </a:extLst>
            </p:cNvPr>
            <p:cNvSpPr/>
            <p:nvPr/>
          </p:nvSpPr>
          <p:spPr>
            <a:xfrm>
              <a:off x="6744072" y="4405122"/>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33" name="Rectangle 32">
              <a:extLst>
                <a:ext uri="{FF2B5EF4-FFF2-40B4-BE49-F238E27FC236}">
                  <a16:creationId xmlns:a16="http://schemas.microsoft.com/office/drawing/2014/main" id="{96A9340A-FB6E-4545-B54B-3FB32B3EAE2E}"/>
                </a:ext>
              </a:extLst>
            </p:cNvPr>
            <p:cNvSpPr/>
            <p:nvPr/>
          </p:nvSpPr>
          <p:spPr>
            <a:xfrm>
              <a:off x="9840416"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4" name="Rectangle 33">
              <a:extLst>
                <a:ext uri="{FF2B5EF4-FFF2-40B4-BE49-F238E27FC236}">
                  <a16:creationId xmlns:a16="http://schemas.microsoft.com/office/drawing/2014/main" id="{E77830FB-9A94-4A2E-8F9E-EE4CCBD5DDDF}"/>
                </a:ext>
              </a:extLst>
            </p:cNvPr>
            <p:cNvSpPr/>
            <p:nvPr/>
          </p:nvSpPr>
          <p:spPr>
            <a:xfrm>
              <a:off x="292512" y="4177546"/>
              <a:ext cx="1987063"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5" name="Rectangle 34">
              <a:extLst>
                <a:ext uri="{FF2B5EF4-FFF2-40B4-BE49-F238E27FC236}">
                  <a16:creationId xmlns:a16="http://schemas.microsoft.com/office/drawing/2014/main" id="{852563ED-8A74-4E9B-9BB1-380A38AD1E30}"/>
                </a:ext>
              </a:extLst>
            </p:cNvPr>
            <p:cNvSpPr/>
            <p:nvPr/>
          </p:nvSpPr>
          <p:spPr>
            <a:xfrm>
              <a:off x="4367808"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6" name="Rectangle 35">
              <a:extLst>
                <a:ext uri="{FF2B5EF4-FFF2-40B4-BE49-F238E27FC236}">
                  <a16:creationId xmlns:a16="http://schemas.microsoft.com/office/drawing/2014/main" id="{B0EE5C98-B517-4940-9578-587B9ACE7B26}"/>
                </a:ext>
              </a:extLst>
            </p:cNvPr>
            <p:cNvSpPr/>
            <p:nvPr/>
          </p:nvSpPr>
          <p:spPr>
            <a:xfrm>
              <a:off x="7680176" y="4177546"/>
              <a:ext cx="2029780"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7" name="Rectangle 36">
              <a:extLst>
                <a:ext uri="{FF2B5EF4-FFF2-40B4-BE49-F238E27FC236}">
                  <a16:creationId xmlns:a16="http://schemas.microsoft.com/office/drawing/2014/main" id="{A1619DF3-E25C-48E3-8FE5-BAF7B57DCC58}"/>
                </a:ext>
              </a:extLst>
            </p:cNvPr>
            <p:cNvSpPr/>
            <p:nvPr/>
          </p:nvSpPr>
          <p:spPr>
            <a:xfrm>
              <a:off x="9840416"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8" name="Rectangle 37">
              <a:extLst>
                <a:ext uri="{FF2B5EF4-FFF2-40B4-BE49-F238E27FC236}">
                  <a16:creationId xmlns:a16="http://schemas.microsoft.com/office/drawing/2014/main" id="{BBA4EA87-E00F-4496-9365-CCF8DB8A59A6}"/>
                </a:ext>
              </a:extLst>
            </p:cNvPr>
            <p:cNvSpPr/>
            <p:nvPr/>
          </p:nvSpPr>
          <p:spPr>
            <a:xfrm>
              <a:off x="292512" y="5089968"/>
              <a:ext cx="1987063"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9" name="Rectangle 38">
              <a:extLst>
                <a:ext uri="{FF2B5EF4-FFF2-40B4-BE49-F238E27FC236}">
                  <a16:creationId xmlns:a16="http://schemas.microsoft.com/office/drawing/2014/main" id="{C52CFF38-5D24-4E3E-A852-0A81315D203B}"/>
                </a:ext>
              </a:extLst>
            </p:cNvPr>
            <p:cNvSpPr/>
            <p:nvPr/>
          </p:nvSpPr>
          <p:spPr>
            <a:xfrm>
              <a:off x="4367808"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40" name="Rectangle 39">
              <a:extLst>
                <a:ext uri="{FF2B5EF4-FFF2-40B4-BE49-F238E27FC236}">
                  <a16:creationId xmlns:a16="http://schemas.microsoft.com/office/drawing/2014/main" id="{F8C62D94-AA22-4187-BA9C-593B55E14A04}"/>
                </a:ext>
              </a:extLst>
            </p:cNvPr>
            <p:cNvSpPr/>
            <p:nvPr/>
          </p:nvSpPr>
          <p:spPr>
            <a:xfrm>
              <a:off x="7666617" y="5089968"/>
              <a:ext cx="2029780"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41" name="Rectangle 40">
              <a:extLst>
                <a:ext uri="{FF2B5EF4-FFF2-40B4-BE49-F238E27FC236}">
                  <a16:creationId xmlns:a16="http://schemas.microsoft.com/office/drawing/2014/main" id="{FD2CA094-394E-402E-87E6-011978A99E8F}"/>
                </a:ext>
              </a:extLst>
            </p:cNvPr>
            <p:cNvSpPr/>
            <p:nvPr/>
          </p:nvSpPr>
          <p:spPr>
            <a:xfrm>
              <a:off x="9812420"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304690944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sp>
        <p:nvSpPr>
          <p:cNvPr id="29" name="Rectangle 28">
            <a:extLst>
              <a:ext uri="{FF2B5EF4-FFF2-40B4-BE49-F238E27FC236}">
                <a16:creationId xmlns:a16="http://schemas.microsoft.com/office/drawing/2014/main" id="{8530BDDF-A63A-495C-80E6-B664F3B41111}"/>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grpSp>
        <p:nvGrpSpPr>
          <p:cNvPr id="5" name="Group 4">
            <a:extLst>
              <a:ext uri="{FF2B5EF4-FFF2-40B4-BE49-F238E27FC236}">
                <a16:creationId xmlns:a16="http://schemas.microsoft.com/office/drawing/2014/main" id="{169CD459-01E9-4B8E-BAC7-F8C82571D8DC}"/>
              </a:ext>
            </a:extLst>
          </p:cNvPr>
          <p:cNvGrpSpPr/>
          <p:nvPr/>
        </p:nvGrpSpPr>
        <p:grpSpPr>
          <a:xfrm>
            <a:off x="292513" y="3276000"/>
            <a:ext cx="11492119" cy="3529354"/>
            <a:chOff x="292513" y="3068960"/>
            <a:chExt cx="11492119" cy="3529354"/>
          </a:xfrm>
        </p:grpSpPr>
        <p:grpSp>
          <p:nvGrpSpPr>
            <p:cNvPr id="3" name="Group 2">
              <a:extLst>
                <a:ext uri="{FF2B5EF4-FFF2-40B4-BE49-F238E27FC236}">
                  <a16:creationId xmlns:a16="http://schemas.microsoft.com/office/drawing/2014/main" id="{E52A0BCB-0F45-46CB-890D-929F71D9B15B}"/>
                </a:ext>
              </a:extLst>
            </p:cNvPr>
            <p:cNvGrpSpPr/>
            <p:nvPr/>
          </p:nvGrpSpPr>
          <p:grpSpPr>
            <a:xfrm>
              <a:off x="292513" y="3068960"/>
              <a:ext cx="11492119" cy="3529354"/>
              <a:chOff x="292513" y="3068960"/>
              <a:chExt cx="11492119" cy="3529354"/>
            </a:xfrm>
          </p:grpSpPr>
          <p:sp>
            <p:nvSpPr>
              <p:cNvPr id="4" name="Rectangle 3">
                <a:extLst>
                  <a:ext uri="{FF2B5EF4-FFF2-40B4-BE49-F238E27FC236}">
                    <a16:creationId xmlns:a16="http://schemas.microsoft.com/office/drawing/2014/main" id="{0FAEF028-AEFA-4F4B-9084-6AAEE72E8DAE}"/>
                  </a:ext>
                </a:extLst>
              </p:cNvPr>
              <p:cNvSpPr/>
              <p:nvPr/>
            </p:nvSpPr>
            <p:spPr>
              <a:xfrm>
                <a:off x="292513"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0" name="Rectangle 9">
                <a:extLst>
                  <a:ext uri="{FF2B5EF4-FFF2-40B4-BE49-F238E27FC236}">
                    <a16:creationId xmlns:a16="http://schemas.microsoft.com/office/drawing/2014/main" id="{4B144CB2-0F02-4F54-A59A-55B898A42EC5}"/>
                  </a:ext>
                </a:extLst>
              </p:cNvPr>
              <p:cNvSpPr/>
              <p:nvPr/>
            </p:nvSpPr>
            <p:spPr>
              <a:xfrm>
                <a:off x="4367808"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2" name="Rectangle 11">
                <a:extLst>
                  <a:ext uri="{FF2B5EF4-FFF2-40B4-BE49-F238E27FC236}">
                    <a16:creationId xmlns:a16="http://schemas.microsoft.com/office/drawing/2014/main" id="{02A576B1-3E6A-47D2-A9B3-EF3ACF1E7D09}"/>
                  </a:ext>
                </a:extLst>
              </p:cNvPr>
              <p:cNvSpPr/>
              <p:nvPr/>
            </p:nvSpPr>
            <p:spPr>
              <a:xfrm>
                <a:off x="7765740"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4" name="Rectangle 13">
                <a:extLst>
                  <a:ext uri="{FF2B5EF4-FFF2-40B4-BE49-F238E27FC236}">
                    <a16:creationId xmlns:a16="http://schemas.microsoft.com/office/drawing/2014/main" id="{51CBB33B-88AA-48F3-937B-DAB4D4C5CC6C}"/>
                  </a:ext>
                </a:extLst>
              </p:cNvPr>
              <p:cNvSpPr/>
              <p:nvPr/>
            </p:nvSpPr>
            <p:spPr>
              <a:xfrm>
                <a:off x="6744072" y="4208958"/>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A08DCA7E-59B5-40F5-B38F-34AFE971DB8A}"/>
                  </a:ext>
                </a:extLst>
              </p:cNvPr>
              <p:cNvSpPr/>
              <p:nvPr/>
            </p:nvSpPr>
            <p:spPr>
              <a:xfrm>
                <a:off x="9840416"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6" name="Rectangle 15">
                <a:extLst>
                  <a:ext uri="{FF2B5EF4-FFF2-40B4-BE49-F238E27FC236}">
                    <a16:creationId xmlns:a16="http://schemas.microsoft.com/office/drawing/2014/main" id="{D2A207D9-8947-411E-9812-A66EFF51E6FA}"/>
                  </a:ext>
                </a:extLst>
              </p:cNvPr>
              <p:cNvSpPr/>
              <p:nvPr/>
            </p:nvSpPr>
            <p:spPr>
              <a:xfrm>
                <a:off x="292513"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0" name="Rectangle 19">
                <a:extLst>
                  <a:ext uri="{FF2B5EF4-FFF2-40B4-BE49-F238E27FC236}">
                    <a16:creationId xmlns:a16="http://schemas.microsoft.com/office/drawing/2014/main" id="{41500532-C7B3-4CB4-8A2B-DFAD4BA446F6}"/>
                  </a:ext>
                </a:extLst>
              </p:cNvPr>
              <p:cNvSpPr/>
              <p:nvPr/>
            </p:nvSpPr>
            <p:spPr>
              <a:xfrm>
                <a:off x="4367808"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1" name="Rectangle 20">
                <a:extLst>
                  <a:ext uri="{FF2B5EF4-FFF2-40B4-BE49-F238E27FC236}">
                    <a16:creationId xmlns:a16="http://schemas.microsoft.com/office/drawing/2014/main" id="{58B51361-72F5-47E3-B5CF-3612C382B5FA}"/>
                  </a:ext>
                </a:extLst>
              </p:cNvPr>
              <p:cNvSpPr/>
              <p:nvPr/>
            </p:nvSpPr>
            <p:spPr>
              <a:xfrm>
                <a:off x="7765740"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2" name="Rectangle 21">
                <a:extLst>
                  <a:ext uri="{FF2B5EF4-FFF2-40B4-BE49-F238E27FC236}">
                    <a16:creationId xmlns:a16="http://schemas.microsoft.com/office/drawing/2014/main" id="{9171EB07-05E3-493C-B31F-1F9E0DCB6604}"/>
                  </a:ext>
                </a:extLst>
              </p:cNvPr>
              <p:cNvSpPr/>
              <p:nvPr/>
            </p:nvSpPr>
            <p:spPr>
              <a:xfrm>
                <a:off x="9840416"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3" name="Rectangle 22">
                <a:extLst>
                  <a:ext uri="{FF2B5EF4-FFF2-40B4-BE49-F238E27FC236}">
                    <a16:creationId xmlns:a16="http://schemas.microsoft.com/office/drawing/2014/main" id="{57562643-2AF1-4E45-903C-1DF264F024A1}"/>
                  </a:ext>
                </a:extLst>
              </p:cNvPr>
              <p:cNvSpPr/>
              <p:nvPr/>
            </p:nvSpPr>
            <p:spPr>
              <a:xfrm>
                <a:off x="292513" y="4893804"/>
                <a:ext cx="1944216" cy="792088"/>
              </a:xfrm>
              <a:prstGeom prst="rect">
                <a:avLst/>
              </a:prstGeom>
              <a:pattFill prst="pct5">
                <a:fgClr>
                  <a:srgbClr val="0099FF"/>
                </a:fgClr>
                <a:bgClr>
                  <a:srgbClr val="FFFFF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Person-3</a:t>
                </a:r>
                <a:endParaRPr lang="en-IN" sz="2200" dirty="0">
                  <a:solidFill>
                    <a:schemeClr val="tx1"/>
                  </a:solidFill>
                  <a:latin typeface="Vrinda" panose="020B0502040204020203" pitchFamily="34" charset="0"/>
                  <a:cs typeface="Vrinda" panose="020B0502040204020203" pitchFamily="34" charset="0"/>
                </a:endParaRPr>
              </a:p>
            </p:txBody>
          </p:sp>
          <p:sp>
            <p:nvSpPr>
              <p:cNvPr id="24" name="Rectangle 23">
                <a:extLst>
                  <a:ext uri="{FF2B5EF4-FFF2-40B4-BE49-F238E27FC236}">
                    <a16:creationId xmlns:a16="http://schemas.microsoft.com/office/drawing/2014/main" id="{B70E5254-38A3-48A9-90FA-DFB12C207A7E}"/>
                  </a:ext>
                </a:extLst>
              </p:cNvPr>
              <p:cNvSpPr/>
              <p:nvPr/>
            </p:nvSpPr>
            <p:spPr>
              <a:xfrm>
                <a:off x="4367808" y="48976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5" name="Rectangle 24">
                <a:extLst>
                  <a:ext uri="{FF2B5EF4-FFF2-40B4-BE49-F238E27FC236}">
                    <a16:creationId xmlns:a16="http://schemas.microsoft.com/office/drawing/2014/main" id="{53EC1200-04A3-43C2-9D81-15B27BBDC13C}"/>
                  </a:ext>
                </a:extLst>
              </p:cNvPr>
              <p:cNvSpPr/>
              <p:nvPr/>
            </p:nvSpPr>
            <p:spPr>
              <a:xfrm>
                <a:off x="7752181"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sp>
            <p:nvSpPr>
              <p:cNvPr id="26" name="Rectangle 25">
                <a:extLst>
                  <a:ext uri="{FF2B5EF4-FFF2-40B4-BE49-F238E27FC236}">
                    <a16:creationId xmlns:a16="http://schemas.microsoft.com/office/drawing/2014/main" id="{F84BF3A0-51EF-4F16-BD08-7E36A8B80EBD}"/>
                  </a:ext>
                </a:extLst>
              </p:cNvPr>
              <p:cNvSpPr/>
              <p:nvPr/>
            </p:nvSpPr>
            <p:spPr>
              <a:xfrm>
                <a:off x="9812420"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7" name="Rectangle 26">
                <a:extLst>
                  <a:ext uri="{FF2B5EF4-FFF2-40B4-BE49-F238E27FC236}">
                    <a16:creationId xmlns:a16="http://schemas.microsoft.com/office/drawing/2014/main" id="{BCCB429C-CF98-4BC1-968C-E863A7F5AD7D}"/>
                  </a:ext>
                </a:extLst>
              </p:cNvPr>
              <p:cNvSpPr/>
              <p:nvPr/>
            </p:nvSpPr>
            <p:spPr>
              <a:xfrm>
                <a:off x="292513" y="58062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grpSp>
        <p:sp>
          <p:nvSpPr>
            <p:cNvPr id="30" name="Rectangle 29">
              <a:extLst>
                <a:ext uri="{FF2B5EF4-FFF2-40B4-BE49-F238E27FC236}">
                  <a16:creationId xmlns:a16="http://schemas.microsoft.com/office/drawing/2014/main" id="{AE0EE407-FAE1-4F57-918C-99AF5166FE41}"/>
                </a:ext>
              </a:extLst>
            </p:cNvPr>
            <p:cNvSpPr/>
            <p:nvPr/>
          </p:nvSpPr>
          <p:spPr>
            <a:xfrm>
              <a:off x="2294090" y="4270447"/>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grpSp>
    </p:spTree>
    <p:extLst>
      <p:ext uri="{BB962C8B-B14F-4D97-AF65-F5344CB8AC3E}">
        <p14:creationId xmlns:p14="http://schemas.microsoft.com/office/powerpoint/2010/main" val="72930661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8D01DEB1-6941-4DC8-9B8D-37C0F1059586}"/>
              </a:ext>
            </a:extLst>
          </p:cNvPr>
          <p:cNvSpPr/>
          <p:nvPr/>
        </p:nvSpPr>
        <p:spPr>
          <a:xfrm>
            <a:off x="231412" y="692696"/>
            <a:ext cx="5000492" cy="3970318"/>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p>
          <a:p>
            <a:endParaRPr lang="en-US" dirty="0">
              <a:latin typeface="Liberation Mono"/>
              <a:cs typeface="Arial" panose="020B0604020202020204" pitchFamily="34" charset="0"/>
            </a:endParaRPr>
          </a:p>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userImage (</a:t>
            </a:r>
          </a:p>
          <a:p>
            <a:r>
              <a:rPr lang="en-IN" dirty="0">
                <a:latin typeface="Liberation Mono"/>
                <a:cs typeface="Arial" panose="020B0604020202020204" pitchFamily="34" charset="0"/>
              </a:rPr>
              <a:t>   imageID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imageUrl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 INT </a:t>
            </a:r>
            <a:r>
              <a:rPr lang="en-IN" dirty="0">
                <a:solidFill>
                  <a:schemeClr val="accent4">
                    <a:lumMod val="50000"/>
                  </a:schemeClr>
                </a:solidFill>
                <a:latin typeface="Liberation Mono"/>
                <a:cs typeface="Arial" panose="020B0604020202020204" pitchFamily="34" charset="0"/>
              </a:rPr>
              <a:t>NOT NULL </a:t>
            </a:r>
            <a:r>
              <a:rPr lang="en-IN" dirty="0">
                <a:solidFill>
                  <a:srgbClr val="C00000"/>
                </a:solidFill>
                <a:latin typeface="Liberation Mono"/>
                <a:cs typeface="Arial" panose="020B0604020202020204" pitchFamily="34" charset="0"/>
              </a:rPr>
              <a:t>UNIQUE</a:t>
            </a:r>
            <a:r>
              <a:rPr lang="en-IN" dirty="0">
                <a:solidFill>
                  <a:srgbClr val="834689"/>
                </a:solidFill>
                <a:latin typeface="Liberation Mono"/>
                <a:cs typeface="Arial" panose="020B0604020202020204" pitchFamily="34" charset="0"/>
              </a:rPr>
              <a:t>,</a:t>
            </a:r>
          </a:p>
          <a:p>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user(userID)</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pic>
        <p:nvPicPr>
          <p:cNvPr id="7" name="Picture 6">
            <a:extLst>
              <a:ext uri="{FF2B5EF4-FFF2-40B4-BE49-F238E27FC236}">
                <a16:creationId xmlns:a16="http://schemas.microsoft.com/office/drawing/2014/main" id="{E3DD8CE8-DEB8-4044-A487-A47C48873FCF}"/>
              </a:ext>
            </a:extLst>
          </p:cNvPr>
          <p:cNvPicPr>
            <a:picLocks noChangeAspect="1"/>
          </p:cNvPicPr>
          <p:nvPr/>
        </p:nvPicPr>
        <p:blipFill>
          <a:blip r:embed="rId2"/>
          <a:stretch>
            <a:fillRect/>
          </a:stretch>
        </p:blipFill>
        <p:spPr>
          <a:xfrm>
            <a:off x="6070782" y="4760935"/>
            <a:ext cx="5773426" cy="1656184"/>
          </a:xfrm>
          <a:prstGeom prst="rect">
            <a:avLst/>
          </a:prstGeom>
        </p:spPr>
      </p:pic>
      <p:pic>
        <p:nvPicPr>
          <p:cNvPr id="9" name="Picture 8">
            <a:extLst>
              <a:ext uri="{FF2B5EF4-FFF2-40B4-BE49-F238E27FC236}">
                <a16:creationId xmlns:a16="http://schemas.microsoft.com/office/drawing/2014/main" id="{45F8953D-24B5-42CE-950A-FB7EC0831A68}"/>
              </a:ext>
            </a:extLst>
          </p:cNvPr>
          <p:cNvPicPr>
            <a:picLocks noChangeAspect="1"/>
          </p:cNvPicPr>
          <p:nvPr/>
        </p:nvPicPr>
        <p:blipFill>
          <a:blip r:embed="rId3"/>
          <a:stretch>
            <a:fillRect/>
          </a:stretch>
        </p:blipFill>
        <p:spPr>
          <a:xfrm>
            <a:off x="7685333" y="417120"/>
            <a:ext cx="4315658" cy="3155895"/>
          </a:xfrm>
          <a:prstGeom prst="rect">
            <a:avLst/>
          </a:prstGeom>
        </p:spPr>
      </p:pic>
      <p:pic>
        <p:nvPicPr>
          <p:cNvPr id="10" name="Picture 9">
            <a:extLst>
              <a:ext uri="{FF2B5EF4-FFF2-40B4-BE49-F238E27FC236}">
                <a16:creationId xmlns:a16="http://schemas.microsoft.com/office/drawing/2014/main" id="{6AFAFCBB-2C13-47D6-B962-68D400373CCD}"/>
              </a:ext>
            </a:extLst>
          </p:cNvPr>
          <p:cNvPicPr>
            <a:picLocks noChangeAspect="1"/>
          </p:cNvPicPr>
          <p:nvPr/>
        </p:nvPicPr>
        <p:blipFill>
          <a:blip r:embed="rId4"/>
          <a:stretch>
            <a:fillRect/>
          </a:stretch>
        </p:blipFill>
        <p:spPr>
          <a:xfrm>
            <a:off x="237073" y="4800727"/>
            <a:ext cx="5627955" cy="1656183"/>
          </a:xfrm>
          <a:prstGeom prst="rect">
            <a:avLst/>
          </a:prstGeom>
        </p:spPr>
      </p:pic>
      <p:sp>
        <p:nvSpPr>
          <p:cNvPr id="8" name="Rectangle 7">
            <a:extLst>
              <a:ext uri="{FF2B5EF4-FFF2-40B4-BE49-F238E27FC236}">
                <a16:creationId xmlns:a16="http://schemas.microsoft.com/office/drawing/2014/main" id="{798F5666-EAA3-4C25-9E8F-1359FC8293F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62161333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07368" y="404664"/>
            <a:ext cx="4000528" cy="1477328"/>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77AA"/>
                </a:solidFill>
                <a:latin typeface="Liberation Mono"/>
              </a:rPr>
              <a:t>TABLE</a:t>
            </a:r>
            <a:r>
              <a:rPr lang="en-US" dirty="0">
                <a:latin typeface="Liberation Mono"/>
                <a:cs typeface="Arial" panose="020B0604020202020204" pitchFamily="34" charset="0"/>
              </a:rPr>
              <a:t> person (</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p>
          <a:p>
            <a:r>
              <a:rPr lang="en-US" dirty="0">
                <a:latin typeface="Liberation Mono"/>
                <a:cs typeface="Arial" panose="020B0604020202020204" pitchFamily="34" charset="0"/>
              </a:rPr>
              <a:t>    emailID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(128)</a:t>
            </a:r>
          </a:p>
          <a:p>
            <a:r>
              <a:rPr lang="en-US" dirty="0">
                <a:latin typeface="Liberation Mono"/>
                <a:cs typeface="Arial" panose="020B0604020202020204" pitchFamily="34" charset="0"/>
              </a:rPr>
              <a:t>);</a:t>
            </a:r>
          </a:p>
        </p:txBody>
      </p:sp>
      <p:sp>
        <p:nvSpPr>
          <p:cNvPr id="7" name="Rectangle 6"/>
          <p:cNvSpPr/>
          <p:nvPr/>
        </p:nvSpPr>
        <p:spPr>
          <a:xfrm>
            <a:off x="5932987" y="642918"/>
            <a:ext cx="5851645" cy="1754326"/>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6699"/>
                </a:solidFill>
                <a:latin typeface="Liberation Mono"/>
              </a:rPr>
              <a:t>TABLE</a:t>
            </a:r>
            <a:r>
              <a:rPr lang="en-US" dirty="0">
                <a:latin typeface="Liberation Mono"/>
                <a:cs typeface="Arial" panose="020B0604020202020204" pitchFamily="34" charset="0"/>
              </a:rPr>
              <a:t> passportDetails (</a:t>
            </a:r>
          </a:p>
          <a:p>
            <a:r>
              <a:rPr lang="en-US" dirty="0">
                <a:latin typeface="Liberation Mono"/>
                <a:cs typeface="Arial" panose="020B0604020202020204" pitchFamily="34" charset="0"/>
              </a:rPr>
              <a:t>     passportID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r>
              <a:rPr lang="en-US" dirty="0">
                <a:latin typeface="Liberation Mono"/>
                <a:cs typeface="Arial" panose="020B0604020202020204" pitchFamily="34" charset="0"/>
              </a:rPr>
              <a:t>     passport_Number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(255),</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UNIQUE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(person_ID)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person(person_ID)</a:t>
            </a:r>
          </a:p>
          <a:p>
            <a:r>
              <a:rPr lang="en-US" dirty="0">
                <a:latin typeface="Liberation Mono"/>
                <a:cs typeface="Arial" panose="020B0604020202020204" pitchFamily="34" charset="0"/>
              </a:rPr>
              <a:t>);</a:t>
            </a:r>
          </a:p>
        </p:txBody>
      </p:sp>
      <p:sp>
        <p:nvSpPr>
          <p:cNvPr id="1026" name="Rectangle 2"/>
          <p:cNvSpPr>
            <a:spLocks noChangeArrowheads="1"/>
          </p:cNvSpPr>
          <p:nvPr/>
        </p:nvSpPr>
        <p:spPr bwMode="auto">
          <a:xfrm>
            <a:off x="795"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11">
            <a:extLst>
              <a:ext uri="{FF2B5EF4-FFF2-40B4-BE49-F238E27FC236}">
                <a16:creationId xmlns:a16="http://schemas.microsoft.com/office/drawing/2014/main" id="{F5AF900A-619D-4522-97E0-4FFEAEA849E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85078599-4163-452F-9826-002CE89C99EE}"/>
              </a:ext>
            </a:extLst>
          </p:cNvPr>
          <p:cNvPicPr>
            <a:picLocks noChangeAspect="1"/>
          </p:cNvPicPr>
          <p:nvPr/>
        </p:nvPicPr>
        <p:blipFill>
          <a:blip r:embed="rId2"/>
          <a:stretch>
            <a:fillRect/>
          </a:stretch>
        </p:blipFill>
        <p:spPr>
          <a:xfrm>
            <a:off x="165775" y="1952546"/>
            <a:ext cx="4628882" cy="1476454"/>
          </a:xfrm>
          <a:prstGeom prst="rect">
            <a:avLst/>
          </a:prstGeom>
        </p:spPr>
      </p:pic>
      <p:pic>
        <p:nvPicPr>
          <p:cNvPr id="4" name="Picture 3">
            <a:extLst>
              <a:ext uri="{FF2B5EF4-FFF2-40B4-BE49-F238E27FC236}">
                <a16:creationId xmlns:a16="http://schemas.microsoft.com/office/drawing/2014/main" id="{0E68692D-2A47-4119-BCC9-64AE9B6FC1E6}"/>
              </a:ext>
            </a:extLst>
          </p:cNvPr>
          <p:cNvPicPr>
            <a:picLocks noChangeAspect="1"/>
          </p:cNvPicPr>
          <p:nvPr/>
        </p:nvPicPr>
        <p:blipFill>
          <a:blip r:embed="rId3"/>
          <a:stretch>
            <a:fillRect/>
          </a:stretch>
        </p:blipFill>
        <p:spPr>
          <a:xfrm>
            <a:off x="6094310" y="2530803"/>
            <a:ext cx="4819264" cy="1618277"/>
          </a:xfrm>
          <a:prstGeom prst="rect">
            <a:avLst/>
          </a:prstGeom>
        </p:spPr>
      </p:pic>
      <p:pic>
        <p:nvPicPr>
          <p:cNvPr id="9" name="Picture 8">
            <a:extLst>
              <a:ext uri="{FF2B5EF4-FFF2-40B4-BE49-F238E27FC236}">
                <a16:creationId xmlns:a16="http://schemas.microsoft.com/office/drawing/2014/main" id="{6AA7132D-CED4-48CE-8706-89573ACD21D0}"/>
              </a:ext>
            </a:extLst>
          </p:cNvPr>
          <p:cNvPicPr>
            <a:picLocks noChangeAspect="1"/>
          </p:cNvPicPr>
          <p:nvPr/>
        </p:nvPicPr>
        <p:blipFill>
          <a:blip r:embed="rId4"/>
          <a:stretch>
            <a:fillRect/>
          </a:stretch>
        </p:blipFill>
        <p:spPr>
          <a:xfrm>
            <a:off x="165774" y="3641253"/>
            <a:ext cx="5915671" cy="3216744"/>
          </a:xfrm>
          <a:prstGeom prst="rect">
            <a:avLst/>
          </a:prstGeom>
        </p:spPr>
      </p:pic>
    </p:spTree>
    <p:extLst>
      <p:ext uri="{BB962C8B-B14F-4D97-AF65-F5344CB8AC3E}">
        <p14:creationId xmlns:p14="http://schemas.microsoft.com/office/powerpoint/2010/main" val="179276966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one-to-many relationship</a:t>
            </a:r>
          </a:p>
        </p:txBody>
      </p:sp>
      <p:sp>
        <p:nvSpPr>
          <p:cNvPr id="3" name="TextBox 2">
            <a:extLst>
              <a:ext uri="{FF2B5EF4-FFF2-40B4-BE49-F238E27FC236}">
                <a16:creationId xmlns:a16="http://schemas.microsoft.com/office/drawing/2014/main" id="{C25B1F10-672D-8E6E-7CEE-BF47A33D7D18}"/>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but </a:t>
            </a:r>
            <a:r>
              <a:rPr lang="en-US" sz="2000" b="1" dirty="0">
                <a:latin typeface="Palatino Linotype" panose="02040502050505030304" pitchFamily="18" charset="0"/>
              </a:rPr>
              <a:t>many rows in Table </a:t>
            </a:r>
            <a:r>
              <a:rPr lang="en-US" sz="2000" dirty="0">
                <a:latin typeface="Palatino Linotype" panose="02040502050505030304" pitchFamily="18" charset="0"/>
              </a:rPr>
              <a:t>B </a:t>
            </a:r>
            <a:r>
              <a:rPr lang="en-US" sz="2000" b="1" dirty="0">
                <a:latin typeface="Palatino Linotype" panose="02040502050505030304" pitchFamily="18" charset="0"/>
              </a:rPr>
              <a:t>belongs to only one</a:t>
            </a:r>
            <a:r>
              <a:rPr lang="en-US" sz="2000" dirty="0">
                <a:latin typeface="Palatino Linotype" panose="02040502050505030304" pitchFamily="18" charset="0"/>
              </a:rPr>
              <a:t> </a:t>
            </a:r>
            <a:r>
              <a:rPr lang="en-US" sz="2000" b="1" dirty="0">
                <a:latin typeface="Palatino Linotype" panose="02040502050505030304" pitchFamily="18" charset="0"/>
              </a:rPr>
              <a:t>Table A</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77876901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sp>
        <p:nvSpPr>
          <p:cNvPr id="21" name="Rectangle 20">
            <a:extLst>
              <a:ext uri="{FF2B5EF4-FFF2-40B4-BE49-F238E27FC236}">
                <a16:creationId xmlns:a16="http://schemas.microsoft.com/office/drawing/2014/main" id="{B4F66151-EED6-4171-8A2F-88B53771FE18}"/>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zero or more row in the table on the other side of their relationship. </a:t>
            </a:r>
          </a:p>
        </p:txBody>
      </p:sp>
      <p:sp>
        <p:nvSpPr>
          <p:cNvPr id="23" name="Rectangle 22">
            <a:extLst>
              <a:ext uri="{FF2B5EF4-FFF2-40B4-BE49-F238E27FC236}">
                <a16:creationId xmlns:a16="http://schemas.microsoft.com/office/drawing/2014/main" id="{5AE765EC-924E-4252-8FA7-8625CE4BDD3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4" name="Rectangle 53">
              <a:extLst>
                <a:ext uri="{FF2B5EF4-FFF2-40B4-BE49-F238E27FC236}">
                  <a16:creationId xmlns:a16="http://schemas.microsoft.com/office/drawing/2014/main" id="{5C7ACCFC-E7FE-4FD5-9AE5-3227CE7FDD9F}"/>
                </a:ext>
              </a:extLst>
            </p:cNvPr>
            <p:cNvSpPr/>
            <p:nvPr/>
          </p:nvSpPr>
          <p:spPr>
            <a:xfrm>
              <a:off x="76488" y="4989580"/>
              <a:ext cx="2232000" cy="504056"/>
            </a:xfrm>
            <a:prstGeom prst="rect">
              <a:avLst/>
            </a:prstGeom>
            <a:pattFill prst="pct5">
              <a:fgClr>
                <a:srgbClr val="FF0000"/>
              </a:fgClr>
              <a:bgClr>
                <a:schemeClr val="bg2"/>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Customer-5</a:t>
              </a: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172766650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endParaRPr lang="en-IN" sz="2200" dirty="0">
                <a:solidFill>
                  <a:schemeClr val="tx1"/>
                </a:solidFill>
                <a:latin typeface="Vrinda" panose="020B0502040204020203" pitchFamily="34" charset="0"/>
                <a:cs typeface="Vrinda" panose="020B0502040204020203" pitchFamily="34" charset="0"/>
              </a:endParaRP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grpSp>
      <p:sp>
        <p:nvSpPr>
          <p:cNvPr id="36" name="Rectangle 35">
            <a:extLst>
              <a:ext uri="{FF2B5EF4-FFF2-40B4-BE49-F238E27FC236}">
                <a16:creationId xmlns:a16="http://schemas.microsoft.com/office/drawing/2014/main" id="{1A0F5FE0-47D3-4951-988D-E9C0C279A15E}"/>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one or more row in the table on the other side of their relationship. </a:t>
            </a:r>
          </a:p>
        </p:txBody>
      </p:sp>
      <p:sp>
        <p:nvSpPr>
          <p:cNvPr id="37" name="Rectangle 36">
            <a:extLst>
              <a:ext uri="{FF2B5EF4-FFF2-40B4-BE49-F238E27FC236}">
                <a16:creationId xmlns:a16="http://schemas.microsoft.com/office/drawing/2014/main" id="{2DC6B766-113B-4C30-8E5C-D61D25F70D6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spTree>
    <p:extLst>
      <p:ext uri="{BB962C8B-B14F-4D97-AF65-F5344CB8AC3E}">
        <p14:creationId xmlns:p14="http://schemas.microsoft.com/office/powerpoint/2010/main" val="175821778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4" name="Rectangle 13">
            <a:extLst>
              <a:ext uri="{FF2B5EF4-FFF2-40B4-BE49-F238E27FC236}">
                <a16:creationId xmlns:a16="http://schemas.microsoft.com/office/drawing/2014/main" id="{70865B63-25AF-4C6E-9DDF-0FF4B81CF1A1}"/>
              </a:ext>
            </a:extLst>
          </p:cNvPr>
          <p:cNvSpPr/>
          <p:nvPr/>
        </p:nvSpPr>
        <p:spPr>
          <a:xfrm>
            <a:off x="216500" y="427724"/>
            <a:ext cx="5256584" cy="286232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customer </a:t>
            </a:r>
            <a:r>
              <a:rPr lang="en-IN" dirty="0">
                <a:latin typeface="Liberation Mono"/>
                <a:cs typeface="Arial" panose="020B0604020202020204" pitchFamily="34" charset="0"/>
              </a:rPr>
              <a:t>(</a:t>
            </a:r>
          </a:p>
          <a:p>
            <a:r>
              <a:rPr lang="en-IN" dirty="0">
                <a:solidFill>
                  <a:schemeClr val="tx1">
                    <a:lumMod val="95000"/>
                    <a:lumOff val="5000"/>
                  </a:schemeClr>
                </a:solidFill>
                <a:latin typeface="Liberation Mono"/>
                <a:ea typeface="Times New Roman" panose="02020603050405020304" pitchFamily="18" charset="0"/>
              </a:rPr>
              <a:t>     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PRIMARY</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KEY</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240</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repID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creditLimit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9,2</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comments </a:t>
            </a:r>
            <a:r>
              <a:rPr lang="en-IN" dirty="0">
                <a:solidFill>
                  <a:srgbClr val="834689"/>
                </a:solidFill>
                <a:latin typeface="Liberation Mono"/>
                <a:cs typeface="Arial" panose="020B0604020202020204" pitchFamily="34" charset="0"/>
              </a:rPr>
              <a:t>TEXT</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custid_zero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custID &gt; 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9" name="Rectangle 8">
            <a:extLst>
              <a:ext uri="{FF2B5EF4-FFF2-40B4-BE49-F238E27FC236}">
                <a16:creationId xmlns:a16="http://schemas.microsoft.com/office/drawing/2014/main" id="{8804E277-BC12-4778-8EF5-3EA551A70071}"/>
              </a:ext>
            </a:extLst>
          </p:cNvPr>
          <p:cNvSpPr/>
          <p:nvPr/>
        </p:nvSpPr>
        <p:spPr>
          <a:xfrm>
            <a:off x="5340353" y="704723"/>
            <a:ext cx="6600056" cy="2585323"/>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FOREIGN</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customer</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68FB0FA7-9B35-4EDB-8F67-357C97B759D6}"/>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pic>
        <p:nvPicPr>
          <p:cNvPr id="4" name="Picture 3">
            <a:extLst>
              <a:ext uri="{FF2B5EF4-FFF2-40B4-BE49-F238E27FC236}">
                <a16:creationId xmlns:a16="http://schemas.microsoft.com/office/drawing/2014/main" id="{C4332D80-015F-458F-A5AB-68EE5126AF46}"/>
              </a:ext>
            </a:extLst>
          </p:cNvPr>
          <p:cNvPicPr>
            <a:picLocks noChangeAspect="1"/>
          </p:cNvPicPr>
          <p:nvPr/>
        </p:nvPicPr>
        <p:blipFill>
          <a:blip r:embed="rId2"/>
          <a:stretch>
            <a:fillRect/>
          </a:stretch>
        </p:blipFill>
        <p:spPr>
          <a:xfrm>
            <a:off x="216500" y="3273892"/>
            <a:ext cx="4910179" cy="3316495"/>
          </a:xfrm>
          <a:prstGeom prst="rect">
            <a:avLst/>
          </a:prstGeom>
        </p:spPr>
      </p:pic>
    </p:spTree>
    <p:extLst>
      <p:ext uri="{BB962C8B-B14F-4D97-AF65-F5344CB8AC3E}">
        <p14:creationId xmlns:p14="http://schemas.microsoft.com/office/powerpoint/2010/main" val="40369518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sp>
        <p:nvSpPr>
          <p:cNvPr id="9" name="Rectangle 8"/>
          <p:cNvSpPr/>
          <p:nvPr/>
        </p:nvSpPr>
        <p:spPr>
          <a:xfrm>
            <a:off x="191344" y="260648"/>
            <a:ext cx="4500594" cy="1754326"/>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invoice (  </a:t>
            </a:r>
          </a:p>
          <a:p>
            <a:r>
              <a:rPr lang="en-US" dirty="0">
                <a:latin typeface="Liberation Mono"/>
                <a:cs typeface="Arial" panose="020B0604020202020204" pitchFamily="34" charset="0"/>
              </a:rPr>
              <a:t>   invoiceID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invoiceDate </a:t>
            </a:r>
            <a:r>
              <a:rPr lang="en-US" dirty="0">
                <a:solidFill>
                  <a:srgbClr val="834689"/>
                </a:solidFill>
                <a:latin typeface="Liberation Mono"/>
                <a:cs typeface="Arial" panose="020B0604020202020204" pitchFamily="34" charset="0"/>
              </a:rPr>
              <a:t>DATE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invoiceAmount </a:t>
            </a:r>
            <a:r>
              <a:rPr lang="en-US" dirty="0">
                <a:solidFill>
                  <a:srgbClr val="834689"/>
                </a:solidFill>
                <a:latin typeface="Liberation Mono"/>
                <a:cs typeface="Arial" panose="020B0604020202020204" pitchFamily="34" charset="0"/>
              </a:rPr>
              <a:t>INT</a:t>
            </a:r>
          </a:p>
          <a:p>
            <a:r>
              <a:rPr lang="en-US" dirty="0">
                <a:latin typeface="Liberation Mono"/>
                <a:cs typeface="Arial" panose="020B0604020202020204" pitchFamily="34" charset="0"/>
              </a:rPr>
              <a:t>);</a:t>
            </a:r>
          </a:p>
        </p:txBody>
      </p:sp>
      <p:pic>
        <p:nvPicPr>
          <p:cNvPr id="4" name="Picture 3">
            <a:extLst>
              <a:ext uri="{FF2B5EF4-FFF2-40B4-BE49-F238E27FC236}">
                <a16:creationId xmlns:a16="http://schemas.microsoft.com/office/drawing/2014/main" id="{8D4A7CCD-52B2-417D-A3D7-D745671BE1CA}"/>
              </a:ext>
            </a:extLst>
          </p:cNvPr>
          <p:cNvPicPr>
            <a:picLocks noChangeAspect="1"/>
          </p:cNvPicPr>
          <p:nvPr/>
        </p:nvPicPr>
        <p:blipFill>
          <a:blip r:embed="rId2"/>
          <a:stretch>
            <a:fillRect/>
          </a:stretch>
        </p:blipFill>
        <p:spPr>
          <a:xfrm>
            <a:off x="191343" y="2060755"/>
            <a:ext cx="4386919" cy="1512261"/>
          </a:xfrm>
          <a:prstGeom prst="rect">
            <a:avLst/>
          </a:prstGeom>
        </p:spPr>
      </p:pic>
      <p:pic>
        <p:nvPicPr>
          <p:cNvPr id="6" name="Picture 5">
            <a:extLst>
              <a:ext uri="{FF2B5EF4-FFF2-40B4-BE49-F238E27FC236}">
                <a16:creationId xmlns:a16="http://schemas.microsoft.com/office/drawing/2014/main" id="{8DAEBAA2-3D0F-407E-9778-0A95E177AA07}"/>
              </a:ext>
            </a:extLst>
          </p:cNvPr>
          <p:cNvPicPr>
            <a:picLocks noChangeAspect="1"/>
          </p:cNvPicPr>
          <p:nvPr/>
        </p:nvPicPr>
        <p:blipFill>
          <a:blip r:embed="rId3"/>
          <a:stretch>
            <a:fillRect/>
          </a:stretch>
        </p:blipFill>
        <p:spPr>
          <a:xfrm>
            <a:off x="191343" y="3717032"/>
            <a:ext cx="3839958" cy="2952328"/>
          </a:xfrm>
          <a:prstGeom prst="rect">
            <a:avLst/>
          </a:prstGeom>
        </p:spPr>
      </p:pic>
      <p:sp>
        <p:nvSpPr>
          <p:cNvPr id="3" name="TextBox 2">
            <a:extLst>
              <a:ext uri="{FF2B5EF4-FFF2-40B4-BE49-F238E27FC236}">
                <a16:creationId xmlns:a16="http://schemas.microsoft.com/office/drawing/2014/main" id="{3B8EEF22-B18D-EAD9-176D-E35C458DA900}"/>
              </a:ext>
            </a:extLst>
          </p:cNvPr>
          <p:cNvSpPr txBox="1"/>
          <p:nvPr/>
        </p:nvSpPr>
        <p:spPr>
          <a:xfrm>
            <a:off x="5375920" y="860812"/>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7" name="TextBox 6">
            <a:extLst>
              <a:ext uri="{FF2B5EF4-FFF2-40B4-BE49-F238E27FC236}">
                <a16:creationId xmlns:a16="http://schemas.microsoft.com/office/drawing/2014/main" id="{195A19A4-B0AE-A308-5BDF-0C85DB3305DF}"/>
              </a:ext>
            </a:extLst>
          </p:cNvPr>
          <p:cNvSpPr txBox="1"/>
          <p:nvPr/>
        </p:nvSpPr>
        <p:spPr>
          <a:xfrm>
            <a:off x="5375920" y="3573016"/>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Tree>
    <p:extLst>
      <p:ext uri="{BB962C8B-B14F-4D97-AF65-F5344CB8AC3E}">
        <p14:creationId xmlns:p14="http://schemas.microsoft.com/office/powerpoint/2010/main" val="156407761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many-to-one relationship</a:t>
            </a:r>
          </a:p>
        </p:txBody>
      </p:sp>
    </p:spTree>
    <p:extLst>
      <p:ext uri="{BB962C8B-B14F-4D97-AF65-F5344CB8AC3E}">
        <p14:creationId xmlns:p14="http://schemas.microsoft.com/office/powerpoint/2010/main" val="89491097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many-to-one relationship</a:t>
            </a:r>
          </a:p>
        </p:txBody>
      </p:sp>
      <p:sp>
        <p:nvSpPr>
          <p:cNvPr id="12" name="TextBox 11">
            <a:extLst>
              <a:ext uri="{FF2B5EF4-FFF2-40B4-BE49-F238E27FC236}">
                <a16:creationId xmlns:a16="http://schemas.microsoft.com/office/drawing/2014/main" id="{9E736947-440E-4A07-82C2-2AD04F98D4FA}"/>
              </a:ext>
            </a:extLst>
          </p:cNvPr>
          <p:cNvSpPr txBox="1"/>
          <p:nvPr/>
        </p:nvSpPr>
        <p:spPr>
          <a:xfrm>
            <a:off x="191345" y="116632"/>
            <a:ext cx="5760639" cy="6709529"/>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rPr>
              <a:t>userID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endParaRPr lang="en-IN" dirty="0">
              <a:latin typeface="Liberation Mono"/>
            </a:endParaRP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fk_users_login_loginID1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endParaRPr lang="en-IN" sz="800" dirty="0">
              <a:latin typeface="Liberation Mono"/>
            </a:endParaRP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latin typeface="Liberation Mono"/>
              </a:rPr>
              <a:t>   userID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fk_users_login_loginID2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r>
              <a:rPr lang="en-IN" sz="800" dirty="0">
                <a:latin typeface="Liberation Mono"/>
              </a:rPr>
              <a:t>  </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login </a:t>
            </a:r>
            <a:r>
              <a:rPr lang="en-IN" dirty="0">
                <a:latin typeface="Liberation Mono"/>
                <a:cs typeface="Arial" panose="020B0604020202020204" pitchFamily="34" charset="0"/>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createdON </a:t>
            </a:r>
            <a:r>
              <a:rPr lang="en-IN" dirty="0">
                <a:solidFill>
                  <a:srgbClr val="834689"/>
                </a:solidFill>
                <a:latin typeface="Liberation Mono"/>
                <a:cs typeface="Arial" panose="020B0604020202020204" pitchFamily="34" charset="0"/>
              </a:rPr>
              <a:t>DATETIME</a:t>
            </a:r>
            <a:r>
              <a:rPr lang="en-IN" dirty="0">
                <a:latin typeface="Liberation Mono"/>
              </a:rPr>
              <a:t>,</a:t>
            </a:r>
          </a:p>
          <a:p>
            <a:r>
              <a:rPr lang="en-IN" dirty="0">
                <a:latin typeface="Liberation Mono"/>
              </a:rPr>
              <a:t>   isActive </a:t>
            </a:r>
            <a:r>
              <a:rPr lang="en-IN" dirty="0">
                <a:solidFill>
                  <a:srgbClr val="834689"/>
                </a:solidFill>
                <a:latin typeface="Liberation Mono"/>
                <a:cs typeface="Arial" panose="020B0604020202020204" pitchFamily="34" charset="0"/>
              </a:rPr>
              <a:t>TINYINT</a:t>
            </a:r>
            <a:r>
              <a:rPr lang="en-IN" dirty="0">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pic>
        <p:nvPicPr>
          <p:cNvPr id="7" name="Picture 6">
            <a:extLst>
              <a:ext uri="{FF2B5EF4-FFF2-40B4-BE49-F238E27FC236}">
                <a16:creationId xmlns:a16="http://schemas.microsoft.com/office/drawing/2014/main" id="{AA8AC147-1FFC-1F17-D908-A724F39B046D}"/>
              </a:ext>
            </a:extLst>
          </p:cNvPr>
          <p:cNvPicPr>
            <a:picLocks noChangeAspect="1"/>
          </p:cNvPicPr>
          <p:nvPr/>
        </p:nvPicPr>
        <p:blipFill>
          <a:blip r:embed="rId2"/>
          <a:stretch>
            <a:fillRect/>
          </a:stretch>
        </p:blipFill>
        <p:spPr>
          <a:xfrm>
            <a:off x="6506719" y="1814351"/>
            <a:ext cx="5565945" cy="3229298"/>
          </a:xfrm>
          <a:prstGeom prst="rect">
            <a:avLst/>
          </a:prstGeom>
        </p:spPr>
      </p:pic>
    </p:spTree>
    <p:extLst>
      <p:ext uri="{BB962C8B-B14F-4D97-AF65-F5344CB8AC3E}">
        <p14:creationId xmlns:p14="http://schemas.microsoft.com/office/powerpoint/2010/main" val="164489763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a:solidFill>
                  <a:srgbClr val="DC525C"/>
                </a:solidFill>
                <a:latin typeface="Segoe UI Light" panose="020B0502040204020203" pitchFamily="34" charset="0"/>
                <a:cs typeface="Segoe UI Light" panose="020B0502040204020203" pitchFamily="34" charset="0"/>
              </a:rPr>
              <a:t>many-to-many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3" name="TextBox 2">
            <a:extLst>
              <a:ext uri="{FF2B5EF4-FFF2-40B4-BE49-F238E27FC236}">
                <a16:creationId xmlns:a16="http://schemas.microsoft.com/office/drawing/2014/main" id="{1DF7DA0F-E466-9AD2-E8C0-140E29BD503B}"/>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and one row in </a:t>
            </a:r>
            <a:r>
              <a:rPr lang="en-US" sz="2000" b="1" dirty="0">
                <a:latin typeface="Palatino Linotype" panose="02040502050505030304" pitchFamily="18" charset="0"/>
              </a:rPr>
              <a:t>Table B</a:t>
            </a:r>
            <a:r>
              <a:rPr lang="en-US" sz="2000" dirty="0">
                <a:latin typeface="Palatino Linotype" panose="02040502050505030304" pitchFamily="18" charset="0"/>
              </a:rPr>
              <a:t> can also relate to </a:t>
            </a:r>
            <a:r>
              <a:rPr lang="en-US" sz="2000" b="1" dirty="0">
                <a:latin typeface="Palatino Linotype" panose="02040502050505030304" pitchFamily="18" charset="0"/>
              </a:rPr>
              <a:t>many rows in Table A</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52601679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many-to-many relationship</a:t>
            </a:r>
          </a:p>
        </p:txBody>
      </p:sp>
      <p:sp>
        <p:nvSpPr>
          <p:cNvPr id="25" name="Rectangle 24">
            <a:extLst>
              <a:ext uri="{FF2B5EF4-FFF2-40B4-BE49-F238E27FC236}">
                <a16:creationId xmlns:a16="http://schemas.microsoft.com/office/drawing/2014/main" id="{794F464A-E28B-48B4-90C6-E53F17B5E808}"/>
              </a:ext>
            </a:extLst>
          </p:cNvPr>
          <p:cNvSpPr/>
          <p:nvPr/>
        </p:nvSpPr>
        <p:spPr>
          <a:xfrm>
            <a:off x="292514" y="692696"/>
            <a:ext cx="11348101"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many-to-many </a:t>
            </a:r>
            <a:r>
              <a:rPr lang="en-US" sz="2000" dirty="0">
                <a:latin typeface="Palatino Linotype" pitchFamily="18" charset="0"/>
              </a:rPr>
              <a:t>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t>
            </a:r>
            <a:r>
              <a:rPr lang="en-US" sz="2000" b="1" i="1" dirty="0">
                <a:latin typeface="Palatino Linotype" panose="02040502050505030304" pitchFamily="18" charset="0"/>
              </a:rPr>
              <a:t>R</a:t>
            </a:r>
            <a:r>
              <a:rPr lang="en-US" sz="2000" dirty="0">
                <a:latin typeface="Palatino Linotype" pitchFamily="18" charset="0"/>
              </a:rPr>
              <a:t> may contain a parent instance for which there are many children in </a:t>
            </a:r>
            <a:r>
              <a:rPr lang="en-US" sz="2000" b="1" i="1" dirty="0">
                <a:latin typeface="Palatino Linotype" panose="02040502050505030304" pitchFamily="18" charset="0"/>
              </a:rPr>
              <a:t>S</a:t>
            </a:r>
            <a:r>
              <a:rPr lang="en-US" sz="2000" dirty="0">
                <a:latin typeface="Palatino Linotype" pitchFamily="18" charset="0"/>
              </a:rPr>
              <a:t> and vice versa.</a:t>
            </a:r>
          </a:p>
        </p:txBody>
      </p:sp>
      <p:sp>
        <p:nvSpPr>
          <p:cNvPr id="9" name="TextBox 8">
            <a:extLst>
              <a:ext uri="{FF2B5EF4-FFF2-40B4-BE49-F238E27FC236}">
                <a16:creationId xmlns:a16="http://schemas.microsoft.com/office/drawing/2014/main" id="{47F17EF7-8A49-4FDD-AA68-255BC52A609B}"/>
              </a:ext>
            </a:extLst>
          </p:cNvPr>
          <p:cNvSpPr txBox="1"/>
          <p:nvPr/>
        </p:nvSpPr>
        <p:spPr>
          <a:xfrm>
            <a:off x="899994" y="4509120"/>
            <a:ext cx="487020" cy="584775"/>
          </a:xfrm>
          <a:prstGeom prst="rect">
            <a:avLst/>
          </a:prstGeom>
          <a:noFill/>
        </p:spPr>
        <p:txBody>
          <a:bodyPr wrap="square">
            <a:spAutoFit/>
          </a:bodyPr>
          <a:lstStyle/>
          <a:p>
            <a:r>
              <a:rPr lang="en-US" sz="3200" b="1" dirty="0">
                <a:latin typeface="Palatino Linotype" pitchFamily="18" charset="0"/>
              </a:rPr>
              <a:t>=</a:t>
            </a:r>
            <a:endParaRPr lang="en-IN" b="1" dirty="0"/>
          </a:p>
        </p:txBody>
      </p:sp>
      <p:sp>
        <p:nvSpPr>
          <p:cNvPr id="10" name="TextBox 9">
            <a:extLst>
              <a:ext uri="{FF2B5EF4-FFF2-40B4-BE49-F238E27FC236}">
                <a16:creationId xmlns:a16="http://schemas.microsoft.com/office/drawing/2014/main" id="{73191B78-393D-4321-9CD2-0FB22A2B18AB}"/>
              </a:ext>
            </a:extLst>
          </p:cNvPr>
          <p:cNvSpPr txBox="1"/>
          <p:nvPr/>
        </p:nvSpPr>
        <p:spPr>
          <a:xfrm>
            <a:off x="5491470" y="3708321"/>
            <a:ext cx="442745" cy="584775"/>
          </a:xfrm>
          <a:prstGeom prst="rect">
            <a:avLst/>
          </a:prstGeom>
          <a:noFill/>
        </p:spPr>
        <p:txBody>
          <a:bodyPr wrap="square">
            <a:spAutoFit/>
          </a:bodyPr>
          <a:lstStyle/>
          <a:p>
            <a:r>
              <a:rPr lang="en-US" sz="3200" b="1" dirty="0">
                <a:latin typeface="Palatino Linotype" pitchFamily="18" charset="0"/>
              </a:rPr>
              <a:t>=</a:t>
            </a:r>
            <a:endParaRPr lang="en-IN" b="1" dirty="0"/>
          </a:p>
        </p:txBody>
      </p:sp>
      <p:grpSp>
        <p:nvGrpSpPr>
          <p:cNvPr id="4" name="Group 3">
            <a:extLst>
              <a:ext uri="{FF2B5EF4-FFF2-40B4-BE49-F238E27FC236}">
                <a16:creationId xmlns:a16="http://schemas.microsoft.com/office/drawing/2014/main" id="{0AE6AEE1-4BC7-4EF6-ADC7-3764C613DC0B}"/>
              </a:ext>
            </a:extLst>
          </p:cNvPr>
          <p:cNvGrpSpPr/>
          <p:nvPr/>
        </p:nvGrpSpPr>
        <p:grpSpPr>
          <a:xfrm>
            <a:off x="292514" y="2031826"/>
            <a:ext cx="11636134" cy="4421510"/>
            <a:chOff x="292514" y="2031826"/>
            <a:chExt cx="11636134" cy="4421510"/>
          </a:xfrm>
        </p:grpSpPr>
        <p:pic>
          <p:nvPicPr>
            <p:cNvPr id="3" name="Picture 2">
              <a:extLst>
                <a:ext uri="{FF2B5EF4-FFF2-40B4-BE49-F238E27FC236}">
                  <a16:creationId xmlns:a16="http://schemas.microsoft.com/office/drawing/2014/main" id="{A31FD8F0-1D08-4FED-AFF6-38F0E77AB4EC}"/>
                </a:ext>
              </a:extLst>
            </p:cNvPr>
            <p:cNvPicPr>
              <a:picLocks noChangeAspect="1"/>
            </p:cNvPicPr>
            <p:nvPr/>
          </p:nvPicPr>
          <p:blipFill>
            <a:blip r:embed="rId2"/>
            <a:stretch>
              <a:fillRect/>
            </a:stretch>
          </p:blipFill>
          <p:spPr>
            <a:xfrm>
              <a:off x="292514" y="2031826"/>
              <a:ext cx="11636134" cy="4421510"/>
            </a:xfrm>
            <a:prstGeom prst="rect">
              <a:avLst/>
            </a:prstGeom>
          </p:spPr>
        </p:pic>
        <p:grpSp>
          <p:nvGrpSpPr>
            <p:cNvPr id="27" name="Group 26">
              <a:extLst>
                <a:ext uri="{FF2B5EF4-FFF2-40B4-BE49-F238E27FC236}">
                  <a16:creationId xmlns:a16="http://schemas.microsoft.com/office/drawing/2014/main" id="{20234C42-DB0F-4A2D-BFDA-EA24EAAD18E4}"/>
                </a:ext>
              </a:extLst>
            </p:cNvPr>
            <p:cNvGrpSpPr/>
            <p:nvPr/>
          </p:nvGrpSpPr>
          <p:grpSpPr>
            <a:xfrm>
              <a:off x="2847256" y="5171144"/>
              <a:ext cx="296416" cy="446562"/>
              <a:chOff x="751786" y="5985284"/>
              <a:chExt cx="296416" cy="446562"/>
            </a:xfrm>
          </p:grpSpPr>
          <p:cxnSp>
            <p:nvCxnSpPr>
              <p:cNvPr id="8" name="Straight Connector 7">
                <a:extLst>
                  <a:ext uri="{FF2B5EF4-FFF2-40B4-BE49-F238E27FC236}">
                    <a16:creationId xmlns:a16="http://schemas.microsoft.com/office/drawing/2014/main" id="{26F6E554-E1CD-4E21-B3F6-5AEFED03F2A8}"/>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F2FDC28E-E254-4DF1-BFE1-BADC32879C43}"/>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nvGrpSpPr>
            <p:cNvPr id="31" name="Group 30">
              <a:extLst>
                <a:ext uri="{FF2B5EF4-FFF2-40B4-BE49-F238E27FC236}">
                  <a16:creationId xmlns:a16="http://schemas.microsoft.com/office/drawing/2014/main" id="{994BFEF9-52DA-4E18-91A0-908C153728ED}"/>
                </a:ext>
              </a:extLst>
            </p:cNvPr>
            <p:cNvGrpSpPr/>
            <p:nvPr/>
          </p:nvGrpSpPr>
          <p:grpSpPr>
            <a:xfrm rot="10800000">
              <a:off x="4799857" y="4782638"/>
              <a:ext cx="296416" cy="446562"/>
              <a:chOff x="751786" y="5985284"/>
              <a:chExt cx="296416" cy="446562"/>
            </a:xfrm>
          </p:grpSpPr>
          <p:cxnSp>
            <p:nvCxnSpPr>
              <p:cNvPr id="32" name="Straight Connector 31">
                <a:extLst>
                  <a:ext uri="{FF2B5EF4-FFF2-40B4-BE49-F238E27FC236}">
                    <a16:creationId xmlns:a16="http://schemas.microsoft.com/office/drawing/2014/main" id="{83015BDD-48EB-45C2-ACE3-67C99148A821}"/>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5C0B6D6D-5DD4-470E-8CE1-5BF260810836}"/>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327553723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3" name="Rectangle 12">
            <a:extLst>
              <a:ext uri="{FF2B5EF4-FFF2-40B4-BE49-F238E27FC236}">
                <a16:creationId xmlns:a16="http://schemas.microsoft.com/office/drawing/2014/main" id="{4EE985A9-95E9-4495-B503-83A9D63FCE5F}"/>
              </a:ext>
            </a:extLst>
          </p:cNvPr>
          <p:cNvSpPr/>
          <p:nvPr/>
        </p:nvSpPr>
        <p:spPr>
          <a:xfrm>
            <a:off x="119336" y="332656"/>
            <a:ext cx="6984776" cy="6432530"/>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item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rPr>
              <a:t>     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description </a:t>
            </a:r>
            <a:r>
              <a:rPr lang="en-US" dirty="0">
                <a:solidFill>
                  <a:srgbClr val="834689"/>
                </a:solidFill>
                <a:latin typeface="Liberation Mono"/>
                <a:cs typeface="Arial" panose="020B0604020202020204" pitchFamily="34" charset="0"/>
              </a:rPr>
              <a:t>TEXT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 TABLE </a:t>
            </a:r>
            <a:r>
              <a:rPr lang="en-US" dirty="0">
                <a:solidFill>
                  <a:schemeClr val="tx1">
                    <a:lumMod val="95000"/>
                    <a:lumOff val="5000"/>
                  </a:schemeClr>
                </a:solidFill>
                <a:latin typeface="Liberation Mono"/>
              </a:rPr>
              <a:t>orders_has_</a:t>
            </a:r>
            <a:r>
              <a:rPr lang="en-US" dirty="0">
                <a:latin typeface="Liberation Mono"/>
              </a:rPr>
              <a:t>item </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orders_ID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item_ID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 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rPr>
              <a:t>fk_orders_has_item_orders</a:t>
            </a:r>
            <a:r>
              <a:rPr lang="en-US" dirty="0">
                <a:solidFill>
                  <a:schemeClr val="tx1">
                    <a:lumMod val="95000"/>
                    <a:lumOff val="5000"/>
                  </a:schemeClr>
                </a:solidFill>
                <a:latin typeface="Liberation Mono"/>
              </a:rPr>
              <a:t>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a:t>
            </a:r>
            <a:r>
              <a:rPr lang="en-US" dirty="0">
                <a:latin typeface="Liberation Mono"/>
                <a:cs typeface="Arial" panose="020B0604020202020204" pitchFamily="34" charset="0"/>
              </a:rPr>
              <a:t>)</a:t>
            </a:r>
          </a:p>
          <a:p>
            <a:pPr marL="266700" indent="-266700"/>
            <a:r>
              <a:rPr lang="en-US"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orders</a:t>
            </a:r>
            <a:r>
              <a:rPr lang="en-US" dirty="0">
                <a:latin typeface="Liberation Mono"/>
                <a:cs typeface="Arial" panose="020B0604020202020204" pitchFamily="34" charset="0"/>
              </a:rPr>
              <a:t>(</a:t>
            </a:r>
            <a:r>
              <a:rPr lang="en-US" dirty="0">
                <a:latin typeface="Liberation Mono"/>
              </a:rPr>
              <a: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fk_orders_has_item_item1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item</a:t>
            </a:r>
            <a:r>
              <a:rPr lang="en-US" dirty="0">
                <a:latin typeface="Liberation Mono"/>
                <a:cs typeface="Arial" panose="020B0604020202020204" pitchFamily="34" charset="0"/>
              </a:rPr>
              <a:t>(</a:t>
            </a:r>
            <a:r>
              <a:rPr lang="en-US" dirty="0">
                <a:latin typeface="Liberation Mono"/>
              </a:rPr>
              <a:t>I</a:t>
            </a:r>
            <a:r>
              <a:rPr lang="en-US" dirty="0">
                <a:latin typeface="Liberation Mono"/>
                <a:ea typeface="Times New Roman" panose="02020603050405020304" pitchFamily="18" charset="0"/>
              </a:rPr>
              <a:t>D</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4" name="Rectangle 13">
            <a:extLst>
              <a:ext uri="{FF2B5EF4-FFF2-40B4-BE49-F238E27FC236}">
                <a16:creationId xmlns:a16="http://schemas.microsoft.com/office/drawing/2014/main" id="{5800DB5C-4045-4B7F-B21E-58505C73065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BD008CAB-F90B-456A-9707-E45BEF1F7ADC}"/>
              </a:ext>
            </a:extLst>
          </p:cNvPr>
          <p:cNvPicPr>
            <a:picLocks noChangeAspect="1"/>
          </p:cNvPicPr>
          <p:nvPr/>
        </p:nvPicPr>
        <p:blipFill>
          <a:blip r:embed="rId2"/>
          <a:stretch>
            <a:fillRect/>
          </a:stretch>
        </p:blipFill>
        <p:spPr>
          <a:xfrm>
            <a:off x="6888088" y="584777"/>
            <a:ext cx="5184576" cy="6215337"/>
          </a:xfrm>
          <a:prstGeom prst="rect">
            <a:avLst/>
          </a:prstGeom>
        </p:spPr>
      </p:pic>
    </p:spTree>
    <p:extLst>
      <p:ext uri="{BB962C8B-B14F-4D97-AF65-F5344CB8AC3E}">
        <p14:creationId xmlns:p14="http://schemas.microsoft.com/office/powerpoint/2010/main" val="338656612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a:extLst>
              <a:ext uri="{FF2B5EF4-FFF2-40B4-BE49-F238E27FC236}">
                <a16:creationId xmlns:a16="http://schemas.microsoft.com/office/drawing/2014/main" id="{C8A620EC-80A6-439B-828B-D5F269ABD7DF}"/>
              </a:ext>
            </a:extLst>
          </p:cNvPr>
          <p:cNvSpPr/>
          <p:nvPr/>
        </p:nvSpPr>
        <p:spPr>
          <a:xfrm>
            <a:off x="119335" y="620688"/>
            <a:ext cx="11800991" cy="5416868"/>
          </a:xfrm>
          <a:prstGeom prst="rect">
            <a:avLst/>
          </a:prstGeom>
        </p:spPr>
        <p:txBody>
          <a:bodyPr wrap="square">
            <a:spAutoFit/>
          </a:bodyPr>
          <a:lstStyle/>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blog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comments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 TABLE </a:t>
            </a:r>
            <a:r>
              <a:rPr lang="en-IN" dirty="0">
                <a:latin typeface="Liberation Mono"/>
                <a:cs typeface="Arial" panose="020B0604020202020204" pitchFamily="34" charset="0"/>
              </a:rPr>
              <a:t>comments_has_replies (</a:t>
            </a:r>
            <a:r>
              <a:rPr lang="en-IN" dirty="0">
                <a:solidFill>
                  <a:srgbClr val="0077AA"/>
                </a:solidFill>
                <a:latin typeface="Liberation Mono"/>
              </a:rPr>
              <a:t>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comment_ID)</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a:latin typeface="Liberation Mono"/>
                <a:cs typeface="Arial" panose="020B0604020202020204" pitchFamily="34" charset="0"/>
              </a:rPr>
              <a:t>fk_blog_has_a_comment</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blog(blog_ID )</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err="1">
                <a:latin typeface="Liberation Mono"/>
                <a:cs typeface="Arial" panose="020B0604020202020204" pitchFamily="34" charset="0"/>
              </a:rPr>
              <a:t>fk_comment_has_a_replies</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(comment_ID)</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comments(comment_ID)</a:t>
            </a:r>
          </a:p>
          <a:p>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770D770F-870F-40A3-9561-CC90CBDF8A7A}"/>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DCD36F4B-B93A-4D7B-988A-97D280D15EC2}"/>
              </a:ext>
            </a:extLst>
          </p:cNvPr>
          <p:cNvPicPr>
            <a:picLocks noChangeAspect="1"/>
          </p:cNvPicPr>
          <p:nvPr/>
        </p:nvPicPr>
        <p:blipFill>
          <a:blip r:embed="rId2"/>
          <a:stretch>
            <a:fillRect/>
          </a:stretch>
        </p:blipFill>
        <p:spPr>
          <a:xfrm>
            <a:off x="6456040" y="620688"/>
            <a:ext cx="5464287" cy="4199405"/>
          </a:xfrm>
          <a:prstGeom prst="rect">
            <a:avLst/>
          </a:prstGeom>
        </p:spPr>
      </p:pic>
    </p:spTree>
    <p:extLst>
      <p:ext uri="{BB962C8B-B14F-4D97-AF65-F5344CB8AC3E}">
        <p14:creationId xmlns:p14="http://schemas.microsoft.com/office/powerpoint/2010/main" val="39559112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E90D-F44B-8555-CEC7-B00C152A84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28E7CF-420F-550F-D062-6FCF3FE8D209}"/>
              </a:ext>
            </a:extLst>
          </p:cNvPr>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self-referencing</a:t>
            </a:r>
            <a:r>
              <a:rPr lang="en-US" sz="5400" dirty="0">
                <a:solidFill>
                  <a:srgbClr val="F63122"/>
                </a:solidFill>
                <a:latin typeface="Arial" pitchFamily="34" charset="0"/>
                <a:cs typeface="Arial" pitchFamily="34" charset="0"/>
              </a:rPr>
              <a:t>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5" name="TextBox 4">
            <a:extLst>
              <a:ext uri="{FF2B5EF4-FFF2-40B4-BE49-F238E27FC236}">
                <a16:creationId xmlns:a16="http://schemas.microsoft.com/office/drawing/2014/main" id="{6ED9D920-2EA1-8A48-C2DD-4B081C16274F}"/>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An entity (table) is </a:t>
            </a:r>
            <a:r>
              <a:rPr lang="en-US" sz="2000" b="1" dirty="0">
                <a:latin typeface="Palatino Linotype" panose="02040502050505030304" pitchFamily="18" charset="0"/>
              </a:rPr>
              <a:t>related to itself</a:t>
            </a:r>
            <a:r>
              <a:rPr lang="en-US" sz="2000" dirty="0">
                <a:latin typeface="Palatino Linotype" panose="02040502050505030304" pitchFamily="18" charset="0"/>
              </a:rPr>
              <a:t> using a </a:t>
            </a:r>
            <a:r>
              <a:rPr lang="en-US" sz="2000" b="1" dirty="0">
                <a:latin typeface="Palatino Linotype" panose="02040502050505030304" pitchFamily="18" charset="0"/>
              </a:rPr>
              <a:t>foreign key</a:t>
            </a:r>
            <a:r>
              <a:rPr lang="en-US" sz="2000" dirty="0">
                <a:latin typeface="Palatino Linotype" panose="02040502050505030304" pitchFamily="18" charset="0"/>
              </a:rPr>
              <a:t> that points to its own primary key.</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41004949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C0FDF18-FAF5-A372-A801-5453EB0E9667}"/>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"self-referencing"</a:t>
            </a:r>
            <a:r>
              <a:rPr lang="en-US" sz="2000" dirty="0">
                <a:latin typeface="Palatino Linotype" pitchFamily="18" charset="0"/>
              </a:rPr>
              <a:t> or </a:t>
            </a:r>
            <a:r>
              <a:rPr lang="en-US" sz="2000" i="1" dirty="0">
                <a:latin typeface="Palatino Linotype" pitchFamily="18" charset="0"/>
              </a:rPr>
              <a:t>"recursive" </a:t>
            </a:r>
            <a:r>
              <a:rPr lang="en-US" sz="2000" dirty="0">
                <a:latin typeface="Palatino Linotype" pitchFamily="18" charset="0"/>
              </a:rPr>
              <a:t>relationship in databases or data structures means that a record within a table can reference another record in the same table.</a:t>
            </a:r>
          </a:p>
        </p:txBody>
      </p:sp>
      <p:sp>
        <p:nvSpPr>
          <p:cNvPr id="3" name="Rectangle 2">
            <a:extLst>
              <a:ext uri="{FF2B5EF4-FFF2-40B4-BE49-F238E27FC236}">
                <a16:creationId xmlns:a16="http://schemas.microsoft.com/office/drawing/2014/main" id="{A5BE2BAB-D9AB-6B34-BB79-61C7CDFD04A6}"/>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pic>
        <p:nvPicPr>
          <p:cNvPr id="5" name="Picture 4">
            <a:extLst>
              <a:ext uri="{FF2B5EF4-FFF2-40B4-BE49-F238E27FC236}">
                <a16:creationId xmlns:a16="http://schemas.microsoft.com/office/drawing/2014/main" id="{94A800DC-FBF6-3AE2-2A05-8A35C0693428}"/>
              </a:ext>
            </a:extLst>
          </p:cNvPr>
          <p:cNvPicPr>
            <a:picLocks noChangeAspect="1"/>
          </p:cNvPicPr>
          <p:nvPr/>
        </p:nvPicPr>
        <p:blipFill>
          <a:blip r:embed="rId2"/>
          <a:stretch>
            <a:fillRect/>
          </a:stretch>
        </p:blipFill>
        <p:spPr>
          <a:xfrm>
            <a:off x="5879976" y="1628800"/>
            <a:ext cx="5256584" cy="1653201"/>
          </a:xfrm>
          <a:prstGeom prst="rect">
            <a:avLst/>
          </a:prstGeom>
        </p:spPr>
      </p:pic>
      <p:sp>
        <p:nvSpPr>
          <p:cNvPr id="6" name="TextBox 5">
            <a:extLst>
              <a:ext uri="{FF2B5EF4-FFF2-40B4-BE49-F238E27FC236}">
                <a16:creationId xmlns:a16="http://schemas.microsoft.com/office/drawing/2014/main" id="{97D45F5B-6655-4965-0F3E-7D036396F7B7}"/>
              </a:ext>
            </a:extLst>
          </p:cNvPr>
          <p:cNvSpPr txBox="1"/>
          <p:nvPr/>
        </p:nvSpPr>
        <p:spPr>
          <a:xfrm>
            <a:off x="191344" y="3573016"/>
            <a:ext cx="4507342" cy="369332"/>
          </a:xfrm>
          <a:prstGeom prst="rect">
            <a:avLst/>
          </a:prstGeom>
          <a:noFill/>
        </p:spPr>
        <p:txBody>
          <a:bodyPr wrap="square">
            <a:spAutoFit/>
          </a:bodyPr>
          <a:lstStyle/>
          <a:p>
            <a:r>
              <a:rPr lang="en-IN" b="1" dirty="0">
                <a:latin typeface="Palatino Linotype" panose="02040502050505030304" pitchFamily="18" charset="0"/>
              </a:rPr>
              <a:t>Product Categories and Subcategories</a:t>
            </a:r>
          </a:p>
        </p:txBody>
      </p:sp>
      <p:graphicFrame>
        <p:nvGraphicFramePr>
          <p:cNvPr id="8" name="Table 7">
            <a:extLst>
              <a:ext uri="{FF2B5EF4-FFF2-40B4-BE49-F238E27FC236}">
                <a16:creationId xmlns:a16="http://schemas.microsoft.com/office/drawing/2014/main" id="{BFDEA1D2-AEA4-7604-B6F9-CB0F9611FC5E}"/>
              </a:ext>
            </a:extLst>
          </p:cNvPr>
          <p:cNvGraphicFramePr>
            <a:graphicFrameLocks noGrp="1"/>
          </p:cNvGraphicFramePr>
          <p:nvPr>
            <p:extLst>
              <p:ext uri="{D42A27DB-BD31-4B8C-83A1-F6EECF244321}">
                <p14:modId xmlns:p14="http://schemas.microsoft.com/office/powerpoint/2010/main" val="3853286351"/>
              </p:ext>
            </p:extLst>
          </p:nvPr>
        </p:nvGraphicFramePr>
        <p:xfrm>
          <a:off x="292514" y="4083949"/>
          <a:ext cx="5947502" cy="2225040"/>
        </p:xfrm>
        <a:graphic>
          <a:graphicData uri="http://schemas.openxmlformats.org/drawingml/2006/table">
            <a:tbl>
              <a:tblPr firstRow="1" bandRow="1">
                <a:tableStyleId>{5940675A-B579-460E-94D1-54222C63F5DA}</a:tableStyleId>
              </a:tblPr>
              <a:tblGrid>
                <a:gridCol w="1667398">
                  <a:extLst>
                    <a:ext uri="{9D8B030D-6E8A-4147-A177-3AD203B41FA5}">
                      <a16:colId xmlns:a16="http://schemas.microsoft.com/office/drawing/2014/main" val="947670548"/>
                    </a:ext>
                  </a:extLst>
                </a:gridCol>
                <a:gridCol w="1904016">
                  <a:extLst>
                    <a:ext uri="{9D8B030D-6E8A-4147-A177-3AD203B41FA5}">
                      <a16:colId xmlns:a16="http://schemas.microsoft.com/office/drawing/2014/main" val="864976200"/>
                    </a:ext>
                  </a:extLst>
                </a:gridCol>
                <a:gridCol w="2376088">
                  <a:extLst>
                    <a:ext uri="{9D8B030D-6E8A-4147-A177-3AD203B41FA5}">
                      <a16:colId xmlns:a16="http://schemas.microsoft.com/office/drawing/2014/main" val="3649311526"/>
                    </a:ext>
                  </a:extLst>
                </a:gridCol>
              </a:tblGrid>
              <a:tr h="370840">
                <a:tc>
                  <a:txBody>
                    <a:bodyPr/>
                    <a:lstStyle/>
                    <a:p>
                      <a:pPr algn="ctr"/>
                      <a:r>
                        <a:rPr lang="en-IN" dirty="0">
                          <a:latin typeface="Palatino Linotype" panose="02040502050505030304" pitchFamily="18" charset="0"/>
                        </a:rPr>
                        <a:t>CategoryID</a:t>
                      </a:r>
                    </a:p>
                  </a:txBody>
                  <a:tcPr/>
                </a:tc>
                <a:tc>
                  <a:txBody>
                    <a:bodyPr/>
                    <a:lstStyle/>
                    <a:p>
                      <a:pPr algn="ctr"/>
                      <a:r>
                        <a:rPr lang="en-IN" dirty="0">
                          <a:latin typeface="Palatino Linotype" panose="02040502050505030304" pitchFamily="18" charset="0"/>
                        </a:rPr>
                        <a:t>CategoryName</a:t>
                      </a:r>
                    </a:p>
                  </a:txBody>
                  <a:tcPr/>
                </a:tc>
                <a:tc>
                  <a:txBody>
                    <a:bodyPr/>
                    <a:lstStyle/>
                    <a:p>
                      <a:pPr algn="ctr"/>
                      <a:r>
                        <a:rPr lang="en-IN" dirty="0">
                          <a:latin typeface="Palatino Linotype" panose="02040502050505030304" pitchFamily="18" charset="0"/>
                        </a:rPr>
                        <a:t>ParentCategoryID</a:t>
                      </a:r>
                    </a:p>
                  </a:txBody>
                  <a:tcPr/>
                </a:tc>
                <a:extLst>
                  <a:ext uri="{0D108BD9-81ED-4DB2-BD59-A6C34878D82A}">
                    <a16:rowId xmlns:a16="http://schemas.microsoft.com/office/drawing/2014/main" val="3457220529"/>
                  </a:ext>
                </a:extLst>
              </a:tr>
              <a:tr h="370840">
                <a:tc>
                  <a:txBody>
                    <a:bodyPr/>
                    <a:lstStyle/>
                    <a:p>
                      <a:pPr algn="ctr"/>
                      <a:r>
                        <a:rPr lang="en-US" dirty="0">
                          <a:latin typeface="Palatino Linotype" panose="02040502050505030304" pitchFamily="18" charset="0"/>
                        </a:rPr>
                        <a:t>1</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Electronics</a:t>
                      </a:r>
                    </a:p>
                  </a:txBody>
                  <a:tcPr/>
                </a:tc>
                <a:tc>
                  <a:txBody>
                    <a:bodyPr/>
                    <a:lstStyle/>
                    <a:p>
                      <a:pPr algn="l"/>
                      <a:r>
                        <a:rPr lang="en-US" dirty="0">
                          <a:latin typeface="Palatino Linotype" panose="02040502050505030304" pitchFamily="18" charset="0"/>
                        </a:rPr>
                        <a:t>NULL</a:t>
                      </a:r>
                      <a:endParaRPr lang="en-IN" dirty="0">
                        <a:latin typeface="Palatino Linotype" panose="02040502050505030304" pitchFamily="18" charset="0"/>
                      </a:endParaRPr>
                    </a:p>
                  </a:txBody>
                  <a:tcPr/>
                </a:tc>
                <a:extLst>
                  <a:ext uri="{0D108BD9-81ED-4DB2-BD59-A6C34878D82A}">
                    <a16:rowId xmlns:a16="http://schemas.microsoft.com/office/drawing/2014/main" val="2431962209"/>
                  </a:ext>
                </a:extLst>
              </a:tr>
              <a:tr h="370840">
                <a:tc>
                  <a:txBody>
                    <a:bodyPr/>
                    <a:lstStyle/>
                    <a:p>
                      <a:pPr algn="ctr"/>
                      <a:r>
                        <a:rPr lang="en-US" dirty="0">
                          <a:latin typeface="Palatino Linotype" panose="02040502050505030304" pitchFamily="18" charset="0"/>
                        </a:rPr>
                        <a:t>2</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Phones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2439524226"/>
                  </a:ext>
                </a:extLst>
              </a:tr>
              <a:tr h="370840">
                <a:tc>
                  <a:txBody>
                    <a:bodyPr/>
                    <a:lstStyle/>
                    <a:p>
                      <a:pPr algn="ctr"/>
                      <a:r>
                        <a:rPr lang="en-US" dirty="0">
                          <a:latin typeface="Palatino Linotype" panose="02040502050505030304" pitchFamily="18" charset="0"/>
                        </a:rPr>
                        <a:t>3</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Laptops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3420243988"/>
                  </a:ext>
                </a:extLst>
              </a:tr>
              <a:tr h="370840">
                <a:tc>
                  <a:txBody>
                    <a:bodyPr/>
                    <a:lstStyle/>
                    <a:p>
                      <a:pPr algn="ctr"/>
                      <a:r>
                        <a:rPr lang="en-US" dirty="0">
                          <a:latin typeface="Palatino Linotype" panose="02040502050505030304" pitchFamily="18" charset="0"/>
                        </a:rPr>
                        <a:t>4</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Smartphones</a:t>
                      </a:r>
                    </a:p>
                  </a:txBody>
                  <a:tcPr/>
                </a:tc>
                <a:tc>
                  <a:txBody>
                    <a:bodyPr/>
                    <a:lstStyle/>
                    <a:p>
                      <a:pPr algn="l"/>
                      <a:r>
                        <a:rPr lang="en-US" dirty="0">
                          <a:latin typeface="Palatino Linotype" panose="02040502050505030304" pitchFamily="18" charset="0"/>
                        </a:rPr>
                        <a:t>2</a:t>
                      </a:r>
                      <a:endParaRPr lang="en-IN" dirty="0">
                        <a:latin typeface="Palatino Linotype" panose="02040502050505030304" pitchFamily="18" charset="0"/>
                      </a:endParaRPr>
                    </a:p>
                  </a:txBody>
                  <a:tcPr/>
                </a:tc>
                <a:extLst>
                  <a:ext uri="{0D108BD9-81ED-4DB2-BD59-A6C34878D82A}">
                    <a16:rowId xmlns:a16="http://schemas.microsoft.com/office/drawing/2014/main" val="1749411170"/>
                  </a:ext>
                </a:extLst>
              </a:tr>
              <a:tr h="370840">
                <a:tc>
                  <a:txBody>
                    <a:bodyPr/>
                    <a:lstStyle/>
                    <a:p>
                      <a:pPr algn="ctr"/>
                      <a:r>
                        <a:rPr lang="en-US" dirty="0">
                          <a:latin typeface="Palatino Linotype" panose="02040502050505030304" pitchFamily="18" charset="0"/>
                        </a:rPr>
                        <a:t>5</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Gaming Laptops</a:t>
                      </a:r>
                    </a:p>
                  </a:txBody>
                  <a:tcPr/>
                </a:tc>
                <a:tc>
                  <a:txBody>
                    <a:bodyPr/>
                    <a:lstStyle/>
                    <a:p>
                      <a:pPr algn="l"/>
                      <a:r>
                        <a:rPr lang="en-US" dirty="0">
                          <a:latin typeface="Palatino Linotype" panose="02040502050505030304" pitchFamily="18" charset="0"/>
                        </a:rPr>
                        <a:t>3</a:t>
                      </a:r>
                      <a:endParaRPr lang="en-IN" dirty="0">
                        <a:latin typeface="Palatino Linotype" panose="02040502050505030304" pitchFamily="18" charset="0"/>
                      </a:endParaRPr>
                    </a:p>
                  </a:txBody>
                  <a:tcPr/>
                </a:tc>
                <a:extLst>
                  <a:ext uri="{0D108BD9-81ED-4DB2-BD59-A6C34878D82A}">
                    <a16:rowId xmlns:a16="http://schemas.microsoft.com/office/drawing/2014/main" val="1313608330"/>
                  </a:ext>
                </a:extLst>
              </a:tr>
            </a:tbl>
          </a:graphicData>
        </a:graphic>
      </p:graphicFrame>
    </p:spTree>
    <p:extLst>
      <p:ext uri="{BB962C8B-B14F-4D97-AF65-F5344CB8AC3E}">
        <p14:creationId xmlns:p14="http://schemas.microsoft.com/office/powerpoint/2010/main" val="204196842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853D544-C767-99B2-3876-86D9E1298ACE}"/>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sp>
        <p:nvSpPr>
          <p:cNvPr id="8" name="TextBox 7">
            <a:extLst>
              <a:ext uri="{FF2B5EF4-FFF2-40B4-BE49-F238E27FC236}">
                <a16:creationId xmlns:a16="http://schemas.microsoft.com/office/drawing/2014/main" id="{56F4E6FF-369A-B8B4-21A7-7D323692CD31}"/>
              </a:ext>
            </a:extLst>
          </p:cNvPr>
          <p:cNvSpPr txBox="1"/>
          <p:nvPr/>
        </p:nvSpPr>
        <p:spPr>
          <a:xfrm>
            <a:off x="407368" y="908720"/>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product_category(</a:t>
            </a:r>
          </a:p>
          <a:p>
            <a:r>
              <a:rPr lang="en-IN" dirty="0">
                <a:latin typeface="Liberation Mono"/>
              </a:rPr>
              <a:t>  CategoryID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CategoryName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ParentCategoryID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(ParentCategoryID) </a:t>
            </a:r>
            <a:r>
              <a:rPr lang="en-IN" dirty="0">
                <a:solidFill>
                  <a:srgbClr val="C00000"/>
                </a:solidFill>
                <a:latin typeface="Liberation Mono"/>
                <a:cs typeface="Arial" panose="020B0604020202020204" pitchFamily="34" charset="0"/>
              </a:rPr>
              <a:t>REFERENCES</a:t>
            </a:r>
            <a:r>
              <a:rPr lang="en-IN" dirty="0">
                <a:latin typeface="Liberation Mono"/>
              </a:rPr>
              <a:t> product_category(CategoryID)</a:t>
            </a:r>
          </a:p>
          <a:p>
            <a:r>
              <a:rPr lang="en-IN" dirty="0">
                <a:latin typeface="Liberation Mono"/>
              </a:rPr>
              <a:t>);</a:t>
            </a:r>
          </a:p>
        </p:txBody>
      </p:sp>
      <p:sp>
        <p:nvSpPr>
          <p:cNvPr id="10" name="TextBox 9">
            <a:extLst>
              <a:ext uri="{FF2B5EF4-FFF2-40B4-BE49-F238E27FC236}">
                <a16:creationId xmlns:a16="http://schemas.microsoft.com/office/drawing/2014/main" id="{B6428669-A7C8-A63C-EE44-381893AA3D7D}"/>
              </a:ext>
            </a:extLst>
          </p:cNvPr>
          <p:cNvSpPr txBox="1"/>
          <p:nvPr/>
        </p:nvSpPr>
        <p:spPr>
          <a:xfrm>
            <a:off x="407368" y="2986991"/>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family(</a:t>
            </a:r>
          </a:p>
          <a:p>
            <a:r>
              <a:rPr lang="en-IN" dirty="0">
                <a:latin typeface="Liberation Mono"/>
              </a:rPr>
              <a:t>    PersonID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RelationName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(ParentID) </a:t>
            </a:r>
            <a:r>
              <a:rPr lang="en-IN" dirty="0">
                <a:solidFill>
                  <a:srgbClr val="C00000"/>
                </a:solidFill>
                <a:latin typeface="Liberation Mono"/>
                <a:cs typeface="Arial" panose="020B0604020202020204" pitchFamily="34" charset="0"/>
              </a:rPr>
              <a:t>REFERENCES</a:t>
            </a:r>
            <a:r>
              <a:rPr lang="en-IN" dirty="0">
                <a:latin typeface="Liberation Mono"/>
              </a:rPr>
              <a:t> family(PersonID)</a:t>
            </a:r>
          </a:p>
          <a:p>
            <a:r>
              <a:rPr lang="en-IN" dirty="0">
                <a:latin typeface="Liberation Mono"/>
              </a:rPr>
              <a:t>);</a:t>
            </a:r>
          </a:p>
        </p:txBody>
      </p:sp>
    </p:spTree>
    <p:extLst>
      <p:ext uri="{BB962C8B-B14F-4D97-AF65-F5344CB8AC3E}">
        <p14:creationId xmlns:p14="http://schemas.microsoft.com/office/powerpoint/2010/main" val="5542125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564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a:t>
            </a:r>
          </a:p>
        </p:txBody>
      </p:sp>
      <p:sp>
        <p:nvSpPr>
          <p:cNvPr id="3" name="Rectangle 2"/>
          <p:cNvSpPr/>
          <p:nvPr/>
        </p:nvSpPr>
        <p:spPr>
          <a:xfrm>
            <a:off x="3982234" y="3276273"/>
            <a:ext cx="4227532" cy="584775"/>
          </a:xfrm>
          <a:prstGeom prst="rect">
            <a:avLst/>
          </a:prstGeom>
        </p:spPr>
        <p:txBody>
          <a:bodyPr wrap="square">
            <a:spAutoFit/>
          </a:bodyPr>
          <a:lstStyle/>
          <a:p>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(and), </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(or),</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 </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(not)</a:t>
            </a:r>
            <a:endParaRPr lang="en-IN" sz="2400" dirty="0">
              <a:solidFill>
                <a:srgbClr val="FF0000"/>
              </a:solidFill>
              <a:latin typeface="Verdana" panose="020B0604030504040204" pitchFamily="34" charset="0"/>
              <a:ea typeface="Verdana" panose="020B0604030504040204" pitchFamily="34" charset="0"/>
            </a:endParaRPr>
          </a:p>
        </p:txBody>
      </p:sp>
      <p:sp>
        <p:nvSpPr>
          <p:cNvPr id="4" name="Rectangle 3"/>
          <p:cNvSpPr txBox="1">
            <a:spLocks noChangeArrowheads="1"/>
          </p:cNvSpPr>
          <p:nvPr/>
        </p:nvSpPr>
        <p:spPr>
          <a:xfrm>
            <a:off x="407368" y="134888"/>
            <a:ext cx="10108232" cy="228600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sz="2000" dirty="0">
                <a:solidFill>
                  <a:srgbClr val="006C86"/>
                </a:solidFill>
                <a:latin typeface="Palatino Linotype" panose="02040502050505030304" pitchFamily="18" charset="0"/>
              </a:rPr>
              <a:t>Branch { branch-ID, branch-name, branch-city, assets }</a:t>
            </a:r>
          </a:p>
          <a:p>
            <a:r>
              <a:rPr lang="en-US" sz="2000" dirty="0">
                <a:solidFill>
                  <a:srgbClr val="006C86"/>
                </a:solidFill>
                <a:latin typeface="Palatino Linotype" panose="02040502050505030304" pitchFamily="18" charset="0"/>
              </a:rPr>
              <a:t>Customer { customer-id, customer-name, customer-street, customer-only }</a:t>
            </a:r>
          </a:p>
          <a:p>
            <a:r>
              <a:rPr lang="en-US" sz="2000" dirty="0">
                <a:solidFill>
                  <a:srgbClr val="006C86"/>
                </a:solidFill>
                <a:latin typeface="Palatino Linotype" panose="02040502050505030304" pitchFamily="18" charset="0"/>
              </a:rPr>
              <a:t>Account { account-number, branch-ID, balance }</a:t>
            </a:r>
          </a:p>
          <a:p>
            <a:r>
              <a:rPr lang="en-US" sz="2000" dirty="0">
                <a:solidFill>
                  <a:srgbClr val="006C86"/>
                </a:solidFill>
                <a:latin typeface="Palatino Linotype" panose="02040502050505030304" pitchFamily="18" charset="0"/>
              </a:rPr>
              <a:t>Loan { loan-number, branch-ID, amount }</a:t>
            </a:r>
          </a:p>
          <a:p>
            <a:r>
              <a:rPr lang="en-US" sz="2000" dirty="0">
                <a:solidFill>
                  <a:srgbClr val="006C86"/>
                </a:solidFill>
                <a:latin typeface="Palatino Linotype" panose="02040502050505030304" pitchFamily="18" charset="0"/>
              </a:rPr>
              <a:t>Depositor { customer-id, account-number }</a:t>
            </a:r>
          </a:p>
          <a:p>
            <a:r>
              <a:rPr lang="en-US" sz="2000" dirty="0">
                <a:solidFill>
                  <a:srgbClr val="006C86"/>
                </a:solidFill>
                <a:latin typeface="Palatino Linotype" panose="02040502050505030304" pitchFamily="18" charset="0"/>
              </a:rPr>
              <a:t>Borrower { customer-id, loan-number }</a:t>
            </a:r>
          </a:p>
        </p:txBody>
      </p:sp>
    </p:spTree>
    <p:extLst>
      <p:ext uri="{BB962C8B-B14F-4D97-AF65-F5344CB8AC3E}">
        <p14:creationId xmlns:p14="http://schemas.microsoft.com/office/powerpoint/2010/main" val="3904329520"/>
      </p:ext>
    </p:extLst>
  </p:cSld>
  <p:clrMapOvr>
    <a:masterClrMapping/>
  </p:clrMapOvr>
  <p:transition/>
</p:sld>
</file>

<file path=ppt/slides/slide1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4478288" cy="914400"/>
          </a:xfrm>
          <a:solidFill>
            <a:schemeClr val="bg1">
              <a:lumMod val="95000"/>
            </a:schemeClr>
          </a:solidFill>
        </p:spPr>
        <p:txBody>
          <a:bodyPr anchor="ctr" anchorCtr="0">
            <a:normAutofit/>
          </a:bodyPr>
          <a:lstStyle/>
          <a:p>
            <a:pPr>
              <a:spcBef>
                <a:spcPts val="700"/>
              </a:spcBef>
              <a:buClr>
                <a:schemeClr val="accent2"/>
              </a:buClr>
              <a:buSzPct val="60000"/>
              <a:defRPr/>
            </a:pPr>
            <a:r>
              <a:rPr lang="en-IN" sz="3600" i="1" dirty="0">
                <a:solidFill>
                  <a:srgbClr val="FDE139"/>
                </a:solidFill>
              </a:rPr>
              <a:t>Relational Algebra</a:t>
            </a:r>
            <a:endParaRPr lang="en-IN" sz="3600" i="1" dirty="0">
              <a:solidFill>
                <a:srgbClr val="FDE139"/>
              </a:solidFill>
              <a:latin typeface="Arial" pitchFamily="34" charset="0"/>
              <a:cs typeface="Arial" pitchFamily="34" charset="0"/>
            </a:endParaRPr>
          </a:p>
        </p:txBody>
      </p:sp>
      <p:grpSp>
        <p:nvGrpSpPr>
          <p:cNvPr id="4" name="Group 3"/>
          <p:cNvGrpSpPr/>
          <p:nvPr/>
        </p:nvGrpSpPr>
        <p:grpSpPr>
          <a:xfrm>
            <a:off x="407368" y="1295400"/>
            <a:ext cx="5904656" cy="4577792"/>
            <a:chOff x="457200" y="1295400"/>
            <a:chExt cx="5181600" cy="4490425"/>
          </a:xfrm>
        </p:grpSpPr>
        <p:sp>
          <p:nvSpPr>
            <p:cNvPr id="7" name="Rectangle 6"/>
            <p:cNvSpPr/>
            <p:nvPr/>
          </p:nvSpPr>
          <p:spPr>
            <a:xfrm>
              <a:off x="457200" y="1295400"/>
              <a:ext cx="5181600" cy="4490425"/>
            </a:xfrm>
            <a:prstGeom prst="rect">
              <a:avLst/>
            </a:prstGeom>
          </p:spPr>
          <p:txBody>
            <a:bodyPr wrap="square">
              <a:spAutoFit/>
            </a:bodyPr>
            <a:lstStyle/>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Select (sigma)</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Project (pi)</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Union</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Set different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Cartesian product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Rename</a:t>
              </a:r>
            </a:p>
          </p:txBody>
        </p:sp>
        <p:sp>
          <p:nvSpPr>
            <p:cNvPr id="8" name="Rectangle 7"/>
            <p:cNvSpPr/>
            <p:nvPr/>
          </p:nvSpPr>
          <p:spPr>
            <a:xfrm>
              <a:off x="3006322" y="1583215"/>
              <a:ext cx="612514" cy="452854"/>
            </a:xfrm>
            <a:prstGeom prst="rect">
              <a:avLst/>
            </a:prstGeom>
          </p:spPr>
          <p:txBody>
            <a:bodyPr wrap="none">
              <a:spAutoFit/>
            </a:bodyPr>
            <a:lstStyle/>
            <a:p>
              <a:r>
                <a:rPr lang="el-GR" sz="2400" dirty="0">
                  <a:solidFill>
                    <a:srgbClr val="121214"/>
                  </a:solidFill>
                  <a:latin typeface="Verdana" panose="020B0604030504040204" pitchFamily="34" charset="0"/>
                </a:rPr>
                <a:t>(σ)</a:t>
              </a:r>
            </a:p>
          </p:txBody>
        </p:sp>
        <p:sp>
          <p:nvSpPr>
            <p:cNvPr id="9" name="Rectangle 8"/>
            <p:cNvSpPr/>
            <p:nvPr/>
          </p:nvSpPr>
          <p:spPr>
            <a:xfrm>
              <a:off x="3006322" y="2337851"/>
              <a:ext cx="666270"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0" name="Rectangle 9"/>
            <p:cNvSpPr/>
            <p:nvPr/>
          </p:nvSpPr>
          <p:spPr>
            <a:xfrm>
              <a:off x="3005803" y="3097519"/>
              <a:ext cx="627446"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1" name="Rectangle 10"/>
            <p:cNvSpPr/>
            <p:nvPr/>
          </p:nvSpPr>
          <p:spPr>
            <a:xfrm>
              <a:off x="3006321" y="3798072"/>
              <a:ext cx="708233"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12" name="Rectangle 11"/>
            <p:cNvSpPr/>
            <p:nvPr/>
          </p:nvSpPr>
          <p:spPr>
            <a:xfrm>
              <a:off x="3005803" y="4596809"/>
              <a:ext cx="628939" cy="452854"/>
            </a:xfrm>
            <a:prstGeom prst="rect">
              <a:avLst/>
            </a:prstGeom>
          </p:spPr>
          <p:txBody>
            <a:bodyPr wrap="none">
              <a:spAutoFit/>
            </a:bodyPr>
            <a:lstStyle/>
            <a:p>
              <a:r>
                <a:rPr lang="el-GR" sz="2400" dirty="0">
                  <a:solidFill>
                    <a:srgbClr val="121214"/>
                  </a:solidFill>
                  <a:latin typeface="Verdana" panose="020B0604030504040204" pitchFamily="34" charset="0"/>
                </a:rPr>
                <a:t>(Χ)</a:t>
              </a:r>
            </a:p>
          </p:txBody>
        </p:sp>
        <p:sp>
          <p:nvSpPr>
            <p:cNvPr id="13" name="Rectangle 12"/>
            <p:cNvSpPr/>
            <p:nvPr/>
          </p:nvSpPr>
          <p:spPr>
            <a:xfrm>
              <a:off x="3005803" y="5297363"/>
              <a:ext cx="611021" cy="452854"/>
            </a:xfrm>
            <a:prstGeom prst="rect">
              <a:avLst/>
            </a:prstGeom>
          </p:spPr>
          <p:txBody>
            <a:bodyPr wrap="none">
              <a:spAutoFit/>
            </a:bodyPr>
            <a:lstStyle/>
            <a:p>
              <a:r>
                <a:rPr lang="el-GR" sz="2400" dirty="0">
                  <a:solidFill>
                    <a:srgbClr val="121214"/>
                  </a:solidFill>
                  <a:latin typeface="Verdana" panose="020B0604030504040204" pitchFamily="34" charset="0"/>
                </a:rPr>
                <a:t>(ρ)</a:t>
              </a:r>
            </a:p>
          </p:txBody>
        </p:sp>
      </p:grpSp>
      <p:sp>
        <p:nvSpPr>
          <p:cNvPr id="3" name="Rectangle 2">
            <a:extLst>
              <a:ext uri="{FF2B5EF4-FFF2-40B4-BE49-F238E27FC236}">
                <a16:creationId xmlns:a16="http://schemas.microsoft.com/office/drawing/2014/main" id="{E4442409-8228-427B-A789-A4CD26D63392}"/>
              </a:ext>
            </a:extLst>
          </p:cNvPr>
          <p:cNvSpPr/>
          <p:nvPr/>
        </p:nvSpPr>
        <p:spPr>
          <a:xfrm>
            <a:off x="6096000" y="1588815"/>
            <a:ext cx="4227532" cy="1569660"/>
          </a:xfrm>
          <a:prstGeom prst="rect">
            <a:avLst/>
          </a:prstGeom>
        </p:spPr>
        <p:txBody>
          <a:bodyPr wrap="square">
            <a:spAutoFit/>
          </a:bodyPr>
          <a:lstStyle/>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and</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or</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Noto Sans" panose="020B0502040504020204" pitchFamily="34" charset="0"/>
                <a:cs typeface="Noto Sans" panose="020B0502040504020204" pitchFamily="34" charset="0"/>
                <a:sym typeface="Symbol" panose="05050102010706020507" pitchFamily="18" charset="2"/>
              </a:rPr>
              <a:t>not</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endParaRPr lang="en-IN" sz="2400" dirty="0">
              <a:solidFill>
                <a:schemeClr val="accent6">
                  <a:lumMod val="50000"/>
                </a:schemeClr>
              </a:solidFill>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3347687542"/>
      </p:ext>
    </p:extLst>
  </p:cSld>
  <p:clrMapOvr>
    <a:masterClrMapping/>
  </p:clrMapOvr>
  <p:transition/>
</p:sld>
</file>

<file path=ppt/slides/slide1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sp>
        <p:nvSpPr>
          <p:cNvPr id="4" name="Rectangle 3"/>
          <p:cNvSpPr/>
          <p:nvPr/>
        </p:nvSpPr>
        <p:spPr>
          <a:xfrm>
            <a:off x="394402" y="2181682"/>
            <a:ext cx="11030190" cy="1549142"/>
          </a:xfrm>
          <a:prstGeom prst="rect">
            <a:avLst/>
          </a:prstGeom>
        </p:spPr>
        <p:txBody>
          <a:bodyPr wrap="square">
            <a:spAutoFit/>
          </a:bodyPr>
          <a:lstStyle/>
          <a:p>
            <a:r>
              <a:rPr lang="el-GR" sz="2800" dirty="0">
                <a:solidFill>
                  <a:srgbClr val="006C86"/>
                </a:solidFill>
                <a:latin typeface="Palatino Linotype" panose="02040502050505030304" pitchFamily="18" charset="0"/>
                <a:ea typeface="Verdana" panose="020B0604030504040204" pitchFamily="34" charset="0"/>
              </a:rPr>
              <a:t>σ</a:t>
            </a:r>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SELECT command</a:t>
            </a:r>
            <a:endParaRPr lang="en-IN" sz="2800" dirty="0">
              <a:solidFill>
                <a:srgbClr val="006C86"/>
              </a:solidFill>
              <a:latin typeface="Palatino Linotype" panose="02040502050505030304" pitchFamily="18" charset="0"/>
              <a:ea typeface="Verdana" panose="020B0604030504040204" pitchFamily="34" charset="0"/>
            </a:endParaRPr>
          </a:p>
          <a:p>
            <a:r>
              <a:rPr lang="en-IN" sz="4000" i="1" baseline="-25000" dirty="0">
                <a:solidFill>
                  <a:srgbClr val="006C86"/>
                </a:solidFill>
                <a:latin typeface="Palatino Linotype" panose="02040502050505030304" pitchFamily="18" charset="0"/>
                <a:ea typeface="Verdana" panose="020B0604030504040204" pitchFamily="34" charset="0"/>
              </a:rPr>
              <a:t>p </a:t>
            </a:r>
            <a:r>
              <a:rPr lang="en-IN" dirty="0">
                <a:solidFill>
                  <a:srgbClr val="006C86"/>
                </a:solidFill>
                <a:latin typeface="Palatino Linotype" panose="02040502050505030304" pitchFamily="18" charset="0"/>
                <a:ea typeface="Verdana" panose="020B0604030504040204" pitchFamily="34" charset="0"/>
              </a:rPr>
              <a:t>would represent the condition for selection</a:t>
            </a:r>
            <a:r>
              <a:rPr lang="en-IN" baseline="-25000" dirty="0">
                <a:solidFill>
                  <a:srgbClr val="006C86"/>
                </a:solidFill>
                <a:latin typeface="Palatino Linotype" panose="02040502050505030304" pitchFamily="18" charset="0"/>
                <a:ea typeface="Verdana" panose="020B0604030504040204" pitchFamily="34" charset="0"/>
              </a:rPr>
              <a:t>.</a:t>
            </a:r>
          </a:p>
          <a:p>
            <a:endParaRPr lang="en-IN" baseline="-25000" dirty="0">
              <a:solidFill>
                <a:srgbClr val="006C86"/>
              </a:solidFill>
              <a:latin typeface="Palatino Linotype" panose="02040502050505030304" pitchFamily="18" charset="0"/>
              <a:ea typeface="Verdana" panose="020B0604030504040204" pitchFamily="34" charset="0"/>
              <a:sym typeface="Wingdings" panose="05000000000000000000" pitchFamily="2" charset="2"/>
            </a:endParaRP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6" name="Rectangle 15"/>
          <p:cNvSpPr/>
          <p:nvPr/>
        </p:nvSpPr>
        <p:spPr>
          <a:xfrm>
            <a:off x="407368" y="4114801"/>
            <a:ext cx="1065718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whose employee number is 7, or those whose date of birth is ‘01-Jan-1980’</a:t>
            </a:r>
            <a:endParaRPr lang="en-IN" dirty="0">
              <a:latin typeface="Palatino Linotype" panose="02040502050505030304" pitchFamily="18" charset="0"/>
            </a:endParaRPr>
          </a:p>
        </p:txBody>
      </p:sp>
      <p:sp>
        <p:nvSpPr>
          <p:cNvPr id="17" name="Rectangle 16"/>
          <p:cNvSpPr/>
          <p:nvPr/>
        </p:nvSpPr>
        <p:spPr>
          <a:xfrm>
            <a:off x="394401" y="4653136"/>
            <a:ext cx="10036783" cy="1384995"/>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US" sz="3200" b="1" baseline="-25000" dirty="0">
                <a:solidFill>
                  <a:schemeClr val="accent6">
                    <a:lumMod val="50000"/>
                  </a:schemeClr>
                </a:solidFill>
                <a:latin typeface="verdana" panose="020B0604030504040204" pitchFamily="34" charset="0"/>
                <a:sym typeface="Symbol" panose="05050102010706020507" pitchFamily="18" charset="2"/>
              </a:rPr>
              <a:t></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dob='01-Jan-1980' </a:t>
            </a:r>
            <a:r>
              <a:rPr lang="en-IN" sz="2800" dirty="0">
                <a:solidFill>
                  <a:schemeClr val="accent6">
                    <a:lumMod val="50000"/>
                  </a:schemeClr>
                </a:solidFill>
                <a:latin typeface="verdana" panose="020B0604030504040204" pitchFamily="34" charset="0"/>
              </a:rPr>
              <a:t>(EMPLOYEE)</a:t>
            </a:r>
          </a:p>
        </p:txBody>
      </p:sp>
      <p:sp>
        <p:nvSpPr>
          <p:cNvPr id="10" name="TextBox 9"/>
          <p:cNvSpPr txBox="1"/>
          <p:nvPr/>
        </p:nvSpPr>
        <p:spPr>
          <a:xfrm>
            <a:off x="407368" y="6247965"/>
            <a:ext cx="4825360" cy="461665"/>
          </a:xfrm>
          <a:prstGeom prst="rect">
            <a:avLst/>
          </a:prstGeom>
          <a:noFill/>
        </p:spPr>
        <p:txBody>
          <a:bodyPr wrap="none" rtlCol="0">
            <a:spAutoFit/>
          </a:bodyPr>
          <a:lstStyle/>
          <a:p>
            <a:r>
              <a:rPr lang="en-IN" sz="2400" dirty="0">
                <a:solidFill>
                  <a:srgbClr val="006C86"/>
                </a:solidFill>
                <a:latin typeface="Palatino Linotype" panose="02040502050505030304" pitchFamily="18" charset="0"/>
              </a:rPr>
              <a:t>Returns the result to new relation.</a:t>
            </a:r>
          </a:p>
        </p:txBody>
      </p:sp>
      <p:grpSp>
        <p:nvGrpSpPr>
          <p:cNvPr id="19" name="Group 18">
            <a:extLst>
              <a:ext uri="{FF2B5EF4-FFF2-40B4-BE49-F238E27FC236}">
                <a16:creationId xmlns:a16="http://schemas.microsoft.com/office/drawing/2014/main" id="{3B1E1452-605C-4C6D-A551-6DA4776FBD3A}"/>
              </a:ext>
            </a:extLst>
          </p:cNvPr>
          <p:cNvGrpSpPr/>
          <p:nvPr/>
        </p:nvGrpSpPr>
        <p:grpSpPr>
          <a:xfrm>
            <a:off x="407368" y="920478"/>
            <a:ext cx="9816399" cy="487065"/>
            <a:chOff x="446314" y="1167368"/>
            <a:chExt cx="8240485" cy="487065"/>
          </a:xfrm>
        </p:grpSpPr>
        <p:sp>
          <p:nvSpPr>
            <p:cNvPr id="20" name="Rectangle 19">
              <a:extLst>
                <a:ext uri="{FF2B5EF4-FFF2-40B4-BE49-F238E27FC236}">
                  <a16:creationId xmlns:a16="http://schemas.microsoft.com/office/drawing/2014/main" id="{33730DE0-C84B-4894-BA42-6ECACA42C367}"/>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21" name="Rectangle 20">
              <a:extLst>
                <a:ext uri="{FF2B5EF4-FFF2-40B4-BE49-F238E27FC236}">
                  <a16:creationId xmlns:a16="http://schemas.microsoft.com/office/drawing/2014/main" id="{D8243E31-D113-4E46-B4DC-2A37C45182EC}"/>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22" name="Rectangle 21">
              <a:extLst>
                <a:ext uri="{FF2B5EF4-FFF2-40B4-BE49-F238E27FC236}">
                  <a16:creationId xmlns:a16="http://schemas.microsoft.com/office/drawing/2014/main" id="{FF221102-0C46-4ECC-B187-8C2BA54162EA}"/>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3" name="Rectangle 22">
            <a:extLst>
              <a:ext uri="{FF2B5EF4-FFF2-40B4-BE49-F238E27FC236}">
                <a16:creationId xmlns:a16="http://schemas.microsoft.com/office/drawing/2014/main" id="{3CB2CA1D-ABB7-4C80-B566-2CD75E488F8B}"/>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1487140422"/>
      </p:ext>
    </p:extLst>
  </p:cSld>
  <p:clrMapOvr>
    <a:masterClrMapping/>
  </p:clrMapOvr>
  <p:transition/>
</p:sld>
</file>

<file path=ppt/slides/slide1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Rectangle 16"/>
          <p:cNvSpPr/>
          <p:nvPr/>
        </p:nvSpPr>
        <p:spPr>
          <a:xfrm>
            <a:off x="394402" y="3211264"/>
            <a:ext cx="10036782" cy="1297856"/>
          </a:xfrm>
          <a:prstGeom prst="rect">
            <a:avLst/>
          </a:prstGeom>
        </p:spPr>
        <p:txBody>
          <a:bodyPr wrap="square">
            <a:spAutoFit/>
          </a:bodyPr>
          <a:lstStyle/>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dirty="0">
                <a:solidFill>
                  <a:schemeClr val="accent6">
                    <a:lumMod val="50000"/>
                  </a:schemeClr>
                </a:solidFill>
                <a:latin typeface="verdana" panose="020B0604030504040204" pitchFamily="34" charset="0"/>
              </a:rPr>
              <a:t>(EMPLOYEE)]</a:t>
            </a:r>
            <a:endParaRPr lang="en-IN" dirty="0">
              <a:solidFill>
                <a:schemeClr val="accent6">
                  <a:lumMod val="50000"/>
                </a:schemeClr>
              </a:solidFill>
              <a:latin typeface="verdana" panose="020B0604030504040204" pitchFamily="34" charset="0"/>
            </a:endParaRPr>
          </a:p>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(EMPLOYEE)</a:t>
            </a:r>
          </a:p>
        </p:txBody>
      </p:sp>
      <p:sp>
        <p:nvSpPr>
          <p:cNvPr id="12" name="Rectangle 11"/>
          <p:cNvSpPr/>
          <p:nvPr/>
        </p:nvSpPr>
        <p:spPr>
          <a:xfrm>
            <a:off x="407368" y="2483604"/>
            <a:ext cx="10023815"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tuples whose employee number is &gt; 7 and department ID is 10</a:t>
            </a:r>
            <a:endParaRPr lang="en-IN" dirty="0">
              <a:latin typeface="Palatino Linotype" panose="02040502050505030304" pitchFamily="18" charset="0"/>
            </a:endParaRPr>
          </a:p>
        </p:txBody>
      </p:sp>
      <p:sp>
        <p:nvSpPr>
          <p:cNvPr id="13" name="Title 1">
            <a:extLst>
              <a:ext uri="{FF2B5EF4-FFF2-40B4-BE49-F238E27FC236}">
                <a16:creationId xmlns:a16="http://schemas.microsoft.com/office/drawing/2014/main" id="{3B94E116-D0AD-4718-A424-EA318A5C1F6C}"/>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grpSp>
        <p:nvGrpSpPr>
          <p:cNvPr id="14" name="Group 13">
            <a:extLst>
              <a:ext uri="{FF2B5EF4-FFF2-40B4-BE49-F238E27FC236}">
                <a16:creationId xmlns:a16="http://schemas.microsoft.com/office/drawing/2014/main" id="{269E5BB6-4030-4E75-B922-8579F4D990C6}"/>
              </a:ext>
            </a:extLst>
          </p:cNvPr>
          <p:cNvGrpSpPr/>
          <p:nvPr/>
        </p:nvGrpSpPr>
        <p:grpSpPr>
          <a:xfrm>
            <a:off x="407368" y="920478"/>
            <a:ext cx="9816399" cy="487065"/>
            <a:chOff x="446314" y="1167368"/>
            <a:chExt cx="8240485" cy="487065"/>
          </a:xfrm>
        </p:grpSpPr>
        <p:sp>
          <p:nvSpPr>
            <p:cNvPr id="15" name="Rectangle 14">
              <a:extLst>
                <a:ext uri="{FF2B5EF4-FFF2-40B4-BE49-F238E27FC236}">
                  <a16:creationId xmlns:a16="http://schemas.microsoft.com/office/drawing/2014/main" id="{AA64A438-8CAF-49DA-9B86-0E6EFED63D7B}"/>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16" name="Rectangle 15">
              <a:extLst>
                <a:ext uri="{FF2B5EF4-FFF2-40B4-BE49-F238E27FC236}">
                  <a16:creationId xmlns:a16="http://schemas.microsoft.com/office/drawing/2014/main" id="{829FA81E-B1CD-4042-A144-41D4BDD92ACF}"/>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19" name="Rectangle 18">
              <a:extLst>
                <a:ext uri="{FF2B5EF4-FFF2-40B4-BE49-F238E27FC236}">
                  <a16:creationId xmlns:a16="http://schemas.microsoft.com/office/drawing/2014/main" id="{ED1AC554-DFB9-4367-8497-0EDAB6351FCB}"/>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0" name="Rectangle 19">
            <a:extLst>
              <a:ext uri="{FF2B5EF4-FFF2-40B4-BE49-F238E27FC236}">
                <a16:creationId xmlns:a16="http://schemas.microsoft.com/office/drawing/2014/main" id="{CBBDD3A8-262C-4C42-9156-AB0FCE4F47DA}"/>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3504429891"/>
      </p:ext>
    </p:extLst>
  </p:cSld>
  <p:clrMapOvr>
    <a:masterClrMapping/>
  </p:clrMapOvr>
  <p:transition/>
</p:sld>
</file>

<file path=ppt/slides/slide1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5" name="Group 14"/>
          <p:cNvGrpSpPr/>
          <p:nvPr/>
        </p:nvGrpSpPr>
        <p:grpSpPr>
          <a:xfrm>
            <a:off x="408286" y="944072"/>
            <a:ext cx="7817697" cy="478482"/>
            <a:chOff x="457200" y="1252836"/>
            <a:chExt cx="7381177" cy="478482"/>
          </a:xfrm>
        </p:grpSpPr>
        <p:sp>
          <p:nvSpPr>
            <p:cNvPr id="7" name="Rectangle 6"/>
            <p:cNvSpPr/>
            <p:nvPr/>
          </p:nvSpPr>
          <p:spPr>
            <a:xfrm>
              <a:off x="457200" y="1252837"/>
              <a:ext cx="1223068"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Project</a:t>
              </a:r>
            </a:p>
          </p:txBody>
        </p:sp>
        <p:sp>
          <p:nvSpPr>
            <p:cNvPr id="9" name="Rectangle 8"/>
            <p:cNvSpPr/>
            <p:nvPr/>
          </p:nvSpPr>
          <p:spPr>
            <a:xfrm>
              <a:off x="1536378" y="1252836"/>
              <a:ext cx="819898"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5" name="Rectangle 2"/>
            <p:cNvSpPr>
              <a:spLocks noChangeArrowheads="1"/>
            </p:cNvSpPr>
            <p:nvPr/>
          </p:nvSpPr>
          <p:spPr bwMode="auto">
            <a:xfrm>
              <a:off x="2255830" y="1269653"/>
              <a:ext cx="5582547" cy="46166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algn="just"/>
              <a:r>
                <a:rPr lang="en-US" sz="2400" dirty="0">
                  <a:solidFill>
                    <a:srgbClr val="000000"/>
                  </a:solidFill>
                  <a:latin typeface="Verdana" panose="020B0604030504040204" pitchFamily="34" charset="0"/>
                  <a:ea typeface="Verdana" panose="020B0604030504040204" pitchFamily="34" charset="0"/>
                </a:rPr>
                <a:t>Notation − ∏</a:t>
              </a:r>
              <a:r>
                <a:rPr lang="en-US" sz="2400" baseline="-30000" dirty="0">
                  <a:solidFill>
                    <a:srgbClr val="000000"/>
                  </a:solidFill>
                  <a:latin typeface="Verdana" panose="020B0604030504040204" pitchFamily="34" charset="0"/>
                  <a:ea typeface="Verdana" panose="020B0604030504040204" pitchFamily="34" charset="0"/>
                </a:rPr>
                <a:t>A1, A2, An</a:t>
              </a:r>
              <a:r>
                <a:rPr lang="en-US" sz="2400" dirty="0">
                  <a:solidFill>
                    <a:srgbClr val="000000"/>
                  </a:solidFill>
                  <a:latin typeface="Verdana" panose="020B0604030504040204" pitchFamily="34" charset="0"/>
                  <a:ea typeface="Verdana" panose="020B0604030504040204" pitchFamily="34" charset="0"/>
                </a:rPr>
                <a:t> (r)</a:t>
              </a:r>
              <a:r>
                <a:rPr lang="en-US" sz="2400" dirty="0">
                  <a:latin typeface="Verdana" panose="020B0604030504040204" pitchFamily="34" charset="0"/>
                  <a:ea typeface="Verdana" panose="020B0604030504040204" pitchFamily="34" charset="0"/>
                </a:rPr>
                <a:t> </a:t>
              </a:r>
            </a:p>
          </p:txBody>
        </p:sp>
      </p:grpSp>
      <p:sp>
        <p:nvSpPr>
          <p:cNvPr id="16" name="Rectangle 15"/>
          <p:cNvSpPr/>
          <p:nvPr/>
        </p:nvSpPr>
        <p:spPr>
          <a:xfrm>
            <a:off x="379561" y="1519587"/>
            <a:ext cx="60198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a:t>
            </a:r>
          </a:p>
        </p:txBody>
      </p:sp>
      <p:sp>
        <p:nvSpPr>
          <p:cNvPr id="17" name="Rectangle 16"/>
          <p:cNvSpPr/>
          <p:nvPr/>
        </p:nvSpPr>
        <p:spPr>
          <a:xfrm>
            <a:off x="407368" y="2404045"/>
            <a:ext cx="11521280" cy="1384995"/>
          </a:xfrm>
          <a:prstGeom prst="rect">
            <a:avLst/>
          </a:prstGeom>
        </p:spPr>
        <p:txBody>
          <a:bodyPr wrap="square">
            <a:spAutoFit/>
          </a:bodyPr>
          <a:lstStyle/>
          <a:p>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ROJECT.</a:t>
            </a:r>
          </a:p>
          <a:p>
            <a:r>
              <a:rPr lang="en-IN" sz="2800" dirty="0">
                <a:solidFill>
                  <a:srgbClr val="006C86"/>
                </a:solidFill>
                <a:latin typeface="Palatino Linotype" panose="02040502050505030304" pitchFamily="18" charset="0"/>
                <a:ea typeface="Verdana" panose="020B0604030504040204" pitchFamily="34" charset="0"/>
              </a:rPr>
              <a:t>&lt;attribute list&gt; </a:t>
            </a:r>
            <a:r>
              <a:rPr lang="en-IN" dirty="0">
                <a:solidFill>
                  <a:srgbClr val="006C86"/>
                </a:solidFill>
                <a:latin typeface="Palatino Linotype" panose="02040502050505030304" pitchFamily="18" charset="0"/>
                <a:ea typeface="Verdana" panose="020B0604030504040204" pitchFamily="34" charset="0"/>
              </a:rPr>
              <a:t>would represent the attributes(columns) we want from a relational.</a:t>
            </a: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8" name="Rectangle 17"/>
          <p:cNvSpPr/>
          <p:nvPr/>
        </p:nvSpPr>
        <p:spPr>
          <a:xfrm>
            <a:off x="263352" y="4114800"/>
            <a:ext cx="11665296" cy="646331"/>
          </a:xfrm>
          <a:prstGeom prst="rect">
            <a:avLst/>
          </a:prstGeom>
        </p:spPr>
        <p:txBody>
          <a:bodyPr wrap="square">
            <a:spAutoFit/>
          </a:bodyPr>
          <a:lstStyle/>
          <a:p>
            <a:r>
              <a:rPr lang="en-IN" dirty="0">
                <a:solidFill>
                  <a:srgbClr val="333333"/>
                </a:solidFill>
                <a:latin typeface="Palatino Linotype" panose="02040502050505030304" pitchFamily="18" charset="0"/>
              </a:rPr>
              <a:t>Select Date of Birth (dob) and Employee Number (empno) from the relation EMPLOYE or Select Date of Birth (dob) and Employee Number (empno) from the relation EMPLOYE whose date of birth is before 1980</a:t>
            </a:r>
          </a:p>
        </p:txBody>
      </p:sp>
      <p:sp>
        <p:nvSpPr>
          <p:cNvPr id="21" name="Rectangle 20"/>
          <p:cNvSpPr/>
          <p:nvPr/>
        </p:nvSpPr>
        <p:spPr>
          <a:xfrm>
            <a:off x="263352" y="5157192"/>
            <a:ext cx="8458200" cy="954107"/>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a:t>
            </a:r>
            <a:r>
              <a:rPr lang="en-IN" sz="2800" dirty="0">
                <a:solidFill>
                  <a:schemeClr val="accent6">
                    <a:lumMod val="50000"/>
                  </a:schemeClr>
                </a:solidFill>
                <a:latin typeface="verdana" panose="020B0604030504040204" pitchFamily="34" charset="0"/>
              </a:rPr>
              <a:t>(EMPLOYEE)]</a:t>
            </a:r>
          </a:p>
        </p:txBody>
      </p:sp>
      <p:sp>
        <p:nvSpPr>
          <p:cNvPr id="13" name="Title 1">
            <a:extLst>
              <a:ext uri="{FF2B5EF4-FFF2-40B4-BE49-F238E27FC236}">
                <a16:creationId xmlns:a16="http://schemas.microsoft.com/office/drawing/2014/main" id="{24C06359-D5A8-492D-B203-7D32767BD66D}"/>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PROJECT</a:t>
            </a:r>
            <a:endParaRPr lang="en-IN" b="1" dirty="0">
              <a:latin typeface="Arial" pitchFamily="34" charset="0"/>
              <a:cs typeface="Arial" pitchFamily="34" charset="0"/>
            </a:endParaRPr>
          </a:p>
        </p:txBody>
      </p:sp>
    </p:spTree>
    <p:extLst>
      <p:ext uri="{BB962C8B-B14F-4D97-AF65-F5344CB8AC3E}">
        <p14:creationId xmlns:p14="http://schemas.microsoft.com/office/powerpoint/2010/main" val="3663094552"/>
      </p:ext>
    </p:extLst>
  </p:cSld>
  <p:clrMapOvr>
    <a:masterClrMapping/>
  </p:clrMapOvr>
  <p:transition/>
</p:sld>
</file>

<file path=ppt/slides/slide1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3" name="Group 2"/>
          <p:cNvGrpSpPr/>
          <p:nvPr/>
        </p:nvGrpSpPr>
        <p:grpSpPr>
          <a:xfrm>
            <a:off x="442778" y="965050"/>
            <a:ext cx="4685787" cy="507831"/>
            <a:chOff x="457200" y="1295400"/>
            <a:chExt cx="4685787" cy="507831"/>
          </a:xfrm>
        </p:grpSpPr>
        <p:sp>
          <p:nvSpPr>
            <p:cNvPr id="7" name="Rectangle 6"/>
            <p:cNvSpPr/>
            <p:nvPr/>
          </p:nvSpPr>
          <p:spPr>
            <a:xfrm>
              <a:off x="457200" y="1295400"/>
              <a:ext cx="11430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Union</a:t>
              </a:r>
            </a:p>
          </p:txBody>
        </p:sp>
        <p:sp>
          <p:nvSpPr>
            <p:cNvPr id="10" name="Rectangle 9"/>
            <p:cNvSpPr/>
            <p:nvPr/>
          </p:nvSpPr>
          <p:spPr>
            <a:xfrm>
              <a:off x="1524000" y="1295400"/>
              <a:ext cx="673582" cy="461665"/>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2" name="Rectangle 1"/>
            <p:cNvSpPr/>
            <p:nvPr/>
          </p:nvSpPr>
          <p:spPr>
            <a:xfrm>
              <a:off x="2438400" y="1341566"/>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U s</a:t>
              </a:r>
              <a:endParaRPr lang="en-IN" sz="2400" dirty="0"/>
            </a:p>
          </p:txBody>
        </p:sp>
      </p:grpSp>
      <p:sp>
        <p:nvSpPr>
          <p:cNvPr id="16" name="Rectangle 15"/>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7" name="Rectangle 16"/>
          <p:cNvSpPr/>
          <p:nvPr/>
        </p:nvSpPr>
        <p:spPr>
          <a:xfrm>
            <a:off x="400869" y="156482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U</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
            </a:r>
            <a:r>
              <a:rPr lang="en-IN" sz="3200" baseline="-25000">
                <a:solidFill>
                  <a:srgbClr val="2658E6"/>
                </a:solidFill>
                <a:latin typeface="Verdana" panose="020B0604030504040204" pitchFamily="34" charset="0"/>
                <a:ea typeface="Verdana" panose="020B0604030504040204" pitchFamily="34" charset="0"/>
              </a:rPr>
              <a:t>attribute-list&gt;</a:t>
            </a:r>
            <a:r>
              <a:rPr lang="en-IN" sz="3200">
                <a:solidFill>
                  <a:srgbClr val="2658E6"/>
                </a:solidFill>
                <a:latin typeface="Verdana" panose="020B0604030504040204" pitchFamily="34" charset="0"/>
                <a:ea typeface="Verdana" panose="020B0604030504040204" pitchFamily="34" charset="0"/>
              </a:rPr>
              <a:t>(s) </a:t>
            </a:r>
            <a:endParaRPr lang="en-IN" sz="3200" dirty="0">
              <a:solidFill>
                <a:srgbClr val="2658E6"/>
              </a:solidFill>
              <a:latin typeface="Verdana" panose="020B0604030504040204" pitchFamily="34" charset="0"/>
              <a:ea typeface="Verdana" panose="020B0604030504040204" pitchFamily="34" charset="0"/>
            </a:endParaRPr>
          </a:p>
        </p:txBody>
      </p:sp>
      <p:sp>
        <p:nvSpPr>
          <p:cNvPr id="4" name="Rectangle 3"/>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5" name="Rectangle 4"/>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Selects the customer name who have either purchased a book or a computer or both.</a:t>
            </a:r>
          </a:p>
        </p:txBody>
      </p:sp>
      <p:sp>
        <p:nvSpPr>
          <p:cNvPr id="13" name="Title 1">
            <a:extLst>
              <a:ext uri="{FF2B5EF4-FFF2-40B4-BE49-F238E27FC236}">
                <a16:creationId xmlns:a16="http://schemas.microsoft.com/office/drawing/2014/main" id="{43B41820-AFA6-4BE2-B17D-B83FA4AD8334}"/>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UNION</a:t>
            </a:r>
            <a:endParaRPr lang="en-IN" b="1" dirty="0">
              <a:latin typeface="Arial" pitchFamily="34" charset="0"/>
              <a:cs typeface="Arial" pitchFamily="34" charset="0"/>
            </a:endParaRPr>
          </a:p>
        </p:txBody>
      </p:sp>
    </p:spTree>
    <p:extLst>
      <p:ext uri="{BB962C8B-B14F-4D97-AF65-F5344CB8AC3E}">
        <p14:creationId xmlns:p14="http://schemas.microsoft.com/office/powerpoint/2010/main" val="1776006527"/>
      </p:ext>
    </p:extLst>
  </p:cSld>
  <p:clrMapOvr>
    <a:masterClrMapping/>
  </p:clrMapOvr>
  <p:transition/>
</p:sld>
</file>

<file path=ppt/slides/slide1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 name="Group 7"/>
          <p:cNvGrpSpPr/>
          <p:nvPr/>
        </p:nvGrpSpPr>
        <p:grpSpPr>
          <a:xfrm>
            <a:off x="407368" y="1011216"/>
            <a:ext cx="5658106" cy="461666"/>
            <a:chOff x="457200" y="1168567"/>
            <a:chExt cx="5658106" cy="461666"/>
          </a:xfrm>
        </p:grpSpPr>
        <p:sp>
          <p:nvSpPr>
            <p:cNvPr id="7" name="Rectangle 6"/>
            <p:cNvSpPr/>
            <p:nvPr/>
          </p:nvSpPr>
          <p:spPr>
            <a:xfrm>
              <a:off x="457200" y="1168567"/>
              <a:ext cx="25908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Intersection</a:t>
              </a:r>
            </a:p>
          </p:txBody>
        </p:sp>
        <p:sp>
          <p:nvSpPr>
            <p:cNvPr id="2" name="Rectangle 1"/>
            <p:cNvSpPr/>
            <p:nvPr/>
          </p:nvSpPr>
          <p:spPr>
            <a:xfrm>
              <a:off x="3410719" y="1168567"/>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sp>
          <p:nvSpPr>
            <p:cNvPr id="4" name="Rectangle 3"/>
            <p:cNvSpPr/>
            <p:nvPr/>
          </p:nvSpPr>
          <p:spPr>
            <a:xfrm>
              <a:off x="2514600" y="1168568"/>
              <a:ext cx="684803" cy="461665"/>
            </a:xfrm>
            <a:prstGeom prst="rect">
              <a:avLst/>
            </a:prstGeom>
          </p:spPr>
          <p:txBody>
            <a:bodyPr wrap="none">
              <a:spAutoFit/>
            </a:bodyPr>
            <a:lstStyle/>
            <a:p>
              <a:r>
                <a:rPr lang="en-IN" sz="2400" dirty="0">
                  <a:solidFill>
                    <a:srgbClr val="333333"/>
                  </a:solidFill>
                  <a:latin typeface="verdana" panose="020B0604030504040204" pitchFamily="34" charset="0"/>
                </a:rPr>
                <a:t>(∩)</a:t>
              </a:r>
              <a:endParaRPr lang="en-IN" sz="2400" dirty="0"/>
            </a:p>
          </p:txBody>
        </p:sp>
      </p:grpSp>
      <p:sp>
        <p:nvSpPr>
          <p:cNvPr id="11" name="Title 1">
            <a:extLst>
              <a:ext uri="{FF2B5EF4-FFF2-40B4-BE49-F238E27FC236}">
                <a16:creationId xmlns:a16="http://schemas.microsoft.com/office/drawing/2014/main" id="{7C5BFEF3-B459-4648-9A64-EBB6908A7889}"/>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INTERSECTION</a:t>
            </a:r>
            <a:endParaRPr lang="en-IN" b="1" dirty="0">
              <a:latin typeface="Arial" pitchFamily="34" charset="0"/>
              <a:cs typeface="Arial" pitchFamily="34" charset="0"/>
            </a:endParaRPr>
          </a:p>
        </p:txBody>
      </p:sp>
      <p:sp>
        <p:nvSpPr>
          <p:cNvPr id="3" name="Rectangle 2">
            <a:extLst>
              <a:ext uri="{FF2B5EF4-FFF2-40B4-BE49-F238E27FC236}">
                <a16:creationId xmlns:a16="http://schemas.microsoft.com/office/drawing/2014/main" id="{88EBAF97-918E-4FBD-862C-FF7F69BA3B24}"/>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5" name="Rectangle 4">
            <a:extLst>
              <a:ext uri="{FF2B5EF4-FFF2-40B4-BE49-F238E27FC236}">
                <a16:creationId xmlns:a16="http://schemas.microsoft.com/office/drawing/2014/main" id="{41B956F7-7DBD-484B-8356-CCA479F0329C}"/>
              </a:ext>
            </a:extLst>
          </p:cNvPr>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6" name="Rectangle 5">
            <a:extLst>
              <a:ext uri="{FF2B5EF4-FFF2-40B4-BE49-F238E27FC236}">
                <a16:creationId xmlns:a16="http://schemas.microsoft.com/office/drawing/2014/main" id="{759647D6-4CA1-4EAB-B57F-C133D97EB211}"/>
              </a:ext>
            </a:extLst>
          </p:cNvPr>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Projects the customer name who have purchased a book and a computer both.</a:t>
            </a:r>
          </a:p>
        </p:txBody>
      </p:sp>
      <p:sp>
        <p:nvSpPr>
          <p:cNvPr id="19" name="Rectangle 18">
            <a:extLst>
              <a:ext uri="{FF2B5EF4-FFF2-40B4-BE49-F238E27FC236}">
                <a16:creationId xmlns:a16="http://schemas.microsoft.com/office/drawing/2014/main" id="{3E0955C4-222D-44FA-8943-734A06F37E9E}"/>
              </a:ext>
            </a:extLst>
          </p:cNvPr>
          <p:cNvSpPr/>
          <p:nvPr/>
        </p:nvSpPr>
        <p:spPr>
          <a:xfrm>
            <a:off x="399600" y="156600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3844590690"/>
      </p:ext>
    </p:extLst>
  </p:cSld>
  <p:clrMapOvr>
    <a:masterClrMapping/>
  </p:clrMapOvr>
  <p:transition/>
</p:sld>
</file>

<file path=ppt/slides/slide1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F58AD77D-B88C-4DA8-9DFE-EC84E339B7F2}"/>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MINUS</a:t>
            </a:r>
            <a:endParaRPr lang="en-IN" b="1" dirty="0">
              <a:latin typeface="Arial" pitchFamily="34" charset="0"/>
              <a:cs typeface="Arial" pitchFamily="34" charset="0"/>
            </a:endParaRPr>
          </a:p>
        </p:txBody>
      </p:sp>
      <p:grpSp>
        <p:nvGrpSpPr>
          <p:cNvPr id="17" name="Group 16">
            <a:extLst>
              <a:ext uri="{FF2B5EF4-FFF2-40B4-BE49-F238E27FC236}">
                <a16:creationId xmlns:a16="http://schemas.microsoft.com/office/drawing/2014/main" id="{C9C6426C-8BE7-4B53-A692-2AD5765DD1C7}"/>
              </a:ext>
            </a:extLst>
          </p:cNvPr>
          <p:cNvGrpSpPr/>
          <p:nvPr/>
        </p:nvGrpSpPr>
        <p:grpSpPr>
          <a:xfrm>
            <a:off x="424533" y="965050"/>
            <a:ext cx="4298804" cy="461665"/>
            <a:chOff x="457200" y="1168567"/>
            <a:chExt cx="4298804" cy="461665"/>
          </a:xfrm>
        </p:grpSpPr>
        <p:sp>
          <p:nvSpPr>
            <p:cNvPr id="18" name="Rectangle 17">
              <a:extLst>
                <a:ext uri="{FF2B5EF4-FFF2-40B4-BE49-F238E27FC236}">
                  <a16:creationId xmlns:a16="http://schemas.microsoft.com/office/drawing/2014/main" id="{2B93915F-28B8-4197-A89F-30186C3EF982}"/>
                </a:ext>
              </a:extLst>
            </p:cNvPr>
            <p:cNvSpPr/>
            <p:nvPr/>
          </p:nvSpPr>
          <p:spPr>
            <a:xfrm>
              <a:off x="457200" y="1168567"/>
              <a:ext cx="1697667"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Minus (-)</a:t>
              </a:r>
            </a:p>
          </p:txBody>
        </p:sp>
        <p:sp>
          <p:nvSpPr>
            <p:cNvPr id="19" name="Rectangle 18">
              <a:extLst>
                <a:ext uri="{FF2B5EF4-FFF2-40B4-BE49-F238E27FC236}">
                  <a16:creationId xmlns:a16="http://schemas.microsoft.com/office/drawing/2014/main" id="{ACC04106-8F3A-4157-9415-F454A89A0B57}"/>
                </a:ext>
              </a:extLst>
            </p:cNvPr>
            <p:cNvSpPr/>
            <p:nvPr/>
          </p:nvSpPr>
          <p:spPr>
            <a:xfrm>
              <a:off x="2137980" y="1168567"/>
              <a:ext cx="2618024"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grpSp>
      <p:sp>
        <p:nvSpPr>
          <p:cNvPr id="6" name="Rectangle 5">
            <a:extLst>
              <a:ext uri="{FF2B5EF4-FFF2-40B4-BE49-F238E27FC236}">
                <a16:creationId xmlns:a16="http://schemas.microsoft.com/office/drawing/2014/main" id="{8012B543-D56F-41B3-A796-F4C665C3CA70}"/>
              </a:ext>
            </a:extLst>
          </p:cNvPr>
          <p:cNvSpPr/>
          <p:nvPr/>
        </p:nvSpPr>
        <p:spPr>
          <a:xfrm>
            <a:off x="407368" y="1513736"/>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
        <p:nvSpPr>
          <p:cNvPr id="8" name="Rectangle 7">
            <a:extLst>
              <a:ext uri="{FF2B5EF4-FFF2-40B4-BE49-F238E27FC236}">
                <a16:creationId xmlns:a16="http://schemas.microsoft.com/office/drawing/2014/main" id="{0E460EED-C71E-4D52-91D5-71DFE00013E2}"/>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1" name="Rectangle 10">
            <a:extLst>
              <a:ext uri="{FF2B5EF4-FFF2-40B4-BE49-F238E27FC236}">
                <a16:creationId xmlns:a16="http://schemas.microsoft.com/office/drawing/2014/main" id="{26065700-14CA-44CB-B8A9-B1E9427E351B}"/>
              </a:ext>
            </a:extLst>
          </p:cNvPr>
          <p:cNvSpPr/>
          <p:nvPr/>
        </p:nvSpPr>
        <p:spPr>
          <a:xfrm>
            <a:off x="406857" y="3995772"/>
            <a:ext cx="10096042"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BOOK but not a COMPUTER.</a:t>
            </a:r>
          </a:p>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COMPUTER but not a BOOK.</a:t>
            </a:r>
          </a:p>
        </p:txBody>
      </p:sp>
      <p:sp>
        <p:nvSpPr>
          <p:cNvPr id="25" name="Rectangle 24">
            <a:extLst>
              <a:ext uri="{FF2B5EF4-FFF2-40B4-BE49-F238E27FC236}">
                <a16:creationId xmlns:a16="http://schemas.microsoft.com/office/drawing/2014/main" id="{36F22B4A-F8B2-4416-87D8-1937838CD8C8}"/>
              </a:ext>
            </a:extLst>
          </p:cNvPr>
          <p:cNvSpPr/>
          <p:nvPr/>
        </p:nvSpPr>
        <p:spPr>
          <a:xfrm>
            <a:off x="409465" y="4941168"/>
            <a:ext cx="8762999" cy="1323439"/>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a:p>
            <a:endParaRPr lang="en-IN" sz="800" dirty="0">
              <a:solidFill>
                <a:schemeClr val="accent6">
                  <a:lumMod val="50000"/>
                </a:schemeClr>
              </a:solidFill>
              <a:latin typeface="verdana" panose="020B0604030504040204" pitchFamily="34" charset="0"/>
            </a:endParaRPr>
          </a:p>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 </a:t>
            </a:r>
            <a:r>
              <a:rPr lang="en-IN" sz="2800" dirty="0">
                <a:solidFill>
                  <a:schemeClr val="accent6">
                    <a:lumMod val="50000"/>
                  </a:schemeClr>
                </a:solidFill>
                <a:latin typeface="verdana" panose="020B0604030504040204" pitchFamily="34" charset="0"/>
              </a:rPr>
              <a:t>(BOOK)</a:t>
            </a:r>
          </a:p>
        </p:txBody>
      </p:sp>
    </p:spTree>
    <p:extLst>
      <p:ext uri="{BB962C8B-B14F-4D97-AF65-F5344CB8AC3E}">
        <p14:creationId xmlns:p14="http://schemas.microsoft.com/office/powerpoint/2010/main" val="23839859"/>
      </p:ext>
    </p:extLst>
  </p:cSld>
  <p:clrMapOvr>
    <a:masterClrMapping/>
  </p:clrMapOvr>
  <p:transition/>
</p:sld>
</file>

<file path=ppt/slides/slide1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5F62C59B-31E0-4450-AAF1-B5406AD26988}"/>
              </a:ext>
            </a:extLst>
          </p:cNvPr>
          <p:cNvSpPr txBox="1">
            <a:spLocks/>
          </p:cNvSpPr>
          <p:nvPr/>
        </p:nvSpPr>
        <p:spPr>
          <a:xfrm>
            <a:off x="407368" y="0"/>
            <a:ext cx="9803432" cy="914400"/>
          </a:xfrm>
          <a:prstGeom prst="rect">
            <a:avLst/>
          </a:prstGeom>
        </p:spPr>
        <p:txBody>
          <a:bodyPr vert="horz" anchor="b" anchorCtr="0">
            <a:normAutofit/>
          </a:bodyPr>
          <a:lstStyle>
            <a:lvl1pPr algn="l" rtl="0" eaLnBrk="1" latinLnBrk="0" hangingPunct="1">
              <a:spcBef>
                <a:spcPct val="0"/>
              </a:spcBef>
              <a:buNone/>
              <a:defRPr kumimoji="0" sz="3200" kern="1200">
                <a:solidFill>
                  <a:schemeClr val="tx2"/>
                </a:solidFill>
                <a:latin typeface="+mj-lt"/>
                <a:ea typeface="+mj-ea"/>
                <a:cs typeface="+mj-cs"/>
              </a:defRPr>
            </a:lvl1pPr>
          </a:lstStyle>
          <a:p>
            <a:pPr>
              <a:spcBef>
                <a:spcPts val="700"/>
              </a:spcBef>
              <a:buClr>
                <a:schemeClr val="accent2"/>
              </a:buClr>
              <a:buSzPct val="60000"/>
              <a:defRPr/>
            </a:pPr>
            <a:r>
              <a:rPr lang="en-IN" dirty="0">
                <a:solidFill>
                  <a:schemeClr val="bg2">
                    <a:lumMod val="25000"/>
                  </a:schemeClr>
                </a:solidFill>
              </a:rPr>
              <a:t>CARTESIAN PRODUCT</a:t>
            </a:r>
            <a:endParaRPr lang="en-IN" b="1" dirty="0">
              <a:latin typeface="Arial" pitchFamily="34" charset="0"/>
              <a:cs typeface="Arial" pitchFamily="34" charset="0"/>
            </a:endParaRPr>
          </a:p>
        </p:txBody>
      </p:sp>
      <p:grpSp>
        <p:nvGrpSpPr>
          <p:cNvPr id="9" name="Group 8">
            <a:extLst>
              <a:ext uri="{FF2B5EF4-FFF2-40B4-BE49-F238E27FC236}">
                <a16:creationId xmlns:a16="http://schemas.microsoft.com/office/drawing/2014/main" id="{059472AC-BF48-42EB-A9BE-2EE1A51C4698}"/>
              </a:ext>
            </a:extLst>
          </p:cNvPr>
          <p:cNvGrpSpPr/>
          <p:nvPr/>
        </p:nvGrpSpPr>
        <p:grpSpPr>
          <a:xfrm>
            <a:off x="416233" y="965050"/>
            <a:ext cx="6647974" cy="461665"/>
            <a:chOff x="457200" y="1168567"/>
            <a:chExt cx="2823220" cy="461665"/>
          </a:xfrm>
        </p:grpSpPr>
        <p:sp>
          <p:nvSpPr>
            <p:cNvPr id="10" name="Rectangle 9">
              <a:extLst>
                <a:ext uri="{FF2B5EF4-FFF2-40B4-BE49-F238E27FC236}">
                  <a16:creationId xmlns:a16="http://schemas.microsoft.com/office/drawing/2014/main" id="{CB73AA57-3425-4393-AC90-F5E7903A46D2}"/>
                </a:ext>
              </a:extLst>
            </p:cNvPr>
            <p:cNvSpPr/>
            <p:nvPr/>
          </p:nvSpPr>
          <p:spPr>
            <a:xfrm>
              <a:off x="457200" y="1168567"/>
              <a:ext cx="2074746"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Cartesian product (X)</a:t>
              </a:r>
            </a:p>
          </p:txBody>
        </p:sp>
        <p:sp>
          <p:nvSpPr>
            <p:cNvPr id="11" name="Rectangle 10">
              <a:extLst>
                <a:ext uri="{FF2B5EF4-FFF2-40B4-BE49-F238E27FC236}">
                  <a16:creationId xmlns:a16="http://schemas.microsoft.com/office/drawing/2014/main" id="{61FFB8B6-FDF4-4A1D-84FC-897D5CF17AF8}"/>
                </a:ext>
              </a:extLst>
            </p:cNvPr>
            <p:cNvSpPr/>
            <p:nvPr/>
          </p:nvSpPr>
          <p:spPr>
            <a:xfrm>
              <a:off x="2137980" y="1168567"/>
              <a:ext cx="1142440"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X</a:t>
              </a:r>
              <a:r>
                <a:rPr lang="en-IN" sz="2400" dirty="0">
                  <a:solidFill>
                    <a:srgbClr val="000000"/>
                  </a:solidFill>
                  <a:latin typeface="Verdana" panose="020B0604030504040204" pitchFamily="34" charset="0"/>
                </a:rPr>
                <a:t> s</a:t>
              </a:r>
              <a:endParaRPr lang="en-IN" sz="2400" dirty="0"/>
            </a:p>
          </p:txBody>
        </p:sp>
      </p:grpSp>
      <p:sp>
        <p:nvSpPr>
          <p:cNvPr id="13" name="Rectangle 12">
            <a:extLst>
              <a:ext uri="{FF2B5EF4-FFF2-40B4-BE49-F238E27FC236}">
                <a16:creationId xmlns:a16="http://schemas.microsoft.com/office/drawing/2014/main" id="{50717F74-1593-41BF-87C0-818A1E10756F}"/>
              </a:ext>
            </a:extLst>
          </p:cNvPr>
          <p:cNvSpPr/>
          <p:nvPr/>
        </p:nvSpPr>
        <p:spPr>
          <a:xfrm>
            <a:off x="407368" y="1519887"/>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X</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1208625979"/>
      </p:ext>
    </p:extLst>
  </p:cSld>
  <p:clrMapOvr>
    <a:masterClrMapping/>
  </p:clrMapOvr>
  <p:transition/>
</p:sld>
</file>

<file path=ppt/slides/slide1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
        <p:nvSpPr>
          <p:cNvPr id="8" name="Rectangle 3"/>
          <p:cNvSpPr txBox="1">
            <a:spLocks noChangeArrowheads="1"/>
          </p:cNvSpPr>
          <p:nvPr/>
        </p:nvSpPr>
        <p:spPr>
          <a:xfrm>
            <a:off x="507983" y="1452870"/>
            <a:ext cx="9731424" cy="42545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lnSpc>
                <a:spcPct val="90000"/>
              </a:lnSpc>
              <a:buNone/>
            </a:pPr>
            <a:r>
              <a:rPr lang="en-US" sz="2200" dirty="0"/>
              <a:t>Find all loans of over $1200</a:t>
            </a:r>
            <a:r>
              <a:rPr lang="en-US" sz="2200" dirty="0">
                <a:sym typeface="Symbol" panose="05050102010706020507" pitchFamily="18" charset="2"/>
              </a:rPr>
              <a:t>            </a:t>
            </a:r>
          </a:p>
        </p:txBody>
      </p:sp>
      <p:sp>
        <p:nvSpPr>
          <p:cNvPr id="9" name="Text Box 4"/>
          <p:cNvSpPr txBox="1">
            <a:spLocks noChangeArrowheads="1"/>
          </p:cNvSpPr>
          <p:nvPr/>
        </p:nvSpPr>
        <p:spPr bwMode="auto">
          <a:xfrm>
            <a:off x="479376" y="3409891"/>
            <a:ext cx="97314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US" sz="2200" i="0" dirty="0">
                <a:latin typeface="Gill Sans MT (Body)"/>
              </a:rPr>
              <a:t>Find the loan number for each loan of an amount greater than $120                     </a:t>
            </a:r>
            <a:endParaRPr kumimoji="0" lang="en-US" sz="2200" i="0" dirty="0">
              <a:latin typeface="Gill Sans MT (Body)"/>
            </a:endParaRPr>
          </a:p>
        </p:txBody>
      </p:sp>
      <p:sp>
        <p:nvSpPr>
          <p:cNvPr id="10" name="Text Box 5"/>
          <p:cNvSpPr txBox="1">
            <a:spLocks noChangeArrowheads="1"/>
          </p:cNvSpPr>
          <p:nvPr/>
        </p:nvSpPr>
        <p:spPr bwMode="auto">
          <a:xfrm>
            <a:off x="479376" y="2065348"/>
            <a:ext cx="598268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amount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p>
        </p:txBody>
      </p:sp>
      <p:sp>
        <p:nvSpPr>
          <p:cNvPr id="11" name="Text Box 6"/>
          <p:cNvSpPr txBox="1">
            <a:spLocks noChangeArrowheads="1"/>
          </p:cNvSpPr>
          <p:nvPr/>
        </p:nvSpPr>
        <p:spPr bwMode="auto">
          <a:xfrm>
            <a:off x="507983" y="4304805"/>
            <a:ext cx="972447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loan-number</a:t>
            </a:r>
            <a:r>
              <a:rPr lang="en-US" sz="4000" i="0" dirty="0">
                <a:solidFill>
                  <a:srgbClr val="006C86"/>
                </a:solidFill>
              </a:rPr>
              <a:t> (</a:t>
            </a:r>
            <a:r>
              <a:rPr lang="en-US" sz="4000" baseline="-25000" dirty="0">
                <a:solidFill>
                  <a:srgbClr val="006C86"/>
                </a:solidFill>
              </a:rPr>
              <a:t>amount</a:t>
            </a:r>
            <a:r>
              <a:rPr lang="en-US" sz="4000" dirty="0">
                <a:solidFill>
                  <a:srgbClr val="006C86"/>
                </a:solidFill>
              </a:rPr>
              <a: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endParaRPr kumimoji="0" lang="en-US" sz="4000" i="0" dirty="0">
              <a:solidFill>
                <a:srgbClr val="006C86"/>
              </a:solidFill>
            </a:endParaRPr>
          </a:p>
        </p:txBody>
      </p:sp>
    </p:spTree>
    <p:extLst>
      <p:ext uri="{BB962C8B-B14F-4D97-AF65-F5344CB8AC3E}">
        <p14:creationId xmlns:p14="http://schemas.microsoft.com/office/powerpoint/2010/main" val="3246660861"/>
      </p:ext>
    </p:extLst>
  </p:cSld>
  <p:clrMapOvr>
    <a:masterClrMapping/>
  </p:clrMapOvr>
  <p:transition/>
</p:sld>
</file>

<file path=ppt/slides/slide1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3"/>
          <p:cNvSpPr txBox="1">
            <a:spLocks noChangeArrowheads="1"/>
          </p:cNvSpPr>
          <p:nvPr/>
        </p:nvSpPr>
        <p:spPr>
          <a:xfrm>
            <a:off x="479376" y="1447800"/>
            <a:ext cx="11377264" cy="787400"/>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 account, or both, from the bank</a:t>
            </a:r>
          </a:p>
        </p:txBody>
      </p:sp>
      <p:sp>
        <p:nvSpPr>
          <p:cNvPr id="12" name="Text Box 4"/>
          <p:cNvSpPr txBox="1">
            <a:spLocks noChangeArrowheads="1"/>
          </p:cNvSpPr>
          <p:nvPr/>
        </p:nvSpPr>
        <p:spPr bwMode="auto">
          <a:xfrm>
            <a:off x="479376" y="3945726"/>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and an account at bank.</a:t>
            </a:r>
          </a:p>
        </p:txBody>
      </p:sp>
      <p:sp>
        <p:nvSpPr>
          <p:cNvPr id="13" name="Text Box 5"/>
          <p:cNvSpPr txBox="1">
            <a:spLocks noChangeArrowheads="1"/>
          </p:cNvSpPr>
          <p:nvPr/>
        </p:nvSpPr>
        <p:spPr bwMode="auto">
          <a:xfrm>
            <a:off x="479376" y="2053603"/>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15" name="Text Box 6"/>
          <p:cNvSpPr txBox="1">
            <a:spLocks noChangeArrowheads="1"/>
          </p:cNvSpPr>
          <p:nvPr/>
        </p:nvSpPr>
        <p:spPr bwMode="auto">
          <a:xfrm>
            <a:off x="479376" y="4581128"/>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9" name="Title 1">
            <a:extLst>
              <a:ext uri="{FF2B5EF4-FFF2-40B4-BE49-F238E27FC236}">
                <a16:creationId xmlns:a16="http://schemas.microsoft.com/office/drawing/2014/main" id="{A3186F03-9B16-4D50-A644-C5B1BBD05153}"/>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Tree>
    <p:extLst>
      <p:ext uri="{BB962C8B-B14F-4D97-AF65-F5344CB8AC3E}">
        <p14:creationId xmlns:p14="http://schemas.microsoft.com/office/powerpoint/2010/main" val="1316145338"/>
      </p:ext>
    </p:extLst>
  </p:cSld>
  <p:clrMapOvr>
    <a:masterClrMapping/>
  </p:clrMapOvr>
  <p:transition/>
</p:sld>
</file>

<file path=ppt/slides/slide11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DD83270-D3EE-43FC-ED0E-60A243E5C5AF}"/>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77FEE412-1D5E-C653-2938-B74A53D60587}"/>
              </a:ext>
            </a:extLst>
          </p:cNvPr>
          <p:cNvGrpSpPr/>
          <p:nvPr/>
        </p:nvGrpSpPr>
        <p:grpSpPr>
          <a:xfrm>
            <a:off x="1676400" y="3028057"/>
            <a:ext cx="8839200" cy="1337047"/>
            <a:chOff x="1676400" y="3028057"/>
            <a:chExt cx="8839200" cy="1337047"/>
          </a:xfrm>
        </p:grpSpPr>
        <p:sp>
          <p:nvSpPr>
            <p:cNvPr id="2" name="Title 1">
              <a:extLst>
                <a:ext uri="{FF2B5EF4-FFF2-40B4-BE49-F238E27FC236}">
                  <a16:creationId xmlns:a16="http://schemas.microsoft.com/office/drawing/2014/main" id="{CCA87AD1-206F-04E9-DF8C-462BB7D84F8B}"/>
                </a:ext>
              </a:extLst>
            </p:cNvPr>
            <p:cNvSpPr txBox="1">
              <a:spLocks/>
            </p:cNvSpPr>
            <p:nvPr/>
          </p:nvSpPr>
          <p:spPr>
            <a:xfrm>
              <a:off x="1676400" y="302805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 Examples</a:t>
              </a:r>
            </a:p>
          </p:txBody>
        </p:sp>
        <p:sp>
          <p:nvSpPr>
            <p:cNvPr id="6" name="TextBox 5">
              <a:extLst>
                <a:ext uri="{FF2B5EF4-FFF2-40B4-BE49-F238E27FC236}">
                  <a16:creationId xmlns:a16="http://schemas.microsoft.com/office/drawing/2014/main" id="{FF7AC22C-A054-6896-276D-D20F7E7D9C89}"/>
                </a:ext>
              </a:extLst>
            </p:cNvPr>
            <p:cNvSpPr txBox="1"/>
            <p:nvPr/>
          </p:nvSpPr>
          <p:spPr>
            <a:xfrm>
              <a:off x="4385810" y="3964994"/>
              <a:ext cx="3420380" cy="400110"/>
            </a:xfrm>
            <a:prstGeom prst="rect">
              <a:avLst/>
            </a:prstGeom>
            <a:noFill/>
          </p:spPr>
          <p:txBody>
            <a:bodyPr wrap="square">
              <a:spAutoFit/>
            </a:bodyPr>
            <a:lstStyle/>
            <a:p>
              <a:r>
                <a:rPr lang="en-IN" sz="2000" dirty="0"/>
                <a:t>E-Commerce Database Schema</a:t>
              </a:r>
            </a:p>
          </p:txBody>
        </p:sp>
      </p:grpSp>
      <p:sp>
        <p:nvSpPr>
          <p:cNvPr id="10" name="TextBox 9">
            <a:extLst>
              <a:ext uri="{FF2B5EF4-FFF2-40B4-BE49-F238E27FC236}">
                <a16:creationId xmlns:a16="http://schemas.microsoft.com/office/drawing/2014/main" id="{633B3A3C-BB77-E71E-0598-F2DC3F110880}"/>
              </a:ext>
            </a:extLst>
          </p:cNvPr>
          <p:cNvSpPr txBox="1"/>
          <p:nvPr/>
        </p:nvSpPr>
        <p:spPr>
          <a:xfrm>
            <a:off x="409588" y="44624"/>
            <a:ext cx="11159019" cy="2815194"/>
          </a:xfrm>
          <a:prstGeom prst="rect">
            <a:avLst/>
          </a:prstGeom>
          <a:noFill/>
        </p:spPr>
        <p:txBody>
          <a:bodyPr wrap="square">
            <a:spAutoFit/>
          </a:bodyPr>
          <a:lstStyle/>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Customer (CustomerID, Name, Email, City)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Product (ProductID, Name, Category, Price)</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 (OrderID, CustomerID, OrderDate, TotalAmount)</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OrderDetails (OrderID, ProductID, Quantity)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Payment (PaymentID, OrderID, PaymentStatus)</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Shipment (ShipmentID, OrderID, ShipmentStatus, DeliveryDate)</a:t>
            </a:r>
          </a:p>
        </p:txBody>
      </p:sp>
    </p:spTree>
    <p:extLst>
      <p:ext uri="{BB962C8B-B14F-4D97-AF65-F5344CB8AC3E}">
        <p14:creationId xmlns:p14="http://schemas.microsoft.com/office/powerpoint/2010/main" val="3666586662"/>
      </p:ext>
    </p:extLst>
  </p:cSld>
  <p:clrMapOvr>
    <a:masterClrMapping/>
  </p:clrMapOvr>
  <p:transition/>
</p:sld>
</file>

<file path=ppt/slides/slide11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6B0B6B6-81B1-817F-DDBB-3924E26DC5A5}"/>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679DF348-20C6-036A-CD72-18D65F73A6D8}"/>
              </a:ext>
            </a:extLst>
          </p:cNvPr>
          <p:cNvGrpSpPr/>
          <p:nvPr/>
        </p:nvGrpSpPr>
        <p:grpSpPr>
          <a:xfrm>
            <a:off x="479376" y="2628201"/>
            <a:ext cx="11017224" cy="811252"/>
            <a:chOff x="479376" y="2745904"/>
            <a:chExt cx="11017224" cy="811252"/>
          </a:xfrm>
        </p:grpSpPr>
        <p:sp>
          <p:nvSpPr>
            <p:cNvPr id="12" name="Text Box 4">
              <a:extLst>
                <a:ext uri="{FF2B5EF4-FFF2-40B4-BE49-F238E27FC236}">
                  <a16:creationId xmlns:a16="http://schemas.microsoft.com/office/drawing/2014/main" id="{4BF52450-51B6-1994-A9A0-C9B5F0EA6755}"/>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Show Only Product Names and Prices</a:t>
              </a:r>
            </a:p>
          </p:txBody>
        </p:sp>
        <p:sp>
          <p:nvSpPr>
            <p:cNvPr id="15" name="Text Box 6">
              <a:extLst>
                <a:ext uri="{FF2B5EF4-FFF2-40B4-BE49-F238E27FC236}">
                  <a16:creationId xmlns:a16="http://schemas.microsoft.com/office/drawing/2014/main" id="{D250D501-2D32-3CD6-6F32-A6E52A1B938D}"/>
                </a:ext>
              </a:extLst>
            </p:cNvPr>
            <p:cNvSpPr txBox="1">
              <a:spLocks noChangeArrowheads="1"/>
            </p:cNvSpPr>
            <p:nvPr/>
          </p:nvSpPr>
          <p:spPr bwMode="auto">
            <a:xfrm>
              <a:off x="839416" y="3033936"/>
              <a:ext cx="5616624"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 </a:t>
              </a:r>
              <a:r>
                <a:rPr lang="en-US" sz="2800" i="0" baseline="-25000" dirty="0">
                  <a:solidFill>
                    <a:srgbClr val="006C86"/>
                  </a:solidFill>
                </a:rPr>
                <a:t>Name, Price</a:t>
              </a:r>
              <a:r>
                <a:rPr lang="en-US" sz="2800" i="0" dirty="0">
                  <a:solidFill>
                    <a:srgbClr val="006C86"/>
                  </a:solidFill>
                </a:rPr>
                <a:t>(Product)</a:t>
              </a:r>
            </a:p>
          </p:txBody>
        </p:sp>
      </p:grpSp>
      <p:sp>
        <p:nvSpPr>
          <p:cNvPr id="9" name="Title 1">
            <a:extLst>
              <a:ext uri="{FF2B5EF4-FFF2-40B4-BE49-F238E27FC236}">
                <a16:creationId xmlns:a16="http://schemas.microsoft.com/office/drawing/2014/main" id="{67B91519-6BCB-ED9E-DEAD-DB138C2DE5D1}"/>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grpSp>
        <p:nvGrpSpPr>
          <p:cNvPr id="10" name="Group 9">
            <a:extLst>
              <a:ext uri="{FF2B5EF4-FFF2-40B4-BE49-F238E27FC236}">
                <a16:creationId xmlns:a16="http://schemas.microsoft.com/office/drawing/2014/main" id="{DD57D9BD-F52F-F7ED-A649-DA04E76685F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22468CC4-4C36-2AEC-5F57-304115A4578B}"/>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All Customers from 'New York'</a:t>
              </a:r>
            </a:p>
          </p:txBody>
        </p:sp>
        <p:sp>
          <p:nvSpPr>
            <p:cNvPr id="3" name="TextBox 2">
              <a:extLst>
                <a:ext uri="{FF2B5EF4-FFF2-40B4-BE49-F238E27FC236}">
                  <a16:creationId xmlns:a16="http://schemas.microsoft.com/office/drawing/2014/main" id="{7B2996F3-14C8-560B-1BB3-1FB9F9B352F4}"/>
                </a:ext>
              </a:extLst>
            </p:cNvPr>
            <p:cNvSpPr txBox="1"/>
            <p:nvPr/>
          </p:nvSpPr>
          <p:spPr>
            <a:xfrm>
              <a:off x="839416" y="1628800"/>
              <a:ext cx="60943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l-GR" sz="2800" dirty="0">
                  <a:solidFill>
                    <a:srgbClr val="006C86"/>
                  </a:solidFill>
                  <a:sym typeface="Symbol" panose="05050102010706020507" pitchFamily="18" charset="2"/>
                </a:rPr>
                <a:t>σ</a:t>
              </a:r>
              <a:r>
                <a:rPr lang="en-US" sz="2800" dirty="0">
                  <a:solidFill>
                    <a:srgbClr val="006C86"/>
                  </a:solidFill>
                  <a:sym typeface="Symbol" panose="05050102010706020507" pitchFamily="18" charset="2"/>
                </a:rPr>
                <a:t> </a:t>
              </a:r>
              <a:r>
                <a:rPr lang="en-IN" sz="2800" dirty="0">
                  <a:solidFill>
                    <a:srgbClr val="006C86"/>
                  </a:solidFill>
                  <a:sym typeface="Symbol" panose="05050102010706020507" pitchFamily="18" charset="2"/>
                </a:rPr>
                <a:t>City=′NewYork′​(Customer)</a:t>
              </a:r>
            </a:p>
          </p:txBody>
        </p:sp>
      </p:grpSp>
      <p:grpSp>
        <p:nvGrpSpPr>
          <p:cNvPr id="14" name="Group 13">
            <a:extLst>
              <a:ext uri="{FF2B5EF4-FFF2-40B4-BE49-F238E27FC236}">
                <a16:creationId xmlns:a16="http://schemas.microsoft.com/office/drawing/2014/main" id="{BE35ACD7-96A9-6944-534D-641B9C6D5E5C}"/>
              </a:ext>
            </a:extLst>
          </p:cNvPr>
          <p:cNvGrpSpPr/>
          <p:nvPr/>
        </p:nvGrpSpPr>
        <p:grpSpPr>
          <a:xfrm>
            <a:off x="479376" y="3933056"/>
            <a:ext cx="11017224" cy="802541"/>
            <a:chOff x="479376" y="4161750"/>
            <a:chExt cx="11017224" cy="802541"/>
          </a:xfrm>
        </p:grpSpPr>
        <p:sp>
          <p:nvSpPr>
            <p:cNvPr id="4" name="Text Box 4">
              <a:extLst>
                <a:ext uri="{FF2B5EF4-FFF2-40B4-BE49-F238E27FC236}">
                  <a16:creationId xmlns:a16="http://schemas.microsoft.com/office/drawing/2014/main" id="{D70E2ECA-A0AD-78EA-4BFB-233F8D210005}"/>
                </a:ext>
              </a:extLst>
            </p:cNvPr>
            <p:cNvSpPr txBox="1">
              <a:spLocks noChangeArrowheads="1"/>
            </p:cNvSpPr>
            <p:nvPr/>
          </p:nvSpPr>
          <p:spPr bwMode="auto">
            <a:xfrm>
              <a:off x="479376" y="416175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Placed Orders</a:t>
              </a:r>
            </a:p>
          </p:txBody>
        </p:sp>
        <p:sp>
          <p:nvSpPr>
            <p:cNvPr id="5" name="Text Box 6">
              <a:extLst>
                <a:ext uri="{FF2B5EF4-FFF2-40B4-BE49-F238E27FC236}">
                  <a16:creationId xmlns:a16="http://schemas.microsoft.com/office/drawing/2014/main" id="{0ED4F5B0-7A09-1569-9918-B07FEB4FA214}"/>
                </a:ext>
              </a:extLst>
            </p:cNvPr>
            <p:cNvSpPr txBox="1">
              <a:spLocks noChangeArrowheads="1"/>
            </p:cNvSpPr>
            <p:nvPr/>
          </p:nvSpPr>
          <p:spPr bwMode="auto">
            <a:xfrm>
              <a:off x="839416" y="4441071"/>
              <a:ext cx="1000911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IN" sz="2800" i="0" baseline="-25000" dirty="0">
                  <a:solidFill>
                    <a:srgbClr val="006C86"/>
                  </a:solidFill>
                </a:rPr>
                <a:t>Customer.Name, Order.OrderID</a:t>
              </a:r>
              <a:r>
                <a:rPr lang="en-IN" sz="2800" i="0" dirty="0">
                  <a:solidFill>
                    <a:srgbClr val="006C86"/>
                  </a:solidFill>
                </a:rPr>
                <a:t>​(Customer⋈Order)</a:t>
              </a:r>
              <a:endParaRPr lang="en-US" sz="2800" i="0" dirty="0">
                <a:solidFill>
                  <a:srgbClr val="006C86"/>
                </a:solidFill>
              </a:endParaRPr>
            </a:p>
          </p:txBody>
        </p:sp>
      </p:grpSp>
      <p:grpSp>
        <p:nvGrpSpPr>
          <p:cNvPr id="16" name="Group 15">
            <a:extLst>
              <a:ext uri="{FF2B5EF4-FFF2-40B4-BE49-F238E27FC236}">
                <a16:creationId xmlns:a16="http://schemas.microsoft.com/office/drawing/2014/main" id="{3EFB43C5-F6E3-5B53-CE79-C8E52E4AA5F4}"/>
              </a:ext>
            </a:extLst>
          </p:cNvPr>
          <p:cNvGrpSpPr/>
          <p:nvPr/>
        </p:nvGrpSpPr>
        <p:grpSpPr>
          <a:xfrm>
            <a:off x="479376" y="5223867"/>
            <a:ext cx="11521280" cy="1373485"/>
            <a:chOff x="479376" y="4752330"/>
            <a:chExt cx="11521280" cy="1373485"/>
          </a:xfrm>
        </p:grpSpPr>
        <p:sp>
          <p:nvSpPr>
            <p:cNvPr id="6" name="Text Box 4">
              <a:extLst>
                <a:ext uri="{FF2B5EF4-FFF2-40B4-BE49-F238E27FC236}">
                  <a16:creationId xmlns:a16="http://schemas.microsoft.com/office/drawing/2014/main" id="{E80A0CE5-8FBD-DBF6-D497-F7D975A3F0C0}"/>
                </a:ext>
              </a:extLst>
            </p:cNvPr>
            <p:cNvSpPr txBox="1">
              <a:spLocks noChangeArrowheads="1"/>
            </p:cNvSpPr>
            <p:nvPr/>
          </p:nvSpPr>
          <p:spPr bwMode="auto">
            <a:xfrm>
              <a:off x="479376" y="475233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t>List All Products Ordered by a Customer Named 'Alice'</a:t>
              </a:r>
              <a:endParaRPr lang="en-US" dirty="0">
                <a:latin typeface="Georgia" panose="02040502050405020303" pitchFamily="18" charset="0"/>
              </a:endParaRPr>
            </a:p>
          </p:txBody>
        </p:sp>
        <p:sp>
          <p:nvSpPr>
            <p:cNvPr id="8" name="Text Box 6">
              <a:extLst>
                <a:ext uri="{FF2B5EF4-FFF2-40B4-BE49-F238E27FC236}">
                  <a16:creationId xmlns:a16="http://schemas.microsoft.com/office/drawing/2014/main" id="{29BAF305-2A73-8B07-DBCE-632373FAF000}"/>
                </a:ext>
              </a:extLst>
            </p:cNvPr>
            <p:cNvSpPr txBox="1">
              <a:spLocks noChangeArrowheads="1"/>
            </p:cNvSpPr>
            <p:nvPr/>
          </p:nvSpPr>
          <p:spPr bwMode="auto">
            <a:xfrm>
              <a:off x="839416" y="5171708"/>
              <a:ext cx="11161240"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US" sz="2800" i="0" dirty="0">
                  <a:solidFill>
                    <a:srgbClr val="006C86"/>
                  </a:solidFill>
                </a:rPr>
                <a:t> </a:t>
              </a:r>
              <a:r>
                <a:rPr lang="en-IN" sz="2800" i="0" baseline="-25000" dirty="0">
                  <a:solidFill>
                    <a:srgbClr val="006C86"/>
                  </a:solidFill>
                </a:rPr>
                <a:t>Product.Name, Order.OrderID</a:t>
              </a:r>
              <a:r>
                <a:rPr lang="en-IN" sz="2800" i="0" dirty="0">
                  <a:solidFill>
                    <a:srgbClr val="006C86"/>
                  </a:solidFill>
                </a:rPr>
                <a:t>​(</a:t>
              </a:r>
              <a:r>
                <a:rPr lang="el-GR" sz="2800" i="0" dirty="0">
                  <a:solidFill>
                    <a:srgbClr val="006C86"/>
                  </a:solidFill>
                </a:rPr>
                <a:t>σ</a:t>
              </a:r>
              <a:r>
                <a:rPr lang="en-US" sz="2800" i="0" dirty="0">
                  <a:solidFill>
                    <a:srgbClr val="006C86"/>
                  </a:solidFill>
                </a:rPr>
                <a:t> </a:t>
              </a:r>
              <a:r>
                <a:rPr lang="en-IN" sz="2800" i="0" dirty="0">
                  <a:solidFill>
                    <a:srgbClr val="006C86"/>
                  </a:solidFill>
                </a:rPr>
                <a:t>Customer.Name= ′Alice′​ (Customer ⋈ Order ⋈ OrderDetails ⋈ Product))</a:t>
              </a:r>
              <a:endParaRPr lang="en-US" sz="2800" i="0" dirty="0">
                <a:solidFill>
                  <a:srgbClr val="006C86"/>
                </a:solidFill>
              </a:endParaRPr>
            </a:p>
          </p:txBody>
        </p:sp>
      </p:grpSp>
    </p:spTree>
    <p:extLst>
      <p:ext uri="{BB962C8B-B14F-4D97-AF65-F5344CB8AC3E}">
        <p14:creationId xmlns:p14="http://schemas.microsoft.com/office/powerpoint/2010/main" val="2523894766"/>
      </p:ext>
    </p:extLst>
  </p:cSld>
  <p:clrMapOvr>
    <a:masterClrMapping/>
  </p:clrMapOvr>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8B61A-08B0-33B2-D85F-46AF1C5D6413}"/>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C21B4136-885F-729A-8471-158FD1D17E86}"/>
              </a:ext>
            </a:extLst>
          </p:cNvPr>
          <p:cNvGrpSpPr/>
          <p:nvPr/>
        </p:nvGrpSpPr>
        <p:grpSpPr>
          <a:xfrm>
            <a:off x="479376" y="2628199"/>
            <a:ext cx="11377264" cy="935371"/>
            <a:chOff x="479376" y="2745904"/>
            <a:chExt cx="11377264" cy="653684"/>
          </a:xfrm>
        </p:grpSpPr>
        <p:sp>
          <p:nvSpPr>
            <p:cNvPr id="12" name="Text Box 4">
              <a:extLst>
                <a:ext uri="{FF2B5EF4-FFF2-40B4-BE49-F238E27FC236}">
                  <a16:creationId xmlns:a16="http://schemas.microsoft.com/office/drawing/2014/main" id="{7EA4E766-004F-7458-3829-EA2766046BDE}"/>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Products Ordered in a Given Category</a:t>
              </a:r>
            </a:p>
          </p:txBody>
        </p:sp>
        <p:sp>
          <p:nvSpPr>
            <p:cNvPr id="15" name="Text Box 6">
              <a:extLst>
                <a:ext uri="{FF2B5EF4-FFF2-40B4-BE49-F238E27FC236}">
                  <a16:creationId xmlns:a16="http://schemas.microsoft.com/office/drawing/2014/main" id="{258AFE08-1637-E247-73F4-7F64F3FC4204}"/>
                </a:ext>
              </a:extLst>
            </p:cNvPr>
            <p:cNvSpPr txBox="1">
              <a:spLocks noChangeArrowheads="1"/>
            </p:cNvSpPr>
            <p:nvPr/>
          </p:nvSpPr>
          <p:spPr bwMode="auto">
            <a:xfrm>
              <a:off x="839416" y="3033936"/>
              <a:ext cx="11017224" cy="36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2800" dirty="0">
                  <a:solidFill>
                    <a:srgbClr val="006C86"/>
                  </a:solidFill>
                </a:rPr>
                <a:t>π </a:t>
              </a:r>
              <a:r>
                <a:rPr lang="en-US" sz="2800" baseline="-25000" dirty="0">
                  <a:solidFill>
                    <a:srgbClr val="006C86"/>
                  </a:solidFill>
                </a:rPr>
                <a:t>Pname</a:t>
              </a:r>
              <a:r>
                <a:rPr lang="en-US" sz="2800" dirty="0">
                  <a:solidFill>
                    <a:srgbClr val="006C86"/>
                  </a:solidFill>
                </a:rPr>
                <a:t> ​(σ </a:t>
              </a:r>
              <a:r>
                <a:rPr lang="en-US" sz="2800" baseline="-25000" dirty="0">
                  <a:solidFill>
                    <a:srgbClr val="006C86"/>
                  </a:solidFill>
                </a:rPr>
                <a:t>PID=(π </a:t>
              </a:r>
              <a:r>
                <a:rPr lang="en-US" sz="2800" baseline="-46000" dirty="0">
                  <a:solidFill>
                    <a:srgbClr val="006C86"/>
                  </a:solidFill>
                </a:rPr>
                <a:t>PID​(OrderDetails)</a:t>
              </a:r>
              <a:r>
                <a:rPr lang="en-US" sz="2800" baseline="-25000" dirty="0">
                  <a:solidFill>
                    <a:srgbClr val="006C86"/>
                  </a:solidFill>
                </a:rPr>
                <a:t>)​</a:t>
              </a:r>
              <a:r>
                <a:rPr lang="en-US" sz="2800" dirty="0">
                  <a:solidFill>
                    <a:srgbClr val="006C86"/>
                  </a:solidFill>
                </a:rPr>
                <a:t>(σ Category=′Electronics′​ (Products)))</a:t>
              </a:r>
            </a:p>
          </p:txBody>
        </p:sp>
      </p:grpSp>
      <p:sp>
        <p:nvSpPr>
          <p:cNvPr id="9" name="Title 1">
            <a:extLst>
              <a:ext uri="{FF2B5EF4-FFF2-40B4-BE49-F238E27FC236}">
                <a16:creationId xmlns:a16="http://schemas.microsoft.com/office/drawing/2014/main" id="{DF584351-9519-4811-B20A-E9FCEF7EBAE4}"/>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rgbClr val="FF0000"/>
                </a:solidFill>
              </a:rPr>
              <a:t>Examples Queries</a:t>
            </a:r>
          </a:p>
        </p:txBody>
      </p:sp>
      <p:grpSp>
        <p:nvGrpSpPr>
          <p:cNvPr id="10" name="Group 9">
            <a:extLst>
              <a:ext uri="{FF2B5EF4-FFF2-40B4-BE49-F238E27FC236}">
                <a16:creationId xmlns:a16="http://schemas.microsoft.com/office/drawing/2014/main" id="{B90822F0-DE39-CB7E-3B10-19B6E2157BC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9F6A0002-8BBB-8C66-81CB-BF695CFF693A}"/>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Have Never Placed an Order</a:t>
              </a:r>
            </a:p>
          </p:txBody>
        </p:sp>
        <p:sp>
          <p:nvSpPr>
            <p:cNvPr id="3" name="TextBox 2">
              <a:extLst>
                <a:ext uri="{FF2B5EF4-FFF2-40B4-BE49-F238E27FC236}">
                  <a16:creationId xmlns:a16="http://schemas.microsoft.com/office/drawing/2014/main" id="{D39CA3AF-5D29-0F6F-B656-DD353F4317AB}"/>
                </a:ext>
              </a:extLst>
            </p:cNvPr>
            <p:cNvSpPr txBox="1"/>
            <p:nvPr/>
          </p:nvSpPr>
          <p:spPr>
            <a:xfrm>
              <a:off x="839416" y="1628800"/>
              <a:ext cx="1087320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n-US" sz="2800" dirty="0">
                  <a:solidFill>
                    <a:srgbClr val="006C86"/>
                  </a:solidFill>
                </a:rPr>
                <a:t>π </a:t>
              </a:r>
              <a:r>
                <a:rPr lang="en-US" sz="2800" baseline="-25000" dirty="0">
                  <a:solidFill>
                    <a:srgbClr val="006C86"/>
                  </a:solidFill>
                </a:rPr>
                <a:t>Name</a:t>
              </a:r>
              <a:r>
                <a:rPr lang="en-US" sz="2800" dirty="0">
                  <a:solidFill>
                    <a:srgbClr val="006C86"/>
                  </a:solidFill>
                </a:rPr>
                <a:t>​ (σ </a:t>
              </a:r>
              <a:r>
                <a:rPr lang="en-US" sz="2800" baseline="-25000" dirty="0">
                  <a:solidFill>
                    <a:srgbClr val="006C86"/>
                  </a:solidFill>
                </a:rPr>
                <a:t>CID=(π CID ​(Customers) − π CID​ (Orders) </a:t>
              </a:r>
              <a:r>
                <a:rPr lang="en-US" sz="2800" dirty="0">
                  <a:solidFill>
                    <a:srgbClr val="006C86"/>
                  </a:solidFill>
                </a:rPr>
                <a:t>) ​(Customers))</a:t>
              </a:r>
              <a:endParaRPr lang="en-IN" sz="2800" dirty="0">
                <a:solidFill>
                  <a:srgbClr val="006C86"/>
                </a:solidFill>
                <a:sym typeface="Symbol" panose="05050102010706020507" pitchFamily="18" charset="2"/>
              </a:endParaRPr>
            </a:p>
          </p:txBody>
        </p:sp>
      </p:grpSp>
    </p:spTree>
    <p:extLst>
      <p:ext uri="{BB962C8B-B14F-4D97-AF65-F5344CB8AC3E}">
        <p14:creationId xmlns:p14="http://schemas.microsoft.com/office/powerpoint/2010/main" val="3379385508"/>
      </p:ext>
    </p:extLst>
  </p:cSld>
  <p:clrMapOvr>
    <a:masterClrMapping/>
  </p:clrMapOvr>
  <p:transition/>
</p:sld>
</file>

<file path=ppt/slides/slide1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Closure of Attributes</a:t>
            </a:r>
          </a:p>
        </p:txBody>
      </p:sp>
    </p:spTree>
    <p:extLst>
      <p:ext uri="{BB962C8B-B14F-4D97-AF65-F5344CB8AC3E}">
        <p14:creationId xmlns:p14="http://schemas.microsoft.com/office/powerpoint/2010/main" val="1554353409"/>
      </p:ext>
    </p:extLst>
  </p:cSld>
  <p:clrMapOvr>
    <a:masterClrMapping/>
  </p:clrMapOvr>
  <p:transition/>
</p:sld>
</file>

<file path=ppt/slides/slide1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1981200" y="0"/>
            <a:ext cx="8229600" cy="914400"/>
          </a:xfrm>
        </p:spPr>
        <p:txBody>
          <a:bodyPr>
            <a:normAutofit fontScale="90000"/>
          </a:bodyPr>
          <a:lstStyle/>
          <a:p>
            <a:pPr>
              <a:lnSpc>
                <a:spcPct val="250000"/>
              </a:lnSpc>
            </a:pPr>
            <a:r>
              <a:rPr lang="en-IN" dirty="0">
                <a:solidFill>
                  <a:schemeClr val="bg2">
                    <a:lumMod val="25000"/>
                  </a:schemeClr>
                </a:solidFill>
              </a:rPr>
              <a:t>Closure of attributes</a:t>
            </a:r>
          </a:p>
        </p:txBody>
      </p:sp>
      <p:sp>
        <p:nvSpPr>
          <p:cNvPr id="2" name="TextBox 1"/>
          <p:cNvSpPr txBox="1"/>
          <p:nvPr/>
        </p:nvSpPr>
        <p:spPr>
          <a:xfrm>
            <a:off x="1981200" y="1219200"/>
            <a:ext cx="2541080" cy="523220"/>
          </a:xfrm>
          <a:prstGeom prst="rect">
            <a:avLst/>
          </a:prstGeom>
          <a:noFill/>
        </p:spPr>
        <p:txBody>
          <a:bodyPr wrap="none" rtlCol="0">
            <a:spAutoFit/>
          </a:bodyPr>
          <a:lstStyle/>
          <a:p>
            <a:r>
              <a:rPr lang="en-IN" sz="2800" dirty="0"/>
              <a:t>R (A B C D E F)</a:t>
            </a:r>
          </a:p>
        </p:txBody>
      </p:sp>
      <p:cxnSp>
        <p:nvCxnSpPr>
          <p:cNvPr id="4" name="Elbow Connector 3"/>
          <p:cNvCxnSpPr/>
          <p:nvPr/>
        </p:nvCxnSpPr>
        <p:spPr>
          <a:xfrm rot="16200000" flipH="1">
            <a:off x="2095500" y="1790700"/>
            <a:ext cx="914400" cy="6858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2341224" y="2590800"/>
            <a:ext cx="1039067" cy="400110"/>
          </a:xfrm>
          <a:prstGeom prst="rect">
            <a:avLst/>
          </a:prstGeom>
          <a:noFill/>
        </p:spPr>
        <p:txBody>
          <a:bodyPr wrap="none" rtlCol="0">
            <a:spAutoFit/>
          </a:bodyPr>
          <a:lstStyle/>
          <a:p>
            <a:r>
              <a:rPr lang="en-IN" sz="2000" dirty="0"/>
              <a:t>Relation</a:t>
            </a:r>
          </a:p>
        </p:txBody>
      </p:sp>
      <p:sp>
        <p:nvSpPr>
          <p:cNvPr id="8" name="TextBox 7"/>
          <p:cNvSpPr txBox="1"/>
          <p:nvPr/>
        </p:nvSpPr>
        <p:spPr>
          <a:xfrm>
            <a:off x="4673785" y="2590800"/>
            <a:ext cx="1266693" cy="400110"/>
          </a:xfrm>
          <a:prstGeom prst="rect">
            <a:avLst/>
          </a:prstGeom>
          <a:noFill/>
        </p:spPr>
        <p:txBody>
          <a:bodyPr wrap="none" rtlCol="0">
            <a:spAutoFit/>
          </a:bodyPr>
          <a:lstStyle/>
          <a:p>
            <a:r>
              <a:rPr lang="en-IN" sz="2000" dirty="0"/>
              <a:t>Attributes</a:t>
            </a:r>
          </a:p>
        </p:txBody>
      </p:sp>
      <p:cxnSp>
        <p:nvCxnSpPr>
          <p:cNvPr id="9" name="Elbow Connector 8"/>
          <p:cNvCxnSpPr/>
          <p:nvPr/>
        </p:nvCxnSpPr>
        <p:spPr>
          <a:xfrm rot="16200000" flipH="1">
            <a:off x="3952200" y="1305600"/>
            <a:ext cx="914400" cy="16560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93699763"/>
      </p:ext>
    </p:extLst>
  </p:cSld>
  <p:clrMapOvr>
    <a:masterClrMapping/>
  </p:clrMapOvr>
  <p:transition/>
</p:sld>
</file>

<file path=ppt/slides/slide1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t>
            </a:r>
            <a:r>
              <a:rPr lang="en-IN" sz="4800" dirty="0">
                <a:solidFill>
                  <a:srgbClr val="DC525C"/>
                </a:solidFill>
                <a:latin typeface="Segoe UI Light" panose="020B0502040204020203" pitchFamily="34" charset="0"/>
                <a:cs typeface="Segoe UI Light" panose="020B0502040204020203" pitchFamily="34" charset="0"/>
              </a:rPr>
              <a:t>schema </a:t>
            </a:r>
            <a:r>
              <a:rPr lang="en-IN" sz="4800">
                <a:solidFill>
                  <a:srgbClr val="DC525C"/>
                </a:solidFill>
                <a:latin typeface="Segoe UI Light" panose="020B0502040204020203" pitchFamily="34" charset="0"/>
                <a:cs typeface="Segoe UI Light" panose="020B0502040204020203" pitchFamily="34" charset="0"/>
              </a:rPr>
              <a:t>and instance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F04094D9-C058-851F-EC42-360E566404AF}"/>
              </a:ext>
            </a:extLst>
          </p:cNvPr>
          <p:cNvSpPr txBox="1"/>
          <p:nvPr/>
        </p:nvSpPr>
        <p:spPr>
          <a:xfrm>
            <a:off x="335360" y="332656"/>
            <a:ext cx="11462930" cy="1231106"/>
          </a:xfrm>
          <a:prstGeom prst="rect">
            <a:avLst/>
          </a:prstGeom>
          <a:noFill/>
        </p:spPr>
        <p:txBody>
          <a:bodyPr wrap="square">
            <a:spAutoFit/>
          </a:bodyPr>
          <a:lstStyle/>
          <a:p>
            <a:r>
              <a:rPr lang="en-US" sz="2000" b="1" dirty="0">
                <a:latin typeface="Palatino Linotype" panose="02040502050505030304" pitchFamily="18" charset="0"/>
              </a:rPr>
              <a:t>Schema: </a:t>
            </a:r>
            <a:r>
              <a:rPr lang="en-IN" dirty="0">
                <a:latin typeface="Palatino Linotype" panose="02040502050505030304" pitchFamily="18" charset="0"/>
              </a:rPr>
              <a:t>A schema is a collection of database objects (</a:t>
            </a:r>
            <a:r>
              <a:rPr lang="en-US" dirty="0">
                <a:latin typeface="Palatino Linotype" panose="02040502050505030304" pitchFamily="18" charset="0"/>
              </a:rPr>
              <a:t>like table, foreign key, primary key, views, columns, data types, stored procedure, etc.</a:t>
            </a:r>
            <a:r>
              <a:rPr lang="en-IN" dirty="0">
                <a:latin typeface="Palatino Linotype" panose="02040502050505030304" pitchFamily="18" charset="0"/>
              </a:rPr>
              <a:t>) associated with one particular database username. This username is called the schema owner, or the owner of the related group of objects. You may have one or multiple schemas in a database.</a:t>
            </a:r>
            <a:endParaRPr lang="en-US" dirty="0">
              <a:latin typeface="Palatino Linotype" panose="02040502050505030304" pitchFamily="18" charset="0"/>
            </a:endParaRPr>
          </a:p>
        </p:txBody>
      </p:sp>
      <p:sp>
        <p:nvSpPr>
          <p:cNvPr id="3" name="TextBox 2">
            <a:extLst>
              <a:ext uri="{FF2B5EF4-FFF2-40B4-BE49-F238E27FC236}">
                <a16:creationId xmlns:a16="http://schemas.microsoft.com/office/drawing/2014/main" id="{2A68ABC4-4EC0-7051-775A-3EAE69C96D48}"/>
              </a:ext>
            </a:extLst>
          </p:cNvPr>
          <p:cNvSpPr txBox="1"/>
          <p:nvPr/>
        </p:nvSpPr>
        <p:spPr>
          <a:xfrm>
            <a:off x="321703" y="3717032"/>
            <a:ext cx="11462930" cy="1846659"/>
          </a:xfrm>
          <a:prstGeom prst="rect">
            <a:avLst/>
          </a:prstGeom>
          <a:noFill/>
        </p:spPr>
        <p:txBody>
          <a:bodyPr wrap="square">
            <a:spAutoFit/>
          </a:bodyPr>
          <a:lstStyle/>
          <a:p>
            <a:r>
              <a:rPr lang="en-US" sz="2000" b="1" dirty="0">
                <a:latin typeface="Palatino Linotype" panose="02040502050505030304" pitchFamily="18" charset="0"/>
              </a:rPr>
              <a:t>Instance </a:t>
            </a:r>
          </a:p>
          <a:p>
            <a:endParaRPr lang="en-US" sz="400" b="1" dirty="0">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The data stored in database at a particular moment of time is called instance of database.</a:t>
            </a:r>
          </a:p>
          <a:p>
            <a:pPr marL="285750" indent="-285750">
              <a:buFont typeface="Arial" panose="020B0604020202020204" pitchFamily="34" charset="0"/>
              <a:buChar char="•"/>
            </a:pPr>
            <a:endParaRPr lang="en-US" dirty="0">
              <a:latin typeface="Palatino Linotype" panose="02040502050505030304" pitchFamily="18" charset="0"/>
            </a:endParaRPr>
          </a:p>
          <a:p>
            <a:r>
              <a:rPr lang="en-US" dirty="0">
                <a:solidFill>
                  <a:srgbClr val="FF0000"/>
                </a:solidFill>
                <a:latin typeface="Palatino Linotype" panose="02040502050505030304" pitchFamily="18" charset="0"/>
              </a:rPr>
              <a:t>For example</a:t>
            </a:r>
            <a:r>
              <a:rPr lang="en-US" dirty="0">
                <a:latin typeface="Palatino Linotype" panose="02040502050505030304" pitchFamily="18" charset="0"/>
              </a:rPr>
              <a:t>, lets say we have a single table student in the database, today the table has 100 records, so today the instance of the database has 100 records. Lets say we are going to add another 100 records in this table by tomorrow so the instance of database tomorrow will have 200 records in table.</a:t>
            </a:r>
          </a:p>
        </p:txBody>
      </p:sp>
      <p:sp>
        <p:nvSpPr>
          <p:cNvPr id="7" name="TextBox 6">
            <a:extLst>
              <a:ext uri="{FF2B5EF4-FFF2-40B4-BE49-F238E27FC236}">
                <a16:creationId xmlns:a16="http://schemas.microsoft.com/office/drawing/2014/main" id="{00C6DAB4-B52A-BEBE-3048-EACC80F60053}"/>
              </a:ext>
            </a:extLst>
          </p:cNvPr>
          <p:cNvSpPr txBox="1"/>
          <p:nvPr/>
        </p:nvSpPr>
        <p:spPr>
          <a:xfrm>
            <a:off x="191344" y="6300028"/>
            <a:ext cx="6768752" cy="369332"/>
          </a:xfrm>
          <a:prstGeom prst="rect">
            <a:avLst/>
          </a:prstGeom>
          <a:noFill/>
        </p:spPr>
        <p:txBody>
          <a:bodyPr wrap="square">
            <a:spAutoFit/>
          </a:bodyPr>
          <a:lstStyle/>
          <a:p>
            <a:r>
              <a:rPr lang="en-IN" dirty="0">
                <a:latin typeface="Palatino Linotype" panose="02040502050505030304" pitchFamily="18" charset="0"/>
              </a:rPr>
              <a:t>An instance of a relation is a set of tuples, also called records</a:t>
            </a:r>
          </a:p>
        </p:txBody>
      </p:sp>
    </p:spTree>
    <p:extLst>
      <p:ext uri="{BB962C8B-B14F-4D97-AF65-F5344CB8AC3E}">
        <p14:creationId xmlns:p14="http://schemas.microsoft.com/office/powerpoint/2010/main" val="405949456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Data Model</a:t>
            </a:r>
          </a:p>
        </p:txBody>
      </p:sp>
      <p:sp>
        <p:nvSpPr>
          <p:cNvPr id="3" name="Rectangle 2"/>
          <p:cNvSpPr/>
          <p:nvPr/>
        </p:nvSpPr>
        <p:spPr>
          <a:xfrm>
            <a:off x="623392" y="3500439"/>
            <a:ext cx="11089232" cy="2400657"/>
          </a:xfrm>
          <a:prstGeom prst="rect">
            <a:avLst/>
          </a:prstGeom>
        </p:spPr>
        <p:txBody>
          <a:bodyPr wrap="square">
            <a:spAutoFit/>
          </a:bodyPr>
          <a:lstStyle/>
          <a:p>
            <a:r>
              <a:rPr lang="en-US" sz="2000" dirty="0">
                <a:latin typeface="Palatino Linotype" panose="02040502050505030304" pitchFamily="18" charset="0"/>
              </a:rPr>
              <a:t>Data modeling is the process of creating a data model for the data to be stored in a Database. This data model is a conceptual representation of</a:t>
            </a:r>
          </a:p>
          <a:p>
            <a:endParaRPr lang="en-US" sz="2000" dirty="0">
              <a:latin typeface="Palatino Linotype" panose="02040502050505030304" pitchFamily="18" charset="0"/>
            </a:endParaRP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associations between different 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rules.</a:t>
            </a: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Tree>
    <p:extLst>
      <p:ext uri="{BB962C8B-B14F-4D97-AF65-F5344CB8AC3E}">
        <p14:creationId xmlns:p14="http://schemas.microsoft.com/office/powerpoint/2010/main" val="32696538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3073" name="Rectangle 1"/>
          <p:cNvSpPr>
            <a:spLocks noChangeArrowheads="1"/>
          </p:cNvSpPr>
          <p:nvPr/>
        </p:nvSpPr>
        <p:spPr bwMode="auto">
          <a:xfrm>
            <a:off x="263352" y="1406843"/>
            <a:ext cx="11593288" cy="83099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fontAlgn="base">
              <a:spcBef>
                <a:spcPct val="0"/>
              </a:spcBef>
              <a:spcAft>
                <a:spcPct val="0"/>
              </a:spcAft>
            </a:pPr>
            <a:r>
              <a:rPr lang="en-US" sz="2400" b="1" dirty="0">
                <a:solidFill>
                  <a:srgbClr val="404040"/>
                </a:solidFill>
                <a:latin typeface="Palatino Linotype" panose="02040502050505030304" pitchFamily="18" charset="0"/>
                <a:ea typeface="Arial Unicode MS" pitchFamily="34" charset="-128"/>
                <a:cs typeface="Arial" pitchFamily="34" charset="0"/>
              </a:rPr>
              <a:t>Data</a:t>
            </a:r>
            <a:r>
              <a:rPr lang="en-US" sz="2400" b="0" i="0" dirty="0">
                <a:solidFill>
                  <a:srgbClr val="000000"/>
                </a:solidFill>
                <a:effectLst/>
                <a:latin typeface="Palatino Linotype" panose="02040502050505030304" pitchFamily="18" charset="0"/>
              </a:rPr>
              <a:t> </a:t>
            </a:r>
            <a:r>
              <a:rPr lang="en-US" sz="2400" b="1" dirty="0">
                <a:solidFill>
                  <a:srgbClr val="404040"/>
                </a:solidFill>
                <a:latin typeface="Palatino Linotype" panose="02040502050505030304" pitchFamily="18" charset="0"/>
                <a:ea typeface="Arial Unicode MS" pitchFamily="34" charset="-128"/>
                <a:cs typeface="Arial" pitchFamily="34" charset="0"/>
              </a:rPr>
              <a:t>models</a:t>
            </a:r>
            <a:r>
              <a:rPr lang="en-US" sz="2400" b="0" i="0" dirty="0">
                <a:solidFill>
                  <a:srgbClr val="000000"/>
                </a:solidFill>
                <a:effectLst/>
                <a:latin typeface="Palatino Linotype" panose="02040502050505030304" pitchFamily="18" charset="0"/>
              </a:rPr>
              <a:t> define how data is connected to each other and how they are processed and stored inside the system.</a:t>
            </a:r>
            <a:endParaRPr lang="en-US" sz="1600" dirty="0">
              <a:latin typeface="Palatino Linotype" panose="02040502050505030304" pitchFamily="18" charset="0"/>
              <a:cs typeface="Arial" pitchFamily="34" charset="0"/>
            </a:endParaRPr>
          </a:p>
        </p:txBody>
      </p:sp>
      <p:sp>
        <p:nvSpPr>
          <p:cNvPr id="11" name="Rectangle 10"/>
          <p:cNvSpPr/>
          <p:nvPr/>
        </p:nvSpPr>
        <p:spPr>
          <a:xfrm>
            <a:off x="407368" y="2895601"/>
            <a:ext cx="11449272" cy="830997"/>
          </a:xfrm>
          <a:prstGeom prst="rect">
            <a:avLst/>
          </a:prstGeom>
        </p:spPr>
        <p:txBody>
          <a:bodyPr wrap="square">
            <a:spAutoFit/>
          </a:bodyPr>
          <a:lstStyle/>
          <a:p>
            <a:r>
              <a:rPr lang="en-US" sz="2400" b="1" dirty="0">
                <a:solidFill>
                  <a:srgbClr val="404040"/>
                </a:solidFill>
                <a:latin typeface="Palatino Linotype" panose="02040502050505030304" pitchFamily="18" charset="0"/>
                <a:ea typeface="Arial Unicode MS" pitchFamily="34" charset="-128"/>
                <a:cs typeface="Arial" pitchFamily="34" charset="0"/>
              </a:rPr>
              <a:t>Data modeling</a:t>
            </a:r>
            <a:r>
              <a:rPr lang="en-US" sz="2400" dirty="0">
                <a:latin typeface="Palatino Linotype" panose="02040502050505030304" pitchFamily="18" charset="0"/>
                <a:cs typeface="Arial" pitchFamily="34" charset="0"/>
              </a:rPr>
              <a:t> involves a progression from conceptual model to logical model to physical </a:t>
            </a:r>
            <a:r>
              <a:rPr lang="en-US" sz="2400" b="1" dirty="0">
                <a:latin typeface="Palatino Linotype" panose="02040502050505030304" pitchFamily="18" charset="0"/>
                <a:cs typeface="Arial" pitchFamily="34" charset="0"/>
              </a:rPr>
              <a:t>object</a:t>
            </a:r>
            <a:r>
              <a:rPr lang="en-US" sz="2400" dirty="0">
                <a:latin typeface="Palatino Linotype" panose="02040502050505030304" pitchFamily="18" charset="0"/>
                <a:cs typeface="Arial" pitchFamily="34" charset="0"/>
              </a:rPr>
              <a:t>.</a:t>
            </a:r>
          </a:p>
        </p:txBody>
      </p:sp>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733620741"/>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049" name="Rectangle 1"/>
          <p:cNvSpPr>
            <a:spLocks noChangeArrowheads="1"/>
          </p:cNvSpPr>
          <p:nvPr/>
        </p:nvSpPr>
        <p:spPr bwMode="auto">
          <a:xfrm>
            <a:off x="407368" y="637120"/>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conceptual data model include:</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the important entities and the relationships among them.</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attribute is specified.</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primary key is specified.</a:t>
            </a:r>
          </a:p>
        </p:txBody>
      </p:sp>
      <p:pic>
        <p:nvPicPr>
          <p:cNvPr id="2050" name="Picture 2" descr="Conceptual Model Design"/>
          <p:cNvPicPr>
            <a:picLocks noChangeAspect="1" noChangeArrowheads="1"/>
          </p:cNvPicPr>
          <p:nvPr/>
        </p:nvPicPr>
        <p:blipFill>
          <a:blip r:embed="rId2" cstate="print"/>
          <a:srcRect/>
          <a:stretch>
            <a:fillRect/>
          </a:stretch>
        </p:blipFill>
        <p:spPr bwMode="auto">
          <a:xfrm>
            <a:off x="4806159" y="2351752"/>
            <a:ext cx="6285539" cy="4506248"/>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2903988097"/>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410C9B3-7043-F688-F088-B7084A494380}"/>
              </a:ext>
            </a:extLst>
          </p:cNvPr>
          <p:cNvSpPr txBox="1"/>
          <p:nvPr/>
        </p:nvSpPr>
        <p:spPr>
          <a:xfrm>
            <a:off x="47328" y="44624"/>
            <a:ext cx="6552728" cy="4062651"/>
          </a:xfrm>
          <a:prstGeom prst="rect">
            <a:avLst/>
          </a:prstGeom>
          <a:noFill/>
        </p:spPr>
        <p:txBody>
          <a:bodyPr wrap="square">
            <a:spAutoFit/>
          </a:bodyPr>
          <a:lstStyle/>
          <a:p>
            <a:r>
              <a:rPr lang="en-IN" sz="2000" b="1" dirty="0">
                <a:solidFill>
                  <a:srgbClr val="6565F7"/>
                </a:solidFill>
                <a:latin typeface="Palatino Linotype" panose="02040502050505030304" pitchFamily="18" charset="0"/>
              </a:rPr>
              <a:t>Online Hotel Management System</a:t>
            </a:r>
          </a:p>
          <a:p>
            <a:endParaRPr lang="en-IN" sz="600" b="1" dirty="0">
              <a:latin typeface="Palatino Linotype" panose="02040502050505030304" pitchFamily="18" charset="0"/>
            </a:endParaRPr>
          </a:p>
          <a:p>
            <a:r>
              <a:rPr lang="en-IN" b="1" dirty="0">
                <a:latin typeface="Palatino Linotype" panose="02040502050505030304" pitchFamily="18" charset="0"/>
              </a:rPr>
              <a:t>The system must allow:</a:t>
            </a:r>
          </a:p>
          <a:p>
            <a:endParaRPr lang="en-IN" sz="6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Customers</a:t>
            </a:r>
            <a:r>
              <a:rPr lang="en-IN" dirty="0">
                <a:latin typeface="Palatino Linotype" panose="02040502050505030304" pitchFamily="18" charset="0"/>
              </a:rPr>
              <a:t> to book rooms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Rooms</a:t>
            </a:r>
            <a:r>
              <a:rPr lang="en-IN" dirty="0">
                <a:latin typeface="Palatino Linotype" panose="02040502050505030304" pitchFamily="18" charset="0"/>
              </a:rPr>
              <a:t> are </a:t>
            </a:r>
            <a:r>
              <a:rPr lang="en-IN" b="1" i="1" dirty="0">
                <a:latin typeface="Palatino Linotype" panose="02040502050505030304" pitchFamily="18" charset="0"/>
              </a:rPr>
              <a:t>categorized/ roomtypes </a:t>
            </a:r>
            <a:r>
              <a:rPr lang="en-IN" dirty="0">
                <a:latin typeface="Palatino Linotype" panose="02040502050505030304" pitchFamily="18" charset="0"/>
              </a:rPr>
              <a:t>(</a:t>
            </a:r>
            <a:r>
              <a:rPr lang="en-IN" i="1" dirty="0">
                <a:latin typeface="Palatino Linotype" panose="02040502050505030304" pitchFamily="18" charset="0"/>
              </a:rPr>
              <a:t>Standard, Deluxe, Suite</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room can have one or more </a:t>
            </a:r>
            <a:r>
              <a:rPr lang="en-IN" b="1" i="1" dirty="0">
                <a:latin typeface="Palatino Linotype" panose="02040502050505030304" pitchFamily="18" charset="0"/>
              </a:rPr>
              <a:t>bookings</a:t>
            </a:r>
            <a:r>
              <a:rPr lang="en-IN" dirty="0">
                <a:latin typeface="Palatino Linotype" panose="02040502050505030304" pitchFamily="18" charset="0"/>
              </a:rPr>
              <a:t> (but not overlapping dates).</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Customers can make </a:t>
            </a:r>
            <a:r>
              <a:rPr lang="en-IN" b="1" i="1" dirty="0">
                <a:latin typeface="Palatino Linotype" panose="02040502050505030304" pitchFamily="18" charset="0"/>
              </a:rPr>
              <a:t>payments</a:t>
            </a:r>
            <a:r>
              <a:rPr lang="en-IN" dirty="0">
                <a:latin typeface="Palatino Linotype" panose="02040502050505030304" pitchFamily="18" charset="0"/>
              </a:rPr>
              <a:t>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Staff</a:t>
            </a:r>
            <a:r>
              <a:rPr lang="en-IN" dirty="0">
                <a:latin typeface="Palatino Linotype" panose="02040502050505030304" pitchFamily="18" charset="0"/>
              </a:rPr>
              <a:t> manage [</a:t>
            </a:r>
            <a:r>
              <a:rPr lang="en-IN" b="1" i="1" dirty="0">
                <a:latin typeface="Palatino Linotype" panose="02040502050505030304" pitchFamily="18" charset="0"/>
              </a:rPr>
              <a:t>Roles</a:t>
            </a:r>
            <a:r>
              <a:rPr lang="en-IN" dirty="0">
                <a:latin typeface="Palatino Linotype" panose="02040502050505030304" pitchFamily="18" charset="0"/>
              </a:rPr>
              <a:t>] reservations and guests. (</a:t>
            </a:r>
            <a:r>
              <a:rPr lang="en-IN" i="1" dirty="0">
                <a:latin typeface="Palatino Linotype" panose="02040502050505030304" pitchFamily="18" charset="0"/>
              </a:rPr>
              <a:t>Receptionist, Housekeeping, Manager, Chef, etc.</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booking includes </a:t>
            </a:r>
            <a:r>
              <a:rPr lang="en-IN" i="1" dirty="0">
                <a:latin typeface="Palatino Linotype" panose="02040502050505030304" pitchFamily="18" charset="0"/>
              </a:rPr>
              <a:t>check-in</a:t>
            </a:r>
            <a:r>
              <a:rPr lang="en-IN" dirty="0">
                <a:latin typeface="Palatino Linotype" panose="02040502050505030304" pitchFamily="18" charset="0"/>
              </a:rPr>
              <a:t> and </a:t>
            </a:r>
            <a:r>
              <a:rPr lang="en-IN" i="1" dirty="0">
                <a:latin typeface="Palatino Linotype" panose="02040502050505030304" pitchFamily="18" charset="0"/>
              </a:rPr>
              <a:t>check-out dates</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Different </a:t>
            </a:r>
            <a:r>
              <a:rPr lang="en-IN" b="1" i="1" dirty="0">
                <a:latin typeface="Palatino Linotype" panose="02040502050505030304" pitchFamily="18" charset="0"/>
              </a:rPr>
              <a:t>type of services </a:t>
            </a:r>
            <a:r>
              <a:rPr lang="en-IN" dirty="0">
                <a:latin typeface="Palatino Linotype" panose="02040502050505030304" pitchFamily="18" charset="0"/>
              </a:rPr>
              <a:t>are provided like </a:t>
            </a:r>
            <a:r>
              <a:rPr lang="en-IN" i="1" dirty="0">
                <a:latin typeface="Palatino Linotype" panose="02040502050505030304" pitchFamily="18" charset="0"/>
              </a:rPr>
              <a:t>Room Cleaning, Room Booking, Food Delivery</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C4E78DC6-FF7A-8D59-467D-FCC49B72CB67}"/>
              </a:ext>
            </a:extLst>
          </p:cNvPr>
          <p:cNvGraphicFramePr>
            <a:graphicFrameLocks noGrp="1"/>
          </p:cNvGraphicFramePr>
          <p:nvPr/>
        </p:nvGraphicFramePr>
        <p:xfrm>
          <a:off x="6744072" y="597856"/>
          <a:ext cx="5328592" cy="4328160"/>
        </p:xfrm>
        <a:graphic>
          <a:graphicData uri="http://schemas.openxmlformats.org/drawingml/2006/table">
            <a:tbl>
              <a:tblPr>
                <a:tableStyleId>{5940675A-B579-460E-94D1-54222C63F5DA}</a:tableStyleId>
              </a:tblPr>
              <a:tblGrid>
                <a:gridCol w="1872208">
                  <a:extLst>
                    <a:ext uri="{9D8B030D-6E8A-4147-A177-3AD203B41FA5}">
                      <a16:colId xmlns:a16="http://schemas.microsoft.com/office/drawing/2014/main" val="1344848008"/>
                    </a:ext>
                  </a:extLst>
                </a:gridCol>
                <a:gridCol w="3456384">
                  <a:extLst>
                    <a:ext uri="{9D8B030D-6E8A-4147-A177-3AD203B41FA5}">
                      <a16:colId xmlns:a16="http://schemas.microsoft.com/office/drawing/2014/main" val="18382396"/>
                    </a:ext>
                  </a:extLst>
                </a:gridCol>
              </a:tblGrid>
              <a:tr h="0">
                <a:tc>
                  <a:txBody>
                    <a:bodyPr/>
                    <a:lstStyle/>
                    <a:p>
                      <a:r>
                        <a:rPr lang="en-IN" sz="1600" b="1" dirty="0">
                          <a:latin typeface="Arial" panose="020B0604020202020204" pitchFamily="34" charset="0"/>
                          <a:cs typeface="Arial" panose="020B0604020202020204" pitchFamily="34" charset="0"/>
                        </a:rPr>
                        <a:t>Entity</a:t>
                      </a:r>
                    </a:p>
                  </a:txBody>
                  <a:tcPr anchor="ctr"/>
                </a:tc>
                <a:tc>
                  <a:txBody>
                    <a:bodyPr/>
                    <a:lstStyle/>
                    <a:p>
                      <a:r>
                        <a:rPr lang="en-IN" sz="1600" b="1" dirty="0">
                          <a:latin typeface="Arial" panose="020B0604020202020204" pitchFamily="34" charset="0"/>
                          <a:cs typeface="Arial" panose="020B0604020202020204" pitchFamily="34" charset="0"/>
                        </a:rPr>
                        <a:t>Description</a:t>
                      </a:r>
                    </a:p>
                  </a:txBody>
                  <a:tcPr anchor="ctr"/>
                </a:tc>
                <a:extLst>
                  <a:ext uri="{0D108BD9-81ED-4DB2-BD59-A6C34878D82A}">
                    <a16:rowId xmlns:a16="http://schemas.microsoft.com/office/drawing/2014/main" val="2084581493"/>
                  </a:ext>
                </a:extLst>
              </a:tr>
              <a:tr h="0">
                <a:tc>
                  <a:txBody>
                    <a:bodyPr/>
                    <a:lstStyle/>
                    <a:p>
                      <a:r>
                        <a:rPr lang="en-IN" sz="1600" dirty="0">
                          <a:latin typeface="Arial" panose="020B0604020202020204" pitchFamily="34" charset="0"/>
                          <a:cs typeface="Arial" panose="020B0604020202020204" pitchFamily="34" charset="0"/>
                        </a:rPr>
                        <a:t>Customer</a:t>
                      </a:r>
                    </a:p>
                  </a:txBody>
                  <a:tcPr anchor="ctr"/>
                </a:tc>
                <a:tc>
                  <a:txBody>
                    <a:bodyPr/>
                    <a:lstStyle/>
                    <a:p>
                      <a:r>
                        <a:rPr lang="en-US" sz="1600" dirty="0">
                          <a:latin typeface="Arial" panose="020B0604020202020204" pitchFamily="34" charset="0"/>
                          <a:cs typeface="Arial" panose="020B0604020202020204" pitchFamily="34" charset="0"/>
                        </a:rPr>
                        <a:t>A person who books a room</a:t>
                      </a:r>
                    </a:p>
                  </a:txBody>
                  <a:tcPr anchor="ctr"/>
                </a:tc>
                <a:extLst>
                  <a:ext uri="{0D108BD9-81ED-4DB2-BD59-A6C34878D82A}">
                    <a16:rowId xmlns:a16="http://schemas.microsoft.com/office/drawing/2014/main" val="3793701377"/>
                  </a:ext>
                </a:extLst>
              </a:tr>
              <a:tr h="0">
                <a:tc>
                  <a:txBody>
                    <a:bodyPr/>
                    <a:lstStyle/>
                    <a:p>
                      <a:r>
                        <a:rPr lang="en-IN" sz="1600">
                          <a:latin typeface="Arial" panose="020B0604020202020204" pitchFamily="34" charset="0"/>
                          <a:cs typeface="Arial" panose="020B0604020202020204" pitchFamily="34" charset="0"/>
                        </a:rPr>
                        <a:t>Staff</a:t>
                      </a:r>
                    </a:p>
                  </a:txBody>
                  <a:tcPr anchor="ctr"/>
                </a:tc>
                <a:tc>
                  <a:txBody>
                    <a:bodyPr/>
                    <a:lstStyle/>
                    <a:p>
                      <a:r>
                        <a:rPr lang="en-US" sz="1600">
                          <a:latin typeface="Arial" panose="020B0604020202020204" pitchFamily="34" charset="0"/>
                          <a:cs typeface="Arial" panose="020B0604020202020204" pitchFamily="34" charset="0"/>
                        </a:rPr>
                        <a:t>Employees who manage the hotel</a:t>
                      </a:r>
                    </a:p>
                  </a:txBody>
                  <a:tcPr anchor="ctr"/>
                </a:tc>
                <a:extLst>
                  <a:ext uri="{0D108BD9-81ED-4DB2-BD59-A6C34878D82A}">
                    <a16:rowId xmlns:a16="http://schemas.microsoft.com/office/drawing/2014/main" val="3691347939"/>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Role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latin typeface="Arial" panose="020B0604020202020204" pitchFamily="34" charset="0"/>
                          <a:cs typeface="Arial" panose="020B0604020202020204" pitchFamily="34" charset="0"/>
                        </a:rPr>
                        <a:t>Receptionist, Housekeeping, Manager, Chef, 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704464990"/>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ServiceType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t>Room Cleaning, Room Booking, Food Delivery</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42584022"/>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Customer_Service</a:t>
                      </a:r>
                    </a:p>
                  </a:txBody>
                  <a:tcPr anchor="ctr"/>
                </a:tc>
                <a:tc>
                  <a:txBody>
                    <a:bodyPr/>
                    <a:lstStyle/>
                    <a:p>
                      <a:r>
                        <a:rPr lang="en-IN" sz="1600" dirty="0">
                          <a:latin typeface="Arial" panose="020B0604020202020204" pitchFamily="34" charset="0"/>
                          <a:cs typeface="Arial" panose="020B0604020202020204" pitchFamily="34" charset="0"/>
                        </a:rPr>
                        <a:t>CustomerID, StaffID, ServiceID,  </a:t>
                      </a:r>
                      <a:r>
                        <a:rPr lang="en-IN" sz="1600" b="1" dirty="0">
                          <a:latin typeface="Arial" panose="020B0604020202020204" pitchFamily="34" charset="0"/>
                          <a:cs typeface="Arial" panose="020B0604020202020204" pitchFamily="34" charset="0"/>
                        </a:rPr>
                        <a:t>. . . . . .</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1111395"/>
                  </a:ext>
                </a:extLst>
              </a:tr>
              <a:tr h="0">
                <a:tc>
                  <a:txBody>
                    <a:bodyPr/>
                    <a:lstStyle/>
                    <a:p>
                      <a:r>
                        <a:rPr lang="en-IN" sz="1600" dirty="0">
                          <a:latin typeface="Arial" panose="020B0604020202020204" pitchFamily="34" charset="0"/>
                          <a:cs typeface="Arial" panose="020B0604020202020204" pitchFamily="34" charset="0"/>
                        </a:rPr>
                        <a:t>Room</a:t>
                      </a:r>
                    </a:p>
                  </a:txBody>
                  <a:tcPr anchor="ctr"/>
                </a:tc>
                <a:tc>
                  <a:txBody>
                    <a:bodyPr/>
                    <a:lstStyle/>
                    <a:p>
                      <a:r>
                        <a:rPr lang="en-US" sz="1600" dirty="0">
                          <a:latin typeface="Arial" panose="020B0604020202020204" pitchFamily="34" charset="0"/>
                          <a:cs typeface="Arial" panose="020B0604020202020204" pitchFamily="34" charset="0"/>
                        </a:rPr>
                        <a:t>Hotel room with room type, price, availability, </a:t>
                      </a:r>
                      <a:r>
                        <a:rPr lang="en-US" sz="1600" b="1" dirty="0">
                          <a:latin typeface="Arial" panose="020B0604020202020204" pitchFamily="34" charset="0"/>
                          <a:cs typeface="Arial" panose="020B0604020202020204" pitchFamily="34" charset="0"/>
                        </a:rPr>
                        <a:t>. . .</a:t>
                      </a:r>
                    </a:p>
                  </a:txBody>
                  <a:tcPr anchor="ctr"/>
                </a:tc>
                <a:extLst>
                  <a:ext uri="{0D108BD9-81ED-4DB2-BD59-A6C34878D82A}">
                    <a16:rowId xmlns:a16="http://schemas.microsoft.com/office/drawing/2014/main" val="4017595185"/>
                  </a:ext>
                </a:extLst>
              </a:tr>
              <a:tr h="0">
                <a:tc>
                  <a:txBody>
                    <a:bodyPr/>
                    <a:lstStyle/>
                    <a:p>
                      <a:r>
                        <a:rPr lang="en-IN" sz="1600" dirty="0">
                          <a:latin typeface="Arial" panose="020B0604020202020204" pitchFamily="34" charset="0"/>
                          <a:cs typeface="Arial" panose="020B0604020202020204" pitchFamily="34" charset="0"/>
                        </a:rPr>
                        <a:t>RoomType</a:t>
                      </a:r>
                    </a:p>
                  </a:txBody>
                  <a:tcPr anchor="ctr"/>
                </a:tc>
                <a:tc>
                  <a:txBody>
                    <a:bodyPr/>
                    <a:lstStyle/>
                    <a:p>
                      <a:r>
                        <a:rPr lang="en-US" sz="1600" dirty="0">
                          <a:latin typeface="Arial" panose="020B0604020202020204" pitchFamily="34" charset="0"/>
                          <a:cs typeface="Arial" panose="020B0604020202020204" pitchFamily="34" charset="0"/>
                        </a:rPr>
                        <a:t>Standard, Deluxe, </a:t>
                      </a:r>
                      <a:r>
                        <a:rPr lang="en-IN" sz="1600" dirty="0">
                          <a:latin typeface="Arial" panose="020B0604020202020204" pitchFamily="34" charset="0"/>
                          <a:cs typeface="Arial" panose="020B0604020202020204" pitchFamily="34" charset="0"/>
                        </a:rPr>
                        <a:t>Suite, </a:t>
                      </a:r>
                      <a:r>
                        <a:rPr lang="en-IN" sz="1600" b="1" dirty="0">
                          <a:latin typeface="Arial" panose="020B0604020202020204" pitchFamily="34" charset="0"/>
                          <a:cs typeface="Arial" panose="020B0604020202020204" pitchFamily="34" charset="0"/>
                        </a:rPr>
                        <a:t>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568179980"/>
                  </a:ext>
                </a:extLst>
              </a:tr>
              <a:tr h="0">
                <a:tc>
                  <a:txBody>
                    <a:bodyPr/>
                    <a:lstStyle/>
                    <a:p>
                      <a:r>
                        <a:rPr lang="en-IN" sz="1600" dirty="0">
                          <a:latin typeface="Arial" panose="020B0604020202020204" pitchFamily="34" charset="0"/>
                          <a:cs typeface="Arial" panose="020B0604020202020204" pitchFamily="34" charset="0"/>
                        </a:rPr>
                        <a:t>Booking</a:t>
                      </a:r>
                    </a:p>
                  </a:txBody>
                  <a:tcPr anchor="ctr"/>
                </a:tc>
                <a:tc>
                  <a:txBody>
                    <a:bodyPr/>
                    <a:lstStyle/>
                    <a:p>
                      <a:r>
                        <a:rPr lang="en-US" sz="1600" dirty="0">
                          <a:latin typeface="Arial" panose="020B0604020202020204" pitchFamily="34" charset="0"/>
                          <a:cs typeface="Arial" panose="020B0604020202020204" pitchFamily="34" charset="0"/>
                        </a:rPr>
                        <a:t>Reservation made by a customer</a:t>
                      </a:r>
                    </a:p>
                  </a:txBody>
                  <a:tcPr anchor="ctr"/>
                </a:tc>
                <a:extLst>
                  <a:ext uri="{0D108BD9-81ED-4DB2-BD59-A6C34878D82A}">
                    <a16:rowId xmlns:a16="http://schemas.microsoft.com/office/drawing/2014/main" val="1278445464"/>
                  </a:ext>
                </a:extLst>
              </a:tr>
              <a:tr h="0">
                <a:tc>
                  <a:txBody>
                    <a:bodyPr/>
                    <a:lstStyle/>
                    <a:p>
                      <a:r>
                        <a:rPr lang="en-IN" sz="1600">
                          <a:latin typeface="Arial" panose="020B0604020202020204" pitchFamily="34" charset="0"/>
                          <a:cs typeface="Arial" panose="020B0604020202020204" pitchFamily="34" charset="0"/>
                        </a:rPr>
                        <a:t>Payment</a:t>
                      </a:r>
                    </a:p>
                  </a:txBody>
                  <a:tcPr anchor="ctr"/>
                </a:tc>
                <a:tc>
                  <a:txBody>
                    <a:bodyPr/>
                    <a:lstStyle/>
                    <a:p>
                      <a:r>
                        <a:rPr lang="en-IN" sz="1600" dirty="0">
                          <a:latin typeface="Arial" panose="020B0604020202020204" pitchFamily="34" charset="0"/>
                          <a:cs typeface="Arial" panose="020B0604020202020204" pitchFamily="34" charset="0"/>
                        </a:rPr>
                        <a:t>Payments made for bookings</a:t>
                      </a:r>
                    </a:p>
                  </a:txBody>
                  <a:tcPr anchor="ctr"/>
                </a:tc>
                <a:extLst>
                  <a:ext uri="{0D108BD9-81ED-4DB2-BD59-A6C34878D82A}">
                    <a16:rowId xmlns:a16="http://schemas.microsoft.com/office/drawing/2014/main" val="4048740014"/>
                  </a:ext>
                </a:extLst>
              </a:tr>
            </a:tbl>
          </a:graphicData>
        </a:graphic>
      </p:graphicFrame>
      <p:grpSp>
        <p:nvGrpSpPr>
          <p:cNvPr id="3" name="Group 2">
            <a:extLst>
              <a:ext uri="{FF2B5EF4-FFF2-40B4-BE49-F238E27FC236}">
                <a16:creationId xmlns:a16="http://schemas.microsoft.com/office/drawing/2014/main" id="{D3C39D3C-F11E-D6F7-6555-D9B667EBA2D7}"/>
              </a:ext>
            </a:extLst>
          </p:cNvPr>
          <p:cNvGrpSpPr/>
          <p:nvPr/>
        </p:nvGrpSpPr>
        <p:grpSpPr>
          <a:xfrm>
            <a:off x="119336" y="4328230"/>
            <a:ext cx="8352928" cy="2341130"/>
            <a:chOff x="119336" y="4365104"/>
            <a:chExt cx="8352928" cy="2341130"/>
          </a:xfrm>
        </p:grpSpPr>
        <p:sp>
          <p:nvSpPr>
            <p:cNvPr id="12" name="TextBox 11">
              <a:extLst>
                <a:ext uri="{FF2B5EF4-FFF2-40B4-BE49-F238E27FC236}">
                  <a16:creationId xmlns:a16="http://schemas.microsoft.com/office/drawing/2014/main" id="{17A713CD-8E69-5321-29E1-CE23616F5CCD}"/>
                </a:ext>
              </a:extLst>
            </p:cNvPr>
            <p:cNvSpPr txBox="1"/>
            <p:nvPr/>
          </p:nvSpPr>
          <p:spPr>
            <a:xfrm>
              <a:off x="119336" y="4365104"/>
              <a:ext cx="4464496" cy="430887"/>
            </a:xfrm>
            <a:prstGeom prst="rect">
              <a:avLst/>
            </a:prstGeom>
            <a:noFill/>
          </p:spPr>
          <p:txBody>
            <a:bodyPr wrap="square">
              <a:spAutoFit/>
            </a:bodyPr>
            <a:lstStyle/>
            <a:p>
              <a:r>
                <a:rPr lang="en-IN" dirty="0">
                  <a:latin typeface="Palatino Linotype" panose="02040502050505030304" pitchFamily="18" charset="0"/>
                </a:rPr>
                <a:t> Customer ─ ─ </a:t>
              </a:r>
              <a:r>
                <a:rPr lang="en-IN" b="1" dirty="0">
                  <a:latin typeface="Palatino Linotype" panose="02040502050505030304" pitchFamily="18" charset="0"/>
                </a:rPr>
                <a:t>1 </a:t>
              </a:r>
              <a:r>
                <a:rPr lang="en-IN" dirty="0">
                  <a:latin typeface="Palatino Linotype" panose="02040502050505030304" pitchFamily="18" charset="0"/>
                </a:rPr>
                <a:t>─ </a:t>
              </a:r>
              <a:r>
                <a:rPr lang="en-IN" sz="2200" b="1" dirty="0">
                  <a:latin typeface="Palatino Linotype" panose="02040502050505030304" pitchFamily="18" charset="0"/>
                </a:rPr>
                <a:t>∞ </a:t>
              </a:r>
              <a:r>
                <a:rPr lang="en-IN" dirty="0">
                  <a:latin typeface="Palatino Linotype" panose="02040502050505030304" pitchFamily="18" charset="0"/>
                </a:rPr>
                <a:t>─ ─ Booking</a:t>
              </a:r>
            </a:p>
          </p:txBody>
        </p:sp>
        <p:sp>
          <p:nvSpPr>
            <p:cNvPr id="14" name="TextBox 13">
              <a:extLst>
                <a:ext uri="{FF2B5EF4-FFF2-40B4-BE49-F238E27FC236}">
                  <a16:creationId xmlns:a16="http://schemas.microsoft.com/office/drawing/2014/main" id="{41D72C2B-DF69-549E-56C2-73454C30DE4B}"/>
                </a:ext>
              </a:extLst>
            </p:cNvPr>
            <p:cNvSpPr txBox="1"/>
            <p:nvPr/>
          </p:nvSpPr>
          <p:spPr>
            <a:xfrm>
              <a:off x="2792982" y="4792509"/>
              <a:ext cx="3231010" cy="369332"/>
            </a:xfrm>
            <a:prstGeom prst="rect">
              <a:avLst/>
            </a:prstGeom>
            <a:noFill/>
          </p:spPr>
          <p:txBody>
            <a:bodyPr wrap="square">
              <a:spAutoFit/>
            </a:bodyPr>
            <a:lstStyle/>
            <a:p>
              <a:r>
                <a:rPr lang="en-IN" dirty="0">
                  <a:latin typeface="Palatino Linotype" panose="02040502050505030304" pitchFamily="18" charset="0"/>
                </a:rPr>
                <a:t>Booking ──</a:t>
              </a:r>
              <a:r>
                <a:rPr lang="en-IN" b="1" dirty="0">
                  <a:latin typeface="Palatino Linotype" panose="02040502050505030304" pitchFamily="18" charset="0"/>
                </a:rPr>
                <a:t>1</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a:t>
              </a:r>
            </a:p>
          </p:txBody>
        </p:sp>
        <p:sp>
          <p:nvSpPr>
            <p:cNvPr id="16" name="TextBox 15">
              <a:extLst>
                <a:ext uri="{FF2B5EF4-FFF2-40B4-BE49-F238E27FC236}">
                  <a16:creationId xmlns:a16="http://schemas.microsoft.com/office/drawing/2014/main" id="{7BEE2813-4396-4D9A-0289-C8A2D603ECA8}"/>
                </a:ext>
              </a:extLst>
            </p:cNvPr>
            <p:cNvSpPr txBox="1"/>
            <p:nvPr/>
          </p:nvSpPr>
          <p:spPr>
            <a:xfrm>
              <a:off x="5015880" y="5122926"/>
              <a:ext cx="3456384" cy="430887"/>
            </a:xfrm>
            <a:prstGeom prst="rect">
              <a:avLst/>
            </a:prstGeom>
            <a:noFill/>
          </p:spPr>
          <p:txBody>
            <a:bodyPr wrap="square">
              <a:spAutoFit/>
            </a:bodyPr>
            <a:lstStyle/>
            <a:p>
              <a:r>
                <a:rPr lang="en-IN" dirty="0">
                  <a:latin typeface="Palatino Linotype" panose="02040502050505030304" pitchFamily="18" charset="0"/>
                </a:rPr>
                <a:t>Room ───</a:t>
              </a:r>
              <a:r>
                <a:rPr lang="en-IN" sz="2200" b="1" dirty="0">
                  <a:latin typeface="Palatino Linotype" panose="02040502050505030304" pitchFamily="18" charset="0"/>
                </a:rPr>
                <a:t>∞</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RoomType</a:t>
              </a:r>
            </a:p>
          </p:txBody>
        </p:sp>
        <p:sp>
          <p:nvSpPr>
            <p:cNvPr id="18" name="TextBox 17">
              <a:extLst>
                <a:ext uri="{FF2B5EF4-FFF2-40B4-BE49-F238E27FC236}">
                  <a16:creationId xmlns:a16="http://schemas.microsoft.com/office/drawing/2014/main" id="{29151824-DA57-E98C-3BA2-BBA475A28E14}"/>
                </a:ext>
              </a:extLst>
            </p:cNvPr>
            <p:cNvSpPr txBox="1"/>
            <p:nvPr/>
          </p:nvSpPr>
          <p:spPr>
            <a:xfrm>
              <a:off x="3143672" y="5156025"/>
              <a:ext cx="1152128" cy="1538883"/>
            </a:xfrm>
            <a:prstGeom prst="rect">
              <a:avLst/>
            </a:prstGeom>
            <a:noFill/>
          </p:spPr>
          <p:txBody>
            <a:bodyPr wrap="square">
              <a:spAutoFit/>
            </a:bodyPr>
            <a:lstStyle/>
            <a:p>
              <a:r>
                <a:rPr lang="en-IN" dirty="0">
                  <a:latin typeface="Palatino Linotype" panose="02040502050505030304" pitchFamily="18" charset="0"/>
                </a:rPr>
                <a:t>│</a:t>
              </a:r>
            </a:p>
            <a:p>
              <a:r>
                <a:rPr lang="en-IN" dirty="0">
                  <a:latin typeface="Palatino Linotype" panose="02040502050505030304" pitchFamily="18" charset="0"/>
                </a:rPr>
                <a:t> 1</a:t>
              </a:r>
            </a:p>
            <a:p>
              <a:r>
                <a:rPr lang="en-IN" dirty="0">
                  <a:latin typeface="Palatino Linotype" panose="02040502050505030304" pitchFamily="18" charset="0"/>
                </a:rPr>
                <a:t>│</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Payment</a:t>
              </a:r>
            </a:p>
          </p:txBody>
        </p:sp>
        <p:sp>
          <p:nvSpPr>
            <p:cNvPr id="2" name="TextBox 1">
              <a:extLst>
                <a:ext uri="{FF2B5EF4-FFF2-40B4-BE49-F238E27FC236}">
                  <a16:creationId xmlns:a16="http://schemas.microsoft.com/office/drawing/2014/main" id="{44B336A0-504E-244C-7EC8-FE3B555D3D16}"/>
                </a:ext>
              </a:extLst>
            </p:cNvPr>
            <p:cNvSpPr txBox="1"/>
            <p:nvPr/>
          </p:nvSpPr>
          <p:spPr>
            <a:xfrm>
              <a:off x="336265" y="4725144"/>
              <a:ext cx="1152128" cy="1600438"/>
            </a:xfrm>
            <a:prstGeom prst="rect">
              <a:avLst/>
            </a:prstGeom>
            <a:noFill/>
          </p:spPr>
          <p:txBody>
            <a:bodyPr wrap="square">
              <a:spAutoFit/>
            </a:bodyPr>
            <a:lstStyle/>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endParaRPr lang="en-IN" sz="2200" dirty="0">
                <a:latin typeface="Palatino Linotype" panose="02040502050505030304" pitchFamily="18" charset="0"/>
              </a:endParaRPr>
            </a:p>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Staff</a:t>
              </a:r>
            </a:p>
          </p:txBody>
        </p:sp>
        <p:sp>
          <p:nvSpPr>
            <p:cNvPr id="10" name="TextBox 9">
              <a:extLst>
                <a:ext uri="{FF2B5EF4-FFF2-40B4-BE49-F238E27FC236}">
                  <a16:creationId xmlns:a16="http://schemas.microsoft.com/office/drawing/2014/main" id="{F54182B3-FD50-BFE6-0979-22402CC01C54}"/>
                </a:ext>
              </a:extLst>
            </p:cNvPr>
            <p:cNvSpPr txBox="1"/>
            <p:nvPr/>
          </p:nvSpPr>
          <p:spPr>
            <a:xfrm>
              <a:off x="407368" y="6336902"/>
              <a:ext cx="2232248" cy="369332"/>
            </a:xfrm>
            <a:prstGeom prst="rect">
              <a:avLst/>
            </a:prstGeom>
            <a:noFill/>
          </p:spPr>
          <p:txBody>
            <a:bodyPr wrap="square">
              <a:spAutoFit/>
            </a:bodyPr>
            <a:lstStyle/>
            <a:p>
              <a:r>
                <a:rPr lang="en-IN" dirty="0">
                  <a:latin typeface="Palatino Linotype" panose="02040502050505030304" pitchFamily="18" charset="0"/>
                </a:rPr>
                <a:t>Role ─</a:t>
              </a:r>
              <a:r>
                <a:rPr lang="en-IN" b="1" dirty="0">
                  <a:latin typeface="Palatino Linotype" panose="02040502050505030304" pitchFamily="18" charset="0"/>
                </a:rPr>
                <a:t> 1 </a:t>
              </a:r>
              <a:r>
                <a:rPr lang="en-IN" dirty="0">
                  <a:latin typeface="Palatino Linotype" panose="02040502050505030304" pitchFamily="18" charset="0"/>
                </a:rPr>
                <a:t>─ </a:t>
              </a:r>
              <a:r>
                <a:rPr lang="en-IN" b="1" dirty="0">
                  <a:latin typeface="Palatino Linotype" panose="02040502050505030304" pitchFamily="18" charset="0"/>
                </a:rPr>
                <a:t>∞ </a:t>
              </a:r>
              <a:r>
                <a:rPr lang="en-IN" dirty="0">
                  <a:latin typeface="Palatino Linotype" panose="02040502050505030304" pitchFamily="18" charset="0"/>
                </a:rPr>
                <a:t>─ Staff</a:t>
              </a:r>
            </a:p>
          </p:txBody>
        </p:sp>
      </p:grpSp>
      <p:sp>
        <p:nvSpPr>
          <p:cNvPr id="19" name="Rectangle 18">
            <a:extLst>
              <a:ext uri="{FF2B5EF4-FFF2-40B4-BE49-F238E27FC236}">
                <a16:creationId xmlns:a16="http://schemas.microsoft.com/office/drawing/2014/main" id="{C7AC90C0-5A2C-A624-8D62-AA296A159B88}"/>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14950243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1026" name="Picture 2" descr="Logical Model Design"/>
          <p:cNvPicPr>
            <a:picLocks noChangeAspect="1" noChangeArrowheads="1"/>
          </p:cNvPicPr>
          <p:nvPr/>
        </p:nvPicPr>
        <p:blipFill>
          <a:blip r:embed="rId2" cstate="print"/>
          <a:srcRect/>
          <a:stretch>
            <a:fillRect/>
          </a:stretch>
        </p:blipFill>
        <p:spPr bwMode="auto">
          <a:xfrm>
            <a:off x="4007768" y="2782640"/>
            <a:ext cx="7750556" cy="4075360"/>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9" name="Rectangle 1"/>
          <p:cNvSpPr>
            <a:spLocks noChangeArrowheads="1"/>
          </p:cNvSpPr>
          <p:nvPr/>
        </p:nvSpPr>
        <p:spPr bwMode="auto">
          <a:xfrm>
            <a:off x="407368" y="559670"/>
            <a:ext cx="10032032" cy="2251322"/>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logical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all entities and relationships among them.</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All attributes for each entity are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The primary key for each entity is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Foreign keys  are specified.</a:t>
            </a:r>
          </a:p>
        </p:txBody>
      </p:sp>
    </p:spTree>
    <p:extLst>
      <p:ext uri="{BB962C8B-B14F-4D97-AF65-F5344CB8AC3E}">
        <p14:creationId xmlns:p14="http://schemas.microsoft.com/office/powerpoint/2010/main" val="251503505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1F03E-36A9-BE63-99F3-34A52E7BF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C06C80-9B5A-474F-3AA8-8058A47FBDA3}"/>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D1ED624F-F257-9B1C-F745-1E584353D7C0}"/>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DECC7504-C684-9349-849A-CEBB52367E1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8" name="Rectangle 7">
            <a:extLst>
              <a:ext uri="{FF2B5EF4-FFF2-40B4-BE49-F238E27FC236}">
                <a16:creationId xmlns:a16="http://schemas.microsoft.com/office/drawing/2014/main" id="{B29D1525-F656-EE67-E6D7-EFC2F509B55B}"/>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4" name="TextBox 3">
            <a:extLst>
              <a:ext uri="{FF2B5EF4-FFF2-40B4-BE49-F238E27FC236}">
                <a16:creationId xmlns:a16="http://schemas.microsoft.com/office/drawing/2014/main" id="{DC445254-A5E1-EE0A-ECB2-8D911D897852}"/>
              </a:ext>
            </a:extLst>
          </p:cNvPr>
          <p:cNvSpPr txBox="1"/>
          <p:nvPr/>
        </p:nvSpPr>
        <p:spPr>
          <a:xfrm>
            <a:off x="118800" y="651600"/>
            <a:ext cx="11881856" cy="4801314"/>
          </a:xfrm>
          <a:prstGeom prst="rect">
            <a:avLst/>
          </a:prstGeom>
          <a:noFill/>
        </p:spPr>
        <p:txBody>
          <a:bodyPr wrap="square">
            <a:spAutoFit/>
          </a:bodyPr>
          <a:lstStyle/>
          <a:p>
            <a:pPr marL="342900" indent="-342900">
              <a:buFont typeface="+mj-lt"/>
              <a:buAutoNum type="arabicPeriod"/>
            </a:pPr>
            <a:r>
              <a:rPr lang="en-IN" b="1" dirty="0">
                <a:latin typeface="Palatino Linotype" panose="02040502050505030304" pitchFamily="18" charset="0"/>
              </a:rPr>
              <a:t>Customer</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email, phone, address]</a:t>
            </a:r>
            <a:endParaRPr lang="en-IN" sz="600" dirty="0">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Role</a:t>
            </a:r>
            <a:r>
              <a:rPr lang="en-IN" dirty="0">
                <a:latin typeface="Palatino Linotype" panose="02040502050505030304" pitchFamily="18" charset="0"/>
              </a:rPr>
              <a:t> [RoleID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RoleName, Description] </a:t>
            </a:r>
            <a:r>
              <a:rPr lang="en-IN" dirty="0">
                <a:solidFill>
                  <a:srgbClr val="00B050"/>
                </a:solidFill>
                <a:latin typeface="Palatino Linotype" panose="02040502050505030304" pitchFamily="18" charset="0"/>
              </a:rPr>
              <a:t>//</a:t>
            </a:r>
            <a:r>
              <a:rPr lang="en-IN" dirty="0">
                <a:solidFill>
                  <a:srgbClr val="00B050"/>
                </a:solidFill>
                <a:latin typeface="Arial" panose="020B0604020202020204" pitchFamily="34" charset="0"/>
                <a:cs typeface="Arial" panose="020B0604020202020204" pitchFamily="34" charset="0"/>
              </a:rPr>
              <a:t> Receptionist, Housekeeping, Manager, Chef, 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Staff </a:t>
            </a:r>
            <a:r>
              <a:rPr lang="en-IN" dirty="0">
                <a:latin typeface="Palatino Linotype" panose="02040502050505030304" pitchFamily="18" charset="0"/>
              </a:rPr>
              <a:t>[staff_id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role, email, phone, 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US" b="1" dirty="0">
                <a:latin typeface="Palatino Linotype" panose="02040502050505030304" pitchFamily="18" charset="0"/>
                <a:cs typeface="Arial" panose="020B0604020202020204" pitchFamily="34" charset="0"/>
              </a:rPr>
              <a:t>Service</a:t>
            </a:r>
            <a:r>
              <a:rPr lang="en-US" dirty="0">
                <a:latin typeface="Palatino Linotype" panose="02040502050505030304" pitchFamily="18" charset="0"/>
                <a:cs typeface="Arial" panose="020B0604020202020204" pitchFamily="34" charset="0"/>
              </a:rPr>
              <a:t> [serviceTypeID (</a:t>
            </a:r>
            <a:r>
              <a:rPr lang="en-US" i="1" dirty="0">
                <a:solidFill>
                  <a:srgbClr val="FF0000"/>
                </a:solidFill>
                <a:latin typeface="Palatino Linotype" panose="02040502050505030304" pitchFamily="18" charset="0"/>
              </a:rPr>
              <a:t>PK</a:t>
            </a:r>
            <a:r>
              <a:rPr lang="en-US" dirty="0">
                <a:latin typeface="Palatino Linotype" panose="02040502050505030304" pitchFamily="18" charset="0"/>
                <a:cs typeface="Arial" panose="020B0604020202020204" pitchFamily="34" charset="0"/>
              </a:rPr>
              <a:t>), ServiceName, Description] </a:t>
            </a:r>
            <a:r>
              <a:rPr lang="en-US" dirty="0">
                <a:solidFill>
                  <a:srgbClr val="00B050"/>
                </a:solidFill>
                <a:latin typeface="Palatino Linotype" panose="02040502050505030304" pitchFamily="18" charset="0"/>
                <a:cs typeface="Arial" panose="020B0604020202020204" pitchFamily="34" charset="0"/>
              </a:rPr>
              <a:t>//</a:t>
            </a:r>
            <a:r>
              <a:rPr lang="en-IN" dirty="0">
                <a:solidFill>
                  <a:srgbClr val="00B050"/>
                </a:solidFill>
              </a:rPr>
              <a:t> Room Cleaning, Room Booking, Food Delivery</a:t>
            </a:r>
            <a:endParaRPr lang="en-US" dirty="0">
              <a:solidFill>
                <a:srgbClr val="00B050"/>
              </a:solidFill>
              <a:latin typeface="Palatino Linotype" panose="02040502050505030304" pitchFamily="18" charset="0"/>
              <a:cs typeface="Arial" panose="020B0604020202020204" pitchFamily="34" charset="0"/>
            </a:endParaRP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rPr>
              <a:t>Role_Service </a:t>
            </a:r>
            <a:r>
              <a:rPr lang="en-IN" dirty="0"/>
              <a:t>[</a:t>
            </a:r>
            <a:r>
              <a:rPr lang="en-IN" dirty="0">
                <a:latin typeface="Palatino Linotype" panose="02040502050505030304" pitchFamily="18" charset="0"/>
              </a:rPr>
              <a:t>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t>
            </a:r>
            <a:r>
              <a:rPr lang="en-US" dirty="0">
                <a:latin typeface="Palatino Linotype" panose="02040502050505030304" pitchFamily="18" charset="0"/>
                <a:cs typeface="Arial" panose="020B0604020202020204" pitchFamily="34" charset="0"/>
              </a:rPr>
              <a:t>serviceTypeID (</a:t>
            </a:r>
            <a:r>
              <a:rPr lang="en-US" i="1" dirty="0">
                <a:solidFill>
                  <a:srgbClr val="FF0000"/>
                </a:solidFill>
                <a:latin typeface="Palatino Linotype" panose="02040502050505030304" pitchFamily="18" charset="0"/>
              </a:rPr>
              <a:t>FK</a:t>
            </a:r>
            <a:r>
              <a:rPr lang="en-US" dirty="0">
                <a:latin typeface="Palatino Linotype" panose="02040502050505030304" pitchFamily="18" charset="0"/>
                <a:cs typeface="Arial" panose="020B0604020202020204" pitchFamily="34" charset="0"/>
              </a:rPr>
              <a:t>), Remarks</a:t>
            </a:r>
            <a:r>
              <a:rPr lang="en-IN" dirty="0"/>
              <a:t>]</a:t>
            </a: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cs typeface="Arial" panose="020B0604020202020204" pitchFamily="34" charset="0"/>
              </a:rPr>
              <a:t>Customer_Service</a:t>
            </a:r>
            <a:r>
              <a:rPr lang="en-IN" dirty="0">
                <a:latin typeface="Palatino Linotype" panose="02040502050505030304" pitchFamily="18" charset="0"/>
                <a:cs typeface="Arial" panose="020B0604020202020204" pitchFamily="34" charset="0"/>
              </a:rPr>
              <a:t> []</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a:t>
            </a:r>
            <a:r>
              <a:rPr lang="en-IN" dirty="0">
                <a:latin typeface="Palatino Linotype" panose="02040502050505030304" pitchFamily="18" charset="0"/>
              </a:rPr>
              <a:t> [ room_id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room_number, room_type_id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floor, status] </a:t>
            </a:r>
            <a:r>
              <a:rPr lang="en-IN" dirty="0">
                <a:solidFill>
                  <a:srgbClr val="00B050"/>
                </a:solidFill>
                <a:latin typeface="Arial" panose="020B0604020202020204" pitchFamily="34" charset="0"/>
                <a:cs typeface="Arial" panose="020B0604020202020204" pitchFamily="34" charset="0"/>
              </a:rPr>
              <a:t>// Available, Occupied, Maintenance</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RoomType</a:t>
            </a:r>
            <a:r>
              <a:rPr lang="en-IN" dirty="0">
                <a:latin typeface="Palatino Linotype" panose="02040502050505030304" pitchFamily="18" charset="0"/>
              </a:rPr>
              <a:t> [room_type_id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type_name, price_per_night] </a:t>
            </a:r>
            <a:r>
              <a:rPr lang="en-IN" dirty="0">
                <a:solidFill>
                  <a:srgbClr val="00B050"/>
                </a:solidFill>
                <a:latin typeface="Palatino Linotype" panose="02040502050505030304" pitchFamily="18" charset="0"/>
              </a:rPr>
              <a:t>//</a:t>
            </a:r>
            <a:r>
              <a:rPr lang="en-US" dirty="0">
                <a:solidFill>
                  <a:srgbClr val="00B050"/>
                </a:solidFill>
                <a:latin typeface="Arial" panose="020B0604020202020204" pitchFamily="34" charset="0"/>
                <a:cs typeface="Arial" panose="020B0604020202020204" pitchFamily="34" charset="0"/>
              </a:rPr>
              <a:t> Standard, Deluxe, </a:t>
            </a:r>
            <a:r>
              <a:rPr lang="en-IN" dirty="0">
                <a:solidFill>
                  <a:srgbClr val="00B050"/>
                </a:solidFill>
                <a:latin typeface="Arial" panose="020B0604020202020204" pitchFamily="34" charset="0"/>
                <a:cs typeface="Arial" panose="020B0604020202020204" pitchFamily="34" charset="0"/>
              </a:rPr>
              <a:t>Suite, </a:t>
            </a:r>
            <a:r>
              <a:rPr lang="en-IN" b="1" dirty="0">
                <a:solidFill>
                  <a:srgbClr val="00B050"/>
                </a:solidFill>
                <a:latin typeface="Arial" panose="020B0604020202020204" pitchFamily="34" charset="0"/>
                <a:cs typeface="Arial" panose="020B0604020202020204" pitchFamily="34" charset="0"/>
              </a:rPr>
              <a:t>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Booking</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room_id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staff_id (FK, optional), check_in_date, check_out_date, booking_status] </a:t>
            </a:r>
            <a:r>
              <a:rPr lang="en-IN" dirty="0">
                <a:solidFill>
                  <a:srgbClr val="00B050"/>
                </a:solidFill>
                <a:latin typeface="Arial" panose="020B0604020202020204" pitchFamily="34" charset="0"/>
                <a:cs typeface="Arial" panose="020B0604020202020204" pitchFamily="34" charset="0"/>
              </a:rPr>
              <a:t>// Confirmed, Cancelled, Completed</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Payment</a:t>
            </a:r>
            <a:r>
              <a:rPr lang="en-IN" dirty="0">
                <a:latin typeface="Palatino Linotype" panose="02040502050505030304" pitchFamily="18" charset="0"/>
              </a:rPr>
              <a:t> [payment_id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amount, payment_date, payment_method] </a:t>
            </a:r>
            <a:r>
              <a:rPr lang="en-IN" dirty="0">
                <a:solidFill>
                  <a:srgbClr val="00B050"/>
                </a:solidFill>
                <a:latin typeface="Arial" panose="020B0604020202020204" pitchFamily="34" charset="0"/>
                <a:cs typeface="Arial" panose="020B0604020202020204" pitchFamily="34" charset="0"/>
              </a:rPr>
              <a:t>// Card, UPI, Cash, Online</a:t>
            </a:r>
          </a:p>
        </p:txBody>
      </p:sp>
    </p:spTree>
    <p:extLst>
      <p:ext uri="{BB962C8B-B14F-4D97-AF65-F5344CB8AC3E}">
        <p14:creationId xmlns:p14="http://schemas.microsoft.com/office/powerpoint/2010/main" val="192392176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235522" name="Picture 2" descr="Physical Model Design"/>
          <p:cNvPicPr>
            <a:picLocks noChangeAspect="1" noChangeArrowheads="1"/>
          </p:cNvPicPr>
          <p:nvPr/>
        </p:nvPicPr>
        <p:blipFill>
          <a:blip r:embed="rId2" cstate="print"/>
          <a:srcRect/>
          <a:stretch>
            <a:fillRect/>
          </a:stretch>
        </p:blipFill>
        <p:spPr bwMode="auto">
          <a:xfrm>
            <a:off x="3863752" y="2645992"/>
            <a:ext cx="7291556" cy="4212008"/>
          </a:xfrm>
          <a:prstGeom prst="rect">
            <a:avLst/>
          </a:prstGeom>
          <a:noFill/>
          <a:ln w="9525">
            <a:noFill/>
            <a:miter lim="800000"/>
            <a:headEnd/>
            <a:tailEnd/>
          </a:ln>
        </p:spPr>
      </p:pic>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physical data model</a:t>
            </a:r>
          </a:p>
        </p:txBody>
      </p:sp>
      <p:sp>
        <p:nvSpPr>
          <p:cNvPr id="8" name="Rectangle 1"/>
          <p:cNvSpPr>
            <a:spLocks noChangeArrowheads="1"/>
          </p:cNvSpPr>
          <p:nvPr/>
        </p:nvSpPr>
        <p:spPr bwMode="auto">
          <a:xfrm>
            <a:off x="407368" y="636614"/>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physical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entities into tables.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relationships into foreign keys.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attributes into columns.</a:t>
            </a:r>
          </a:p>
        </p:txBody>
      </p:sp>
    </p:spTree>
    <p:extLst>
      <p:ext uri="{BB962C8B-B14F-4D97-AF65-F5344CB8AC3E}">
        <p14:creationId xmlns:p14="http://schemas.microsoft.com/office/powerpoint/2010/main" val="247898479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8" name="Table 7"/>
          <p:cNvGraphicFramePr>
            <a:graphicFrameLocks noGrp="1"/>
          </p:cNvGraphicFramePr>
          <p:nvPr/>
        </p:nvGraphicFramePr>
        <p:xfrm>
          <a:off x="1676398" y="990601"/>
          <a:ext cx="8839204" cy="4953001"/>
        </p:xfrm>
        <a:graphic>
          <a:graphicData uri="http://schemas.openxmlformats.org/drawingml/2006/table">
            <a:tbl>
              <a:tblPr>
                <a:tableStyleId>{BDBED569-4797-4DF1-A0F4-6AAB3CD982D8}</a:tableStyleId>
              </a:tblPr>
              <a:tblGrid>
                <a:gridCol w="3048002">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81200">
                  <a:extLst>
                    <a:ext uri="{9D8B030D-6E8A-4147-A177-3AD203B41FA5}">
                      <a16:colId xmlns:a16="http://schemas.microsoft.com/office/drawing/2014/main" val="20002"/>
                    </a:ext>
                  </a:extLst>
                </a:gridCol>
                <a:gridCol w="1905002">
                  <a:extLst>
                    <a:ext uri="{9D8B030D-6E8A-4147-A177-3AD203B41FA5}">
                      <a16:colId xmlns:a16="http://schemas.microsoft.com/office/drawing/2014/main" val="20003"/>
                    </a:ext>
                  </a:extLst>
                </a:gridCol>
              </a:tblGrid>
              <a:tr h="492751">
                <a:tc>
                  <a:txBody>
                    <a:bodyPr/>
                    <a:lstStyle/>
                    <a:p>
                      <a:pPr marL="0" marR="0" algn="ctr">
                        <a:spcBef>
                          <a:spcPts val="0"/>
                        </a:spcBef>
                        <a:spcAft>
                          <a:spcPts val="0"/>
                        </a:spcAft>
                      </a:pPr>
                      <a:r>
                        <a:rPr lang="en-US" sz="2400" dirty="0"/>
                        <a:t>Feature</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Conceptual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Logical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Physical</a:t>
                      </a:r>
                      <a:endParaRPr lang="en-US" sz="2400" b="1"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0"/>
                  </a:ext>
                </a:extLst>
              </a:tr>
              <a:tr h="542319">
                <a:tc>
                  <a:txBody>
                    <a:bodyPr/>
                    <a:lstStyle/>
                    <a:p>
                      <a:pPr marL="0" marR="0" indent="171450">
                        <a:spcBef>
                          <a:spcPts val="0"/>
                        </a:spcBef>
                        <a:spcAft>
                          <a:spcPts val="0"/>
                        </a:spcAft>
                      </a:pPr>
                      <a:r>
                        <a:rPr lang="en-US" sz="2400"/>
                        <a:t>Entity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1"/>
                  </a:ext>
                </a:extLst>
              </a:tr>
              <a:tr h="542319">
                <a:tc>
                  <a:txBody>
                    <a:bodyPr/>
                    <a:lstStyle/>
                    <a:p>
                      <a:pPr marL="0" marR="0" indent="171450">
                        <a:spcBef>
                          <a:spcPts val="0"/>
                        </a:spcBef>
                        <a:spcAft>
                          <a:spcPts val="0"/>
                        </a:spcAft>
                      </a:pPr>
                      <a:r>
                        <a:rPr lang="en-US" sz="2400"/>
                        <a:t>Entity Relationships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2"/>
                  </a:ext>
                </a:extLst>
              </a:tr>
              <a:tr h="562602">
                <a:tc>
                  <a:txBody>
                    <a:bodyPr/>
                    <a:lstStyle/>
                    <a:p>
                      <a:pPr marL="0" marR="0" indent="171450">
                        <a:spcBef>
                          <a:spcPts val="0"/>
                        </a:spcBef>
                        <a:spcAft>
                          <a:spcPts val="0"/>
                        </a:spcAft>
                      </a:pPr>
                      <a:r>
                        <a:rPr lang="en-US" sz="2400"/>
                        <a:t>Attributes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3"/>
                  </a:ext>
                </a:extLst>
              </a:tr>
              <a:tr h="562602">
                <a:tc>
                  <a:txBody>
                    <a:bodyPr/>
                    <a:lstStyle/>
                    <a:p>
                      <a:pPr marL="0" marR="0" indent="171450">
                        <a:spcBef>
                          <a:spcPts val="0"/>
                        </a:spcBef>
                        <a:spcAft>
                          <a:spcPts val="0"/>
                        </a:spcAft>
                      </a:pPr>
                      <a:r>
                        <a:rPr lang="en-US" sz="2400" dirty="0"/>
                        <a:t>Primary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4"/>
                  </a:ext>
                </a:extLst>
              </a:tr>
              <a:tr h="562602">
                <a:tc>
                  <a:txBody>
                    <a:bodyPr/>
                    <a:lstStyle/>
                    <a:p>
                      <a:pPr marL="0" marR="0" indent="171450">
                        <a:spcBef>
                          <a:spcPts val="0"/>
                        </a:spcBef>
                        <a:spcAft>
                          <a:spcPts val="0"/>
                        </a:spcAft>
                      </a:pPr>
                      <a:r>
                        <a:rPr lang="en-US" sz="2400" dirty="0"/>
                        <a:t>Foreign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5"/>
                  </a:ext>
                </a:extLst>
              </a:tr>
              <a:tr h="562602">
                <a:tc>
                  <a:txBody>
                    <a:bodyPr/>
                    <a:lstStyle/>
                    <a:p>
                      <a:pPr marL="0" marR="0" indent="171450">
                        <a:spcBef>
                          <a:spcPts val="0"/>
                        </a:spcBef>
                        <a:spcAft>
                          <a:spcPts val="0"/>
                        </a:spcAft>
                      </a:pPr>
                      <a:r>
                        <a:rPr lang="en-US" sz="2400"/>
                        <a:t>Table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6"/>
                  </a:ext>
                </a:extLst>
              </a:tr>
              <a:tr h="562602">
                <a:tc>
                  <a:txBody>
                    <a:bodyPr/>
                    <a:lstStyle/>
                    <a:p>
                      <a:pPr marL="0" marR="0" indent="171450">
                        <a:spcBef>
                          <a:spcPts val="0"/>
                        </a:spcBef>
                        <a:spcAft>
                          <a:spcPts val="0"/>
                        </a:spcAft>
                      </a:pPr>
                      <a:r>
                        <a:rPr lang="en-US" sz="2400"/>
                        <a:t>Column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7"/>
                  </a:ext>
                </a:extLst>
              </a:tr>
              <a:tr h="562602">
                <a:tc>
                  <a:txBody>
                    <a:bodyPr/>
                    <a:lstStyle/>
                    <a:p>
                      <a:pPr marL="0" marR="0" indent="171450">
                        <a:spcBef>
                          <a:spcPts val="0"/>
                        </a:spcBef>
                        <a:spcAft>
                          <a:spcPts val="0"/>
                        </a:spcAft>
                      </a:pPr>
                      <a:r>
                        <a:rPr lang="en-US" sz="2400" dirty="0"/>
                        <a:t>Column Data Types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dirty="0"/>
                        <a:t> </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8"/>
                  </a:ext>
                </a:extLst>
              </a:tr>
            </a:tbl>
          </a:graphicData>
        </a:graphic>
      </p:graphicFrame>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1581837044"/>
      </p:ext>
    </p:extLst>
  </p:cSld>
  <p:clrMapOvr>
    <a:masterClrMapping/>
  </p:clrMapOvr>
  <p:transition/>
</p:sld>
</file>

<file path=ppt/slides/slide1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Types of data modeling</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623392" y="3500439"/>
            <a:ext cx="11089232" cy="400110"/>
          </a:xfrm>
          <a:prstGeom prst="rect">
            <a:avLst/>
          </a:prstGeom>
        </p:spPr>
        <p:txBody>
          <a:bodyPr wrap="square">
            <a:spAutoFit/>
          </a:bodyPr>
          <a:lstStyle/>
          <a:p>
            <a:pPr algn="ctr"/>
            <a:r>
              <a:rPr lang="en-US" sz="2000" dirty="0">
                <a:latin typeface="Palatino Linotype" panose="02040502050505030304" pitchFamily="18" charset="0"/>
              </a:rPr>
              <a:t>There are three main types of DBMS data models: relational, hierarchical and network.</a:t>
            </a:r>
          </a:p>
        </p:txBody>
      </p:sp>
      <p:sp>
        <p:nvSpPr>
          <p:cNvPr id="4" name="TextBox 4">
            <a:extLst>
              <a:ext uri="{FF2B5EF4-FFF2-40B4-BE49-F238E27FC236}">
                <a16:creationId xmlns:a16="http://schemas.microsoft.com/office/drawing/2014/main" id="{8A5BB876-B26F-4A7B-85DE-061E018EE60A}"/>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CD76C4E5-196C-4AE5-8034-09B10CDBE54B}"/>
              </a:ext>
            </a:extLst>
          </p:cNvPr>
          <p:cNvSpPr txBox="1"/>
          <p:nvPr/>
        </p:nvSpPr>
        <p:spPr>
          <a:xfrm>
            <a:off x="335360" y="202974"/>
            <a:ext cx="3600400" cy="1631216"/>
          </a:xfrm>
          <a:prstGeom prst="rect">
            <a:avLst/>
          </a:prstGeom>
          <a:noFill/>
        </p:spPr>
        <p:txBody>
          <a:bodyPr wrap="square">
            <a:spAutoFit/>
          </a:bodyPr>
          <a:lstStyle/>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Hierarchical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Network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Object-oriented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Relational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NoSQL databases</a:t>
            </a:r>
          </a:p>
        </p:txBody>
      </p:sp>
    </p:spTree>
    <p:extLst>
      <p:ext uri="{BB962C8B-B14F-4D97-AF65-F5344CB8AC3E}">
        <p14:creationId xmlns:p14="http://schemas.microsoft.com/office/powerpoint/2010/main" val="713238772"/>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9AABA9D-E7F0-4A52-98FA-794786898535}"/>
              </a:ext>
            </a:extLst>
          </p:cNvPr>
          <p:cNvGrpSpPr/>
          <p:nvPr/>
        </p:nvGrpSpPr>
        <p:grpSpPr>
          <a:xfrm>
            <a:off x="235586" y="1961015"/>
            <a:ext cx="11765070" cy="3412201"/>
            <a:chOff x="235586" y="506175"/>
            <a:chExt cx="11765070" cy="3412201"/>
          </a:xfrm>
        </p:grpSpPr>
        <p:pic>
          <p:nvPicPr>
            <p:cNvPr id="1026" name="Picture 2" descr="Difference between Hierarchical and Relational data model - GeeksforGeeks">
              <a:extLst>
                <a:ext uri="{FF2B5EF4-FFF2-40B4-BE49-F238E27FC236}">
                  <a16:creationId xmlns:a16="http://schemas.microsoft.com/office/drawing/2014/main" id="{9ED4002F-7805-4BB3-B1B2-B1A0F7EDF20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5586" y="1340768"/>
              <a:ext cx="5356358" cy="257760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CB58EF1-E169-478D-876A-F4A734DF639F}"/>
                </a:ext>
              </a:extLst>
            </p:cNvPr>
            <p:cNvSpPr txBox="1"/>
            <p:nvPr/>
          </p:nvSpPr>
          <p:spPr>
            <a:xfrm>
              <a:off x="235587"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hierarchical data models</a:t>
              </a:r>
            </a:p>
          </p:txBody>
        </p:sp>
        <p:pic>
          <p:nvPicPr>
            <p:cNvPr id="2050" name="Picture 2" descr="Difference between Network and Relational data model - GeeksforGeeks">
              <a:extLst>
                <a:ext uri="{FF2B5EF4-FFF2-40B4-BE49-F238E27FC236}">
                  <a16:creationId xmlns:a16="http://schemas.microsoft.com/office/drawing/2014/main" id="{BEBD8EEB-1F5E-403A-BAEA-9A4E36BEBB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57023" y="1340769"/>
              <a:ext cx="5443633" cy="237626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76E6C9CC-7838-4A91-9251-E6611DD5C373}"/>
                </a:ext>
              </a:extLst>
            </p:cNvPr>
            <p:cNvSpPr txBox="1"/>
            <p:nvPr/>
          </p:nvSpPr>
          <p:spPr>
            <a:xfrm>
              <a:off x="6751663"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network data model</a:t>
              </a:r>
            </a:p>
          </p:txBody>
        </p:sp>
      </p:grpSp>
      <p:sp>
        <p:nvSpPr>
          <p:cNvPr id="11" name="Rectangle 10">
            <a:extLst>
              <a:ext uri="{FF2B5EF4-FFF2-40B4-BE49-F238E27FC236}">
                <a16:creationId xmlns:a16="http://schemas.microsoft.com/office/drawing/2014/main" id="{8992FDD0-B3B5-4533-B3D7-FC8B45FAECC4}"/>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data modeling</a:t>
            </a:r>
          </a:p>
        </p:txBody>
      </p:sp>
      <p:sp>
        <p:nvSpPr>
          <p:cNvPr id="3" name="TextBox 2">
            <a:extLst>
              <a:ext uri="{FF2B5EF4-FFF2-40B4-BE49-F238E27FC236}">
                <a16:creationId xmlns:a16="http://schemas.microsoft.com/office/drawing/2014/main" id="{6734A26B-CCBB-52AC-82A6-5C51AF8373DB}"/>
              </a:ext>
            </a:extLst>
          </p:cNvPr>
          <p:cNvSpPr txBox="1"/>
          <p:nvPr/>
        </p:nvSpPr>
        <p:spPr>
          <a:xfrm>
            <a:off x="119336" y="836712"/>
            <a:ext cx="5714428"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hierarchical database, the data is organized in a </a:t>
            </a:r>
            <a:r>
              <a:rPr lang="en-US" b="1" i="0" dirty="0">
                <a:solidFill>
                  <a:srgbClr val="2C3A48"/>
                </a:solidFill>
                <a:effectLst/>
                <a:latin typeface="Palatino Linotype" panose="02040502050505030304" pitchFamily="18" charset="0"/>
              </a:rPr>
              <a:t>"tree structure</a:t>
            </a:r>
            <a:r>
              <a:rPr lang="en-US" b="1" dirty="0">
                <a:solidFill>
                  <a:srgbClr val="2C3A48"/>
                </a:solidFill>
                <a:latin typeface="Palatino Linotype" panose="02040502050505030304" pitchFamily="18" charset="0"/>
              </a:rPr>
              <a:t>"</a:t>
            </a:r>
            <a:r>
              <a:rPr lang="en-US"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of nodes connected by edges representing the relationships between records.</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AAFF7D3C-7006-B5F0-1F8C-9A809BFE2FF5}"/>
              </a:ext>
            </a:extLst>
          </p:cNvPr>
          <p:cNvSpPr txBox="1"/>
          <p:nvPr/>
        </p:nvSpPr>
        <p:spPr>
          <a:xfrm>
            <a:off x="47328" y="5879013"/>
            <a:ext cx="6482340" cy="70788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Geography :- Country → State → City → ZipCode</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Products :- Category → Sub-category → Product → Variant</a:t>
            </a:r>
          </a:p>
        </p:txBody>
      </p:sp>
      <p:sp>
        <p:nvSpPr>
          <p:cNvPr id="8" name="TextBox 7">
            <a:extLst>
              <a:ext uri="{FF2B5EF4-FFF2-40B4-BE49-F238E27FC236}">
                <a16:creationId xmlns:a16="http://schemas.microsoft.com/office/drawing/2014/main" id="{65429C36-AC8A-5CF7-885B-3BAE426715A9}"/>
              </a:ext>
            </a:extLst>
          </p:cNvPr>
          <p:cNvSpPr txBox="1"/>
          <p:nvPr/>
        </p:nvSpPr>
        <p:spPr>
          <a:xfrm>
            <a:off x="6358237" y="836712"/>
            <a:ext cx="5455374"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network database, the data is organized in a </a:t>
            </a:r>
            <a:r>
              <a:rPr lang="en-US" b="1" dirty="0">
                <a:solidFill>
                  <a:srgbClr val="2C3A48"/>
                </a:solidFill>
                <a:latin typeface="Palatino Linotype" panose="02040502050505030304" pitchFamily="18" charset="0"/>
              </a:rPr>
              <a:t>"</a:t>
            </a:r>
            <a:r>
              <a:rPr lang="en-US" b="1" i="0" dirty="0">
                <a:solidFill>
                  <a:srgbClr val="2C3A48"/>
                </a:solidFill>
                <a:effectLst/>
                <a:latin typeface="Palatino Linotype" panose="02040502050505030304" pitchFamily="18" charset="0"/>
              </a:rPr>
              <a:t>graph-like structure</a:t>
            </a:r>
            <a:r>
              <a:rPr lang="en-US" b="1"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a:t>
            </a:r>
            <a:r>
              <a:rPr lang="en-US" dirty="0">
                <a:solidFill>
                  <a:srgbClr val="2C3A48"/>
                </a:solidFill>
                <a:latin typeface="Palatino Linotype" panose="02040502050505030304" pitchFamily="18" charset="0"/>
              </a:rPr>
              <a:t>of multiple parent and child records.</a:t>
            </a:r>
            <a:endParaRPr lang="en-IN" dirty="0">
              <a:solidFill>
                <a:srgbClr val="2C3A48"/>
              </a:solidFill>
              <a:latin typeface="Palatino Linotype" panose="02040502050505030304" pitchFamily="18" charset="0"/>
            </a:endParaRPr>
          </a:p>
        </p:txBody>
      </p:sp>
    </p:spTree>
    <p:extLst>
      <p:ext uri="{BB962C8B-B14F-4D97-AF65-F5344CB8AC3E}">
        <p14:creationId xmlns:p14="http://schemas.microsoft.com/office/powerpoint/2010/main" val="238098831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Anomalies in DBMS</a:t>
            </a:r>
          </a:p>
        </p:txBody>
      </p:sp>
      <p:sp>
        <p:nvSpPr>
          <p:cNvPr id="3" name="Rectangle 2"/>
          <p:cNvSpPr/>
          <p:nvPr/>
        </p:nvSpPr>
        <p:spPr>
          <a:xfrm>
            <a:off x="356347" y="4420191"/>
            <a:ext cx="11479306" cy="1523494"/>
          </a:xfrm>
          <a:prstGeom prst="rect">
            <a:avLst/>
          </a:prstGeom>
          <a:solidFill>
            <a:schemeClr val="bg1"/>
          </a:solidFill>
        </p:spPr>
        <p:txBody>
          <a:bodyPr wrap="square">
            <a:spAutoFit/>
          </a:bodyPr>
          <a:lstStyle/>
          <a:p>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There are three types of anomalies that occur when the database is not normalized. These are – </a:t>
            </a:r>
          </a:p>
          <a:p>
            <a:endParaRPr lang="en-IN" sz="700"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Insertion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Updation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Deletion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p:txBody>
      </p:sp>
      <p:sp>
        <p:nvSpPr>
          <p:cNvPr id="6" name="Rectangle 5"/>
          <p:cNvSpPr/>
          <p:nvPr/>
        </p:nvSpPr>
        <p:spPr>
          <a:xfrm>
            <a:off x="412276" y="818499"/>
            <a:ext cx="10657411" cy="400110"/>
          </a:xfrm>
          <a:prstGeom prst="rect">
            <a:avLst/>
          </a:prstGeom>
        </p:spPr>
        <p:txBody>
          <a:bodyPr wrap="square">
            <a:spAutoFit/>
          </a:bodyPr>
          <a:lstStyle/>
          <a:p>
            <a:r>
              <a:rPr lang="en-US" sz="2000" dirty="0">
                <a:solidFill>
                  <a:schemeClr val="tx1">
                    <a:lumMod val="95000"/>
                    <a:lumOff val="5000"/>
                  </a:schemeClr>
                </a:solidFill>
                <a:latin typeface="Palatino Linotype" panose="02040502050505030304" pitchFamily="18" charset="0"/>
                <a:cs typeface="Segoe UI Light" pitchFamily="34" charset="0"/>
              </a:rPr>
              <a:t>Problems that can occure in un-normalized database where all the data is stored in one table.</a:t>
            </a:r>
          </a:p>
        </p:txBody>
      </p:sp>
      <p:sp>
        <p:nvSpPr>
          <p:cNvPr id="4" name="Rectangle 3">
            <a:extLst>
              <a:ext uri="{FF2B5EF4-FFF2-40B4-BE49-F238E27FC236}">
                <a16:creationId xmlns:a16="http://schemas.microsoft.com/office/drawing/2014/main" id="{D47A9B01-AEC6-45CA-8190-3C4C90FF1754}"/>
              </a:ext>
            </a:extLst>
          </p:cNvPr>
          <p:cNvSpPr/>
          <p:nvPr/>
        </p:nvSpPr>
        <p:spPr>
          <a:xfrm>
            <a:off x="2185587" y="3284984"/>
            <a:ext cx="7922414" cy="400110"/>
          </a:xfrm>
          <a:prstGeom prst="rect">
            <a:avLst/>
          </a:prstGeom>
        </p:spPr>
        <p:txBody>
          <a:bodyPr wrap="square">
            <a:spAutoFit/>
          </a:bodyPr>
          <a:lstStyle/>
          <a:p>
            <a:r>
              <a:rPr lang="en-US" sz="2000" dirty="0">
                <a:solidFill>
                  <a:srgbClr val="222222"/>
                </a:solidFill>
                <a:latin typeface="Palatino Linotype" panose="02040502050505030304" pitchFamily="18" charset="0"/>
              </a:rPr>
              <a:t>Something that deviates from what is standard, normal, or expected.</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84479109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anomalies in dbms - example</a:t>
            </a:r>
            <a:endParaRPr lang="en-IN" sz="3200" i="1" dirty="0">
              <a:solidFill>
                <a:srgbClr val="FF9900"/>
              </a:solidFill>
              <a:latin typeface="Arial" pitchFamily="34" charset="0"/>
              <a:cs typeface="Arial" pitchFamily="34" charset="0"/>
            </a:endParaRPr>
          </a:p>
        </p:txBody>
      </p:sp>
      <p:sp>
        <p:nvSpPr>
          <p:cNvPr id="2" name="Rectangle 1"/>
          <p:cNvSpPr/>
          <p:nvPr/>
        </p:nvSpPr>
        <p:spPr>
          <a:xfrm>
            <a:off x="203968" y="838201"/>
            <a:ext cx="11784066"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708185116"/>
              </p:ext>
            </p:extLst>
          </p:nvPr>
        </p:nvGraphicFramePr>
        <p:xfrm>
          <a:off x="309523" y="1571614"/>
          <a:ext cx="11572955" cy="3343296"/>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557216">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557216">
                <a:tc>
                  <a:txBody>
                    <a:bodyPr/>
                    <a:lstStyle/>
                    <a:p>
                      <a:pPr fontAlgn="t"/>
                      <a:r>
                        <a:rPr lang="en-US" dirty="0"/>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557216">
                <a:tc>
                  <a:txBody>
                    <a:bodyPr/>
                    <a:lstStyle/>
                    <a:p>
                      <a:pPr fontAlgn="t"/>
                      <a:r>
                        <a:rPr lang="en-US" dirty="0"/>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557216">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557216">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557216">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416529756"/>
      </p:ext>
    </p:extLst>
  </p:cSld>
  <p:clrMapOvr>
    <a:masterClrMapping/>
  </p:clrMapOvr>
  <p:transition/>
</p:sld>
</file>

<file path=ppt/slides/slide1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update, and delete </a:t>
            </a:r>
            <a:r>
              <a:rPr lang="en-IN" sz="3200" i="1" dirty="0">
                <a:solidFill>
                  <a:srgbClr val="FF9900"/>
                </a:solidFill>
                <a:latin typeface="Arial" pitchFamily="34" charset="0"/>
                <a:cs typeface="Arial" pitchFamily="34" charset="0"/>
              </a:rPr>
              <a:t>anomaly</a:t>
            </a:r>
          </a:p>
        </p:txBody>
      </p:sp>
      <p:sp>
        <p:nvSpPr>
          <p:cNvPr id="2" name="Rectangle 1"/>
          <p:cNvSpPr/>
          <p:nvPr/>
        </p:nvSpPr>
        <p:spPr>
          <a:xfrm>
            <a:off x="203968" y="3806458"/>
            <a:ext cx="11784066" cy="2646878"/>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Insert anomaly</a:t>
            </a:r>
            <a:r>
              <a:rPr lang="en-IN" sz="20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What if we want to add new branch in the student table? In this case as the student Rollno  is a primary key, it will not allow you to insert new branch. </a:t>
            </a:r>
            <a:r>
              <a:rPr lang="en-US" dirty="0">
                <a:latin typeface="Palatino Linotype" panose="02040502050505030304" pitchFamily="18" charset="0"/>
                <a:cs typeface="Arial" panose="020B0604020202020204" pitchFamily="34" charset="0"/>
              </a:rPr>
              <a:t>Also, if we have to insert data of 100 students of same branch, then the branch information will be repeated for all those 100 students. This is </a:t>
            </a:r>
            <a:r>
              <a:rPr lang="en-US" b="1" dirty="0">
                <a:latin typeface="Palatino Linotype" panose="02040502050505030304" pitchFamily="18" charset="0"/>
                <a:cs typeface="Arial" panose="020B0604020202020204" pitchFamily="34" charset="0"/>
              </a:rPr>
              <a:t>Insertion anomalies</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Update anomaly: </a:t>
            </a:r>
            <a:r>
              <a:rPr lang="en-US" dirty="0">
                <a:latin typeface="Palatino Linotype" panose="02040502050505030304" pitchFamily="18" charset="0"/>
                <a:cs typeface="Arial" panose="020B0604020202020204" pitchFamily="34" charset="0"/>
              </a:rPr>
              <a:t>What if </a:t>
            </a:r>
            <a:r>
              <a:rPr lang="en-US" b="1" dirty="0">
                <a:latin typeface="Palatino Linotype" panose="02040502050505030304" pitchFamily="18" charset="0"/>
                <a:cs typeface="Arial" panose="020B0604020202020204" pitchFamily="34" charset="0"/>
              </a:rPr>
              <a:t>Mr. X </a:t>
            </a:r>
            <a:r>
              <a:rPr lang="en-US" dirty="0">
                <a:latin typeface="Palatino Linotype" panose="02040502050505030304" pitchFamily="18" charset="0"/>
                <a:cs typeface="Arial" panose="020B0604020202020204" pitchFamily="34" charset="0"/>
              </a:rPr>
              <a:t>telephone number changes? In that case all the student records will have to be updated, and if by mistake we miss any record, it will lead to data inconsistency. This is </a:t>
            </a:r>
            <a:r>
              <a:rPr lang="en-US" b="1" dirty="0">
                <a:latin typeface="Palatino Linotype" panose="02040502050505030304" pitchFamily="18" charset="0"/>
                <a:cs typeface="Arial" panose="020B0604020202020204" pitchFamily="34" charset="0"/>
              </a:rPr>
              <a:t>Updation anomaly</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Delete anomaly: </a:t>
            </a:r>
            <a:r>
              <a:rPr lang="en-US" dirty="0">
                <a:latin typeface="Palatino Linotype" panose="02040502050505030304" pitchFamily="18" charset="0"/>
                <a:cs typeface="Arial" panose="020B0604020202020204" pitchFamily="34" charset="0"/>
              </a:rPr>
              <a:t>In our </a:t>
            </a:r>
            <a:r>
              <a:rPr lang="en-US" b="1" dirty="0">
                <a:latin typeface="Palatino Linotype" panose="02040502050505030304" pitchFamily="18" charset="0"/>
                <a:cs typeface="Arial" panose="020B0604020202020204" pitchFamily="34" charset="0"/>
              </a:rPr>
              <a:t>Student</a:t>
            </a:r>
            <a:r>
              <a:rPr lang="en-US" dirty="0">
                <a:latin typeface="Palatino Linotype" panose="02040502050505030304" pitchFamily="18" charset="0"/>
                <a:cs typeface="Arial" panose="020B0604020202020204" pitchFamily="34" charset="0"/>
              </a:rPr>
              <a:t> table, two different information are kept together, Student information and Branch information. Hence, at the end of the academic year, if student records are deleted, we will also lose the branch information. This is </a:t>
            </a:r>
            <a:r>
              <a:rPr lang="en-US" b="1" dirty="0">
                <a:latin typeface="Palatino Linotype" panose="02040502050505030304" pitchFamily="18" charset="0"/>
                <a:cs typeface="Arial" panose="020B0604020202020204" pitchFamily="34" charset="0"/>
              </a:rPr>
              <a:t>Deletion anomaly.</a:t>
            </a:r>
            <a:endParaRPr lang="en-IN" dirty="0">
              <a:latin typeface="Palatino Linotype" panose="02040502050505030304" pitchFamily="18" charset="0"/>
              <a:cs typeface="Arial" panose="020B0604020202020204" pitchFamily="34" charset="0"/>
            </a:endParaRPr>
          </a:p>
        </p:txBody>
      </p:sp>
      <p:graphicFrame>
        <p:nvGraphicFramePr>
          <p:cNvPr id="6" name="Table 5">
            <a:extLst>
              <a:ext uri="{FF2B5EF4-FFF2-40B4-BE49-F238E27FC236}">
                <a16:creationId xmlns:a16="http://schemas.microsoft.com/office/drawing/2014/main" id="{4C32FF27-28F3-4B36-B760-43CC28BF8F08}"/>
              </a:ext>
            </a:extLst>
          </p:cNvPr>
          <p:cNvGraphicFramePr>
            <a:graphicFrameLocks noGrp="1"/>
          </p:cNvGraphicFramePr>
          <p:nvPr>
            <p:extLst>
              <p:ext uri="{D42A27DB-BD31-4B8C-83A1-F6EECF244321}">
                <p14:modId xmlns:p14="http://schemas.microsoft.com/office/powerpoint/2010/main" val="3490002922"/>
              </p:ext>
            </p:extLst>
          </p:nvPr>
        </p:nvGraphicFramePr>
        <p:xfrm>
          <a:off x="309523" y="940688"/>
          <a:ext cx="11572955" cy="2560320"/>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222697">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222697">
                <a:tc>
                  <a:txBody>
                    <a:bodyPr/>
                    <a:lstStyle/>
                    <a:p>
                      <a:pPr fontAlgn="t"/>
                      <a:r>
                        <a:rPr lang="en-US"/>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222697">
                <a:tc>
                  <a:txBody>
                    <a:bodyPr/>
                    <a:lstStyle/>
                    <a:p>
                      <a:pPr fontAlgn="t"/>
                      <a:r>
                        <a:rPr lang="en-US"/>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222697">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222697">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222697">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
        <p:nvSpPr>
          <p:cNvPr id="3" name="Rectangle 2">
            <a:extLst>
              <a:ext uri="{FF2B5EF4-FFF2-40B4-BE49-F238E27FC236}">
                <a16:creationId xmlns:a16="http://schemas.microsoft.com/office/drawing/2014/main" id="{A19225FB-EA5D-45BD-BBAA-82A64EB1E696}"/>
              </a:ext>
            </a:extLst>
          </p:cNvPr>
          <p:cNvSpPr/>
          <p:nvPr/>
        </p:nvSpPr>
        <p:spPr>
          <a:xfrm>
            <a:off x="309522" y="3068960"/>
            <a:ext cx="11572954" cy="43204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8" name="Rectangle 7">
            <a:extLst>
              <a:ext uri="{FF2B5EF4-FFF2-40B4-BE49-F238E27FC236}">
                <a16:creationId xmlns:a16="http://schemas.microsoft.com/office/drawing/2014/main" id="{C01044E2-536D-4DA9-B7F7-AA0CA805F7F0}"/>
              </a:ext>
            </a:extLst>
          </p:cNvPr>
          <p:cNvSpPr/>
          <p:nvPr/>
        </p:nvSpPr>
        <p:spPr>
          <a:xfrm>
            <a:off x="7248128" y="1412776"/>
            <a:ext cx="4634348" cy="1656184"/>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DC39C041-0FE1-4844-9D9C-D2FD2E98CCA0}"/>
              </a:ext>
            </a:extLst>
          </p:cNvPr>
          <p:cNvSpPr/>
          <p:nvPr/>
        </p:nvSpPr>
        <p:spPr>
          <a:xfrm>
            <a:off x="4799855" y="764704"/>
            <a:ext cx="7217973" cy="2912258"/>
          </a:xfrm>
          <a:prstGeom prst="rect">
            <a:avLst/>
          </a:prstGeom>
          <a:noFill/>
          <a:ln w="38100">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6A4B7221-DB36-4754-BFEB-6F69E87492A1}"/>
              </a:ext>
            </a:extLst>
          </p:cNvPr>
          <p:cNvSpPr/>
          <p:nvPr/>
        </p:nvSpPr>
        <p:spPr>
          <a:xfrm>
            <a:off x="203968" y="404664"/>
            <a:ext cx="2939704"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2992601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9" grpId="0" animBg="1"/>
    </p:bldLst>
  </p:timing>
</p:sld>
</file>

<file path=ppt/slides/slide1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420888"/>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Functional &amp; </a:t>
            </a:r>
            <a:r>
              <a:rPr lang="en-IN" sz="4800" dirty="0">
                <a:solidFill>
                  <a:srgbClr val="DC525C"/>
                </a:solidFill>
                <a:latin typeface="Segoe UI Light" panose="020B0502040204020203" pitchFamily="34" charset="0"/>
                <a:cs typeface="Segoe UI Light" panose="020B0502040204020203" pitchFamily="34" charset="0"/>
              </a:rPr>
              <a:t>Transitivity</a:t>
            </a:r>
            <a:r>
              <a:rPr lang="en-US" sz="4800" dirty="0">
                <a:solidFill>
                  <a:srgbClr val="DC525C"/>
                </a:solidFill>
                <a:latin typeface="Segoe UI Light" panose="020B0502040204020203" pitchFamily="34" charset="0"/>
                <a:cs typeface="Segoe UI Light" panose="020B0502040204020203" pitchFamily="34" charset="0"/>
              </a:rPr>
              <a:t> Dependency</a:t>
            </a:r>
          </a:p>
        </p:txBody>
      </p:sp>
      <p:sp>
        <p:nvSpPr>
          <p:cNvPr id="4" name="Rectangle 3">
            <a:extLst>
              <a:ext uri="{FF2B5EF4-FFF2-40B4-BE49-F238E27FC236}">
                <a16:creationId xmlns:a16="http://schemas.microsoft.com/office/drawing/2014/main" id="{D47A9B01-AEC6-45CA-8190-3C4C90FF1754}"/>
              </a:ext>
            </a:extLst>
          </p:cNvPr>
          <p:cNvSpPr/>
          <p:nvPr/>
        </p:nvSpPr>
        <p:spPr>
          <a:xfrm>
            <a:off x="263352" y="3284984"/>
            <a:ext cx="11593287" cy="2431435"/>
          </a:xfrm>
          <a:prstGeom prst="rect">
            <a:avLst/>
          </a:prstGeom>
        </p:spPr>
        <p:txBody>
          <a:bodyPr wrap="square">
            <a:spAutoFit/>
          </a:bodyPr>
          <a:lstStyle/>
          <a:p>
            <a:r>
              <a:rPr lang="en-US" sz="2000" dirty="0">
                <a:solidFill>
                  <a:srgbClr val="222222"/>
                </a:solidFill>
                <a:latin typeface="Palatino Linotype" panose="02040502050505030304" pitchFamily="18" charset="0"/>
              </a:rPr>
              <a:t>A functional dependency (FD denoted by an arrow “</a:t>
            </a:r>
            <a:r>
              <a:rPr lang="en-US" sz="2000" b="1" dirty="0">
                <a:solidFill>
                  <a:srgbClr val="222222"/>
                </a:solidFill>
                <a:latin typeface="Palatino Linotype" panose="02040502050505030304" pitchFamily="18" charset="0"/>
              </a:rPr>
              <a:t>→</a:t>
            </a:r>
            <a:r>
              <a:rPr lang="en-US" sz="2000" dirty="0">
                <a:solidFill>
                  <a:srgbClr val="222222"/>
                </a:solidFill>
                <a:latin typeface="Palatino Linotype" panose="02040502050505030304" pitchFamily="18" charset="0"/>
              </a:rPr>
              <a:t>”) is a relationship between two attributes, typically between the prime attribute (PK) and other non-prime attributes within a table. </a:t>
            </a:r>
          </a:p>
          <a:p>
            <a:endParaRPr lang="en-US" sz="2000" dirty="0">
              <a:solidFill>
                <a:srgbClr val="222222"/>
              </a:solidFill>
              <a:latin typeface="Palatino Linotype" panose="02040502050505030304" pitchFamily="18" charset="0"/>
            </a:endParaRPr>
          </a:p>
          <a:p>
            <a:r>
              <a:rPr lang="en-US" b="1" dirty="0"/>
              <a:t>If X -&gt; Y  ,  the value of X uniquely determines the value of  Y, then Y is functionally dependent on attribute X (usually the PK) .</a:t>
            </a:r>
          </a:p>
          <a:p>
            <a:endParaRPr lang="en-US" sz="800" b="1" dirty="0">
              <a:solidFill>
                <a:srgbClr val="222222"/>
              </a:solidFill>
              <a:latin typeface="Palatino Linotype" panose="02040502050505030304" pitchFamily="18" charset="0"/>
            </a:endParaRPr>
          </a:p>
          <a:p>
            <a:r>
              <a:rPr lang="en-US" sz="2400" dirty="0">
                <a:solidFill>
                  <a:srgbClr val="FF0000"/>
                </a:solidFill>
                <a:latin typeface="Palatino Linotype" panose="02040502050505030304" pitchFamily="18" charset="0"/>
                <a:cs typeface="Arial" panose="020B0604020202020204" pitchFamily="34" charset="0"/>
              </a:rPr>
              <a:t>Note:</a:t>
            </a:r>
          </a:p>
          <a:p>
            <a:endParaRPr lang="en-US" sz="400" b="1" dirty="0">
              <a:solidFill>
                <a:srgbClr val="222222"/>
              </a:solidFill>
              <a:latin typeface="Palatino Linotype" panose="02040502050505030304" pitchFamily="18" charset="0"/>
            </a:endParaRPr>
          </a:p>
          <a:p>
            <a:r>
              <a:rPr lang="en-US" sz="2000" dirty="0">
                <a:solidFill>
                  <a:srgbClr val="222222"/>
                </a:solidFill>
                <a:latin typeface="Palatino Linotype" panose="02040502050505030304" pitchFamily="18" charset="0"/>
              </a:rPr>
              <a:t>The left side is called the </a:t>
            </a:r>
            <a:r>
              <a:rPr lang="en-US" sz="2000" b="1" dirty="0">
                <a:solidFill>
                  <a:srgbClr val="222222"/>
                </a:solidFill>
                <a:latin typeface="Palatino Linotype" panose="02040502050505030304" pitchFamily="18" charset="0"/>
              </a:rPr>
              <a:t>determinant</a:t>
            </a:r>
            <a:r>
              <a:rPr lang="en-US" sz="2000" dirty="0">
                <a:solidFill>
                  <a:srgbClr val="222222"/>
                </a:solidFill>
                <a:latin typeface="Palatino Linotype" panose="02040502050505030304" pitchFamily="18" charset="0"/>
              </a:rPr>
              <a:t>, and the right side is the </a:t>
            </a:r>
            <a:r>
              <a:rPr lang="en-US" sz="2000" b="1" dirty="0">
                <a:solidFill>
                  <a:srgbClr val="222222"/>
                </a:solidFill>
                <a:latin typeface="Palatino Linotype" panose="02040502050505030304" pitchFamily="18" charset="0"/>
              </a:rPr>
              <a:t>dependent</a:t>
            </a:r>
            <a:r>
              <a:rPr lang="en-US" sz="2000" dirty="0">
                <a:solidFill>
                  <a:srgbClr val="222222"/>
                </a:solidFill>
                <a:latin typeface="Palatino Linotype" panose="02040502050505030304" pitchFamily="18" charset="0"/>
              </a:rPr>
              <a:t>.</a:t>
            </a:r>
          </a:p>
        </p:txBody>
      </p:sp>
      <p:graphicFrame>
        <p:nvGraphicFramePr>
          <p:cNvPr id="3" name="Table 2">
            <a:extLst>
              <a:ext uri="{FF2B5EF4-FFF2-40B4-BE49-F238E27FC236}">
                <a16:creationId xmlns:a16="http://schemas.microsoft.com/office/drawing/2014/main" id="{C386114D-3BE6-B894-627A-FF41C2561C63}"/>
              </a:ext>
            </a:extLst>
          </p:cNvPr>
          <p:cNvGraphicFramePr>
            <a:graphicFrameLocks noGrp="1"/>
          </p:cNvGraphicFramePr>
          <p:nvPr/>
        </p:nvGraphicFramePr>
        <p:xfrm>
          <a:off x="263352" y="476672"/>
          <a:ext cx="11724680" cy="1950720"/>
        </p:xfrm>
        <a:graphic>
          <a:graphicData uri="http://schemas.openxmlformats.org/drawingml/2006/table">
            <a:tbl>
              <a:tblPr/>
              <a:tblGrid>
                <a:gridCol w="11724680">
                  <a:extLst>
                    <a:ext uri="{9D8B030D-6E8A-4147-A177-3AD203B41FA5}">
                      <a16:colId xmlns:a16="http://schemas.microsoft.com/office/drawing/2014/main" val="927902347"/>
                    </a:ext>
                  </a:extLst>
                </a:gridCol>
              </a:tblGrid>
              <a:tr h="0">
                <a:tc>
                  <a:txBody>
                    <a:bodyPr/>
                    <a:lstStyle/>
                    <a:p>
                      <a:pPr marL="285750" indent="-285750" fontAlgn="t">
                        <a:buFont typeface="Arial" panose="020B0604020202020204" pitchFamily="34" charset="0"/>
                        <a:buChar char="•"/>
                      </a:pPr>
                      <a:endParaRPr lang="en-IN" b="1" dirty="0">
                        <a:effectLst/>
                        <a:latin typeface="Palatino Linotype" panose="02040502050505030304" pitchFamily="18" charset="0"/>
                      </a:endParaRPr>
                    </a:p>
                    <a:p>
                      <a:pPr marL="0" indent="0" fontAlgn="t">
                        <a:buFont typeface="Arial" panose="020B0604020202020204" pitchFamily="34" charset="0"/>
                        <a:buNone/>
                      </a:pPr>
                      <a:r>
                        <a:rPr kumimoji="0" lang="en-US" b="1" i="0" kern="1200" dirty="0">
                          <a:solidFill>
                            <a:schemeClr val="tx1"/>
                          </a:solidFill>
                          <a:effectLst/>
                          <a:latin typeface="+mn-lt"/>
                          <a:ea typeface="+mn-ea"/>
                          <a:cs typeface="+mn-cs"/>
                        </a:rPr>
                        <a:t>If  P -&gt; Q and Q -&gt; R is true, then P-&gt; R is a </a:t>
                      </a:r>
                      <a:r>
                        <a:rPr kumimoji="0" lang="en-US" sz="1800" b="1" i="1" kern="1200" dirty="0">
                          <a:solidFill>
                            <a:schemeClr val="tx1"/>
                          </a:solidFill>
                          <a:effectLst/>
                          <a:latin typeface="Palatino Linotype" panose="02040502050505030304" pitchFamily="18" charset="0"/>
                          <a:ea typeface="+mn-ea"/>
                          <a:cs typeface="+mn-cs"/>
                        </a:rPr>
                        <a:t>transitive dependency</a:t>
                      </a:r>
                      <a:r>
                        <a:rPr kumimoji="0" lang="en-US" b="1" i="0" kern="1200" dirty="0">
                          <a:solidFill>
                            <a:schemeClr val="tx1"/>
                          </a:solidFill>
                          <a:effectLst/>
                          <a:latin typeface="+mn-lt"/>
                          <a:ea typeface="+mn-ea"/>
                          <a:cs typeface="+mn-cs"/>
                        </a:rPr>
                        <a:t>.</a:t>
                      </a:r>
                      <a:endParaRPr lang="en-IN" b="1" dirty="0">
                        <a:effectLst/>
                        <a:latin typeface="Palatino Linotype" panose="02040502050505030304" pitchFamily="18" charset="0"/>
                      </a:endParaRPr>
                    </a:p>
                    <a:p>
                      <a:pPr marL="285750" indent="-285750" fontAlgn="t">
                        <a:buFont typeface="Arial" panose="020B0604020202020204" pitchFamily="34" charset="0"/>
                        <a:buChar char="•"/>
                      </a:pPr>
                      <a:endParaRPr lang="en-IN" sz="800" b="1" dirty="0">
                        <a:effectLst/>
                        <a:latin typeface="Palatino Linotype" panose="02040502050505030304" pitchFamily="18" charset="0"/>
                      </a:endParaRPr>
                    </a:p>
                    <a:p>
                      <a:pPr marL="285750" indent="-285750" fontAlgn="t">
                        <a:buFont typeface="Arial" panose="020B0604020202020204" pitchFamily="34" charset="0"/>
                        <a:buChar char="•"/>
                      </a:pPr>
                      <a:r>
                        <a:rPr lang="en-IN" b="1" dirty="0">
                          <a:effectLst/>
                          <a:latin typeface="Palatino Linotype" panose="02040502050505030304" pitchFamily="18" charset="0"/>
                        </a:rPr>
                        <a:t>Movie_ID -&gt; Genres</a:t>
                      </a:r>
                    </a:p>
                    <a:p>
                      <a:pPr marL="285750" indent="-285750" fontAlgn="t">
                        <a:buFont typeface="Arial" panose="020B0604020202020204" pitchFamily="34" charset="0"/>
                        <a:buChar char="•"/>
                      </a:pPr>
                      <a:r>
                        <a:rPr lang="en-IN" b="1" dirty="0">
                          <a:effectLst/>
                          <a:latin typeface="Palatino Linotype" panose="02040502050505030304" pitchFamily="18" charset="0"/>
                        </a:rPr>
                        <a:t>Genres -&gt; Film_certificate</a:t>
                      </a:r>
                    </a:p>
                    <a:p>
                      <a:pPr fontAlgn="t"/>
                      <a:endParaRPr lang="en-IN" b="1" dirty="0">
                        <a:effectLst/>
                        <a:latin typeface="Palatino Linotype" panose="02040502050505030304" pitchFamily="18" charset="0"/>
                      </a:endParaRPr>
                    </a:p>
                    <a:p>
                      <a:pPr marL="285750" indent="-285750" fontAlgn="t">
                        <a:buFont typeface="Arial" panose="020B0604020202020204" pitchFamily="34" charset="0"/>
                        <a:buChar char="•"/>
                      </a:pPr>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Movie_ID -&gt; </a:t>
                      </a:r>
                      <a:r>
                        <a:rPr lang="en-IN" b="1" dirty="0">
                          <a:effectLst/>
                          <a:latin typeface="Palatino Linotype" panose="02040502050505030304" pitchFamily="18" charset="0"/>
                        </a:rPr>
                        <a:t>Film_certificate </a:t>
                      </a:r>
                      <a:r>
                        <a:rPr kumimoji="0" lang="en-US" b="1" i="0" kern="1200" dirty="0">
                          <a:solidFill>
                            <a:schemeClr val="tx1"/>
                          </a:solidFill>
                          <a:effectLst/>
                          <a:latin typeface="Palatino Linotype" panose="02040502050505030304" pitchFamily="18" charset="0"/>
                          <a:ea typeface="+mn-ea"/>
                          <a:cs typeface="+mn-cs"/>
                        </a:rPr>
                        <a:t> </a:t>
                      </a:r>
                      <a:r>
                        <a:rPr kumimoji="0" lang="en-US" b="0" i="0" kern="1200" dirty="0">
                          <a:solidFill>
                            <a:schemeClr val="tx1"/>
                          </a:solidFill>
                          <a:effectLst/>
                          <a:latin typeface="Palatino Linotype" panose="02040502050505030304" pitchFamily="18" charset="0"/>
                          <a:ea typeface="+mn-ea"/>
                          <a:cs typeface="+mn-cs"/>
                        </a:rPr>
                        <a:t>has </a:t>
                      </a:r>
                      <a:r>
                        <a:rPr kumimoji="0" lang="en-US" sz="2200" b="1" i="1" kern="1200" dirty="0">
                          <a:solidFill>
                            <a:schemeClr val="tx1"/>
                          </a:solidFill>
                          <a:effectLst/>
                          <a:latin typeface="Palatino Linotype" panose="02040502050505030304" pitchFamily="18" charset="0"/>
                          <a:ea typeface="+mn-ea"/>
                          <a:cs typeface="+mn-cs"/>
                        </a:rPr>
                        <a:t>transitive dependency</a:t>
                      </a:r>
                      <a:r>
                        <a:rPr kumimoji="0" lang="en-US" b="0" i="0" kern="1200" dirty="0">
                          <a:solidFill>
                            <a:schemeClr val="tx1"/>
                          </a:solidFill>
                          <a:effectLst/>
                          <a:latin typeface="Palatino Linotype" panose="02040502050505030304" pitchFamily="18" charset="0"/>
                          <a:ea typeface="+mn-ea"/>
                          <a:cs typeface="+mn-cs"/>
                        </a:rPr>
                        <a:t>.</a:t>
                      </a:r>
                    </a:p>
                  </a:txBody>
                  <a:tcPr marL="60960" marR="60960" marT="60960" marB="60960">
                    <a:lnL w="7620" cap="flat" cmpd="sng" algn="ctr">
                      <a:solidFill>
                        <a:srgbClr val="DDDDDD"/>
                      </a:solidFill>
                      <a:prstDash val="solid"/>
                      <a:round/>
                      <a:headEnd type="none" w="med" len="med"/>
                      <a:tailEnd type="none" w="med" len="med"/>
                    </a:lnL>
                    <a:lnR w="7620" cap="flat" cmpd="sng" algn="ctr">
                      <a:solidFill>
                        <a:srgbClr val="DDDDDD"/>
                      </a:solidFill>
                      <a:prstDash val="solid"/>
                      <a:round/>
                      <a:headEnd type="none" w="med" len="med"/>
                      <a:tailEnd type="none" w="med" len="med"/>
                    </a:lnR>
                    <a:lnT w="7620" cap="flat" cmpd="sng" algn="ctr">
                      <a:solidFill>
                        <a:srgbClr val="DDDDDD"/>
                      </a:solidFill>
                      <a:prstDash val="solid"/>
                      <a:round/>
                      <a:headEnd type="none" w="med" len="med"/>
                      <a:tailEnd type="none" w="med" len="med"/>
                    </a:lnT>
                    <a:lnB w="762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3636265130"/>
                  </a:ext>
                </a:extLst>
              </a:tr>
            </a:tbl>
          </a:graphicData>
        </a:graphic>
      </p:graphicFrame>
      <p:sp>
        <p:nvSpPr>
          <p:cNvPr id="6" name="TextBox 5">
            <a:extLst>
              <a:ext uri="{FF2B5EF4-FFF2-40B4-BE49-F238E27FC236}">
                <a16:creationId xmlns:a16="http://schemas.microsoft.com/office/drawing/2014/main" id="{42D7C7C2-2896-96A7-F854-59D7360EEEBF}"/>
              </a:ext>
            </a:extLst>
          </p:cNvPr>
          <p:cNvSpPr txBox="1"/>
          <p:nvPr/>
        </p:nvSpPr>
        <p:spPr>
          <a:xfrm>
            <a:off x="208710" y="5858688"/>
            <a:ext cx="11359898" cy="800219"/>
          </a:xfrm>
          <a:prstGeom prst="rect">
            <a:avLst/>
          </a:prstGeom>
          <a:noFill/>
        </p:spPr>
        <p:txBody>
          <a:bodyPr wrap="square">
            <a:spAutoFit/>
          </a:bodyPr>
          <a:lstStyle/>
          <a:p>
            <a:pPr marL="285750" indent="-285750" fontAlgn="t">
              <a:buFont typeface="Arial" panose="020B0604020202020204" pitchFamily="34" charset="0"/>
              <a:buChar char="•"/>
            </a:pPr>
            <a:r>
              <a:rPr lang="en-IN" b="1" dirty="0">
                <a:effectLst/>
                <a:latin typeface="Palatino Linotype" panose="02040502050505030304" pitchFamily="18" charset="0"/>
              </a:rPr>
              <a:t>Movie_ID -&gt; MovieName</a:t>
            </a:r>
          </a:p>
          <a:p>
            <a:pPr marL="285750" indent="-285750" fontAlgn="t">
              <a:buFont typeface="Arial" panose="020B0604020202020204" pitchFamily="34" charset="0"/>
              <a:buChar char="•"/>
            </a:pPr>
            <a:endParaRPr lang="en-IN" sz="600" b="1" dirty="0">
              <a:effectLst/>
              <a:latin typeface="Palatino Linotype" panose="02040502050505030304" pitchFamily="18" charset="0"/>
            </a:endParaRPr>
          </a:p>
          <a:p>
            <a:pPr fontAlgn="t"/>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MovieName</a:t>
            </a:r>
            <a:r>
              <a:rPr kumimoji="0" lang="en-US" b="0" i="0" kern="1200" dirty="0">
                <a:solidFill>
                  <a:schemeClr val="tx1"/>
                </a:solidFill>
                <a:effectLst/>
                <a:latin typeface="Palatino Linotype" panose="02040502050505030304" pitchFamily="18" charset="0"/>
                <a:ea typeface="+mn-ea"/>
                <a:cs typeface="+mn-cs"/>
              </a:rPr>
              <a:t> is </a:t>
            </a:r>
            <a:r>
              <a:rPr lang="en-US" sz="2200" b="1" i="1" dirty="0">
                <a:latin typeface="Palatino Linotype" panose="02040502050505030304" pitchFamily="18" charset="0"/>
              </a:rPr>
              <a:t>functional dependent </a:t>
            </a:r>
            <a:r>
              <a:rPr lang="en-US" sz="1800" dirty="0">
                <a:solidFill>
                  <a:srgbClr val="222222"/>
                </a:solidFill>
                <a:latin typeface="Palatino Linotype" panose="02040502050505030304" pitchFamily="18" charset="0"/>
              </a:rPr>
              <a:t>on attribute </a:t>
            </a:r>
            <a:r>
              <a:rPr lang="en-IN" b="1" dirty="0">
                <a:effectLst/>
                <a:latin typeface="Palatino Linotype" panose="02040502050505030304" pitchFamily="18" charset="0"/>
              </a:rPr>
              <a:t>Movie_ID</a:t>
            </a:r>
            <a:r>
              <a:rPr kumimoji="0" lang="en-US" b="0" i="0" kern="1200" dirty="0">
                <a:solidFill>
                  <a:schemeClr val="tx1"/>
                </a:solidFill>
                <a:effectLst/>
                <a:latin typeface="Palatino Linotype" panose="02040502050505030304" pitchFamily="18" charset="0"/>
                <a:ea typeface="+mn-ea"/>
                <a:cs typeface="+mn-cs"/>
              </a:rPr>
              <a:t> </a:t>
            </a:r>
            <a:endParaRPr lang="en-IN" dirty="0">
              <a:latin typeface="Palatino Linotype" panose="02040502050505030304" pitchFamily="18" charset="0"/>
            </a:endParaRPr>
          </a:p>
        </p:txBody>
      </p:sp>
      <p:graphicFrame>
        <p:nvGraphicFramePr>
          <p:cNvPr id="5" name="Table 6">
            <a:extLst>
              <a:ext uri="{FF2B5EF4-FFF2-40B4-BE49-F238E27FC236}">
                <a16:creationId xmlns:a16="http://schemas.microsoft.com/office/drawing/2014/main" id="{5852A34F-C081-DB11-FF10-A66197403F20}"/>
              </a:ext>
            </a:extLst>
          </p:cNvPr>
          <p:cNvGraphicFramePr>
            <a:graphicFrameLocks noGrp="1"/>
          </p:cNvGraphicFramePr>
          <p:nvPr/>
        </p:nvGraphicFramePr>
        <p:xfrm>
          <a:off x="3935760" y="100112"/>
          <a:ext cx="8256240" cy="365760"/>
        </p:xfrm>
        <a:graphic>
          <a:graphicData uri="http://schemas.openxmlformats.org/drawingml/2006/table">
            <a:tbl>
              <a:tblPr firstRow="1" bandRow="1">
                <a:tableStyleId>{5940675A-B579-460E-94D1-54222C63F5DA}</a:tableStyleId>
              </a:tblPr>
              <a:tblGrid>
                <a:gridCol w="2064060">
                  <a:extLst>
                    <a:ext uri="{9D8B030D-6E8A-4147-A177-3AD203B41FA5}">
                      <a16:colId xmlns:a16="http://schemas.microsoft.com/office/drawing/2014/main" val="313995797"/>
                    </a:ext>
                  </a:extLst>
                </a:gridCol>
                <a:gridCol w="2064060">
                  <a:extLst>
                    <a:ext uri="{9D8B030D-6E8A-4147-A177-3AD203B41FA5}">
                      <a16:colId xmlns:a16="http://schemas.microsoft.com/office/drawing/2014/main" val="2291530205"/>
                    </a:ext>
                  </a:extLst>
                </a:gridCol>
                <a:gridCol w="1858188">
                  <a:extLst>
                    <a:ext uri="{9D8B030D-6E8A-4147-A177-3AD203B41FA5}">
                      <a16:colId xmlns:a16="http://schemas.microsoft.com/office/drawing/2014/main" val="3000904598"/>
                    </a:ext>
                  </a:extLst>
                </a:gridCol>
                <a:gridCol w="2269932">
                  <a:extLst>
                    <a:ext uri="{9D8B030D-6E8A-4147-A177-3AD203B41FA5}">
                      <a16:colId xmlns:a16="http://schemas.microsoft.com/office/drawing/2014/main" val="1471476859"/>
                    </a:ext>
                  </a:extLst>
                </a:gridCol>
              </a:tblGrid>
              <a:tr h="301352">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bl>
          </a:graphicData>
        </a:graphic>
      </p:graphicFrame>
    </p:spTree>
    <p:extLst>
      <p:ext uri="{BB962C8B-B14F-4D97-AF65-F5344CB8AC3E}">
        <p14:creationId xmlns:p14="http://schemas.microsoft.com/office/powerpoint/2010/main" val="2731353533"/>
      </p:ext>
    </p:extLst>
  </p:cSld>
  <p:clrMapOvr>
    <a:masterClrMapping/>
  </p:clrMapOvr>
  <p:transition/>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2A23202-470E-EBEE-410E-B404EED7029B}"/>
              </a:ext>
            </a:extLst>
          </p:cNvPr>
          <p:cNvSpPr/>
          <p:nvPr/>
        </p:nvSpPr>
        <p:spPr>
          <a:xfrm>
            <a:off x="795" y="2"/>
            <a:ext cx="12190413"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Transitivity</a:t>
            </a:r>
            <a:r>
              <a:rPr lang="en-US" sz="3200" i="1" dirty="0">
                <a:solidFill>
                  <a:srgbClr val="FF9900"/>
                </a:solidFill>
                <a:latin typeface="Arial" pitchFamily="34" charset="0"/>
                <a:cs typeface="Arial" pitchFamily="34" charset="0"/>
              </a:rPr>
              <a:t>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52C30BD-2F4F-5492-3013-1DFA0C1642E0}"/>
              </a:ext>
            </a:extLst>
          </p:cNvPr>
          <p:cNvSpPr txBox="1"/>
          <p:nvPr/>
        </p:nvSpPr>
        <p:spPr>
          <a:xfrm>
            <a:off x="258366" y="1052736"/>
            <a:ext cx="61722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cityName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state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a:t>
            </a:r>
          </a:p>
        </p:txBody>
      </p:sp>
      <p:sp>
        <p:nvSpPr>
          <p:cNvPr id="7" name="TextBox 6">
            <a:extLst>
              <a:ext uri="{FF2B5EF4-FFF2-40B4-BE49-F238E27FC236}">
                <a16:creationId xmlns:a16="http://schemas.microsoft.com/office/drawing/2014/main" id="{8B568742-73DD-B993-F78A-33C1D1924602}"/>
              </a:ext>
            </a:extLst>
          </p:cNvPr>
          <p:cNvSpPr txBox="1"/>
          <p:nvPr/>
        </p:nvSpPr>
        <p:spPr>
          <a:xfrm>
            <a:off x="283840" y="4327936"/>
            <a:ext cx="6172200"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p>
          <a:p>
            <a:r>
              <a:rPr lang="en-IN" dirty="0">
                <a:latin typeface="Liberation Mono"/>
              </a:rPr>
              <a:t>);</a:t>
            </a:r>
          </a:p>
        </p:txBody>
      </p:sp>
      <p:sp>
        <p:nvSpPr>
          <p:cNvPr id="9" name="TextBox 8">
            <a:extLst>
              <a:ext uri="{FF2B5EF4-FFF2-40B4-BE49-F238E27FC236}">
                <a16:creationId xmlns:a16="http://schemas.microsoft.com/office/drawing/2014/main" id="{2144C0CD-FDF4-6B87-AB99-3E8B349114D0}"/>
              </a:ext>
            </a:extLst>
          </p:cNvPr>
          <p:cNvSpPr txBox="1"/>
          <p:nvPr/>
        </p:nvSpPr>
        <p:spPr>
          <a:xfrm>
            <a:off x="6168008" y="4327936"/>
            <a:ext cx="5328592" cy="1477328"/>
          </a:xfrm>
          <a:prstGeom prst="rect">
            <a:avLst/>
          </a:prstGeom>
          <a:noFill/>
        </p:spPr>
        <p:txBody>
          <a:bodyPr wrap="square">
            <a:spAutoFit/>
          </a:bodyPr>
          <a:lstStyle>
            <a:defPPr>
              <a:defRPr lang="en-US"/>
            </a:defPPr>
            <a:lvl1pPr marL="285750" indent="-285750">
              <a:buFont typeface="Arial" panose="020B0604020202020204" pitchFamily="34" charset="0"/>
              <a:buChar char="•"/>
              <a:defRPr>
                <a:solidFill>
                  <a:srgbClr val="0077AA"/>
                </a:solidFill>
                <a:latin typeface="Liberation Mono"/>
                <a:cs typeface="Arial" panose="020B0604020202020204" pitchFamily="34" charset="0"/>
              </a:defRPr>
            </a:lvl1pPr>
          </a:lstStyle>
          <a:p>
            <a:r>
              <a:rPr lang="en-IN" dirty="0"/>
              <a:t>CREATE TABLE </a:t>
            </a:r>
            <a:r>
              <a:rPr lang="en-IN" dirty="0">
                <a:solidFill>
                  <a:schemeClr val="tx1"/>
                </a:solidFill>
                <a:cs typeface="+mn-cs"/>
              </a:rPr>
              <a:t>cities</a:t>
            </a:r>
            <a:r>
              <a:rPr lang="en-IN" dirty="0"/>
              <a:t> (</a:t>
            </a:r>
          </a:p>
          <a:p>
            <a:pPr marL="0" indent="0">
              <a:buNone/>
            </a:pPr>
            <a:r>
              <a:rPr lang="en-IN" dirty="0"/>
              <a:t>         </a:t>
            </a:r>
            <a:r>
              <a:rPr lang="en-IN" dirty="0">
                <a:solidFill>
                  <a:schemeClr val="tx1"/>
                </a:solidFill>
                <a:cs typeface="+mn-cs"/>
              </a:rPr>
              <a:t>cityID</a:t>
            </a:r>
            <a:r>
              <a:rPr lang="en-IN" dirty="0"/>
              <a:t> </a:t>
            </a:r>
            <a:r>
              <a:rPr lang="en-IN" dirty="0">
                <a:solidFill>
                  <a:srgbClr val="834689"/>
                </a:solidFill>
              </a:rPr>
              <a:t>INT</a:t>
            </a:r>
            <a:r>
              <a:rPr lang="en-IN" dirty="0"/>
              <a:t> </a:t>
            </a:r>
            <a:r>
              <a:rPr lang="en-IN" dirty="0">
                <a:solidFill>
                  <a:srgbClr val="C00000"/>
                </a:solidFill>
              </a:rPr>
              <a:t>PRIMARY</a:t>
            </a:r>
            <a:r>
              <a:rPr lang="en-IN" dirty="0"/>
              <a:t> </a:t>
            </a:r>
            <a:r>
              <a:rPr lang="en-IN" dirty="0">
                <a:solidFill>
                  <a:srgbClr val="C00000"/>
                </a:solidFill>
              </a:rPr>
              <a:t>KEY</a:t>
            </a:r>
            <a:r>
              <a:rPr lang="en-IN" dirty="0">
                <a:solidFill>
                  <a:schemeClr val="tx1"/>
                </a:solidFill>
                <a:cs typeface="+mn-cs"/>
              </a:rPr>
              <a:t>,</a:t>
            </a:r>
          </a:p>
          <a:p>
            <a:pPr marL="0" indent="0">
              <a:buNone/>
            </a:pPr>
            <a:r>
              <a:rPr lang="en-IN" dirty="0"/>
              <a:t>         </a:t>
            </a:r>
            <a:r>
              <a:rPr lang="en-IN" dirty="0">
                <a:solidFill>
                  <a:schemeClr val="tx1"/>
                </a:solidFill>
                <a:cs typeface="+mn-cs"/>
              </a:rPr>
              <a:t>cityName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t>         </a:t>
            </a:r>
            <a:r>
              <a:rPr lang="en-IN" dirty="0">
                <a:solidFill>
                  <a:schemeClr val="tx1"/>
                </a:solidFill>
                <a:cs typeface="+mn-cs"/>
              </a:rPr>
              <a:t>state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solidFill>
                  <a:schemeClr val="tx1"/>
                </a:solidFill>
                <a:cs typeface="+mn-cs"/>
              </a:rPr>
              <a:t>);</a:t>
            </a:r>
          </a:p>
        </p:txBody>
      </p:sp>
      <p:sp>
        <p:nvSpPr>
          <p:cNvPr id="4" name="TextBox 3">
            <a:extLst>
              <a:ext uri="{FF2B5EF4-FFF2-40B4-BE49-F238E27FC236}">
                <a16:creationId xmlns:a16="http://schemas.microsoft.com/office/drawing/2014/main" id="{DBB4B62D-35AC-2BF7-4CEB-9AD0EB3AFA79}"/>
              </a:ext>
            </a:extLst>
          </p:cNvPr>
          <p:cNvSpPr txBox="1"/>
          <p:nvPr/>
        </p:nvSpPr>
        <p:spPr>
          <a:xfrm>
            <a:off x="5591944" y="1228487"/>
            <a:ext cx="6360151" cy="1938992"/>
          </a:xfrm>
          <a:prstGeom prst="rect">
            <a:avLst/>
          </a:prstGeom>
          <a:noFill/>
        </p:spPr>
        <p:txBody>
          <a:bodyPr wrap="square">
            <a:spAutoFit/>
          </a:bodyPr>
          <a:lstStyle/>
          <a:p>
            <a:r>
              <a:rPr lang="en-IN" sz="2000" dirty="0">
                <a:latin typeface="Liberation Mono"/>
              </a:rPr>
              <a:t>customerID → cityID </a:t>
            </a:r>
          </a:p>
          <a:p>
            <a:r>
              <a:rPr lang="en-IN" sz="2000" dirty="0">
                <a:latin typeface="Liberation Mono"/>
              </a:rPr>
              <a:t>cityID → cityName, state</a:t>
            </a:r>
          </a:p>
          <a:p>
            <a:endParaRPr lang="en-IN" sz="2000" dirty="0">
              <a:latin typeface="Liberation Mono"/>
            </a:endParaRPr>
          </a:p>
          <a:p>
            <a:r>
              <a:rPr lang="en-IN" sz="2000" dirty="0">
                <a:latin typeface="Liberation Mono"/>
              </a:rPr>
              <a:t>customerID → cityName, state (via cityID)</a:t>
            </a:r>
          </a:p>
          <a:p>
            <a:endParaRPr lang="en-IN" sz="2000" dirty="0">
              <a:latin typeface="Liberation Mono"/>
            </a:endParaRPr>
          </a:p>
          <a:p>
            <a:r>
              <a:rPr lang="en-IN" sz="2000" dirty="0">
                <a:latin typeface="Palatino Linotype" panose="02040502050505030304" pitchFamily="18" charset="0"/>
              </a:rPr>
              <a:t>So:- </a:t>
            </a:r>
            <a:r>
              <a:rPr lang="en-IN" sz="2000" i="1" dirty="0">
                <a:solidFill>
                  <a:srgbClr val="FF0000"/>
                </a:solidFill>
                <a:latin typeface="Palatino Linotype" panose="02040502050505030304" pitchFamily="18" charset="0"/>
                <a:cs typeface="Arial" pitchFamily="34" charset="0"/>
              </a:rPr>
              <a:t>This is Transitive Dependency</a:t>
            </a:r>
          </a:p>
        </p:txBody>
      </p:sp>
    </p:spTree>
    <p:extLst>
      <p:ext uri="{BB962C8B-B14F-4D97-AF65-F5344CB8AC3E}">
        <p14:creationId xmlns:p14="http://schemas.microsoft.com/office/powerpoint/2010/main" val="458505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4" grpId="0"/>
    </p:bldLst>
  </p:timing>
</p:sld>
</file>

<file path=ppt/slides/slide1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43812AA-05B4-CA59-5F30-3E4AC8562C78}"/>
              </a:ext>
            </a:extLst>
          </p:cNvPr>
          <p:cNvPicPr>
            <a:picLocks noChangeAspect="1"/>
          </p:cNvPicPr>
          <p:nvPr/>
        </p:nvPicPr>
        <p:blipFill>
          <a:blip r:embed="rId2"/>
          <a:stretch>
            <a:fillRect/>
          </a:stretch>
        </p:blipFill>
        <p:spPr>
          <a:xfrm>
            <a:off x="3791744" y="3435808"/>
            <a:ext cx="8286514" cy="3305560"/>
          </a:xfrm>
          <a:prstGeom prst="rect">
            <a:avLst/>
          </a:prstGeom>
        </p:spPr>
      </p:pic>
      <p:sp>
        <p:nvSpPr>
          <p:cNvPr id="5" name="Rectangle 4">
            <a:extLst>
              <a:ext uri="{FF2B5EF4-FFF2-40B4-BE49-F238E27FC236}">
                <a16:creationId xmlns:a16="http://schemas.microsoft.com/office/drawing/2014/main" id="{70E66F71-510C-ED31-168C-64589A0015B9}"/>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functional dependency</a:t>
            </a:r>
            <a:endParaRPr lang="en-IN" sz="3200" i="1" dirty="0">
              <a:solidFill>
                <a:srgbClr val="FF9900"/>
              </a:solidFill>
              <a:latin typeface="Arial" pitchFamily="34" charset="0"/>
              <a:cs typeface="Arial" pitchFamily="34" charset="0"/>
            </a:endParaRPr>
          </a:p>
        </p:txBody>
      </p:sp>
      <p:graphicFrame>
        <p:nvGraphicFramePr>
          <p:cNvPr id="6" name="Table 6">
            <a:extLst>
              <a:ext uri="{FF2B5EF4-FFF2-40B4-BE49-F238E27FC236}">
                <a16:creationId xmlns:a16="http://schemas.microsoft.com/office/drawing/2014/main" id="{37BCEA27-CF09-FE10-8FED-A433FB37A6EC}"/>
              </a:ext>
            </a:extLst>
          </p:cNvPr>
          <p:cNvGraphicFramePr>
            <a:graphicFrameLocks noGrp="1"/>
          </p:cNvGraphicFramePr>
          <p:nvPr>
            <p:extLst>
              <p:ext uri="{D42A27DB-BD31-4B8C-83A1-F6EECF244321}">
                <p14:modId xmlns:p14="http://schemas.microsoft.com/office/powerpoint/2010/main" val="2946082272"/>
              </p:ext>
            </p:extLst>
          </p:nvPr>
        </p:nvGraphicFramePr>
        <p:xfrm>
          <a:off x="119336" y="116633"/>
          <a:ext cx="6408712" cy="3291840"/>
        </p:xfrm>
        <a:graphic>
          <a:graphicData uri="http://schemas.openxmlformats.org/drawingml/2006/table">
            <a:tbl>
              <a:tblPr firstRow="1" bandRow="1">
                <a:tableStyleId>{5940675A-B579-460E-94D1-54222C63F5DA}</a:tableStyleId>
              </a:tblPr>
              <a:tblGrid>
                <a:gridCol w="1602178">
                  <a:extLst>
                    <a:ext uri="{9D8B030D-6E8A-4147-A177-3AD203B41FA5}">
                      <a16:colId xmlns:a16="http://schemas.microsoft.com/office/drawing/2014/main" val="313995797"/>
                    </a:ext>
                  </a:extLst>
                </a:gridCol>
                <a:gridCol w="1602178">
                  <a:extLst>
                    <a:ext uri="{9D8B030D-6E8A-4147-A177-3AD203B41FA5}">
                      <a16:colId xmlns:a16="http://schemas.microsoft.com/office/drawing/2014/main" val="2291530205"/>
                    </a:ext>
                  </a:extLst>
                </a:gridCol>
                <a:gridCol w="1442375">
                  <a:extLst>
                    <a:ext uri="{9D8B030D-6E8A-4147-A177-3AD203B41FA5}">
                      <a16:colId xmlns:a16="http://schemas.microsoft.com/office/drawing/2014/main" val="3000904598"/>
                    </a:ext>
                  </a:extLst>
                </a:gridCol>
                <a:gridCol w="1761981">
                  <a:extLst>
                    <a:ext uri="{9D8B030D-6E8A-4147-A177-3AD203B41FA5}">
                      <a16:colId xmlns:a16="http://schemas.microsoft.com/office/drawing/2014/main" val="1471476859"/>
                    </a:ext>
                  </a:extLst>
                </a:gridCol>
              </a:tblGrid>
              <a:tr h="192021">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1</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X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U/A</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147046622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2</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P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Comey</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3374745766"/>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3</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Q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Drama</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49377921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4</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Thriller</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608809619"/>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5</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4014576248"/>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6</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Y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86400815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7</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571582971"/>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8</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887308790"/>
                  </a:ext>
                </a:extLst>
              </a:tr>
            </a:tbl>
          </a:graphicData>
        </a:graphic>
      </p:graphicFrame>
      <p:sp>
        <p:nvSpPr>
          <p:cNvPr id="7" name="TextBox 6">
            <a:extLst>
              <a:ext uri="{FF2B5EF4-FFF2-40B4-BE49-F238E27FC236}">
                <a16:creationId xmlns:a16="http://schemas.microsoft.com/office/drawing/2014/main" id="{C84AB4E9-231B-69CD-78D5-E5ECEF0C703D}"/>
              </a:ext>
            </a:extLst>
          </p:cNvPr>
          <p:cNvSpPr txBox="1"/>
          <p:nvPr/>
        </p:nvSpPr>
        <p:spPr>
          <a:xfrm>
            <a:off x="113742" y="3989963"/>
            <a:ext cx="3678002" cy="2031325"/>
          </a:xfrm>
          <a:prstGeom prst="rect">
            <a:avLst/>
          </a:prstGeom>
          <a:noFill/>
        </p:spPr>
        <p:txBody>
          <a:bodyPr wrap="square">
            <a:spAutoFit/>
          </a:bodyPr>
          <a:lstStyle/>
          <a:p>
            <a:r>
              <a:rPr lang="en-IN" sz="2100" dirty="0">
                <a:latin typeface="Arial" panose="020B0604020202020204" pitchFamily="34" charset="0"/>
                <a:cs typeface="Arial" panose="020B0604020202020204" pitchFamily="34" charset="0"/>
              </a:rPr>
              <a:t>In a relation R, a functional dependency X → Y means: If two rows have the same value for attribute X, then they must also have the same value for attribute Y.</a:t>
            </a:r>
          </a:p>
        </p:txBody>
      </p:sp>
    </p:spTree>
    <p:extLst>
      <p:ext uri="{BB962C8B-B14F-4D97-AF65-F5344CB8AC3E}">
        <p14:creationId xmlns:p14="http://schemas.microsoft.com/office/powerpoint/2010/main" val="2724737787"/>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C6BE433-FB3B-0AE6-4DED-91B149A8C936}"/>
              </a:ext>
            </a:extLst>
          </p:cNvPr>
          <p:cNvSpPr txBox="1"/>
          <p:nvPr/>
        </p:nvSpPr>
        <p:spPr>
          <a:xfrm>
            <a:off x="263352" y="1744935"/>
            <a:ext cx="11794178" cy="5047536"/>
          </a:xfrm>
          <a:prstGeom prst="rect">
            <a:avLst/>
          </a:prstGeom>
          <a:noFill/>
        </p:spPr>
        <p:txBody>
          <a:bodyPr wrap="square">
            <a:spAutoFit/>
          </a:bodyPr>
          <a:lstStyle/>
          <a:p>
            <a:pPr algn="just"/>
            <a:r>
              <a:rPr lang="en-US" dirty="0">
                <a:solidFill>
                  <a:srgbClr val="000000"/>
                </a:solidFill>
                <a:latin typeface="Palatino Linotype" panose="02040502050505030304" pitchFamily="18" charset="0"/>
              </a:rPr>
              <a:t>R(X, Y, A, B, C)</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FD: {XY -&gt; A, A -&gt; B, Y -&gt; C }.  Find partial dependency.</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Where: </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XY is the only candidate key.</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key attributes =X, Y and</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non-key attributes = A, B, C.</a:t>
            </a:r>
          </a:p>
          <a:p>
            <a:pPr algn="just"/>
            <a:endParaRPr lang="en-US" b="0" i="0" dirty="0">
              <a:solidFill>
                <a:srgbClr val="000000"/>
              </a:solidFill>
              <a:effectLst/>
              <a:latin typeface="Palatino Linotype" panose="02040502050505030304" pitchFamily="18" charset="0"/>
            </a:endParaRPr>
          </a:p>
          <a:p>
            <a:pPr algn="just"/>
            <a:endParaRPr lang="en-US">
              <a:solidFill>
                <a:srgbClr val="000000"/>
              </a:solidFill>
              <a:latin typeface="Palatino Linotype" panose="02040502050505030304" pitchFamily="18" charset="0"/>
            </a:endParaRPr>
          </a:p>
          <a:p>
            <a:pPr algn="just"/>
            <a:endParaRPr lang="en-US" b="0" i="0" dirty="0">
              <a:solidFill>
                <a:srgbClr val="000000"/>
              </a:solidFill>
              <a:effectLst/>
              <a:latin typeface="Palatino Linotype" panose="02040502050505030304" pitchFamily="18" charset="0"/>
            </a:endParaRPr>
          </a:p>
          <a:p>
            <a:pPr algn="just"/>
            <a:r>
              <a:rPr lang="en-US" sz="2400" dirty="0">
                <a:solidFill>
                  <a:srgbClr val="FF0000"/>
                </a:solidFill>
                <a:latin typeface="Palatino Linotype" panose="02040502050505030304" pitchFamily="18" charset="0"/>
                <a:cs typeface="Arial" panose="020B0604020202020204" pitchFamily="34" charset="0"/>
              </a:rPr>
              <a:t>Note:</a:t>
            </a:r>
          </a:p>
          <a:p>
            <a:pPr algn="just"/>
            <a:endParaRPr lang="en-US" sz="400" dirty="0">
              <a:solidFill>
                <a:srgbClr val="FF0000"/>
              </a:solidFill>
              <a:latin typeface="Palatino Linotype" panose="02040502050505030304" pitchFamily="18" charset="0"/>
              <a:cs typeface="Arial" panose="020B0604020202020204" pitchFamily="34" charset="0"/>
            </a:endParaRPr>
          </a:p>
          <a:p>
            <a:pPr algn="just"/>
            <a:r>
              <a:rPr lang="en-US" b="1" i="0" dirty="0">
                <a:solidFill>
                  <a:srgbClr val="000000"/>
                </a:solidFill>
                <a:effectLst/>
                <a:latin typeface="Palatino Linotype" panose="02040502050505030304" pitchFamily="18" charset="0"/>
              </a:rPr>
              <a:t>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prime attributes </a:t>
            </a:r>
            <a:r>
              <a:rPr lang="en-US" b="0" i="0" dirty="0">
                <a:solidFill>
                  <a:srgbClr val="000000"/>
                </a:solidFill>
                <a:effectLst/>
                <a:latin typeface="Palatino Linotype" panose="02040502050505030304" pitchFamily="18" charset="0"/>
              </a:rPr>
              <a:t>and </a:t>
            </a:r>
            <a:r>
              <a:rPr lang="en-US" b="1" i="0" dirty="0">
                <a:solidFill>
                  <a:srgbClr val="000000"/>
                </a:solidFill>
                <a:effectLst/>
                <a:latin typeface="Palatino Linotype" panose="02040502050505030304" pitchFamily="18" charset="0"/>
              </a:rPr>
              <a:t>non-key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non-prime attributes</a:t>
            </a:r>
            <a:r>
              <a:rPr lang="en-US" b="0" i="0" dirty="0">
                <a:solidFill>
                  <a:srgbClr val="000000"/>
                </a:solidFill>
                <a:effectLst/>
                <a:latin typeface="Palatino Linotype" panose="02040502050505030304" pitchFamily="18" charset="0"/>
              </a:rPr>
              <a:t>.</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XY -&gt; A is not a partial dependency // it is full dependency.</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A -&gt; B is not a partial dependency //</a:t>
            </a:r>
            <a:r>
              <a:rPr lang="en-US" dirty="0">
                <a:solidFill>
                  <a:srgbClr val="000000"/>
                </a:solidFill>
                <a:latin typeface="Palatino Linotype" panose="02040502050505030304" pitchFamily="18" charset="0"/>
              </a:rPr>
              <a:t> // it is a transitive dependency</a:t>
            </a:r>
            <a:endParaRPr lang="en-US" b="0" i="0" dirty="0">
              <a:solidFill>
                <a:srgbClr val="000000"/>
              </a:solidFill>
              <a:effectLst/>
              <a:latin typeface="Palatino Linotype" panose="02040502050505030304" pitchFamily="18" charset="0"/>
            </a:endParaRP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Y -&gt; C is a partial dependency, since Y is a part of the candidate key and C is a non-key attribute.</a:t>
            </a:r>
          </a:p>
        </p:txBody>
      </p:sp>
      <p:sp>
        <p:nvSpPr>
          <p:cNvPr id="2" name="Rectangle 1">
            <a:extLst>
              <a:ext uri="{FF2B5EF4-FFF2-40B4-BE49-F238E27FC236}">
                <a16:creationId xmlns:a16="http://schemas.microsoft.com/office/drawing/2014/main" id="{7D831249-4C09-23CE-DE25-628C0062598C}"/>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34184A5F-3DF9-DD3C-BFE9-C32C604C5B70}"/>
              </a:ext>
            </a:extLst>
          </p:cNvPr>
          <p:cNvSpPr txBox="1"/>
          <p:nvPr/>
        </p:nvSpPr>
        <p:spPr>
          <a:xfrm>
            <a:off x="278484" y="548680"/>
            <a:ext cx="11794179" cy="707886"/>
          </a:xfrm>
          <a:prstGeom prst="rect">
            <a:avLst/>
          </a:prstGeom>
          <a:noFill/>
        </p:spPr>
        <p:txBody>
          <a:bodyPr wrap="square">
            <a:spAutoFit/>
          </a:bodyPr>
          <a:lstStyle/>
          <a:p>
            <a:r>
              <a:rPr lang="en-US" sz="2000" b="0" i="0" dirty="0">
                <a:solidFill>
                  <a:srgbClr val="333333"/>
                </a:solidFill>
                <a:effectLst/>
                <a:latin typeface="Palatino Linotype" panose="02040502050505030304" pitchFamily="18" charset="0"/>
              </a:rPr>
              <a:t>A partial dependency would occur whenever a non-prime attribute depends functionally on a part of the given candidate key. </a:t>
            </a:r>
            <a:endParaRPr lang="en-IN" sz="2000" dirty="0">
              <a:latin typeface="Palatino Linotype" panose="02040502050505030304" pitchFamily="18" charset="0"/>
            </a:endParaRPr>
          </a:p>
        </p:txBody>
      </p:sp>
      <p:graphicFrame>
        <p:nvGraphicFramePr>
          <p:cNvPr id="6" name="Table 6">
            <a:extLst>
              <a:ext uri="{FF2B5EF4-FFF2-40B4-BE49-F238E27FC236}">
                <a16:creationId xmlns:a16="http://schemas.microsoft.com/office/drawing/2014/main" id="{1F54C814-C6C4-1092-4340-CB246FCD8D9D}"/>
              </a:ext>
            </a:extLst>
          </p:cNvPr>
          <p:cNvGraphicFramePr>
            <a:graphicFrameLocks noGrp="1"/>
          </p:cNvGraphicFramePr>
          <p:nvPr>
            <p:extLst>
              <p:ext uri="{D42A27DB-BD31-4B8C-83A1-F6EECF244321}">
                <p14:modId xmlns:p14="http://schemas.microsoft.com/office/powerpoint/2010/main" val="1540815152"/>
              </p:ext>
            </p:extLst>
          </p:nvPr>
        </p:nvGraphicFramePr>
        <p:xfrm>
          <a:off x="5360159" y="1174498"/>
          <a:ext cx="6712505" cy="365760"/>
        </p:xfrm>
        <a:graphic>
          <a:graphicData uri="http://schemas.openxmlformats.org/drawingml/2006/table">
            <a:tbl>
              <a:tblPr firstRow="1" bandRow="1">
                <a:tableStyleId>{5940675A-B579-460E-94D1-54222C63F5DA}</a:tableStyleId>
              </a:tblPr>
              <a:tblGrid>
                <a:gridCol w="1309866">
                  <a:extLst>
                    <a:ext uri="{9D8B030D-6E8A-4147-A177-3AD203B41FA5}">
                      <a16:colId xmlns:a16="http://schemas.microsoft.com/office/drawing/2014/main" val="313995797"/>
                    </a:ext>
                  </a:extLst>
                </a:gridCol>
                <a:gridCol w="1440160">
                  <a:extLst>
                    <a:ext uri="{9D8B030D-6E8A-4147-A177-3AD203B41FA5}">
                      <a16:colId xmlns:a16="http://schemas.microsoft.com/office/drawing/2014/main" val="2291530205"/>
                    </a:ext>
                  </a:extLst>
                </a:gridCol>
                <a:gridCol w="1512168">
                  <a:extLst>
                    <a:ext uri="{9D8B030D-6E8A-4147-A177-3AD203B41FA5}">
                      <a16:colId xmlns:a16="http://schemas.microsoft.com/office/drawing/2014/main" val="3000904598"/>
                    </a:ext>
                  </a:extLst>
                </a:gridCol>
                <a:gridCol w="1080120">
                  <a:extLst>
                    <a:ext uri="{9D8B030D-6E8A-4147-A177-3AD203B41FA5}">
                      <a16:colId xmlns:a16="http://schemas.microsoft.com/office/drawing/2014/main" val="1471476859"/>
                    </a:ext>
                  </a:extLst>
                </a:gridCol>
                <a:gridCol w="1370191">
                  <a:extLst>
                    <a:ext uri="{9D8B030D-6E8A-4147-A177-3AD203B41FA5}">
                      <a16:colId xmlns:a16="http://schemas.microsoft.com/office/drawing/2014/main" val="1083445934"/>
                    </a:ext>
                  </a:extLst>
                </a:gridCol>
              </a:tblGrid>
              <a:tr h="301352">
                <a:tc>
                  <a:txBody>
                    <a:bodyPr/>
                    <a:lstStyle/>
                    <a:p>
                      <a:pPr algn="ctr"/>
                      <a:r>
                        <a:rPr lang="en-IN" b="0" dirty="0">
                          <a:solidFill>
                            <a:srgbClr val="C00000"/>
                          </a:solidFill>
                          <a:effectLst/>
                          <a:latin typeface="Palatino Linotype" panose="02040502050505030304" pitchFamily="18" charset="0"/>
                        </a:rPr>
                        <a:t>BranchID</a:t>
                      </a:r>
                      <a:endParaRPr lang="en-IN" b="0" dirty="0">
                        <a:solidFill>
                          <a:srgbClr val="C00000"/>
                        </a:solidFill>
                      </a:endParaRPr>
                    </a:p>
                  </a:txBody>
                  <a:tcPr/>
                </a:tc>
                <a:tc>
                  <a:txBody>
                    <a:bodyPr/>
                    <a:lstStyle/>
                    <a:p>
                      <a:pPr algn="ctr"/>
                      <a:r>
                        <a:rPr kumimoji="0" lang="en-IN" b="0" kern="1200" dirty="0">
                          <a:solidFill>
                            <a:srgbClr val="C00000"/>
                          </a:solidFill>
                          <a:effectLst/>
                          <a:latin typeface="Palatino Linotype" panose="02040502050505030304" pitchFamily="18" charset="0"/>
                          <a:ea typeface="+mn-ea"/>
                          <a:cs typeface="+mn-cs"/>
                        </a:rPr>
                        <a:t>AccountNo</a:t>
                      </a: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holderName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Pin code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IN" b="0" kern="1200" dirty="0">
                          <a:solidFill>
                            <a:schemeClr val="tx1"/>
                          </a:solidFill>
                          <a:effectLst/>
                          <a:latin typeface="Palatino Linotype" panose="02040502050505030304" pitchFamily="18" charset="0"/>
                          <a:ea typeface="+mn-ea"/>
                          <a:cs typeface="+mn-cs"/>
                        </a:rPr>
                        <a:t>Area</a:t>
                      </a:r>
                    </a:p>
                  </a:txBody>
                  <a:tcPr/>
                </a:tc>
                <a:extLst>
                  <a:ext uri="{0D108BD9-81ED-4DB2-BD59-A6C34878D82A}">
                    <a16:rowId xmlns:a16="http://schemas.microsoft.com/office/drawing/2014/main" val="2732827187"/>
                  </a:ext>
                </a:extLst>
              </a:tr>
            </a:tbl>
          </a:graphicData>
        </a:graphic>
      </p:graphicFrame>
      <p:graphicFrame>
        <p:nvGraphicFramePr>
          <p:cNvPr id="10" name="Table 10">
            <a:extLst>
              <a:ext uri="{FF2B5EF4-FFF2-40B4-BE49-F238E27FC236}">
                <a16:creationId xmlns:a16="http://schemas.microsoft.com/office/drawing/2014/main" id="{93384A86-9D9B-4ADA-C6D8-5CAADAB35580}"/>
              </a:ext>
            </a:extLst>
          </p:cNvPr>
          <p:cNvGraphicFramePr>
            <a:graphicFrameLocks noGrp="1"/>
          </p:cNvGraphicFramePr>
          <p:nvPr>
            <p:extLst>
              <p:ext uri="{D42A27DB-BD31-4B8C-83A1-F6EECF244321}">
                <p14:modId xmlns:p14="http://schemas.microsoft.com/office/powerpoint/2010/main" val="1862963645"/>
              </p:ext>
            </p:extLst>
          </p:nvPr>
        </p:nvGraphicFramePr>
        <p:xfrm>
          <a:off x="5360160" y="1815546"/>
          <a:ext cx="6712504"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gridCol w="1678126">
                  <a:extLst>
                    <a:ext uri="{9D8B030D-6E8A-4147-A177-3AD203B41FA5}">
                      <a16:colId xmlns:a16="http://schemas.microsoft.com/office/drawing/2014/main" val="753677000"/>
                    </a:ext>
                  </a:extLst>
                </a:gridCol>
                <a:gridCol w="1678126">
                  <a:extLst>
                    <a:ext uri="{9D8B030D-6E8A-4147-A177-3AD203B41FA5}">
                      <a16:colId xmlns:a16="http://schemas.microsoft.com/office/drawing/2014/main" val="3873923828"/>
                    </a:ext>
                  </a:extLst>
                </a:gridCol>
              </a:tblGrid>
              <a:tr h="370840">
                <a:tc>
                  <a:txBody>
                    <a:bodyPr/>
                    <a:lstStyle/>
                    <a:p>
                      <a:r>
                        <a:rPr lang="en-IN" b="0" dirty="0">
                          <a:solidFill>
                            <a:srgbClr val="C00000"/>
                          </a:solidFill>
                          <a:effectLst/>
                          <a:latin typeface="Palatino Linotype" panose="02040502050505030304" pitchFamily="18" charset="0"/>
                        </a:rPr>
                        <a:t>BranchID</a:t>
                      </a:r>
                      <a:endParaRPr lang="en-IN" dirty="0"/>
                    </a:p>
                  </a:txBody>
                  <a:tcPr/>
                </a:tc>
                <a:tc>
                  <a:txBody>
                    <a:bodyPr/>
                    <a:lstStyle/>
                    <a:p>
                      <a:r>
                        <a:rPr kumimoji="0" lang="en-IN" b="0" kern="1200" dirty="0">
                          <a:solidFill>
                            <a:srgbClr val="C00000"/>
                          </a:solidFill>
                          <a:effectLst/>
                          <a:latin typeface="Palatino Linotype" panose="02040502050505030304" pitchFamily="18" charset="0"/>
                          <a:ea typeface="+mn-ea"/>
                          <a:cs typeface="+mn-cs"/>
                        </a:rPr>
                        <a:t>AccountNo</a:t>
                      </a:r>
                      <a:endParaRPr lang="en-IN" dirty="0"/>
                    </a:p>
                  </a:txBody>
                  <a:tcPr/>
                </a:tc>
                <a:tc>
                  <a:txBody>
                    <a:bodyPr/>
                    <a:lstStyle/>
                    <a:p>
                      <a:r>
                        <a:rPr kumimoji="0" lang="en-US" b="0" kern="1200" dirty="0">
                          <a:solidFill>
                            <a:schemeClr val="tx1"/>
                          </a:solidFill>
                          <a:effectLst/>
                          <a:latin typeface="Palatino Linotype" panose="02040502050505030304" pitchFamily="18" charset="0"/>
                          <a:ea typeface="+mn-ea"/>
                          <a:cs typeface="+mn-cs"/>
                        </a:rPr>
                        <a:t>holderName</a:t>
                      </a:r>
                      <a:endParaRPr lang="en-IN" dirty="0"/>
                    </a:p>
                  </a:txBody>
                  <a:tcPr/>
                </a:tc>
                <a:tc>
                  <a:txBody>
                    <a:bodyPr/>
                    <a:lstStyle/>
                    <a:p>
                      <a:r>
                        <a:rPr lang="en-US" dirty="0"/>
                        <a:t>PincodeID</a:t>
                      </a:r>
                      <a:endParaRPr lang="en-IN" dirty="0"/>
                    </a:p>
                  </a:txBody>
                  <a:tcPr/>
                </a:tc>
                <a:extLst>
                  <a:ext uri="{0D108BD9-81ED-4DB2-BD59-A6C34878D82A}">
                    <a16:rowId xmlns:a16="http://schemas.microsoft.com/office/drawing/2014/main" val="2349411340"/>
                  </a:ext>
                </a:extLst>
              </a:tr>
            </a:tbl>
          </a:graphicData>
        </a:graphic>
      </p:graphicFrame>
      <p:graphicFrame>
        <p:nvGraphicFramePr>
          <p:cNvPr id="11" name="Table 10">
            <a:extLst>
              <a:ext uri="{FF2B5EF4-FFF2-40B4-BE49-F238E27FC236}">
                <a16:creationId xmlns:a16="http://schemas.microsoft.com/office/drawing/2014/main" id="{4199C13B-A337-5620-15A1-2D1C22C77096}"/>
              </a:ext>
            </a:extLst>
          </p:cNvPr>
          <p:cNvGraphicFramePr>
            <a:graphicFrameLocks noGrp="1"/>
          </p:cNvGraphicFramePr>
          <p:nvPr>
            <p:extLst>
              <p:ext uri="{D42A27DB-BD31-4B8C-83A1-F6EECF244321}">
                <p14:modId xmlns:p14="http://schemas.microsoft.com/office/powerpoint/2010/main" val="200166975"/>
              </p:ext>
            </p:extLst>
          </p:nvPr>
        </p:nvGraphicFramePr>
        <p:xfrm>
          <a:off x="8716412" y="2266072"/>
          <a:ext cx="3356252"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tblGrid>
              <a:tr h="370840">
                <a:tc>
                  <a:txBody>
                    <a:bodyPr/>
                    <a:lstStyle/>
                    <a:p>
                      <a:r>
                        <a:rPr kumimoji="0" lang="en-US" b="0" kern="1200" dirty="0">
                          <a:solidFill>
                            <a:srgbClr val="C00000"/>
                          </a:solidFill>
                          <a:effectLst/>
                          <a:latin typeface="Palatino Linotype" panose="02040502050505030304" pitchFamily="18" charset="0"/>
                          <a:ea typeface="+mn-ea"/>
                          <a:cs typeface="+mn-cs"/>
                        </a:rPr>
                        <a:t>Pincode</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r>
                        <a:rPr kumimoji="0" lang="en-IN" b="0" kern="1200" dirty="0">
                          <a:solidFill>
                            <a:schemeClr val="tx1"/>
                          </a:solidFill>
                          <a:effectLst/>
                          <a:latin typeface="Palatino Linotype" panose="02040502050505030304" pitchFamily="18" charset="0"/>
                          <a:ea typeface="+mn-ea"/>
                          <a:cs typeface="+mn-cs"/>
                        </a:rPr>
                        <a:t>Area</a:t>
                      </a:r>
                      <a:endParaRPr lang="en-IN" dirty="0"/>
                    </a:p>
                  </a:txBody>
                  <a:tcPr/>
                </a:tc>
                <a:extLst>
                  <a:ext uri="{0D108BD9-81ED-4DB2-BD59-A6C34878D82A}">
                    <a16:rowId xmlns:a16="http://schemas.microsoft.com/office/drawing/2014/main" val="2349411340"/>
                  </a:ext>
                </a:extLst>
              </a:tr>
            </a:tbl>
          </a:graphicData>
        </a:graphic>
      </p:graphicFrame>
      <p:sp>
        <p:nvSpPr>
          <p:cNvPr id="4" name="TextBox 3">
            <a:extLst>
              <a:ext uri="{FF2B5EF4-FFF2-40B4-BE49-F238E27FC236}">
                <a16:creationId xmlns:a16="http://schemas.microsoft.com/office/drawing/2014/main" id="{95240399-3949-2C2E-4DF3-533D0ACA7EB7}"/>
              </a:ext>
            </a:extLst>
          </p:cNvPr>
          <p:cNvSpPr txBox="1"/>
          <p:nvPr/>
        </p:nvSpPr>
        <p:spPr>
          <a:xfrm>
            <a:off x="5920634" y="3717032"/>
            <a:ext cx="6261868" cy="923330"/>
          </a:xfrm>
          <a:prstGeom prst="rect">
            <a:avLst/>
          </a:prstGeom>
          <a:noFill/>
        </p:spPr>
        <p:txBody>
          <a:bodyPr wrap="square">
            <a:spAutoFit/>
          </a:bodyPr>
          <a:lstStyle/>
          <a:p>
            <a:r>
              <a:rPr lang="en-IN" dirty="0">
                <a:latin typeface="Liberation Mono"/>
              </a:rPr>
              <a:t>{studentID } -&gt; </a:t>
            </a:r>
            <a:r>
              <a:rPr kumimoji="0" lang="en-US" b="0" kern="1200" dirty="0">
                <a:solidFill>
                  <a:schemeClr val="tx1"/>
                </a:solidFill>
                <a:effectLst/>
                <a:latin typeface="Liberation Mono"/>
              </a:rPr>
              <a:t>studentName</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endParaRPr lang="en-IN" dirty="0">
              <a:solidFill>
                <a:srgbClr val="FF0000"/>
              </a:solidFill>
              <a:latin typeface="Liberation Mono"/>
            </a:endParaRPr>
          </a:p>
          <a:p>
            <a:r>
              <a:rPr lang="en-IN" dirty="0">
                <a:latin typeface="Liberation Mono"/>
              </a:rPr>
              <a:t>{assignmentNo } -&gt; </a:t>
            </a:r>
            <a:r>
              <a:rPr kumimoji="0" lang="en-IN" b="0" kern="1200" dirty="0">
                <a:solidFill>
                  <a:schemeClr val="tx1"/>
                </a:solidFill>
                <a:effectLst/>
                <a:latin typeface="Liberation Mono"/>
              </a:rPr>
              <a:t>assignment</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p>
          <a:p>
            <a:r>
              <a:rPr lang="en-IN" dirty="0">
                <a:latin typeface="Liberation Mono"/>
              </a:rPr>
              <a:t>{studentID, assignmentNo } -&gt; </a:t>
            </a:r>
            <a:r>
              <a:rPr lang="en-US" dirty="0">
                <a:latin typeface="Liberation Mono"/>
              </a:rPr>
              <a:t>marks </a:t>
            </a:r>
            <a:r>
              <a:rPr lang="en-US" dirty="0">
                <a:solidFill>
                  <a:srgbClr val="FF0000"/>
                </a:solidFill>
                <a:latin typeface="Liberation Mono"/>
              </a:rPr>
              <a:t>// Full Dependency</a:t>
            </a:r>
          </a:p>
        </p:txBody>
      </p:sp>
      <p:sp>
        <p:nvSpPr>
          <p:cNvPr id="7" name="TextBox 6">
            <a:extLst>
              <a:ext uri="{FF2B5EF4-FFF2-40B4-BE49-F238E27FC236}">
                <a16:creationId xmlns:a16="http://schemas.microsoft.com/office/drawing/2014/main" id="{07E1DD82-71BC-E23E-F521-92E58BCD1371}"/>
              </a:ext>
            </a:extLst>
          </p:cNvPr>
          <p:cNvSpPr txBox="1"/>
          <p:nvPr/>
        </p:nvSpPr>
        <p:spPr>
          <a:xfrm>
            <a:off x="5360160" y="2965679"/>
            <a:ext cx="6712504" cy="646331"/>
          </a:xfrm>
          <a:prstGeom prst="rect">
            <a:avLst/>
          </a:prstGeom>
          <a:noFill/>
        </p:spPr>
        <p:txBody>
          <a:bodyPr wrap="square">
            <a:spAutoFit/>
          </a:bodyPr>
          <a:lstStyle/>
          <a:p>
            <a:r>
              <a:rPr lang="en-US" dirty="0">
                <a:latin typeface="Liberation Mono"/>
              </a:rPr>
              <a:t>Student (studentID, assignmentNo, studentName, assignment, marks)</a:t>
            </a:r>
            <a:br>
              <a:rPr lang="en-US" dirty="0">
                <a:latin typeface="Liberation Mono"/>
              </a:rPr>
            </a:b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(studentID, assignmentNo)</a:t>
            </a:r>
            <a:endParaRPr lang="en-IN" dirty="0">
              <a:latin typeface="Liberation Mono"/>
            </a:endParaRPr>
          </a:p>
        </p:txBody>
      </p:sp>
    </p:spTree>
    <p:extLst>
      <p:ext uri="{BB962C8B-B14F-4D97-AF65-F5344CB8AC3E}">
        <p14:creationId xmlns:p14="http://schemas.microsoft.com/office/powerpoint/2010/main" val="2482245212"/>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3D6CE01-6ABA-38E9-C9D3-D9889525E1E4}"/>
              </a:ext>
            </a:extLst>
          </p:cNvPr>
          <p:cNvSpPr txBox="1"/>
          <p:nvPr/>
        </p:nvSpPr>
        <p:spPr>
          <a:xfrm>
            <a:off x="213198" y="476672"/>
            <a:ext cx="39604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a:t>
            </a:r>
            <a:r>
              <a:rPr lang="en-IN" dirty="0">
                <a:latin typeface="Liberation Mono"/>
                <a:cs typeface="Arial" panose="020B0604020202020204" pitchFamily="34" charset="0"/>
              </a:rPr>
              <a:t>(</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 </a:t>
            </a:r>
          </a:p>
          <a:p>
            <a:r>
              <a:rPr lang="en-IN" dirty="0">
                <a:latin typeface="Liberation Mono"/>
              </a:rPr>
              <a:t>         orderDate </a:t>
            </a:r>
            <a:r>
              <a:rPr lang="en-IN" dirty="0">
                <a:solidFill>
                  <a:srgbClr val="834689"/>
                </a:solidFill>
                <a:latin typeface="Liberation Mono"/>
                <a:cs typeface="Arial" panose="020B0604020202020204" pitchFamily="34" charset="0"/>
              </a:rPr>
              <a:t>DATE,</a:t>
            </a:r>
            <a:endParaRPr lang="en-IN" dirty="0">
              <a:latin typeface="Liberation Mono"/>
            </a:endParaRP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100</a:t>
            </a:r>
            <a:r>
              <a:rPr lang="en-IN" dirty="0">
                <a:latin typeface="Liberation Mono"/>
                <a:cs typeface="Arial" panose="020B0604020202020204" pitchFamily="34" charset="0"/>
              </a:rPr>
              <a:t>)</a:t>
            </a:r>
            <a:r>
              <a:rPr lang="en-IN" dirty="0">
                <a:latin typeface="Liberation Mono"/>
              </a:rPr>
              <a:t>,</a:t>
            </a:r>
          </a:p>
          <a:p>
            <a:r>
              <a:rPr lang="en-IN" dirty="0">
                <a:latin typeface="Liberation Mono"/>
              </a:rPr>
              <a:t>         price </a:t>
            </a:r>
            <a:r>
              <a:rPr lang="en-IN" dirty="0">
                <a:solidFill>
                  <a:srgbClr val="834689"/>
                </a:solidFill>
                <a:latin typeface="Liberation Mono"/>
                <a:cs typeface="Arial" panose="020B0604020202020204" pitchFamily="34" charset="0"/>
              </a:rPr>
              <a:t>FLOAT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 KEY </a:t>
            </a:r>
            <a:r>
              <a:rPr lang="en-IN" dirty="0">
                <a:latin typeface="Liberation Mono"/>
                <a:cs typeface="Arial" panose="020B0604020202020204" pitchFamily="34" charset="0"/>
              </a:rPr>
              <a:t>(</a:t>
            </a:r>
            <a:r>
              <a:rPr lang="en-IN" dirty="0">
                <a:latin typeface="Liberation Mono"/>
              </a:rPr>
              <a:t>orderID, productID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5" name="Rectangle 4">
            <a:extLst>
              <a:ext uri="{FF2B5EF4-FFF2-40B4-BE49-F238E27FC236}">
                <a16:creationId xmlns:a16="http://schemas.microsoft.com/office/drawing/2014/main" id="{E1C0194F-F99F-6734-2E8E-5054AFD35296}"/>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F4D8DDDE-1F5F-F92E-0BB5-D314A3E9DB48}"/>
              </a:ext>
            </a:extLst>
          </p:cNvPr>
          <p:cNvSpPr txBox="1"/>
          <p:nvPr/>
        </p:nvSpPr>
        <p:spPr>
          <a:xfrm>
            <a:off x="119336" y="4061971"/>
            <a:ext cx="367240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products (</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price </a:t>
            </a:r>
            <a:r>
              <a:rPr lang="en-IN" dirty="0">
                <a:solidFill>
                  <a:srgbClr val="834689"/>
                </a:solidFill>
                <a:latin typeface="Liberation Mono"/>
                <a:cs typeface="Arial" panose="020B0604020202020204" pitchFamily="34" charset="0"/>
              </a:rPr>
              <a:t>FLOAT</a:t>
            </a:r>
            <a:endParaRPr lang="en-IN" dirty="0">
              <a:latin typeface="Liberation Mono"/>
            </a:endParaRPr>
          </a:p>
          <a:p>
            <a:r>
              <a:rPr lang="en-IN" dirty="0">
                <a:latin typeface="Liberation Mono"/>
              </a:rPr>
              <a:t>);</a:t>
            </a:r>
          </a:p>
        </p:txBody>
      </p:sp>
      <p:sp>
        <p:nvSpPr>
          <p:cNvPr id="9" name="TextBox 8">
            <a:extLst>
              <a:ext uri="{FF2B5EF4-FFF2-40B4-BE49-F238E27FC236}">
                <a16:creationId xmlns:a16="http://schemas.microsoft.com/office/drawing/2014/main" id="{715B3996-B102-C71C-CD79-50E5AE3A8F2B}"/>
              </a:ext>
            </a:extLst>
          </p:cNvPr>
          <p:cNvSpPr txBox="1"/>
          <p:nvPr/>
        </p:nvSpPr>
        <p:spPr>
          <a:xfrm>
            <a:off x="5807968" y="4061971"/>
            <a:ext cx="633670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order_details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(orderID, productID)</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(productID) </a:t>
            </a:r>
            <a:r>
              <a:rPr lang="en-IN" dirty="0">
                <a:solidFill>
                  <a:srgbClr val="C00000"/>
                </a:solidFill>
                <a:latin typeface="Liberation Mono"/>
                <a:cs typeface="Arial" panose="020B0604020202020204" pitchFamily="34" charset="0"/>
              </a:rPr>
              <a:t>REFERENCES</a:t>
            </a:r>
            <a:r>
              <a:rPr lang="en-IN" dirty="0">
                <a:latin typeface="Liberation Mono"/>
              </a:rPr>
              <a:t> products(productID)</a:t>
            </a:r>
            <a:r>
              <a:rPr lang="en-US" dirty="0">
                <a:latin typeface="Liberation Mono"/>
              </a:rPr>
              <a:t> ,</a:t>
            </a:r>
          </a:p>
          <a:p>
            <a:r>
              <a:rPr lang="en-US" dirty="0">
                <a:latin typeface="Liberation Mono"/>
              </a:rPr>
              <a:t>         </a:t>
            </a:r>
            <a:r>
              <a:rPr lang="en-US" dirty="0">
                <a:solidFill>
                  <a:srgbClr val="C00000"/>
                </a:solidFill>
                <a:latin typeface="Liberation Mono"/>
                <a:cs typeface="Arial" panose="020B0604020202020204" pitchFamily="34" charset="0"/>
              </a:rPr>
              <a:t>FOREIGN</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(orderID) </a:t>
            </a:r>
            <a:r>
              <a:rPr lang="en-US" dirty="0">
                <a:solidFill>
                  <a:srgbClr val="C00000"/>
                </a:solidFill>
                <a:latin typeface="Liberation Mono"/>
                <a:cs typeface="Arial" panose="020B0604020202020204" pitchFamily="34" charset="0"/>
              </a:rPr>
              <a:t>REFERENCES</a:t>
            </a:r>
            <a:r>
              <a:rPr lang="en-US" dirty="0">
                <a:latin typeface="Liberation Mono"/>
              </a:rPr>
              <a:t> orders(orderID)</a:t>
            </a:r>
            <a:endParaRPr lang="en-IN" dirty="0">
              <a:latin typeface="Liberation Mono"/>
            </a:endParaRPr>
          </a:p>
          <a:p>
            <a:r>
              <a:rPr lang="en-IN" dirty="0">
                <a:latin typeface="Liberation Mono"/>
              </a:rPr>
              <a:t>);</a:t>
            </a:r>
          </a:p>
        </p:txBody>
      </p:sp>
      <p:sp>
        <p:nvSpPr>
          <p:cNvPr id="8" name="TextBox 7">
            <a:extLst>
              <a:ext uri="{FF2B5EF4-FFF2-40B4-BE49-F238E27FC236}">
                <a16:creationId xmlns:a16="http://schemas.microsoft.com/office/drawing/2014/main" id="{20EE1812-13AA-1384-3363-4A79F40123BA}"/>
              </a:ext>
            </a:extLst>
          </p:cNvPr>
          <p:cNvSpPr txBox="1"/>
          <p:nvPr/>
        </p:nvSpPr>
        <p:spPr>
          <a:xfrm>
            <a:off x="213198" y="3100317"/>
            <a:ext cx="3384376" cy="461665"/>
          </a:xfrm>
          <a:prstGeom prst="rect">
            <a:avLst/>
          </a:prstGeom>
          <a:noFill/>
        </p:spPr>
        <p:txBody>
          <a:bodyPr wrap="square">
            <a:spAutoFit/>
          </a:bodyPr>
          <a:lstStyle>
            <a:defPPr>
              <a:defRPr lang="en-US"/>
            </a:defPPr>
            <a:lvl1pPr marL="285750" indent="-285750">
              <a:buFont typeface="Arial" panose="020B0604020202020204" pitchFamily="34" charset="0"/>
              <a:buChar char="•"/>
              <a:defRPr sz="2400">
                <a:latin typeface="Liberation Mono"/>
              </a:defRPr>
            </a:lvl1pPr>
          </a:lstStyle>
          <a:p>
            <a:pPr marL="0" indent="0">
              <a:buNone/>
            </a:pPr>
            <a:r>
              <a:rPr lang="en-IN" dirty="0"/>
              <a:t>Price inconsistency risk</a:t>
            </a:r>
          </a:p>
        </p:txBody>
      </p:sp>
      <p:sp>
        <p:nvSpPr>
          <p:cNvPr id="15" name="TextBox 14">
            <a:extLst>
              <a:ext uri="{FF2B5EF4-FFF2-40B4-BE49-F238E27FC236}">
                <a16:creationId xmlns:a16="http://schemas.microsoft.com/office/drawing/2014/main" id="{FA866A57-AFBB-043D-3B46-E77296BC49B1}"/>
              </a:ext>
            </a:extLst>
          </p:cNvPr>
          <p:cNvSpPr txBox="1"/>
          <p:nvPr/>
        </p:nvSpPr>
        <p:spPr>
          <a:xfrm>
            <a:off x="5159896" y="1107656"/>
            <a:ext cx="5327332" cy="2431435"/>
          </a:xfrm>
          <a:prstGeom prst="rect">
            <a:avLst/>
          </a:prstGeom>
          <a:noFill/>
        </p:spPr>
        <p:txBody>
          <a:bodyPr wrap="square">
            <a:spAutoFit/>
          </a:bodyPr>
          <a:lstStyle/>
          <a:p>
            <a:pPr marL="285750" indent="-285750">
              <a:buFont typeface="Arial" panose="020B0604020202020204" pitchFamily="34" charset="0"/>
              <a:buChar char="•"/>
            </a:pPr>
            <a:r>
              <a:rPr lang="en-IN" sz="2400" dirty="0">
                <a:latin typeface="Liberation Mono"/>
              </a:rPr>
              <a:t>Primary Key = (orderID, productID)</a:t>
            </a:r>
          </a:p>
          <a:p>
            <a:endParaRPr lang="en-IN" sz="2900" dirty="0">
              <a:latin typeface="Liberation Mono"/>
            </a:endParaRPr>
          </a:p>
          <a:p>
            <a:pPr marL="285750" indent="-285750">
              <a:buFont typeface="Arial" panose="020B0604020202020204" pitchFamily="34" charset="0"/>
              <a:buChar char="•"/>
            </a:pPr>
            <a:r>
              <a:rPr lang="en-IN" sz="2400" dirty="0">
                <a:latin typeface="Liberation Mono"/>
              </a:rPr>
              <a:t>orderID → orderDate</a:t>
            </a: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sz="2400" dirty="0">
                <a:latin typeface="Liberation Mono"/>
              </a:rPr>
              <a:t>productID → productName, price</a:t>
            </a:r>
          </a:p>
          <a:p>
            <a:endParaRPr lang="en-IN" sz="2000" dirty="0">
              <a:latin typeface="Liberation Mono"/>
            </a:endParaRPr>
          </a:p>
          <a:p>
            <a:pPr marL="285750" indent="-285750">
              <a:buFont typeface="Arial" panose="020B0604020202020204" pitchFamily="34" charset="0"/>
              <a:buChar char="•"/>
            </a:pPr>
            <a:r>
              <a:rPr lang="en-IN" sz="2400" dirty="0">
                <a:latin typeface="Liberation Mono"/>
              </a:rPr>
              <a:t>(orderID, productID) → quantity</a:t>
            </a:r>
          </a:p>
        </p:txBody>
      </p:sp>
      <p:sp>
        <p:nvSpPr>
          <p:cNvPr id="2" name="TextBox 1">
            <a:extLst>
              <a:ext uri="{FF2B5EF4-FFF2-40B4-BE49-F238E27FC236}">
                <a16:creationId xmlns:a16="http://schemas.microsoft.com/office/drawing/2014/main" id="{68CDEF01-7BEF-FE2E-5EED-9AA117BC3AD2}"/>
              </a:ext>
            </a:extLst>
          </p:cNvPr>
          <p:cNvSpPr txBox="1"/>
          <p:nvPr/>
        </p:nvSpPr>
        <p:spPr>
          <a:xfrm>
            <a:off x="3359696" y="4061970"/>
            <a:ext cx="2664296"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orderDate </a:t>
            </a:r>
            <a:r>
              <a:rPr lang="en-IN" dirty="0">
                <a:solidFill>
                  <a:srgbClr val="834689"/>
                </a:solidFill>
                <a:latin typeface="Liberation Mono"/>
                <a:cs typeface="Arial" panose="020B0604020202020204" pitchFamily="34" charset="0"/>
              </a:rPr>
              <a:t>DATE</a:t>
            </a:r>
            <a:r>
              <a:rPr lang="en-IN" dirty="0">
                <a:latin typeface="Liberation Mono"/>
              </a:rPr>
              <a:t>);</a:t>
            </a:r>
          </a:p>
        </p:txBody>
      </p:sp>
    </p:spTree>
    <p:extLst>
      <p:ext uri="{BB962C8B-B14F-4D97-AF65-F5344CB8AC3E}">
        <p14:creationId xmlns:p14="http://schemas.microsoft.com/office/powerpoint/2010/main" val="8223941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5">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8" grpId="0"/>
      <p:bldP spid="2" grpId="0"/>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CBB7CB2-8BCF-726E-8D2A-5DCD98BC1625}"/>
              </a:ext>
            </a:extLst>
          </p:cNvPr>
          <p:cNvSpPr txBox="1"/>
          <p:nvPr/>
        </p:nvSpPr>
        <p:spPr>
          <a:xfrm>
            <a:off x="839416" y="4221088"/>
            <a:ext cx="5256584" cy="738664"/>
          </a:xfrm>
          <a:prstGeom prst="rect">
            <a:avLst/>
          </a:prstGeom>
          <a:noFill/>
        </p:spPr>
        <p:txBody>
          <a:bodyPr wrap="square">
            <a:spAutoFit/>
          </a:bodyPr>
          <a:lstStyle/>
          <a:p>
            <a:pPr marL="342900" indent="-342900">
              <a:buFont typeface="+mj-lt"/>
              <a:buAutoNum type="arabicPeriod"/>
            </a:pPr>
            <a:r>
              <a:rPr lang="en-IN" dirty="0">
                <a:latin typeface="Arial" panose="020B0604020202020204" pitchFamily="34" charset="0"/>
                <a:cs typeface="Arial" panose="020B0604020202020204" pitchFamily="34" charset="0"/>
              </a:rPr>
              <a:t>Doctor name repeated for every patient</a:t>
            </a:r>
          </a:p>
          <a:p>
            <a:pPr marL="228600" indent="-228600">
              <a:buFont typeface="+mj-lt"/>
              <a:buAutoNum type="arabicPeriod"/>
            </a:pPr>
            <a:endParaRPr lang="en-IN" sz="600" dirty="0">
              <a:latin typeface="Arial" panose="020B0604020202020204" pitchFamily="34" charset="0"/>
              <a:cs typeface="Arial" panose="020B0604020202020204" pitchFamily="34" charset="0"/>
            </a:endParaRPr>
          </a:p>
          <a:p>
            <a:pPr marL="342900" indent="-342900">
              <a:buFont typeface="+mj-lt"/>
              <a:buAutoNum type="arabicPeriod"/>
            </a:pPr>
            <a:r>
              <a:rPr lang="en-IN" dirty="0">
                <a:latin typeface="Arial" panose="020B0604020202020204" pitchFamily="34" charset="0"/>
                <a:cs typeface="Arial" panose="020B0604020202020204" pitchFamily="34" charset="0"/>
              </a:rPr>
              <a:t>Patient name repeated for every doctor visit</a:t>
            </a:r>
          </a:p>
        </p:txBody>
      </p:sp>
      <p:graphicFrame>
        <p:nvGraphicFramePr>
          <p:cNvPr id="5" name="Table 4">
            <a:extLst>
              <a:ext uri="{FF2B5EF4-FFF2-40B4-BE49-F238E27FC236}">
                <a16:creationId xmlns:a16="http://schemas.microsoft.com/office/drawing/2014/main" id="{899A7A5F-5774-77A2-A36F-77660B649D40}"/>
              </a:ext>
            </a:extLst>
          </p:cNvPr>
          <p:cNvGraphicFramePr>
            <a:graphicFrameLocks noGrp="1"/>
          </p:cNvGraphicFramePr>
          <p:nvPr>
            <p:extLst>
              <p:ext uri="{D42A27DB-BD31-4B8C-83A1-F6EECF244321}">
                <p14:modId xmlns:p14="http://schemas.microsoft.com/office/powerpoint/2010/main" val="3902178415"/>
              </p:ext>
            </p:extLst>
          </p:nvPr>
        </p:nvGraphicFramePr>
        <p:xfrm>
          <a:off x="335360" y="836712"/>
          <a:ext cx="10972800" cy="457200"/>
        </p:xfrm>
        <a:graphic>
          <a:graphicData uri="http://schemas.openxmlformats.org/drawingml/2006/table">
            <a:tbl>
              <a:tblPr/>
              <a:tblGrid>
                <a:gridCol w="2194560">
                  <a:extLst>
                    <a:ext uri="{9D8B030D-6E8A-4147-A177-3AD203B41FA5}">
                      <a16:colId xmlns:a16="http://schemas.microsoft.com/office/drawing/2014/main" val="3830097493"/>
                    </a:ext>
                  </a:extLst>
                </a:gridCol>
                <a:gridCol w="2194560">
                  <a:extLst>
                    <a:ext uri="{9D8B030D-6E8A-4147-A177-3AD203B41FA5}">
                      <a16:colId xmlns:a16="http://schemas.microsoft.com/office/drawing/2014/main" val="2795134072"/>
                    </a:ext>
                  </a:extLst>
                </a:gridCol>
                <a:gridCol w="2194560">
                  <a:extLst>
                    <a:ext uri="{9D8B030D-6E8A-4147-A177-3AD203B41FA5}">
                      <a16:colId xmlns:a16="http://schemas.microsoft.com/office/drawing/2014/main" val="3531331858"/>
                    </a:ext>
                  </a:extLst>
                </a:gridCol>
                <a:gridCol w="2194560">
                  <a:extLst>
                    <a:ext uri="{9D8B030D-6E8A-4147-A177-3AD203B41FA5}">
                      <a16:colId xmlns:a16="http://schemas.microsoft.com/office/drawing/2014/main" val="1320504740"/>
                    </a:ext>
                  </a:extLst>
                </a:gridCol>
                <a:gridCol w="2194560">
                  <a:extLst>
                    <a:ext uri="{9D8B030D-6E8A-4147-A177-3AD203B41FA5}">
                      <a16:colId xmlns:a16="http://schemas.microsoft.com/office/drawing/2014/main" val="2282848246"/>
                    </a:ext>
                  </a:extLst>
                </a:gridCol>
              </a:tblGrid>
              <a:tr h="0">
                <a:tc>
                  <a:txBody>
                    <a:bodyPr/>
                    <a:lstStyle/>
                    <a:p>
                      <a:pPr>
                        <a:buNone/>
                      </a:pPr>
                      <a:r>
                        <a:rPr lang="en-IN" sz="2400">
                          <a:latin typeface="Arial" panose="020B0604020202020204" pitchFamily="34" charset="0"/>
                          <a:cs typeface="Arial" panose="020B0604020202020204" pitchFamily="34" charset="0"/>
                        </a:rPr>
                        <a:t>patient_id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patient_name</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doctor_name</a:t>
                      </a:r>
                    </a:p>
                  </a:txBody>
                  <a:tcPr anchor="ctr">
                    <a:lnL>
                      <a:noFill/>
                    </a:lnL>
                    <a:lnR>
                      <a:noFill/>
                    </a:lnR>
                    <a:lnT>
                      <a:noFill/>
                    </a:lnT>
                    <a:lnB>
                      <a:noFill/>
                    </a:lnB>
                    <a:noFill/>
                  </a:tcPr>
                </a:tc>
                <a:tc>
                  <a:txBody>
                    <a:bodyPr/>
                    <a:lstStyle/>
                    <a:p>
                      <a:pPr>
                        <a:buNone/>
                      </a:pPr>
                      <a:r>
                        <a:rPr lang="en-IN" sz="2400" dirty="0">
                          <a:latin typeface="Arial" panose="020B0604020202020204" pitchFamily="34" charset="0"/>
                          <a:cs typeface="Arial" panose="020B0604020202020204" pitchFamily="34" charset="0"/>
                        </a:rPr>
                        <a:t>treatment</a:t>
                      </a:r>
                    </a:p>
                  </a:txBody>
                  <a:tcPr anchor="ctr">
                    <a:lnL>
                      <a:noFill/>
                    </a:lnL>
                    <a:lnR>
                      <a:noFill/>
                    </a:lnR>
                    <a:lnT>
                      <a:noFill/>
                    </a:lnT>
                    <a:lnB>
                      <a:noFill/>
                    </a:lnB>
                    <a:noFill/>
                  </a:tcPr>
                </a:tc>
                <a:extLst>
                  <a:ext uri="{0D108BD9-81ED-4DB2-BD59-A6C34878D82A}">
                    <a16:rowId xmlns:a16="http://schemas.microsoft.com/office/drawing/2014/main" val="4262522504"/>
                  </a:ext>
                </a:extLst>
              </a:tr>
            </a:tbl>
          </a:graphicData>
        </a:graphic>
      </p:graphicFrame>
    </p:spTree>
    <p:extLst>
      <p:ext uri="{BB962C8B-B14F-4D97-AF65-F5344CB8AC3E}">
        <p14:creationId xmlns:p14="http://schemas.microsoft.com/office/powerpoint/2010/main" val="1405516242"/>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Normalization in DBMS</a:t>
            </a:r>
          </a:p>
        </p:txBody>
      </p:sp>
      <p:sp>
        <p:nvSpPr>
          <p:cNvPr id="4" name="Rectangle 3"/>
          <p:cNvSpPr/>
          <p:nvPr/>
        </p:nvSpPr>
        <p:spPr>
          <a:xfrm>
            <a:off x="335360" y="3276601"/>
            <a:ext cx="11449272" cy="70788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Normalization is the process of removing redundant data from the database by splitting the table into two or more tables and defining relationships between these tables.</a:t>
            </a:r>
          </a:p>
        </p:txBody>
      </p:sp>
    </p:spTree>
    <p:extLst>
      <p:ext uri="{BB962C8B-B14F-4D97-AF65-F5344CB8AC3E}">
        <p14:creationId xmlns:p14="http://schemas.microsoft.com/office/powerpoint/2010/main" val="250295485"/>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Problem</a:t>
            </a:r>
          </a:p>
        </p:txBody>
      </p:sp>
      <p:sp>
        <p:nvSpPr>
          <p:cNvPr id="3" name="Rectangle 2"/>
          <p:cNvSpPr/>
          <p:nvPr/>
        </p:nvSpPr>
        <p:spPr>
          <a:xfrm>
            <a:off x="469292" y="642919"/>
            <a:ext cx="10899230" cy="646331"/>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To understand normalization in database with example tables, let’s assume that we are supposed to store the details of </a:t>
            </a:r>
            <a:r>
              <a:rPr lang="en-US" b="1" dirty="0">
                <a:latin typeface="Palatino Linotype" panose="02040502050505030304" pitchFamily="18" charset="0"/>
                <a:cs typeface="Segoe UI Light" panose="020B0502040204020203" pitchFamily="34" charset="0"/>
              </a:rPr>
              <a:t>courses</a:t>
            </a:r>
            <a:r>
              <a:rPr lang="en-US" dirty="0">
                <a:latin typeface="Palatino Linotype" panose="02040502050505030304" pitchFamily="18" charset="0"/>
                <a:cs typeface="Segoe UI Light" panose="020B0502040204020203" pitchFamily="34" charset="0"/>
              </a:rPr>
              <a:t> and </a:t>
            </a:r>
            <a:r>
              <a:rPr lang="en-US" b="1" dirty="0">
                <a:latin typeface="Palatino Linotype" panose="02040502050505030304" pitchFamily="18" charset="0"/>
                <a:cs typeface="Segoe UI Light" panose="020B0502040204020203" pitchFamily="34" charset="0"/>
              </a:rPr>
              <a:t>instructors</a:t>
            </a:r>
            <a:r>
              <a:rPr lang="en-US" dirty="0">
                <a:latin typeface="Palatino Linotype" panose="02040502050505030304" pitchFamily="18" charset="0"/>
                <a:cs typeface="Segoe UI Light" panose="020B0502040204020203" pitchFamily="34" charset="0"/>
              </a:rPr>
              <a:t> in a university.</a:t>
            </a:r>
            <a:endParaRPr lang="en-IN" dirty="0">
              <a:latin typeface="Palatino Linotype" panose="02040502050505030304" pitchFamily="18" charset="0"/>
              <a:cs typeface="Segoe UI Light" panose="020B0502040204020203"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396667254"/>
              </p:ext>
            </p:extLst>
          </p:nvPr>
        </p:nvGraphicFramePr>
        <p:xfrm>
          <a:off x="407368" y="1928802"/>
          <a:ext cx="11377263" cy="1706880"/>
        </p:xfrm>
        <a:graphic>
          <a:graphicData uri="http://schemas.openxmlformats.org/drawingml/2006/table">
            <a:tbl>
              <a:tblPr/>
              <a:tblGrid>
                <a:gridCol w="2255835">
                  <a:extLst>
                    <a:ext uri="{9D8B030D-6E8A-4147-A177-3AD203B41FA5}">
                      <a16:colId xmlns:a16="http://schemas.microsoft.com/office/drawing/2014/main" val="20000"/>
                    </a:ext>
                  </a:extLst>
                </a:gridCol>
                <a:gridCol w="2648156">
                  <a:extLst>
                    <a:ext uri="{9D8B030D-6E8A-4147-A177-3AD203B41FA5}">
                      <a16:colId xmlns:a16="http://schemas.microsoft.com/office/drawing/2014/main" val="20001"/>
                    </a:ext>
                  </a:extLst>
                </a:gridCol>
                <a:gridCol w="2648156">
                  <a:extLst>
                    <a:ext uri="{9D8B030D-6E8A-4147-A177-3AD203B41FA5}">
                      <a16:colId xmlns:a16="http://schemas.microsoft.com/office/drawing/2014/main" val="20002"/>
                    </a:ext>
                  </a:extLst>
                </a:gridCol>
                <a:gridCol w="3825116">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phone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10003"/>
                  </a:ext>
                </a:extLst>
              </a:tr>
            </a:tbl>
          </a:graphicData>
        </a:graphic>
      </p:graphicFrame>
      <p:sp>
        <p:nvSpPr>
          <p:cNvPr id="6" name="Rectangle 1"/>
          <p:cNvSpPr>
            <a:spLocks noChangeArrowheads="1"/>
          </p:cNvSpPr>
          <p:nvPr/>
        </p:nvSpPr>
        <p:spPr bwMode="auto">
          <a:xfrm>
            <a:off x="2781302" y="2420833"/>
            <a:ext cx="18473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pPr>
            <a:br>
              <a:rPr lang="en-US">
                <a:latin typeface="Arial" panose="020B0604020202020204" pitchFamily="34" charset="0"/>
              </a:rPr>
            </a:br>
            <a:endParaRPr lang="en-US">
              <a:latin typeface="Arial" panose="020B0604020202020204" pitchFamily="34" charset="0"/>
            </a:endParaRPr>
          </a:p>
        </p:txBody>
      </p:sp>
      <p:sp>
        <p:nvSpPr>
          <p:cNvPr id="9" name="Rectangle 8"/>
          <p:cNvSpPr/>
          <p:nvPr/>
        </p:nvSpPr>
        <p:spPr>
          <a:xfrm>
            <a:off x="407367" y="4357694"/>
            <a:ext cx="11377267" cy="1200329"/>
          </a:xfrm>
          <a:prstGeom prst="rect">
            <a:avLst/>
          </a:prstGeom>
        </p:spPr>
        <p:txBody>
          <a:bodyPr wrap="square">
            <a:spAutoFit/>
          </a:bodyPr>
          <a:lstStyle/>
          <a:p>
            <a:pPr algn="just"/>
            <a:r>
              <a:rPr lang="en-US" dirty="0">
                <a:solidFill>
                  <a:srgbClr val="333333"/>
                </a:solidFill>
                <a:latin typeface="Palatino Linotype" panose="02040502050505030304" pitchFamily="18" charset="0"/>
              </a:rPr>
              <a:t>At first, this design seems to be good. However, issues start to develop once we need to modify information. For instance, suppose, </a:t>
            </a:r>
            <a:r>
              <a:rPr lang="en-US" dirty="0">
                <a:solidFill>
                  <a:srgbClr val="C41A1A"/>
                </a:solidFill>
                <a:latin typeface="Palatino Linotype" panose="02040502050505030304" pitchFamily="18" charset="0"/>
              </a:rPr>
              <a:t>if Prof. Ronald changed his mobile number. In such a situation, we will have to make edits in 2 places</a:t>
            </a:r>
            <a:r>
              <a:rPr lang="en-US" b="1" dirty="0">
                <a:solidFill>
                  <a:srgbClr val="333333"/>
                </a:solidFill>
                <a:latin typeface="Palatino Linotype" panose="02040502050505030304" pitchFamily="18" charset="0"/>
              </a:rPr>
              <a:t>. </a:t>
            </a:r>
            <a:r>
              <a:rPr lang="en-US" dirty="0">
                <a:solidFill>
                  <a:srgbClr val="333333"/>
                </a:solidFill>
                <a:latin typeface="Palatino Linotype" panose="02040502050505030304" pitchFamily="18" charset="0"/>
              </a:rPr>
              <a:t>What if someone just edited the mobile number against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but forgot to edit it for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 This will lead to stale/wrong information in the database.</a:t>
            </a:r>
            <a:endParaRPr lang="en-US" dirty="0">
              <a:latin typeface="Palatino Linotype" panose="02040502050505030304" pitchFamily="18" charset="0"/>
            </a:endParaRPr>
          </a:p>
        </p:txBody>
      </p:sp>
    </p:spTree>
    <p:extLst>
      <p:ext uri="{BB962C8B-B14F-4D97-AF65-F5344CB8AC3E}">
        <p14:creationId xmlns:p14="http://schemas.microsoft.com/office/powerpoint/2010/main" val="2867332006"/>
      </p:ext>
    </p:extLst>
  </p:cSld>
  <p:clrMapOvr>
    <a:masterClrMapping/>
  </p:clrMapOvr>
  <p:transition/>
</p:sld>
</file>

<file path=ppt/slides/slide1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860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Solution</a:t>
            </a:r>
          </a:p>
        </p:txBody>
      </p:sp>
      <p:sp>
        <p:nvSpPr>
          <p:cNvPr id="8" name="Rectangle 7"/>
          <p:cNvSpPr/>
          <p:nvPr/>
        </p:nvSpPr>
        <p:spPr>
          <a:xfrm>
            <a:off x="584571" y="838203"/>
            <a:ext cx="1094380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This problem, however, can be easily tackled by dividing our table into 2 simpler tables.</a:t>
            </a:r>
            <a:endParaRPr lang="en-IN" dirty="0">
              <a:latin typeface="Palatino Linotype" panose="02040502050505030304" pitchFamily="18" charset="0"/>
              <a:cs typeface="Segoe UI Light" panose="020B0502040204020203" pitchFamily="34" charset="0"/>
            </a:endParaRPr>
          </a:p>
        </p:txBody>
      </p:sp>
      <p:graphicFrame>
        <p:nvGraphicFramePr>
          <p:cNvPr id="11" name="Table 10"/>
          <p:cNvGraphicFramePr>
            <a:graphicFrameLocks noGrp="1"/>
          </p:cNvGraphicFramePr>
          <p:nvPr>
            <p:extLst>
              <p:ext uri="{D42A27DB-BD31-4B8C-83A1-F6EECF244321}">
                <p14:modId xmlns:p14="http://schemas.microsoft.com/office/powerpoint/2010/main" val="3005528523"/>
              </p:ext>
            </p:extLst>
          </p:nvPr>
        </p:nvGraphicFramePr>
        <p:xfrm>
          <a:off x="407368" y="1938144"/>
          <a:ext cx="11305257" cy="1706880"/>
        </p:xfrm>
        <a:graphic>
          <a:graphicData uri="http://schemas.openxmlformats.org/drawingml/2006/table">
            <a:tbl>
              <a:tblPr/>
              <a:tblGrid>
                <a:gridCol w="3768419">
                  <a:extLst>
                    <a:ext uri="{9D8B030D-6E8A-4147-A177-3AD203B41FA5}">
                      <a16:colId xmlns:a16="http://schemas.microsoft.com/office/drawing/2014/main" val="20000"/>
                    </a:ext>
                  </a:extLst>
                </a:gridCol>
                <a:gridCol w="3768419">
                  <a:extLst>
                    <a:ext uri="{9D8B030D-6E8A-4147-A177-3AD203B41FA5}">
                      <a16:colId xmlns:a16="http://schemas.microsoft.com/office/drawing/2014/main" val="20001"/>
                    </a:ext>
                  </a:extLst>
                </a:gridCol>
                <a:gridCol w="3768419">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a:t>
                      </a:r>
                      <a:r>
                        <a:rPr lang="en-US" dirty="0">
                          <a:solidFill>
                            <a:srgbClr val="222222"/>
                          </a:solidFill>
                          <a:effectLst/>
                          <a:latin typeface="Arial" panose="020B0604020202020204" pitchFamily="34" charset="0"/>
                          <a:cs typeface="Arial" panose="020B0604020202020204" pitchFamily="34" charset="0"/>
                        </a:rPr>
                        <a:t>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824634874"/>
                  </a:ext>
                </a:extLst>
              </a:tr>
            </a:tbl>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2914472405"/>
              </p:ext>
            </p:extLst>
          </p:nvPr>
        </p:nvGraphicFramePr>
        <p:xfrm>
          <a:off x="398977" y="4389120"/>
          <a:ext cx="11321181" cy="1706880"/>
        </p:xfrm>
        <a:graphic>
          <a:graphicData uri="http://schemas.openxmlformats.org/drawingml/2006/table">
            <a:tbl>
              <a:tblPr/>
              <a:tblGrid>
                <a:gridCol w="3773727">
                  <a:extLst>
                    <a:ext uri="{9D8B030D-6E8A-4147-A177-3AD203B41FA5}">
                      <a16:colId xmlns:a16="http://schemas.microsoft.com/office/drawing/2014/main" val="20000"/>
                    </a:ext>
                  </a:extLst>
                </a:gridCol>
                <a:gridCol w="3773727">
                  <a:extLst>
                    <a:ext uri="{9D8B030D-6E8A-4147-A177-3AD203B41FA5}">
                      <a16:colId xmlns:a16="http://schemas.microsoft.com/office/drawing/2014/main" val="20001"/>
                    </a:ext>
                  </a:extLst>
                </a:gridCol>
                <a:gridCol w="3773727">
                  <a:extLst>
                    <a:ext uri="{9D8B030D-6E8A-4147-A177-3AD203B41FA5}">
                      <a16:colId xmlns:a16="http://schemas.microsoft.com/office/drawing/2014/main" val="20002"/>
                    </a:ext>
                  </a:extLst>
                </a:gridCol>
              </a:tblGrid>
              <a:tr h="19812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0003"/>
                  </a:ext>
                </a:extLst>
              </a:tr>
            </a:tbl>
          </a:graphicData>
        </a:graphic>
      </p:graphicFrame>
      <p:sp>
        <p:nvSpPr>
          <p:cNvPr id="13" name="Rectangle 12"/>
          <p:cNvSpPr/>
          <p:nvPr/>
        </p:nvSpPr>
        <p:spPr>
          <a:xfrm>
            <a:off x="407368" y="1372662"/>
            <a:ext cx="3727276" cy="369332"/>
          </a:xfrm>
          <a:prstGeom prst="rect">
            <a:avLst/>
          </a:prstGeom>
        </p:spPr>
        <p:txBody>
          <a:bodyPr wrap="square">
            <a:spAutoFit/>
          </a:bodyPr>
          <a:lstStyle/>
          <a:p>
            <a:r>
              <a:rPr lang="en-US" b="1" dirty="0">
                <a:solidFill>
                  <a:srgbClr val="006C86"/>
                </a:solidFill>
                <a:latin typeface="Open sans"/>
              </a:rPr>
              <a:t>Table 1 (Instructor)</a:t>
            </a:r>
            <a:endParaRPr lang="en-US" dirty="0">
              <a:solidFill>
                <a:srgbClr val="006C86"/>
              </a:solidFill>
            </a:endParaRPr>
          </a:p>
        </p:txBody>
      </p:sp>
      <p:sp>
        <p:nvSpPr>
          <p:cNvPr id="14" name="Rectangle 13"/>
          <p:cNvSpPr/>
          <p:nvPr/>
        </p:nvSpPr>
        <p:spPr>
          <a:xfrm>
            <a:off x="398977" y="3878755"/>
            <a:ext cx="3261540" cy="369332"/>
          </a:xfrm>
          <a:prstGeom prst="rect">
            <a:avLst/>
          </a:prstGeom>
        </p:spPr>
        <p:txBody>
          <a:bodyPr wrap="square">
            <a:spAutoFit/>
          </a:bodyPr>
          <a:lstStyle/>
          <a:p>
            <a:r>
              <a:rPr lang="en-US" b="1" dirty="0">
                <a:solidFill>
                  <a:srgbClr val="006C86"/>
                </a:solidFill>
                <a:latin typeface="Open sans"/>
              </a:rPr>
              <a:t>Table 2 (Course)</a:t>
            </a:r>
            <a:endParaRPr lang="en-US" dirty="0">
              <a:solidFill>
                <a:srgbClr val="006C86"/>
              </a:solidFill>
            </a:endParaRPr>
          </a:p>
        </p:txBody>
      </p:sp>
    </p:spTree>
    <p:extLst>
      <p:ext uri="{BB962C8B-B14F-4D97-AF65-F5344CB8AC3E}">
        <p14:creationId xmlns:p14="http://schemas.microsoft.com/office/powerpoint/2010/main" val="1749137105"/>
      </p:ext>
    </p:extLst>
  </p:cSld>
  <p:clrMapOvr>
    <a:masterClrMapping/>
  </p:clrMapOvr>
  <p:transition/>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a:t>
            </a:r>
            <a:r>
              <a:rPr lang="en-US" sz="3200" i="1">
                <a:solidFill>
                  <a:srgbClr val="FF9900"/>
                </a:solidFill>
                <a:latin typeface="Arial" pitchFamily="34" charset="0"/>
                <a:cs typeface="Arial" pitchFamily="34" charset="0"/>
              </a:rPr>
              <a:t>1NF)</a:t>
            </a:r>
            <a:endParaRPr lang="en-US" sz="3200" i="1" dirty="0">
              <a:solidFill>
                <a:srgbClr val="FF9900"/>
              </a:solidFill>
              <a:latin typeface="Arial" pitchFamily="34" charset="0"/>
              <a:cs typeface="Arial" pitchFamily="34" charset="0"/>
            </a:endParaRPr>
          </a:p>
        </p:txBody>
      </p:sp>
      <p:sp>
        <p:nvSpPr>
          <p:cNvPr id="11" name="Rectangle 10"/>
          <p:cNvSpPr/>
          <p:nvPr/>
        </p:nvSpPr>
        <p:spPr>
          <a:xfrm>
            <a:off x="551384" y="1349832"/>
            <a:ext cx="11233248" cy="3399970"/>
          </a:xfrm>
          <a:prstGeom prst="rect">
            <a:avLst/>
          </a:prstGeom>
        </p:spPr>
        <p:txBody>
          <a:bodyPr wrap="square">
            <a:spAutoFit/>
          </a:bodyPr>
          <a:lstStyle/>
          <a:p>
            <a:r>
              <a:rPr lang="en-US" sz="2000" b="1" dirty="0">
                <a:latin typeface="Palatino Linotype" panose="02040502050505030304" pitchFamily="18" charset="0"/>
              </a:rPr>
              <a:t>For a table to be in the First Normal Form, it should follow the following 4 rules:</a:t>
            </a:r>
          </a:p>
          <a:p>
            <a:endParaRPr lang="en-US"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only have single(atomic) valued attributes/columns.</a:t>
            </a:r>
          </a:p>
          <a:p>
            <a:pPr marL="457200" indent="-457200">
              <a:lnSpc>
                <a:spcPct val="150000"/>
              </a:lnSpc>
              <a:buFont typeface="+mj-lt"/>
              <a:buAutoNum type="arabicPeriod"/>
            </a:pPr>
            <a:r>
              <a:rPr lang="en-US" sz="2000" dirty="0">
                <a:latin typeface="Palatino Linotype" panose="02040502050505030304" pitchFamily="18" charset="0"/>
              </a:rPr>
              <a:t>Values stored in a column should be of the same domain</a:t>
            </a:r>
          </a:p>
          <a:p>
            <a:pPr marL="457200" indent="-457200">
              <a:lnSpc>
                <a:spcPct val="150000"/>
              </a:lnSpc>
              <a:buFont typeface="+mj-lt"/>
              <a:buAutoNum type="arabicPeriod"/>
            </a:pPr>
            <a:r>
              <a:rPr lang="en-US" sz="2000" dirty="0">
                <a:latin typeface="Palatino Linotype" panose="02040502050505030304" pitchFamily="18" charset="0"/>
              </a:rPr>
              <a:t>All the columns in a table should have unique names.</a:t>
            </a:r>
          </a:p>
          <a:p>
            <a:pPr marL="457200" indent="-457200">
              <a:lnSpc>
                <a:spcPct val="150000"/>
              </a:lnSpc>
              <a:buFont typeface="+mj-lt"/>
              <a:buAutoNum type="arabicPeriod"/>
            </a:pPr>
            <a:r>
              <a:rPr lang="en-US" sz="2000" dirty="0">
                <a:latin typeface="Palatino Linotype" panose="02040502050505030304" pitchFamily="18" charset="0"/>
              </a:rPr>
              <a:t>And the order in which data is stored, does not matter.</a:t>
            </a:r>
          </a:p>
          <a:p>
            <a:pPr marL="457200" indent="-457200">
              <a:lnSpc>
                <a:spcPct val="150000"/>
              </a:lnSpc>
              <a:buFont typeface="+mj-lt"/>
              <a:buAutoNum type="arabicPeriod"/>
            </a:pPr>
            <a:r>
              <a:rPr lang="en-US" sz="2000" dirty="0">
                <a:latin typeface="Palatino Linotype" panose="02040502050505030304" pitchFamily="18" charset="0"/>
              </a:rPr>
              <a:t>The table should have no “repeating groups” of fields.</a:t>
            </a:r>
          </a:p>
          <a:p>
            <a:pPr marL="457200" indent="-457200">
              <a:lnSpc>
                <a:spcPct val="150000"/>
              </a:lnSpc>
              <a:buFont typeface="+mj-lt"/>
              <a:buAutoNum type="arabicPeriod"/>
            </a:pPr>
            <a:endParaRPr lang="en-US" sz="2000" dirty="0">
              <a:latin typeface="Palatino Linotype" panose="02040502050505030304" pitchFamily="18" charset="0"/>
            </a:endParaRPr>
          </a:p>
        </p:txBody>
      </p:sp>
      <p:graphicFrame>
        <p:nvGraphicFramePr>
          <p:cNvPr id="3" name="Table 2">
            <a:extLst>
              <a:ext uri="{FF2B5EF4-FFF2-40B4-BE49-F238E27FC236}">
                <a16:creationId xmlns:a16="http://schemas.microsoft.com/office/drawing/2014/main" id="{051537FE-8241-2D0D-B79A-EFC9E419B5E1}"/>
              </a:ext>
            </a:extLst>
          </p:cNvPr>
          <p:cNvGraphicFramePr>
            <a:graphicFrameLocks noGrp="1"/>
          </p:cNvGraphicFramePr>
          <p:nvPr/>
        </p:nvGraphicFramePr>
        <p:xfrm>
          <a:off x="1127448" y="4558248"/>
          <a:ext cx="8496945" cy="1463040"/>
        </p:xfrm>
        <a:graphic>
          <a:graphicData uri="http://schemas.openxmlformats.org/drawingml/2006/table">
            <a:tbl>
              <a:tblPr>
                <a:tableStyleId>{8A107856-5554-42FB-B03E-39F5DBC370BA}</a:tableStyleId>
              </a:tblPr>
              <a:tblGrid>
                <a:gridCol w="1296144">
                  <a:extLst>
                    <a:ext uri="{9D8B030D-6E8A-4147-A177-3AD203B41FA5}">
                      <a16:colId xmlns:a16="http://schemas.microsoft.com/office/drawing/2014/main" val="2885484199"/>
                    </a:ext>
                  </a:extLst>
                </a:gridCol>
                <a:gridCol w="2102634">
                  <a:extLst>
                    <a:ext uri="{9D8B030D-6E8A-4147-A177-3AD203B41FA5}">
                      <a16:colId xmlns:a16="http://schemas.microsoft.com/office/drawing/2014/main" val="2120756756"/>
                    </a:ext>
                  </a:extLst>
                </a:gridCol>
                <a:gridCol w="1699389">
                  <a:extLst>
                    <a:ext uri="{9D8B030D-6E8A-4147-A177-3AD203B41FA5}">
                      <a16:colId xmlns:a16="http://schemas.microsoft.com/office/drawing/2014/main" val="2923420091"/>
                    </a:ext>
                  </a:extLst>
                </a:gridCol>
                <a:gridCol w="1699389">
                  <a:extLst>
                    <a:ext uri="{9D8B030D-6E8A-4147-A177-3AD203B41FA5}">
                      <a16:colId xmlns:a16="http://schemas.microsoft.com/office/drawing/2014/main" val="2963071756"/>
                    </a:ext>
                  </a:extLst>
                </a:gridCol>
                <a:gridCol w="1699389">
                  <a:extLst>
                    <a:ext uri="{9D8B030D-6E8A-4147-A177-3AD203B41FA5}">
                      <a16:colId xmlns:a16="http://schemas.microsoft.com/office/drawing/2014/main" val="1397510649"/>
                    </a:ext>
                  </a:extLst>
                </a:gridCol>
              </a:tblGrid>
              <a:tr h="0">
                <a:tc>
                  <a:txBody>
                    <a:bodyPr/>
                    <a:lstStyle/>
                    <a:p>
                      <a:pPr fontAlgn="b"/>
                      <a:r>
                        <a:rPr lang="en-IN" b="1" dirty="0">
                          <a:effectLst/>
                        </a:rPr>
                        <a:t>OrderID</a:t>
                      </a:r>
                    </a:p>
                  </a:txBody>
                  <a:tcPr anchor="b"/>
                </a:tc>
                <a:tc>
                  <a:txBody>
                    <a:bodyPr/>
                    <a:lstStyle/>
                    <a:p>
                      <a:pPr fontAlgn="b"/>
                      <a:r>
                        <a:rPr lang="en-IN" b="1">
                          <a:effectLst/>
                        </a:rPr>
                        <a:t>CustomerName</a:t>
                      </a:r>
                    </a:p>
                  </a:txBody>
                  <a:tcPr anchor="b"/>
                </a:tc>
                <a:tc>
                  <a:txBody>
                    <a:bodyPr/>
                    <a:lstStyle/>
                    <a:p>
                      <a:pPr fontAlgn="b"/>
                      <a:r>
                        <a:rPr lang="en-IN" b="1">
                          <a:effectLst/>
                        </a:rPr>
                        <a:t>Product1</a:t>
                      </a:r>
                    </a:p>
                  </a:txBody>
                  <a:tcPr anchor="b"/>
                </a:tc>
                <a:tc>
                  <a:txBody>
                    <a:bodyPr/>
                    <a:lstStyle/>
                    <a:p>
                      <a:pPr fontAlgn="b"/>
                      <a:r>
                        <a:rPr lang="en-IN" b="1">
                          <a:effectLst/>
                        </a:rPr>
                        <a:t>Product2</a:t>
                      </a:r>
                    </a:p>
                  </a:txBody>
                  <a:tcPr anchor="b"/>
                </a:tc>
                <a:tc>
                  <a:txBody>
                    <a:bodyPr/>
                    <a:lstStyle/>
                    <a:p>
                      <a:pPr fontAlgn="b"/>
                      <a:r>
                        <a:rPr lang="en-IN" b="1">
                          <a:effectLst/>
                        </a:rPr>
                        <a:t>Product3</a:t>
                      </a:r>
                    </a:p>
                  </a:txBody>
                  <a:tcPr anchor="b"/>
                </a:tc>
                <a:extLst>
                  <a:ext uri="{0D108BD9-81ED-4DB2-BD59-A6C34878D82A}">
                    <a16:rowId xmlns:a16="http://schemas.microsoft.com/office/drawing/2014/main" val="367730716"/>
                  </a:ext>
                </a:extLst>
              </a:tr>
              <a:tr h="0">
                <a:tc>
                  <a:txBody>
                    <a:bodyPr/>
                    <a:lstStyle/>
                    <a:p>
                      <a:pPr algn="ctr" fontAlgn="base"/>
                      <a:r>
                        <a:rPr lang="en-IN" dirty="0">
                          <a:effectLst/>
                        </a:rPr>
                        <a:t>1</a:t>
                      </a:r>
                    </a:p>
                  </a:txBody>
                  <a:tcPr anchor="ctr"/>
                </a:tc>
                <a:tc>
                  <a:txBody>
                    <a:bodyPr/>
                    <a:lstStyle/>
                    <a:p>
                      <a:pPr fontAlgn="base"/>
                      <a:r>
                        <a:rPr lang="en-IN" dirty="0">
                          <a:effectLst/>
                        </a:rPr>
                        <a:t>Rajesh Singh</a:t>
                      </a:r>
                    </a:p>
                  </a:txBody>
                  <a:tcPr anchor="ctr"/>
                </a:tc>
                <a:tc>
                  <a:txBody>
                    <a:bodyPr/>
                    <a:lstStyle/>
                    <a:p>
                      <a:pPr fontAlgn="base"/>
                      <a:r>
                        <a:rPr lang="en-IN">
                          <a:effectLst/>
                        </a:rPr>
                        <a:t>Apple</a:t>
                      </a:r>
                    </a:p>
                  </a:txBody>
                  <a:tcPr anchor="ctr"/>
                </a:tc>
                <a:tc>
                  <a:txBody>
                    <a:bodyPr/>
                    <a:lstStyle/>
                    <a:p>
                      <a:pPr fontAlgn="base"/>
                      <a:r>
                        <a:rPr lang="en-IN">
                          <a:effectLst/>
                        </a:rPr>
                        <a:t>Orange</a:t>
                      </a:r>
                    </a:p>
                  </a:txBody>
                  <a:tcPr anchor="ctr"/>
                </a:tc>
                <a:tc>
                  <a:txBody>
                    <a:bodyPr/>
                    <a:lstStyle/>
                    <a:p>
                      <a:pPr fontAlgn="base"/>
                      <a:r>
                        <a:rPr lang="en-IN">
                          <a:effectLst/>
                        </a:rPr>
                        <a:t>Banana</a:t>
                      </a:r>
                    </a:p>
                  </a:txBody>
                  <a:tcPr anchor="ctr"/>
                </a:tc>
                <a:extLst>
                  <a:ext uri="{0D108BD9-81ED-4DB2-BD59-A6C34878D82A}">
                    <a16:rowId xmlns:a16="http://schemas.microsoft.com/office/drawing/2014/main" val="3374409418"/>
                  </a:ext>
                </a:extLst>
              </a:tr>
              <a:tr h="0">
                <a:tc>
                  <a:txBody>
                    <a:bodyPr/>
                    <a:lstStyle/>
                    <a:p>
                      <a:pPr algn="ctr" fontAlgn="base"/>
                      <a:r>
                        <a:rPr lang="en-IN" dirty="0">
                          <a:effectLst/>
                        </a:rPr>
                        <a:t>2</a:t>
                      </a:r>
                    </a:p>
                  </a:txBody>
                  <a:tcPr anchor="ctr"/>
                </a:tc>
                <a:tc>
                  <a:txBody>
                    <a:bodyPr/>
                    <a:lstStyle/>
                    <a:p>
                      <a:pPr fontAlgn="base"/>
                      <a:r>
                        <a:rPr lang="en-IN" dirty="0">
                          <a:effectLst/>
                        </a:rPr>
                        <a:t>Rajat Kumar</a:t>
                      </a:r>
                    </a:p>
                  </a:txBody>
                  <a:tcPr anchor="ctr"/>
                </a:tc>
                <a:tc>
                  <a:txBody>
                    <a:bodyPr/>
                    <a:lstStyle/>
                    <a:p>
                      <a:pPr fontAlgn="base"/>
                      <a:r>
                        <a:rPr lang="en-IN">
                          <a:effectLst/>
                        </a:rPr>
                        <a:t>Apple</a:t>
                      </a:r>
                    </a:p>
                  </a:txBody>
                  <a:tcPr anchor="ctr"/>
                </a:tc>
                <a:tc>
                  <a:txBody>
                    <a:bodyPr/>
                    <a:lstStyle/>
                    <a:p>
                      <a:pPr fontAlgn="base"/>
                      <a:r>
                        <a:rPr lang="en-IN" dirty="0">
                          <a:effectLst/>
                        </a:rPr>
                        <a:t>NULL</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4171736547"/>
                  </a:ext>
                </a:extLst>
              </a:tr>
              <a:tr h="0">
                <a:tc>
                  <a:txBody>
                    <a:bodyPr/>
                    <a:lstStyle/>
                    <a:p>
                      <a:pPr algn="ctr" fontAlgn="base"/>
                      <a:r>
                        <a:rPr lang="en-IN" dirty="0">
                          <a:effectLst/>
                        </a:rPr>
                        <a:t>3</a:t>
                      </a:r>
                    </a:p>
                  </a:txBody>
                  <a:tcPr anchor="ctr"/>
                </a:tc>
                <a:tc>
                  <a:txBody>
                    <a:bodyPr/>
                    <a:lstStyle/>
                    <a:p>
                      <a:pPr fontAlgn="base"/>
                      <a:r>
                        <a:rPr lang="en-IN" dirty="0">
                          <a:effectLst/>
                        </a:rPr>
                        <a:t>Ramesh</a:t>
                      </a:r>
                    </a:p>
                  </a:txBody>
                  <a:tcPr anchor="ctr"/>
                </a:tc>
                <a:tc>
                  <a:txBody>
                    <a:bodyPr/>
                    <a:lstStyle/>
                    <a:p>
                      <a:pPr fontAlgn="base"/>
                      <a:r>
                        <a:rPr lang="en-IN" dirty="0">
                          <a:effectLst/>
                        </a:rPr>
                        <a:t>Orange</a:t>
                      </a:r>
                    </a:p>
                  </a:txBody>
                  <a:tcPr anchor="ctr"/>
                </a:tc>
                <a:tc>
                  <a:txBody>
                    <a:bodyPr/>
                    <a:lstStyle/>
                    <a:p>
                      <a:pPr fontAlgn="base"/>
                      <a:r>
                        <a:rPr lang="en-IN" dirty="0">
                          <a:effectLst/>
                        </a:rPr>
                        <a:t>Grape</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1964404552"/>
                  </a:ext>
                </a:extLst>
              </a:tr>
            </a:tbl>
          </a:graphicData>
        </a:graphic>
      </p:graphicFrame>
      <p:sp>
        <p:nvSpPr>
          <p:cNvPr id="2" name="TextBox 1">
            <a:extLst>
              <a:ext uri="{FF2B5EF4-FFF2-40B4-BE49-F238E27FC236}">
                <a16:creationId xmlns:a16="http://schemas.microsoft.com/office/drawing/2014/main" id="{1C8930C0-94BE-2027-A167-849966B8B759}"/>
              </a:ext>
            </a:extLst>
          </p:cNvPr>
          <p:cNvSpPr txBox="1"/>
          <p:nvPr/>
        </p:nvSpPr>
        <p:spPr>
          <a:xfrm>
            <a:off x="2495600" y="663079"/>
            <a:ext cx="7416824"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1</a:t>
            </a:r>
            <a:r>
              <a:rPr lang="en-IN" sz="2000" baseline="30000" dirty="0"/>
              <a:t>st</a:t>
            </a:r>
            <a:r>
              <a:rPr lang="en-IN" sz="2000" dirty="0"/>
              <a:t>  NF removes → </a:t>
            </a:r>
            <a:r>
              <a:rPr lang="en-US" sz="2000" dirty="0"/>
              <a:t>repeating groups or multi-valued attributes</a:t>
            </a:r>
            <a:endParaRPr lang="en-IN" sz="2000" dirty="0"/>
          </a:p>
        </p:txBody>
      </p:sp>
    </p:spTree>
    <p:extLst>
      <p:ext uri="{BB962C8B-B14F-4D97-AF65-F5344CB8AC3E}">
        <p14:creationId xmlns:p14="http://schemas.microsoft.com/office/powerpoint/2010/main" val="2800386475"/>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(1NF)</a:t>
            </a:r>
          </a:p>
        </p:txBody>
      </p:sp>
      <p:sp>
        <p:nvSpPr>
          <p:cNvPr id="8" name="Rectangle 7"/>
          <p:cNvSpPr/>
          <p:nvPr/>
        </p:nvSpPr>
        <p:spPr>
          <a:xfrm>
            <a:off x="425329" y="714356"/>
            <a:ext cx="1125132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The First normal form simply says that each cell of a table should contain exactly one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941596038"/>
              </p:ext>
            </p:extLst>
          </p:nvPr>
        </p:nvGraphicFramePr>
        <p:xfrm>
          <a:off x="425329" y="1196752"/>
          <a:ext cx="10135168" cy="1761266"/>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292847">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81106">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 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(CS189, 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3302540657"/>
                  </a:ext>
                </a:extLst>
              </a:tr>
            </a:tbl>
          </a:graphicData>
        </a:graphic>
      </p:graphicFrame>
      <p:sp>
        <p:nvSpPr>
          <p:cNvPr id="4" name="Rectangle 3"/>
          <p:cNvSpPr/>
          <p:nvPr/>
        </p:nvSpPr>
        <p:spPr>
          <a:xfrm>
            <a:off x="425329" y="3140968"/>
            <a:ext cx="11251329"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Here, the issue is that in the first row, we are storing 2 courses against Prof. </a:t>
            </a:r>
            <a:r>
              <a:rPr lang="en-US" dirty="0">
                <a:solidFill>
                  <a:srgbClr val="222222"/>
                </a:solidFill>
                <a:latin typeface="Palatino Linotype" panose="02040502050505030304" pitchFamily="18" charset="0"/>
              </a:rPr>
              <a:t>Ronald</a:t>
            </a:r>
            <a:r>
              <a:rPr lang="en-US" dirty="0">
                <a:solidFill>
                  <a:srgbClr val="333333"/>
                </a:solidFill>
                <a:latin typeface="Palatino Linotype" panose="02040502050505030304" pitchFamily="18" charset="0"/>
              </a:rPr>
              <a:t>. A better method would be to store the courses separately. This way, if we want to edit some information related to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we do not have to touch the data corresponding to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a:t>
            </a:r>
          </a:p>
        </p:txBody>
      </p:sp>
      <p:graphicFrame>
        <p:nvGraphicFramePr>
          <p:cNvPr id="5" name="Table 4"/>
          <p:cNvGraphicFramePr>
            <a:graphicFrameLocks noGrp="1"/>
          </p:cNvGraphicFramePr>
          <p:nvPr>
            <p:extLst>
              <p:ext uri="{D42A27DB-BD31-4B8C-83A1-F6EECF244321}">
                <p14:modId xmlns:p14="http://schemas.microsoft.com/office/powerpoint/2010/main" val="1851876752"/>
              </p:ext>
            </p:extLst>
          </p:nvPr>
        </p:nvGraphicFramePr>
        <p:xfrm>
          <a:off x="425329" y="4149080"/>
          <a:ext cx="10135168" cy="2560320"/>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3994251114"/>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174028018"/>
                  </a:ext>
                </a:extLst>
              </a:tr>
            </a:tbl>
          </a:graphicData>
        </a:graphic>
      </p:graphicFrame>
    </p:spTree>
    <p:extLst>
      <p:ext uri="{BB962C8B-B14F-4D97-AF65-F5344CB8AC3E}">
        <p14:creationId xmlns:p14="http://schemas.microsoft.com/office/powerpoint/2010/main" val="3957101609"/>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a:t>
            </a:r>
            <a:r>
              <a:rPr lang="en-US" sz="3200" i="1">
                <a:solidFill>
                  <a:srgbClr val="FF9900"/>
                </a:solidFill>
                <a:latin typeface="Arial" pitchFamily="34" charset="0"/>
                <a:cs typeface="Arial" pitchFamily="34" charset="0"/>
              </a:rPr>
              <a:t>2NF)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772816"/>
            <a:ext cx="11089231" cy="2465996"/>
          </a:xfrm>
          <a:prstGeom prst="rect">
            <a:avLst/>
          </a:prstGeom>
        </p:spPr>
        <p:txBody>
          <a:bodyPr wrap="square">
            <a:spAutoFit/>
          </a:bodyPr>
          <a:lstStyle/>
          <a:p>
            <a:r>
              <a:rPr lang="en-US" sz="2000" b="1" dirty="0">
                <a:latin typeface="Palatino Linotype" panose="02040502050505030304" pitchFamily="18" charset="0"/>
              </a:rPr>
              <a:t>For a table to be in the Second Normal Form</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be in the First Normal form.</a:t>
            </a:r>
          </a:p>
          <a:p>
            <a:pPr marL="457200" indent="-457200">
              <a:lnSpc>
                <a:spcPct val="150000"/>
              </a:lnSpc>
              <a:buFont typeface="+mj-lt"/>
              <a:buAutoNum type="arabicPeriod"/>
            </a:pPr>
            <a:r>
              <a:rPr lang="en-US" sz="2000" dirty="0">
                <a:latin typeface="Palatino Linotype" panose="02040502050505030304" pitchFamily="18" charset="0"/>
              </a:rPr>
              <a:t>And, it should not have </a:t>
            </a:r>
            <a:r>
              <a:rPr lang="en-US" sz="2000" b="1" dirty="0">
                <a:latin typeface="Palatino Linotype" panose="02040502050505030304" pitchFamily="18" charset="0"/>
              </a:rPr>
              <a:t>Partial Dependency</a:t>
            </a:r>
            <a:r>
              <a:rPr lang="en-US" dirty="0">
                <a:latin typeface="Palatino Linotype" panose="02040502050505030304" pitchFamily="18" charset="0"/>
              </a:rPr>
              <a:t>. (</a:t>
            </a:r>
            <a:r>
              <a:rPr lang="en-US" sz="2000" dirty="0" err="1">
                <a:latin typeface="Palatino Linotype" panose="02040502050505030304" pitchFamily="18" charset="0"/>
              </a:rPr>
              <a:t>i.e</a:t>
            </a:r>
            <a:r>
              <a:rPr lang="en-US" sz="2000" dirty="0">
                <a:latin typeface="Palatino Linotype" panose="02040502050505030304" pitchFamily="18" charset="0"/>
              </a:rPr>
              <a:t> In the second normal form, all </a:t>
            </a:r>
            <a:r>
              <a:rPr lang="en-US" sz="2000" b="1" dirty="0">
                <a:latin typeface="Palatino Linotype" panose="02040502050505030304" pitchFamily="18" charset="0"/>
              </a:rPr>
              <a:t>non-key attributes</a:t>
            </a:r>
            <a:r>
              <a:rPr lang="en-US" sz="2000" dirty="0">
                <a:latin typeface="Palatino Linotype" panose="02040502050505030304" pitchFamily="18" charset="0"/>
              </a:rPr>
              <a:t> are fully </a:t>
            </a:r>
            <a:r>
              <a:rPr lang="en-US" sz="2000" b="1" dirty="0">
                <a:latin typeface="Palatino Linotype" panose="02040502050505030304" pitchFamily="18" charset="0"/>
              </a:rPr>
              <a:t>functional dependent </a:t>
            </a:r>
            <a:r>
              <a:rPr lang="en-US" sz="2000" dirty="0">
                <a:latin typeface="Palatino Linotype" panose="02040502050505030304" pitchFamily="18" charset="0"/>
              </a:rPr>
              <a:t>on the primary key)</a:t>
            </a:r>
          </a:p>
          <a:p>
            <a:pPr marL="457200" indent="-457200">
              <a:lnSpc>
                <a:spcPct val="150000"/>
              </a:lnSpc>
              <a:buFont typeface="+mj-lt"/>
              <a:buAutoNum type="arabicPeriod"/>
            </a:pPr>
            <a:endParaRPr lang="en-US" dirty="0">
              <a:latin typeface="Palatino Linotype" panose="02040502050505030304" pitchFamily="18" charset="0"/>
            </a:endParaRPr>
          </a:p>
        </p:txBody>
      </p:sp>
      <p:sp>
        <p:nvSpPr>
          <p:cNvPr id="2" name="TextBox 1">
            <a:extLst>
              <a:ext uri="{FF2B5EF4-FFF2-40B4-BE49-F238E27FC236}">
                <a16:creationId xmlns:a16="http://schemas.microsoft.com/office/drawing/2014/main" id="{B3745EC4-CFB3-3AF3-785C-22E8A737A27A}"/>
              </a:ext>
            </a:extLst>
          </p:cNvPr>
          <p:cNvSpPr txBox="1"/>
          <p:nvPr/>
        </p:nvSpPr>
        <p:spPr>
          <a:xfrm>
            <a:off x="5447928" y="729244"/>
            <a:ext cx="4608512" cy="400110"/>
          </a:xfrm>
          <a:prstGeom prst="rect">
            <a:avLst/>
          </a:prstGeom>
          <a:noFill/>
        </p:spPr>
        <p:txBody>
          <a:bodyPr wrap="square">
            <a:spAutoFit/>
          </a:bodyPr>
          <a:lstStyle/>
          <a:p>
            <a:r>
              <a:rPr lang="en-IN" sz="2000" dirty="0">
                <a:latin typeface="Palatino Linotype" panose="02040502050505030304" pitchFamily="18" charset="0"/>
              </a:rPr>
              <a:t>2</a:t>
            </a:r>
            <a:r>
              <a:rPr lang="en-IN" sz="2000" baseline="30000" dirty="0">
                <a:latin typeface="Palatino Linotype" panose="02040502050505030304" pitchFamily="18" charset="0"/>
              </a:rPr>
              <a:t>nd</a:t>
            </a:r>
            <a:r>
              <a:rPr lang="en-IN" sz="2000" dirty="0">
                <a:latin typeface="Palatino Linotype" panose="02040502050505030304" pitchFamily="18" charset="0"/>
              </a:rPr>
              <a:t> NF removes → Partial Dependency</a:t>
            </a:r>
          </a:p>
        </p:txBody>
      </p:sp>
    </p:spTree>
    <p:extLst>
      <p:ext uri="{BB962C8B-B14F-4D97-AF65-F5344CB8AC3E}">
        <p14:creationId xmlns:p14="http://schemas.microsoft.com/office/powerpoint/2010/main" val="3983721001"/>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321568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sp>
        <p:nvSpPr>
          <p:cNvPr id="8" name="Rectangle 7"/>
          <p:cNvSpPr/>
          <p:nvPr/>
        </p:nvSpPr>
        <p:spPr>
          <a:xfrm>
            <a:off x="408188" y="1196752"/>
            <a:ext cx="11376444"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For a table to be in second normal form, the following 2 conditions are to be met:</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table should be in the first normal form.</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primary key of the table should compose of exactly 1 column (a compound key, if necessary).</a:t>
            </a:r>
          </a:p>
        </p:txBody>
      </p:sp>
      <p:sp>
        <p:nvSpPr>
          <p:cNvPr id="3" name="Rectangle 2"/>
          <p:cNvSpPr/>
          <p:nvPr/>
        </p:nvSpPr>
        <p:spPr>
          <a:xfrm>
            <a:off x="408188" y="2347392"/>
            <a:ext cx="11376444"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Let us take another example of storing student enrollment in various courses. Each student may enroll in multiple courses. Similarly, each course may have multiple enrollments.</a:t>
            </a:r>
          </a:p>
          <a:p>
            <a:pPr algn="just"/>
            <a:r>
              <a:rPr lang="en-US" dirty="0">
                <a:latin typeface="Palatino Linotype" panose="02040502050505030304" pitchFamily="18" charset="0"/>
              </a:rPr>
              <a:t>A sample table may look like this (</a:t>
            </a:r>
            <a:r>
              <a:rPr lang="en-US" b="1" dirty="0">
                <a:solidFill>
                  <a:srgbClr val="006C86"/>
                </a:solidFill>
                <a:latin typeface="Palatino Linotype" panose="02040502050505030304" pitchFamily="18" charset="0"/>
              </a:rPr>
              <a:t>student name and course code</a:t>
            </a:r>
            <a:r>
              <a:rPr lang="en-US" dirty="0">
                <a:latin typeface="Palatino Linotype" panose="02040502050505030304" pitchFamily="18" charset="0"/>
              </a:rPr>
              <a:t>)</a:t>
            </a:r>
            <a:endParaRPr lang="en-US" dirty="0">
              <a:solidFill>
                <a:srgbClr val="333333"/>
              </a:solidFill>
              <a:latin typeface="Palatino Linotype" panose="02040502050505030304" pitchFamily="18" charset="0"/>
            </a:endParaRPr>
          </a:p>
        </p:txBody>
      </p:sp>
      <p:graphicFrame>
        <p:nvGraphicFramePr>
          <p:cNvPr id="5" name="Table 4">
            <a:extLst>
              <a:ext uri="{FF2B5EF4-FFF2-40B4-BE49-F238E27FC236}">
                <a16:creationId xmlns:a16="http://schemas.microsoft.com/office/drawing/2014/main" id="{CAD03DF9-81B7-4EFC-8798-114DE1090178}"/>
              </a:ext>
            </a:extLst>
          </p:cNvPr>
          <p:cNvGraphicFramePr>
            <a:graphicFrameLocks noGrp="1"/>
          </p:cNvGraphicFramePr>
          <p:nvPr/>
        </p:nvGraphicFramePr>
        <p:xfrm>
          <a:off x="408188" y="3985570"/>
          <a:ext cx="11376445" cy="2611782"/>
        </p:xfrm>
        <a:graphic>
          <a:graphicData uri="http://schemas.openxmlformats.org/drawingml/2006/table">
            <a:tbl>
              <a:tblPr/>
              <a:tblGrid>
                <a:gridCol w="2275289">
                  <a:extLst>
                    <a:ext uri="{9D8B030D-6E8A-4147-A177-3AD203B41FA5}">
                      <a16:colId xmlns:a16="http://schemas.microsoft.com/office/drawing/2014/main" val="20000"/>
                    </a:ext>
                  </a:extLst>
                </a:gridCol>
                <a:gridCol w="2275289">
                  <a:extLst>
                    <a:ext uri="{9D8B030D-6E8A-4147-A177-3AD203B41FA5}">
                      <a16:colId xmlns:a16="http://schemas.microsoft.com/office/drawing/2014/main" val="292465217"/>
                    </a:ext>
                  </a:extLst>
                </a:gridCol>
                <a:gridCol w="2275289">
                  <a:extLst>
                    <a:ext uri="{9D8B030D-6E8A-4147-A177-3AD203B41FA5}">
                      <a16:colId xmlns:a16="http://schemas.microsoft.com/office/drawing/2014/main" val="3593966889"/>
                    </a:ext>
                  </a:extLst>
                </a:gridCol>
                <a:gridCol w="2275289">
                  <a:extLst>
                    <a:ext uri="{9D8B030D-6E8A-4147-A177-3AD203B41FA5}">
                      <a16:colId xmlns:a16="http://schemas.microsoft.com/office/drawing/2014/main" val="20001"/>
                    </a:ext>
                  </a:extLst>
                </a:gridCol>
                <a:gridCol w="2275289">
                  <a:extLst>
                    <a:ext uri="{9D8B030D-6E8A-4147-A177-3AD203B41FA5}">
                      <a16:colId xmlns:a16="http://schemas.microsoft.com/office/drawing/2014/main" val="4030692466"/>
                    </a:ext>
                  </a:extLst>
                </a:gridCol>
              </a:tblGrid>
              <a:tr h="435297">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Student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Phone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City</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Code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sz="1800" dirty="0">
                          <a:solidFill>
                            <a:srgbClr val="00B0F0"/>
                          </a:solidFill>
                          <a:effectLst/>
                          <a:latin typeface="Arial" panose="020B0604020202020204" pitchFamily="34" charset="0"/>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CS154</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Computer_Course_3</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Raman</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Surat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435297">
                <a:tc>
                  <a:txBody>
                    <a:bodyPr/>
                    <a:lstStyle/>
                    <a:p>
                      <a:pPr algn="l" fontAlgn="t"/>
                      <a:r>
                        <a:rPr kumimoji="0" lang="en-US" sz="1800" kern="1200" dirty="0">
                          <a:solidFill>
                            <a:srgbClr val="222222"/>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CS189</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sz="1800" dirty="0">
                          <a:solidFill>
                            <a:srgbClr val="222222"/>
                          </a:solidFill>
                          <a:effectLst/>
                          <a:latin typeface="Arial" panose="020B0604020202020204" pitchFamily="34" charset="0"/>
                          <a:cs typeface="Arial" panose="020B0604020202020204" pitchFamily="34" charset="0"/>
                        </a:rPr>
                        <a:t>Computer_Course_5</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872776617"/>
                  </a:ext>
                </a:extLst>
              </a:tr>
            </a:tbl>
          </a:graphicData>
        </a:graphic>
      </p:graphicFrame>
      <p:sp>
        <p:nvSpPr>
          <p:cNvPr id="6" name="Rectangle 5">
            <a:extLst>
              <a:ext uri="{FF2B5EF4-FFF2-40B4-BE49-F238E27FC236}">
                <a16:creationId xmlns:a16="http://schemas.microsoft.com/office/drawing/2014/main" id="{F6BB78A0-883F-4C65-AD8D-B4BF8160D37C}"/>
              </a:ext>
            </a:extLst>
          </p:cNvPr>
          <p:cNvSpPr/>
          <p:nvPr/>
        </p:nvSpPr>
        <p:spPr>
          <a:xfrm>
            <a:off x="514094" y="3503535"/>
            <a:ext cx="2915966" cy="376755"/>
          </a:xfrm>
          <a:prstGeom prst="rect">
            <a:avLst/>
          </a:prstGeom>
        </p:spPr>
        <p:txBody>
          <a:bodyPr wrap="square">
            <a:spAutoFit/>
          </a:bodyPr>
          <a:lstStyle/>
          <a:p>
            <a:r>
              <a:rPr lang="en-US" b="1" dirty="0">
                <a:solidFill>
                  <a:srgbClr val="006C86"/>
                </a:solidFill>
                <a:latin typeface="Open sans"/>
              </a:rPr>
              <a:t>Enrollments</a:t>
            </a:r>
          </a:p>
        </p:txBody>
      </p:sp>
      <p:sp>
        <p:nvSpPr>
          <p:cNvPr id="9" name="TextBox 8">
            <a:extLst>
              <a:ext uri="{FF2B5EF4-FFF2-40B4-BE49-F238E27FC236}">
                <a16:creationId xmlns:a16="http://schemas.microsoft.com/office/drawing/2014/main" id="{611823A8-ED7C-3B99-5F43-DF7152D7909E}"/>
              </a:ext>
            </a:extLst>
          </p:cNvPr>
          <p:cNvSpPr txBox="1"/>
          <p:nvPr/>
        </p:nvSpPr>
        <p:spPr>
          <a:xfrm>
            <a:off x="4727848" y="663079"/>
            <a:ext cx="518457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2</a:t>
            </a:r>
            <a:r>
              <a:rPr lang="en-IN" sz="2000" baseline="30000" dirty="0"/>
              <a:t>nd</a:t>
            </a:r>
            <a:r>
              <a:rPr lang="en-IN" sz="2000" dirty="0"/>
              <a:t> NF removes → Partial Dependency</a:t>
            </a:r>
          </a:p>
        </p:txBody>
      </p:sp>
    </p:spTree>
    <p:extLst>
      <p:ext uri="{BB962C8B-B14F-4D97-AF65-F5344CB8AC3E}">
        <p14:creationId xmlns:p14="http://schemas.microsoft.com/office/powerpoint/2010/main" val="1694799416"/>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90192"/>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0" name="Rectangle 9"/>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graphicFrame>
        <p:nvGraphicFramePr>
          <p:cNvPr id="3" name="Table 2"/>
          <p:cNvGraphicFramePr>
            <a:graphicFrameLocks noGrp="1"/>
          </p:cNvGraphicFramePr>
          <p:nvPr>
            <p:extLst>
              <p:ext uri="{D42A27DB-BD31-4B8C-83A1-F6EECF244321}">
                <p14:modId xmlns:p14="http://schemas.microsoft.com/office/powerpoint/2010/main" val="2696714373"/>
              </p:ext>
            </p:extLst>
          </p:nvPr>
        </p:nvGraphicFramePr>
        <p:xfrm>
          <a:off x="407367" y="1280734"/>
          <a:ext cx="6048673" cy="2133600"/>
        </p:xfrm>
        <a:graphic>
          <a:graphicData uri="http://schemas.openxmlformats.org/drawingml/2006/table">
            <a:tbl>
              <a:tblPr/>
              <a:tblGrid>
                <a:gridCol w="864096">
                  <a:extLst>
                    <a:ext uri="{9D8B030D-6E8A-4147-A177-3AD203B41FA5}">
                      <a16:colId xmlns:a16="http://schemas.microsoft.com/office/drawing/2014/main" val="1476581868"/>
                    </a:ext>
                  </a:extLst>
                </a:gridCol>
                <a:gridCol w="2448272">
                  <a:extLst>
                    <a:ext uri="{9D8B030D-6E8A-4147-A177-3AD203B41FA5}">
                      <a16:colId xmlns:a16="http://schemas.microsoft.com/office/drawing/2014/main" val="20000"/>
                    </a:ext>
                  </a:extLst>
                </a:gridCol>
                <a:gridCol w="1440160">
                  <a:extLst>
                    <a:ext uri="{9D8B030D-6E8A-4147-A177-3AD203B41FA5}">
                      <a16:colId xmlns:a16="http://schemas.microsoft.com/office/drawing/2014/main" val="20001"/>
                    </a:ext>
                  </a:extLst>
                </a:gridCol>
                <a:gridCol w="1296145">
                  <a:extLst>
                    <a:ext uri="{9D8B030D-6E8A-4147-A177-3AD203B41FA5}">
                      <a16:colId xmlns:a16="http://schemas.microsoft.com/office/drawing/2014/main" val="1524911837"/>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Phone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City</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Rahul</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Pune</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Rajat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Mumbai</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Raman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Surat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Pankaj</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Baroda</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148266683"/>
                  </a:ext>
                </a:extLst>
              </a:tr>
            </a:tbl>
          </a:graphicData>
        </a:graphic>
      </p:graphicFrame>
      <p:sp>
        <p:nvSpPr>
          <p:cNvPr id="11" name="Rectangle 10"/>
          <p:cNvSpPr/>
          <p:nvPr/>
        </p:nvSpPr>
        <p:spPr>
          <a:xfrm>
            <a:off x="514094" y="764704"/>
            <a:ext cx="2915966" cy="369332"/>
          </a:xfrm>
          <a:prstGeom prst="rect">
            <a:avLst/>
          </a:prstGeom>
        </p:spPr>
        <p:txBody>
          <a:bodyPr wrap="square">
            <a:spAutoFit/>
          </a:bodyPr>
          <a:lstStyle/>
          <a:p>
            <a:r>
              <a:rPr lang="en-US" b="1" dirty="0">
                <a:solidFill>
                  <a:srgbClr val="006C86"/>
                </a:solidFill>
                <a:latin typeface="Open sans"/>
              </a:rPr>
              <a:t>Student</a:t>
            </a:r>
            <a:endParaRPr lang="en-US" dirty="0">
              <a:solidFill>
                <a:srgbClr val="006C86"/>
              </a:solidFill>
            </a:endParaRPr>
          </a:p>
        </p:txBody>
      </p:sp>
      <p:sp>
        <p:nvSpPr>
          <p:cNvPr id="12" name="Rectangle 11"/>
          <p:cNvSpPr/>
          <p:nvPr/>
        </p:nvSpPr>
        <p:spPr>
          <a:xfrm>
            <a:off x="500907" y="3578390"/>
            <a:ext cx="3007626" cy="369332"/>
          </a:xfrm>
          <a:prstGeom prst="rect">
            <a:avLst/>
          </a:prstGeom>
        </p:spPr>
        <p:txBody>
          <a:bodyPr wrap="square">
            <a:spAutoFit/>
          </a:bodyPr>
          <a:lstStyle/>
          <a:p>
            <a:r>
              <a:rPr lang="en-US" b="1" dirty="0">
                <a:solidFill>
                  <a:srgbClr val="006C86"/>
                </a:solidFill>
                <a:latin typeface="Open sans"/>
              </a:rPr>
              <a:t>Courses</a:t>
            </a:r>
            <a:endParaRPr lang="en-US" dirty="0">
              <a:solidFill>
                <a:srgbClr val="006C86"/>
              </a:solidFill>
            </a:endParaRPr>
          </a:p>
        </p:txBody>
      </p:sp>
      <p:graphicFrame>
        <p:nvGraphicFramePr>
          <p:cNvPr id="4" name="Table 3"/>
          <p:cNvGraphicFramePr>
            <a:graphicFrameLocks noGrp="1"/>
          </p:cNvGraphicFramePr>
          <p:nvPr>
            <p:extLst>
              <p:ext uri="{D42A27DB-BD31-4B8C-83A1-F6EECF244321}">
                <p14:modId xmlns:p14="http://schemas.microsoft.com/office/powerpoint/2010/main" val="2728230656"/>
              </p:ext>
            </p:extLst>
          </p:nvPr>
        </p:nvGraphicFramePr>
        <p:xfrm>
          <a:off x="407368" y="4070185"/>
          <a:ext cx="6048672" cy="2560320"/>
        </p:xfrm>
        <a:graphic>
          <a:graphicData uri="http://schemas.openxmlformats.org/drawingml/2006/table">
            <a:tbl>
              <a:tblPr/>
              <a:tblGrid>
                <a:gridCol w="3156421">
                  <a:extLst>
                    <a:ext uri="{9D8B030D-6E8A-4147-A177-3AD203B41FA5}">
                      <a16:colId xmlns:a16="http://schemas.microsoft.com/office/drawing/2014/main" val="20000"/>
                    </a:ext>
                  </a:extLst>
                </a:gridCol>
                <a:gridCol w="2892251">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7627226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Computer_Course_5</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659803660"/>
                  </a:ext>
                </a:extLst>
              </a:tr>
            </a:tbl>
          </a:graphicData>
        </a:graphic>
      </p:graphicFrame>
      <p:sp>
        <p:nvSpPr>
          <p:cNvPr id="14" name="Rectangle 13">
            <a:extLst>
              <a:ext uri="{FF2B5EF4-FFF2-40B4-BE49-F238E27FC236}">
                <a16:creationId xmlns:a16="http://schemas.microsoft.com/office/drawing/2014/main" id="{5F06D93B-EA65-4738-8A51-5DD005814C95}"/>
              </a:ext>
            </a:extLst>
          </p:cNvPr>
          <p:cNvSpPr/>
          <p:nvPr/>
        </p:nvSpPr>
        <p:spPr>
          <a:xfrm>
            <a:off x="6816080" y="764704"/>
            <a:ext cx="3007626" cy="369332"/>
          </a:xfrm>
          <a:prstGeom prst="rect">
            <a:avLst/>
          </a:prstGeom>
        </p:spPr>
        <p:txBody>
          <a:bodyPr wrap="square">
            <a:spAutoFit/>
          </a:bodyPr>
          <a:lstStyle/>
          <a:p>
            <a:r>
              <a:rPr lang="en-US" b="1" dirty="0">
                <a:solidFill>
                  <a:srgbClr val="006C86"/>
                </a:solidFill>
                <a:latin typeface="Open sans"/>
              </a:rPr>
              <a:t>Student_Enrollment</a:t>
            </a:r>
          </a:p>
        </p:txBody>
      </p:sp>
      <p:graphicFrame>
        <p:nvGraphicFramePr>
          <p:cNvPr id="15" name="Table 14">
            <a:extLst>
              <a:ext uri="{FF2B5EF4-FFF2-40B4-BE49-F238E27FC236}">
                <a16:creationId xmlns:a16="http://schemas.microsoft.com/office/drawing/2014/main" id="{A768904A-5E80-4319-9E01-65EBE47DF4F8}"/>
              </a:ext>
            </a:extLst>
          </p:cNvPr>
          <p:cNvGraphicFramePr>
            <a:graphicFrameLocks noGrp="1"/>
          </p:cNvGraphicFramePr>
          <p:nvPr>
            <p:extLst>
              <p:ext uri="{D42A27DB-BD31-4B8C-83A1-F6EECF244321}">
                <p14:modId xmlns:p14="http://schemas.microsoft.com/office/powerpoint/2010/main" val="1338261277"/>
              </p:ext>
            </p:extLst>
          </p:nvPr>
        </p:nvGraphicFramePr>
        <p:xfrm>
          <a:off x="6816081" y="1280734"/>
          <a:ext cx="5184576" cy="2560320"/>
        </p:xfrm>
        <a:graphic>
          <a:graphicData uri="http://schemas.openxmlformats.org/drawingml/2006/table">
            <a:tbl>
              <a:tblPr/>
              <a:tblGrid>
                <a:gridCol w="936103">
                  <a:extLst>
                    <a:ext uri="{9D8B030D-6E8A-4147-A177-3AD203B41FA5}">
                      <a16:colId xmlns:a16="http://schemas.microsoft.com/office/drawing/2014/main" val="1101601015"/>
                    </a:ext>
                  </a:extLst>
                </a:gridCol>
                <a:gridCol w="1800200">
                  <a:extLst>
                    <a:ext uri="{9D8B030D-6E8A-4147-A177-3AD203B41FA5}">
                      <a16:colId xmlns:a16="http://schemas.microsoft.com/office/drawing/2014/main" val="20000"/>
                    </a:ext>
                  </a:extLst>
                </a:gridCol>
                <a:gridCol w="2448273">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StudentID(FK)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584238887"/>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5</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41958325"/>
                  </a:ext>
                </a:extLst>
              </a:tr>
            </a:tbl>
          </a:graphicData>
        </a:graphic>
      </p:graphicFrame>
    </p:spTree>
    <p:extLst>
      <p:ext uri="{BB962C8B-B14F-4D97-AF65-F5344CB8AC3E}">
        <p14:creationId xmlns:p14="http://schemas.microsoft.com/office/powerpoint/2010/main" val="1434668265"/>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a:t>
            </a:r>
            <a:r>
              <a:rPr lang="en-US" sz="3200" i="1">
                <a:solidFill>
                  <a:srgbClr val="FF9900"/>
                </a:solidFill>
                <a:latin typeface="Arial" pitchFamily="34" charset="0"/>
                <a:cs typeface="Arial" pitchFamily="34" charset="0"/>
              </a:rPr>
              <a:t>3NF)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916832"/>
            <a:ext cx="11233248" cy="1631216"/>
          </a:xfrm>
          <a:prstGeom prst="rect">
            <a:avLst/>
          </a:prstGeom>
        </p:spPr>
        <p:txBody>
          <a:bodyPr wrap="square">
            <a:spAutoFit/>
          </a:bodyPr>
          <a:lstStyle/>
          <a:p>
            <a:r>
              <a:rPr lang="en-US" sz="2000" b="1" dirty="0">
                <a:latin typeface="Palatino Linotype" panose="02040502050505030304" pitchFamily="18" charset="0"/>
              </a:rPr>
              <a:t>A table is said to be in the Third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Second Normal form.</a:t>
            </a:r>
          </a:p>
          <a:p>
            <a:pPr marL="457200" indent="-457200">
              <a:lnSpc>
                <a:spcPct val="150000"/>
              </a:lnSpc>
              <a:buFont typeface="+mj-lt"/>
              <a:buAutoNum type="arabicPeriod"/>
            </a:pPr>
            <a:r>
              <a:rPr lang="en-US" sz="2000" dirty="0">
                <a:latin typeface="Palatino Linotype" panose="02040502050505030304" pitchFamily="18" charset="0"/>
              </a:rPr>
              <a:t>And, it doesn't have Transitive Dependency. </a:t>
            </a:r>
            <a:r>
              <a:rPr lang="en-US" sz="2000">
                <a:latin typeface="Palatino Linotype" panose="02040502050505030304" pitchFamily="18" charset="0"/>
              </a:rPr>
              <a:t>(No Transitive Dependency)</a:t>
            </a:r>
            <a:endParaRPr lang="en-US" sz="2000" dirty="0">
              <a:latin typeface="Palatino Linotype" panose="02040502050505030304" pitchFamily="18" charset="0"/>
            </a:endParaRPr>
          </a:p>
        </p:txBody>
      </p:sp>
      <p:sp>
        <p:nvSpPr>
          <p:cNvPr id="8" name="TextBox 7">
            <a:extLst>
              <a:ext uri="{FF2B5EF4-FFF2-40B4-BE49-F238E27FC236}">
                <a16:creationId xmlns:a16="http://schemas.microsoft.com/office/drawing/2014/main" id="{0E7F158F-C020-4CDB-85E9-988AC87FEEDE}"/>
              </a:ext>
            </a:extLst>
          </p:cNvPr>
          <p:cNvSpPr txBox="1"/>
          <p:nvPr/>
        </p:nvSpPr>
        <p:spPr>
          <a:xfrm>
            <a:off x="479376" y="4149080"/>
            <a:ext cx="10297144" cy="2139047"/>
          </a:xfrm>
          <a:prstGeom prst="rect">
            <a:avLst/>
          </a:prstGeom>
          <a:noFill/>
        </p:spPr>
        <p:txBody>
          <a:bodyPr wrap="square">
            <a:spAutoFit/>
          </a:bodyPr>
          <a:lstStyle/>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Transitive dependency</a:t>
            </a:r>
            <a:r>
              <a:rPr lang="en-US" sz="1900" b="0" i="0" dirty="0">
                <a:effectLst/>
                <a:latin typeface="Palatino Linotype" panose="02040502050505030304" pitchFamily="18" charset="0"/>
              </a:rPr>
              <a:t> is expressing the dependency of A on C when A depends on B and B depends on C.</a:t>
            </a:r>
          </a:p>
          <a:p>
            <a:pPr algn="l" fontAlgn="base"/>
            <a:endParaRPr lang="en-US" sz="1900" b="0" i="0" dirty="0">
              <a:effectLst/>
              <a:latin typeface="Palatino Linotype" panose="02040502050505030304" pitchFamily="18" charset="0"/>
            </a:endParaRPr>
          </a:p>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A functional dependency</a:t>
            </a:r>
            <a:r>
              <a:rPr lang="en-US" sz="1900" b="0" i="0" dirty="0">
                <a:effectLst/>
                <a:latin typeface="Palatino Linotype" panose="02040502050505030304" pitchFamily="18" charset="0"/>
              </a:rPr>
              <a:t> is an association between two attributes of the same relational database table. One of the attributes is called the determinant and the other attribute is called the determined. For each value of the determinant there is associated one and only one value of the determined.</a:t>
            </a:r>
          </a:p>
        </p:txBody>
      </p:sp>
      <p:sp>
        <p:nvSpPr>
          <p:cNvPr id="2" name="TextBox 1">
            <a:extLst>
              <a:ext uri="{FF2B5EF4-FFF2-40B4-BE49-F238E27FC236}">
                <a16:creationId xmlns:a16="http://schemas.microsoft.com/office/drawing/2014/main" id="{9FF4BC10-D325-29CC-A648-ADD8D3C41D46}"/>
              </a:ext>
            </a:extLst>
          </p:cNvPr>
          <p:cNvSpPr txBox="1"/>
          <p:nvPr/>
        </p:nvSpPr>
        <p:spPr>
          <a:xfrm>
            <a:off x="4799856" y="569873"/>
            <a:ext cx="5112568" cy="400110"/>
          </a:xfrm>
          <a:prstGeom prst="rect">
            <a:avLst/>
          </a:prstGeom>
          <a:noFill/>
        </p:spPr>
        <p:txBody>
          <a:bodyPr wrap="square">
            <a:spAutoFit/>
          </a:bodyPr>
          <a:lstStyle/>
          <a:p>
            <a:r>
              <a:rPr lang="en-IN" sz="2000" dirty="0">
                <a:latin typeface="Palatino Linotype" panose="02040502050505030304" pitchFamily="18" charset="0"/>
              </a:rPr>
              <a:t>3</a:t>
            </a:r>
            <a:r>
              <a:rPr lang="en-IN" sz="2000" baseline="30000" dirty="0">
                <a:latin typeface="Palatino Linotype" panose="02040502050505030304" pitchFamily="18" charset="0"/>
              </a:rPr>
              <a:t>rd</a:t>
            </a:r>
            <a:r>
              <a:rPr lang="en-IN" sz="2000" dirty="0">
                <a:latin typeface="Palatino Linotype" panose="02040502050505030304" pitchFamily="18" charset="0"/>
              </a:rPr>
              <a:t> NF removes → Transitive  Dependency</a:t>
            </a:r>
          </a:p>
        </p:txBody>
      </p:sp>
    </p:spTree>
    <p:extLst>
      <p:ext uri="{BB962C8B-B14F-4D97-AF65-F5344CB8AC3E}">
        <p14:creationId xmlns:p14="http://schemas.microsoft.com/office/powerpoint/2010/main" val="847042617"/>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8" name="Rectangle 7"/>
          <p:cNvSpPr/>
          <p:nvPr/>
        </p:nvSpPr>
        <p:spPr>
          <a:xfrm>
            <a:off x="335360" y="838200"/>
            <a:ext cx="11449272" cy="1200329"/>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Column A is said to be functionally dependent on column B if changing the value of A may require a change in the value of B.</a:t>
            </a:r>
          </a:p>
          <a:p>
            <a:pPr algn="just"/>
            <a:r>
              <a:rPr lang="en-US" dirty="0">
                <a:latin typeface="Palatino Linotype" panose="02040502050505030304" pitchFamily="18" charset="0"/>
                <a:cs typeface="Segoe UI Light" panose="020B0502040204020203" pitchFamily="34" charset="0"/>
              </a:rPr>
              <a:t>Here, the department column is dependent on the professor name column. This is because if in a particular row, we change the name of the professor, we will also have to change the department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a:extLst>
              <a:ext uri="{FF2B5EF4-FFF2-40B4-BE49-F238E27FC236}">
                <a16:creationId xmlns:a16="http://schemas.microsoft.com/office/drawing/2014/main" id="{60BF87EC-0807-47FF-AB2E-7F6B0C8A85BB}"/>
              </a:ext>
            </a:extLst>
          </p:cNvPr>
          <p:cNvGraphicFramePr>
            <a:graphicFrameLocks noGrp="1"/>
          </p:cNvGraphicFramePr>
          <p:nvPr>
            <p:extLst>
              <p:ext uri="{D42A27DB-BD31-4B8C-83A1-F6EECF244321}">
                <p14:modId xmlns:p14="http://schemas.microsoft.com/office/powerpoint/2010/main" val="2880774586"/>
              </p:ext>
            </p:extLst>
          </p:nvPr>
        </p:nvGraphicFramePr>
        <p:xfrm>
          <a:off x="335360" y="2492896"/>
          <a:ext cx="11449270" cy="2560320"/>
        </p:xfrm>
        <a:graphic>
          <a:graphicData uri="http://schemas.openxmlformats.org/drawingml/2006/table">
            <a:tbl>
              <a:tblPr/>
              <a:tblGrid>
                <a:gridCol w="2289854">
                  <a:extLst>
                    <a:ext uri="{9D8B030D-6E8A-4147-A177-3AD203B41FA5}">
                      <a16:colId xmlns:a16="http://schemas.microsoft.com/office/drawing/2014/main" val="20000"/>
                    </a:ext>
                  </a:extLst>
                </a:gridCol>
                <a:gridCol w="2671496">
                  <a:extLst>
                    <a:ext uri="{9D8B030D-6E8A-4147-A177-3AD203B41FA5}">
                      <a16:colId xmlns:a16="http://schemas.microsoft.com/office/drawing/2014/main" val="20001"/>
                    </a:ext>
                  </a:extLst>
                </a:gridCol>
                <a:gridCol w="2671496">
                  <a:extLst>
                    <a:ext uri="{9D8B030D-6E8A-4147-A177-3AD203B41FA5}">
                      <a16:colId xmlns:a16="http://schemas.microsoft.com/office/drawing/2014/main" val="20002"/>
                    </a:ext>
                  </a:extLst>
                </a:gridCol>
                <a:gridCol w="3816424">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Tree>
    <p:extLst>
      <p:ext uri="{BB962C8B-B14F-4D97-AF65-F5344CB8AC3E}">
        <p14:creationId xmlns:p14="http://schemas.microsoft.com/office/powerpoint/2010/main" val="847042617"/>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4" name="Rectangle 3"/>
          <p:cNvSpPr/>
          <p:nvPr/>
        </p:nvSpPr>
        <p:spPr>
          <a:xfrm>
            <a:off x="430841" y="548680"/>
            <a:ext cx="11183817"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Here, when we changed the name of the professor, we also had to change the department column. This is not desirable since someone who is updating the database may remember to change the name of the professor, but may forget updating the department value. This can cause inconsistency in the database.</a:t>
            </a:r>
          </a:p>
        </p:txBody>
      </p:sp>
      <p:graphicFrame>
        <p:nvGraphicFramePr>
          <p:cNvPr id="12" name="Table 11"/>
          <p:cNvGraphicFramePr>
            <a:graphicFrameLocks noGrp="1"/>
          </p:cNvGraphicFramePr>
          <p:nvPr>
            <p:extLst>
              <p:ext uri="{D42A27DB-BD31-4B8C-83A1-F6EECF244321}">
                <p14:modId xmlns:p14="http://schemas.microsoft.com/office/powerpoint/2010/main" val="1361126552"/>
              </p:ext>
            </p:extLst>
          </p:nvPr>
        </p:nvGraphicFramePr>
        <p:xfrm>
          <a:off x="525262" y="1916832"/>
          <a:ext cx="10989639" cy="2560320"/>
        </p:xfrm>
        <a:graphic>
          <a:graphicData uri="http://schemas.openxmlformats.org/drawingml/2006/table">
            <a:tbl>
              <a:tblPr/>
              <a:tblGrid>
                <a:gridCol w="3663213">
                  <a:extLst>
                    <a:ext uri="{9D8B030D-6E8A-4147-A177-3AD203B41FA5}">
                      <a16:colId xmlns:a16="http://schemas.microsoft.com/office/drawing/2014/main" val="20000"/>
                    </a:ext>
                  </a:extLst>
                </a:gridCol>
                <a:gridCol w="3663213">
                  <a:extLst>
                    <a:ext uri="{9D8B030D-6E8A-4147-A177-3AD203B41FA5}">
                      <a16:colId xmlns:a16="http://schemas.microsoft.com/office/drawing/2014/main" val="20001"/>
                    </a:ext>
                  </a:extLst>
                </a:gridCol>
                <a:gridCol w="3663213">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774241968"/>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976722115"/>
                  </a:ext>
                </a:extLst>
              </a:tr>
            </a:tbl>
          </a:graphicData>
        </a:graphic>
      </p:graphicFrame>
      <p:graphicFrame>
        <p:nvGraphicFramePr>
          <p:cNvPr id="14" name="Table 13"/>
          <p:cNvGraphicFramePr>
            <a:graphicFrameLocks noGrp="1"/>
          </p:cNvGraphicFramePr>
          <p:nvPr>
            <p:extLst>
              <p:ext uri="{D42A27DB-BD31-4B8C-83A1-F6EECF244321}">
                <p14:modId xmlns:p14="http://schemas.microsoft.com/office/powerpoint/2010/main" val="3503491804"/>
              </p:ext>
            </p:extLst>
          </p:nvPr>
        </p:nvGraphicFramePr>
        <p:xfrm>
          <a:off x="525262" y="5013176"/>
          <a:ext cx="10989639" cy="1706880"/>
        </p:xfrm>
        <a:graphic>
          <a:graphicData uri="http://schemas.openxmlformats.org/drawingml/2006/table">
            <a:tbl>
              <a:tblPr/>
              <a:tblGrid>
                <a:gridCol w="1749013">
                  <a:extLst>
                    <a:ext uri="{9D8B030D-6E8A-4147-A177-3AD203B41FA5}">
                      <a16:colId xmlns:a16="http://schemas.microsoft.com/office/drawing/2014/main" val="20000"/>
                    </a:ext>
                  </a:extLst>
                </a:gridCol>
                <a:gridCol w="2482556">
                  <a:extLst>
                    <a:ext uri="{9D8B030D-6E8A-4147-A177-3AD203B41FA5}">
                      <a16:colId xmlns:a16="http://schemas.microsoft.com/office/drawing/2014/main" val="20001"/>
                    </a:ext>
                  </a:extLst>
                </a:gridCol>
                <a:gridCol w="2689435">
                  <a:extLst>
                    <a:ext uri="{9D8B030D-6E8A-4147-A177-3AD203B41FA5}">
                      <a16:colId xmlns:a16="http://schemas.microsoft.com/office/drawing/2014/main" val="1811090444"/>
                    </a:ext>
                  </a:extLst>
                </a:gridCol>
                <a:gridCol w="4068635">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690948229"/>
                  </a:ext>
                </a:extLst>
              </a:tr>
            </a:tbl>
          </a:graphicData>
        </a:graphic>
      </p:graphicFrame>
      <p:sp>
        <p:nvSpPr>
          <p:cNvPr id="2" name="Rectangle 1">
            <a:extLst>
              <a:ext uri="{FF2B5EF4-FFF2-40B4-BE49-F238E27FC236}">
                <a16:creationId xmlns:a16="http://schemas.microsoft.com/office/drawing/2014/main" id="{84F4492D-AD9F-47AA-93E9-E4C0EC0E38AF}"/>
              </a:ext>
            </a:extLst>
          </p:cNvPr>
          <p:cNvSpPr/>
          <p:nvPr/>
        </p:nvSpPr>
        <p:spPr>
          <a:xfrm>
            <a:off x="405892" y="1556792"/>
            <a:ext cx="10058509" cy="369332"/>
          </a:xfrm>
          <a:prstGeom prst="rect">
            <a:avLst/>
          </a:prstGeom>
        </p:spPr>
        <p:txBody>
          <a:bodyPr wrap="square">
            <a:spAutoFit/>
          </a:bodyPr>
          <a:lstStyle/>
          <a:p>
            <a:r>
              <a:rPr lang="en-US" dirty="0">
                <a:solidFill>
                  <a:srgbClr val="C41A1A"/>
                </a:solidFill>
                <a:latin typeface="Helvetica" panose="020B0604020202020204" pitchFamily="34" charset="0"/>
              </a:rPr>
              <a:t>Third normal form avoids this by breaking this into separate tables</a:t>
            </a:r>
            <a:endParaRPr lang="en-US" dirty="0">
              <a:solidFill>
                <a:srgbClr val="C41A1A"/>
              </a:solidFill>
            </a:endParaRPr>
          </a:p>
        </p:txBody>
      </p:sp>
      <p:sp>
        <p:nvSpPr>
          <p:cNvPr id="3" name="Rectangle 2">
            <a:extLst>
              <a:ext uri="{FF2B5EF4-FFF2-40B4-BE49-F238E27FC236}">
                <a16:creationId xmlns:a16="http://schemas.microsoft.com/office/drawing/2014/main" id="{93577757-CA6A-4E79-96B1-407A9FAF7633}"/>
              </a:ext>
            </a:extLst>
          </p:cNvPr>
          <p:cNvSpPr/>
          <p:nvPr/>
        </p:nvSpPr>
        <p:spPr>
          <a:xfrm>
            <a:off x="525262" y="4581128"/>
            <a:ext cx="10155244" cy="369332"/>
          </a:xfrm>
          <a:prstGeom prst="rect">
            <a:avLst/>
          </a:prstGeom>
        </p:spPr>
        <p:txBody>
          <a:bodyPr wrap="square">
            <a:spAutoFit/>
          </a:bodyPr>
          <a:lstStyle/>
          <a:p>
            <a:r>
              <a:rPr lang="en-US" dirty="0">
                <a:solidFill>
                  <a:srgbClr val="C41A1A"/>
                </a:solidFill>
                <a:latin typeface="Helvetica" panose="020B0604020202020204" pitchFamily="34" charset="0"/>
              </a:rPr>
              <a:t>Here, the first column is the ID of the professor who’s taking the course.</a:t>
            </a:r>
          </a:p>
        </p:txBody>
      </p:sp>
    </p:spTree>
    <p:extLst>
      <p:ext uri="{BB962C8B-B14F-4D97-AF65-F5344CB8AC3E}">
        <p14:creationId xmlns:p14="http://schemas.microsoft.com/office/powerpoint/2010/main" val="604514155"/>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96FBC-1016-F049-26AB-292242AB2FBC}"/>
            </a:ext>
          </a:extLst>
        </p:cNvPr>
        <p:cNvGrpSpPr/>
        <p:nvPr/>
      </p:nvGrpSpPr>
      <p:grpSpPr>
        <a:xfrm>
          <a:off x="0" y="0"/>
          <a:ext cx="0" cy="0"/>
          <a:chOff x="0" y="0"/>
          <a:chExt cx="0" cy="0"/>
        </a:xfrm>
      </p:grpSpPr>
      <p:sp>
        <p:nvSpPr>
          <p:cNvPr id="58370" name="AutoShape 2" descr="One-to-one entity relationship diagram">
            <a:extLst>
              <a:ext uri="{FF2B5EF4-FFF2-40B4-BE49-F238E27FC236}">
                <a16:creationId xmlns:a16="http://schemas.microsoft.com/office/drawing/2014/main" id="{D48549F1-DAA0-662C-BFD5-18E14B6CE71F}"/>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A999C084-E133-2570-A0F7-9D9D494A15C8}"/>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a:extLst>
              <a:ext uri="{FF2B5EF4-FFF2-40B4-BE49-F238E27FC236}">
                <a16:creationId xmlns:a16="http://schemas.microsoft.com/office/drawing/2014/main" id="{0A27658F-E871-CBBA-0550-E7C266F649E4}"/>
              </a:ext>
            </a:extLst>
          </p:cNvPr>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Fourth Normal Form (3NF)</a:t>
            </a:r>
          </a:p>
        </p:txBody>
      </p:sp>
      <p:sp>
        <p:nvSpPr>
          <p:cNvPr id="4" name="Rectangle 3">
            <a:extLst>
              <a:ext uri="{FF2B5EF4-FFF2-40B4-BE49-F238E27FC236}">
                <a16:creationId xmlns:a16="http://schemas.microsoft.com/office/drawing/2014/main" id="{D6EA668F-9483-9D63-B2E9-2A7A85628634}"/>
              </a:ext>
            </a:extLst>
          </p:cNvPr>
          <p:cNvSpPr/>
          <p:nvPr/>
        </p:nvSpPr>
        <p:spPr>
          <a:xfrm>
            <a:off x="430841" y="548680"/>
            <a:ext cx="11183817" cy="369332"/>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TODO</a:t>
            </a:r>
          </a:p>
        </p:txBody>
      </p:sp>
      <p:sp>
        <p:nvSpPr>
          <p:cNvPr id="10" name="Rectangle 9">
            <a:extLst>
              <a:ext uri="{FF2B5EF4-FFF2-40B4-BE49-F238E27FC236}">
                <a16:creationId xmlns:a16="http://schemas.microsoft.com/office/drawing/2014/main" id="{DF5D0C99-49F2-98C4-90A1-B63DC698A359}"/>
              </a:ext>
            </a:extLst>
          </p:cNvPr>
          <p:cNvSpPr/>
          <p:nvPr/>
        </p:nvSpPr>
        <p:spPr>
          <a:xfrm>
            <a:off x="479376" y="1916832"/>
            <a:ext cx="11233248" cy="1584088"/>
          </a:xfrm>
          <a:prstGeom prst="rect">
            <a:avLst/>
          </a:prstGeom>
        </p:spPr>
        <p:txBody>
          <a:bodyPr wrap="square">
            <a:spAutoFit/>
          </a:bodyPr>
          <a:lstStyle/>
          <a:p>
            <a:r>
              <a:rPr lang="en-US" sz="2000" b="1" dirty="0">
                <a:latin typeface="Palatino Linotype" panose="02040502050505030304" pitchFamily="18" charset="0"/>
              </a:rPr>
              <a:t>A table is said to be in the Fourth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Third Normal form.</a:t>
            </a:r>
          </a:p>
          <a:p>
            <a:pPr marL="457200" indent="-457200">
              <a:lnSpc>
                <a:spcPct val="150000"/>
              </a:lnSpc>
              <a:buFont typeface="+mj-lt"/>
              <a:buAutoNum type="arabicPeriod"/>
            </a:pPr>
            <a:r>
              <a:rPr lang="en-US" sz="2000" dirty="0">
                <a:latin typeface="Palatino Linotype" panose="02040502050505030304" pitchFamily="18" charset="0"/>
              </a:rPr>
              <a:t>And, </a:t>
            </a:r>
            <a:r>
              <a:rPr lang="en-IN" sz="2000" dirty="0"/>
              <a:t>it has NO Multi-Valued (Multi-Valued attribute) Dependency</a:t>
            </a:r>
            <a:endParaRPr lang="en-US" sz="2000" dirty="0">
              <a:latin typeface="Palatino Linotype" panose="02040502050505030304" pitchFamily="18" charset="0"/>
            </a:endParaRPr>
          </a:p>
        </p:txBody>
      </p:sp>
      <p:graphicFrame>
        <p:nvGraphicFramePr>
          <p:cNvPr id="17" name="Table 16">
            <a:extLst>
              <a:ext uri="{FF2B5EF4-FFF2-40B4-BE49-F238E27FC236}">
                <a16:creationId xmlns:a16="http://schemas.microsoft.com/office/drawing/2014/main" id="{85820341-DBB2-AE52-2C0E-9326228B164C}"/>
              </a:ext>
            </a:extLst>
          </p:cNvPr>
          <p:cNvGraphicFramePr>
            <a:graphicFrameLocks noGrp="1"/>
          </p:cNvGraphicFramePr>
          <p:nvPr>
            <p:extLst>
              <p:ext uri="{D42A27DB-BD31-4B8C-83A1-F6EECF244321}">
                <p14:modId xmlns:p14="http://schemas.microsoft.com/office/powerpoint/2010/main" val="20691551"/>
              </p:ext>
            </p:extLst>
          </p:nvPr>
        </p:nvGraphicFramePr>
        <p:xfrm>
          <a:off x="623392" y="3837776"/>
          <a:ext cx="11017223" cy="2255520"/>
        </p:xfrm>
        <a:graphic>
          <a:graphicData uri="http://schemas.openxmlformats.org/drawingml/2006/table">
            <a:tbl>
              <a:tblPr/>
              <a:tblGrid>
                <a:gridCol w="3305167">
                  <a:extLst>
                    <a:ext uri="{9D8B030D-6E8A-4147-A177-3AD203B41FA5}">
                      <a16:colId xmlns:a16="http://schemas.microsoft.com/office/drawing/2014/main" val="20000"/>
                    </a:ext>
                  </a:extLst>
                </a:gridCol>
                <a:gridCol w="3856028">
                  <a:extLst>
                    <a:ext uri="{9D8B030D-6E8A-4147-A177-3AD203B41FA5}">
                      <a16:colId xmlns:a16="http://schemas.microsoft.com/office/drawing/2014/main" val="20001"/>
                    </a:ext>
                  </a:extLst>
                </a:gridCol>
                <a:gridCol w="3856028">
                  <a:extLst>
                    <a:ext uri="{9D8B030D-6E8A-4147-A177-3AD203B41FA5}">
                      <a16:colId xmlns:a16="http://schemas.microsoft.com/office/drawing/2014/main" val="20002"/>
                    </a:ext>
                  </a:extLst>
                </a:gridCol>
              </a:tblGrid>
              <a:tr h="0">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Hobby</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Skill</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
        <p:nvSpPr>
          <p:cNvPr id="2" name="TextBox 1">
            <a:extLst>
              <a:ext uri="{FF2B5EF4-FFF2-40B4-BE49-F238E27FC236}">
                <a16:creationId xmlns:a16="http://schemas.microsoft.com/office/drawing/2014/main" id="{BFB576A1-4901-CB14-C5EA-5C86C1F6CB6E}"/>
              </a:ext>
            </a:extLst>
          </p:cNvPr>
          <p:cNvSpPr txBox="1"/>
          <p:nvPr/>
        </p:nvSpPr>
        <p:spPr>
          <a:xfrm>
            <a:off x="4223792" y="569873"/>
            <a:ext cx="554461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4th NF removes → Multi-Valued  Dependency</a:t>
            </a:r>
          </a:p>
        </p:txBody>
      </p:sp>
    </p:spTree>
    <p:extLst>
      <p:ext uri="{BB962C8B-B14F-4D97-AF65-F5344CB8AC3E}">
        <p14:creationId xmlns:p14="http://schemas.microsoft.com/office/powerpoint/2010/main" val="758231317"/>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4" name="Table 3"/>
          <p:cNvGraphicFramePr>
            <a:graphicFrameLocks noGrp="1"/>
          </p:cNvGraphicFramePr>
          <p:nvPr>
            <p:extLst>
              <p:ext uri="{D42A27DB-BD31-4B8C-83A1-F6EECF244321}">
                <p14:modId xmlns:p14="http://schemas.microsoft.com/office/powerpoint/2010/main" val="3148722992"/>
              </p:ext>
            </p:extLst>
          </p:nvPr>
        </p:nvGraphicFramePr>
        <p:xfrm>
          <a:off x="119336" y="2566456"/>
          <a:ext cx="11881321" cy="2135505"/>
        </p:xfrm>
        <a:graphic>
          <a:graphicData uri="http://schemas.openxmlformats.org/drawingml/2006/table">
            <a:tbl>
              <a:tblPr>
                <a:tableStyleId>{69C7853C-536D-4A76-A0AE-DD22124D55A5}</a:tableStyleId>
              </a:tblPr>
              <a:tblGrid>
                <a:gridCol w="2266832">
                  <a:extLst>
                    <a:ext uri="{9D8B030D-6E8A-4147-A177-3AD203B41FA5}">
                      <a16:colId xmlns:a16="http://schemas.microsoft.com/office/drawing/2014/main" val="20000"/>
                    </a:ext>
                  </a:extLst>
                </a:gridCol>
                <a:gridCol w="2501331">
                  <a:extLst>
                    <a:ext uri="{9D8B030D-6E8A-4147-A177-3AD203B41FA5}">
                      <a16:colId xmlns:a16="http://schemas.microsoft.com/office/drawing/2014/main" val="20001"/>
                    </a:ext>
                  </a:extLst>
                </a:gridCol>
                <a:gridCol w="2579497">
                  <a:extLst>
                    <a:ext uri="{9D8B030D-6E8A-4147-A177-3AD203B41FA5}">
                      <a16:colId xmlns:a16="http://schemas.microsoft.com/office/drawing/2014/main" val="20002"/>
                    </a:ext>
                  </a:extLst>
                </a:gridCol>
                <a:gridCol w="2557243">
                  <a:extLst>
                    <a:ext uri="{9D8B030D-6E8A-4147-A177-3AD203B41FA5}">
                      <a16:colId xmlns:a16="http://schemas.microsoft.com/office/drawing/2014/main" val="20003"/>
                    </a:ext>
                  </a:extLst>
                </a:gridCol>
                <a:gridCol w="1976418">
                  <a:extLst>
                    <a:ext uri="{9D8B030D-6E8A-4147-A177-3AD203B41FA5}">
                      <a16:colId xmlns:a16="http://schemas.microsoft.com/office/drawing/2014/main" val="20004"/>
                    </a:ext>
                  </a:extLst>
                </a:gridCol>
              </a:tblGrid>
              <a:tr h="463021">
                <a:tc>
                  <a:txBody>
                    <a:bodyPr/>
                    <a:lstStyle/>
                    <a:p>
                      <a:pPr algn="ctr" fontAlgn="b"/>
                      <a:r>
                        <a:rPr lang="en-US" sz="2000" u="none" strike="noStrike" dirty="0">
                          <a:solidFill>
                            <a:srgbClr val="C00000"/>
                          </a:solidFill>
                          <a:effectLst/>
                        </a:rPr>
                        <a:t>Salesman Name</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Region1</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Region2</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Region3</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Region4</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0"/>
                  </a:ext>
                </a:extLst>
              </a:tr>
              <a:tr h="418121">
                <a:tc>
                  <a:txBody>
                    <a:bodyPr/>
                    <a:lstStyle/>
                    <a:p>
                      <a:pPr algn="l" fontAlgn="b"/>
                      <a:r>
                        <a:rPr lang="en-US" sz="1800" u="none" strike="noStrike" dirty="0">
                          <a:effectLst/>
                        </a:rPr>
                        <a:t>  Saleel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 </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a:t>
                      </a:r>
                      <a:r>
                        <a:rPr lang="en-US" sz="1800" u="none" strike="noStrike" baseline="0" dirty="0">
                          <a:effectLst/>
                        </a:rPr>
                        <a:t> 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Cycle, M</a:t>
                      </a:r>
                      <a:r>
                        <a:rPr lang="en-US" sz="1800" b="0" i="0" u="none" strike="noStrike" dirty="0">
                          <a:solidFill>
                            <a:schemeClr val="dk1"/>
                          </a:solidFill>
                          <a:effectLst/>
                          <a:latin typeface="+mn-lt"/>
                          <a:cs typeface="+mn-cs"/>
                        </a:rPr>
                        <a:t>otorcycle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Car</a:t>
                      </a:r>
                    </a:p>
                  </a:txBody>
                  <a:tcPr marL="7144" marR="7144" marT="9525" marB="0" anchor="ctr"/>
                </a:tc>
                <a:extLst>
                  <a:ext uri="{0D108BD9-81ED-4DB2-BD59-A6C34878D82A}">
                    <a16:rowId xmlns:a16="http://schemas.microsoft.com/office/drawing/2014/main" val="10001"/>
                  </a:ext>
                </a:extLst>
              </a:tr>
              <a:tr h="418121">
                <a:tc>
                  <a:txBody>
                    <a:bodyPr/>
                    <a:lstStyle/>
                    <a:p>
                      <a:pPr algn="l" fontAlgn="b"/>
                      <a:r>
                        <a:rPr lang="en-US" sz="1800" u="none" strike="noStrike" dirty="0">
                          <a:effectLst/>
                        </a:rPr>
                        <a:t>  Rahul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chemeClr val="dk1"/>
                          </a:solidFill>
                          <a:effectLst/>
                          <a:latin typeface="+mn-lt"/>
                          <a:cs typeface="+mn-cs"/>
                        </a:rPr>
                        <a:t>Shirt,</a:t>
                      </a:r>
                      <a:r>
                        <a:rPr lang="en-US" sz="1800" b="0" i="0" u="none" strike="noStrike" baseline="0" dirty="0">
                          <a:solidFill>
                            <a:schemeClr val="dk1"/>
                          </a:solidFill>
                          <a:effectLst/>
                          <a:latin typeface="+mn-lt"/>
                          <a:cs typeface="+mn-cs"/>
                        </a:rPr>
                        <a:t> Pant, Gloves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Gloves, Book, Pencil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Pencil, Notebook</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2"/>
                  </a:ext>
                </a:extLst>
              </a:tr>
              <a:tr h="418121">
                <a:tc>
                  <a:txBody>
                    <a:bodyPr/>
                    <a:lstStyle/>
                    <a:p>
                      <a:pPr algn="l" fontAlgn="b"/>
                      <a:r>
                        <a:rPr lang="en-US" sz="1800" u="none" strike="noStrike" dirty="0">
                          <a:effectLst/>
                        </a:rPr>
                        <a:t>  Omkar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a:t>
                      </a:r>
                      <a:r>
                        <a:rPr lang="en-US" sz="1800" u="none" strike="noStrike" baseline="0" dirty="0">
                          <a:effectLst/>
                        </a:rPr>
                        <a:t>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 Drives, CD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Monitors, Scanners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Scanner, CD</a:t>
                      </a:r>
                    </a:p>
                  </a:txBody>
                  <a:tcPr marL="7144" marR="7144" marT="9525" marB="0" anchor="ctr"/>
                </a:tc>
                <a:extLst>
                  <a:ext uri="{0D108BD9-81ED-4DB2-BD59-A6C34878D82A}">
                    <a16:rowId xmlns:a16="http://schemas.microsoft.com/office/drawing/2014/main" val="10003"/>
                  </a:ext>
                </a:extLst>
              </a:tr>
              <a:tr h="418121">
                <a:tc>
                  <a:txBody>
                    <a:bodyPr/>
                    <a:lstStyle/>
                    <a:p>
                      <a:pPr algn="l" fontAlgn="b"/>
                      <a:r>
                        <a:rPr lang="en-US" sz="1800" u="none" strike="noStrike" dirty="0">
                          <a:effectLst/>
                        </a:rPr>
                        <a:t>  Ninad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Photos,</a:t>
                      </a:r>
                      <a:r>
                        <a:rPr lang="en-US" sz="1800" u="none" strike="noStrike" baseline="0" dirty="0">
                          <a:effectLst/>
                        </a:rPr>
                        <a:t> Photo Frames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Shirt, Pants, Gloves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Cycle, Motorcycle</a:t>
                      </a:r>
                    </a:p>
                  </a:txBody>
                  <a:tcPr marL="7144" marR="7144" marT="9525" marB="0" anchor="ctr"/>
                </a:tc>
                <a:tc>
                  <a:txBody>
                    <a:bodyPr/>
                    <a:lstStyle/>
                    <a:p>
                      <a:pPr algn="l" fontAlgn="b"/>
                      <a:r>
                        <a:rPr lang="en-US" sz="1800" u="none" strike="noStrike" dirty="0">
                          <a:effectLst/>
                        </a:rPr>
                        <a:t>Bus, Cycle, Car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4"/>
                  </a:ext>
                </a:extLst>
              </a:tr>
            </a:tbl>
          </a:graphicData>
        </a:graphic>
      </p:graphicFrame>
      <p:sp>
        <p:nvSpPr>
          <p:cNvPr id="5" name="TextBox 4"/>
          <p:cNvSpPr txBox="1"/>
          <p:nvPr/>
        </p:nvSpPr>
        <p:spPr>
          <a:xfrm>
            <a:off x="299356" y="160338"/>
            <a:ext cx="4324517" cy="400110"/>
          </a:xfrm>
          <a:prstGeom prst="rect">
            <a:avLst/>
          </a:prstGeom>
          <a:noFill/>
        </p:spPr>
        <p:txBody>
          <a:bodyPr wrap="none" rtlCol="0">
            <a:spAutoFit/>
          </a:bodyPr>
          <a:lstStyle/>
          <a:p>
            <a:r>
              <a:rPr lang="en-US" sz="2000" dirty="0">
                <a:solidFill>
                  <a:srgbClr val="C41A1A"/>
                </a:solidFill>
              </a:rPr>
              <a:t>If this is the data then convert in in 3NF</a:t>
            </a:r>
          </a:p>
        </p:txBody>
      </p:sp>
      <p:sp>
        <p:nvSpPr>
          <p:cNvPr id="7" name="TextBox 6"/>
          <p:cNvSpPr txBox="1"/>
          <p:nvPr/>
        </p:nvSpPr>
        <p:spPr>
          <a:xfrm>
            <a:off x="299356" y="573648"/>
            <a:ext cx="6629400" cy="1631216"/>
          </a:xfrm>
          <a:prstGeom prst="rect">
            <a:avLst/>
          </a:prstGeom>
          <a:noFill/>
        </p:spPr>
        <p:txBody>
          <a:bodyPr wrap="square" rtlCol="0">
            <a:spAutoFit/>
          </a:bodyPr>
          <a:lstStyle/>
          <a:p>
            <a:r>
              <a:rPr lang="en-US" sz="2000" dirty="0"/>
              <a:t>Business Rules.</a:t>
            </a:r>
          </a:p>
          <a:p>
            <a:endParaRPr lang="en-US" sz="800" dirty="0"/>
          </a:p>
          <a:p>
            <a:pPr marL="457200" indent="-457200">
              <a:buFont typeface="+mj-lt"/>
              <a:buAutoNum type="arabicPeriod"/>
            </a:pPr>
            <a:r>
              <a:rPr lang="en-US" sz="2000" dirty="0"/>
              <a:t>A salesman can sale one or many products.</a:t>
            </a:r>
          </a:p>
          <a:p>
            <a:pPr marL="457200" indent="-457200">
              <a:buFont typeface="+mj-lt"/>
              <a:buAutoNum type="arabicPeriod"/>
            </a:pPr>
            <a:endParaRPr lang="en-US" sz="600" dirty="0"/>
          </a:p>
          <a:p>
            <a:pPr marL="457200" indent="-457200">
              <a:buFont typeface="+mj-lt"/>
              <a:buAutoNum type="arabicPeriod"/>
            </a:pPr>
            <a:r>
              <a:rPr lang="en-US" sz="2000" dirty="0"/>
              <a:t>A salesman can sale a product in one or many regions.</a:t>
            </a:r>
          </a:p>
          <a:p>
            <a:pPr marL="457200" indent="-457200">
              <a:buFont typeface="+mj-lt"/>
              <a:buAutoNum type="arabicPeriod"/>
            </a:pPr>
            <a:endParaRPr lang="en-US" sz="600" dirty="0"/>
          </a:p>
          <a:p>
            <a:pPr marL="457200" indent="-457200">
              <a:buFont typeface="+mj-lt"/>
              <a:buAutoNum type="arabicPeriod"/>
            </a:pPr>
            <a:r>
              <a:rPr lang="en-US" sz="2000" dirty="0"/>
              <a:t>A product can be sold in one or may regions.</a:t>
            </a:r>
          </a:p>
        </p:txBody>
      </p:sp>
      <p:sp>
        <p:nvSpPr>
          <p:cNvPr id="6" name="TextBox 5">
            <a:extLst>
              <a:ext uri="{FF2B5EF4-FFF2-40B4-BE49-F238E27FC236}">
                <a16:creationId xmlns:a16="http://schemas.microsoft.com/office/drawing/2014/main" id="{C1B86ED1-36A3-8179-0D05-560D06FC7E5D}"/>
              </a:ext>
            </a:extLst>
          </p:cNvPr>
          <p:cNvSpPr txBox="1"/>
          <p:nvPr/>
        </p:nvSpPr>
        <p:spPr>
          <a:xfrm>
            <a:off x="191344" y="4989993"/>
            <a:ext cx="4032448" cy="1754326"/>
          </a:xfrm>
          <a:prstGeom prst="rect">
            <a:avLst/>
          </a:prstGeom>
          <a:noFill/>
        </p:spPr>
        <p:txBody>
          <a:bodyPr wrap="square">
            <a:spAutoFit/>
          </a:bodyPr>
          <a:lstStyle/>
          <a:p>
            <a:r>
              <a:rPr lang="en-IN" b="1" dirty="0">
                <a:latin typeface="Palatino Linotype" panose="02040502050505030304" pitchFamily="18" charset="0"/>
              </a:rPr>
              <a:t>Entities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Salesman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Region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junction table that connects all 3</a:t>
            </a:r>
          </a:p>
        </p:txBody>
      </p:sp>
      <p:sp>
        <p:nvSpPr>
          <p:cNvPr id="11" name="TextBox 10">
            <a:extLst>
              <a:ext uri="{FF2B5EF4-FFF2-40B4-BE49-F238E27FC236}">
                <a16:creationId xmlns:a16="http://schemas.microsoft.com/office/drawing/2014/main" id="{0B875279-74AF-5CD7-F41B-B8C555CC7C7E}"/>
              </a:ext>
            </a:extLst>
          </p:cNvPr>
          <p:cNvSpPr txBox="1"/>
          <p:nvPr/>
        </p:nvSpPr>
        <p:spPr>
          <a:xfrm>
            <a:off x="5186198" y="4730833"/>
            <a:ext cx="6814458" cy="2031325"/>
          </a:xfrm>
          <a:prstGeom prst="rect">
            <a:avLst/>
          </a:prstGeom>
          <a:noFill/>
        </p:spPr>
        <p:txBody>
          <a:bodyPr wrap="square">
            <a:spAutoFit/>
          </a:bodyPr>
          <a:lstStyle/>
          <a:p>
            <a:r>
              <a:rPr lang="en-IN" dirty="0">
                <a:latin typeface="Palatino Linotype" panose="02040502050505030304" pitchFamily="18" charset="0"/>
              </a:rPr>
              <a:t>                                                 Salesman         Product       Region</a:t>
            </a:r>
          </a:p>
          <a:p>
            <a:r>
              <a:rPr lang="en-IN" dirty="0">
                <a:latin typeface="Palatino Linotype" panose="02040502050505030304" pitchFamily="18" charset="0"/>
              </a:rPr>
              <a:t>                                                       |                      |                    |</a:t>
            </a:r>
          </a:p>
          <a:p>
            <a:r>
              <a:rPr lang="en-IN" dirty="0">
                <a:latin typeface="Palatino Linotype" panose="02040502050505030304" pitchFamily="18" charset="0"/>
              </a:rPr>
              <a:t>                                                       |                      |                    |</a:t>
            </a:r>
          </a:p>
          <a:p>
            <a:r>
              <a:rPr lang="en-IN" dirty="0">
                <a:latin typeface="Palatino Linotype" panose="02040502050505030304" pitchFamily="18" charset="0"/>
              </a:rPr>
              <a:t>                                            +-------+        +---------+      +---------+ </a:t>
            </a:r>
          </a:p>
          <a:p>
            <a:r>
              <a:rPr lang="en-IN" dirty="0">
                <a:latin typeface="Palatino Linotype" panose="02040502050505030304" pitchFamily="18" charset="0"/>
              </a:rPr>
              <a:t>                                                       |                      |                    |</a:t>
            </a:r>
          </a:p>
          <a:p>
            <a:r>
              <a:rPr lang="en-IN" dirty="0">
                <a:latin typeface="Palatino Linotype" panose="02040502050505030304" pitchFamily="18" charset="0"/>
              </a:rPr>
              <a:t>                                                       |                      |                    | Salesman_Product_Region (salesman_id, product_id, </a:t>
            </a:r>
            <a:r>
              <a:rPr lang="en-IN" dirty="0" err="1">
                <a:latin typeface="Palatino Linotype" panose="02040502050505030304" pitchFamily="18" charset="0"/>
              </a:rPr>
              <a:t>region_id</a:t>
            </a:r>
            <a:r>
              <a:rPr lang="en-IN" dirty="0">
                <a:latin typeface="Palatino Linotype" panose="02040502050505030304" pitchFamily="18" charset="0"/>
              </a:rPr>
              <a:t>)</a:t>
            </a:r>
          </a:p>
        </p:txBody>
      </p:sp>
      <p:sp>
        <p:nvSpPr>
          <p:cNvPr id="8" name="TextBox 7">
            <a:extLst>
              <a:ext uri="{FF2B5EF4-FFF2-40B4-BE49-F238E27FC236}">
                <a16:creationId xmlns:a16="http://schemas.microsoft.com/office/drawing/2014/main" id="{B7536B43-CC9B-77A6-1313-40421E1E684B}"/>
              </a:ext>
            </a:extLst>
          </p:cNvPr>
          <p:cNvSpPr txBox="1"/>
          <p:nvPr/>
        </p:nvSpPr>
        <p:spPr>
          <a:xfrm>
            <a:off x="7439472" y="573648"/>
            <a:ext cx="4752528" cy="1600438"/>
          </a:xfrm>
          <a:prstGeom prst="rect">
            <a:avLst/>
          </a:prstGeom>
          <a:noFill/>
        </p:spPr>
        <p:txBody>
          <a:bodyPr wrap="square">
            <a:spAutoFit/>
          </a:bodyPr>
          <a:lstStyle/>
          <a:p>
            <a:pPr marL="342900" indent="-342900">
              <a:buFont typeface="Arial" panose="020B0604020202020204" pitchFamily="34" charset="0"/>
              <a:buChar char="•"/>
            </a:pPr>
            <a:r>
              <a:rPr lang="en-IN" sz="2000" dirty="0">
                <a:latin typeface="Gill Sans MT (Body)"/>
              </a:rPr>
              <a:t>Salesman(salesmanID, salesmanName)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Region(regionID, regionName)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Product(productID, productName)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Sales(salesmanID, regionID, productID)</a:t>
            </a:r>
          </a:p>
        </p:txBody>
      </p:sp>
      <p:sp>
        <p:nvSpPr>
          <p:cNvPr id="9" name="TextBox 8">
            <a:extLst>
              <a:ext uri="{FF2B5EF4-FFF2-40B4-BE49-F238E27FC236}">
                <a16:creationId xmlns:a16="http://schemas.microsoft.com/office/drawing/2014/main" id="{839E7E78-000A-BADB-D0C4-9E9DBB1B387E}"/>
              </a:ext>
            </a:extLst>
          </p:cNvPr>
          <p:cNvSpPr txBox="1"/>
          <p:nvPr/>
        </p:nvSpPr>
        <p:spPr>
          <a:xfrm>
            <a:off x="7414059" y="160338"/>
            <a:ext cx="2044149" cy="400110"/>
          </a:xfrm>
          <a:prstGeom prst="rect">
            <a:avLst/>
          </a:prstGeom>
          <a:noFill/>
        </p:spPr>
        <p:txBody>
          <a:bodyPr wrap="none" rtlCol="0">
            <a:spAutoFit/>
          </a:bodyPr>
          <a:lstStyle/>
          <a:p>
            <a:r>
              <a:rPr lang="en-US" sz="2000" dirty="0">
                <a:solidFill>
                  <a:srgbClr val="C41A1A"/>
                </a:solidFill>
              </a:rPr>
              <a:t>Relational schema</a:t>
            </a:r>
          </a:p>
        </p:txBody>
      </p:sp>
    </p:spTree>
    <p:extLst>
      <p:ext uri="{BB962C8B-B14F-4D97-AF65-F5344CB8AC3E}">
        <p14:creationId xmlns:p14="http://schemas.microsoft.com/office/powerpoint/2010/main" val="140578913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P spid="8" grpId="0"/>
    </p:bldLst>
  </p:timing>
</p:sld>
</file>

<file path=ppt/slides/slide1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596" y="1371603"/>
            <a:ext cx="9142810" cy="1015663"/>
          </a:xfrm>
          <a:prstGeom prst="rect">
            <a:avLst/>
          </a:prstGeom>
        </p:spPr>
        <p:txBody>
          <a:bodyPr wrap="square">
            <a:spAutoFit/>
          </a:bodyPr>
          <a:lstStyle/>
          <a:p>
            <a:pPr algn="ctr"/>
            <a:r>
              <a:rPr lang="en-IN" sz="3200" b="1" dirty="0">
                <a:latin typeface="Arial" panose="020B0604020202020204" pitchFamily="34" charset="0"/>
                <a:cs typeface="Arial" panose="020B0604020202020204" pitchFamily="34" charset="0"/>
              </a:rPr>
              <a:t>MySQL</a:t>
            </a:r>
            <a:r>
              <a:rPr lang="en-IN" sz="3200" dirty="0">
                <a:latin typeface="Arial" panose="020B0604020202020204" pitchFamily="34" charset="0"/>
                <a:cs typeface="Arial" panose="020B0604020202020204" pitchFamily="34" charset="0"/>
              </a:rPr>
              <a:t> </a:t>
            </a:r>
            <a:r>
              <a:rPr lang="en-IN" sz="2800" dirty="0">
                <a:latin typeface="Arial" panose="020B0604020202020204" pitchFamily="34" charset="0"/>
                <a:cs typeface="Arial" panose="020B0604020202020204" pitchFamily="34" charset="0"/>
              </a:rPr>
              <a:t>is the most popular </a:t>
            </a:r>
            <a:r>
              <a:rPr lang="en-IN" sz="3200" b="1" dirty="0">
                <a:latin typeface="Arial" panose="020B0604020202020204" pitchFamily="34" charset="0"/>
                <a:cs typeface="Arial" panose="020B0604020202020204" pitchFamily="34" charset="0"/>
              </a:rPr>
              <a:t>Open Source</a:t>
            </a:r>
            <a:r>
              <a:rPr lang="en-IN" sz="2800" b="1" dirty="0">
                <a:latin typeface="Arial" panose="020B0604020202020204" pitchFamily="34" charset="0"/>
                <a:cs typeface="Arial" panose="020B0604020202020204" pitchFamily="34" charset="0"/>
              </a:rPr>
              <a:t> </a:t>
            </a:r>
          </a:p>
          <a:p>
            <a:pPr algn="ctr"/>
            <a:r>
              <a:rPr lang="en-IN" sz="2800" dirty="0">
                <a:latin typeface="Arial" panose="020B0604020202020204" pitchFamily="34" charset="0"/>
                <a:cs typeface="Arial" panose="020B0604020202020204" pitchFamily="34" charset="0"/>
              </a:rPr>
              <a:t>Relational Database Management System.</a:t>
            </a:r>
            <a:endParaRPr lang="en-US" sz="3600" b="1" dirty="0">
              <a:latin typeface="Arial" pitchFamily="34" charset="0"/>
              <a:cs typeface="Arial" pitchFamily="34" charset="0"/>
            </a:endParaRPr>
          </a:p>
        </p:txBody>
      </p:sp>
      <p:sp>
        <p:nvSpPr>
          <p:cNvPr id="4" name="Rectangle 3"/>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1753167" y="2819400"/>
            <a:ext cx="8685669" cy="523220"/>
          </a:xfrm>
          <a:prstGeom prst="rect">
            <a:avLst/>
          </a:prstGeom>
        </p:spPr>
        <p:txBody>
          <a:bodyPr wrap="square">
            <a:spAutoFit/>
          </a:bodyPr>
          <a:lstStyle/>
          <a:p>
            <a:pPr algn="ctr"/>
            <a:r>
              <a:rPr lang="en-IN" sz="1400" dirty="0">
                <a:latin typeface="Arial" panose="020B0604020202020204" pitchFamily="34" charset="0"/>
                <a:cs typeface="Arial" panose="020B0604020202020204" pitchFamily="34" charset="0"/>
              </a:rPr>
              <a:t>MySQL was created by a Swedish company - MySQL AB that was founded in 1995. It was acquired by Sun Microsystems in 2008; Sun was in turn acquired by Oracle Corporation in 2010.</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08168" y="4470735"/>
            <a:ext cx="4202657" cy="2185666"/>
          </a:xfrm>
          <a:prstGeom prst="rect">
            <a:avLst/>
          </a:prstGeom>
        </p:spPr>
      </p:pic>
      <p:sp>
        <p:nvSpPr>
          <p:cNvPr id="5" name="TextBox 4"/>
          <p:cNvSpPr txBox="1"/>
          <p:nvPr/>
        </p:nvSpPr>
        <p:spPr>
          <a:xfrm>
            <a:off x="119336" y="3740839"/>
            <a:ext cx="10657184" cy="1200329"/>
          </a:xfrm>
          <a:prstGeom prst="rect">
            <a:avLst/>
          </a:prstGeom>
          <a:noFill/>
        </p:spPr>
        <p:txBody>
          <a:bodyPr wrap="square" rtlCol="0">
            <a:spAutoFit/>
          </a:bodyPr>
          <a:lstStyle/>
          <a:p>
            <a:r>
              <a:rPr lang="en-IN" sz="2000" dirty="0"/>
              <a:t>When you use MySQL, you’re actually using at least two programmes. One program is the MySQL server </a:t>
            </a:r>
            <a:r>
              <a:rPr lang="en-IN" sz="2800" dirty="0"/>
              <a:t>(</a:t>
            </a:r>
            <a:r>
              <a:rPr lang="en-IN" sz="3200" i="1" dirty="0">
                <a:solidFill>
                  <a:srgbClr val="FF0000"/>
                </a:solidFill>
              </a:rPr>
              <a:t>mysqld.exe</a:t>
            </a:r>
            <a:r>
              <a:rPr lang="en-IN" sz="2800" dirty="0"/>
              <a:t>)</a:t>
            </a:r>
            <a:r>
              <a:rPr lang="en-IN" sz="2000" i="1" dirty="0"/>
              <a:t> </a:t>
            </a:r>
            <a:r>
              <a:rPr lang="en-IN" sz="2000" dirty="0"/>
              <a:t>and other program is MySQL client program </a:t>
            </a:r>
            <a:r>
              <a:rPr lang="en-IN" sz="2800" dirty="0"/>
              <a:t>(</a:t>
            </a:r>
            <a:r>
              <a:rPr lang="en-IN" sz="3200" i="1" dirty="0">
                <a:solidFill>
                  <a:srgbClr val="FF0000"/>
                </a:solidFill>
              </a:rPr>
              <a:t>mysql.exe</a:t>
            </a:r>
            <a:r>
              <a:rPr lang="en-IN" sz="2800" dirty="0"/>
              <a:t>)</a:t>
            </a:r>
            <a:r>
              <a:rPr lang="en-IN" sz="2000" dirty="0"/>
              <a:t>  that connects to the database server.</a:t>
            </a:r>
            <a:endParaRPr lang="en-IN" sz="2000" i="1" dirty="0"/>
          </a:p>
        </p:txBody>
      </p:sp>
    </p:spTree>
    <p:extLst>
      <p:ext uri="{BB962C8B-B14F-4D97-AF65-F5344CB8AC3E}">
        <p14:creationId xmlns:p14="http://schemas.microsoft.com/office/powerpoint/2010/main" val="1497936275"/>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SQL?</a:t>
            </a:r>
          </a:p>
        </p:txBody>
      </p:sp>
    </p:spTree>
    <p:extLst>
      <p:ext uri="{BB962C8B-B14F-4D97-AF65-F5344CB8AC3E}">
        <p14:creationId xmlns:p14="http://schemas.microsoft.com/office/powerpoint/2010/main" val="1052945662"/>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3" name="Rectangle 2"/>
          <p:cNvSpPr/>
          <p:nvPr/>
        </p:nvSpPr>
        <p:spPr>
          <a:xfrm>
            <a:off x="335360" y="1220559"/>
            <a:ext cx="11449272" cy="1200329"/>
          </a:xfrm>
          <a:prstGeom prst="rect">
            <a:avLst/>
          </a:prstGeom>
        </p:spPr>
        <p:txBody>
          <a:bodyPr wrap="square">
            <a:spAutoFit/>
          </a:bodyPr>
          <a:lstStyle/>
          <a:p>
            <a:pPr algn="just"/>
            <a:r>
              <a:rPr lang="en-IN" sz="2400" dirty="0">
                <a:latin typeface="Segoe UI Light" panose="020B0502040204020203" pitchFamily="34" charset="0"/>
                <a:cs typeface="Segoe UI Light" panose="020B0502040204020203" pitchFamily="34" charset="0"/>
              </a:rPr>
              <a:t>SQL (</a:t>
            </a:r>
            <a:r>
              <a:rPr lang="en-IN" sz="2400" b="1" dirty="0">
                <a:latin typeface="Segoe UI Light" panose="020B0502040204020203" pitchFamily="34" charset="0"/>
                <a:cs typeface="Segoe UI Light" panose="020B0502040204020203" pitchFamily="34" charset="0"/>
              </a:rPr>
              <a:t>Structured Query Language</a:t>
            </a:r>
            <a:r>
              <a:rPr lang="en-IN" sz="2400" dirty="0">
                <a:latin typeface="Segoe UI Light" panose="020B0502040204020203" pitchFamily="34" charset="0"/>
                <a:cs typeface="Segoe UI Light" panose="020B0502040204020203" pitchFamily="34" charset="0"/>
              </a:rPr>
              <a:t>) is a database language designed and developed for managing data in relational database management systems (</a:t>
            </a:r>
            <a:r>
              <a:rPr lang="en-IN" sz="2400" b="1" dirty="0">
                <a:latin typeface="Segoe UI Light" panose="020B0502040204020203" pitchFamily="34" charset="0"/>
                <a:cs typeface="Segoe UI Light" panose="020B0502040204020203" pitchFamily="34" charset="0"/>
              </a:rPr>
              <a:t>RDBMS</a:t>
            </a:r>
            <a:r>
              <a:rPr lang="en-IN" sz="2400" dirty="0">
                <a:latin typeface="Segoe UI Light" panose="020B0502040204020203" pitchFamily="34" charset="0"/>
                <a:cs typeface="Segoe UI Light" panose="020B0502040204020203" pitchFamily="34" charset="0"/>
              </a:rPr>
              <a:t>). SQL is common language for all Relational Databases.</a:t>
            </a:r>
          </a:p>
        </p:txBody>
      </p:sp>
      <p:pic>
        <p:nvPicPr>
          <p:cNvPr id="9" name="Picture 2" descr="Related image">
            <a:extLst>
              <a:ext uri="{FF2B5EF4-FFF2-40B4-BE49-F238E27FC236}">
                <a16:creationId xmlns:a16="http://schemas.microsoft.com/office/drawing/2014/main" id="{92C2FCF3-CBD3-40C1-8E31-4F775FB3DCB0}"/>
              </a:ext>
            </a:extLst>
          </p:cNvPr>
          <p:cNvPicPr>
            <a:picLocks noChangeAspect="1" noChangeArrowheads="1"/>
          </p:cNvPicPr>
          <p:nvPr/>
        </p:nvPicPr>
        <p:blipFill>
          <a:blip r:embed="rId2" cstate="print"/>
          <a:srcRect/>
          <a:stretch>
            <a:fillRect/>
          </a:stretch>
        </p:blipFill>
        <p:spPr bwMode="auto">
          <a:xfrm>
            <a:off x="1524596" y="2966115"/>
            <a:ext cx="8838048" cy="3463560"/>
          </a:xfrm>
          <a:prstGeom prst="rect">
            <a:avLst/>
          </a:prstGeom>
          <a:noFill/>
        </p:spPr>
      </p:pic>
      <p:sp>
        <p:nvSpPr>
          <p:cNvPr id="8" name="TextBox 7">
            <a:extLst>
              <a:ext uri="{FF2B5EF4-FFF2-40B4-BE49-F238E27FC236}">
                <a16:creationId xmlns:a16="http://schemas.microsoft.com/office/drawing/2014/main" id="{2F91AA89-F580-38E9-40D5-DD87CCC3F2D1}"/>
              </a:ext>
            </a:extLst>
          </p:cNvPr>
          <p:cNvSpPr txBox="1"/>
          <p:nvPr/>
        </p:nvSpPr>
        <p:spPr>
          <a:xfrm>
            <a:off x="89038" y="139279"/>
            <a:ext cx="6727042" cy="80021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Palatino Linotype" panose="02040502050505030304" pitchFamily="18" charset="0"/>
                <a:ea typeface="Segoe UI Symbol" panose="020B0502040204020203" pitchFamily="34" charset="0"/>
                <a:cs typeface="Segoe UI Semilight" panose="020B0402040204020203" pitchFamily="34" charset="0"/>
              </a:rPr>
              <a:t>EXPLICIT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or</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IMPLICIT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commit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sz="1800" b="1" dirty="0">
                <a:latin typeface="Palatino Linotype" panose="02040502050505030304" pitchFamily="18" charset="0"/>
                <a:ea typeface="Segoe UI Symbol" panose="020B0502040204020203" pitchFamily="34" charset="0"/>
                <a:cs typeface="Segoe UI Semilight" panose="020B0402040204020203" pitchFamily="34" charset="0"/>
              </a:rPr>
              <a:t>will commit the data.</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1415780428"/>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2" name="TextBox 10">
            <a:extLst>
              <a:ext uri="{FF2B5EF4-FFF2-40B4-BE49-F238E27FC236}">
                <a16:creationId xmlns:a16="http://schemas.microsoft.com/office/drawing/2014/main" id="{76AD5C52-76F5-FBBE-50B4-490C31D007E3}"/>
              </a:ext>
            </a:extLst>
          </p:cNvPr>
          <p:cNvSpPr txBox="1"/>
          <p:nvPr/>
        </p:nvSpPr>
        <p:spPr>
          <a:xfrm>
            <a:off x="85102" y="188640"/>
            <a:ext cx="11879550" cy="193899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implicit commit</a:t>
            </a:r>
            <a:r>
              <a:rPr lang="en-IN" dirty="0">
                <a:solidFill>
                  <a:srgbClr val="0070C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occurs </a:t>
            </a:r>
            <a:r>
              <a:rPr lang="en-IN" b="1" i="1" u="sng" dirty="0">
                <a:solidFill>
                  <a:srgbClr val="FD8603"/>
                </a:solidFill>
                <a:latin typeface="Arial" panose="020B0604020202020204" pitchFamily="34" charset="0"/>
                <a:cs typeface="Arial" panose="020B0604020202020204" pitchFamily="34" charset="0"/>
              </a:rPr>
              <a:t>automatically</a:t>
            </a:r>
            <a:r>
              <a:rPr lang="en-IN" dirty="0">
                <a:latin typeface="Arial" panose="020B0604020202020204" pitchFamily="34" charset="0"/>
                <a:cs typeface="Arial" panose="020B0604020202020204" pitchFamily="34" charset="0"/>
              </a:rPr>
              <a:t> in MySQL </a:t>
            </a:r>
            <a:r>
              <a:rPr lang="en-IN" b="1" i="1" dirty="0">
                <a:latin typeface="Arial" panose="020B0604020202020204" pitchFamily="34" charset="0"/>
                <a:cs typeface="Arial" panose="020B0604020202020204" pitchFamily="34" charset="0"/>
              </a:rPr>
              <a:t>without the need of COMMIT command</a:t>
            </a:r>
            <a:r>
              <a:rPr lang="en-IN"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This means changes made by the SQL statement are immediately saved to the database and </a:t>
            </a:r>
            <a:r>
              <a:rPr lang="en-US" b="1" i="1" dirty="0">
                <a:solidFill>
                  <a:schemeClr val="accent5">
                    <a:lumMod val="75000"/>
                  </a:schemeClr>
                </a:solidFill>
                <a:latin typeface="Arial" panose="020B0604020202020204" pitchFamily="34" charset="0"/>
                <a:cs typeface="Arial" panose="020B0604020202020204" pitchFamily="34" charset="0"/>
              </a:rPr>
              <a:t>cannot be rolled back</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explicit commit </a:t>
            </a:r>
            <a:r>
              <a:rPr lang="en-IN" dirty="0">
                <a:latin typeface="Arial" panose="020B0604020202020204" pitchFamily="34" charset="0"/>
                <a:cs typeface="Arial" panose="020B0604020202020204" pitchFamily="34" charset="0"/>
              </a:rPr>
              <a:t>is done by the user issuing a </a:t>
            </a:r>
            <a:r>
              <a:rPr lang="en-IN" b="1" i="1" u="sng" dirty="0">
                <a:solidFill>
                  <a:srgbClr val="FD8603"/>
                </a:solidFill>
                <a:latin typeface="Arial" panose="020B0604020202020204" pitchFamily="34" charset="0"/>
                <a:cs typeface="Arial" panose="020B0604020202020204" pitchFamily="34" charset="0"/>
              </a:rPr>
              <a:t>COMMIT</a:t>
            </a:r>
            <a:r>
              <a:rPr lang="en-IN" dirty="0">
                <a:latin typeface="Arial" panose="020B0604020202020204" pitchFamily="34" charset="0"/>
                <a:cs typeface="Arial" panose="020B0604020202020204" pitchFamily="34" charset="0"/>
              </a:rPr>
              <a:t> command to </a:t>
            </a:r>
            <a:r>
              <a:rPr lang="en-IN" b="1" i="1" dirty="0">
                <a:latin typeface="Arial" panose="020B0604020202020204" pitchFamily="34" charset="0"/>
                <a:cs typeface="Arial" panose="020B0604020202020204" pitchFamily="34" charset="0"/>
              </a:rPr>
              <a:t>manually save all changes </a:t>
            </a:r>
            <a:r>
              <a:rPr lang="en-IN" dirty="0">
                <a:latin typeface="Arial" panose="020B0604020202020204" pitchFamily="34" charset="0"/>
                <a:cs typeface="Arial" panose="020B0604020202020204" pitchFamily="34" charset="0"/>
              </a:rPr>
              <a:t>made in the current transaction.</a:t>
            </a:r>
          </a:p>
          <a:p>
            <a:endParaRPr lang="en-US" sz="800" dirty="0">
              <a:solidFill>
                <a:srgbClr val="FF0000"/>
              </a:solidFill>
              <a:latin typeface="Arial" panose="020B0604020202020204" pitchFamily="34" charset="0"/>
              <a:cs typeface="Arial" panose="020B0604020202020204" pitchFamily="34" charset="0"/>
            </a:endParaRPr>
          </a:p>
        </p:txBody>
      </p:sp>
      <p:pic>
        <p:nvPicPr>
          <p:cNvPr id="4" name="Picture 10" descr="Different Types Of SQL Commands. Introduction | by Reetesh Kumar | Medium">
            <a:extLst>
              <a:ext uri="{FF2B5EF4-FFF2-40B4-BE49-F238E27FC236}">
                <a16:creationId xmlns:a16="http://schemas.microsoft.com/office/drawing/2014/main" id="{BD942414-E153-7258-E12E-8A5F52F347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9072" y="2127632"/>
            <a:ext cx="8931424" cy="46410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8149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animEffect transition="in" filter="fade">
                                      <p:cBhvr>
                                        <p:cTn id="15" dur="500"/>
                                        <p:tgtEl>
                                          <p:spTgt spid="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comments in mysql</a:t>
            </a:r>
          </a:p>
        </p:txBody>
      </p:sp>
      <p:sp>
        <p:nvSpPr>
          <p:cNvPr id="4" name="Rectangle 3"/>
          <p:cNvSpPr/>
          <p:nvPr/>
        </p:nvSpPr>
        <p:spPr>
          <a:xfrm>
            <a:off x="407368" y="1196752"/>
            <a:ext cx="10108232" cy="156337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character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following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a:t>
            </a:r>
          </a:p>
        </p:txBody>
      </p:sp>
      <p:graphicFrame>
        <p:nvGraphicFramePr>
          <p:cNvPr id="6" name="Table 3">
            <a:extLst>
              <a:ext uri="{FF2B5EF4-FFF2-40B4-BE49-F238E27FC236}">
                <a16:creationId xmlns:a16="http://schemas.microsoft.com/office/drawing/2014/main" id="{0A905794-DFE4-4B6E-A79A-A7FCD97D4DE8}"/>
              </a:ext>
            </a:extLst>
          </p:cNvPr>
          <p:cNvGraphicFramePr>
            <a:graphicFrameLocks noGrp="1"/>
          </p:cNvGraphicFramePr>
          <p:nvPr>
            <p:extLst>
              <p:ext uri="{D42A27DB-BD31-4B8C-83A1-F6EECF244321}">
                <p14:modId xmlns:p14="http://schemas.microsoft.com/office/powerpoint/2010/main" val="4167527527"/>
              </p:ext>
            </p:extLst>
          </p:nvPr>
        </p:nvGraphicFramePr>
        <p:xfrm>
          <a:off x="407368" y="4092486"/>
          <a:ext cx="11305256" cy="1706880"/>
        </p:xfrm>
        <a:graphic>
          <a:graphicData uri="http://schemas.openxmlformats.org/drawingml/2006/table">
            <a:tbl>
              <a:tblPr firstRow="1" bandRow="1">
                <a:tableStyleId>{5940675A-B579-460E-94D1-54222C63F5DA}</a:tableStyleId>
              </a:tblPr>
              <a:tblGrid>
                <a:gridCol w="5112568">
                  <a:extLst>
                    <a:ext uri="{9D8B030D-6E8A-4147-A177-3AD203B41FA5}">
                      <a16:colId xmlns:a16="http://schemas.microsoft.com/office/drawing/2014/main" val="1085403226"/>
                    </a:ext>
                  </a:extLst>
                </a:gridCol>
                <a:gridCol w="6192688">
                  <a:extLst>
                    <a:ext uri="{9D8B030D-6E8A-4147-A177-3AD203B41FA5}">
                      <a16:colId xmlns:a16="http://schemas.microsoft.com/office/drawing/2014/main" val="3140996026"/>
                    </a:ext>
                  </a:extLst>
                </a:gridCol>
              </a:tblGrid>
              <a:tr h="370840">
                <a:tc>
                  <a:txBody>
                    <a:bodyPr/>
                    <a:lstStyle/>
                    <a:p>
                      <a:r>
                        <a:rPr kumimoji="0" lang="en-IN" sz="2000" b="0" i="0" kern="1200" dirty="0">
                          <a:solidFill>
                            <a:srgbClr val="0077AA"/>
                          </a:solidFill>
                          <a:effectLst/>
                          <a:latin typeface="Liberation Mono"/>
                          <a:ea typeface="+mn-ea"/>
                          <a:cs typeface="+mn-cs"/>
                        </a:rPr>
                        <a:t>Reconnect</a:t>
                      </a:r>
                      <a:r>
                        <a:rPr kumimoji="0" lang="en-IN" sz="2000" b="0" i="0" kern="1200" dirty="0">
                          <a:solidFill>
                            <a:schemeClr val="tx1"/>
                          </a:solidFill>
                          <a:effectLst/>
                          <a:latin typeface="Liberation Mono"/>
                          <a:ea typeface="+mn-ea"/>
                          <a:cs typeface="+mn-cs"/>
                        </a:rPr>
                        <a:t> to the </a:t>
                      </a:r>
                      <a:r>
                        <a:rPr kumimoji="0" lang="en-IN" sz="2000" b="0" i="0" kern="1200" dirty="0">
                          <a:solidFill>
                            <a:srgbClr val="0077AA"/>
                          </a:solidFill>
                          <a:effectLst/>
                          <a:latin typeface="Liberation Mono"/>
                          <a:ea typeface="+mn-ea"/>
                          <a:cs typeface="+mn-cs"/>
                        </a:rPr>
                        <a:t>server</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\r</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22920708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0" i="0" dirty="0">
                          <a:solidFill>
                            <a:srgbClr val="0077AA"/>
                          </a:solidFill>
                          <a:effectLst/>
                          <a:latin typeface="Liberation Mono"/>
                        </a:rPr>
                        <a:t>Execute</a:t>
                      </a:r>
                      <a:r>
                        <a:rPr lang="en-US" sz="2000" b="0" i="0" dirty="0">
                          <a:solidFill>
                            <a:srgbClr val="000000"/>
                          </a:solidFill>
                          <a:effectLst/>
                          <a:latin typeface="Liberation Mono"/>
                        </a:rPr>
                        <a:t> a </a:t>
                      </a:r>
                      <a:r>
                        <a:rPr lang="en-US" sz="2000" b="0" i="0" dirty="0">
                          <a:solidFill>
                            <a:srgbClr val="0077AA"/>
                          </a:solidFill>
                          <a:effectLst/>
                          <a:latin typeface="Liberation Mono"/>
                        </a:rPr>
                        <a:t>system</a:t>
                      </a:r>
                      <a:r>
                        <a:rPr lang="en-US" sz="2000" b="0" i="0" dirty="0">
                          <a:solidFill>
                            <a:srgbClr val="000000"/>
                          </a:solidFill>
                          <a:effectLst/>
                          <a:latin typeface="Liberation Mono"/>
                        </a:rPr>
                        <a:t> shell command</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1493166284"/>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Exit</a:t>
                      </a:r>
                      <a:r>
                        <a:rPr kumimoji="0" lang="en-IN" sz="2000" b="0" i="0" kern="1200" dirty="0">
                          <a:solidFill>
                            <a:schemeClr val="tx1"/>
                          </a:solidFill>
                          <a:effectLst/>
                          <a:latin typeface="Liberation Mono"/>
                          <a:ea typeface="+mn-ea"/>
                          <a:cs typeface="+mn-cs"/>
                        </a:rPr>
                        <a:t> mysql</a:t>
                      </a:r>
                      <a:endParaRPr lang="en-US" sz="2000" b="0" i="0" dirty="0">
                        <a:solidFill>
                          <a:srgbClr val="000000"/>
                        </a:solidFill>
                        <a:effectLst/>
                        <a:latin typeface="Liberation Mono"/>
                      </a:endParaRPr>
                    </a:p>
                  </a:txBody>
                  <a:tcPr/>
                </a:tc>
                <a:tc>
                  <a:txBody>
                    <a:bodyPr/>
                    <a:lstStyle/>
                    <a:p>
                      <a:pPr algn="l"/>
                      <a:r>
                        <a:rPr kumimoji="0" lang="en-US" sz="2200" b="1" i="0" kern="1200" dirty="0">
                          <a:solidFill>
                            <a:schemeClr val="accent6">
                              <a:lumMod val="50000"/>
                            </a:schemeClr>
                          </a:solidFill>
                          <a:effectLst/>
                          <a:latin typeface="Liberation Mono"/>
                          <a:ea typeface="+mn-ea"/>
                          <a:cs typeface="+mn-cs"/>
                        </a:rPr>
                        <a:t>  \q</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3401233862"/>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Change</a:t>
                      </a:r>
                      <a:r>
                        <a:rPr kumimoji="0" lang="en-IN" sz="2000" b="0" i="0" kern="1200" dirty="0">
                          <a:solidFill>
                            <a:schemeClr val="tx1"/>
                          </a:solidFill>
                          <a:effectLst/>
                          <a:latin typeface="+mn-lt"/>
                          <a:ea typeface="+mn-ea"/>
                          <a:cs typeface="+mn-cs"/>
                        </a:rPr>
                        <a:t> your mysql prompt.</a:t>
                      </a:r>
                      <a:endParaRPr lang="en-US" sz="2000" b="0" i="0" dirty="0">
                        <a:solidFill>
                          <a:srgbClr val="000000"/>
                        </a:solidFill>
                        <a:effectLst/>
                        <a:latin typeface="Liberation Mono"/>
                      </a:endParaRPr>
                    </a:p>
                  </a:txBody>
                  <a:tcPr/>
                </a:tc>
                <a:tc>
                  <a:txBody>
                    <a:bodyPr/>
                    <a:lstStyle/>
                    <a:p>
                      <a:pPr algn="l"/>
                      <a:r>
                        <a:rPr kumimoji="0" lang="en-IN" sz="2200" b="1" i="0" kern="1200">
                          <a:solidFill>
                            <a:schemeClr val="accent6">
                              <a:lumMod val="50000"/>
                            </a:schemeClr>
                          </a:solidFill>
                          <a:effectLst/>
                          <a:latin typeface="Liberation Mono"/>
                          <a:ea typeface="+mn-ea"/>
                          <a:cs typeface="+mn-cs"/>
                        </a:rPr>
                        <a:t>prompt </a:t>
                      </a:r>
                      <a:r>
                        <a:rPr kumimoji="0" lang="en-IN" sz="2200" b="1" i="0" kern="1200" dirty="0">
                          <a:solidFill>
                            <a:schemeClr val="accent6">
                              <a:lumMod val="50000"/>
                            </a:schemeClr>
                          </a:solidFill>
                          <a:effectLst/>
                          <a:latin typeface="Liberation Mono"/>
                          <a:ea typeface="+mn-ea"/>
                          <a:cs typeface="+mn-cs"/>
                        </a:rPr>
                        <a:t>str or \R str</a:t>
                      </a:r>
                    </a:p>
                  </a:txBody>
                  <a:tcPr/>
                </a:tc>
                <a:extLst>
                  <a:ext uri="{0D108BD9-81ED-4DB2-BD59-A6C34878D82A}">
                    <a16:rowId xmlns:a16="http://schemas.microsoft.com/office/drawing/2014/main" val="2471233369"/>
                  </a:ext>
                </a:extLst>
              </a:tr>
            </a:tbl>
          </a:graphicData>
        </a:graphic>
      </p:graphicFrame>
    </p:spTree>
    <p:extLst>
      <p:ext uri="{BB962C8B-B14F-4D97-AF65-F5344CB8AC3E}">
        <p14:creationId xmlns:p14="http://schemas.microsoft.com/office/powerpoint/2010/main" val="5620301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Tablespace, Control files, Data files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database storage structures</a:t>
            </a:r>
          </a:p>
        </p:txBody>
      </p:sp>
      <p:sp>
        <p:nvSpPr>
          <p:cNvPr id="6" name="Rectangle 5"/>
          <p:cNvSpPr/>
          <p:nvPr/>
        </p:nvSpPr>
        <p:spPr>
          <a:xfrm>
            <a:off x="1593588" y="773652"/>
            <a:ext cx="3305905" cy="369332"/>
          </a:xfrm>
          <a:prstGeom prst="rect">
            <a:avLst/>
          </a:prstGeom>
        </p:spPr>
        <p:txBody>
          <a:bodyPr wrap="none">
            <a:spAutoFit/>
          </a:bodyPr>
          <a:lstStyle/>
          <a:p>
            <a:r>
              <a:rPr lang="en-US" dirty="0">
                <a:solidFill>
                  <a:srgbClr val="006C86"/>
                </a:solidFill>
              </a:rPr>
              <a:t>SHOW VARIABLES </a:t>
            </a:r>
            <a:r>
              <a:rPr lang="en-US" dirty="0">
                <a:solidFill>
                  <a:srgbClr val="A67F59"/>
                </a:solidFill>
                <a:latin typeface="Liberation Mono"/>
              </a:rPr>
              <a:t>LIKE</a:t>
            </a:r>
            <a:r>
              <a:rPr lang="en-US" dirty="0">
                <a:solidFill>
                  <a:srgbClr val="006C86"/>
                </a:solidFill>
              </a:rPr>
              <a:t> </a:t>
            </a:r>
            <a:r>
              <a:rPr lang="en-US" dirty="0">
                <a:solidFill>
                  <a:srgbClr val="92D050"/>
                </a:solidFill>
              </a:rPr>
              <a:t>'</a:t>
            </a:r>
            <a:r>
              <a:rPr lang="en-US" dirty="0" err="1">
                <a:solidFill>
                  <a:srgbClr val="92D050"/>
                </a:solidFill>
              </a:rPr>
              <a:t>datadir</a:t>
            </a:r>
            <a:r>
              <a:rPr lang="en-US" dirty="0">
                <a:solidFill>
                  <a:srgbClr val="006C86"/>
                </a:solidFill>
              </a:rPr>
              <a:t>';</a:t>
            </a:r>
          </a:p>
        </p:txBody>
      </p:sp>
    </p:spTree>
    <p:extLst>
      <p:ext uri="{BB962C8B-B14F-4D97-AF65-F5344CB8AC3E}">
        <p14:creationId xmlns:p14="http://schemas.microsoft.com/office/powerpoint/2010/main" val="56203016"/>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Login to MySQL</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login</a:t>
            </a:r>
            <a:endParaRPr lang="en-US" sz="3200" i="1" dirty="0">
              <a:solidFill>
                <a:srgbClr val="FF9900"/>
              </a:solidFill>
              <a:latin typeface="Arial" pitchFamily="34" charset="0"/>
              <a:cs typeface="Arial" pitchFamily="34" charset="0"/>
            </a:endParaRPr>
          </a:p>
        </p:txBody>
      </p:sp>
      <p:sp>
        <p:nvSpPr>
          <p:cNvPr id="4" name="Rectangle 3"/>
          <p:cNvSpPr/>
          <p:nvPr/>
        </p:nvSpPr>
        <p:spPr>
          <a:xfrm>
            <a:off x="263352" y="824008"/>
            <a:ext cx="11593288" cy="2465996"/>
          </a:xfrm>
          <a:prstGeom prst="rect">
            <a:avLst/>
          </a:prstGeom>
        </p:spPr>
        <p:txBody>
          <a:bodyPr wrap="square">
            <a:spAutoFit/>
          </a:bodyPr>
          <a:lstStyle/>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127</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192</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168</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100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14</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r>
              <a:rPr lang="en-IN" sz="2100" dirty="0">
                <a:latin typeface="Latha" panose="020B0604020202020204" pitchFamily="34" charset="0"/>
                <a:cs typeface="Latha" panose="020B0604020202020204" pitchFamily="34" charset="0"/>
              </a:rPr>
              <a:t>saleel</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 </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 </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 </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a:t>
            </a:r>
            <a:r>
              <a:rPr lang="en-IN" sz="2100" dirty="0">
                <a:solidFill>
                  <a:srgbClr val="FD8603"/>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p:txBody>
      </p:sp>
      <p:sp>
        <p:nvSpPr>
          <p:cNvPr id="2" name="Rectangle 1"/>
          <p:cNvSpPr/>
          <p:nvPr/>
        </p:nvSpPr>
        <p:spPr>
          <a:xfrm>
            <a:off x="289299" y="197868"/>
            <a:ext cx="5626861" cy="430887"/>
          </a:xfrm>
          <a:prstGeom prst="rect">
            <a:avLst/>
          </a:prstGeom>
          <a:solidFill>
            <a:schemeClr val="accent6"/>
          </a:solidFill>
        </p:spPr>
        <p:txBody>
          <a:bodyPr wrap="none">
            <a:spAutoFit/>
          </a:bodyPr>
          <a:lstStyle/>
          <a:p>
            <a:r>
              <a:rPr lang="en-IN" sz="2200" dirty="0">
                <a:solidFill>
                  <a:srgbClr val="FFFF00"/>
                </a:solidFill>
                <a:latin typeface="Consolas" panose="020B0609020204030204" pitchFamily="49" charset="0"/>
                <a:ea typeface="Calibri" panose="020F0502020204030204" pitchFamily="34" charset="0"/>
              </a:rPr>
              <a:t>Default port for MySQL Server: </a:t>
            </a:r>
            <a:r>
              <a:rPr lang="en-IN" sz="2200" b="1" dirty="0">
                <a:solidFill>
                  <a:srgbClr val="FFFF00"/>
                </a:solidFill>
                <a:latin typeface="Consolas" panose="020B0609020204030204" pitchFamily="49" charset="0"/>
                <a:ea typeface="Calibri" panose="020F0502020204030204" pitchFamily="34" charset="0"/>
              </a:rPr>
              <a:t>3306</a:t>
            </a:r>
            <a:endParaRPr lang="en-IN" sz="2200" b="1" dirty="0">
              <a:solidFill>
                <a:srgbClr val="FFFF00"/>
              </a:solidFill>
              <a:latin typeface="Consolas" panose="020B0609020204030204" pitchFamily="49" charset="0"/>
            </a:endParaRPr>
          </a:p>
        </p:txBody>
      </p:sp>
      <p:pic>
        <p:nvPicPr>
          <p:cNvPr id="9" name="Picture 8">
            <a:extLst>
              <a:ext uri="{FF2B5EF4-FFF2-40B4-BE49-F238E27FC236}">
                <a16:creationId xmlns:a16="http://schemas.microsoft.com/office/drawing/2014/main" id="{6A2DF3D0-BE7B-4A8A-AF7B-46F6E8A4FD59}"/>
              </a:ext>
            </a:extLst>
          </p:cNvPr>
          <p:cNvPicPr>
            <a:picLocks noChangeAspect="1"/>
          </p:cNvPicPr>
          <p:nvPr/>
        </p:nvPicPr>
        <p:blipFill>
          <a:blip r:embed="rId2"/>
          <a:stretch>
            <a:fillRect/>
          </a:stretch>
        </p:blipFill>
        <p:spPr>
          <a:xfrm>
            <a:off x="289298" y="3717032"/>
            <a:ext cx="10378701" cy="3036238"/>
          </a:xfrm>
          <a:prstGeom prst="rect">
            <a:avLst/>
          </a:prstGeom>
        </p:spPr>
      </p:pic>
    </p:spTree>
    <p:extLst>
      <p:ext uri="{BB962C8B-B14F-4D97-AF65-F5344CB8AC3E}">
        <p14:creationId xmlns:p14="http://schemas.microsoft.com/office/powerpoint/2010/main" val="2733507964"/>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STORAGE ENGINES</a:t>
            </a:r>
            <a:endParaRPr lang="en-US" dirty="0"/>
          </a:p>
        </p:txBody>
      </p:sp>
      <p:sp>
        <p:nvSpPr>
          <p:cNvPr id="3" name="Rectangle 2"/>
          <p:cNvSpPr/>
          <p:nvPr/>
        </p:nvSpPr>
        <p:spPr>
          <a:xfrm>
            <a:off x="394247" y="3276600"/>
            <a:ext cx="11176432" cy="1015663"/>
          </a:xfrm>
          <a:prstGeom prst="rect">
            <a:avLst/>
          </a:prstGeom>
        </p:spPr>
        <p:txBody>
          <a:bodyPr wrap="square">
            <a:spAutoFit/>
          </a:bodyPr>
          <a:lstStyle/>
          <a:p>
            <a:pPr algn="just"/>
            <a:r>
              <a:rPr lang="en-IN" sz="2000" dirty="0">
                <a:solidFill>
                  <a:srgbClr val="000000"/>
                </a:solidFill>
                <a:latin typeface="Palatino Linotype" panose="02040502050505030304" pitchFamily="18" charset="0"/>
                <a:cs typeface="Segoe UI Light" panose="020B0502040204020203" pitchFamily="34" charset="0"/>
              </a:rPr>
              <a:t>A storage engine is a software module that a database management system uses to create, read, update data from a database. There are two types of storage engines in MySQL: </a:t>
            </a:r>
            <a:r>
              <a:rPr lang="en-IN" sz="2000" b="1" dirty="0">
                <a:solidFill>
                  <a:srgbClr val="000000"/>
                </a:solidFill>
                <a:latin typeface="Palatino Linotype" panose="02040502050505030304" pitchFamily="18" charset="0"/>
                <a:cs typeface="Segoe UI Light" panose="020B0502040204020203" pitchFamily="34" charset="0"/>
              </a:rPr>
              <a:t>transactional </a:t>
            </a:r>
            <a:r>
              <a:rPr lang="en-IN" sz="2000" dirty="0">
                <a:solidFill>
                  <a:srgbClr val="000000"/>
                </a:solidFill>
                <a:latin typeface="Palatino Linotype" panose="02040502050505030304" pitchFamily="18" charset="0"/>
                <a:cs typeface="Segoe UI Light" panose="020B0502040204020203" pitchFamily="34" charset="0"/>
              </a:rPr>
              <a:t>and</a:t>
            </a:r>
            <a:r>
              <a:rPr lang="en-IN" sz="2000" b="1" dirty="0">
                <a:solidFill>
                  <a:srgbClr val="000000"/>
                </a:solidFill>
                <a:latin typeface="Palatino Linotype" panose="02040502050505030304" pitchFamily="18" charset="0"/>
                <a:cs typeface="Segoe UI Light" panose="020B0502040204020203" pitchFamily="34" charset="0"/>
              </a:rPr>
              <a:t> non-transactional.</a:t>
            </a:r>
            <a:endParaRPr lang="en-IN" sz="2000" b="1" dirty="0">
              <a:latin typeface="Palatino Linotype" panose="02040502050505030304" pitchFamily="18" charset="0"/>
              <a:cs typeface="Segoe UI Light" panose="020B0502040204020203" pitchFamily="34" charset="0"/>
            </a:endParaRPr>
          </a:p>
        </p:txBody>
      </p:sp>
      <p:sp>
        <p:nvSpPr>
          <p:cNvPr id="4" name="Rectangle 3"/>
          <p:cNvSpPr/>
          <p:nvPr/>
        </p:nvSpPr>
        <p:spPr>
          <a:xfrm>
            <a:off x="396794" y="190381"/>
            <a:ext cx="11336096" cy="968535"/>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Before MySQL version 5.5, MyISAM is the default storage engine.</a:t>
            </a:r>
          </a:p>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From version 5.5, MySQL uses InnoDB</a:t>
            </a:r>
            <a:r>
              <a:rPr lang="en-IN" sz="2000" b="1" i="1" dirty="0">
                <a:solidFill>
                  <a:schemeClr val="bg2">
                    <a:lumMod val="25000"/>
                  </a:schemeClr>
                </a:solidFill>
                <a:latin typeface="Palatino Linotype" panose="02040502050505030304" pitchFamily="18" charset="0"/>
                <a:cs typeface="Segoe UI Light" panose="020B0502040204020203" pitchFamily="34" charset="0"/>
              </a:rPr>
              <a:t> </a:t>
            </a:r>
            <a:r>
              <a:rPr lang="en-IN" sz="2000" dirty="0">
                <a:solidFill>
                  <a:schemeClr val="bg2">
                    <a:lumMod val="25000"/>
                  </a:schemeClr>
                </a:solidFill>
                <a:latin typeface="Palatino Linotype" panose="02040502050505030304" pitchFamily="18" charset="0"/>
                <a:cs typeface="Segoe UI Light" panose="020B0502040204020203" pitchFamily="34" charset="0"/>
              </a:rPr>
              <a:t>as the default storage engine.</a:t>
            </a:r>
          </a:p>
        </p:txBody>
      </p:sp>
      <p:graphicFrame>
        <p:nvGraphicFramePr>
          <p:cNvPr id="6" name="Table 5"/>
          <p:cNvGraphicFramePr>
            <a:graphicFrameLocks noGrp="1"/>
          </p:cNvGraphicFramePr>
          <p:nvPr>
            <p:extLst>
              <p:ext uri="{D42A27DB-BD31-4B8C-83A1-F6EECF244321}">
                <p14:modId xmlns:p14="http://schemas.microsoft.com/office/powerpoint/2010/main" val="3895564596"/>
              </p:ext>
            </p:extLst>
          </p:nvPr>
        </p:nvGraphicFramePr>
        <p:xfrm>
          <a:off x="849695" y="4599136"/>
          <a:ext cx="10324130" cy="1854200"/>
        </p:xfrm>
        <a:graphic>
          <a:graphicData uri="http://schemas.openxmlformats.org/drawingml/2006/table">
            <a:tbl>
              <a:tblPr firstRow="1" bandRow="1">
                <a:tableStyleId>{D27102A9-8310-4765-A935-A1911B00CA55}</a:tableStyleId>
              </a:tblPr>
              <a:tblGrid>
                <a:gridCol w="5162065">
                  <a:extLst>
                    <a:ext uri="{9D8B030D-6E8A-4147-A177-3AD203B41FA5}">
                      <a16:colId xmlns:a16="http://schemas.microsoft.com/office/drawing/2014/main" val="20000"/>
                    </a:ext>
                  </a:extLst>
                </a:gridCol>
                <a:gridCol w="5162065">
                  <a:extLst>
                    <a:ext uri="{9D8B030D-6E8A-4147-A177-3AD203B41FA5}">
                      <a16:colId xmlns:a16="http://schemas.microsoft.com/office/drawing/2014/main" val="20001"/>
                    </a:ext>
                  </a:extLst>
                </a:gridCol>
              </a:tblGrid>
              <a:tr h="370840">
                <a:tc>
                  <a:txBody>
                    <a:bodyPr/>
                    <a:lstStyle/>
                    <a:p>
                      <a:pPr algn="ctr"/>
                      <a:r>
                        <a:rPr lang="en-IN" sz="1800" dirty="0"/>
                        <a:t>Storage Engine</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IN" sz="1800" dirty="0"/>
                        <a:t>File on disk</a:t>
                      </a:r>
                    </a:p>
                  </a:txBody>
                  <a:tcPr/>
                </a:tc>
                <a:extLst>
                  <a:ext uri="{0D108BD9-81ED-4DB2-BD59-A6C34878D82A}">
                    <a16:rowId xmlns:a16="http://schemas.microsoft.com/office/drawing/2014/main" val="10000"/>
                  </a:ext>
                </a:extLst>
              </a:tr>
              <a:tr h="370840">
                <a:tc>
                  <a:txBody>
                    <a:bodyPr/>
                    <a:lstStyle/>
                    <a:p>
                      <a:pPr algn="l"/>
                      <a:r>
                        <a:rPr lang="en-IN" sz="1800" dirty="0"/>
                        <a:t>MEMORY </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Data is not stores on the</a:t>
                      </a:r>
                      <a:r>
                        <a:rPr lang="en-IN" sz="1800" baseline="0" dirty="0"/>
                        <a:t> disk</a:t>
                      </a:r>
                      <a:endParaRPr lang="en-IN" sz="1800" dirty="0"/>
                    </a:p>
                  </a:txBody>
                  <a:tcPr/>
                </a:tc>
                <a:extLst>
                  <a:ext uri="{0D108BD9-81ED-4DB2-BD59-A6C34878D82A}">
                    <a16:rowId xmlns:a16="http://schemas.microsoft.com/office/drawing/2014/main" val="10001"/>
                  </a:ext>
                </a:extLst>
              </a:tr>
              <a:tr h="370840">
                <a:tc>
                  <a:txBody>
                    <a:bodyPr/>
                    <a:lstStyle/>
                    <a:p>
                      <a:pPr algn="l"/>
                      <a:r>
                        <a:rPr lang="en-IN" sz="1800" dirty="0"/>
                        <a:t>InnoDB</a:t>
                      </a:r>
                    </a:p>
                  </a:txBody>
                  <a:tcPr/>
                </a:tc>
                <a:tc>
                  <a:txBody>
                    <a:bodyPr/>
                    <a:lstStyle/>
                    <a:p>
                      <a:r>
                        <a:rPr lang="en-IN" sz="1800" dirty="0"/>
                        <a:t>.idb (data and index)</a:t>
                      </a:r>
                    </a:p>
                  </a:txBody>
                  <a:tcPr/>
                </a:tc>
                <a:extLst>
                  <a:ext uri="{0D108BD9-81ED-4DB2-BD59-A6C34878D82A}">
                    <a16:rowId xmlns:a16="http://schemas.microsoft.com/office/drawing/2014/main" val="10002"/>
                  </a:ext>
                </a:extLst>
              </a:tr>
              <a:tr h="370840">
                <a:tc>
                  <a:txBody>
                    <a:bodyPr/>
                    <a:lstStyle/>
                    <a:p>
                      <a:pPr algn="l"/>
                      <a:r>
                        <a:rPr lang="en-IN" sz="1800" dirty="0"/>
                        <a:t>MyISAM</a:t>
                      </a:r>
                    </a:p>
                  </a:txBody>
                  <a:tcPr/>
                </a:tc>
                <a:tc>
                  <a:txBody>
                    <a:bodyPr/>
                    <a:lstStyle/>
                    <a:p>
                      <a:r>
                        <a:rPr lang="en-IN" sz="1800" dirty="0"/>
                        <a:t>MYD (data), .MYI (index)</a:t>
                      </a:r>
                    </a:p>
                  </a:txBody>
                  <a:tcPr/>
                </a:tc>
                <a:extLst>
                  <a:ext uri="{0D108BD9-81ED-4DB2-BD59-A6C34878D82A}">
                    <a16:rowId xmlns:a16="http://schemas.microsoft.com/office/drawing/2014/main" val="10003"/>
                  </a:ext>
                </a:extLst>
              </a:tr>
              <a:tr h="370840">
                <a:tc>
                  <a:txBody>
                    <a:bodyPr/>
                    <a:lstStyle/>
                    <a:p>
                      <a:pPr algn="l"/>
                      <a:r>
                        <a:rPr lang="en-IN" sz="1800" dirty="0"/>
                        <a:t>CSV</a:t>
                      </a:r>
                    </a:p>
                  </a:txBody>
                  <a:tcPr/>
                </a:tc>
                <a:tc>
                  <a:txBody>
                    <a:bodyPr/>
                    <a:lstStyle/>
                    <a:p>
                      <a:r>
                        <a:rPr lang="en-IN" sz="1800" dirty="0"/>
                        <a:t>.CSV (data), CSM (metadata)</a:t>
                      </a: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974197771"/>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228600"/>
            <a:ext cx="48768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ENGINES Syntax</a:t>
            </a:r>
          </a:p>
        </p:txBody>
      </p:sp>
      <p:sp>
        <p:nvSpPr>
          <p:cNvPr id="5" name="Rectangle 4"/>
          <p:cNvSpPr/>
          <p:nvPr/>
        </p:nvSpPr>
        <p:spPr>
          <a:xfrm>
            <a:off x="133913" y="1425714"/>
            <a:ext cx="11634817" cy="400110"/>
          </a:xfrm>
          <a:prstGeom prst="rect">
            <a:avLst/>
          </a:prstGeom>
          <a:solidFill>
            <a:schemeClr val="bg1"/>
          </a:solidFill>
        </p:spPr>
        <p:txBody>
          <a:bodyPr wrap="square">
            <a:spAutoFit/>
          </a:bodyPr>
          <a:lstStyle/>
          <a:p>
            <a:r>
              <a:rPr lang="en-US" sz="2000" dirty="0">
                <a:solidFill>
                  <a:srgbClr val="0077AA"/>
                </a:solidFill>
                <a:latin typeface="Liberation Mono"/>
                <a:cs typeface="Leelawadee UI Semilight" panose="020B0402040204020203" pitchFamily="34" charset="-34"/>
              </a:rPr>
              <a:t>SHOW </a:t>
            </a:r>
            <a:r>
              <a:rPr lang="en-US" dirty="0">
                <a:solidFill>
                  <a:srgbClr val="A67F59"/>
                </a:solidFill>
                <a:latin typeface="Liberation Mono"/>
                <a:cs typeface="Leelawadee UI Semilight" panose="020B0402040204020203" pitchFamily="34" charset="-34"/>
              </a:rPr>
              <a:t>[STORAGE] </a:t>
            </a:r>
            <a:r>
              <a:rPr lang="en-US" sz="2000" dirty="0">
                <a:solidFill>
                  <a:srgbClr val="0077AA"/>
                </a:solidFill>
                <a:latin typeface="Liberation Mono"/>
                <a:cs typeface="Leelawadee UI Semilight" panose="020B0402040204020203" pitchFamily="34" charset="-34"/>
              </a:rPr>
              <a:t>ENGINES</a:t>
            </a:r>
            <a:endParaRPr lang="en-IN" sz="2000" dirty="0">
              <a:solidFill>
                <a:srgbClr val="0077AA"/>
              </a:solidFill>
              <a:latin typeface="Liberation Mono"/>
              <a:cs typeface="Leelawadee UI Semilight" panose="020B0402040204020203" pitchFamily="34" charset="-34"/>
            </a:endParaRPr>
          </a:p>
        </p:txBody>
      </p:sp>
      <p:sp>
        <p:nvSpPr>
          <p:cNvPr id="3" name="Rectangle 2"/>
          <p:cNvSpPr/>
          <p:nvPr/>
        </p:nvSpPr>
        <p:spPr>
          <a:xfrm>
            <a:off x="335360" y="3200039"/>
            <a:ext cx="4755100" cy="96795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p:txBody>
      </p:sp>
      <p:sp>
        <p:nvSpPr>
          <p:cNvPr id="4" name="Rectangle 3"/>
          <p:cNvSpPr/>
          <p:nvPr/>
        </p:nvSpPr>
        <p:spPr>
          <a:xfrm>
            <a:off x="6553200" y="2830708"/>
            <a:ext cx="4038600" cy="369332"/>
          </a:xfrm>
          <a:prstGeom prst="rect">
            <a:avLst/>
          </a:prstGeom>
          <a:solidFill>
            <a:srgbClr val="0070C0"/>
          </a:solidFill>
        </p:spPr>
        <p:txBody>
          <a:bodyPr wrap="square">
            <a:spAutoFit/>
          </a:bodyPr>
          <a:lstStyle/>
          <a:p>
            <a:r>
              <a:rPr lang="en-IN" b="1" dirty="0">
                <a:solidFill>
                  <a:schemeClr val="bg1">
                    <a:lumMod val="95000"/>
                  </a:schemeClr>
                </a:solidFill>
                <a:latin typeface="Arial" panose="020B0604020202020204" pitchFamily="34" charset="0"/>
                <a:cs typeface="Arial" panose="020B0604020202020204" pitchFamily="34" charset="0"/>
              </a:rPr>
              <a:t>INFORMATION_SCHEMA.ENGINES</a:t>
            </a:r>
          </a:p>
        </p:txBody>
      </p:sp>
      <p:sp>
        <p:nvSpPr>
          <p:cNvPr id="6" name="Rectangle 5"/>
          <p:cNvSpPr/>
          <p:nvPr/>
        </p:nvSpPr>
        <p:spPr>
          <a:xfrm>
            <a:off x="172013" y="1918573"/>
            <a:ext cx="11634817" cy="646331"/>
          </a:xfrm>
          <a:prstGeom prst="rect">
            <a:avLst/>
          </a:prstGeom>
        </p:spPr>
        <p:txBody>
          <a:bodyPr wrap="square">
            <a:spAutoFit/>
          </a:bodyPr>
          <a:lstStyle/>
          <a:p>
            <a:pPr algn="just"/>
            <a:r>
              <a:rPr lang="en-IN" dirty="0">
                <a:latin typeface="Arial" panose="020B0604020202020204" pitchFamily="34" charset="0"/>
                <a:cs typeface="Arial" panose="020B0604020202020204" pitchFamily="34" charset="0"/>
              </a:rPr>
              <a:t>SHOW ENGINES displays status information about the server's storage engines. This is particularly useful for checking whether a storage engine is supported, or to see what the default engine is.</a:t>
            </a:r>
          </a:p>
        </p:txBody>
      </p:sp>
      <p:sp>
        <p:nvSpPr>
          <p:cNvPr id="7" name="Rectangle 6"/>
          <p:cNvSpPr/>
          <p:nvPr/>
        </p:nvSpPr>
        <p:spPr>
          <a:xfrm>
            <a:off x="119336" y="4574255"/>
            <a:ext cx="11737304" cy="646331"/>
          </a:xfrm>
          <a:prstGeom prst="rect">
            <a:avLst/>
          </a:prstGeom>
          <a:solidFill>
            <a:schemeClr val="accent3">
              <a:lumMod val="20000"/>
              <a:lumOff val="80000"/>
            </a:schemeClr>
          </a:solidFill>
        </p:spPr>
        <p:txBody>
          <a:bodyPr wrap="square">
            <a:spAutoFit/>
          </a:bodyPr>
          <a:lstStyle/>
          <a:p>
            <a:pPr algn="just"/>
            <a:r>
              <a:rPr lang="en-IN" b="1" dirty="0">
                <a:solidFill>
                  <a:srgbClr val="0070C0"/>
                </a:solidFill>
                <a:latin typeface="Arial" panose="020B0604020202020204" pitchFamily="34" charset="0"/>
                <a:cs typeface="Arial" panose="020B0604020202020204" pitchFamily="34" charset="0"/>
              </a:rPr>
              <a:t>INFORMATION_SCHEMA</a:t>
            </a:r>
            <a:r>
              <a:rPr lang="en-IN" dirty="0">
                <a:latin typeface="Arial" panose="020B0604020202020204" pitchFamily="34" charset="0"/>
                <a:cs typeface="Arial" panose="020B0604020202020204" pitchFamily="34" charset="0"/>
              </a:rPr>
              <a:t> provides access to database metadata, information about the MySQL server such as the name of a database or table, the data type of a column, or access privileges.</a:t>
            </a:r>
          </a:p>
        </p:txBody>
      </p:sp>
      <p:sp>
        <p:nvSpPr>
          <p:cNvPr id="8" name="Rectangle 7"/>
          <p:cNvSpPr/>
          <p:nvPr/>
        </p:nvSpPr>
        <p:spPr>
          <a:xfrm>
            <a:off x="6400800" y="76201"/>
            <a:ext cx="5599856" cy="923330"/>
          </a:xfrm>
          <a:prstGeom prst="rect">
            <a:avLst/>
          </a:prstGeom>
          <a:solidFill>
            <a:srgbClr val="CFFF21"/>
          </a:solidFill>
        </p:spPr>
        <p:txBody>
          <a:bodyPr wrap="square">
            <a:spAutoFit/>
          </a:bodyPr>
          <a:lstStyle/>
          <a:p>
            <a:pPr algn="just"/>
            <a:r>
              <a:rPr lang="en-IN" dirty="0">
                <a:solidFill>
                  <a:srgbClr val="000000"/>
                </a:solidFill>
                <a:latin typeface="georgia" panose="02040502050405020303" pitchFamily="18" charset="0"/>
              </a:rPr>
              <a:t>For MySQL 5.5 and later, the default storage engine is </a:t>
            </a:r>
            <a:r>
              <a:rPr lang="en-IN" i="1" dirty="0">
                <a:solidFill>
                  <a:srgbClr val="000000"/>
                </a:solidFill>
                <a:latin typeface="georgia" panose="02040502050405020303" pitchFamily="18" charset="0"/>
              </a:rPr>
              <a:t>InnoDB</a:t>
            </a:r>
            <a:r>
              <a:rPr lang="en-IN" dirty="0">
                <a:solidFill>
                  <a:srgbClr val="000000"/>
                </a:solidFill>
                <a:latin typeface="georgia" panose="02040502050405020303" pitchFamily="18" charset="0"/>
              </a:rPr>
              <a:t>. The default storage engine for MySQL prior to version 5.5 was </a:t>
            </a:r>
            <a:r>
              <a:rPr lang="en-IN" i="1" dirty="0">
                <a:solidFill>
                  <a:srgbClr val="000000"/>
                </a:solidFill>
                <a:latin typeface="georgia" panose="02040502050405020303" pitchFamily="18" charset="0"/>
              </a:rPr>
              <a:t>MyISAM</a:t>
            </a:r>
            <a:r>
              <a:rPr lang="en-IN" dirty="0">
                <a:solidFill>
                  <a:srgbClr val="000000"/>
                </a:solidFill>
                <a:latin typeface="georgia" panose="02040502050405020303" pitchFamily="18" charset="0"/>
              </a:rPr>
              <a:t>.</a:t>
            </a:r>
            <a:endParaRPr lang="en-IN" dirty="0"/>
          </a:p>
        </p:txBody>
      </p:sp>
    </p:spTree>
    <p:extLst>
      <p:ext uri="{BB962C8B-B14F-4D97-AF65-F5344CB8AC3E}">
        <p14:creationId xmlns:p14="http://schemas.microsoft.com/office/powerpoint/2010/main" val="3984381816"/>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86DE352-933A-49B1-B9D9-A55210F86E21}"/>
              </a:ext>
            </a:extLst>
          </p:cNvPr>
          <p:cNvPicPr>
            <a:picLocks noChangeAspect="1"/>
          </p:cNvPicPr>
          <p:nvPr/>
        </p:nvPicPr>
        <p:blipFill>
          <a:blip r:embed="rId2"/>
          <a:stretch>
            <a:fillRect/>
          </a:stretch>
        </p:blipFill>
        <p:spPr>
          <a:xfrm>
            <a:off x="263352" y="948985"/>
            <a:ext cx="11665296" cy="5122228"/>
          </a:xfrm>
          <a:prstGeom prst="rect">
            <a:avLst/>
          </a:prstGeom>
        </p:spPr>
      </p:pic>
      <p:sp>
        <p:nvSpPr>
          <p:cNvPr id="2" name="Title 1"/>
          <p:cNvSpPr>
            <a:spLocks noGrp="1"/>
          </p:cNvSpPr>
          <p:nvPr>
            <p:ph type="title"/>
          </p:nvPr>
        </p:nvSpPr>
        <p:spPr>
          <a:xfrm>
            <a:off x="609600" y="198679"/>
            <a:ext cx="10972800" cy="616329"/>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Rectangle 2"/>
          <p:cNvSpPr/>
          <p:nvPr/>
        </p:nvSpPr>
        <p:spPr>
          <a:xfrm>
            <a:off x="119336" y="6067399"/>
            <a:ext cx="6172200" cy="506292"/>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rgbClr val="0077AA"/>
                </a:solidFill>
                <a:latin typeface="Liberation Mono"/>
                <a:ea typeface="Times New Roman" panose="02020603050405020304" pitchFamily="18" charset="0"/>
              </a:rPr>
              <a:t>SET DEFAULT_STORAGE_ENGINE </a:t>
            </a:r>
            <a:r>
              <a:rPr lang="en-IN" sz="2000" dirty="0">
                <a:solidFill>
                  <a:schemeClr val="accent5">
                    <a:lumMod val="75000"/>
                  </a:schemeClr>
                </a:solidFill>
                <a:latin typeface="Liberation Mono"/>
                <a:ea typeface="Times New Roman" panose="02020603050405020304" pitchFamily="18" charset="0"/>
              </a:rPr>
              <a:t>=</a:t>
            </a:r>
            <a:r>
              <a:rPr lang="en-IN" sz="2000" dirty="0">
                <a:solidFill>
                  <a:srgbClr val="0077AA"/>
                </a:solidFill>
                <a:latin typeface="Liberation Mono"/>
                <a:ea typeface="Times New Roman" panose="02020603050405020304" pitchFamily="18" charset="0"/>
              </a:rPr>
              <a:t> </a:t>
            </a:r>
            <a:r>
              <a:rPr lang="en-IN" sz="2000" dirty="0">
                <a:solidFill>
                  <a:srgbClr val="669900"/>
                </a:solidFill>
                <a:latin typeface="Liberation Mono"/>
              </a:rPr>
              <a:t>MyISAM</a:t>
            </a:r>
            <a:r>
              <a:rPr lang="en-IN" sz="2000"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B3571CA2-8DBC-4CC2-96EA-13B32AA866AA}"/>
              </a:ext>
            </a:extLst>
          </p:cNvPr>
          <p:cNvSpPr/>
          <p:nvPr/>
        </p:nvSpPr>
        <p:spPr>
          <a:xfrm>
            <a:off x="8832304" y="332656"/>
            <a:ext cx="3096344" cy="707886"/>
          </a:xfrm>
          <a:prstGeom prst="rect">
            <a:avLst/>
          </a:prstGeom>
        </p:spPr>
        <p:txBody>
          <a:bodyPr wrap="square">
            <a:spAutoFit/>
          </a:bodyPr>
          <a:lstStyle/>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p>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p>
        </p:txBody>
      </p:sp>
    </p:spTree>
    <p:extLst>
      <p:ext uri="{BB962C8B-B14F-4D97-AF65-F5344CB8AC3E}">
        <p14:creationId xmlns:p14="http://schemas.microsoft.com/office/powerpoint/2010/main" val="1279924355"/>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5" name="Rectangle 4"/>
          <p:cNvSpPr/>
          <p:nvPr/>
        </p:nvSpPr>
        <p:spPr>
          <a:xfrm>
            <a:off x="263352" y="1391484"/>
            <a:ext cx="11593288" cy="3277820"/>
          </a:xfrm>
          <a:prstGeom prst="rect">
            <a:avLst/>
          </a:prstGeom>
        </p:spPr>
        <p:txBody>
          <a:bodyPr wrap="square">
            <a:spAutoFit/>
          </a:bodyPr>
          <a:lstStyle/>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InnoDB</a:t>
            </a:r>
            <a:r>
              <a:rPr lang="en-IN" dirty="0">
                <a:solidFill>
                  <a:schemeClr val="bg2">
                    <a:lumMod val="25000"/>
                  </a:schemeClr>
                </a:solidFill>
                <a:latin typeface="Palatino Linotype" panose="02040502050505030304" pitchFamily="18" charset="0"/>
                <a:cs typeface="Segoe UI Light" panose="020B0502040204020203" pitchFamily="34" charset="0"/>
              </a:rPr>
              <a:t> is the most widely used storage engine with transaction support. It is the only engine which provides foreign key referential integrity constraint. Oracle recommends using InnoDB for tables except for specialized use cases.</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MyISAM</a:t>
            </a:r>
            <a:r>
              <a:rPr lang="en-IN" dirty="0">
                <a:solidFill>
                  <a:schemeClr val="bg2">
                    <a:lumMod val="25000"/>
                  </a:schemeClr>
                </a:solidFill>
                <a:latin typeface="Palatino Linotype" panose="02040502050505030304" pitchFamily="18" charset="0"/>
                <a:cs typeface="Segoe UI Light" panose="020B0502040204020203" pitchFamily="34" charset="0"/>
              </a:rPr>
              <a:t> is the original storage engine. It is a fast storage engine. It does not support transactions. MyISAM provides table-level locking. It is used mostly in Web and data warehousing.</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Memory</a:t>
            </a:r>
            <a:r>
              <a:rPr lang="en-IN" dirty="0">
                <a:solidFill>
                  <a:schemeClr val="bg2">
                    <a:lumMod val="25000"/>
                  </a:schemeClr>
                </a:solidFill>
                <a:latin typeface="Palatino Linotype" panose="02040502050505030304" pitchFamily="18" charset="0"/>
                <a:cs typeface="Segoe UI Light" panose="020B0502040204020203" pitchFamily="34" charset="0"/>
              </a:rPr>
              <a:t> storage engine creates tables in memory. It is the fastest engine. It provides table-level locking. It does not support transactions. Memory storage engine is ideal for creating temporary tables or quick lookups. The data is lost when the database is re-started.</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CSV</a:t>
            </a:r>
            <a:r>
              <a:rPr lang="en-IN" dirty="0">
                <a:solidFill>
                  <a:schemeClr val="bg2">
                    <a:lumMod val="25000"/>
                  </a:schemeClr>
                </a:solidFill>
                <a:latin typeface="Palatino Linotype" panose="02040502050505030304" pitchFamily="18" charset="0"/>
                <a:cs typeface="Segoe UI Light" panose="020B0502040204020203" pitchFamily="34" charset="0"/>
              </a:rPr>
              <a:t> stores data in CSV files. It provides great flexibility because data in this format is easily integrated into other applications.</a:t>
            </a:r>
          </a:p>
        </p:txBody>
      </p:sp>
      <p:sp>
        <p:nvSpPr>
          <p:cNvPr id="6" name="TextBox 5">
            <a:extLst>
              <a:ext uri="{FF2B5EF4-FFF2-40B4-BE49-F238E27FC236}">
                <a16:creationId xmlns:a16="http://schemas.microsoft.com/office/drawing/2014/main" id="{D475CF78-D7F0-5E74-2F45-DBBA367AAE5C}"/>
              </a:ext>
            </a:extLst>
          </p:cNvPr>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Tree>
    <p:extLst>
      <p:ext uri="{BB962C8B-B14F-4D97-AF65-F5344CB8AC3E}">
        <p14:creationId xmlns:p14="http://schemas.microsoft.com/office/powerpoint/2010/main" val="2689540529"/>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
        <p:nvSpPr>
          <p:cNvPr id="4" name="Rectangle 3"/>
          <p:cNvSpPr/>
          <p:nvPr/>
        </p:nvSpPr>
        <p:spPr>
          <a:xfrm>
            <a:off x="411118" y="1295400"/>
            <a:ext cx="11222104" cy="707886"/>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In the case of InnoDB, it is used to store the tables in tablespace whereas, in the case of MyISAM, it stores each MyISAM table in a separate file.</a:t>
            </a:r>
          </a:p>
        </p:txBody>
      </p:sp>
      <p:sp>
        <p:nvSpPr>
          <p:cNvPr id="6" name="Rectangle 5"/>
          <p:cNvSpPr/>
          <p:nvPr/>
        </p:nvSpPr>
        <p:spPr>
          <a:xfrm>
            <a:off x="411118" y="2133600"/>
            <a:ext cx="10927179" cy="1261884"/>
          </a:xfrm>
          <a:prstGeom prst="rect">
            <a:avLst/>
          </a:prstGeom>
        </p:spPr>
        <p:txBody>
          <a:bodyPr wrap="square">
            <a:spAutoFit/>
          </a:bodyPr>
          <a:lstStyle/>
          <a:p>
            <a:r>
              <a:rPr lang="en-US" dirty="0">
                <a:solidFill>
                  <a:srgbClr val="C00000"/>
                </a:solidFill>
                <a:latin typeface="Liberation Mono"/>
              </a:rPr>
              <a:t>In my.ini do this changes.</a:t>
            </a:r>
            <a:br>
              <a:rPr lang="en-US" dirty="0">
                <a:solidFill>
                  <a:srgbClr val="000000"/>
                </a:solidFill>
                <a:latin typeface="Liberation Mono"/>
              </a:rPr>
            </a:br>
            <a:endParaRPr lang="en-US" dirty="0">
              <a:solidFill>
                <a:srgbClr val="000000"/>
              </a:solidFill>
              <a:latin typeface="Liberation Mono"/>
            </a:endParaRPr>
          </a:p>
          <a:p>
            <a:r>
              <a:rPr lang="en-US" dirty="0">
                <a:solidFill>
                  <a:srgbClr val="000000"/>
                </a:solidFill>
                <a:latin typeface="Liberation Mono"/>
              </a:rPr>
              <a:t>[</a:t>
            </a:r>
            <a:r>
              <a:rPr lang="en-US" sz="2000" dirty="0">
                <a:solidFill>
                  <a:srgbClr val="0077AA"/>
                </a:solidFill>
                <a:latin typeface="Leelawadee UI Semilight" panose="020B0402040204020203" pitchFamily="34" charset="-34"/>
                <a:cs typeface="Leelawadee UI Semilight" panose="020B0402040204020203" pitchFamily="34" charset="-34"/>
              </a:rPr>
              <a:t>mysqld</a:t>
            </a:r>
            <a:r>
              <a:rPr lang="en-US" dirty="0">
                <a:solidFill>
                  <a:srgbClr val="000000"/>
                </a:solidFill>
                <a:latin typeface="Liberation Mono"/>
              </a:rPr>
              <a:t>] </a:t>
            </a:r>
            <a:endParaRPr lang="en-US" sz="2000" dirty="0">
              <a:solidFill>
                <a:srgbClr val="0077AA"/>
              </a:solidFill>
              <a:latin typeface="Leelawadee UI Semilight" panose="020B0402040204020203" pitchFamily="34" charset="-34"/>
              <a:cs typeface="Leelawadee UI Semilight" panose="020B0402040204020203" pitchFamily="34" charset="-34"/>
            </a:endParaRPr>
          </a:p>
          <a:p>
            <a:r>
              <a:rPr lang="en-US" sz="2000" dirty="0">
                <a:solidFill>
                  <a:srgbClr val="0077AA"/>
                </a:solidFill>
                <a:latin typeface="Leelawadee UI Semilight" panose="020B0402040204020203" pitchFamily="34" charset="-34"/>
                <a:cs typeface="Leelawadee UI Semilight" panose="020B0402040204020203" pitchFamily="34" charset="-34"/>
              </a:rPr>
              <a:t>innodb_file_per_table = 1</a:t>
            </a:r>
          </a:p>
        </p:txBody>
      </p:sp>
      <p:sp>
        <p:nvSpPr>
          <p:cNvPr id="5" name="Rectangle 4"/>
          <p:cNvSpPr/>
          <p:nvPr/>
        </p:nvSpPr>
        <p:spPr>
          <a:xfrm>
            <a:off x="411118" y="3866272"/>
            <a:ext cx="11362370" cy="2246769"/>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Tablespace: A data file that can hold data for one or more InnoDB tables and associated indexes.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System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File per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General tablespace</a:t>
            </a:r>
          </a:p>
          <a:p>
            <a:endParaRPr lang="en-US" sz="2000" dirty="0">
              <a:solidFill>
                <a:srgbClr val="006C86"/>
              </a:solidFill>
              <a:latin typeface="Arial" panose="020B0604020202020204" pitchFamily="34" charset="0"/>
              <a:cs typeface="Arial" panose="020B0604020202020204" pitchFamily="34" charset="0"/>
            </a:endParaRPr>
          </a:p>
          <a:p>
            <a:r>
              <a:rPr lang="en-US" sz="2000" dirty="0">
                <a:solidFill>
                  <a:srgbClr val="006C86"/>
                </a:solidFill>
                <a:latin typeface="Arial" panose="020B0604020202020204" pitchFamily="34" charset="0"/>
                <a:cs typeface="Arial" panose="020B0604020202020204" pitchFamily="34" charset="0"/>
              </a:rPr>
              <a:t>Note:- By default, InnoDB contains only one tablespace called the System tablespace whose identifier is 0</a:t>
            </a:r>
          </a:p>
        </p:txBody>
      </p:sp>
      <p:sp>
        <p:nvSpPr>
          <p:cNvPr id="9" name="Title 1">
            <a:extLst>
              <a:ext uri="{FF2B5EF4-FFF2-40B4-BE49-F238E27FC236}">
                <a16:creationId xmlns:a16="http://schemas.microsoft.com/office/drawing/2014/main" id="{240A65D1-4FA2-47CF-28C4-D0B3FA446248}"/>
              </a:ext>
            </a:extLst>
          </p:cNvPr>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Tree>
    <p:extLst>
      <p:ext uri="{BB962C8B-B14F-4D97-AF65-F5344CB8AC3E}">
        <p14:creationId xmlns:p14="http://schemas.microsoft.com/office/powerpoint/2010/main" val="1656123357"/>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SHOW DATABASES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099742751"/>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DATABASES Syntax</a:t>
            </a:r>
          </a:p>
        </p:txBody>
      </p:sp>
      <p:sp>
        <p:nvSpPr>
          <p:cNvPr id="3" name="Rectangle 2"/>
          <p:cNvSpPr/>
          <p:nvPr/>
        </p:nvSpPr>
        <p:spPr>
          <a:xfrm>
            <a:off x="609600" y="2819400"/>
            <a:ext cx="9906000" cy="1754326"/>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p:txBody>
      </p:sp>
      <p:sp>
        <p:nvSpPr>
          <p:cNvPr id="4" name="Rectangle 3"/>
          <p:cNvSpPr/>
          <p:nvPr/>
        </p:nvSpPr>
        <p:spPr>
          <a:xfrm>
            <a:off x="533400" y="2103903"/>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SHOW SCHEMAS is a synonym for SHOW DATABASES.</a:t>
            </a:r>
          </a:p>
        </p:txBody>
      </p:sp>
      <p:sp>
        <p:nvSpPr>
          <p:cNvPr id="6" name="Rectangle 5"/>
          <p:cNvSpPr/>
          <p:nvPr/>
        </p:nvSpPr>
        <p:spPr>
          <a:xfrm>
            <a:off x="609600" y="1411070"/>
            <a:ext cx="6986598"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 </a:t>
            </a:r>
            <a:r>
              <a:rPr lang="en-IN" sz="2000" dirty="0">
                <a:solidFill>
                  <a:srgbClr val="0077AA"/>
                </a:solidFill>
                <a:latin typeface="Liberation Mono"/>
              </a:rPr>
              <a:t>DATABASES</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SCHEMAS </a:t>
            </a:r>
            <a:r>
              <a:rPr lang="en-IN" sz="2000" dirty="0">
                <a:solidFill>
                  <a:srgbClr val="000000"/>
                </a:solidFill>
                <a:latin typeface="Liberation Mono"/>
              </a:rPr>
              <a:t>}</a:t>
            </a:r>
            <a:r>
              <a:rPr lang="en-IN" sz="2000" dirty="0">
                <a:latin typeface="Liberation Mono"/>
              </a:rPr>
              <a:t> [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 </a:t>
            </a:r>
            <a:r>
              <a:rPr lang="en-IN" sz="2000" dirty="0">
                <a:latin typeface="Liberation Mono"/>
              </a:rPr>
              <a:t>]</a:t>
            </a:r>
            <a:endParaRPr lang="en-IN" sz="2000" dirty="0"/>
          </a:p>
        </p:txBody>
      </p:sp>
      <p:sp>
        <p:nvSpPr>
          <p:cNvPr id="5" name="TextBox 4"/>
          <p:cNvSpPr txBox="1"/>
          <p:nvPr/>
        </p:nvSpPr>
        <p:spPr>
          <a:xfrm>
            <a:off x="533400" y="5151060"/>
            <a:ext cx="11251232" cy="846386"/>
          </a:xfrm>
          <a:prstGeom prst="rect">
            <a:avLst/>
          </a:prstGeom>
          <a:noFill/>
        </p:spPr>
        <p:txBody>
          <a:bodyPr wrap="square" rtlCol="0">
            <a:spAutoFit/>
          </a:bodyPr>
          <a:lstStyle/>
          <a:p>
            <a:r>
              <a:rPr lang="en-US" sz="2000" dirty="0">
                <a:solidFill>
                  <a:srgbClr val="FF0000"/>
                </a:solidFill>
              </a:rPr>
              <a:t>Remember:</a:t>
            </a:r>
          </a:p>
          <a:p>
            <a:endParaRPr lang="en-US" sz="800" dirty="0">
              <a:solidFill>
                <a:srgbClr val="FF0000"/>
              </a:solidFill>
            </a:endParaRPr>
          </a:p>
          <a:p>
            <a:r>
              <a:rPr lang="en-IN" sz="2000" b="1" i="1" dirty="0">
                <a:solidFill>
                  <a:schemeClr val="accent4">
                    <a:lumMod val="50000"/>
                  </a:schemeClr>
                </a:solidFill>
                <a:latin typeface="Liberation Mono"/>
                <a:cs typeface="Arial" panose="020B0604020202020204" pitchFamily="34" charset="0"/>
              </a:rPr>
              <a:t>NULL</a:t>
            </a:r>
            <a:r>
              <a:rPr lang="en-IN" sz="2000" dirty="0">
                <a:latin typeface="Arial" panose="020B0604020202020204" pitchFamily="34" charset="0"/>
                <a:cs typeface="Arial" panose="020B0604020202020204" pitchFamily="34" charset="0"/>
              </a:rPr>
              <a:t> means </a:t>
            </a:r>
            <a:r>
              <a:rPr lang="en-IN" sz="2100" dirty="0">
                <a:solidFill>
                  <a:schemeClr val="accent3">
                    <a:lumMod val="50000"/>
                  </a:schemeClr>
                </a:solidFill>
                <a:latin typeface="Arial" panose="020B0604020202020204" pitchFamily="34" charset="0"/>
                <a:cs typeface="Arial" panose="020B0604020202020204" pitchFamily="34" charset="0"/>
              </a:rPr>
              <a:t>“no database is selected”</a:t>
            </a:r>
            <a:r>
              <a:rPr lang="en-IN" sz="2000" dirty="0">
                <a:latin typeface="Arial" panose="020B0604020202020204" pitchFamily="34" charset="0"/>
                <a:cs typeface="Arial" panose="020B0604020202020204" pitchFamily="34" charset="0"/>
              </a:rPr>
              <a:t>. Issue the </a:t>
            </a:r>
            <a:r>
              <a:rPr lang="en-IN" sz="2000" b="1" i="1" dirty="0">
                <a:solidFill>
                  <a:srgbClr val="C74C49"/>
                </a:solidFill>
                <a:latin typeface="Arial" panose="020B0604020202020204" pitchFamily="34" charset="0"/>
                <a:cs typeface="Arial" panose="020B0604020202020204" pitchFamily="34" charset="0"/>
              </a:rPr>
              <a:t>USE dbName</a:t>
            </a:r>
            <a:r>
              <a:rPr lang="en-IN" sz="2000" dirty="0">
                <a:latin typeface="Arial" panose="020B0604020202020204" pitchFamily="34" charset="0"/>
                <a:cs typeface="Arial" panose="020B0604020202020204" pitchFamily="34" charset="0"/>
              </a:rPr>
              <a:t> command to select the database.</a:t>
            </a:r>
          </a:p>
        </p:txBody>
      </p:sp>
    </p:spTree>
    <p:extLst>
      <p:ext uri="{BB962C8B-B14F-4D97-AF65-F5344CB8AC3E}">
        <p14:creationId xmlns:p14="http://schemas.microsoft.com/office/powerpoint/2010/main" val="4034996301"/>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09517" y="42062"/>
            <a:ext cx="5544642" cy="3386938"/>
          </a:xfrm>
          <a:prstGeom prst="rect">
            <a:avLst/>
          </a:prstGeom>
        </p:spPr>
      </p:pic>
      <p:sp>
        <p:nvSpPr>
          <p:cNvPr id="2" name="Title 1"/>
          <p:cNvSpPr txBox="1">
            <a:spLocks/>
          </p:cNvSpPr>
          <p:nvPr/>
        </p:nvSpPr>
        <p:spPr>
          <a:xfrm>
            <a:off x="1676400" y="2778948"/>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USE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p:cNvSpPr/>
          <p:nvPr/>
        </p:nvSpPr>
        <p:spPr>
          <a:xfrm>
            <a:off x="407368" y="3717032"/>
            <a:ext cx="11449272" cy="1015663"/>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The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a:t>
            </a:r>
            <a:r>
              <a:rPr lang="en-IN" sz="2000" b="1" i="1" dirty="0">
                <a:latin typeface="Palatino Linotype" panose="02040502050505030304" pitchFamily="18" charset="0"/>
                <a:cs typeface="Segoe UI Light" panose="020B0502040204020203" pitchFamily="34" charset="0"/>
              </a:rPr>
              <a:t>db_name </a:t>
            </a:r>
            <a:r>
              <a:rPr lang="en-IN" sz="2000" dirty="0">
                <a:latin typeface="Palatino Linotype" panose="02040502050505030304" pitchFamily="18" charset="0"/>
                <a:cs typeface="Segoe UI Light" panose="020B0502040204020203" pitchFamily="34" charset="0"/>
              </a:rPr>
              <a:t>statement tells MySQL to use the db_name database as the default (current) database for subsequent statements. The database remains the default until the end of the session or another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statement is issued.</a:t>
            </a:r>
          </a:p>
        </p:txBody>
      </p:sp>
    </p:spTree>
    <p:extLst>
      <p:ext uri="{BB962C8B-B14F-4D97-AF65-F5344CB8AC3E}">
        <p14:creationId xmlns:p14="http://schemas.microsoft.com/office/powerpoint/2010/main" val="3868028823"/>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USE DATABASE Syntax</a:t>
            </a:r>
          </a:p>
        </p:txBody>
      </p:sp>
      <p:sp>
        <p:nvSpPr>
          <p:cNvPr id="3" name="Rectangle 2"/>
          <p:cNvSpPr/>
          <p:nvPr/>
        </p:nvSpPr>
        <p:spPr>
          <a:xfrm>
            <a:off x="590419" y="3861048"/>
            <a:ext cx="8839200" cy="872034"/>
          </a:xfrm>
          <a:prstGeom prst="rect">
            <a:avLst/>
          </a:prstGeom>
        </p:spPr>
        <p:txBody>
          <a:bodyPr wrap="square">
            <a:spAutoFit/>
          </a:bodyPr>
          <a:lstStyle/>
          <a:p>
            <a:pPr>
              <a:lnSpc>
                <a:spcPct val="150000"/>
              </a:lnSpc>
            </a:pPr>
            <a:r>
              <a:rPr lang="en-IN" dirty="0">
                <a:solidFill>
                  <a:srgbClr val="0077AA"/>
                </a:solidFill>
                <a:latin typeface="Liberation Mono"/>
                <a:cs typeface="Arial" panose="020B0604020202020204" pitchFamily="34" charset="0"/>
              </a:rPr>
              <a:t>USE </a:t>
            </a:r>
            <a:r>
              <a:rPr lang="en-IN" dirty="0">
                <a:latin typeface="Liberation Mono"/>
                <a:cs typeface="Arial" panose="020B0604020202020204" pitchFamily="34" charset="0"/>
              </a:rPr>
              <a:t>db1</a:t>
            </a:r>
          </a:p>
          <a:p>
            <a:pPr>
              <a:lnSpc>
                <a:spcPct val="150000"/>
              </a:lnSpc>
            </a:pPr>
            <a:r>
              <a:rPr lang="en-IN" dirty="0">
                <a:solidFill>
                  <a:srgbClr val="0077AA"/>
                </a:solidFill>
                <a:latin typeface="Liberation Mono"/>
                <a:cs typeface="Arial" panose="020B0604020202020204" pitchFamily="34" charset="0"/>
              </a:rPr>
              <a:t>\U </a:t>
            </a:r>
            <a:r>
              <a:rPr lang="en-IN" dirty="0">
                <a:latin typeface="Liberation Mono"/>
                <a:cs typeface="Arial" panose="020B0604020202020204" pitchFamily="34" charset="0"/>
              </a:rPr>
              <a:t>db1</a:t>
            </a:r>
          </a:p>
        </p:txBody>
      </p:sp>
      <p:sp>
        <p:nvSpPr>
          <p:cNvPr id="4" name="Rectangle 3"/>
          <p:cNvSpPr/>
          <p:nvPr/>
        </p:nvSpPr>
        <p:spPr>
          <a:xfrm>
            <a:off x="620734" y="2322601"/>
            <a:ext cx="6477000" cy="1169551"/>
          </a:xfrm>
          <a:prstGeom prst="rect">
            <a:avLst/>
          </a:prstGeom>
          <a:noFill/>
        </p:spPr>
        <p:txBody>
          <a:bodyPr wrap="square">
            <a:spAutoFit/>
          </a:bodyPr>
          <a:lstStyle/>
          <a:p>
            <a:r>
              <a:rPr lang="en-US" sz="2000" dirty="0">
                <a:solidFill>
                  <a:srgbClr val="FF0000"/>
                </a:solidFill>
              </a:rPr>
              <a:t>Note:</a:t>
            </a:r>
          </a:p>
          <a:p>
            <a:endParaRPr lang="en-IN" sz="8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does not require a semicolon.</a:t>
            </a:r>
          </a:p>
          <a:p>
            <a:pPr marL="285750" indent="-285750">
              <a:buFont typeface="Arial" panose="020B0604020202020204" pitchFamily="34" charset="0"/>
              <a:buChar char="•"/>
            </a:pPr>
            <a:endParaRPr lang="en-IN" sz="6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must be followed by a database name.</a:t>
            </a:r>
          </a:p>
        </p:txBody>
      </p:sp>
      <p:sp>
        <p:nvSpPr>
          <p:cNvPr id="6" name="Rectangle 5"/>
          <p:cNvSpPr/>
          <p:nvPr/>
        </p:nvSpPr>
        <p:spPr>
          <a:xfrm>
            <a:off x="609600" y="1364902"/>
            <a:ext cx="1630575" cy="707886"/>
          </a:xfrm>
          <a:prstGeom prst="rect">
            <a:avLst/>
          </a:prstGeom>
        </p:spPr>
        <p:txBody>
          <a:bodyPr wrap="none">
            <a:spAutoFit/>
          </a:bodyPr>
          <a:lstStyle/>
          <a:p>
            <a:r>
              <a:rPr lang="en-IN" sz="2000" dirty="0">
                <a:solidFill>
                  <a:srgbClr val="0077AA"/>
                </a:solidFill>
                <a:latin typeface="Liberation Mono"/>
              </a:rPr>
              <a:t>USE</a:t>
            </a:r>
            <a:r>
              <a:rPr lang="en-IN" sz="2000" dirty="0">
                <a:solidFill>
                  <a:srgbClr val="000000"/>
                </a:solidFill>
                <a:latin typeface="Liberation Mono"/>
              </a:rPr>
              <a:t> </a:t>
            </a:r>
            <a:r>
              <a:rPr lang="en-IN" sz="2000" i="1" dirty="0">
                <a:solidFill>
                  <a:srgbClr val="000000"/>
                </a:solidFill>
                <a:latin typeface="Liberation Mono"/>
              </a:rPr>
              <a:t>db_name</a:t>
            </a:r>
          </a:p>
          <a:p>
            <a:r>
              <a:rPr lang="en-IN" sz="2000" dirty="0">
                <a:solidFill>
                  <a:srgbClr val="0077AA"/>
                </a:solidFill>
                <a:latin typeface="Liberation Mono"/>
              </a:rPr>
              <a:t>\U</a:t>
            </a:r>
            <a:r>
              <a:rPr lang="en-IN" sz="2000" dirty="0">
                <a:solidFill>
                  <a:srgbClr val="000000"/>
                </a:solidFill>
                <a:latin typeface="Liberation Mono"/>
              </a:rPr>
              <a:t> </a:t>
            </a:r>
            <a:r>
              <a:rPr lang="en-IN" sz="2000" i="1" dirty="0">
                <a:solidFill>
                  <a:srgbClr val="000000"/>
                </a:solidFill>
                <a:latin typeface="Liberation Mono"/>
              </a:rPr>
              <a:t>db_name</a:t>
            </a:r>
            <a:endParaRPr lang="en-IN" sz="2000" dirty="0"/>
          </a:p>
        </p:txBody>
      </p:sp>
    </p:spTree>
    <p:extLst>
      <p:ext uri="{BB962C8B-B14F-4D97-AF65-F5344CB8AC3E}">
        <p14:creationId xmlns:p14="http://schemas.microsoft.com/office/powerpoint/2010/main" val="1524733641"/>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CREATE DATABASE  </a:t>
            </a:r>
          </a:p>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ALTER DATABASE</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59902764"/>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 alter database</a:t>
            </a:r>
          </a:p>
        </p:txBody>
      </p:sp>
      <p:sp>
        <p:nvSpPr>
          <p:cNvPr id="6" name="Rectangle 5"/>
          <p:cNvSpPr/>
          <p:nvPr/>
        </p:nvSpPr>
        <p:spPr>
          <a:xfrm>
            <a:off x="263352" y="2924944"/>
            <a:ext cx="8839199"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latin typeface="Liberation Mono"/>
              </a:rPr>
              <a:t>db1</a:t>
            </a:r>
            <a:r>
              <a:rPr lang="en-IN" dirty="0">
                <a:latin typeface="Liberation Mono"/>
                <a:ea typeface="Arial Unicode MS"/>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solidFill>
                  <a:srgbClr val="A67F59"/>
                </a:solidFill>
                <a:latin typeface="Liberation Mono"/>
              </a:rPr>
              <a:t>IF NOT EXISTS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263352" y="703184"/>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CREATE DATABASE creates a database with the given name. To use this statement, you need the CREATE privilege for the database.</a:t>
            </a:r>
          </a:p>
        </p:txBody>
      </p:sp>
      <p:sp>
        <p:nvSpPr>
          <p:cNvPr id="8" name="Rectangle 7"/>
          <p:cNvSpPr/>
          <p:nvPr/>
        </p:nvSpPr>
        <p:spPr>
          <a:xfrm>
            <a:off x="263352" y="2411596"/>
            <a:ext cx="8136904"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CREATE SCHEMA is a synonym for CREATE DATABASE.</a:t>
            </a:r>
          </a:p>
        </p:txBody>
      </p:sp>
      <p:sp>
        <p:nvSpPr>
          <p:cNvPr id="10" name="TextBox 9">
            <a:extLst>
              <a:ext uri="{FF2B5EF4-FFF2-40B4-BE49-F238E27FC236}">
                <a16:creationId xmlns:a16="http://schemas.microsoft.com/office/drawing/2014/main" id="{73257A9A-2BAA-41CB-F9DC-4BCEDD062D4B}"/>
              </a:ext>
            </a:extLst>
          </p:cNvPr>
          <p:cNvSpPr txBox="1"/>
          <p:nvPr/>
        </p:nvSpPr>
        <p:spPr>
          <a:xfrm>
            <a:off x="253774" y="4021337"/>
            <a:ext cx="8938570"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 DATABASE </a:t>
            </a:r>
            <a:r>
              <a:rPr lang="en-IN" dirty="0">
                <a:latin typeface="Liberation Mono"/>
              </a:rPr>
              <a:t>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0</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write mode.</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a:t>
            </a:r>
            <a:r>
              <a:rPr lang="en-IN" dirty="0">
                <a:latin typeface="Liberation Mono"/>
              </a:rPr>
              <a:t> </a:t>
            </a:r>
            <a:r>
              <a:rPr lang="en-IN" dirty="0">
                <a:solidFill>
                  <a:srgbClr val="0070C0"/>
                </a:solidFill>
                <a:latin typeface="Liberation Mono"/>
                <a:ea typeface="Arial Unicode MS"/>
                <a:cs typeface="Arial" panose="020B0604020202020204" pitchFamily="34" charset="0"/>
              </a:rPr>
              <a:t>DATABASE</a:t>
            </a:r>
            <a:r>
              <a:rPr lang="en-IN" dirty="0">
                <a:latin typeface="Liberation Mono"/>
              </a:rPr>
              <a:t> 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1</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only mode.</a:t>
            </a:r>
            <a:endParaRPr lang="en-IN" dirty="0">
              <a:solidFill>
                <a:srgbClr val="41C60C"/>
              </a:solidFill>
              <a:latin typeface="Liberation Mono"/>
            </a:endParaRPr>
          </a:p>
        </p:txBody>
      </p:sp>
      <p:sp>
        <p:nvSpPr>
          <p:cNvPr id="12" name="TextBox 11">
            <a:extLst>
              <a:ext uri="{FF2B5EF4-FFF2-40B4-BE49-F238E27FC236}">
                <a16:creationId xmlns:a16="http://schemas.microsoft.com/office/drawing/2014/main" id="{5CDD656E-781F-245A-BBD9-C4D40513EC20}"/>
              </a:ext>
            </a:extLst>
          </p:cNvPr>
          <p:cNvSpPr txBox="1"/>
          <p:nvPr/>
        </p:nvSpPr>
        <p:spPr>
          <a:xfrm>
            <a:off x="263352" y="4931307"/>
            <a:ext cx="11593288" cy="175432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a:t>
            </a:r>
            <a:r>
              <a:rPr lang="en-IN" b="1" i="1" dirty="0">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possible to Create, Alter, Drop any object, and Write (Insert, Update, and Delete rows) in a read-only database.</a:t>
            </a:r>
          </a:p>
          <a:p>
            <a:pPr marL="171450" indent="-1714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TEMPORARY tables; it is possible to create, alter, drop, and write (Insert, Update, and Delete rows) to TEMPORARY tables in a read-only database.</a:t>
            </a:r>
          </a:p>
        </p:txBody>
      </p:sp>
      <p:sp>
        <p:nvSpPr>
          <p:cNvPr id="9" name="Rectangle 8">
            <a:extLst>
              <a:ext uri="{FF2B5EF4-FFF2-40B4-BE49-F238E27FC236}">
                <a16:creationId xmlns:a16="http://schemas.microsoft.com/office/drawing/2014/main" id="{4C6B98D5-E605-54B1-47C2-70D45F1EAC89}"/>
              </a:ext>
            </a:extLst>
          </p:cNvPr>
          <p:cNvSpPr/>
          <p:nvPr/>
        </p:nvSpPr>
        <p:spPr>
          <a:xfrm>
            <a:off x="263352" y="1435423"/>
            <a:ext cx="8773885" cy="769441"/>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i="1" dirty="0">
                <a:latin typeface="Liberation Mono"/>
              </a:rPr>
              <a:t>db_name</a:t>
            </a:r>
          </a:p>
          <a:p>
            <a:pPr eaLnBrk="0" fontAlgn="base" hangingPunct="0">
              <a:spcBef>
                <a:spcPct val="0"/>
              </a:spcBef>
              <a:spcAft>
                <a:spcPct val="0"/>
              </a:spcAft>
            </a:pPr>
            <a:endParaRPr lang="en-IN" sz="400" dirty="0">
              <a:solidFill>
                <a:srgbClr val="0077AA"/>
              </a:solidFill>
              <a:latin typeface="Liberation Mono"/>
            </a:endParaRPr>
          </a:p>
          <a:p>
            <a:pPr eaLnBrk="0" fontAlgn="base" hangingPunct="0">
              <a:spcBef>
                <a:spcPct val="0"/>
              </a:spcBef>
              <a:spcAft>
                <a:spcPct val="0"/>
              </a:spcAft>
            </a:pPr>
            <a:r>
              <a:rPr lang="en-IN" sz="2000" dirty="0">
                <a:solidFill>
                  <a:srgbClr val="0077AA"/>
                </a:solidFill>
                <a:latin typeface="Liberation Mono"/>
              </a:rPr>
              <a:t>ALTER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 </a:t>
            </a:r>
            <a:r>
              <a:rPr lang="en-IN" sz="2000" i="1" dirty="0">
                <a:latin typeface="Liberation Mono"/>
              </a:rPr>
              <a:t>db_name </a:t>
            </a:r>
            <a:r>
              <a:rPr lang="en-IN" sz="2000" dirty="0">
                <a:latin typeface="Liberation Mono"/>
              </a:rPr>
              <a:t>]</a:t>
            </a:r>
            <a:r>
              <a:rPr lang="en-IN" sz="2000" dirty="0">
                <a:solidFill>
                  <a:srgbClr val="0077AA"/>
                </a:solidFill>
                <a:latin typeface="Liberation Mono"/>
              </a:rPr>
              <a:t> READ ONLY </a:t>
            </a:r>
            <a:r>
              <a:rPr lang="en-IN" sz="2000" dirty="0">
                <a:latin typeface="Liberation Mono"/>
              </a:rPr>
              <a:t>[</a:t>
            </a:r>
            <a:r>
              <a:rPr lang="en-IN" sz="2000" dirty="0">
                <a:solidFill>
                  <a:srgbClr val="0077AA"/>
                </a:solidFill>
                <a:latin typeface="Liberation Mono"/>
              </a:rPr>
              <a:t>=</a:t>
            </a:r>
            <a:r>
              <a:rPr lang="en-IN" sz="2000" dirty="0">
                <a:latin typeface="Liberation Mono"/>
              </a:rPr>
              <a:t>] {</a:t>
            </a:r>
            <a:r>
              <a:rPr lang="en-IN" sz="2000" dirty="0">
                <a:solidFill>
                  <a:srgbClr val="0077AA"/>
                </a:solidFill>
                <a:latin typeface="Liberation Mono"/>
              </a:rPr>
              <a:t> 0 </a:t>
            </a:r>
            <a:r>
              <a:rPr lang="en-IN" sz="2000" dirty="0">
                <a:solidFill>
                  <a:schemeClr val="bg1">
                    <a:lumMod val="65000"/>
                  </a:schemeClr>
                </a:solidFill>
                <a:latin typeface="Liberation Mono"/>
              </a:rPr>
              <a:t>|</a:t>
            </a:r>
            <a:r>
              <a:rPr lang="en-IN" sz="2000" dirty="0">
                <a:solidFill>
                  <a:srgbClr val="0077AA"/>
                </a:solidFill>
                <a:latin typeface="Liberation Mono"/>
              </a:rPr>
              <a:t> 1</a:t>
            </a:r>
            <a:r>
              <a:rPr lang="en-IN" sz="2000" dirty="0">
                <a:latin typeface="Liberation Mono"/>
              </a:rPr>
              <a:t>}</a:t>
            </a:r>
          </a:p>
        </p:txBody>
      </p:sp>
    </p:spTree>
    <p:extLst>
      <p:ext uri="{BB962C8B-B14F-4D97-AF65-F5344CB8AC3E}">
        <p14:creationId xmlns:p14="http://schemas.microsoft.com/office/powerpoint/2010/main" val="2505048848"/>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DROP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911424" y="3276600"/>
            <a:ext cx="10513168" cy="707886"/>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If the default database is dropped, the default database is unset (the DATABASE() function returns NULL).</a:t>
            </a:r>
          </a:p>
        </p:txBody>
      </p:sp>
    </p:spTree>
    <p:extLst>
      <p:ext uri="{BB962C8B-B14F-4D97-AF65-F5344CB8AC3E}">
        <p14:creationId xmlns:p14="http://schemas.microsoft.com/office/powerpoint/2010/main" val="1975106780"/>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database</a:t>
            </a:r>
          </a:p>
        </p:txBody>
      </p:sp>
      <p:sp>
        <p:nvSpPr>
          <p:cNvPr id="5" name="Rectangle 4"/>
          <p:cNvSpPr/>
          <p:nvPr/>
        </p:nvSpPr>
        <p:spPr>
          <a:xfrm>
            <a:off x="407368" y="1745158"/>
            <a:ext cx="8773885"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DROP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EXISTS</a:t>
            </a:r>
            <a:r>
              <a:rPr lang="en-IN" sz="2000" dirty="0">
                <a:latin typeface="Liberation Mono"/>
              </a:rPr>
              <a:t>] </a:t>
            </a:r>
            <a:r>
              <a:rPr lang="en-IN" sz="2000" i="1" dirty="0">
                <a:latin typeface="Liberation Mono"/>
              </a:rPr>
              <a:t>db_name</a:t>
            </a:r>
          </a:p>
        </p:txBody>
      </p:sp>
      <p:sp>
        <p:nvSpPr>
          <p:cNvPr id="6" name="Rectangle 5"/>
          <p:cNvSpPr/>
          <p:nvPr/>
        </p:nvSpPr>
        <p:spPr>
          <a:xfrm>
            <a:off x="407368" y="3645024"/>
            <a:ext cx="8839199" cy="878574"/>
          </a:xfrm>
          <a:prstGeom prst="rect">
            <a:avLst/>
          </a:prstGeom>
        </p:spPr>
        <p:txBody>
          <a:bodyPr wrap="square">
            <a:spAutoFit/>
          </a:bodyPr>
          <a:lstStyle/>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IF</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EXISTS</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407368" y="703183"/>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DROP DATABASE drops all tables in the database and deletes the database. Be very careful with this statement! To use DROP DATABASE, you need the DROP privilege on the database.</a:t>
            </a:r>
          </a:p>
        </p:txBody>
      </p:sp>
      <p:sp>
        <p:nvSpPr>
          <p:cNvPr id="8" name="Rectangle 7"/>
          <p:cNvSpPr/>
          <p:nvPr/>
        </p:nvSpPr>
        <p:spPr>
          <a:xfrm>
            <a:off x="407368" y="2617644"/>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DROP SCHEMA is a synonym for DROP DATABASE.</a:t>
            </a:r>
          </a:p>
        </p:txBody>
      </p:sp>
    </p:spTree>
    <p:extLst>
      <p:ext uri="{BB962C8B-B14F-4D97-AF65-F5344CB8AC3E}">
        <p14:creationId xmlns:p14="http://schemas.microsoft.com/office/powerpoint/2010/main" val="1903824061"/>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295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Information Functions</a:t>
            </a:r>
          </a:p>
          <a:p>
            <a:pPr lvl="0" algn="ctr">
              <a:spcBef>
                <a:spcPct val="0"/>
              </a:spcBef>
              <a:defRPr/>
            </a:pPr>
            <a:r>
              <a:rPr lang="en-IN" sz="2000" dirty="0">
                <a:latin typeface="Palatino Linotype" panose="02040502050505030304" pitchFamily="18" charset="0"/>
                <a:cs typeface="Segoe UI Light" panose="020B0502040204020203" pitchFamily="34" charset="0"/>
              </a:rPr>
              <a:t>Use these function with SELECT statement</a:t>
            </a:r>
            <a:endParaRPr lang="en-US"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10000975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982464"/>
            <a:ext cx="11521280" cy="5293757"/>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FOUND_ROWS()</a:t>
            </a:r>
            <a:r>
              <a:rPr lang="en-IN" dirty="0">
                <a:latin typeface="Palatino Linotype" panose="02040502050505030304" pitchFamily="18" charset="0"/>
                <a:cs typeface="Arial" panose="020B0604020202020204" pitchFamily="34" charset="0"/>
              </a:rPr>
              <a:t>  - For a SELECT with a LIMIT clause, the number of rows that would be returned were there no LIMIT clause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FOUND_ROWS()</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LAST_INSERT_ID()</a:t>
            </a:r>
            <a:r>
              <a:rPr lang="en-IN" dirty="0">
                <a:latin typeface="Palatino Linotype" panose="02040502050505030304" pitchFamily="18" charset="0"/>
                <a:cs typeface="Arial" panose="020B0604020202020204" pitchFamily="34" charset="0"/>
              </a:rPr>
              <a:t> - </a:t>
            </a:r>
            <a:r>
              <a:rPr lang="en-US" dirty="0">
                <a:latin typeface="Palatino Linotype" panose="02040502050505030304" pitchFamily="18" charset="0"/>
                <a:cs typeface="Arial" panose="020B0604020202020204" pitchFamily="34" charset="0"/>
              </a:rPr>
              <a:t>Is a function used to retrieve the AUTO_INCREMENT value generated by the most   </a:t>
            </a:r>
          </a:p>
          <a:p>
            <a:pPr marL="285750" indent="-285750">
              <a:buFont typeface="Arial" panose="020B0604020202020204" pitchFamily="34" charset="0"/>
              <a:buChar char="•"/>
            </a:pPr>
            <a:r>
              <a:rPr lang="en-US" dirty="0">
                <a:latin typeface="Palatino Linotype" panose="02040502050505030304" pitchFamily="18" charset="0"/>
                <a:cs typeface="Arial" panose="020B0604020202020204" pitchFamily="34" charset="0"/>
              </a:rPr>
              <a:t>                                         recent successful INSERT in the current session.</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ROW_COUNT()</a:t>
            </a:r>
            <a:r>
              <a:rPr lang="en-IN" dirty="0">
                <a:latin typeface="Palatino Linotype" panose="02040502050505030304" pitchFamily="18" charset="0"/>
                <a:cs typeface="Arial" panose="020B0604020202020204" pitchFamily="34" charset="0"/>
              </a:rPr>
              <a:t> - </a:t>
            </a:r>
            <a:r>
              <a:rPr lang="en-US" dirty="0">
                <a:latin typeface="Palatino Linotype" panose="02040502050505030304" pitchFamily="18" charset="0"/>
                <a:cs typeface="Arial" panose="020B0604020202020204" pitchFamily="34" charset="0"/>
              </a:rPr>
              <a:t>Is a function that returns the number of rows affected by the most recent statement. </a:t>
            </a:r>
            <a:endParaRPr lang="en-IN"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ROW_COUNT();</a:t>
            </a:r>
            <a:endParaRPr lang="en-IN" b="1"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DATABASE()</a:t>
            </a:r>
            <a:r>
              <a:rPr lang="en-IN" dirty="0">
                <a:latin typeface="Palatino Linotype" panose="02040502050505030304" pitchFamily="18" charset="0"/>
                <a:cs typeface="Arial" panose="020B0604020202020204" pitchFamily="34" charset="0"/>
              </a:rPr>
              <a:t> – </a:t>
            </a:r>
          </a:p>
          <a:p>
            <a:pPr marL="622300" indent="-342900">
              <a:buFont typeface="+mj-lt"/>
              <a:buAutoNum type="arabicPeriod"/>
            </a:pPr>
            <a:r>
              <a:rPr lang="en-US" dirty="0">
                <a:latin typeface="Palatino Linotype" panose="02040502050505030304" pitchFamily="18" charset="0"/>
                <a:cs typeface="Arial" panose="020B0604020202020204" pitchFamily="34" charset="0"/>
              </a:rPr>
              <a:t>Is a function that returns the name of the currently selected database for the current session.   </a:t>
            </a:r>
          </a:p>
          <a:p>
            <a:pPr marL="622300" indent="-342900">
              <a:buFont typeface="+mj-lt"/>
              <a:buAutoNum type="arabicPeriod"/>
            </a:pPr>
            <a:r>
              <a:rPr lang="en-US" dirty="0">
                <a:latin typeface="Palatino Linotype" panose="02040502050505030304" pitchFamily="18" charset="0"/>
                <a:cs typeface="Arial" panose="020B0604020202020204" pitchFamily="34" charset="0"/>
              </a:rPr>
              <a:t>If no database is selected then it will return NULL</a:t>
            </a:r>
            <a:endParaRPr lang="en-IN"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Palatino Linotype" panose="02040502050505030304" pitchFamily="18" charset="0"/>
                <a:cs typeface="Arial" panose="020B0604020202020204" pitchFamily="34" charset="0"/>
              </a:rPr>
              <a:t>DATABASE()</a:t>
            </a:r>
            <a:r>
              <a:rPr lang="en-IN" dirty="0">
                <a:latin typeface="Liberation Mono"/>
                <a:cs typeface="Arial" panose="020B0604020202020204" pitchFamily="34" charset="0"/>
              </a:rPr>
              <a:t>;</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SCHEMA()</a:t>
            </a:r>
            <a:r>
              <a:rPr lang="en-IN" dirty="0">
                <a:latin typeface="Palatino Linotype" panose="02040502050505030304" pitchFamily="18" charset="0"/>
                <a:cs typeface="Arial" panose="020B0604020202020204" pitchFamily="34" charset="0"/>
              </a:rPr>
              <a:t> - Synonym for DATABASE()</a:t>
            </a:r>
          </a:p>
        </p:txBody>
      </p:sp>
      <p:sp>
        <p:nvSpPr>
          <p:cNvPr id="8" name="Rectangle 7">
            <a:extLst>
              <a:ext uri="{FF2B5EF4-FFF2-40B4-BE49-F238E27FC236}">
                <a16:creationId xmlns:a16="http://schemas.microsoft.com/office/drawing/2014/main" id="{EFEAD40B-253D-43FE-BF10-C3B2243BC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696502339"/>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6796" y="982800"/>
            <a:ext cx="10972800" cy="3477875"/>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CURRENT_USER(), CURRENT_USER</a:t>
            </a:r>
            <a:r>
              <a:rPr lang="en-IN" dirty="0">
                <a:latin typeface="Palatino Linotype" panose="02040502050505030304" pitchFamily="18" charset="0"/>
                <a:cs typeface="Arial" panose="020B0604020202020204" pitchFamily="34" charset="0"/>
              </a:rPr>
              <a:t> - The authenticated user name and host name</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USER()</a:t>
            </a:r>
            <a:r>
              <a:rPr lang="en-IN" dirty="0">
                <a:latin typeface="Palatino Linotype" panose="02040502050505030304" pitchFamily="18" charset="0"/>
                <a:cs typeface="Arial" panose="020B0604020202020204" pitchFamily="34" charset="0"/>
              </a:rPr>
              <a:t> - The user name and host name provided by the client</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Liberation Mono"/>
                <a:cs typeface="Arial" panose="020B0604020202020204" pitchFamily="34" charset="0"/>
              </a:rPr>
              <a:t>USER()</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SESSION_USER()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SYSTEM_USER()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VERSION()</a:t>
            </a:r>
            <a:r>
              <a:rPr lang="en-IN" dirty="0">
                <a:latin typeface="Palatino Linotype" panose="02040502050505030304" pitchFamily="18" charset="0"/>
                <a:cs typeface="Arial" panose="020B0604020202020204" pitchFamily="34" charset="0"/>
              </a:rPr>
              <a:t> - Return a string that indicates the MySQL server version</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VERSION()</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CONNECTION_ID()</a:t>
            </a:r>
            <a:r>
              <a:rPr lang="en-IN" dirty="0">
                <a:latin typeface="Palatino Linotype" panose="02040502050505030304" pitchFamily="18" charset="0"/>
                <a:cs typeface="Arial" panose="020B0604020202020204" pitchFamily="34" charset="0"/>
              </a:rPr>
              <a:t> - Return the connection ID (thread ID) for the connection</a:t>
            </a:r>
          </a:p>
        </p:txBody>
      </p:sp>
      <p:sp>
        <p:nvSpPr>
          <p:cNvPr id="8" name="Rectangle 7">
            <a:extLst>
              <a:ext uri="{FF2B5EF4-FFF2-40B4-BE49-F238E27FC236}">
                <a16:creationId xmlns:a16="http://schemas.microsoft.com/office/drawing/2014/main" id="{D12A9576-97B7-4E7F-B681-1E525A744BA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42769344"/>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852486"/>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mysqlshow.exe</a:t>
            </a:r>
            <a:endParaRPr lang="en-US" sz="2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024166" y="3357562"/>
            <a:ext cx="6429420" cy="369332"/>
          </a:xfrm>
          <a:prstGeom prst="rect">
            <a:avLst/>
          </a:prstGeom>
        </p:spPr>
        <p:txBody>
          <a:bodyPr wrap="square">
            <a:spAutoFit/>
          </a:bodyPr>
          <a:lstStyle/>
          <a:p>
            <a:r>
              <a:rPr lang="en-US" dirty="0">
                <a:solidFill>
                  <a:srgbClr val="006C86"/>
                </a:solidFill>
              </a:rPr>
              <a:t>.</a:t>
            </a:r>
          </a:p>
        </p:txBody>
      </p:sp>
      <p:sp>
        <p:nvSpPr>
          <p:cNvPr id="4" name="Rectangle 3"/>
          <p:cNvSpPr/>
          <p:nvPr/>
        </p:nvSpPr>
        <p:spPr>
          <a:xfrm>
            <a:off x="479376" y="3284984"/>
            <a:ext cx="11377264"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mysqlshow client can be used to quickly see which databases exist, their tables, or a table's columns or indexes</a:t>
            </a:r>
          </a:p>
        </p:txBody>
      </p:sp>
      <p:sp>
        <p:nvSpPr>
          <p:cNvPr id="5" name="Rectangle 4"/>
          <p:cNvSpPr/>
          <p:nvPr/>
        </p:nvSpPr>
        <p:spPr>
          <a:xfrm>
            <a:off x="479376" y="548680"/>
            <a:ext cx="7500990" cy="430887"/>
          </a:xfrm>
          <a:prstGeom prst="rect">
            <a:avLst/>
          </a:prstGeom>
        </p:spPr>
        <p:txBody>
          <a:bodyPr wrap="square">
            <a:spAutoFit/>
          </a:bodyPr>
          <a:lstStyle/>
          <a:p>
            <a:r>
              <a:rPr lang="en-US" sz="2200" dirty="0">
                <a:solidFill>
                  <a:schemeClr val="accent5">
                    <a:lumMod val="75000"/>
                  </a:schemeClr>
                </a:solidFill>
              </a:rPr>
              <a:t>mysqlshow [</a:t>
            </a:r>
            <a:r>
              <a:rPr lang="en-US" sz="2200" i="1" dirty="0">
                <a:solidFill>
                  <a:schemeClr val="accent5">
                    <a:lumMod val="75000"/>
                  </a:schemeClr>
                </a:solidFill>
              </a:rPr>
              <a:t>options</a:t>
            </a:r>
            <a:r>
              <a:rPr lang="en-US" sz="2200" dirty="0">
                <a:solidFill>
                  <a:schemeClr val="accent5">
                    <a:lumMod val="75000"/>
                  </a:schemeClr>
                </a:solidFill>
              </a:rPr>
              <a:t>] [</a:t>
            </a:r>
            <a:r>
              <a:rPr lang="en-US" sz="2200" i="1" dirty="0">
                <a:solidFill>
                  <a:schemeClr val="accent5">
                    <a:lumMod val="75000"/>
                  </a:schemeClr>
                </a:solidFill>
              </a:rPr>
              <a:t>db_name</a:t>
            </a:r>
            <a:r>
              <a:rPr lang="en-US" sz="2200" dirty="0">
                <a:solidFill>
                  <a:schemeClr val="accent5">
                    <a:lumMod val="75000"/>
                  </a:schemeClr>
                </a:solidFill>
              </a:rPr>
              <a:t> [</a:t>
            </a:r>
            <a:r>
              <a:rPr lang="en-US" sz="2200" i="1" dirty="0">
                <a:solidFill>
                  <a:schemeClr val="accent5">
                    <a:lumMod val="75000"/>
                  </a:schemeClr>
                </a:solidFill>
              </a:rPr>
              <a:t>tbl_name</a:t>
            </a:r>
            <a:r>
              <a:rPr lang="en-US" sz="2200" dirty="0">
                <a:solidFill>
                  <a:schemeClr val="accent5">
                    <a:lumMod val="75000"/>
                  </a:schemeClr>
                </a:solidFill>
              </a:rPr>
              <a:t> [</a:t>
            </a:r>
            <a:r>
              <a:rPr lang="en-US" sz="2200" i="1" dirty="0">
                <a:solidFill>
                  <a:schemeClr val="accent5">
                    <a:lumMod val="75000"/>
                  </a:schemeClr>
                </a:solidFill>
              </a:rPr>
              <a:t>col_name</a:t>
            </a:r>
            <a:r>
              <a:rPr lang="en-US" sz="2200" dirty="0">
                <a:solidFill>
                  <a:schemeClr val="accent5">
                    <a:lumMod val="75000"/>
                  </a:schemeClr>
                </a:solidFill>
              </a:rPr>
              <a:t>]]]</a:t>
            </a:r>
          </a:p>
        </p:txBody>
      </p:sp>
    </p:spTree>
    <p:extLst>
      <p:ext uri="{BB962C8B-B14F-4D97-AF65-F5344CB8AC3E}">
        <p14:creationId xmlns:p14="http://schemas.microsoft.com/office/powerpoint/2010/main" val="3100009759"/>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7" name="Rectangle 6"/>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and Indexes</a:t>
            </a:r>
          </a:p>
        </p:txBody>
      </p:sp>
      <p:sp>
        <p:nvSpPr>
          <p:cNvPr id="9" name="Rectangle 8"/>
          <p:cNvSpPr/>
          <p:nvPr/>
        </p:nvSpPr>
        <p:spPr>
          <a:xfrm>
            <a:off x="695400" y="1460361"/>
            <a:ext cx="10729192" cy="4107278"/>
          </a:xfrm>
          <a:prstGeom prst="rect">
            <a:avLst/>
          </a:prstGeom>
        </p:spPr>
        <p:txBody>
          <a:bodyPr wrap="square">
            <a:spAutoFit/>
          </a:bodyPr>
          <a:lstStyle/>
          <a:p>
            <a:pPr>
              <a:lnSpc>
                <a:spcPct val="150000"/>
              </a:lnSpc>
            </a:pPr>
            <a:r>
              <a:rPr lang="en-US" dirty="0">
                <a:solidFill>
                  <a:srgbClr val="00B050"/>
                </a:solidFill>
                <a:latin typeface="Liberation Mono"/>
                <a:ea typeface="Arial Unicode MS"/>
                <a:cs typeface="Arial" panose="020B0604020202020204" pitchFamily="34" charset="0"/>
              </a:rPr>
              <a:t>[</a:t>
            </a:r>
            <a:r>
              <a:rPr lang="en-US" dirty="0">
                <a:solidFill>
                  <a:srgbClr val="00B050"/>
                </a:solidFill>
                <a:latin typeface="Liberation Mono"/>
                <a:cs typeface="Arial" panose="020B0604020202020204" pitchFamily="34" charset="0"/>
              </a:rPr>
              <a:t>Display available databases</a:t>
            </a:r>
            <a:r>
              <a:rPr lang="en-US" dirty="0">
                <a:solidFill>
                  <a:srgbClr val="00B050"/>
                </a:solidFill>
                <a:latin typeface="Liberation Mono"/>
                <a:ea typeface="Arial Unicode MS"/>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US" dirty="0">
                <a:solidFill>
                  <a:srgbClr val="0070C0"/>
                </a:solidFill>
                <a:latin typeface="Liberation Mono"/>
                <a:ea typeface="Arial Unicode MS"/>
                <a:cs typeface="Arial" panose="020B0604020202020204" pitchFamily="34" charset="0"/>
              </a:rPr>
              <a:t>	</a:t>
            </a:r>
            <a:endParaRPr lang="en-US" dirty="0">
              <a:solidFill>
                <a:srgbClr val="00B050"/>
              </a:solidFill>
              <a:latin typeface="Liberation Mono"/>
              <a:ea typeface="Arial Unicode MS"/>
              <a:cs typeface="Arial" panose="020B0604020202020204" pitchFamily="34" charset="0"/>
            </a:endParaRPr>
          </a:p>
          <a:p>
            <a:pPr>
              <a:lnSpc>
                <a:spcPct val="150000"/>
              </a:lnSpc>
            </a:pPr>
            <a:endParaRPr lang="en-IN" sz="800" dirty="0">
              <a:solidFill>
                <a:srgbClr val="00B050"/>
              </a:solidFill>
              <a:latin typeface="Liberation Mono"/>
              <a:cs typeface="Arial" panose="020B0604020202020204" pitchFamily="34" charset="0"/>
            </a:endParaRPr>
          </a:p>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tables in a database</a:t>
            </a:r>
            <a:r>
              <a:rPr lang="en-IN" dirty="0">
                <a:solidFill>
                  <a:srgbClr val="00B050"/>
                </a:solidFill>
                <a:latin typeface="Liberation Mono"/>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a:t>
            </a:r>
            <a:r>
              <a:rPr lang="en-IN" sz="2000" dirty="0">
                <a:solidFill>
                  <a:srgbClr val="006C86"/>
                </a:solidFill>
                <a:latin typeface="Liberation Mono"/>
                <a:cs typeface="Arial" panose="020B0604020202020204" pitchFamily="34" charset="0"/>
              </a:rPr>
              <a:t> </a:t>
            </a:r>
            <a:r>
              <a:rPr lang="en-IN" dirty="0">
                <a:solidFill>
                  <a:srgbClr val="669900"/>
                </a:solidFill>
                <a:latin typeface="Liberation Mono"/>
                <a:cs typeface="Arial" panose="020B0604020202020204" pitchFamily="34" charset="0"/>
              </a:rPr>
              <a:t>	</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tables along with number of columns in a database]</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a:t>
            </a: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total number of columns and rows of all tables in a database]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 –v</a:t>
            </a:r>
          </a:p>
        </p:txBody>
      </p:sp>
    </p:spTree>
    <p:extLst>
      <p:ext uri="{BB962C8B-B14F-4D97-AF65-F5344CB8AC3E}">
        <p14:creationId xmlns:p14="http://schemas.microsoft.com/office/powerpoint/2010/main" val="1903824061"/>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9" name="Rectangle 8"/>
          <p:cNvSpPr/>
          <p:nvPr/>
        </p:nvSpPr>
        <p:spPr>
          <a:xfrm>
            <a:off x="695400" y="1459359"/>
            <a:ext cx="10801200" cy="3045449"/>
          </a:xfrm>
          <a:prstGeom prst="rect">
            <a:avLst/>
          </a:prstGeom>
        </p:spPr>
        <p:txBody>
          <a:bodyPr wrap="square">
            <a:spAutoFit/>
          </a:bodyPr>
          <a:lstStyle/>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columns of a table</a:t>
            </a:r>
            <a:r>
              <a:rPr lang="en-IN" dirty="0">
                <a:solidFill>
                  <a:srgbClr val="00B050"/>
                </a:solidFill>
                <a:latin typeface="Liberation Mono"/>
                <a:cs typeface="Arial" panose="020B0604020202020204" pitchFamily="34" charset="0"/>
              </a:rPr>
              <a:t>]</a:t>
            </a:r>
            <a:endParaRPr lang="en-US" dirty="0">
              <a:solidFill>
                <a:srgbClr val="00B050"/>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details about a specific column from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 empno</a:t>
            </a:r>
            <a:endParaRPr lang="en-US" sz="2000" dirty="0">
              <a:latin typeface="Liberation Mono"/>
              <a:cs typeface="Arial" panose="020B0604020202020204" pitchFamily="34" charset="0"/>
            </a:endParaRP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both indexes and columns of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r>
              <a:rPr lang="en-US" sz="2000" dirty="0">
                <a:latin typeface="Liberation Mono"/>
                <a:cs typeface="Arial" panose="020B0604020202020204" pitchFamily="34" charset="0"/>
              </a:rPr>
              <a:t> –k</a:t>
            </a:r>
          </a:p>
        </p:txBody>
      </p:sp>
      <p:sp>
        <p:nvSpPr>
          <p:cNvPr id="5" name="Rectangle 4">
            <a:extLst>
              <a:ext uri="{FF2B5EF4-FFF2-40B4-BE49-F238E27FC236}">
                <a16:creationId xmlns:a16="http://schemas.microsoft.com/office/drawing/2014/main" id="{B6B8E21E-5F5D-488C-9A80-4ED21BD1D9ED}"/>
              </a:ext>
            </a:extLst>
          </p:cNvPr>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t>
            </a:r>
            <a:r>
              <a:rPr lang="en-US" sz="2000"/>
              <a:t>and Indexes</a:t>
            </a:r>
            <a:endParaRPr lang="en-US" sz="2000" dirty="0"/>
          </a:p>
        </p:txBody>
      </p:sp>
    </p:spTree>
    <p:extLst>
      <p:ext uri="{BB962C8B-B14F-4D97-AF65-F5344CB8AC3E}">
        <p14:creationId xmlns:p14="http://schemas.microsoft.com/office/powerpoint/2010/main" val="1903824061"/>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Source Command</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23518367"/>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command</a:t>
            </a:r>
          </a:p>
        </p:txBody>
      </p:sp>
      <p:sp>
        <p:nvSpPr>
          <p:cNvPr id="2" name="Rectangle 1"/>
          <p:cNvSpPr/>
          <p:nvPr/>
        </p:nvSpPr>
        <p:spPr>
          <a:xfrm>
            <a:off x="1741714" y="762000"/>
            <a:ext cx="8686800" cy="338554"/>
          </a:xfrm>
          <a:prstGeom prst="rect">
            <a:avLst/>
          </a:prstGeom>
        </p:spPr>
        <p:txBody>
          <a:bodyPr wrap="square">
            <a:spAutoFit/>
          </a:bodyPr>
          <a:lstStyle/>
          <a:p>
            <a:r>
              <a:rPr lang="en-IN" sz="1600" b="1" dirty="0">
                <a:latin typeface="Arial" panose="020B0604020202020204" pitchFamily="34" charset="0"/>
                <a:cs typeface="Arial" panose="020B0604020202020204" pitchFamily="34" charset="0"/>
              </a:rPr>
              <a:t>You can execute an SQL script file using the source command or \. command</a:t>
            </a:r>
          </a:p>
        </p:txBody>
      </p:sp>
      <p:sp>
        <p:nvSpPr>
          <p:cNvPr id="7" name="Rectangle 6"/>
          <p:cNvSpPr/>
          <p:nvPr/>
        </p:nvSpPr>
        <p:spPr>
          <a:xfrm>
            <a:off x="1763487" y="2131875"/>
            <a:ext cx="8719457" cy="1668405"/>
          </a:xfrm>
          <a:prstGeom prst="rect">
            <a:avLst/>
          </a:prstGeom>
        </p:spPr>
        <p:txBody>
          <a:bodyPr wrap="square">
            <a:spAutoFit/>
          </a:bodyPr>
          <a:lstStyle/>
          <a:p>
            <a:pPr marL="342900" indent="-342900">
              <a:lnSpc>
                <a:spcPct val="200000"/>
              </a:lnSpc>
              <a:buFont typeface="Arial" panose="020B0604020202020204" pitchFamily="34" charset="0"/>
              <a:buChar char="•"/>
            </a:pPr>
            <a:r>
              <a:rPr lang="en-IN" dirty="0">
                <a:solidFill>
                  <a:srgbClr val="0077AA"/>
                </a:solidFill>
                <a:latin typeface="Liberation Mono"/>
              </a:rPr>
              <a:t>\.</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//infoserver1/infodomain1/Everyone/DBT/mysqldemobld7.sql</a:t>
            </a:r>
          </a:p>
        </p:txBody>
      </p:sp>
      <p:sp>
        <p:nvSpPr>
          <p:cNvPr id="8" name="Rectangle 7"/>
          <p:cNvSpPr/>
          <p:nvPr/>
        </p:nvSpPr>
        <p:spPr>
          <a:xfrm>
            <a:off x="1676400" y="1295400"/>
            <a:ext cx="8839200" cy="707886"/>
          </a:xfrm>
          <a:prstGeom prst="rect">
            <a:avLst/>
          </a:prstGeom>
        </p:spPr>
        <p:txBody>
          <a:bodyPr wrap="square">
            <a:spAutoFit/>
          </a:bodyPr>
          <a:lstStyle/>
          <a:p>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 file_name</a:t>
            </a:r>
          </a:p>
          <a:p>
            <a:r>
              <a:rPr lang="en-US" sz="2000" dirty="0">
                <a:solidFill>
                  <a:srgbClr val="0077AA"/>
                </a:solidFill>
                <a:latin typeface="Liberation Mono"/>
              </a:rPr>
              <a:t>     source file_name</a:t>
            </a:r>
          </a:p>
        </p:txBody>
      </p:sp>
    </p:spTree>
    <p:extLst>
      <p:ext uri="{BB962C8B-B14F-4D97-AF65-F5344CB8AC3E}">
        <p14:creationId xmlns:p14="http://schemas.microsoft.com/office/powerpoint/2010/main" val="2514119296"/>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COLUMNS </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D918E40F-C87B-B461-2B54-7A3E8F9EF9AD}"/>
              </a:ext>
            </a:extLst>
          </p:cNvPr>
          <p:cNvSpPr/>
          <p:nvPr/>
        </p:nvSpPr>
        <p:spPr>
          <a:xfrm>
            <a:off x="1516286" y="3200400"/>
            <a:ext cx="9159428" cy="400110"/>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COLUMNS is a statement used to display the structure of columns in a table.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84203074"/>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EMP &amp; DEPT Table structure</a:t>
            </a:r>
            <a:endParaRPr lang="en-IN" b="1" dirty="0">
              <a:latin typeface="Arial" pitchFamily="34" charset="0"/>
              <a:cs typeface="Arial" pitchFamily="34" charset="0"/>
            </a:endParaRPr>
          </a:p>
        </p:txBody>
      </p:sp>
      <p:pic>
        <p:nvPicPr>
          <p:cNvPr id="8" name="Picture 7">
            <a:extLst>
              <a:ext uri="{FF2B5EF4-FFF2-40B4-BE49-F238E27FC236}">
                <a16:creationId xmlns:a16="http://schemas.microsoft.com/office/drawing/2014/main" id="{CDB55B1B-CA6E-AC90-C966-4D3D97B15AB6}"/>
              </a:ext>
            </a:extLst>
          </p:cNvPr>
          <p:cNvPicPr>
            <a:picLocks noChangeAspect="1"/>
          </p:cNvPicPr>
          <p:nvPr/>
        </p:nvPicPr>
        <p:blipFill>
          <a:blip r:embed="rId2"/>
          <a:stretch>
            <a:fillRect/>
          </a:stretch>
        </p:blipFill>
        <p:spPr>
          <a:xfrm>
            <a:off x="335360" y="1340768"/>
            <a:ext cx="6829425" cy="4762500"/>
          </a:xfrm>
          <a:prstGeom prst="rect">
            <a:avLst/>
          </a:prstGeom>
        </p:spPr>
      </p:pic>
      <p:pic>
        <p:nvPicPr>
          <p:cNvPr id="10" name="Picture 9">
            <a:extLst>
              <a:ext uri="{FF2B5EF4-FFF2-40B4-BE49-F238E27FC236}">
                <a16:creationId xmlns:a16="http://schemas.microsoft.com/office/drawing/2014/main" id="{164C7506-CC19-9538-0C4E-BB63A7CF7129}"/>
              </a:ext>
            </a:extLst>
          </p:cNvPr>
          <p:cNvPicPr>
            <a:picLocks noChangeAspect="1"/>
          </p:cNvPicPr>
          <p:nvPr/>
        </p:nvPicPr>
        <p:blipFill>
          <a:blip r:embed="rId3"/>
          <a:stretch>
            <a:fillRect/>
          </a:stretch>
        </p:blipFill>
        <p:spPr>
          <a:xfrm>
            <a:off x="7199631" y="1340768"/>
            <a:ext cx="4752528" cy="2600325"/>
          </a:xfrm>
          <a:prstGeom prst="rect">
            <a:avLst/>
          </a:prstGeom>
        </p:spPr>
      </p:pic>
    </p:spTree>
    <p:extLst>
      <p:ext uri="{BB962C8B-B14F-4D97-AF65-F5344CB8AC3E}">
        <p14:creationId xmlns:p14="http://schemas.microsoft.com/office/powerpoint/2010/main" val="2378881195"/>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COLUMNS Syntax</a:t>
            </a:r>
          </a:p>
        </p:txBody>
      </p:sp>
      <p:sp>
        <p:nvSpPr>
          <p:cNvPr id="3" name="Rectangle 2"/>
          <p:cNvSpPr/>
          <p:nvPr/>
        </p:nvSpPr>
        <p:spPr>
          <a:xfrm>
            <a:off x="609600" y="2637980"/>
            <a:ext cx="9906000" cy="30008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IN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FULL COLUMNS FROM </a:t>
            </a:r>
            <a:r>
              <a:rPr lang="en-IN" dirty="0">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WITH PRIVILEGES</a:t>
            </a:r>
            <a:r>
              <a:rPr lang="en-IN" dirty="0">
                <a:solidFill>
                  <a:schemeClr val="accent3">
                    <a:lumMod val="50000"/>
                  </a:schemeClr>
                </a:solidFill>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FROM </a:t>
            </a:r>
            <a:r>
              <a:rPr lang="en-IN" dirty="0">
                <a:latin typeface="Liberation Mono"/>
                <a:ea typeface="Times New Roman" panose="02020603050405020304" pitchFamily="18" charset="0"/>
              </a:rPr>
              <a:t>dbName;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user01.emp;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LIKE </a:t>
            </a:r>
            <a:r>
              <a:rPr lang="en-IN" dirty="0">
                <a:solidFill>
                  <a:srgbClr val="669900"/>
                </a:solidFill>
                <a:latin typeface="Liberation Mono"/>
              </a:rPr>
              <a:t>'E%'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STARTING WITH 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FIELD </a:t>
            </a:r>
            <a:r>
              <a:rPr lang="en-IN" dirty="0">
                <a:solidFill>
                  <a:srgbClr val="A67F59"/>
                </a:solidFill>
                <a:latin typeface="Liberation Mono"/>
              </a:rPr>
              <a:t>IN</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669900"/>
                </a:solidFill>
                <a:latin typeface="Liberation Mono"/>
              </a:rPr>
              <a:t>'ename'</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ONLY ENAME COLUMN</a:t>
            </a:r>
          </a:p>
        </p:txBody>
      </p:sp>
      <p:sp>
        <p:nvSpPr>
          <p:cNvPr id="4" name="Rectangle 3"/>
          <p:cNvSpPr/>
          <p:nvPr/>
        </p:nvSpPr>
        <p:spPr>
          <a:xfrm>
            <a:off x="609600" y="1438871"/>
            <a:ext cx="9158808" cy="707886"/>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 </a:t>
            </a:r>
            <a:r>
              <a:rPr lang="en-IN" sz="2000" dirty="0">
                <a:solidFill>
                  <a:srgbClr val="0077AA"/>
                </a:solidFill>
                <a:latin typeface="Liberation Mono"/>
              </a:rPr>
              <a:t>COLUMNS</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FIELDS </a:t>
            </a:r>
            <a:r>
              <a:rPr lang="en-IN" sz="2000" dirty="0">
                <a:solidFill>
                  <a:srgbClr val="000000"/>
                </a:solidFill>
                <a:latin typeface="Liberation Mono"/>
              </a:rPr>
              <a:t>} { </a:t>
            </a:r>
            <a:r>
              <a:rPr lang="en-IN" sz="2000" dirty="0">
                <a:solidFill>
                  <a:srgbClr val="0077AA"/>
                </a:solidFill>
                <a:latin typeface="Liberation Mono"/>
              </a:rPr>
              <a:t>FROM</a:t>
            </a:r>
            <a:r>
              <a:rPr lang="en-IN" sz="2000" dirty="0">
                <a:solidFill>
                  <a:schemeClr val="bg1">
                    <a:lumMod val="65000"/>
                  </a:schemeClr>
                </a:solidFill>
                <a:latin typeface="Liberation Mono"/>
              </a:rPr>
              <a:t> |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tbl_name</a:t>
            </a:r>
            <a:r>
              <a:rPr lang="en-IN" sz="2000" dirty="0">
                <a:solidFill>
                  <a:srgbClr val="000000"/>
                </a:solidFill>
                <a:latin typeface="Liberation Mono"/>
              </a:rPr>
              <a:t>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413280632"/>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B2E0F6D-4B3A-41B6-03FA-2C1B3F345E6C}"/>
              </a:ext>
            </a:extLst>
          </p:cNvPr>
          <p:cNvSpPr/>
          <p:nvPr/>
        </p:nvSpPr>
        <p:spPr>
          <a:xfrm>
            <a:off x="1516286" y="3200400"/>
            <a:ext cx="9159428"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TABLES is a statement used to display the names of all tables in the currently selected database.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248361205"/>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Syntax</a:t>
            </a:r>
            <a:endParaRPr lang="en-IN" b="1" dirty="0">
              <a:latin typeface="Arial" pitchFamily="34" charset="0"/>
              <a:cs typeface="Arial" pitchFamily="34" charset="0"/>
            </a:endParaRPr>
          </a:p>
        </p:txBody>
      </p:sp>
      <p:sp>
        <p:nvSpPr>
          <p:cNvPr id="3" name="Rectangle 2"/>
          <p:cNvSpPr/>
          <p:nvPr/>
        </p:nvSpPr>
        <p:spPr>
          <a:xfrm>
            <a:off x="609600" y="2402176"/>
            <a:ext cx="9906000" cy="147732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FULL</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FF0000"/>
                </a:solidFill>
                <a:latin typeface="Liberation Mono"/>
                <a:ea typeface="Arial Unicode MS"/>
                <a:cs typeface="Arial" panose="020B0604020202020204" pitchFamily="34" charset="0"/>
              </a:rPr>
              <a:t>// WITH TABLE TYPE</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a:t>
            </a:r>
            <a:endParaRPr lang="en-IN" dirty="0">
              <a:solidFill>
                <a:srgbClr val="FF0000"/>
              </a:solidFill>
              <a:latin typeface="Liberation Mono"/>
              <a:ea typeface="Arial Unicode MS"/>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OR</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'B%'</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a:t>
            </a:r>
            <a:r>
              <a:rPr lang="en-IN" dirty="0">
                <a:solidFill>
                  <a:schemeClr val="tx1">
                    <a:lumMod val="65000"/>
                    <a:lumOff val="35000"/>
                  </a:schemeClr>
                </a:solidFill>
                <a:latin typeface="Liberation Mono"/>
              </a:rPr>
              <a:t>(</a:t>
            </a:r>
            <a:r>
              <a:rPr lang="en-IN" dirty="0">
                <a:solidFill>
                  <a:srgbClr val="669900"/>
                </a:solidFill>
                <a:latin typeface="Liberation Mono"/>
              </a:rPr>
              <a:t>'EMP'</a:t>
            </a:r>
            <a:r>
              <a:rPr lang="en-IN" dirty="0">
                <a:solidFill>
                  <a:schemeClr val="tx1">
                    <a:lumMod val="65000"/>
                    <a:lumOff val="35000"/>
                  </a:schemeClr>
                </a:solidFill>
                <a:latin typeface="Liberation Mono"/>
              </a:rPr>
              <a:t>)</a:t>
            </a:r>
            <a:r>
              <a:rPr lang="en-IN" dirty="0">
                <a:latin typeface="Liberation Mono"/>
                <a:ea typeface="Arial Unicode MS"/>
                <a:cs typeface="Arial" panose="020B0604020202020204" pitchFamily="34" charset="0"/>
              </a:rPr>
              <a:t>;</a:t>
            </a:r>
          </a:p>
        </p:txBody>
      </p:sp>
      <p:sp>
        <p:nvSpPr>
          <p:cNvPr id="4" name="Rectangle 3"/>
          <p:cNvSpPr/>
          <p:nvPr/>
        </p:nvSpPr>
        <p:spPr>
          <a:xfrm>
            <a:off x="609600" y="1411070"/>
            <a:ext cx="829471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TABLES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963506643"/>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 STATUS</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E1F2DB76-3338-746A-A9EB-723DBF8B17AB}"/>
              </a:ext>
            </a:extLst>
          </p:cNvPr>
          <p:cNvSpPr/>
          <p:nvPr/>
        </p:nvSpPr>
        <p:spPr>
          <a:xfrm>
            <a:off x="1516286" y="3200400"/>
            <a:ext cx="9159428"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TABLE STATUS is used to display detailed information (metadata) about the tables in a database.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26197834"/>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STATUS Syntax</a:t>
            </a:r>
            <a:endParaRPr lang="en-IN" b="1" dirty="0">
              <a:latin typeface="Arial" pitchFamily="34" charset="0"/>
              <a:cs typeface="Arial" pitchFamily="34" charset="0"/>
            </a:endParaRPr>
          </a:p>
        </p:txBody>
      </p:sp>
      <p:sp>
        <p:nvSpPr>
          <p:cNvPr id="3" name="Rectangle 2"/>
          <p:cNvSpPr/>
          <p:nvPr/>
        </p:nvSpPr>
        <p:spPr>
          <a:xfrm>
            <a:off x="609600" y="2360474"/>
            <a:ext cx="9906000" cy="175432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 </a:t>
            </a:r>
            <a:endParaRPr lang="en-IN" b="1" dirty="0">
              <a:solidFill>
                <a:srgbClr val="FF0000"/>
              </a:solidFill>
              <a:latin typeface="Liberation Mono"/>
              <a:ea typeface="Arial Unicode MS"/>
              <a:cs typeface="Arial" panose="020B0604020202020204" pitchFamily="34"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user01;</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'emp';</a:t>
            </a:r>
          </a:p>
        </p:txBody>
      </p:sp>
      <p:sp>
        <p:nvSpPr>
          <p:cNvPr id="4" name="Rectangle 3"/>
          <p:cNvSpPr/>
          <p:nvPr/>
        </p:nvSpPr>
        <p:spPr>
          <a:xfrm>
            <a:off x="609600" y="1428572"/>
            <a:ext cx="90147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solidFill>
                  <a:srgbClr val="0077AA"/>
                </a:solidFill>
                <a:latin typeface="Liberation Mono"/>
              </a:rPr>
              <a:t>TABLE</a:t>
            </a:r>
            <a:r>
              <a:rPr lang="en-IN" sz="2000" dirty="0">
                <a:solidFill>
                  <a:srgbClr val="000000"/>
                </a:solidFill>
                <a:latin typeface="Liberation Mono"/>
              </a:rPr>
              <a:t> </a:t>
            </a:r>
            <a:r>
              <a:rPr lang="en-IN" sz="2000" dirty="0">
                <a:solidFill>
                  <a:srgbClr val="0077AA"/>
                </a:solidFill>
                <a:latin typeface="Liberation Mono"/>
              </a:rPr>
              <a:t>STATUS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4261328356"/>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SHOW VARIABLES</a:t>
            </a:r>
            <a:endParaRPr lang="en-US" dirty="0"/>
          </a:p>
        </p:txBody>
      </p:sp>
      <p:sp>
        <p:nvSpPr>
          <p:cNvPr id="3" name="Rectangle 2"/>
          <p:cNvSpPr/>
          <p:nvPr/>
        </p:nvSpPr>
        <p:spPr>
          <a:xfrm>
            <a:off x="1689100" y="3200400"/>
            <a:ext cx="8826500"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VARIABLES is a statement used to display the configuration/system variables and their current values for the MySQL server or current session.</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725430980"/>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VARIABLES Syntax</a:t>
            </a:r>
            <a:endParaRPr lang="en-IN" b="1" dirty="0">
              <a:latin typeface="Arial" pitchFamily="34" charset="0"/>
              <a:cs typeface="Arial" pitchFamily="34" charset="0"/>
            </a:endParaRPr>
          </a:p>
        </p:txBody>
      </p:sp>
      <p:sp>
        <p:nvSpPr>
          <p:cNvPr id="6" name="Rectangle 5"/>
          <p:cNvSpPr/>
          <p:nvPr/>
        </p:nvSpPr>
        <p:spPr>
          <a:xfrm>
            <a:off x="609600" y="1447800"/>
            <a:ext cx="79152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GLOBAL</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SESSION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VARIABLES</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
        <p:nvSpPr>
          <p:cNvPr id="4" name="Rectangle 3"/>
          <p:cNvSpPr/>
          <p:nvPr/>
        </p:nvSpPr>
        <p:spPr>
          <a:xfrm>
            <a:off x="609600" y="2780928"/>
            <a:ext cx="4565994" cy="646331"/>
          </a:xfrm>
          <a:prstGeom prst="rect">
            <a:avLst/>
          </a:prstGeom>
        </p:spPr>
        <p:txBody>
          <a:bodyPr wrap="square">
            <a:spAutoFit/>
          </a:bodyPr>
          <a:lstStyle/>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669900"/>
                </a:solidFill>
                <a:latin typeface="Liberation Mono"/>
              </a:rPr>
              <a:t>false</a:t>
            </a:r>
            <a:r>
              <a:rPr lang="en-US" dirty="0">
                <a:latin typeface="Liberation Mono"/>
              </a:rPr>
              <a:t>;</a:t>
            </a:r>
          </a:p>
        </p:txBody>
      </p:sp>
      <p:sp>
        <p:nvSpPr>
          <p:cNvPr id="5" name="Rectangle 4"/>
          <p:cNvSpPr/>
          <p:nvPr/>
        </p:nvSpPr>
        <p:spPr>
          <a:xfrm>
            <a:off x="609600" y="3929066"/>
            <a:ext cx="6700846" cy="369332"/>
          </a:xfrm>
          <a:prstGeom prst="rect">
            <a:avLst/>
          </a:prstGeom>
        </p:spPr>
        <p:txBody>
          <a:bodyPr wrap="square">
            <a:spAutoFit/>
          </a:bodyPr>
          <a:lstStyle/>
          <a:p>
            <a:r>
              <a:rPr lang="en-US" dirty="0">
                <a:latin typeface="Liberation Mono"/>
              </a:rPr>
              <a:t>Enable/Disable :- </a:t>
            </a:r>
            <a:r>
              <a:rPr lang="en-US" dirty="0">
                <a:solidFill>
                  <a:srgbClr val="990055"/>
                </a:solidFill>
                <a:latin typeface="Liberation Mono"/>
              </a:rPr>
              <a:t>1</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true</a:t>
            </a:r>
            <a:r>
              <a:rPr lang="en-US" dirty="0">
                <a:solidFill>
                  <a:schemeClr val="tx1">
                    <a:lumMod val="65000"/>
                    <a:lumOff val="35000"/>
                  </a:schemeClr>
                </a:solidFill>
                <a:latin typeface="Liberation Mono"/>
              </a:rPr>
              <a:t>)  /</a:t>
            </a:r>
            <a:r>
              <a:rPr lang="en-US" dirty="0">
                <a:solidFill>
                  <a:srgbClr val="669900"/>
                </a:solidFill>
                <a:latin typeface="Liberation Mono"/>
              </a:rPr>
              <a:t> </a:t>
            </a:r>
            <a:r>
              <a:rPr lang="en-US" dirty="0">
                <a:solidFill>
                  <a:srgbClr val="990055"/>
                </a:solidFill>
                <a:latin typeface="Liberation Mono"/>
              </a:rPr>
              <a:t>0</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false</a:t>
            </a:r>
            <a:r>
              <a:rPr lang="en-US" dirty="0">
                <a:solidFill>
                  <a:schemeClr val="tx1">
                    <a:lumMod val="65000"/>
                    <a:lumOff val="35000"/>
                  </a:schemeClr>
                </a:solidFill>
                <a:latin typeface="Liberation Mono"/>
              </a:rPr>
              <a:t>)</a:t>
            </a:r>
          </a:p>
        </p:txBody>
      </p:sp>
    </p:spTree>
    <p:extLst>
      <p:ext uri="{BB962C8B-B14F-4D97-AF65-F5344CB8AC3E}">
        <p14:creationId xmlns:p14="http://schemas.microsoft.com/office/powerpoint/2010/main" val="2363153839"/>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explain </a:t>
            </a:r>
            <a:r>
              <a:rPr lang="en-IN" sz="4800" dirty="0">
                <a:solidFill>
                  <a:srgbClr val="DC525C"/>
                </a:solidFill>
                <a:latin typeface="Segoe UI Light" panose="020B0502040204020203" pitchFamily="34" charset="0"/>
                <a:cs typeface="Segoe UI Light" panose="020B0502040204020203" pitchFamily="34" charset="0"/>
              </a:rPr>
              <a:t>analyze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2232A69-9B99-E2A0-730C-FAEA3BC047EA}"/>
              </a:ext>
            </a:extLst>
          </p:cNvPr>
          <p:cNvSpPr/>
          <p:nvPr/>
        </p:nvSpPr>
        <p:spPr>
          <a:xfrm>
            <a:off x="1689100" y="3200400"/>
            <a:ext cx="8826500"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VARIABLES is a statement used to display the configuration/system variables and their current values for the MySQL server or current session.</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380596928"/>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5" name="Rectangle 4"/>
          <p:cNvSpPr/>
          <p:nvPr/>
        </p:nvSpPr>
        <p:spPr>
          <a:xfrm>
            <a:off x="335361" y="1628800"/>
            <a:ext cx="10180240" cy="400110"/>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 </a:t>
            </a:r>
            <a:r>
              <a:rPr lang="en-IN" sz="2000" i="1" dirty="0">
                <a:solidFill>
                  <a:srgbClr val="000000"/>
                </a:solidFill>
                <a:latin typeface="Liberation Mono"/>
              </a:rPr>
              <a:t>tbl_name</a:t>
            </a:r>
            <a:r>
              <a:rPr lang="en-IN" sz="2000" dirty="0">
                <a:solidFill>
                  <a:srgbClr val="0077AA"/>
                </a:solidFill>
                <a:latin typeface="Liberation Mono"/>
              </a:rPr>
              <a:t> </a:t>
            </a:r>
            <a:r>
              <a:rPr lang="en-IN" sz="2000" dirty="0">
                <a:latin typeface="Liberation Mono"/>
              </a:rPr>
              <a:t>[</a:t>
            </a:r>
            <a:r>
              <a:rPr lang="en-IN" sz="2000" i="1" dirty="0">
                <a:solidFill>
                  <a:srgbClr val="000000"/>
                </a:solidFill>
                <a:latin typeface="Liberation Mono"/>
              </a:rPr>
              <a:t>col_name</a:t>
            </a:r>
            <a:r>
              <a:rPr lang="en-IN" sz="2000" dirty="0">
                <a:latin typeface="Liberation Mono"/>
              </a:rPr>
              <a:t>]</a:t>
            </a:r>
          </a:p>
        </p:txBody>
      </p:sp>
      <p:sp>
        <p:nvSpPr>
          <p:cNvPr id="6" name="Rectangle 5"/>
          <p:cNvSpPr/>
          <p:nvPr/>
        </p:nvSpPr>
        <p:spPr>
          <a:xfrm>
            <a:off x="335360" y="2348880"/>
            <a:ext cx="9875440" cy="212686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ename;</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DESCRIBE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empno;</a:t>
            </a:r>
          </a:p>
        </p:txBody>
      </p:sp>
      <p:sp>
        <p:nvSpPr>
          <p:cNvPr id="7" name="Rectangle 6"/>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
        <p:nvSpPr>
          <p:cNvPr id="9" name="Rectangle 8"/>
          <p:cNvSpPr/>
          <p:nvPr/>
        </p:nvSpPr>
        <p:spPr>
          <a:xfrm>
            <a:off x="335360" y="4876944"/>
            <a:ext cx="8686800" cy="338554"/>
          </a:xfrm>
          <a:prstGeom prst="rect">
            <a:avLst/>
          </a:prstGeom>
          <a:solidFill>
            <a:schemeClr val="accent4">
              <a:lumMod val="75000"/>
            </a:schemeClr>
          </a:solidFill>
        </p:spPr>
        <p:txBody>
          <a:bodyPr wrap="square">
            <a:spAutoFit/>
          </a:bodyPr>
          <a:lstStyle/>
          <a:p>
            <a:r>
              <a:rPr lang="en-US" sz="1600" dirty="0">
                <a:latin typeface="Arial" pitchFamily="34" charset="0"/>
                <a:ea typeface="+mj-ea"/>
                <a:cs typeface="Arial" pitchFamily="34" charset="0"/>
              </a:rPr>
              <a:t> </a:t>
            </a:r>
            <a:r>
              <a:rPr lang="en-IN" sz="1600" b="1" dirty="0">
                <a:latin typeface="Arial" panose="020B0604020202020204" pitchFamily="34" charset="0"/>
                <a:cs typeface="Arial" panose="020B0604020202020204" pitchFamily="34" charset="0"/>
              </a:rPr>
              <a:t>EXPLAIN works with SELECT, DELETE, INSERT, REPLACE, and UPDATE statements.</a:t>
            </a:r>
            <a:endParaRPr lang="en-US" sz="1600" dirty="0">
              <a:latin typeface="Arial" pitchFamily="34" charset="0"/>
              <a:ea typeface="+mj-ea"/>
              <a:cs typeface="Arial" pitchFamily="34" charset="0"/>
            </a:endParaRPr>
          </a:p>
        </p:txBody>
      </p:sp>
    </p:spTree>
    <p:extLst>
      <p:ext uri="{BB962C8B-B14F-4D97-AF65-F5344CB8AC3E}">
        <p14:creationId xmlns:p14="http://schemas.microsoft.com/office/powerpoint/2010/main" val="157345489"/>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35361" y="1706702"/>
            <a:ext cx="10180240" cy="3170099"/>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a:t>
            </a:r>
            <a:r>
              <a:rPr lang="en-IN" sz="2000" dirty="0">
                <a:latin typeface="Liberation Mono"/>
              </a:rPr>
              <a:t>{</a:t>
            </a:r>
            <a:r>
              <a:rPr lang="en-IN" sz="2000" dirty="0" err="1">
                <a:solidFill>
                  <a:srgbClr val="0077AA"/>
                </a:solidFill>
                <a:latin typeface="Liberation Mono"/>
              </a:rPr>
              <a:t>explainable_stmt</a:t>
            </a:r>
            <a:r>
              <a:rPr lang="en-IN" sz="2000" dirty="0">
                <a:latin typeface="Liberation Mono"/>
              </a:rPr>
              <a:t>}</a:t>
            </a:r>
          </a:p>
          <a:p>
            <a:pPr eaLnBrk="0" fontAlgn="base" hangingPunct="0">
              <a:spcBef>
                <a:spcPct val="0"/>
              </a:spcBef>
              <a:spcAft>
                <a:spcPct val="0"/>
              </a:spcAft>
            </a:pPr>
            <a:endParaRPr lang="en-IN" sz="2000" dirty="0">
              <a:solidFill>
                <a:srgbClr val="0077AA"/>
              </a:solidFill>
              <a:latin typeface="Liberation Mono"/>
            </a:endParaRPr>
          </a:p>
          <a:p>
            <a:pPr eaLnBrk="0" fontAlgn="base" hangingPunct="0">
              <a:spcBef>
                <a:spcPct val="0"/>
              </a:spcBef>
              <a:spcAft>
                <a:spcPct val="0"/>
              </a:spcAft>
            </a:pPr>
            <a:r>
              <a:rPr lang="en-IN" sz="2000" dirty="0" err="1">
                <a:solidFill>
                  <a:srgbClr val="0077AA"/>
                </a:solidFill>
                <a:latin typeface="Liberation Mono"/>
              </a:rPr>
              <a:t>explainable_stmt</a:t>
            </a:r>
            <a:r>
              <a:rPr lang="en-IN" sz="2000" dirty="0">
                <a:solidFill>
                  <a:srgbClr val="0077AA"/>
                </a:solidFill>
                <a:latin typeface="Liberation Mono"/>
              </a:rPr>
              <a:t>: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SELECT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DELETE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INSERT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REPLACE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UPDATE </a:t>
            </a:r>
            <a:r>
              <a:rPr lang="en-IN" sz="2000" dirty="0">
                <a:latin typeface="Liberation Mono"/>
              </a:rPr>
              <a:t>statement</a:t>
            </a:r>
          </a:p>
          <a:p>
            <a:pPr eaLnBrk="0" fontAlgn="base" hangingPunct="0">
              <a:spcBef>
                <a:spcPct val="0"/>
              </a:spcBef>
              <a:spcAft>
                <a:spcPct val="0"/>
              </a:spcAft>
            </a:pPr>
            <a:r>
              <a:rPr lang="en-IN" sz="2000" dirty="0">
                <a:latin typeface="Liberation Mono"/>
              </a:rPr>
              <a:t>}</a:t>
            </a:r>
          </a:p>
        </p:txBody>
      </p:sp>
      <p:sp>
        <p:nvSpPr>
          <p:cNvPr id="9" name="Rectangle 8"/>
          <p:cNvSpPr/>
          <p:nvPr/>
        </p:nvSpPr>
        <p:spPr>
          <a:xfrm>
            <a:off x="396847" y="4833372"/>
            <a:ext cx="9813953" cy="133882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7788</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solidFill>
                  <a:srgbClr val="A67F59"/>
                </a:solidFill>
                <a:latin typeface="Liberation Mono"/>
              </a:rPr>
              <a:t> *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INNER</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JOIN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USING</a:t>
            </a:r>
            <a:r>
              <a:rPr lang="en-IN" dirty="0">
                <a:latin typeface="Liberation Mono"/>
                <a:ea typeface="Times New Roman" panose="02020603050405020304" pitchFamily="18" charset="0"/>
              </a:rPr>
              <a:t>(deptno);</a:t>
            </a:r>
          </a:p>
        </p:txBody>
      </p:sp>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2" name="Rectangle 1">
            <a:extLst>
              <a:ext uri="{FF2B5EF4-FFF2-40B4-BE49-F238E27FC236}">
                <a16:creationId xmlns:a16="http://schemas.microsoft.com/office/drawing/2014/main" id="{566A3366-AADE-4840-8D53-883539FD8C2B}"/>
              </a:ext>
            </a:extLst>
          </p:cNvPr>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Tree>
    <p:extLst>
      <p:ext uri="{BB962C8B-B14F-4D97-AF65-F5344CB8AC3E}">
        <p14:creationId xmlns:p14="http://schemas.microsoft.com/office/powerpoint/2010/main" val="1545143975"/>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977114"/>
            <a:ext cx="8838049" cy="914400"/>
          </a:xfrm>
          <a:prstGeom prst="rect">
            <a:avLst/>
          </a:prstGeom>
        </p:spPr>
        <p:txBody>
          <a:bodyPr>
            <a:norm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datatypes</a:t>
            </a:r>
          </a:p>
        </p:txBody>
      </p:sp>
      <p:graphicFrame>
        <p:nvGraphicFramePr>
          <p:cNvPr id="3" name="Table 2"/>
          <p:cNvGraphicFramePr>
            <a:graphicFrameLocks noGrp="1"/>
          </p:cNvGraphicFramePr>
          <p:nvPr>
            <p:extLst>
              <p:ext uri="{D42A27DB-BD31-4B8C-83A1-F6EECF244321}">
                <p14:modId xmlns:p14="http://schemas.microsoft.com/office/powerpoint/2010/main" val="477340974"/>
              </p:ext>
            </p:extLst>
          </p:nvPr>
        </p:nvGraphicFramePr>
        <p:xfrm>
          <a:off x="1636408" y="2910678"/>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t> LENGTH</a:t>
                      </a:r>
                      <a:r>
                        <a:rPr lang="en-IN" baseline="0" dirty="0"/>
                        <a:t> -&gt; 10</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VARCHAR2(10)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4" name="Rectangle 3"/>
          <p:cNvSpPr/>
          <p:nvPr/>
        </p:nvSpPr>
        <p:spPr>
          <a:xfrm>
            <a:off x="59671" y="146431"/>
            <a:ext cx="7116449" cy="769441"/>
          </a:xfrm>
          <a:prstGeom prst="rect">
            <a:avLst/>
          </a:prstGeom>
        </p:spPr>
        <p:txBody>
          <a:bodyPr wrap="square">
            <a:spAutoFit/>
          </a:bodyPr>
          <a:lstStyle/>
          <a:p>
            <a:pPr marL="342900" indent="-342900">
              <a:buFont typeface="Arial" panose="020B0604020202020204" pitchFamily="34" charset="0"/>
              <a:buChar char="•"/>
            </a:pPr>
            <a:r>
              <a:rPr lang="en-IN" sz="2200" dirty="0">
                <a:solidFill>
                  <a:srgbClr val="0089A4"/>
                </a:solidFill>
                <a:latin typeface="arial" panose="020B0604020202020204" pitchFamily="34" charset="0"/>
              </a:rPr>
              <a:t>The </a:t>
            </a:r>
            <a:r>
              <a:rPr lang="en-IN" sz="2200" b="1" dirty="0">
                <a:solidFill>
                  <a:srgbClr val="0089A4"/>
                </a:solidFill>
                <a:latin typeface="arial" panose="020B0604020202020204" pitchFamily="34" charset="0"/>
              </a:rPr>
              <a:t>char</a:t>
            </a:r>
            <a:r>
              <a:rPr lang="en-IN" sz="2200" dirty="0">
                <a:solidFill>
                  <a:srgbClr val="0089A4"/>
                </a:solidFill>
                <a:latin typeface="arial" panose="020B0604020202020204" pitchFamily="34" charset="0"/>
              </a:rPr>
              <a:t> is a fixed-length character data type, </a:t>
            </a:r>
          </a:p>
          <a:p>
            <a:pPr marL="342900" indent="-342900">
              <a:buFont typeface="Arial" panose="020B0604020202020204" pitchFamily="34" charset="0"/>
              <a:buChar char="•"/>
            </a:pPr>
            <a:r>
              <a:rPr lang="en-IN" sz="2200" dirty="0">
                <a:solidFill>
                  <a:srgbClr val="0089A4"/>
                </a:solidFill>
                <a:latin typeface="arial" panose="020B0604020202020204" pitchFamily="34" charset="0"/>
              </a:rPr>
              <a:t>The </a:t>
            </a:r>
            <a:r>
              <a:rPr lang="en-IN" sz="2200" b="1" dirty="0">
                <a:solidFill>
                  <a:srgbClr val="0089A4"/>
                </a:solidFill>
                <a:latin typeface="arial" panose="020B0604020202020204" pitchFamily="34" charset="0"/>
              </a:rPr>
              <a:t>varchar</a:t>
            </a:r>
            <a:r>
              <a:rPr lang="en-IN" sz="2200" dirty="0">
                <a:solidFill>
                  <a:srgbClr val="0089A4"/>
                </a:solidFill>
                <a:latin typeface="arial" panose="020B0604020202020204" pitchFamily="34" charset="0"/>
              </a:rPr>
              <a:t> is a variable-length character data type.</a:t>
            </a:r>
            <a:endParaRPr lang="en-IN" sz="2200" dirty="0">
              <a:solidFill>
                <a:srgbClr val="0089A4"/>
              </a:solidFill>
            </a:endParaRPr>
          </a:p>
        </p:txBody>
      </p:sp>
      <p:graphicFrame>
        <p:nvGraphicFramePr>
          <p:cNvPr id="6" name="Table 5"/>
          <p:cNvGraphicFramePr>
            <a:graphicFrameLocks noGrp="1"/>
          </p:cNvGraphicFramePr>
          <p:nvPr>
            <p:extLst>
              <p:ext uri="{D42A27DB-BD31-4B8C-83A1-F6EECF244321}">
                <p14:modId xmlns:p14="http://schemas.microsoft.com/office/powerpoint/2010/main" val="3458156545"/>
              </p:ext>
            </p:extLst>
          </p:nvPr>
        </p:nvGraphicFramePr>
        <p:xfrm>
          <a:off x="1648130" y="4381359"/>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 LENGTH</a:t>
                      </a:r>
                      <a:r>
                        <a:rPr lang="en-IN" baseline="0" dirty="0"/>
                        <a:t> -&gt; 6</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9" name="Rectangle 8"/>
          <p:cNvSpPr/>
          <p:nvPr/>
        </p:nvSpPr>
        <p:spPr>
          <a:xfrm>
            <a:off x="1676976" y="3898759"/>
            <a:ext cx="1426994" cy="461665"/>
          </a:xfrm>
          <a:prstGeom prst="rect">
            <a:avLst/>
          </a:prstGeom>
        </p:spPr>
        <p:txBody>
          <a:bodyPr wrap="none">
            <a:spAutoFit/>
          </a:bodyPr>
          <a:lstStyle/>
          <a:p>
            <a:r>
              <a:rPr lang="en-US" sz="2400" dirty="0">
                <a:solidFill>
                  <a:srgbClr val="DC525C"/>
                </a:solidFill>
                <a:latin typeface="Segoe UI Light" panose="020B0502040204020203" pitchFamily="34" charset="0"/>
                <a:cs typeface="Segoe UI Light" panose="020B0502040204020203" pitchFamily="34" charset="0"/>
              </a:rPr>
              <a:t>In MySQL</a:t>
            </a:r>
            <a:endParaRPr lang="en-IN" sz="2400" dirty="0"/>
          </a:p>
        </p:txBody>
      </p:sp>
      <p:sp>
        <p:nvSpPr>
          <p:cNvPr id="5" name="Rectangle 4">
            <a:extLst>
              <a:ext uri="{FF2B5EF4-FFF2-40B4-BE49-F238E27FC236}">
                <a16:creationId xmlns:a16="http://schemas.microsoft.com/office/drawing/2014/main" id="{E6D86212-23A7-43A8-9035-5D9324C85E6D}"/>
              </a:ext>
            </a:extLst>
          </p:cNvPr>
          <p:cNvSpPr/>
          <p:nvPr/>
        </p:nvSpPr>
        <p:spPr>
          <a:xfrm>
            <a:off x="7536160" y="97670"/>
            <a:ext cx="4596169" cy="1923604"/>
          </a:xfrm>
          <a:prstGeom prst="rect">
            <a:avLst/>
          </a:prstGeom>
        </p:spPr>
        <p:txBody>
          <a:bodyPr wrap="square">
            <a:spAutoFit/>
          </a:bodyPr>
          <a:lstStyle/>
          <a:p>
            <a:pPr marL="342900" indent="-342900">
              <a:buFont typeface="+mj-lt"/>
              <a:buAutoNum type="arabicPeriod"/>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temp </a:t>
            </a:r>
            <a:r>
              <a:rPr lang="en-IN" dirty="0">
                <a:solidFill>
                  <a:schemeClr val="bg1">
                    <a:lumMod val="65000"/>
                  </a:schemeClr>
                </a:solidFill>
                <a:latin typeface="Liberation Mono"/>
              </a:rPr>
              <a:t>(</a:t>
            </a:r>
          </a:p>
          <a:p>
            <a:r>
              <a:rPr lang="en-IN" dirty="0">
                <a:solidFill>
                  <a:schemeClr val="bg1">
                    <a:lumMod val="65000"/>
                  </a:schemeClr>
                </a:solidFill>
                <a:latin typeface="Liberation Mono"/>
              </a:rPr>
              <a:t>          </a:t>
            </a:r>
            <a:r>
              <a:rPr lang="en-IN" dirty="0">
                <a:latin typeface="Liberation Mono"/>
              </a:rPr>
              <a:t>c1 </a:t>
            </a:r>
            <a:r>
              <a:rPr lang="en-IN" dirty="0">
                <a:solidFill>
                  <a:srgbClr val="834689"/>
                </a:solidFill>
                <a:latin typeface="Liberation Mono"/>
              </a:rPr>
              <a:t>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 </a:t>
            </a:r>
          </a:p>
          <a:p>
            <a:r>
              <a:rPr lang="en-IN" dirty="0">
                <a:latin typeface="Liberation Mono"/>
              </a:rPr>
              <a:t>          c2 </a:t>
            </a:r>
            <a:r>
              <a:rPr lang="en-IN" dirty="0">
                <a:solidFill>
                  <a:srgbClr val="834689"/>
                </a:solidFill>
                <a:latin typeface="Liberation Mono"/>
              </a:rPr>
              <a:t>VARCHAR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a:t>
            </a:r>
          </a:p>
          <a:p>
            <a:endParaRPr lang="en-IN" sz="600" dirty="0">
              <a:solidFill>
                <a:srgbClr val="0077AA"/>
              </a:solidFill>
              <a:latin typeface="Liberation Mono"/>
            </a:endParaRPr>
          </a:p>
          <a:p>
            <a:pPr marL="342900" indent="-342900">
              <a:buFont typeface="+mj-lt"/>
              <a:buAutoNum type="arabicPeriod" startAt="2"/>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 </a:t>
            </a:r>
          </a:p>
          <a:p>
            <a:r>
              <a:rPr lang="en-IN" dirty="0">
                <a:solidFill>
                  <a:srgbClr val="0077AA"/>
                </a:solidFill>
                <a:latin typeface="Liberation Mono"/>
              </a:rPr>
              <a:t>       VALUES</a:t>
            </a:r>
            <a:r>
              <a:rPr lang="en-IN" dirty="0">
                <a:solidFill>
                  <a:schemeClr val="bg1">
                    <a:lumMod val="65000"/>
                  </a:schemeClr>
                </a:solidFill>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'SALEEL'</a:t>
            </a:r>
            <a:r>
              <a:rPr lang="en-IN" dirty="0">
                <a:solidFill>
                  <a:schemeClr val="bg1">
                    <a:lumMod val="65000"/>
                  </a:schemeClr>
                </a:solidFill>
                <a:latin typeface="Liberation Mono"/>
              </a:rPr>
              <a:t>)</a:t>
            </a:r>
            <a:r>
              <a:rPr lang="en-IN" dirty="0">
                <a:latin typeface="Liberation Mono"/>
              </a:rPr>
              <a:t>;</a:t>
            </a:r>
          </a:p>
          <a:p>
            <a:endParaRPr lang="en-IN" sz="600" dirty="0">
              <a:latin typeface="Liberation Mono"/>
            </a:endParaRPr>
          </a:p>
          <a:p>
            <a:pPr marL="342900" indent="-342900">
              <a:buFont typeface="+mj-lt"/>
              <a:buAutoNum type="arabicPeriod" startAt="3"/>
            </a:pPr>
            <a:r>
              <a:rPr lang="en-US" sz="1700" dirty="0">
                <a:solidFill>
                  <a:srgbClr val="0077AA"/>
                </a:solidFill>
                <a:latin typeface="Liberation Mono"/>
              </a:rPr>
              <a:t>SELECT</a:t>
            </a:r>
            <a:r>
              <a:rPr lang="en-US" sz="1700" dirty="0">
                <a:latin typeface="Liberation Mono"/>
              </a:rPr>
              <a:t> </a:t>
            </a:r>
            <a:r>
              <a:rPr lang="en-US" sz="1700" dirty="0">
                <a:solidFill>
                  <a:srgbClr val="A67F59"/>
                </a:solidFill>
                <a:latin typeface="Liberation Mono"/>
              </a:rPr>
              <a:t>*</a:t>
            </a:r>
            <a:r>
              <a:rPr lang="en-US" sz="1700" dirty="0">
                <a:latin typeface="Liberation Mono"/>
              </a:rPr>
              <a:t> </a:t>
            </a:r>
            <a:r>
              <a:rPr lang="en-US" sz="1700" dirty="0">
                <a:solidFill>
                  <a:srgbClr val="0077AA"/>
                </a:solidFill>
                <a:latin typeface="Liberation Mono"/>
              </a:rPr>
              <a:t>FROM</a:t>
            </a:r>
            <a:r>
              <a:rPr lang="en-US" sz="1700" dirty="0">
                <a:latin typeface="Liberation Mono"/>
              </a:rPr>
              <a:t> temp </a:t>
            </a:r>
            <a:r>
              <a:rPr lang="en-US" sz="1700" dirty="0">
                <a:solidFill>
                  <a:srgbClr val="0077AA"/>
                </a:solidFill>
                <a:latin typeface="Liberation Mono"/>
              </a:rPr>
              <a:t>WHERE</a:t>
            </a:r>
            <a:r>
              <a:rPr lang="en-US" sz="1700" dirty="0">
                <a:latin typeface="Liberation Mono"/>
              </a:rPr>
              <a:t> c1 </a:t>
            </a:r>
            <a:r>
              <a:rPr lang="en-US" sz="1700" dirty="0">
                <a:solidFill>
                  <a:schemeClr val="accent6">
                    <a:lumMod val="50000"/>
                  </a:schemeClr>
                </a:solidFill>
                <a:latin typeface="Liberation Mono"/>
              </a:rPr>
              <a:t>LIKE</a:t>
            </a:r>
            <a:r>
              <a:rPr lang="en-US" sz="1700" dirty="0">
                <a:latin typeface="Liberation Mono"/>
              </a:rPr>
              <a:t> </a:t>
            </a:r>
            <a:r>
              <a:rPr lang="en-US" sz="1700" dirty="0">
                <a:solidFill>
                  <a:srgbClr val="669900"/>
                </a:solidFill>
                <a:latin typeface="Liberation Mono"/>
              </a:rPr>
              <a:t>'SALEEL'</a:t>
            </a:r>
            <a:r>
              <a:rPr lang="en-US" sz="1700" dirty="0">
                <a:latin typeface="Liberation Mono"/>
              </a:rPr>
              <a:t>;</a:t>
            </a:r>
            <a:endParaRPr lang="en-IN" sz="1700" dirty="0">
              <a:latin typeface="Liberation Mono"/>
            </a:endParaRPr>
          </a:p>
        </p:txBody>
      </p:sp>
      <p:sp>
        <p:nvSpPr>
          <p:cNvPr id="12" name="TextBox 11">
            <a:extLst>
              <a:ext uri="{FF2B5EF4-FFF2-40B4-BE49-F238E27FC236}">
                <a16:creationId xmlns:a16="http://schemas.microsoft.com/office/drawing/2014/main" id="{5B4EBE42-1FE9-CF30-6468-0748655518DC}"/>
              </a:ext>
            </a:extLst>
          </p:cNvPr>
          <p:cNvSpPr txBox="1"/>
          <p:nvPr/>
        </p:nvSpPr>
        <p:spPr>
          <a:xfrm>
            <a:off x="227348" y="5419382"/>
            <a:ext cx="11737304" cy="104644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BINARY and VARBINARY types are similar to CHAR and VARCHAR, except that they store binary strings rather than nonbinary  strings. That is, they store byte strings rather than character strings.</a:t>
            </a:r>
          </a:p>
        </p:txBody>
      </p:sp>
    </p:spTree>
    <p:extLst>
      <p:ext uri="{BB962C8B-B14F-4D97-AF65-F5344CB8AC3E}">
        <p14:creationId xmlns:p14="http://schemas.microsoft.com/office/powerpoint/2010/main" val="780589230"/>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string</a:t>
            </a:r>
          </a:p>
        </p:txBody>
      </p:sp>
      <p:graphicFrame>
        <p:nvGraphicFramePr>
          <p:cNvPr id="2" name="Table 1"/>
          <p:cNvGraphicFramePr>
            <a:graphicFrameLocks noGrp="1"/>
          </p:cNvGraphicFramePr>
          <p:nvPr>
            <p:extLst>
              <p:ext uri="{D42A27DB-BD31-4B8C-83A1-F6EECF244321}">
                <p14:modId xmlns:p14="http://schemas.microsoft.com/office/powerpoint/2010/main" val="1798492973"/>
              </p:ext>
            </p:extLst>
          </p:nvPr>
        </p:nvGraphicFramePr>
        <p:xfrm>
          <a:off x="407368" y="1308184"/>
          <a:ext cx="11449271" cy="5217160"/>
        </p:xfrm>
        <a:graphic>
          <a:graphicData uri="http://schemas.openxmlformats.org/drawingml/2006/table">
            <a:tbl>
              <a:tblPr firstRow="1" bandRow="1">
                <a:tableStyleId>{5940675A-B579-460E-94D1-54222C63F5DA}</a:tableStyleId>
              </a:tblPr>
              <a:tblGrid>
                <a:gridCol w="3750623">
                  <a:extLst>
                    <a:ext uri="{9D8B030D-6E8A-4147-A177-3AD203B41FA5}">
                      <a16:colId xmlns:a16="http://schemas.microsoft.com/office/drawing/2014/main" val="20000"/>
                    </a:ext>
                  </a:extLst>
                </a:gridCol>
                <a:gridCol w="1866001">
                  <a:extLst>
                    <a:ext uri="{9D8B030D-6E8A-4147-A177-3AD203B41FA5}">
                      <a16:colId xmlns:a16="http://schemas.microsoft.com/office/drawing/2014/main" val="20001"/>
                    </a:ext>
                  </a:extLst>
                </a:gridCol>
                <a:gridCol w="5832647">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rPr>
                        <a:t>Datatypes</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Size</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Description</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extLst>
                  <a:ext uri="{0D108BD9-81ED-4DB2-BD59-A6C34878D82A}">
                    <a16:rowId xmlns:a16="http://schemas.microsoft.com/office/drawing/2014/main" val="10000"/>
                  </a:ext>
                </a:extLst>
              </a:tr>
              <a:tr h="370840">
                <a:tc>
                  <a:txBody>
                    <a:bodyPr/>
                    <a:lstStyle/>
                    <a:p>
                      <a:r>
                        <a:rPr lang="en-IN" sz="1800" dirty="0"/>
                        <a:t>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0-255</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1" i="1" dirty="0">
                          <a:latin typeface="Arial" panose="020B0604020202020204" pitchFamily="34" charset="0"/>
                          <a:cs typeface="Arial" panose="020B0604020202020204" pitchFamily="34" charset="0"/>
                        </a:rPr>
                        <a:t>fixed-length character data type.</a:t>
                      </a:r>
                    </a:p>
                  </a:txBody>
                  <a:tcPr marL="91428" marR="91428"/>
                </a:tc>
                <a:extLst>
                  <a:ext uri="{0D108BD9-81ED-4DB2-BD59-A6C34878D82A}">
                    <a16:rowId xmlns:a16="http://schemas.microsoft.com/office/drawing/2014/main" val="10001"/>
                  </a:ext>
                </a:extLst>
              </a:tr>
              <a:tr h="370840">
                <a:tc>
                  <a:txBody>
                    <a:bodyPr/>
                    <a:lstStyle/>
                    <a:p>
                      <a:r>
                        <a:rPr lang="en-IN" sz="1800" dirty="0"/>
                        <a:t>VARCHAR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0" kern="1200" dirty="0">
                          <a:solidFill>
                            <a:schemeClr val="tx1"/>
                          </a:solidFill>
                          <a:effectLst/>
                        </a:rPr>
                        <a:t>0 to 65,535</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i="1" dirty="0"/>
                        <a:t>variable-length character data type. </a:t>
                      </a:r>
                      <a:r>
                        <a:rPr lang="en-US" sz="1800" dirty="0"/>
                        <a:t>The maximum row size (65,535 bytes, which is shared among all columns.         </a:t>
                      </a:r>
                    </a:p>
                  </a:txBody>
                  <a:tcPr marL="91428" marR="91428"/>
                </a:tc>
                <a:extLst>
                  <a:ext uri="{0D108BD9-81ED-4DB2-BD59-A6C34878D82A}">
                    <a16:rowId xmlns:a16="http://schemas.microsoft.com/office/drawing/2014/main" val="10002"/>
                  </a:ext>
                </a:extLst>
              </a:tr>
              <a:tr h="370840">
                <a:tc>
                  <a:txBody>
                    <a:bodyPr/>
                    <a:lstStyle/>
                    <a:p>
                      <a:r>
                        <a:rPr lang="en-IN" sz="1800" dirty="0"/>
                        <a:t>TINYTEXT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0" kern="1200" dirty="0">
                          <a:solidFill>
                            <a:schemeClr val="tx1"/>
                          </a:solidFill>
                          <a:effectLst/>
                        </a:rPr>
                        <a:t>(2</a:t>
                      </a:r>
                      <a:r>
                        <a:rPr kumimoji="0" lang="en-IN" sz="1800" b="1" kern="1200" baseline="30000" dirty="0">
                          <a:solidFill>
                            <a:schemeClr val="tx1"/>
                          </a:solidFill>
                          <a:effectLst/>
                        </a:rPr>
                        <a:t>8</a:t>
                      </a:r>
                      <a:r>
                        <a:rPr kumimoji="0" lang="en-IN" sz="1800" b="0" kern="1200" dirty="0">
                          <a:solidFill>
                            <a:schemeClr val="tx1"/>
                          </a:solidFill>
                          <a:effectLst/>
                        </a:rPr>
                        <a:t> − 1) 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variable-length string data type</a:t>
                      </a:r>
                    </a:p>
                  </a:txBody>
                  <a:tcPr marL="91428" marR="91428"/>
                </a:tc>
                <a:extLst>
                  <a:ext uri="{0D108BD9-81ED-4DB2-BD59-A6C34878D82A}">
                    <a16:rowId xmlns:a16="http://schemas.microsoft.com/office/drawing/2014/main" val="10003"/>
                  </a:ext>
                </a:extLst>
              </a:tr>
              <a:tr h="370840">
                <a:tc>
                  <a:txBody>
                    <a:bodyPr/>
                    <a:lstStyle/>
                    <a:p>
                      <a:r>
                        <a:rPr lang="en-IN" sz="1800" dirty="0"/>
                        <a:t>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(2</a:t>
                      </a:r>
                      <a:r>
                        <a:rPr kumimoji="0" lang="en-IN" sz="1800" b="1" kern="1200" baseline="30000" dirty="0">
                          <a:solidFill>
                            <a:schemeClr val="tx1"/>
                          </a:solidFill>
                          <a:effectLst/>
                        </a:rPr>
                        <a:t>16</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rPr>
                        <a:t>65,535 bytes ~ 64kb </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4"/>
                  </a:ext>
                </a:extLst>
              </a:tr>
              <a:tr h="370840">
                <a:tc>
                  <a:txBody>
                    <a:bodyPr/>
                    <a:lstStyle/>
                    <a:p>
                      <a:r>
                        <a:rPr lang="en-IN" sz="1800" dirty="0"/>
                        <a:t>MEDIUMTEXT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24</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16,777,215 bytes ~16MB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5"/>
                  </a:ext>
                </a:extLst>
              </a:tr>
              <a:tr h="370840">
                <a:tc>
                  <a:txBody>
                    <a:bodyPr/>
                    <a:lstStyle/>
                    <a:p>
                      <a:r>
                        <a:rPr lang="en-IN" sz="1800" dirty="0"/>
                        <a:t>LONGTEXT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32</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a:t>4,294,967,295 bytes ~4GB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6"/>
                  </a:ext>
                </a:extLst>
              </a:tr>
              <a:tr h="370840">
                <a:tc>
                  <a:txBody>
                    <a:bodyPr/>
                    <a:lstStyle/>
                    <a:p>
                      <a:r>
                        <a:rPr lang="en-IN" sz="1800" dirty="0"/>
                        <a:t>ENUM('value1',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a:t>65,535 distinct values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US" sz="1800" dirty="0">
                          <a:latin typeface="Arial" panose="020B0604020202020204" pitchFamily="34" charset="0"/>
                          <a:cs typeface="Arial" panose="020B0604020202020204" pitchFamily="34" charset="0"/>
                        </a:rPr>
                        <a:t>ENUM is a string data type that allows a column to </a:t>
                      </a:r>
                      <a:r>
                        <a:rPr lang="en-US" sz="2000" b="1" dirty="0">
                          <a:latin typeface="Arial" panose="020B0604020202020204" pitchFamily="34" charset="0"/>
                          <a:cs typeface="Arial" panose="020B0604020202020204" pitchFamily="34" charset="0"/>
                        </a:rPr>
                        <a:t>store only one </a:t>
                      </a:r>
                      <a:r>
                        <a:rPr lang="en-US" sz="1800" b="1" dirty="0">
                          <a:latin typeface="Arial" panose="020B0604020202020204" pitchFamily="34" charset="0"/>
                          <a:cs typeface="Arial" panose="020B0604020202020204" pitchFamily="34" charset="0"/>
                        </a:rPr>
                        <a:t>value</a:t>
                      </a:r>
                      <a:r>
                        <a:rPr lang="en-US" sz="1800" dirty="0">
                          <a:latin typeface="Arial" panose="020B0604020202020204" pitchFamily="34" charset="0"/>
                          <a:cs typeface="Arial" panose="020B0604020202020204" pitchFamily="34" charset="0"/>
                        </a:rPr>
                        <a:t> from a predefined list of values.</a:t>
                      </a:r>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7"/>
                  </a:ext>
                </a:extLst>
              </a:tr>
              <a:tr h="370840">
                <a:tc>
                  <a:txBody>
                    <a:bodyPr/>
                    <a:lstStyle/>
                    <a:p>
                      <a:r>
                        <a:rPr lang="en-IN" sz="1800" dirty="0"/>
                        <a:t>SET('value1',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64 </a:t>
                      </a:r>
                      <a:r>
                        <a:rPr lang="en-IN" dirty="0"/>
                        <a:t>distinct values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US" sz="1800" dirty="0">
                          <a:latin typeface="Arial" panose="020B0604020202020204" pitchFamily="34" charset="0"/>
                          <a:cs typeface="Arial" panose="020B0604020202020204" pitchFamily="34" charset="0"/>
                        </a:rPr>
                        <a:t>SET is a string data type that allows a column to store </a:t>
                      </a:r>
                      <a:r>
                        <a:rPr lang="en-US" sz="2000" b="1" dirty="0">
                          <a:latin typeface="Arial" panose="020B0604020202020204" pitchFamily="34" charset="0"/>
                          <a:cs typeface="Arial" panose="020B0604020202020204" pitchFamily="34" charset="0"/>
                        </a:rPr>
                        <a:t>zero, one, or multiple values</a:t>
                      </a:r>
                      <a:r>
                        <a:rPr lang="en-US" sz="1800" dirty="0">
                          <a:latin typeface="Arial" panose="020B0604020202020204" pitchFamily="34" charset="0"/>
                          <a:cs typeface="Arial" panose="020B0604020202020204" pitchFamily="34" charset="0"/>
                        </a:rPr>
                        <a:t> from a predefined list.</a:t>
                      </a:r>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8"/>
                  </a:ext>
                </a:extLst>
              </a:tr>
              <a:tr h="370840">
                <a:tc>
                  <a:txBody>
                    <a:bodyPr/>
                    <a:lstStyle/>
                    <a:p>
                      <a:r>
                        <a:rPr lang="en-US" sz="1800" dirty="0"/>
                        <a:t>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lang="en-US" sz="1800" dirty="0"/>
                        <a:t>255</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fixed-length binary string data type</a:t>
                      </a:r>
                    </a:p>
                  </a:txBody>
                  <a:tcPr marL="91428" marR="91428">
                    <a:solidFill>
                      <a:schemeClr val="accent6">
                        <a:lumMod val="20000"/>
                        <a:lumOff val="80000"/>
                      </a:schemeClr>
                    </a:solidFill>
                  </a:tcPr>
                </a:tc>
                <a:extLst>
                  <a:ext uri="{0D108BD9-81ED-4DB2-BD59-A6C34878D82A}">
                    <a16:rowId xmlns:a16="http://schemas.microsoft.com/office/drawing/2014/main" val="1265857443"/>
                  </a:ext>
                </a:extLst>
              </a:tr>
              <a:tr h="370840">
                <a:tc>
                  <a:txBody>
                    <a:bodyPr/>
                    <a:lstStyle/>
                    <a:p>
                      <a:r>
                        <a:rPr lang="en-US" sz="1800" dirty="0"/>
                        <a:t>VARBINARY(length)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variable-length binary string data type</a:t>
                      </a:r>
                    </a:p>
                  </a:txBody>
                  <a:tcPr marL="91428" marR="91428">
                    <a:solidFill>
                      <a:schemeClr val="accent6">
                        <a:lumMod val="20000"/>
                        <a:lumOff val="80000"/>
                      </a:schemeClr>
                    </a:solidFill>
                  </a:tcPr>
                </a:tc>
                <a:extLst>
                  <a:ext uri="{0D108BD9-81ED-4DB2-BD59-A6C34878D82A}">
                    <a16:rowId xmlns:a16="http://schemas.microsoft.com/office/drawing/2014/main" val="1994808822"/>
                  </a:ext>
                </a:extLst>
              </a:tr>
            </a:tbl>
          </a:graphicData>
        </a:graphic>
      </p:graphicFrame>
      <p:sp>
        <p:nvSpPr>
          <p:cNvPr id="9" name="TextBox 8">
            <a:extLst>
              <a:ext uri="{FF2B5EF4-FFF2-40B4-BE49-F238E27FC236}">
                <a16:creationId xmlns:a16="http://schemas.microsoft.com/office/drawing/2014/main" id="{7800C630-7F5A-CFE5-7327-0D4742662B1E}"/>
              </a:ext>
            </a:extLst>
          </p:cNvPr>
          <p:cNvSpPr txBox="1"/>
          <p:nvPr/>
        </p:nvSpPr>
        <p:spPr>
          <a:xfrm>
            <a:off x="191344" y="61558"/>
            <a:ext cx="6480720" cy="461665"/>
          </a:xfrm>
          <a:prstGeom prst="rect">
            <a:avLst/>
          </a:prstGeom>
          <a:noFill/>
        </p:spPr>
        <p:txBody>
          <a:bodyPr wrap="square">
            <a:spAutoFit/>
          </a:bodyPr>
          <a:lstStyle/>
          <a:p>
            <a:pPr lvl="0">
              <a:defRPr/>
            </a:pPr>
            <a:r>
              <a:rPr lang="en-IN" sz="2400" dirty="0">
                <a:latin typeface="Liberation Mono"/>
              </a:rPr>
              <a:t>quantity </a:t>
            </a:r>
            <a:r>
              <a:rPr lang="en-IN" sz="2400" dirty="0">
                <a:solidFill>
                  <a:srgbClr val="834689"/>
                </a:solidFill>
                <a:latin typeface="Liberation Mono"/>
              </a:rPr>
              <a:t>VARCHAR</a:t>
            </a:r>
            <a:r>
              <a:rPr lang="en-IN" sz="2400" dirty="0">
                <a:latin typeface="Liberation Mono"/>
              </a:rPr>
              <a:t>(20) -- values: </a:t>
            </a:r>
            <a:r>
              <a:rPr lang="en-IN" sz="2400" dirty="0">
                <a:solidFill>
                  <a:srgbClr val="990055"/>
                </a:solidFill>
                <a:latin typeface="Liberation Mono"/>
              </a:rPr>
              <a:t>20</a:t>
            </a:r>
            <a:r>
              <a:rPr lang="en-IN" sz="2400" dirty="0">
                <a:latin typeface="Liberation Mono"/>
              </a:rPr>
              <a:t>,  </a:t>
            </a:r>
            <a:r>
              <a:rPr lang="en-IN" sz="2400" dirty="0">
                <a:solidFill>
                  <a:srgbClr val="00B050"/>
                </a:solidFill>
                <a:latin typeface="Liberation Mono"/>
              </a:rPr>
              <a:t>'20'</a:t>
            </a:r>
            <a:r>
              <a:rPr lang="en-IN" sz="2400" dirty="0">
                <a:latin typeface="Liberation Mono"/>
              </a:rPr>
              <a:t>,</a:t>
            </a:r>
            <a:r>
              <a:rPr lang="en-IN" sz="2400" dirty="0">
                <a:solidFill>
                  <a:srgbClr val="00B050"/>
                </a:solidFill>
                <a:latin typeface="Liberation Mono"/>
              </a:rPr>
              <a:t> 'twenty'</a:t>
            </a:r>
          </a:p>
        </p:txBody>
      </p:sp>
    </p:spTree>
    <p:extLst>
      <p:ext uri="{BB962C8B-B14F-4D97-AF65-F5344CB8AC3E}">
        <p14:creationId xmlns:p14="http://schemas.microsoft.com/office/powerpoint/2010/main" val="2214742447"/>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1A700-8158-11E5-9F44-012FEAA35D1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65FA99-A595-8B9A-1076-A4862C50A40B}"/>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PAD_CHAR_TO_FULL_LENGTH</a:t>
            </a:r>
          </a:p>
        </p:txBody>
      </p:sp>
      <p:grpSp>
        <p:nvGrpSpPr>
          <p:cNvPr id="5" name="Group 4">
            <a:extLst>
              <a:ext uri="{FF2B5EF4-FFF2-40B4-BE49-F238E27FC236}">
                <a16:creationId xmlns:a16="http://schemas.microsoft.com/office/drawing/2014/main" id="{BBD4B6EF-4369-787D-C769-FCFE50D94481}"/>
              </a:ext>
            </a:extLst>
          </p:cNvPr>
          <p:cNvGrpSpPr/>
          <p:nvPr/>
        </p:nvGrpSpPr>
        <p:grpSpPr>
          <a:xfrm>
            <a:off x="407368" y="3645024"/>
            <a:ext cx="11233248" cy="2373555"/>
            <a:chOff x="335358" y="3593728"/>
            <a:chExt cx="11449272" cy="2373555"/>
          </a:xfrm>
        </p:grpSpPr>
        <p:sp>
          <p:nvSpPr>
            <p:cNvPr id="3" name="Rectangle 2">
              <a:extLst>
                <a:ext uri="{FF2B5EF4-FFF2-40B4-BE49-F238E27FC236}">
                  <a16:creationId xmlns:a16="http://schemas.microsoft.com/office/drawing/2014/main" id="{4B1CF47B-86AB-1E13-379B-309DDBD18BDB}"/>
                </a:ext>
              </a:extLst>
            </p:cNvPr>
            <p:cNvSpPr/>
            <p:nvPr/>
          </p:nvSpPr>
          <p:spPr>
            <a:xfrm>
              <a:off x="335358" y="3593728"/>
              <a:ext cx="11449272" cy="1200329"/>
            </a:xfrm>
            <a:prstGeom prst="rect">
              <a:avLst/>
            </a:prstGeom>
          </p:spPr>
          <p:txBody>
            <a:bodyPr wrap="square">
              <a:spAutoFit/>
            </a:bodyPr>
            <a:lstStyle/>
            <a:p>
              <a:pPr algn="just"/>
              <a:r>
                <a:rPr lang="en-IN" sz="2400" dirty="0">
                  <a:latin typeface="Aptos Narrow" panose="020B0004020202020204" pitchFamily="34" charset="0"/>
                  <a:cs typeface="Arial" panose="020B0604020202020204" pitchFamily="34" charset="0"/>
                </a:rPr>
                <a:t>By default, trailing spaces are trimmed from CHAR column values on retrieval. If </a:t>
              </a:r>
              <a:r>
                <a:rPr lang="en-IN" sz="2000" b="1" i="1" dirty="0">
                  <a:solidFill>
                    <a:srgbClr val="0089A4"/>
                  </a:solidFill>
                  <a:latin typeface="Aptos Narrow" panose="020B0004020202020204" pitchFamily="34" charset="0"/>
                  <a:cs typeface="Arial" panose="020B0604020202020204" pitchFamily="34" charset="0"/>
                </a:rPr>
                <a:t>PAD_CHAR_TO_FULL_LENGTH</a:t>
              </a:r>
              <a:r>
                <a:rPr lang="en-IN" sz="2000" dirty="0">
                  <a:solidFill>
                    <a:srgbClr val="0089A4"/>
                  </a:solidFill>
                  <a:latin typeface="Aptos Narrow" panose="020B0004020202020204" pitchFamily="34" charset="0"/>
                  <a:cs typeface="Arial" panose="020B0604020202020204" pitchFamily="34" charset="0"/>
                </a:rPr>
                <a:t> </a:t>
              </a:r>
              <a:r>
                <a:rPr lang="en-IN" sz="2400" dirty="0">
                  <a:latin typeface="Aptos Narrow" panose="020B0004020202020204" pitchFamily="34" charset="0"/>
                  <a:cs typeface="Arial" panose="020B0604020202020204" pitchFamily="34" charset="0"/>
                </a:rPr>
                <a:t>is enabled, trimming does not occur and retrieved CHAR values are padded to their full length.</a:t>
              </a:r>
            </a:p>
          </p:txBody>
        </p:sp>
        <p:sp>
          <p:nvSpPr>
            <p:cNvPr id="6" name="Rectangle 5">
              <a:extLst>
                <a:ext uri="{FF2B5EF4-FFF2-40B4-BE49-F238E27FC236}">
                  <a16:creationId xmlns:a16="http://schemas.microsoft.com/office/drawing/2014/main" id="{EB7B2A39-3715-568A-14FE-4FFE436CEB72}"/>
                </a:ext>
              </a:extLst>
            </p:cNvPr>
            <p:cNvSpPr/>
            <p:nvPr/>
          </p:nvSpPr>
          <p:spPr>
            <a:xfrm>
              <a:off x="335358" y="5013176"/>
              <a:ext cx="11449270" cy="954107"/>
            </a:xfrm>
            <a:prstGeom prst="rect">
              <a:avLst/>
            </a:prstGeom>
            <a:solidFill>
              <a:schemeClr val="tx2">
                <a:lumMod val="20000"/>
                <a:lumOff val="80000"/>
              </a:schemeClr>
            </a:solidFill>
          </p:spPr>
          <p:txBody>
            <a:bodyPr wrap="square">
              <a:spAutoFit/>
            </a:bodyPr>
            <a:lstStyle/>
            <a:p>
              <a:pPr marL="285750" indent="-285750">
                <a:buFont typeface="Arial" panose="020B0604020202020204" pitchFamily="34" charset="0"/>
                <a:buChar char="•"/>
              </a:pPr>
              <a:r>
                <a:rPr lang="en-IN" sz="2800" i="1" dirty="0">
                  <a:solidFill>
                    <a:srgbClr val="0070C0"/>
                  </a:solidFill>
                  <a:latin typeface="Aptos Narrow" panose="020B0004020202020204" pitchFamily="34" charset="0"/>
                  <a:cs typeface="Arial" panose="020B0604020202020204" pitchFamily="34" charset="0"/>
                </a:rPr>
                <a:t>SET sql_mode = '';</a:t>
              </a:r>
            </a:p>
            <a:p>
              <a:pPr marL="285750" indent="-285750">
                <a:buFont typeface="Arial" panose="020B0604020202020204" pitchFamily="34" charset="0"/>
                <a:buChar char="•"/>
              </a:pPr>
              <a:r>
                <a:rPr lang="en-IN" sz="2800" i="1" dirty="0">
                  <a:solidFill>
                    <a:srgbClr val="0070C0"/>
                  </a:solidFill>
                  <a:latin typeface="Aptos Narrow" panose="020B0004020202020204" pitchFamily="34" charset="0"/>
                  <a:cs typeface="Arial" panose="020B0604020202020204" pitchFamily="34" charset="0"/>
                </a:rPr>
                <a:t>SET sql_mode = 'PAD_CHAR_TO_FULL_LENGTH';</a:t>
              </a:r>
            </a:p>
          </p:txBody>
        </p:sp>
      </p:grpSp>
      <p:sp>
        <p:nvSpPr>
          <p:cNvPr id="8" name="TextBox 7">
            <a:extLst>
              <a:ext uri="{FF2B5EF4-FFF2-40B4-BE49-F238E27FC236}">
                <a16:creationId xmlns:a16="http://schemas.microsoft.com/office/drawing/2014/main" id="{D71873E8-2E03-83A4-0ABB-57B5ED0D5099}"/>
              </a:ext>
            </a:extLst>
          </p:cNvPr>
          <p:cNvSpPr txBox="1"/>
          <p:nvPr/>
        </p:nvSpPr>
        <p:spPr>
          <a:xfrm>
            <a:off x="407368" y="1052736"/>
            <a:ext cx="11233248" cy="1938992"/>
          </a:xfrm>
          <a:prstGeom prst="rect">
            <a:avLst/>
          </a:prstGeom>
          <a:noFill/>
        </p:spPr>
        <p:txBody>
          <a:bodyPr wrap="square">
            <a:spAutoFit/>
          </a:bodyPr>
          <a:lstStyle/>
          <a:p>
            <a:pPr marL="285750" indent="-285750">
              <a:buFont typeface="Arial" panose="020B0604020202020204" pitchFamily="34" charset="0"/>
              <a:buChar char="•"/>
            </a:pPr>
            <a:r>
              <a:rPr lang="en-IN" b="1" i="1" dirty="0">
                <a:solidFill>
                  <a:srgbClr val="0089A4"/>
                </a:solidFill>
                <a:latin typeface="Arial" panose="020B0604020202020204" pitchFamily="34" charset="0"/>
                <a:cs typeface="Arial" panose="020B0604020202020204" pitchFamily="34" charset="0"/>
              </a:rPr>
              <a:t>PAD_CHAR_TO_FULL_LENGTH </a:t>
            </a:r>
            <a:r>
              <a:rPr lang="en-IN" sz="2000" dirty="0">
                <a:latin typeface="Arial" panose="020B0604020202020204" pitchFamily="34" charset="0"/>
                <a:cs typeface="Arial" panose="020B0604020202020204" pitchFamily="34" charset="0"/>
              </a:rPr>
              <a:t>is an SQL mode that affects how values stored in a CHAR column are retrieved.</a:t>
            </a:r>
          </a:p>
          <a:p>
            <a:pPr marL="285750" indent="-285750">
              <a:buFont typeface="Arial" panose="020B0604020202020204" pitchFamily="34" charset="0"/>
              <a:buChar char="•"/>
            </a:pPr>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Normally, MySQL removes trailing spaces from CHAR values when retrieving them. </a:t>
            </a:r>
          </a:p>
          <a:p>
            <a:pPr marL="285750" indent="-285750">
              <a:buFont typeface="Arial" panose="020B0604020202020204" pitchFamily="34" charset="0"/>
              <a:buChar char="•"/>
            </a:pPr>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When </a:t>
            </a:r>
            <a:r>
              <a:rPr lang="en-IN" b="1" i="1" dirty="0">
                <a:solidFill>
                  <a:srgbClr val="0089A4"/>
                </a:solidFill>
                <a:latin typeface="Arial" panose="020B0604020202020204" pitchFamily="34" charset="0"/>
                <a:cs typeface="Arial" panose="020B0604020202020204" pitchFamily="34" charset="0"/>
              </a:rPr>
              <a:t>PAD_CHAR_TO_FULL_LENGTH </a:t>
            </a:r>
            <a:r>
              <a:rPr lang="en-IN" sz="2000" dirty="0">
                <a:latin typeface="Arial" panose="020B0604020202020204" pitchFamily="34" charset="0"/>
                <a:cs typeface="Arial" panose="020B0604020202020204" pitchFamily="34" charset="0"/>
              </a:rPr>
              <a:t>is enabled, those trailing spaces are preserved.</a:t>
            </a:r>
          </a:p>
        </p:txBody>
      </p:sp>
    </p:spTree>
    <p:extLst>
      <p:ext uri="{BB962C8B-B14F-4D97-AF65-F5344CB8AC3E}">
        <p14:creationId xmlns:p14="http://schemas.microsoft.com/office/powerpoint/2010/main" val="2823048144"/>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char and varchar</a:t>
            </a:r>
          </a:p>
        </p:txBody>
      </p:sp>
      <p:graphicFrame>
        <p:nvGraphicFramePr>
          <p:cNvPr id="2" name="Table 1"/>
          <p:cNvGraphicFramePr>
            <a:graphicFrameLocks noGrp="1"/>
          </p:cNvGraphicFramePr>
          <p:nvPr>
            <p:extLst>
              <p:ext uri="{D42A27DB-BD31-4B8C-83A1-F6EECF244321}">
                <p14:modId xmlns:p14="http://schemas.microsoft.com/office/powerpoint/2010/main" val="1582960905"/>
              </p:ext>
            </p:extLst>
          </p:nvPr>
        </p:nvGraphicFramePr>
        <p:xfrm>
          <a:off x="407368" y="620688"/>
          <a:ext cx="11449271" cy="1651000"/>
        </p:xfrm>
        <a:graphic>
          <a:graphicData uri="http://schemas.openxmlformats.org/drawingml/2006/table">
            <a:tbl>
              <a:tblPr firstRow="1" bandRow="1">
                <a:tableStyleId>{7E9639D4-E3E2-4D34-9284-5A2195B3D0D7}</a:tableStyleId>
              </a:tblPr>
              <a:tblGrid>
                <a:gridCol w="3750623">
                  <a:extLst>
                    <a:ext uri="{9D8B030D-6E8A-4147-A177-3AD203B41FA5}">
                      <a16:colId xmlns:a16="http://schemas.microsoft.com/office/drawing/2014/main" val="20000"/>
                    </a:ext>
                  </a:extLst>
                </a:gridCol>
                <a:gridCol w="2270114">
                  <a:extLst>
                    <a:ext uri="{9D8B030D-6E8A-4147-A177-3AD203B41FA5}">
                      <a16:colId xmlns:a16="http://schemas.microsoft.com/office/drawing/2014/main" val="20001"/>
                    </a:ext>
                  </a:extLst>
                </a:gridCol>
                <a:gridCol w="5428534">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latin typeface="Gill Sans MT (Body)"/>
                          <a:ea typeface="+mn-ea"/>
                          <a:cs typeface="Arial" panose="020B0604020202020204" pitchFamily="34" charset="0"/>
                        </a:rPr>
                        <a:t>Datatypes</a:t>
                      </a:r>
                    </a:p>
                  </a:txBody>
                  <a:tcPr marL="91428" marR="91428">
                    <a:noFill/>
                  </a:tcPr>
                </a:tc>
                <a:tc>
                  <a:txBody>
                    <a:bodyPr/>
                    <a:lstStyle/>
                    <a:p>
                      <a:r>
                        <a:rPr kumimoji="0" lang="en-IN" b="1" kern="1200" dirty="0">
                          <a:solidFill>
                            <a:schemeClr val="tx1"/>
                          </a:solidFill>
                          <a:latin typeface="Gill Sans MT (Body)"/>
                          <a:ea typeface="+mn-ea"/>
                          <a:cs typeface="Arial" panose="020B0604020202020204" pitchFamily="34" charset="0"/>
                        </a:rPr>
                        <a:t>Size</a:t>
                      </a:r>
                    </a:p>
                  </a:txBody>
                  <a:tcPr marL="91428" marR="91428">
                    <a:noFill/>
                  </a:tcPr>
                </a:tc>
                <a:tc>
                  <a:txBody>
                    <a:bodyPr/>
                    <a:lstStyle/>
                    <a:p>
                      <a:r>
                        <a:rPr kumimoji="0" lang="en-IN" b="1" kern="1200" dirty="0">
                          <a:solidFill>
                            <a:schemeClr val="tx1"/>
                          </a:solidFill>
                          <a:latin typeface="Gill Sans MT (Body)"/>
                          <a:ea typeface="+mn-ea"/>
                          <a:cs typeface="Arial" panose="020B0604020202020204" pitchFamily="34" charset="0"/>
                        </a:rPr>
                        <a:t>Description</a:t>
                      </a:r>
                    </a:p>
                  </a:txBody>
                  <a:tcPr marL="91428" marR="91428">
                    <a:noFill/>
                  </a:tcPr>
                </a:tc>
                <a:extLst>
                  <a:ext uri="{0D108BD9-81ED-4DB2-BD59-A6C34878D82A}">
                    <a16:rowId xmlns:a16="http://schemas.microsoft.com/office/drawing/2014/main" val="10000"/>
                  </a:ext>
                </a:extLst>
              </a:tr>
              <a:tr h="370840">
                <a:tc>
                  <a:txBody>
                    <a:bodyPr/>
                    <a:lstStyle/>
                    <a:p>
                      <a:r>
                        <a:rPr lang="en-IN" sz="1800" dirty="0">
                          <a:latin typeface="Gill Sans MT (Body)"/>
                          <a:cs typeface="Arial" panose="020B0604020202020204" pitchFamily="34" charset="0"/>
                        </a:rPr>
                        <a:t>CHAR [(length)]</a:t>
                      </a:r>
                    </a:p>
                  </a:txBody>
                  <a:tcPr marL="91428" marR="91428" anchor="ctr"/>
                </a:tc>
                <a:tc>
                  <a:txBody>
                    <a:bodyPr/>
                    <a:lstStyle/>
                    <a:p>
                      <a:r>
                        <a:rPr lang="en-IN" sz="1800" dirty="0">
                          <a:latin typeface="Gill Sans MT (Body)"/>
                          <a:cs typeface="Arial" panose="020B0604020202020204" pitchFamily="34" charset="0"/>
                        </a:rPr>
                        <a:t>0-255</a:t>
                      </a:r>
                    </a:p>
                  </a:txBody>
                  <a:tcPr marL="91428" marR="91428" anchor="ctr"/>
                </a:tc>
                <a:tc>
                  <a:txBody>
                    <a:bodyPr/>
                    <a:lstStyle/>
                    <a:p>
                      <a:r>
                        <a:rPr lang="en-IN" sz="1800" b="1" i="1" dirty="0">
                          <a:latin typeface="Gill Sans MT (Body)"/>
                          <a:cs typeface="Arial" panose="020B0604020202020204" pitchFamily="34" charset="0"/>
                        </a:rPr>
                        <a:t>fixed-length character data type.</a:t>
                      </a:r>
                    </a:p>
                  </a:txBody>
                  <a:tcPr marL="91428" marR="91428"/>
                </a:tc>
                <a:extLst>
                  <a:ext uri="{0D108BD9-81ED-4DB2-BD59-A6C34878D82A}">
                    <a16:rowId xmlns:a16="http://schemas.microsoft.com/office/drawing/2014/main" val="10001"/>
                  </a:ext>
                </a:extLst>
              </a:tr>
              <a:tr h="370840">
                <a:tc>
                  <a:txBody>
                    <a:bodyPr/>
                    <a:lstStyle/>
                    <a:p>
                      <a:r>
                        <a:rPr lang="en-IN" sz="1800" dirty="0">
                          <a:latin typeface="Gill Sans MT (Body)"/>
                          <a:cs typeface="Arial" panose="020B0604020202020204" pitchFamily="34" charset="0"/>
                        </a:rPr>
                        <a:t>VARCHAR (length)</a:t>
                      </a:r>
                    </a:p>
                  </a:txBody>
                  <a:tcPr marL="91428" marR="91428" anchor="ctr"/>
                </a:tc>
                <a:tc>
                  <a:txBody>
                    <a:bodyPr/>
                    <a:lstStyle/>
                    <a:p>
                      <a:r>
                        <a:rPr lang="en-IN" sz="1800" b="0" i="0" kern="1200" dirty="0">
                          <a:solidFill>
                            <a:schemeClr val="tx1"/>
                          </a:solidFill>
                          <a:effectLst/>
                          <a:latin typeface="Gill Sans MT (Body)"/>
                          <a:ea typeface="+mn-ea"/>
                          <a:cs typeface="+mn-cs"/>
                        </a:rPr>
                        <a:t>0 to 65,535</a:t>
                      </a:r>
                      <a:endParaRPr lang="en-IN" sz="1800" dirty="0">
                        <a:latin typeface="Gill Sans MT (Body)"/>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i="1" dirty="0">
                          <a:latin typeface="Gill Sans MT (Body)"/>
                        </a:rPr>
                        <a:t>variable-length character data type. </a:t>
                      </a:r>
                      <a:r>
                        <a:rPr lang="en-US" sz="1800" dirty="0">
                          <a:latin typeface="Gill Sans MT (Body)"/>
                        </a:rPr>
                        <a:t>The maximum row size (65,535 bytes, which is shared among all columns.         </a:t>
                      </a:r>
                    </a:p>
                  </a:txBody>
                  <a:tcPr marL="91428" marR="91428"/>
                </a:tc>
                <a:extLst>
                  <a:ext uri="{0D108BD9-81ED-4DB2-BD59-A6C34878D82A}">
                    <a16:rowId xmlns:a16="http://schemas.microsoft.com/office/drawing/2014/main" val="10002"/>
                  </a:ext>
                </a:extLst>
              </a:tr>
            </a:tbl>
          </a:graphicData>
        </a:graphic>
      </p:graphicFrame>
      <p:grpSp>
        <p:nvGrpSpPr>
          <p:cNvPr id="3" name="Group 2">
            <a:extLst>
              <a:ext uri="{FF2B5EF4-FFF2-40B4-BE49-F238E27FC236}">
                <a16:creationId xmlns:a16="http://schemas.microsoft.com/office/drawing/2014/main" id="{2E23996A-F408-F976-DD1C-4002F0BE1520}"/>
              </a:ext>
            </a:extLst>
          </p:cNvPr>
          <p:cNvGrpSpPr/>
          <p:nvPr/>
        </p:nvGrpSpPr>
        <p:grpSpPr>
          <a:xfrm>
            <a:off x="119336" y="2492896"/>
            <a:ext cx="12046206" cy="4032448"/>
            <a:chOff x="119336" y="2348880"/>
            <a:chExt cx="12046206" cy="4032448"/>
          </a:xfrm>
        </p:grpSpPr>
        <p:grpSp>
          <p:nvGrpSpPr>
            <p:cNvPr id="6" name="Group 5">
              <a:extLst>
                <a:ext uri="{FF2B5EF4-FFF2-40B4-BE49-F238E27FC236}">
                  <a16:creationId xmlns:a16="http://schemas.microsoft.com/office/drawing/2014/main" id="{3BA10866-0C4C-48A3-B40B-CC7ADD469AD3}"/>
                </a:ext>
              </a:extLst>
            </p:cNvPr>
            <p:cNvGrpSpPr/>
            <p:nvPr/>
          </p:nvGrpSpPr>
          <p:grpSpPr>
            <a:xfrm>
              <a:off x="119336" y="2503844"/>
              <a:ext cx="5986795" cy="3770511"/>
              <a:chOff x="407366" y="2152634"/>
              <a:chExt cx="11449272" cy="3770511"/>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599158"/>
                <a:ext cx="11449270" cy="332398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'PAD_CHAR_TO_FULL_LENGTH';</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US"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152634"/>
                <a:ext cx="2467207" cy="369332"/>
              </a:xfrm>
              <a:prstGeom prst="rect">
                <a:avLst/>
              </a:prstGeom>
            </p:spPr>
            <p:txBody>
              <a:bodyPr wrap="square">
                <a:spAutoFit/>
              </a:bodyPr>
              <a:lstStyle/>
              <a:p>
                <a:r>
                  <a:rPr lang="en-IN" b="1" i="1" dirty="0">
                    <a:solidFill>
                      <a:schemeClr val="tx1">
                        <a:lumMod val="65000"/>
                        <a:lumOff val="35000"/>
                      </a:schemeClr>
                    </a:solidFill>
                    <a:latin typeface="Arial" panose="020B0604020202020204" pitchFamily="34" charset="0"/>
                    <a:cs typeface="Arial" panose="020B0604020202020204" pitchFamily="34" charset="0"/>
                  </a:rPr>
                  <a:t>Try Out</a:t>
                </a:r>
              </a:p>
            </p:txBody>
          </p:sp>
        </p:grpSp>
        <p:sp>
          <p:nvSpPr>
            <p:cNvPr id="9" name="TextBox 8">
              <a:extLst>
                <a:ext uri="{FF2B5EF4-FFF2-40B4-BE49-F238E27FC236}">
                  <a16:creationId xmlns:a16="http://schemas.microsoft.com/office/drawing/2014/main" id="{DE611490-F9AA-433E-9E68-9AAF7CB4899C}"/>
                </a:ext>
              </a:extLst>
            </p:cNvPr>
            <p:cNvSpPr txBox="1"/>
            <p:nvPr/>
          </p:nvSpPr>
          <p:spPr>
            <a:xfrm>
              <a:off x="5663953" y="2501112"/>
              <a:ext cx="6253514" cy="738664"/>
            </a:xfrm>
            <a:prstGeom prst="rect">
              <a:avLst/>
            </a:prstGeom>
            <a:noFill/>
          </p:spPr>
          <p:txBody>
            <a:bodyPr wrap="square">
              <a:spAutoFit/>
            </a:bodyPr>
            <a:lstStyle/>
            <a:p>
              <a:pPr marL="342900" indent="-342900">
                <a:buFont typeface="Arial" panose="020B0604020202020204" pitchFamily="34" charset="0"/>
                <a:buChar char="*"/>
              </a:pPr>
              <a:r>
                <a:rPr lang="en-IN" sz="2100" dirty="0">
                  <a:solidFill>
                    <a:schemeClr val="accent5">
                      <a:lumMod val="75000"/>
                    </a:schemeClr>
                  </a:solidFill>
                  <a:latin typeface="Arial" panose="020B0604020202020204" pitchFamily="34" charset="0"/>
                  <a:cs typeface="Arial" panose="020B0604020202020204" pitchFamily="34" charset="0"/>
                </a:rPr>
                <a:t>In CHAR, if a table contains value 'a', an attempt to store 'a ' causes a duplicate-key error.</a:t>
              </a:r>
            </a:p>
          </p:txBody>
        </p:sp>
        <p:cxnSp>
          <p:nvCxnSpPr>
            <p:cNvPr id="11" name="Straight Connector 10">
              <a:extLst>
                <a:ext uri="{FF2B5EF4-FFF2-40B4-BE49-F238E27FC236}">
                  <a16:creationId xmlns:a16="http://schemas.microsoft.com/office/drawing/2014/main" id="{0F0CF518-F3B6-48FC-8205-DE520DA50474}"/>
                </a:ext>
              </a:extLst>
            </p:cNvPr>
            <p:cNvCxnSpPr>
              <a:cxnSpLocks/>
            </p:cNvCxnSpPr>
            <p:nvPr/>
          </p:nvCxnSpPr>
          <p:spPr>
            <a:xfrm>
              <a:off x="5591944" y="2348880"/>
              <a:ext cx="0" cy="4032448"/>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FD8F9865-BD77-4090-9C88-BCFC65A38614}"/>
                </a:ext>
              </a:extLst>
            </p:cNvPr>
            <p:cNvSpPr txBox="1"/>
            <p:nvPr/>
          </p:nvSpPr>
          <p:spPr>
            <a:xfrm>
              <a:off x="6071818" y="3605997"/>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sp>
          <p:nvSpPr>
            <p:cNvPr id="14" name="TextBox 13">
              <a:extLst>
                <a:ext uri="{FF2B5EF4-FFF2-40B4-BE49-F238E27FC236}">
                  <a16:creationId xmlns:a16="http://schemas.microsoft.com/office/drawing/2014/main" id="{82F88ECD-26D4-4310-962E-8A746600593B}"/>
                </a:ext>
              </a:extLst>
            </p:cNvPr>
            <p:cNvSpPr txBox="1"/>
            <p:nvPr/>
          </p:nvSpPr>
          <p:spPr>
            <a:xfrm>
              <a:off x="6071818" y="4974149"/>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cxnSp>
          <p:nvCxnSpPr>
            <p:cNvPr id="16" name="Straight Connector 15">
              <a:extLst>
                <a:ext uri="{FF2B5EF4-FFF2-40B4-BE49-F238E27FC236}">
                  <a16:creationId xmlns:a16="http://schemas.microsoft.com/office/drawing/2014/main" id="{B0505020-0953-4175-B1C6-7DD3CED3C409}"/>
                </a:ext>
              </a:extLst>
            </p:cNvPr>
            <p:cNvCxnSpPr>
              <a:cxnSpLocks/>
            </p:cNvCxnSpPr>
            <p:nvPr/>
          </p:nvCxnSpPr>
          <p:spPr>
            <a:xfrm>
              <a:off x="5591944" y="4796453"/>
              <a:ext cx="6408712"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90512059"/>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text, blob, and longblob</a:t>
            </a:r>
          </a:p>
        </p:txBody>
      </p:sp>
      <p:grpSp>
        <p:nvGrpSpPr>
          <p:cNvPr id="6" name="Group 5">
            <a:extLst>
              <a:ext uri="{FF2B5EF4-FFF2-40B4-BE49-F238E27FC236}">
                <a16:creationId xmlns:a16="http://schemas.microsoft.com/office/drawing/2014/main" id="{3BA10866-0C4C-48A3-B40B-CC7ADD469AD3}"/>
              </a:ext>
            </a:extLst>
          </p:cNvPr>
          <p:cNvGrpSpPr/>
          <p:nvPr/>
        </p:nvGrpSpPr>
        <p:grpSpPr>
          <a:xfrm>
            <a:off x="263352" y="912202"/>
            <a:ext cx="11593288" cy="2458725"/>
            <a:chOff x="407366" y="2483604"/>
            <a:chExt cx="11308790" cy="2458725"/>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308788" cy="196977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movies</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 _id </a:t>
              </a:r>
              <a:r>
                <a:rPr lang="en-IN" dirty="0">
                  <a:solidFill>
                    <a:srgbClr val="834689"/>
                  </a:solidFill>
                  <a:latin typeface="Liberation Mono"/>
                  <a:ea typeface="Verdana" panose="020B060403050404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834689"/>
                  </a:solidFill>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description  </a:t>
              </a:r>
              <a:r>
                <a:rPr lang="en-IN" dirty="0">
                  <a:solidFill>
                    <a:srgbClr val="834689"/>
                  </a:solidFill>
                  <a:latin typeface="Liberation Mono"/>
                  <a:ea typeface="Verdana" panose="020B0604030504040204" pitchFamily="34" charset="0"/>
                </a:rPr>
                <a:t>TEXT</a:t>
              </a:r>
              <a:r>
                <a:rPr lang="en-IN" dirty="0">
                  <a:latin typeface="Liberation Mono"/>
                  <a:ea typeface="Verdana" panose="020B0604030504040204" pitchFamily="34" charset="0"/>
                </a:rPr>
                <a:t>, img1 </a:t>
              </a:r>
              <a:r>
                <a:rPr lang="en-IN" dirty="0">
                  <a:solidFill>
                    <a:srgbClr val="834689"/>
                  </a:solidFill>
                  <a:latin typeface="Liberation Mono"/>
                  <a:ea typeface="Verdana" panose="020B0604030504040204" pitchFamily="34" charset="0"/>
                </a:rPr>
                <a:t>BLOB</a:t>
              </a:r>
              <a:r>
                <a:rPr lang="en-IN" dirty="0">
                  <a:latin typeface="Liberation Mono"/>
                  <a:ea typeface="Verdana" panose="020B0604030504040204" pitchFamily="34" charset="0"/>
                </a:rPr>
                <a:t>, img2 </a:t>
              </a:r>
              <a:r>
                <a:rPr lang="en-IN" dirty="0">
                  <a:solidFill>
                    <a:srgbClr val="834689"/>
                  </a:solidFill>
                  <a:latin typeface="Liberation Mono"/>
                  <a:ea typeface="Verdana" panose="020B0604030504040204" pitchFamily="34" charset="0"/>
                </a:rPr>
                <a:t>LONGBLOB</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a:t>
              </a:r>
            </a:p>
            <a:p>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("d:/movie1.txt")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("d:/movie2.txt")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("d:\\movie3.txt")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a:t>
              </a:r>
              <a:r>
                <a:rPr lang="en-US" dirty="0">
                  <a:solidFill>
                    <a:srgbClr val="A67F59"/>
                  </a:solidFill>
                  <a:latin typeface="Liberation Mono"/>
                </a:rPr>
                <a:t>*</a:t>
              </a:r>
              <a:r>
                <a:rPr lang="en-US" dirty="0">
                  <a:latin typeface="Liberation Mono"/>
                  <a:ea typeface="Verdana" panose="020B0604030504040204" pitchFamily="34" charset="0"/>
                  <a:cs typeface="Arial" panose="020B0604020202020204" pitchFamily="34" charset="0"/>
                </a:rPr>
                <a:t>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US" dirty="0">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b="1" i="1" dirty="0">
                  <a:solidFill>
                    <a:schemeClr val="tx1">
                      <a:lumMod val="65000"/>
                      <a:lumOff val="35000"/>
                    </a:schemeClr>
                  </a:solidFill>
                  <a:latin typeface="Arial" panose="020B0604020202020204" pitchFamily="34" charset="0"/>
                  <a:cs typeface="Arial" panose="020B0604020202020204" pitchFamily="34" charset="0"/>
                </a:rPr>
                <a:t>Try Out</a:t>
              </a:r>
            </a:p>
          </p:txBody>
        </p:sp>
      </p:grpSp>
    </p:spTree>
    <p:extLst>
      <p:ext uri="{BB962C8B-B14F-4D97-AF65-F5344CB8AC3E}">
        <p14:creationId xmlns:p14="http://schemas.microsoft.com/office/powerpoint/2010/main" val="76954754"/>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numeric</a:t>
            </a:r>
          </a:p>
        </p:txBody>
      </p:sp>
      <p:graphicFrame>
        <p:nvGraphicFramePr>
          <p:cNvPr id="2" name="Table 1"/>
          <p:cNvGraphicFramePr>
            <a:graphicFrameLocks noGrp="1"/>
          </p:cNvGraphicFramePr>
          <p:nvPr>
            <p:extLst>
              <p:ext uri="{D42A27DB-BD31-4B8C-83A1-F6EECF244321}">
                <p14:modId xmlns:p14="http://schemas.microsoft.com/office/powerpoint/2010/main" val="3007198329"/>
              </p:ext>
            </p:extLst>
          </p:nvPr>
        </p:nvGraphicFramePr>
        <p:xfrm>
          <a:off x="407368" y="892309"/>
          <a:ext cx="11449272" cy="3962400"/>
        </p:xfrm>
        <a:graphic>
          <a:graphicData uri="http://schemas.openxmlformats.org/drawingml/2006/table">
            <a:tbl>
              <a:tblPr firstRow="1" bandRow="1">
                <a:tableStyleId>{7E9639D4-E3E2-4D34-9284-5A2195B3D0D7}</a:tableStyleId>
              </a:tblPr>
              <a:tblGrid>
                <a:gridCol w="4403566">
                  <a:extLst>
                    <a:ext uri="{9D8B030D-6E8A-4147-A177-3AD203B41FA5}">
                      <a16:colId xmlns:a16="http://schemas.microsoft.com/office/drawing/2014/main" val="20000"/>
                    </a:ext>
                  </a:extLst>
                </a:gridCol>
                <a:gridCol w="954106">
                  <a:extLst>
                    <a:ext uri="{9D8B030D-6E8A-4147-A177-3AD203B41FA5}">
                      <a16:colId xmlns:a16="http://schemas.microsoft.com/office/drawing/2014/main" val="20001"/>
                    </a:ext>
                  </a:extLst>
                </a:gridCol>
                <a:gridCol w="6091600">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TINYINT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 -128 to +127 </a:t>
                      </a:r>
                      <a:r>
                        <a:rPr kumimoji="0" lang="en-IN" sz="1600" b="1" i="0" kern="1200" dirty="0">
                          <a:solidFill>
                            <a:schemeClr val="tx1"/>
                          </a:solidFill>
                          <a:effectLst/>
                          <a:latin typeface="Arial" panose="020B0604020202020204" pitchFamily="34" charset="0"/>
                          <a:ea typeface="+mn-ea"/>
                          <a:cs typeface="Arial" panose="020B0604020202020204" pitchFamily="34" charset="0"/>
                        </a:rPr>
                        <a:t>(</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255)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SMALLINT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2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-32768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32767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65535)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MEDIUMINT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-8388608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8388607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16777215)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INT, INTEGER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-2147483648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2147483647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4294967295)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BIGINT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-9,223,372,036,854,775,808 to 9,223,372,036,854,775,807</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5"/>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FLOAT [(length[,decimals])]  </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FLOAT(255,30)</a:t>
                      </a:r>
                    </a:p>
                  </a:txBody>
                  <a:tcPr marL="91428" marR="91428" anchor="ctr">
                    <a:solidFill>
                      <a:schemeClr val="bg1"/>
                    </a:solidFill>
                  </a:tcPr>
                </a:tc>
                <a:extLst>
                  <a:ext uri="{0D108BD9-81ED-4DB2-BD59-A6C34878D82A}">
                    <a16:rowId xmlns:a16="http://schemas.microsoft.com/office/drawing/2014/main" val="10006"/>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DOUBLE [PRECISION] [(length[,decimals])], </a:t>
                      </a:r>
                    </a:p>
                    <a:p>
                      <a:r>
                        <a:rPr lang="en-IN" sz="1600" dirty="0">
                          <a:solidFill>
                            <a:schemeClr val="tx1"/>
                          </a:solidFill>
                          <a:latin typeface="Arial" panose="020B0604020202020204" pitchFamily="34" charset="0"/>
                          <a:cs typeface="Arial" panose="020B0604020202020204" pitchFamily="34" charset="0"/>
                        </a:rPr>
                        <a:t>REAL [(length[,decimals])]</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dirty="0">
                          <a:solidFill>
                            <a:schemeClr val="tx1"/>
                          </a:solidFill>
                          <a:latin typeface="Arial" panose="020B0604020202020204" pitchFamily="34" charset="0"/>
                          <a:cs typeface="Arial" panose="020B0604020202020204" pitchFamily="34" charset="0"/>
                        </a:rPr>
                        <a:t>REAL</a:t>
                      </a:r>
                      <a:r>
                        <a:rPr lang="en-IN" sz="1600" b="1" dirty="0">
                          <a:solidFill>
                            <a:schemeClr val="tx1"/>
                          </a:solidFill>
                          <a:latin typeface="Arial" panose="020B0604020202020204" pitchFamily="34" charset="0"/>
                          <a:cs typeface="Arial" panose="020B0604020202020204" pitchFamily="34" charset="0"/>
                        </a:rPr>
                        <a:t>(255,30) / </a:t>
                      </a:r>
                      <a:r>
                        <a:rPr lang="en-US" sz="1600" b="1" dirty="0">
                          <a:solidFill>
                            <a:schemeClr val="tx1"/>
                          </a:solidFill>
                          <a:latin typeface="Arial" panose="020B0604020202020204" pitchFamily="34" charset="0"/>
                          <a:cs typeface="Arial" panose="020B0604020202020204" pitchFamily="34" charset="0"/>
                        </a:rPr>
                        <a:t>DOUBLE</a:t>
                      </a:r>
                      <a:r>
                        <a:rPr lang="en-IN" sz="1600" b="1" dirty="0">
                          <a:solidFill>
                            <a:schemeClr val="tx1"/>
                          </a:solidFill>
                          <a:latin typeface="Arial" panose="020B0604020202020204" pitchFamily="34" charset="0"/>
                          <a:cs typeface="Arial" panose="020B0604020202020204" pitchFamily="34" charset="0"/>
                        </a:rPr>
                        <a:t>(255,30)</a:t>
                      </a:r>
                    </a:p>
                    <a:p>
                      <a:r>
                        <a:rPr lang="en-US" sz="1600" dirty="0">
                          <a:solidFill>
                            <a:schemeClr val="tx1"/>
                          </a:solidFill>
                          <a:latin typeface="Arial" panose="020B0604020202020204" pitchFamily="34" charset="0"/>
                          <a:cs typeface="Arial" panose="020B0604020202020204" pitchFamily="34" charset="0"/>
                        </a:rPr>
                        <a:t>REAL will get converted to DOUBLE</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2391693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DECIMAL [(length[,decimals])], </a:t>
                      </a:r>
                    </a:p>
                    <a:p>
                      <a:r>
                        <a:rPr lang="en-IN" sz="1600" dirty="0">
                          <a:solidFill>
                            <a:schemeClr val="tx1"/>
                          </a:solidFill>
                          <a:latin typeface="Arial" panose="020B0604020202020204" pitchFamily="34" charset="0"/>
                          <a:cs typeface="Arial" panose="020B0604020202020204" pitchFamily="34" charset="0"/>
                        </a:rPr>
                        <a:t>NUMERIC [(length[,decimals])]</a:t>
                      </a:r>
                    </a:p>
                  </a:txBody>
                  <a:tcPr marL="91428" marR="91428" anchor="ctr">
                    <a:solidFill>
                      <a:schemeClr val="bg1"/>
                    </a:solidFill>
                  </a:tcPr>
                </a:tc>
                <a:tc>
                  <a:txBody>
                    <a:bodyPr/>
                    <a:lstStyle/>
                    <a:p>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DECIMAL(65,30) / NUMERIC(65,30)</a:t>
                      </a:r>
                    </a:p>
                    <a:p>
                      <a:r>
                        <a:rPr lang="en-IN" sz="1600" dirty="0">
                          <a:solidFill>
                            <a:schemeClr val="tx1"/>
                          </a:solidFill>
                          <a:latin typeface="Arial" panose="020B0604020202020204" pitchFamily="34" charset="0"/>
                          <a:cs typeface="Arial" panose="020B0604020202020204" pitchFamily="34" charset="0"/>
                        </a:rPr>
                        <a:t>NUMERIC will get converted in DECIMAL</a:t>
                      </a:r>
                    </a:p>
                  </a:txBody>
                  <a:tcPr marL="91428" marR="91428" anchor="ctr">
                    <a:solidFill>
                      <a:schemeClr val="bg1"/>
                    </a:solidFill>
                  </a:tcPr>
                </a:tc>
                <a:extLst>
                  <a:ext uri="{0D108BD9-81ED-4DB2-BD59-A6C34878D82A}">
                    <a16:rowId xmlns:a16="http://schemas.microsoft.com/office/drawing/2014/main" val="10007"/>
                  </a:ext>
                </a:extLst>
              </a:tr>
            </a:tbl>
          </a:graphicData>
        </a:graphic>
      </p:graphicFrame>
      <p:sp>
        <p:nvSpPr>
          <p:cNvPr id="3" name="Rectangle 2"/>
          <p:cNvSpPr/>
          <p:nvPr/>
        </p:nvSpPr>
        <p:spPr>
          <a:xfrm>
            <a:off x="411780" y="5045114"/>
            <a:ext cx="11444861" cy="400110"/>
          </a:xfrm>
          <a:prstGeom prst="rect">
            <a:avLst/>
          </a:prstGeom>
          <a:solidFill>
            <a:schemeClr val="bg2"/>
          </a:solidFill>
        </p:spPr>
        <p:txBody>
          <a:bodyPr wrap="square">
            <a:spAutoFit/>
          </a:bodyPr>
          <a:lstStyle/>
          <a:p>
            <a:r>
              <a:rPr lang="en-IN" sz="2000" dirty="0">
                <a:solidFill>
                  <a:srgbClr val="0070C0"/>
                </a:solidFill>
                <a:latin typeface="Palatino Linotype" panose="02040502050505030304" pitchFamily="18" charset="0"/>
                <a:cs typeface="Segoe UI Light" panose="020B0502040204020203" pitchFamily="34" charset="0"/>
              </a:rPr>
              <a:t> For: float(M,D), double(M,D) or decimal(M,D), M must be &gt;= D</a:t>
            </a:r>
          </a:p>
        </p:txBody>
      </p:sp>
      <p:sp>
        <p:nvSpPr>
          <p:cNvPr id="6" name="TextBox 5"/>
          <p:cNvSpPr txBox="1"/>
          <p:nvPr/>
        </p:nvSpPr>
        <p:spPr>
          <a:xfrm>
            <a:off x="375990" y="6307137"/>
            <a:ext cx="5616624" cy="400110"/>
          </a:xfrm>
          <a:prstGeom prst="rect">
            <a:avLst/>
          </a:prstGeom>
          <a:noFill/>
        </p:spPr>
        <p:txBody>
          <a:bodyPr wrap="square" rtlCol="0">
            <a:spAutoFit/>
          </a:bodyPr>
          <a:lstStyle/>
          <a:p>
            <a:r>
              <a:rPr lang="en-IN" sz="2000" b="1" dirty="0">
                <a:latin typeface="Palatino Linotype" panose="02040502050505030304" pitchFamily="18" charset="0"/>
              </a:rPr>
              <a:t>UNSIGNED</a:t>
            </a:r>
            <a:r>
              <a:rPr lang="en-IN" sz="2000" dirty="0">
                <a:latin typeface="Palatino Linotype" panose="02040502050505030304" pitchFamily="18" charset="0"/>
              </a:rPr>
              <a:t> prohibits negative values.</a:t>
            </a:r>
          </a:p>
        </p:txBody>
      </p:sp>
      <p:sp>
        <p:nvSpPr>
          <p:cNvPr id="7" name="Rectangle 6">
            <a:extLst>
              <a:ext uri="{FF2B5EF4-FFF2-40B4-BE49-F238E27FC236}">
                <a16:creationId xmlns:a16="http://schemas.microsoft.com/office/drawing/2014/main" id="{CC46B81B-104B-4F7C-B3F5-CAC173C4CCDB}"/>
              </a:ext>
            </a:extLst>
          </p:cNvPr>
          <p:cNvSpPr/>
          <p:nvPr/>
        </p:nvSpPr>
        <p:spPr>
          <a:xfrm>
            <a:off x="407368" y="5517232"/>
            <a:ext cx="11449272" cy="646331"/>
          </a:xfrm>
          <a:prstGeom prst="rect">
            <a:avLst/>
          </a:prstGeom>
        </p:spPr>
        <p:txBody>
          <a:bodyPr wrap="square">
            <a:spAutoFit/>
          </a:bodyPr>
          <a:lstStyle/>
          <a:p>
            <a:r>
              <a:rPr lang="en-IN" dirty="0">
                <a:solidFill>
                  <a:schemeClr val="accent5">
                    <a:lumMod val="50000"/>
                  </a:schemeClr>
                </a:solidFill>
                <a:latin typeface="Palatino Linotype" panose="02040502050505030304" pitchFamily="18" charset="0"/>
              </a:rPr>
              <a:t>Here, </a:t>
            </a:r>
            <a:r>
              <a:rPr lang="en-IN" b="1" dirty="0">
                <a:solidFill>
                  <a:schemeClr val="accent5">
                    <a:lumMod val="50000"/>
                  </a:schemeClr>
                </a:solidFill>
                <a:latin typeface="Palatino Linotype" panose="02040502050505030304" pitchFamily="18" charset="0"/>
              </a:rPr>
              <a:t>(M,D)</a:t>
            </a:r>
            <a:r>
              <a:rPr lang="en-IN" dirty="0">
                <a:solidFill>
                  <a:schemeClr val="accent5">
                    <a:lumMod val="50000"/>
                  </a:schemeClr>
                </a:solidFill>
                <a:latin typeface="Palatino Linotype" panose="02040502050505030304" pitchFamily="18" charset="0"/>
              </a:rPr>
              <a:t> means than values can be stored with up to </a:t>
            </a:r>
            <a:r>
              <a:rPr lang="en-IN" b="1" i="1" dirty="0">
                <a:solidFill>
                  <a:schemeClr val="accent5">
                    <a:lumMod val="50000"/>
                  </a:schemeClr>
                </a:solidFill>
                <a:latin typeface="Palatino Linotype" panose="02040502050505030304" pitchFamily="18" charset="0"/>
              </a:rPr>
              <a:t>M</a:t>
            </a:r>
            <a:r>
              <a:rPr lang="en-IN" dirty="0">
                <a:solidFill>
                  <a:schemeClr val="accent5">
                    <a:lumMod val="50000"/>
                  </a:schemeClr>
                </a:solidFill>
                <a:latin typeface="Palatino Linotype" panose="02040502050505030304" pitchFamily="18" charset="0"/>
              </a:rPr>
              <a:t> digits in total, of which </a:t>
            </a:r>
            <a:r>
              <a:rPr lang="en-IN" b="1" i="1" dirty="0">
                <a:solidFill>
                  <a:schemeClr val="accent5">
                    <a:lumMod val="50000"/>
                  </a:schemeClr>
                </a:solidFill>
                <a:latin typeface="Palatino Linotype" panose="02040502050505030304" pitchFamily="18" charset="0"/>
              </a:rPr>
              <a:t>D</a:t>
            </a:r>
            <a:r>
              <a:rPr lang="en-IN" dirty="0">
                <a:solidFill>
                  <a:schemeClr val="accent5">
                    <a:lumMod val="50000"/>
                  </a:schemeClr>
                </a:solidFill>
                <a:latin typeface="Palatino Linotype" panose="02040502050505030304" pitchFamily="18" charset="0"/>
              </a:rPr>
              <a:t> digits may be after the decimal point.</a:t>
            </a:r>
          </a:p>
        </p:txBody>
      </p:sp>
      <p:sp>
        <p:nvSpPr>
          <p:cNvPr id="8" name="TextBox 7">
            <a:extLst>
              <a:ext uri="{FF2B5EF4-FFF2-40B4-BE49-F238E27FC236}">
                <a16:creationId xmlns:a16="http://schemas.microsoft.com/office/drawing/2014/main" id="{2ABC7055-7CD0-BC45-698D-C8F4D0173AFE}"/>
              </a:ext>
            </a:extLst>
          </p:cNvPr>
          <p:cNvSpPr txBox="1"/>
          <p:nvPr/>
        </p:nvSpPr>
        <p:spPr>
          <a:xfrm>
            <a:off x="119336" y="64080"/>
            <a:ext cx="7056784" cy="769441"/>
          </a:xfrm>
          <a:prstGeom prst="rect">
            <a:avLst/>
          </a:prstGeom>
          <a:noFill/>
        </p:spPr>
        <p:txBody>
          <a:bodyPr wrap="square">
            <a:spAutoFit/>
          </a:bodyPr>
          <a:lstStyle/>
          <a:p>
            <a:pPr marL="342900" indent="-342900">
              <a:buFont typeface="Arial" panose="020B0604020202020204" pitchFamily="34" charset="0"/>
              <a:buChar char="•"/>
            </a:pPr>
            <a:r>
              <a:rPr lang="en-IN" sz="2100" dirty="0">
                <a:solidFill>
                  <a:srgbClr val="006699"/>
                </a:solidFill>
                <a:latin typeface="Liberation Mono"/>
              </a:rPr>
              <a:t>CREATE</a:t>
            </a:r>
            <a:r>
              <a:rPr lang="en-IN" sz="2100" dirty="0">
                <a:latin typeface="Liberation Mono"/>
              </a:rPr>
              <a:t> </a:t>
            </a:r>
            <a:r>
              <a:rPr lang="en-IN" sz="2100" dirty="0">
                <a:solidFill>
                  <a:srgbClr val="006699"/>
                </a:solidFill>
                <a:latin typeface="Liberation Mono"/>
              </a:rPr>
              <a:t>TABLE</a:t>
            </a:r>
            <a:r>
              <a:rPr lang="en-IN" sz="2100" dirty="0">
                <a:latin typeface="Liberation Mono"/>
              </a:rPr>
              <a:t> z1 (c1 </a:t>
            </a:r>
            <a:r>
              <a:rPr lang="en-IN" sz="2100" dirty="0">
                <a:solidFill>
                  <a:srgbClr val="006699"/>
                </a:solidFill>
                <a:latin typeface="Liberation Mono"/>
              </a:rPr>
              <a:t>ZEROFILL</a:t>
            </a:r>
            <a:r>
              <a:rPr lang="en-IN" sz="2100" dirty="0">
                <a:latin typeface="Liberation Mono"/>
              </a:rPr>
              <a:t>);   </a:t>
            </a:r>
            <a:r>
              <a:rPr lang="en-IN" sz="2100" dirty="0">
                <a:solidFill>
                  <a:srgbClr val="00B050"/>
                </a:solidFill>
                <a:latin typeface="Liberation Mono"/>
              </a:rPr>
              <a:t>// then Insert few records</a:t>
            </a:r>
          </a:p>
          <a:p>
            <a:pPr marL="342900" indent="-342900">
              <a:buFont typeface="Arial" panose="020B0604020202020204" pitchFamily="34" charset="0"/>
              <a:buChar char="•"/>
            </a:pPr>
            <a:endParaRPr lang="en-IN" sz="200" dirty="0">
              <a:latin typeface="Liberation Mono"/>
            </a:endParaRPr>
          </a:p>
          <a:p>
            <a:pPr marL="342900" indent="-342900">
              <a:buFont typeface="Arial" panose="020B0604020202020204" pitchFamily="34" charset="0"/>
              <a:buChar char="•"/>
            </a:pPr>
            <a:r>
              <a:rPr lang="en-IN" sz="2100" dirty="0">
                <a:solidFill>
                  <a:srgbClr val="006699"/>
                </a:solidFill>
                <a:latin typeface="Liberation Mono"/>
              </a:rPr>
              <a:t>CREATE</a:t>
            </a:r>
            <a:r>
              <a:rPr lang="en-IN" sz="2100" dirty="0">
                <a:latin typeface="Liberation Mono"/>
              </a:rPr>
              <a:t> </a:t>
            </a:r>
            <a:r>
              <a:rPr lang="en-IN" sz="2100" dirty="0">
                <a:solidFill>
                  <a:srgbClr val="006699"/>
                </a:solidFill>
                <a:latin typeface="Liberation Mono"/>
              </a:rPr>
              <a:t>TABLE</a:t>
            </a:r>
            <a:r>
              <a:rPr lang="en-IN" sz="2100" dirty="0">
                <a:latin typeface="Liberation Mono"/>
              </a:rPr>
              <a:t> z1 (c1 </a:t>
            </a:r>
            <a:r>
              <a:rPr lang="en-IN" sz="2100" dirty="0">
                <a:solidFill>
                  <a:srgbClr val="834689"/>
                </a:solidFill>
                <a:latin typeface="Liberation Mono"/>
                <a:cs typeface="Arial" panose="020B0604020202020204" pitchFamily="34" charset="0"/>
              </a:rPr>
              <a:t>INT</a:t>
            </a:r>
            <a:r>
              <a:rPr lang="en-IN" sz="2100" dirty="0">
                <a:latin typeface="Liberation Mono"/>
              </a:rPr>
              <a:t>(4) </a:t>
            </a:r>
            <a:r>
              <a:rPr lang="en-IN" sz="2100" dirty="0">
                <a:solidFill>
                  <a:srgbClr val="006699"/>
                </a:solidFill>
                <a:latin typeface="Liberation Mono"/>
              </a:rPr>
              <a:t>ZEROFILL</a:t>
            </a:r>
            <a:r>
              <a:rPr lang="en-IN" sz="2100" dirty="0">
                <a:latin typeface="Liberation Mono"/>
              </a:rPr>
              <a:t>);</a:t>
            </a:r>
          </a:p>
        </p:txBody>
      </p:sp>
      <p:sp>
        <p:nvSpPr>
          <p:cNvPr id="9" name="TextBox 8">
            <a:extLst>
              <a:ext uri="{FF2B5EF4-FFF2-40B4-BE49-F238E27FC236}">
                <a16:creationId xmlns:a16="http://schemas.microsoft.com/office/drawing/2014/main" id="{DF72FD2E-F311-E655-AF6F-CD2E3AECFE32}"/>
              </a:ext>
            </a:extLst>
          </p:cNvPr>
          <p:cNvSpPr txBox="1"/>
          <p:nvPr/>
        </p:nvSpPr>
        <p:spPr>
          <a:xfrm>
            <a:off x="6888088" y="6055336"/>
            <a:ext cx="5184576" cy="430887"/>
          </a:xfrm>
          <a:prstGeom prst="rect">
            <a:avLst/>
          </a:prstGeom>
          <a:noFill/>
        </p:spPr>
        <p:txBody>
          <a:bodyPr wrap="square">
            <a:spAutoFit/>
          </a:bodyPr>
          <a:lstStyle/>
          <a:p>
            <a:r>
              <a:rPr lang="en-IN" sz="2200" i="1" dirty="0">
                <a:solidFill>
                  <a:srgbClr val="816105"/>
                </a:solidFill>
                <a:latin typeface="Palatino Linotype" panose="02040502050505030304" pitchFamily="18" charset="0"/>
              </a:rPr>
              <a:t>TINYINT(1)  [ "TRUE" = 1 "FALSE" = 0 ]</a:t>
            </a:r>
          </a:p>
        </p:txBody>
      </p:sp>
    </p:spTree>
    <p:extLst>
      <p:ext uri="{BB962C8B-B14F-4D97-AF65-F5344CB8AC3E}">
        <p14:creationId xmlns:p14="http://schemas.microsoft.com/office/powerpoint/2010/main" val="4115937609"/>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date and time</a:t>
            </a:r>
          </a:p>
        </p:txBody>
      </p:sp>
      <p:graphicFrame>
        <p:nvGraphicFramePr>
          <p:cNvPr id="2" name="Table 1"/>
          <p:cNvGraphicFramePr>
            <a:graphicFrameLocks noGrp="1"/>
          </p:cNvGraphicFramePr>
          <p:nvPr>
            <p:extLst>
              <p:ext uri="{D42A27DB-BD31-4B8C-83A1-F6EECF244321}">
                <p14:modId xmlns:p14="http://schemas.microsoft.com/office/powerpoint/2010/main" val="3883403326"/>
              </p:ext>
            </p:extLst>
          </p:nvPr>
        </p:nvGraphicFramePr>
        <p:xfrm>
          <a:off x="1166778" y="764704"/>
          <a:ext cx="10215634" cy="1854200"/>
        </p:xfrm>
        <a:graphic>
          <a:graphicData uri="http://schemas.openxmlformats.org/drawingml/2006/table">
            <a:tbl>
              <a:tblPr firstRow="1" bandRow="1">
                <a:tableStyleId>{7E9639D4-E3E2-4D34-9284-5A2195B3D0D7}</a:tableStyleId>
              </a:tblPr>
              <a:tblGrid>
                <a:gridCol w="3346501">
                  <a:extLst>
                    <a:ext uri="{9D8B030D-6E8A-4147-A177-3AD203B41FA5}">
                      <a16:colId xmlns:a16="http://schemas.microsoft.com/office/drawing/2014/main" val="20000"/>
                    </a:ext>
                  </a:extLst>
                </a:gridCol>
                <a:gridCol w="2158785">
                  <a:extLst>
                    <a:ext uri="{9D8B030D-6E8A-4147-A177-3AD203B41FA5}">
                      <a16:colId xmlns:a16="http://schemas.microsoft.com/office/drawing/2014/main" val="20001"/>
                    </a:ext>
                  </a:extLst>
                </a:gridCol>
                <a:gridCol w="4710348">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YEAR</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lang="en-US" sz="1800" dirty="0">
                          <a:solidFill>
                            <a:schemeClr val="tx1"/>
                          </a:solidFill>
                          <a:latin typeface="Arial" panose="020B0604020202020204" pitchFamily="34" charset="0"/>
                          <a:cs typeface="Arial" panose="020B0604020202020204" pitchFamily="34" charset="0"/>
                        </a:rPr>
                        <a:t>YYYY </a:t>
                      </a:r>
                      <a:r>
                        <a:rPr lang="en-US" sz="1800" b="1" i="1" dirty="0">
                          <a:solidFill>
                            <a:schemeClr val="tx1"/>
                          </a:solidFill>
                          <a:latin typeface="Arial" panose="020B0604020202020204" pitchFamily="34" charset="0"/>
                          <a:cs typeface="Arial" panose="020B0604020202020204" pitchFamily="34" charset="0"/>
                        </a:rPr>
                        <a:t>(</a:t>
                      </a:r>
                      <a:r>
                        <a:rPr lang="en-IN" sz="1800" b="1" i="1" dirty="0"/>
                        <a:t>1901 to 2155</a:t>
                      </a:r>
                      <a:r>
                        <a:rPr lang="en-US" sz="1800" b="1" i="1" dirty="0">
                          <a:solidFill>
                            <a:schemeClr val="tx1"/>
                          </a:solidFill>
                          <a:latin typeface="Arial" panose="020B0604020202020204" pitchFamily="34" charset="0"/>
                          <a:cs typeface="Arial" panose="020B0604020202020204" pitchFamily="34" charset="0"/>
                        </a:rPr>
                        <a:t>)</a:t>
                      </a:r>
                      <a:endParaRPr lang="en-IN" sz="1800" b="1" i="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DATE</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a:t>
                      </a:r>
                      <a:r>
                        <a:rPr kumimoji="0" lang="en-IN" sz="1800" b="1" i="1" kern="1200" dirty="0">
                          <a:solidFill>
                            <a:schemeClr val="tx1"/>
                          </a:solidFill>
                          <a:latin typeface="+mn-lt"/>
                          <a:ea typeface="+mn-ea"/>
                          <a:cs typeface="+mn-cs"/>
                        </a:rPr>
                        <a:t>(1000-01-01 to 9999-12-31)</a:t>
                      </a: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TIME</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HH:MM:SS</a:t>
                      </a:r>
                      <a:endParaRPr lang="en-IN" sz="18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DATETIME</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hh:mm:ss</a:t>
                      </a:r>
                      <a:endParaRPr lang="en-IN" sz="18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290372466"/>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boolean</a:t>
            </a:r>
          </a:p>
        </p:txBody>
      </p:sp>
      <p:sp>
        <p:nvSpPr>
          <p:cNvPr id="6" name="Rectangle 5">
            <a:extLst>
              <a:ext uri="{FF2B5EF4-FFF2-40B4-BE49-F238E27FC236}">
                <a16:creationId xmlns:a16="http://schemas.microsoft.com/office/drawing/2014/main" id="{9563DDE0-9904-46E2-A0FD-B8F039ACF73F}"/>
              </a:ext>
            </a:extLst>
          </p:cNvPr>
          <p:cNvSpPr/>
          <p:nvPr/>
        </p:nvSpPr>
        <p:spPr>
          <a:xfrm>
            <a:off x="407368" y="5805264"/>
            <a:ext cx="8991600" cy="861774"/>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a:t>
            </a:r>
            <a:r>
              <a:rPr lang="en-IN" b="1" dirty="0">
                <a:latin typeface="Arial" panose="020B0604020202020204" pitchFamily="34" charset="0"/>
                <a:cs typeface="Arial" panose="020B0604020202020204" pitchFamily="34" charset="0"/>
              </a:rPr>
              <a:t>synonym of TINYINT(1)</a:t>
            </a:r>
          </a:p>
        </p:txBody>
      </p:sp>
      <p:sp>
        <p:nvSpPr>
          <p:cNvPr id="7" name="Rectangle 6">
            <a:extLst>
              <a:ext uri="{FF2B5EF4-FFF2-40B4-BE49-F238E27FC236}">
                <a16:creationId xmlns:a16="http://schemas.microsoft.com/office/drawing/2014/main" id="{E0F964AD-2B77-4905-BBD9-A6DEDC4F8B0B}"/>
              </a:ext>
            </a:extLst>
          </p:cNvPr>
          <p:cNvSpPr/>
          <p:nvPr/>
        </p:nvSpPr>
        <p:spPr>
          <a:xfrm>
            <a:off x="407368" y="1207779"/>
            <a:ext cx="8915400" cy="400110"/>
          </a:xfrm>
          <a:prstGeom prst="rect">
            <a:avLst/>
          </a:prstGeom>
        </p:spPr>
        <p:txBody>
          <a:bodyPr wrap="square">
            <a:spAutoFit/>
          </a:bodyPr>
          <a:lstStyle/>
          <a:p>
            <a:r>
              <a:rPr lang="en-IN" sz="2000" dirty="0">
                <a:latin typeface="Liberation Mono"/>
                <a:ea typeface="Times New Roman" panose="02020603050405020304" pitchFamily="18" charset="0"/>
              </a:rPr>
              <a:t>ColumnName</a:t>
            </a:r>
            <a:r>
              <a:rPr lang="en-IN" sz="2000" dirty="0">
                <a:solidFill>
                  <a:srgbClr val="0077AA"/>
                </a:solidFill>
                <a:latin typeface="Liberation Mono"/>
                <a:ea typeface="Times New Roman" panose="02020603050405020304" pitchFamily="18" charset="0"/>
              </a:rPr>
              <a:t> </a:t>
            </a:r>
            <a:r>
              <a:rPr lang="en-IN" sz="2000" dirty="0">
                <a:solidFill>
                  <a:srgbClr val="834689"/>
                </a:solidFill>
                <a:latin typeface="Liberation Mono"/>
                <a:cs typeface="Arial" panose="020B0604020202020204" pitchFamily="34" charset="0"/>
              </a:rPr>
              <a:t>BOOLEAN</a:t>
            </a:r>
            <a:endParaRPr lang="en-IN" sz="2000"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91C9B24-6C27-4EB3-B71B-D18E5E3FE075}"/>
              </a:ext>
            </a:extLst>
          </p:cNvPr>
          <p:cNvSpPr/>
          <p:nvPr/>
        </p:nvSpPr>
        <p:spPr>
          <a:xfrm>
            <a:off x="407368" y="1783844"/>
            <a:ext cx="11305256" cy="4093428"/>
          </a:xfrm>
          <a:prstGeom prst="rect">
            <a:avLst/>
          </a:prstGeom>
        </p:spPr>
        <p:txBody>
          <a:bodyPr wrap="square">
            <a:spAutoFit/>
          </a:bodyPr>
          <a:lstStyle/>
          <a:p>
            <a:r>
              <a:rPr lang="en-IN" dirty="0">
                <a:solidFill>
                  <a:srgbClr val="006699"/>
                </a:solidFill>
                <a:latin typeface="Liberation Mono"/>
              </a:rPr>
              <a:t>CREATE</a:t>
            </a:r>
            <a:r>
              <a:rPr lang="en-IN" dirty="0">
                <a:latin typeface="Liberation Mono"/>
                <a:cs typeface="Arial" panose="020B0604020202020204" pitchFamily="34" charset="0"/>
              </a:rPr>
              <a:t> </a:t>
            </a:r>
            <a:r>
              <a:rPr lang="en-IN" dirty="0">
                <a:solidFill>
                  <a:srgbClr val="006699"/>
                </a:solidFill>
                <a:latin typeface="Liberation Mono"/>
              </a:rPr>
              <a:t>TABLE</a:t>
            </a:r>
            <a:r>
              <a:rPr lang="en-IN" dirty="0">
                <a:latin typeface="Liberation Mono"/>
                <a:cs typeface="Arial" panose="020B0604020202020204" pitchFamily="34" charset="0"/>
              </a:rPr>
              <a:t> tasks (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2658E6"/>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255)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completed </a:t>
            </a:r>
            <a:r>
              <a:rPr lang="en-IN" dirty="0">
                <a:solidFill>
                  <a:srgbClr val="834689"/>
                </a:solidFill>
                <a:latin typeface="Liberation Mono"/>
                <a:cs typeface="Arial" panose="020B0604020202020204" pitchFamily="34" charset="0"/>
              </a:rPr>
              <a:t>BOOLEAN</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'Task3'</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'Task4'</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'Task5'</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'Task6'</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'Task7’</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&gt;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'Task8’</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&lt;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'Task9'</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'Task10'</a:t>
            </a:r>
            <a:r>
              <a:rPr lang="en-IN" dirty="0">
                <a:latin typeface="Liberation Mono"/>
                <a:cs typeface="Arial" panose="020B0604020202020204" pitchFamily="34" charset="0"/>
              </a:rPr>
              <a:t>, </a:t>
            </a:r>
            <a:r>
              <a:rPr lang="en-IN" dirty="0">
                <a:solidFill>
                  <a:srgbClr val="990055"/>
                </a:solidFill>
                <a:latin typeface="Liberation Mono"/>
              </a:rPr>
              <a:t>58</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'Task11'</a:t>
            </a:r>
            <a:r>
              <a:rPr lang="en-IN" dirty="0">
                <a:latin typeface="Liberation Mono"/>
                <a:cs typeface="Arial" panose="020B0604020202020204" pitchFamily="34" charset="0"/>
              </a:rPr>
              <a:t>, </a:t>
            </a:r>
            <a:r>
              <a:rPr lang="en-IN" dirty="0">
                <a:solidFill>
                  <a:srgbClr val="990055"/>
                </a:solidFill>
                <a:latin typeface="Liberation Mono"/>
              </a:rPr>
              <a:t>.75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'Task12'</a:t>
            </a:r>
            <a:r>
              <a:rPr lang="en-IN" dirty="0">
                <a:latin typeface="Liberation Mono"/>
                <a:cs typeface="Arial" panose="020B0604020202020204" pitchFamily="34" charset="0"/>
              </a:rPr>
              <a:t>, </a:t>
            </a:r>
            <a:r>
              <a:rPr lang="en-IN" dirty="0">
                <a:solidFill>
                  <a:srgbClr val="990055"/>
                </a:solidFill>
                <a:latin typeface="Liberation Mono"/>
              </a:rPr>
              <a:t>.15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'Task13'</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B1F63653-0FB8-DF6F-1BC3-0D77999011D8}"/>
              </a:ext>
            </a:extLst>
          </p:cNvPr>
          <p:cNvSpPr/>
          <p:nvPr/>
        </p:nvSpPr>
        <p:spPr>
          <a:xfrm>
            <a:off x="119336" y="137290"/>
            <a:ext cx="6776799" cy="830997"/>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rgbClr val="2658E6"/>
                </a:solidFill>
                <a:latin typeface="Liberation Mono"/>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rgbClr val="2658E6"/>
                </a:solidFill>
                <a:latin typeface="Liberation Mono"/>
              </a:rPr>
              <a:t>true</a:t>
            </a:r>
            <a:r>
              <a:rPr lang="en-IN" sz="2400" dirty="0">
                <a:latin typeface="Liberation Mono"/>
              </a:rPr>
              <a:t>.</a:t>
            </a:r>
          </a:p>
        </p:txBody>
      </p:sp>
      <p:sp>
        <p:nvSpPr>
          <p:cNvPr id="5" name="TextBox 4">
            <a:extLst>
              <a:ext uri="{FF2B5EF4-FFF2-40B4-BE49-F238E27FC236}">
                <a16:creationId xmlns:a16="http://schemas.microsoft.com/office/drawing/2014/main" id="{1BCE65DD-5AC9-DF63-47D3-40244A4A5C1B}"/>
              </a:ext>
            </a:extLst>
          </p:cNvPr>
          <p:cNvSpPr txBox="1"/>
          <p:nvPr/>
        </p:nvSpPr>
        <p:spPr>
          <a:xfrm>
            <a:off x="6059996" y="2717335"/>
            <a:ext cx="6048672" cy="236988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latin typeface="Liberation Mono"/>
            </a:endParaRPr>
          </a:p>
          <a:p>
            <a:r>
              <a:rPr lang="en-IN" sz="2000" b="1" dirty="0">
                <a:latin typeface="Liberation Mono"/>
              </a:rPr>
              <a:t>MySQL performs type conversion when comparing values of different types.</a:t>
            </a:r>
          </a:p>
          <a:p>
            <a:endParaRPr lang="en-IN" dirty="0">
              <a:latin typeface="Liberation Mono"/>
            </a:endParaRPr>
          </a:p>
          <a:p>
            <a:pPr marL="285750" indent="-285750">
              <a:buFont typeface="Arial" panose="020B0604020202020204" pitchFamily="34" charset="0"/>
              <a:buChar char="•"/>
            </a:pPr>
            <a:r>
              <a:rPr lang="en-IN" dirty="0">
                <a:latin typeface="Liberation Mono"/>
              </a:rPr>
              <a:t>'b' is a string. When compared to a number (0), MySQL converts the string to a number.</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'b' → numeric conversion = 0 (since it’s not a valid number).</a:t>
            </a:r>
          </a:p>
        </p:txBody>
      </p:sp>
    </p:spTree>
    <p:extLst>
      <p:ext uri="{BB962C8B-B14F-4D97-AF65-F5344CB8AC3E}">
        <p14:creationId xmlns:p14="http://schemas.microsoft.com/office/powerpoint/2010/main" val="2085657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2" grpId="0"/>
      <p:bldP spid="5" grpId="0"/>
    </p:bldLst>
  </p:timing>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5" name="Rectangle 4"/>
          <p:cNvSpPr/>
          <p:nvPr/>
        </p:nvSpPr>
        <p:spPr>
          <a:xfrm>
            <a:off x="407368" y="2348880"/>
            <a:ext cx="11377264"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990055"/>
                </a:solidFill>
                <a:latin typeface="Liberation Mono"/>
              </a:rPr>
              <a:t>1</a:t>
            </a:r>
            <a:r>
              <a:rPr lang="en-IN" dirty="0">
                <a:solidFill>
                  <a:schemeClr val="bg1">
                    <a:lumMod val="50000"/>
                  </a:schemeClr>
                </a:solidFill>
                <a:latin typeface="Liberation Mono"/>
              </a:rPr>
              <a:t>)</a:t>
            </a:r>
            <a:r>
              <a:rPr lang="en-IN" dirty="0">
                <a:latin typeface="Liberation Mono"/>
              </a:rPr>
              <a:t>;</a:t>
            </a: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First element from the ENUM datatype</a:t>
            </a:r>
            <a:endParaRPr lang="en-IN" dirty="0">
              <a:latin typeface="Liberation Mono"/>
              <a:cs typeface="Arial" panose="020B0604020202020204" pitchFamily="34" charset="0"/>
            </a:endParaRP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1,'This is the test'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endParaRPr lang="en-IN" dirty="0">
              <a:latin typeface="Liberation Mono"/>
              <a:cs typeface="Arial" panose="020B0604020202020204" pitchFamily="34" charset="0"/>
            </a:endParaRPr>
          </a:p>
        </p:txBody>
      </p:sp>
      <p:sp>
        <p:nvSpPr>
          <p:cNvPr id="3" name="Rectangle 2"/>
          <p:cNvSpPr/>
          <p:nvPr/>
        </p:nvSpPr>
        <p:spPr>
          <a:xfrm>
            <a:off x="407368" y="167823"/>
            <a:ext cx="11593288" cy="21698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ENUM column can have a maximum of </a:t>
            </a:r>
            <a:r>
              <a:rPr lang="en-IN" b="1" dirty="0">
                <a:latin typeface="Arial" panose="020B0604020202020204" pitchFamily="34" charset="0"/>
                <a:cs typeface="Arial" panose="020B0604020202020204" pitchFamily="34" charset="0"/>
              </a:rPr>
              <a:t>65,535</a:t>
            </a:r>
            <a:r>
              <a:rPr lang="en-IN"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Each ENUM value is stored as a number internally, starting from 1.</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ENUM values are sorted based on their index numbers, which depend on the order in which the enumeration members were listed in the column specification.</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value, NULL if the column can be NULL, first enumeration value if NOT NULL</a:t>
            </a:r>
          </a:p>
        </p:txBody>
      </p:sp>
      <p:sp>
        <p:nvSpPr>
          <p:cNvPr id="11" name="Rectangle 10">
            <a:extLst>
              <a:ext uri="{FF2B5EF4-FFF2-40B4-BE49-F238E27FC236}">
                <a16:creationId xmlns:a16="http://schemas.microsoft.com/office/drawing/2014/main" id="{15EBBF6E-40A4-471A-B684-B72542F94488}"/>
              </a:ext>
            </a:extLst>
          </p:cNvPr>
          <p:cNvSpPr/>
          <p:nvPr/>
        </p:nvSpPr>
        <p:spPr>
          <a:xfrm>
            <a:off x="263352" y="5633372"/>
            <a:ext cx="11737304"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MySQL maps [ </a:t>
            </a:r>
            <a:r>
              <a:rPr lang="en-US" dirty="0">
                <a:latin typeface="Arial" panose="020B0604020202020204" pitchFamily="34" charset="0"/>
                <a:cs typeface="Arial" panose="020B0604020202020204" pitchFamily="34" charset="0"/>
              </a:rPr>
              <a:t>membership </a:t>
            </a:r>
            <a:r>
              <a:rPr lang="en-US" dirty="0">
                <a:solidFill>
                  <a:srgbClr val="834689"/>
                </a:solidFill>
                <a:latin typeface="Arial" panose="020B0604020202020204" pitchFamily="34" charset="0"/>
                <a:cs typeface="Arial" panose="020B0604020202020204" pitchFamily="34" charset="0"/>
              </a:rPr>
              <a:t>ENUM</a:t>
            </a:r>
            <a:r>
              <a:rPr lang="en-US" dirty="0">
                <a:latin typeface="Arial" panose="020B0604020202020204" pitchFamily="34" charset="0"/>
                <a:cs typeface="Arial" panose="020B0604020202020204" pitchFamily="34" charset="0"/>
              </a:rPr>
              <a:t>(</a:t>
            </a:r>
            <a:r>
              <a:rPr lang="en-US" dirty="0">
                <a:solidFill>
                  <a:srgbClr val="669900"/>
                </a:solidFill>
                <a:latin typeface="Arial" panose="020B0604020202020204" pitchFamily="34" charset="0"/>
                <a:cs typeface="Arial" panose="020B0604020202020204" pitchFamily="34" charset="0"/>
              </a:rPr>
              <a:t>'Silver'</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'Gold'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'Diamond'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'Platinum'</a:t>
            </a:r>
            <a:r>
              <a:rPr lang="en-US" dirty="0">
                <a:latin typeface="Arial" panose="020B0604020202020204" pitchFamily="34" charset="0"/>
                <a:cs typeface="Arial" panose="020B0604020202020204" pitchFamily="34" charset="0"/>
              </a:rPr>
              <a:t>) ] </a:t>
            </a:r>
            <a:r>
              <a:rPr lang="en-IN" dirty="0">
                <a:latin typeface="Arial" panose="020B0604020202020204" pitchFamily="34" charset="0"/>
                <a:cs typeface="Arial" panose="020B0604020202020204" pitchFamily="34" charset="0"/>
              </a:rPr>
              <a:t>these enumeration member to a numeric index where </a:t>
            </a:r>
            <a:r>
              <a:rPr lang="en-US" dirty="0">
                <a:latin typeface="Arial" panose="020B0604020202020204" pitchFamily="34" charset="0"/>
                <a:cs typeface="Arial" panose="020B0604020202020204" pitchFamily="34" charset="0"/>
              </a:rPr>
              <a:t>Silver=1, Gold=2, Diamond=3, Platinum=4 respectively.</a:t>
            </a:r>
            <a:endParaRPr lang="en-IN"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2AF4014E-388F-1DDF-EB80-425EEDA638F8}"/>
              </a:ext>
            </a:extLst>
          </p:cNvPr>
          <p:cNvSpPr txBox="1"/>
          <p:nvPr/>
        </p:nvSpPr>
        <p:spPr>
          <a:xfrm>
            <a:off x="426296" y="4823861"/>
            <a:ext cx="11214320" cy="73866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'C'</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Valid default value for 'COL2'</a:t>
            </a:r>
            <a:endParaRPr lang="en-IN"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'D'</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Invalid default value for 'COL2'</a:t>
            </a:r>
            <a:endParaRPr lang="en-IN" dirty="0">
              <a:solidFill>
                <a:srgbClr val="00B050"/>
              </a:solidFill>
              <a:latin typeface="Liberation Mono"/>
              <a:cs typeface="Arial" panose="020B0604020202020204" pitchFamily="34" charset="0"/>
            </a:endParaRPr>
          </a:p>
        </p:txBody>
      </p:sp>
    </p:spTree>
    <p:extLst>
      <p:ext uri="{BB962C8B-B14F-4D97-AF65-F5344CB8AC3E}">
        <p14:creationId xmlns:p14="http://schemas.microsoft.com/office/powerpoint/2010/main" val="1782763964"/>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6" name="Rectangle 5"/>
          <p:cNvSpPr/>
          <p:nvPr/>
        </p:nvSpPr>
        <p:spPr>
          <a:xfrm>
            <a:off x="263352" y="5085184"/>
            <a:ext cx="11737304" cy="1446550"/>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dirty="0">
              <a:latin typeface="Arial" panose="020B0604020202020204" pitchFamily="34" charset="0"/>
              <a:cs typeface="Arial" panose="020B0604020202020204" pitchFamily="34" charset="0"/>
            </a:endParaRP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cannot use user variable as an enumeration value. This pair of statements do not work:</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r>
              <a:rPr lang="en-IN" dirty="0">
                <a:solidFill>
                  <a:srgbClr val="0077AA"/>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@mysize </a:t>
            </a:r>
            <a:r>
              <a:rPr lang="en-IN"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'medium'</a:t>
            </a:r>
            <a:r>
              <a:rPr lang="en-IN" dirty="0">
                <a:latin typeface="Arial" panose="020B0604020202020204" pitchFamily="34" charset="0"/>
                <a:cs typeface="Arial" panose="020B0604020202020204" pitchFamily="34" charset="0"/>
              </a:rPr>
              <a:t>;</a:t>
            </a:r>
          </a:p>
          <a:p>
            <a:r>
              <a:rPr lang="en-IN" dirty="0">
                <a:solidFill>
                  <a:srgbClr val="0077AA"/>
                </a:solidFill>
                <a:latin typeface="Arial" panose="020B0604020202020204" pitchFamily="34" charset="0"/>
                <a:cs typeface="Arial" panose="020B0604020202020204" pitchFamily="34" charset="0"/>
              </a:rPr>
              <a:t>CREATE</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TABLE</a:t>
            </a:r>
            <a:r>
              <a:rPr lang="en-IN" dirty="0">
                <a:latin typeface="Arial" panose="020B0604020202020204" pitchFamily="34" charset="0"/>
                <a:cs typeface="Arial" panose="020B0604020202020204" pitchFamily="34" charset="0"/>
              </a:rPr>
              <a:t> sizes ( size </a:t>
            </a:r>
            <a:r>
              <a:rPr lang="en-IN" dirty="0">
                <a:solidFill>
                  <a:srgbClr val="834689"/>
                </a:solidFill>
                <a:latin typeface="Arial" panose="020B0604020202020204" pitchFamily="34" charset="0"/>
                <a:cs typeface="Arial" panose="020B0604020202020204" pitchFamily="34" charset="0"/>
              </a:rPr>
              <a:t>ENUM</a:t>
            </a:r>
            <a:r>
              <a:rPr lang="en-IN" dirty="0">
                <a:latin typeface="Arial" panose="020B0604020202020204" pitchFamily="34" charset="0"/>
                <a:cs typeface="Arial" panose="020B0604020202020204" pitchFamily="34" charset="0"/>
              </a:rPr>
              <a:t>(</a:t>
            </a:r>
            <a:r>
              <a:rPr lang="en-IN" dirty="0">
                <a:solidFill>
                  <a:srgbClr val="669900"/>
                </a:solidFill>
                <a:latin typeface="Arial" panose="020B0604020202020204" pitchFamily="34" charset="0"/>
                <a:cs typeface="Arial" panose="020B0604020202020204" pitchFamily="34" charset="0"/>
              </a:rPr>
              <a:t>'small'</a:t>
            </a:r>
            <a:r>
              <a:rPr lang="en-IN" dirty="0">
                <a:latin typeface="Arial" panose="020B0604020202020204" pitchFamily="34" charset="0"/>
                <a:cs typeface="Arial" panose="020B0604020202020204" pitchFamily="34" charset="0"/>
              </a:rPr>
              <a:t>, @mysize, </a:t>
            </a:r>
            <a:r>
              <a:rPr lang="en-IN" dirty="0">
                <a:solidFill>
                  <a:srgbClr val="669900"/>
                </a:solidFill>
                <a:latin typeface="Arial" panose="020B0604020202020204" pitchFamily="34" charset="0"/>
                <a:cs typeface="Arial" panose="020B0604020202020204" pitchFamily="34" charset="0"/>
              </a:rPr>
              <a:t>'large'</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error</a:t>
            </a:r>
            <a:endParaRPr lang="en-IN" dirty="0">
              <a:latin typeface="Arial" panose="020B0604020202020204" pitchFamily="34" charset="0"/>
              <a:cs typeface="Arial" panose="020B0604020202020204" pitchFamily="34" charset="0"/>
            </a:endParaRPr>
          </a:p>
        </p:txBody>
      </p:sp>
      <p:sp>
        <p:nvSpPr>
          <p:cNvPr id="3" name="Rectangle 2"/>
          <p:cNvSpPr/>
          <p:nvPr/>
        </p:nvSpPr>
        <p:spPr>
          <a:xfrm>
            <a:off x="407368" y="167823"/>
            <a:ext cx="6768752" cy="677108"/>
          </a:xfrm>
          <a:prstGeom prst="rect">
            <a:avLst/>
          </a:prstGeom>
        </p:spPr>
        <p:txBody>
          <a:bodyPr wrap="square">
            <a:spAutoFit/>
          </a:bodyPr>
          <a:lstStyle/>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An ENUM column can have a maximum of </a:t>
            </a:r>
            <a:r>
              <a:rPr lang="en-IN" sz="1600" b="1" dirty="0">
                <a:solidFill>
                  <a:srgbClr val="C00000"/>
                </a:solidFill>
                <a:latin typeface="Arial" panose="020B0604020202020204" pitchFamily="34" charset="0"/>
                <a:cs typeface="Arial" panose="020B0604020202020204" pitchFamily="34" charset="0"/>
              </a:rPr>
              <a:t>65,535</a:t>
            </a:r>
            <a:r>
              <a:rPr lang="en-IN" sz="1600"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You can use </a:t>
            </a:r>
            <a:r>
              <a:rPr lang="en-US" sz="1600" b="1" dirty="0">
                <a:solidFill>
                  <a:srgbClr val="C00000"/>
                </a:solidFill>
                <a:latin typeface="Arial" panose="020B0604020202020204" pitchFamily="34" charset="0"/>
                <a:cs typeface="Arial" panose="020B0604020202020204" pitchFamily="34" charset="0"/>
              </a:rPr>
              <a:t>membership</a:t>
            </a:r>
            <a:r>
              <a:rPr lang="en-IN" sz="1600" b="1" dirty="0">
                <a:solidFill>
                  <a:srgbClr val="C00000"/>
                </a:solidFill>
                <a:latin typeface="Arial" panose="020B0604020202020204" pitchFamily="34" charset="0"/>
                <a:cs typeface="Arial" panose="020B0604020202020204" pitchFamily="34" charset="0"/>
              </a:rPr>
              <a:t> + 0 </a:t>
            </a:r>
            <a:r>
              <a:rPr lang="en-IN" sz="1600" dirty="0">
                <a:latin typeface="Arial" panose="020B0604020202020204" pitchFamily="34" charset="0"/>
                <a:cs typeface="Arial" panose="020B0604020202020204" pitchFamily="34" charset="0"/>
              </a:rPr>
              <a:t>to get the index value if needed.</a:t>
            </a:r>
          </a:p>
        </p:txBody>
      </p:sp>
      <p:sp>
        <p:nvSpPr>
          <p:cNvPr id="9" name="TextBox 8">
            <a:extLst>
              <a:ext uri="{FF2B5EF4-FFF2-40B4-BE49-F238E27FC236}">
                <a16:creationId xmlns:a16="http://schemas.microsoft.com/office/drawing/2014/main" id="{549925E8-1349-403A-9FBE-F89F237517A5}"/>
              </a:ext>
            </a:extLst>
          </p:cNvPr>
          <p:cNvSpPr txBox="1"/>
          <p:nvPr/>
        </p:nvSpPr>
        <p:spPr>
          <a:xfrm>
            <a:off x="191344" y="1163067"/>
            <a:ext cx="11809312" cy="2739211"/>
          </a:xfrm>
          <a:prstGeom prst="rect">
            <a:avLst/>
          </a:prstGeom>
          <a:noFill/>
        </p:spPr>
        <p:txBody>
          <a:bodyPr wrap="square">
            <a:spAutoFit/>
          </a:bodyPr>
          <a:lstStyle/>
          <a:p>
            <a:r>
              <a:rPr lang="en-US" dirty="0">
                <a:latin typeface="Liberation Mono"/>
              </a:rPr>
              <a:t>size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'small'</a:t>
            </a:r>
            <a:r>
              <a:rPr lang="en-US" dirty="0">
                <a:latin typeface="Liberation Mono"/>
              </a:rPr>
              <a:t>, </a:t>
            </a:r>
            <a:r>
              <a:rPr lang="en-US" dirty="0">
                <a:solidFill>
                  <a:srgbClr val="669900"/>
                </a:solidFill>
                <a:latin typeface="Liberation Mono"/>
              </a:rPr>
              <a:t>'medium'</a:t>
            </a:r>
            <a:r>
              <a:rPr lang="en-US" dirty="0">
                <a:latin typeface="Liberation Mono"/>
              </a:rPr>
              <a:t>, </a:t>
            </a:r>
            <a:r>
              <a:rPr lang="en-US" dirty="0">
                <a:solidFill>
                  <a:srgbClr val="669900"/>
                </a:solidFill>
                <a:latin typeface="Liberation Mono"/>
              </a:rPr>
              <a:t>'large'</a:t>
            </a:r>
            <a:r>
              <a:rPr lang="en-US" dirty="0">
                <a:latin typeface="Liberation Mono"/>
              </a:rPr>
              <a:t>, </a:t>
            </a:r>
            <a:r>
              <a:rPr lang="en-US" dirty="0">
                <a:solidFill>
                  <a:srgbClr val="669900"/>
                </a:solidFill>
                <a:latin typeface="Liberation Mono"/>
              </a:rPr>
              <a:t>'x-large'</a:t>
            </a:r>
            <a:r>
              <a:rPr lang="en-US" dirty="0">
                <a:solidFill>
                  <a:schemeClr val="bg1">
                    <a:lumMod val="50000"/>
                  </a:schemeClr>
                </a:solidFill>
                <a:latin typeface="Liberation Mono"/>
              </a:rPr>
              <a:t>)</a:t>
            </a:r>
            <a:endParaRPr lang="en-IN" dirty="0">
              <a:solidFill>
                <a:schemeClr val="bg1">
                  <a:lumMod val="50000"/>
                </a:schemeClr>
              </a:solidFill>
              <a:latin typeface="Liberation Mono"/>
            </a:endParaRPr>
          </a:p>
          <a:p>
            <a:endParaRPr lang="en-US" sz="400" dirty="0">
              <a:latin typeface="Liberation Mono"/>
            </a:endParaRPr>
          </a:p>
          <a:p>
            <a:r>
              <a:rPr lang="en-US" dirty="0">
                <a:latin typeface="Liberation Mono"/>
              </a:rPr>
              <a:t>membership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'Silver'</a:t>
            </a:r>
            <a:r>
              <a:rPr lang="en-US" dirty="0">
                <a:latin typeface="Liberation Mono"/>
              </a:rPr>
              <a:t>, </a:t>
            </a:r>
            <a:r>
              <a:rPr lang="en-US" dirty="0">
                <a:solidFill>
                  <a:srgbClr val="669900"/>
                </a:solidFill>
                <a:latin typeface="Liberation Mono"/>
              </a:rPr>
              <a:t>'Gold'</a:t>
            </a:r>
            <a:r>
              <a:rPr lang="en-US" dirty="0">
                <a:latin typeface="Liberation Mono"/>
              </a:rPr>
              <a:t>, </a:t>
            </a:r>
            <a:r>
              <a:rPr lang="en-US" dirty="0">
                <a:solidFill>
                  <a:srgbClr val="669900"/>
                </a:solidFill>
                <a:latin typeface="Liberation Mono"/>
              </a:rPr>
              <a:t>'Diamond'</a:t>
            </a:r>
            <a:r>
              <a:rPr lang="en-US" dirty="0">
                <a:latin typeface="Liberation Mono"/>
              </a:rPr>
              <a:t>, </a:t>
            </a:r>
            <a:r>
              <a:rPr lang="en-US" dirty="0">
                <a:solidFill>
                  <a:srgbClr val="669900"/>
                </a:solidFill>
                <a:latin typeface="Liberation Mono"/>
              </a:rPr>
              <a:t>'Platinum'</a:t>
            </a:r>
            <a:r>
              <a:rPr lang="en-US" dirty="0">
                <a:solidFill>
                  <a:schemeClr val="bg1">
                    <a:lumMod val="50000"/>
                  </a:schemeClr>
                </a:solidFill>
                <a:latin typeface="Liberation Mono"/>
              </a:rPr>
              <a:t>)</a:t>
            </a:r>
          </a:p>
          <a:p>
            <a:endParaRPr lang="en-US" sz="400" dirty="0">
              <a:latin typeface="Liberation Mono"/>
            </a:endParaRPr>
          </a:p>
          <a:p>
            <a:r>
              <a:rPr lang="en-IN" dirty="0">
                <a:latin typeface="Liberation Mono"/>
              </a:rPr>
              <a:t>interest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669900"/>
                </a:solidFill>
                <a:latin typeface="Liberation Mono"/>
              </a:rPr>
              <a:t>'Movie'</a:t>
            </a:r>
            <a:r>
              <a:rPr lang="en-IN" dirty="0">
                <a:latin typeface="Liberation Mono"/>
              </a:rPr>
              <a:t>, </a:t>
            </a:r>
            <a:r>
              <a:rPr lang="en-IN" dirty="0">
                <a:solidFill>
                  <a:srgbClr val="669900"/>
                </a:solidFill>
                <a:latin typeface="Liberation Mono"/>
              </a:rPr>
              <a:t>'Music'</a:t>
            </a:r>
            <a:r>
              <a:rPr lang="en-IN" dirty="0">
                <a:latin typeface="Liberation Mono"/>
              </a:rPr>
              <a:t>, </a:t>
            </a:r>
            <a:r>
              <a:rPr lang="en-IN" dirty="0">
                <a:solidFill>
                  <a:srgbClr val="669900"/>
                </a:solidFill>
                <a:latin typeface="Liberation Mono"/>
              </a:rPr>
              <a:t>'Concert</a:t>
            </a:r>
            <a:r>
              <a:rPr lang="en-US" dirty="0">
                <a:solidFill>
                  <a:srgbClr val="669900"/>
                </a:solidFill>
                <a:latin typeface="Liberation Mono"/>
              </a:rPr>
              <a:t>'</a:t>
            </a:r>
            <a:r>
              <a:rPr lang="en-IN" dirty="0">
                <a:solidFill>
                  <a:schemeClr val="bg1">
                    <a:lumMod val="50000"/>
                  </a:schemeClr>
                </a:solidFill>
                <a:latin typeface="Liberation Mono"/>
              </a:rPr>
              <a:t>)</a:t>
            </a:r>
          </a:p>
          <a:p>
            <a:endParaRPr lang="en-IN" sz="400" dirty="0">
              <a:latin typeface="Liberation Mono"/>
            </a:endParaRPr>
          </a:p>
          <a:p>
            <a:r>
              <a:rPr lang="en-IN" dirty="0">
                <a:latin typeface="Liberation Mono"/>
              </a:rPr>
              <a:t>zone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8BCD43"/>
                </a:solidFill>
                <a:latin typeface="Liberation Mono"/>
              </a:rPr>
              <a:t>'</a:t>
            </a:r>
            <a:r>
              <a:rPr lang="en-US" dirty="0">
                <a:solidFill>
                  <a:srgbClr val="669900"/>
                </a:solidFill>
                <a:latin typeface="Liberation Mono"/>
              </a:rPr>
              <a:t>North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South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East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West'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season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'Winter'</a:t>
            </a:r>
            <a:r>
              <a:rPr lang="en-US" dirty="0">
                <a:latin typeface="Liberation Mono"/>
              </a:rPr>
              <a:t>, </a:t>
            </a:r>
            <a:r>
              <a:rPr lang="en-US" dirty="0">
                <a:solidFill>
                  <a:srgbClr val="669900"/>
                </a:solidFill>
                <a:latin typeface="Liberation Mono"/>
              </a:rPr>
              <a:t>'Summer'</a:t>
            </a:r>
            <a:r>
              <a:rPr lang="en-US" dirty="0">
                <a:latin typeface="Liberation Mono"/>
              </a:rPr>
              <a:t>, </a:t>
            </a:r>
            <a:r>
              <a:rPr lang="en-US" dirty="0">
                <a:solidFill>
                  <a:srgbClr val="669900"/>
                </a:solidFill>
                <a:latin typeface="Liberation Mono"/>
              </a:rPr>
              <a:t>'Monsoon'</a:t>
            </a:r>
            <a:r>
              <a:rPr lang="en-US" dirty="0">
                <a:latin typeface="Liberation Mono"/>
              </a:rPr>
              <a:t>, </a:t>
            </a:r>
            <a:r>
              <a:rPr lang="en-US" dirty="0">
                <a:solidFill>
                  <a:srgbClr val="669900"/>
                </a:solidFill>
                <a:latin typeface="Liberation Mono"/>
              </a:rPr>
              <a:t>'Autumn'</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sortby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'Popularity'</a:t>
            </a:r>
            <a:r>
              <a:rPr lang="en-US" dirty="0">
                <a:latin typeface="Liberation Mono"/>
              </a:rPr>
              <a:t>, </a:t>
            </a:r>
            <a:r>
              <a:rPr lang="en-US" dirty="0">
                <a:solidFill>
                  <a:srgbClr val="669900"/>
                </a:solidFill>
                <a:latin typeface="Liberation Mono"/>
              </a:rPr>
              <a:t>'Price -- Low to High'</a:t>
            </a:r>
            <a:r>
              <a:rPr lang="en-US" dirty="0">
                <a:latin typeface="Liberation Mono"/>
              </a:rPr>
              <a:t>, </a:t>
            </a:r>
            <a:r>
              <a:rPr lang="en-US" dirty="0">
                <a:solidFill>
                  <a:srgbClr val="669900"/>
                </a:solidFill>
                <a:latin typeface="Liberation Mono"/>
              </a:rPr>
              <a:t>'Price -- High to Low'</a:t>
            </a:r>
            <a:r>
              <a:rPr lang="en-US" dirty="0">
                <a:latin typeface="Liberation Mono"/>
              </a:rPr>
              <a:t>, </a:t>
            </a:r>
            <a:r>
              <a:rPr lang="en-US" dirty="0">
                <a:solidFill>
                  <a:srgbClr val="669900"/>
                </a:solidFill>
                <a:latin typeface="Liberation Mono"/>
              </a:rPr>
              <a:t>'Newest First'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status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'active'</a:t>
            </a:r>
            <a:r>
              <a:rPr lang="en-US" dirty="0">
                <a:latin typeface="Liberation Mono"/>
              </a:rPr>
              <a:t>, </a:t>
            </a:r>
            <a:r>
              <a:rPr lang="en-US" dirty="0">
                <a:solidFill>
                  <a:srgbClr val="669900"/>
                </a:solidFill>
                <a:latin typeface="Liberation Mono"/>
              </a:rPr>
              <a:t>'inactive'</a:t>
            </a:r>
            <a:r>
              <a:rPr lang="en-US" dirty="0">
                <a:latin typeface="Liberation Mono"/>
              </a:rPr>
              <a:t>, </a:t>
            </a:r>
            <a:r>
              <a:rPr lang="en-US" dirty="0">
                <a:solidFill>
                  <a:srgbClr val="669900"/>
                </a:solidFill>
                <a:latin typeface="Liberation Mono"/>
              </a:rPr>
              <a:t>'pending'</a:t>
            </a:r>
            <a:r>
              <a:rPr lang="en-US" dirty="0">
                <a:latin typeface="Liberation Mono"/>
              </a:rPr>
              <a:t>, </a:t>
            </a:r>
            <a:r>
              <a:rPr lang="en-US" dirty="0">
                <a:solidFill>
                  <a:srgbClr val="669900"/>
                </a:solidFill>
                <a:latin typeface="Liberation Mono"/>
              </a:rPr>
              <a:t>'expired'</a:t>
            </a:r>
            <a:r>
              <a:rPr lang="en-US" dirty="0">
                <a:latin typeface="Liberation Mono"/>
              </a:rPr>
              <a:t>, </a:t>
            </a:r>
            <a:r>
              <a:rPr lang="en-US" dirty="0">
                <a:solidFill>
                  <a:srgbClr val="669900"/>
                </a:solidFill>
                <a:latin typeface="Liberation Mono"/>
              </a:rPr>
              <a:t>'shipped'</a:t>
            </a:r>
            <a:r>
              <a:rPr lang="en-US" dirty="0">
                <a:latin typeface="Liberation Mono"/>
              </a:rPr>
              <a:t>, </a:t>
            </a:r>
            <a:r>
              <a:rPr lang="en-US" dirty="0">
                <a:solidFill>
                  <a:srgbClr val="669900"/>
                </a:solidFill>
                <a:latin typeface="Liberation Mono"/>
              </a:rPr>
              <a:t>'in-process'</a:t>
            </a:r>
            <a:r>
              <a:rPr lang="en-US" dirty="0">
                <a:latin typeface="Liberation Mono"/>
              </a:rPr>
              <a:t>, </a:t>
            </a:r>
            <a:r>
              <a:rPr lang="en-US" dirty="0">
                <a:solidFill>
                  <a:srgbClr val="669900"/>
                </a:solidFill>
                <a:latin typeface="Liberation Mono"/>
              </a:rPr>
              <a:t>'resolved'</a:t>
            </a:r>
            <a:r>
              <a:rPr lang="en-US" dirty="0">
                <a:latin typeface="Liberation Mono"/>
              </a:rPr>
              <a:t>, </a:t>
            </a:r>
            <a:r>
              <a:rPr lang="en-US" dirty="0">
                <a:solidFill>
                  <a:srgbClr val="669900"/>
                </a:solidFill>
                <a:latin typeface="Liberation Mono"/>
              </a:rPr>
              <a:t>'on-hold'</a:t>
            </a:r>
            <a:r>
              <a:rPr lang="en-US" dirty="0">
                <a:latin typeface="Liberation Mono"/>
              </a:rPr>
              <a:t>, </a:t>
            </a:r>
            <a:r>
              <a:rPr lang="en-US" dirty="0">
                <a:solidFill>
                  <a:srgbClr val="669900"/>
                </a:solidFill>
                <a:latin typeface="Liberation Mono"/>
              </a:rPr>
              <a:t>'cancelled'</a:t>
            </a:r>
            <a:r>
              <a:rPr lang="en-US" dirty="0">
                <a:latin typeface="Liberation Mono"/>
              </a:rPr>
              <a:t>, </a:t>
            </a:r>
            <a:r>
              <a:rPr lang="en-US" dirty="0">
                <a:solidFill>
                  <a:srgbClr val="669900"/>
                </a:solidFill>
                <a:latin typeface="Liberation Mono"/>
              </a:rPr>
              <a:t>'disputed’</a:t>
            </a:r>
            <a:r>
              <a:rPr lang="en-US" dirty="0">
                <a:solidFill>
                  <a:schemeClr val="bg1">
                    <a:lumMod val="50000"/>
                  </a:schemeClr>
                </a:solidFill>
                <a:latin typeface="Liberation Mono"/>
              </a:rPr>
              <a:t>)</a:t>
            </a:r>
          </a:p>
          <a:p>
            <a:endParaRPr lang="en-US" sz="400" dirty="0">
              <a:solidFill>
                <a:schemeClr val="bg1">
                  <a:lumMod val="50000"/>
                </a:schemeClr>
              </a:solidFill>
              <a:latin typeface="Liberation Mono"/>
            </a:endParaRPr>
          </a:p>
          <a:p>
            <a:r>
              <a:rPr lang="en-US" dirty="0">
                <a:latin typeface="Liberation Mono"/>
              </a:rPr>
              <a:t>payment_method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'UPI'</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'Credit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'Debit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solidFill>
                  <a:schemeClr val="bg1">
                    <a:lumMod val="50000"/>
                  </a:schemeClr>
                </a:solidFill>
                <a:latin typeface="Liberation Mono"/>
              </a:rPr>
              <a:t> </a:t>
            </a:r>
            <a:r>
              <a:rPr lang="en-US" dirty="0">
                <a:solidFill>
                  <a:srgbClr val="669900"/>
                </a:solidFill>
                <a:latin typeface="Liberation Mono"/>
              </a:rPr>
              <a:t>'Net</a:t>
            </a:r>
            <a:r>
              <a:rPr lang="en-US" dirty="0">
                <a:solidFill>
                  <a:schemeClr val="bg1">
                    <a:lumMod val="50000"/>
                  </a:schemeClr>
                </a:solidFill>
                <a:latin typeface="Liberation Mono"/>
              </a:rPr>
              <a:t> </a:t>
            </a:r>
            <a:r>
              <a:rPr lang="en-US" dirty="0">
                <a:solidFill>
                  <a:srgbClr val="669900"/>
                </a:solidFill>
                <a:latin typeface="Liberation Mono"/>
              </a:rPr>
              <a:t>Banking'</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'Cash</a:t>
            </a:r>
            <a:r>
              <a:rPr lang="en-US" dirty="0">
                <a:solidFill>
                  <a:schemeClr val="bg1">
                    <a:lumMod val="50000"/>
                  </a:schemeClr>
                </a:solidFill>
                <a:latin typeface="Liberation Mono"/>
              </a:rPr>
              <a:t>')</a:t>
            </a:r>
          </a:p>
        </p:txBody>
      </p:sp>
      <p:sp>
        <p:nvSpPr>
          <p:cNvPr id="5" name="TextBox 4">
            <a:extLst>
              <a:ext uri="{FF2B5EF4-FFF2-40B4-BE49-F238E27FC236}">
                <a16:creationId xmlns:a16="http://schemas.microsoft.com/office/drawing/2014/main" id="{7797EFC1-75D5-8A92-5A5B-27EAF3E0A0F7}"/>
              </a:ext>
            </a:extLst>
          </p:cNvPr>
          <p:cNvSpPr txBox="1"/>
          <p:nvPr/>
        </p:nvSpPr>
        <p:spPr>
          <a:xfrm>
            <a:off x="263352" y="4283804"/>
            <a:ext cx="11377264" cy="369332"/>
          </a:xfrm>
          <a:prstGeom prst="rect">
            <a:avLst/>
          </a:prstGeom>
          <a:noFill/>
        </p:spPr>
        <p:txBody>
          <a:bodyPr wrap="square">
            <a:spAutoFit/>
          </a:bodyPr>
          <a:lstStyle/>
          <a:p>
            <a:pPr marL="285750" indent="-285750">
              <a:buFont typeface="Arial" panose="020B0604020202020204" pitchFamily="34" charset="0"/>
              <a:buChar char="•"/>
            </a:pPr>
            <a:r>
              <a:rPr lang="en-IN" dirty="0"/>
              <a:t> </a:t>
            </a:r>
            <a:r>
              <a:rPr lang="en-IN" dirty="0">
                <a:solidFill>
                  <a:srgbClr val="0077AA"/>
                </a:solidFill>
                <a:latin typeface="Liberation Mono"/>
              </a:rPr>
              <a:t>ALTER</a:t>
            </a:r>
            <a:r>
              <a:rPr lang="en-IN" dirty="0"/>
              <a:t> </a:t>
            </a:r>
            <a:r>
              <a:rPr lang="en-IN" dirty="0">
                <a:solidFill>
                  <a:srgbClr val="0077AA"/>
                </a:solidFill>
                <a:latin typeface="Liberation Mono"/>
              </a:rPr>
              <a:t>TABLE</a:t>
            </a:r>
            <a:r>
              <a:rPr lang="en-IN" dirty="0"/>
              <a:t> product </a:t>
            </a:r>
            <a:r>
              <a:rPr lang="en-IN" dirty="0">
                <a:solidFill>
                  <a:srgbClr val="0077AA"/>
                </a:solidFill>
                <a:latin typeface="Liberation Mono"/>
              </a:rPr>
              <a:t>MODIFY</a:t>
            </a:r>
            <a:r>
              <a:rPr lang="en-IN" dirty="0"/>
              <a:t> </a:t>
            </a:r>
            <a:r>
              <a:rPr lang="en-IN" dirty="0">
                <a:solidFill>
                  <a:srgbClr val="0077AA"/>
                </a:solidFill>
                <a:latin typeface="Liberation Mono"/>
              </a:rPr>
              <a:t>COLUMN</a:t>
            </a:r>
            <a:r>
              <a:rPr lang="en-IN" dirty="0"/>
              <a:t> c2 </a:t>
            </a:r>
            <a:r>
              <a:rPr lang="en-US" dirty="0">
                <a:solidFill>
                  <a:srgbClr val="834689"/>
                </a:solidFill>
                <a:latin typeface="Liberation Mono"/>
                <a:cs typeface="Arial" panose="020B0604020202020204" pitchFamily="34" charset="0"/>
              </a:rPr>
              <a:t>ENUM</a:t>
            </a:r>
            <a:r>
              <a:rPr lang="en-IN" dirty="0"/>
              <a:t>(</a:t>
            </a:r>
            <a:r>
              <a:rPr lang="en-IN" dirty="0">
                <a:solidFill>
                  <a:srgbClr val="669900"/>
                </a:solidFill>
                <a:latin typeface="Liberation Mono"/>
              </a:rPr>
              <a:t>'Bread'</a:t>
            </a:r>
            <a:r>
              <a:rPr lang="en-IN" dirty="0"/>
              <a:t>,</a:t>
            </a:r>
            <a:r>
              <a:rPr lang="en-IN" dirty="0">
                <a:solidFill>
                  <a:srgbClr val="669900"/>
                </a:solidFill>
                <a:latin typeface="Liberation Mono"/>
              </a:rPr>
              <a:t>'Butter'</a:t>
            </a:r>
            <a:r>
              <a:rPr lang="en-IN" dirty="0"/>
              <a:t>,</a:t>
            </a:r>
            <a:r>
              <a:rPr lang="en-IN" dirty="0">
                <a:solidFill>
                  <a:srgbClr val="669900"/>
                </a:solidFill>
                <a:latin typeface="Liberation Mono"/>
              </a:rPr>
              <a:t>'Cheese'</a:t>
            </a:r>
            <a:r>
              <a:rPr lang="en-IN" dirty="0"/>
              <a:t>, </a:t>
            </a:r>
            <a:r>
              <a:rPr lang="en-IN" dirty="0">
                <a:solidFill>
                  <a:srgbClr val="669900"/>
                </a:solidFill>
                <a:latin typeface="Liberation Mono"/>
              </a:rPr>
              <a:t>'Jam'</a:t>
            </a:r>
            <a:r>
              <a:rPr lang="en-IN" dirty="0"/>
              <a:t>);</a:t>
            </a:r>
          </a:p>
        </p:txBody>
      </p:sp>
    </p:spTree>
    <p:extLst>
      <p:ext uri="{BB962C8B-B14F-4D97-AF65-F5344CB8AC3E}">
        <p14:creationId xmlns:p14="http://schemas.microsoft.com/office/powerpoint/2010/main" val="3642113989"/>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3" name="Rectangle 1">
            <a:extLst>
              <a:ext uri="{FF2B5EF4-FFF2-40B4-BE49-F238E27FC236}">
                <a16:creationId xmlns:a16="http://schemas.microsoft.com/office/drawing/2014/main" id="{DC8D1C25-D6A2-4B67-BE92-A02A5EE79BE5}"/>
              </a:ext>
            </a:extLst>
          </p:cNvPr>
          <p:cNvSpPr>
            <a:spLocks noChangeArrowheads="1"/>
          </p:cNvSpPr>
          <p:nvPr/>
        </p:nvSpPr>
        <p:spPr bwMode="auto">
          <a:xfrm>
            <a:off x="407368" y="2586970"/>
            <a:ext cx="11377264" cy="55399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CREATE</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TABLE</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clients(id </a:t>
            </a:r>
            <a:r>
              <a:rPr lang="en-US" altLang="en-US" dirty="0">
                <a:solidFill>
                  <a:srgbClr val="834689"/>
                </a:solidFill>
                <a:latin typeface="Liberation Mono"/>
                <a:cs typeface="Arial" panose="020B0604020202020204" pitchFamily="34" charset="0"/>
              </a:rPr>
              <a:t>INT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AUTO_INCREMENT </a:t>
            </a:r>
            <a:r>
              <a:rPr lang="en-US" altLang="en-US" dirty="0">
                <a:solidFill>
                  <a:srgbClr val="C00000"/>
                </a:solidFill>
                <a:latin typeface="Liberation Mono"/>
                <a:cs typeface="Arial" panose="020B0604020202020204" pitchFamily="34" charset="0"/>
              </a:rPr>
              <a:t>PRIMARY</a:t>
            </a:r>
            <a:r>
              <a:rPr kumimoji="0" lang="en-US" altLang="en-US" i="0" u="none" strike="noStrike" cap="none" normalizeH="0" baseline="0" dirty="0">
                <a:ln>
                  <a:noFill/>
                </a:ln>
                <a:solidFill>
                  <a:srgbClr val="3A3A3A"/>
                </a:solidFill>
                <a:effectLst/>
                <a:latin typeface="Liberation Mono"/>
              </a:rPr>
              <a:t> </a:t>
            </a:r>
            <a:r>
              <a:rPr lang="en-US" altLang="en-US" dirty="0">
                <a:solidFill>
                  <a:srgbClr val="C00000"/>
                </a:solidFill>
                <a:latin typeface="Liberation Mono"/>
                <a:cs typeface="Arial" panose="020B0604020202020204" pitchFamily="34" charset="0"/>
              </a:rPr>
              <a:t>KEY</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0000"/>
                </a:solidFill>
                <a:latin typeface="Liberation Mono"/>
              </a:rPr>
              <a:t>name</a:t>
            </a:r>
            <a:r>
              <a:rPr kumimoji="0" lang="en-US" altLang="en-US" i="0" u="none" strike="noStrike" cap="none" normalizeH="0" baseline="0" dirty="0">
                <a:ln>
                  <a:noFill/>
                </a:ln>
                <a:solidFill>
                  <a:srgbClr val="3A3A3A"/>
                </a:solidFill>
                <a:effectLst/>
                <a:latin typeface="Liberation Mono"/>
              </a:rPr>
              <a:t> </a:t>
            </a:r>
            <a:r>
              <a:rPr lang="en-US" altLang="en-US" dirty="0">
                <a:solidFill>
                  <a:srgbClr val="834689"/>
                </a:solidFill>
                <a:latin typeface="Liberation Mono"/>
                <a:cs typeface="Arial" panose="020B0604020202020204" pitchFamily="34" charset="0"/>
              </a:rPr>
              <a:t>VARCHAR</a:t>
            </a:r>
            <a:r>
              <a:rPr kumimoji="0" lang="en-US" altLang="en-US" i="0" u="none" strike="noStrike" cap="none" normalizeH="0" baseline="0" dirty="0">
                <a:ln>
                  <a:noFill/>
                </a:ln>
                <a:solidFill>
                  <a:srgbClr val="000000"/>
                </a:solidFill>
                <a:effectLst/>
                <a:latin typeface="Liberation Mono"/>
              </a:rPr>
              <a:t>(10), membership </a:t>
            </a:r>
            <a:r>
              <a:rPr lang="en-US" altLang="en-US" dirty="0">
                <a:solidFill>
                  <a:srgbClr val="834689"/>
                </a:solidFill>
                <a:latin typeface="Liberation Mono"/>
                <a:cs typeface="Arial" panose="020B0604020202020204" pitchFamily="34" charset="0"/>
              </a:rPr>
              <a:t>ENUM</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'Silver'</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'Gold'</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'Premium'</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'Diamond'</a:t>
            </a:r>
            <a:r>
              <a:rPr kumimoji="0" lang="en-US" altLang="en-US" i="0" u="none" strike="noStrike" cap="none" normalizeH="0" baseline="0" dirty="0">
                <a:ln>
                  <a:noFill/>
                </a:ln>
                <a:solidFill>
                  <a:srgbClr val="000000"/>
                </a:solidFill>
                <a:effectLst/>
                <a:latin typeface="Liberation Mono"/>
              </a:rPr>
              <a:t>), interest </a:t>
            </a:r>
            <a:r>
              <a:rPr lang="en-US" altLang="en-US" dirty="0">
                <a:solidFill>
                  <a:srgbClr val="834689"/>
                </a:solidFill>
                <a:latin typeface="Liberation Mono"/>
                <a:cs typeface="Arial" panose="020B0604020202020204" pitchFamily="34" charset="0"/>
              </a:rPr>
              <a:t>SET</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'Movie'</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'Music'</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'Concert'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7" name="Rectangle 2">
            <a:extLst>
              <a:ext uri="{FF2B5EF4-FFF2-40B4-BE49-F238E27FC236}">
                <a16:creationId xmlns:a16="http://schemas.microsoft.com/office/drawing/2014/main" id="{6624884C-BA27-4056-8CC3-B2E645CA96DE}"/>
              </a:ext>
            </a:extLst>
          </p:cNvPr>
          <p:cNvSpPr>
            <a:spLocks noChangeArrowheads="1"/>
          </p:cNvSpPr>
          <p:nvPr/>
        </p:nvSpPr>
        <p:spPr bwMode="auto">
          <a:xfrm>
            <a:off x="407368" y="3245495"/>
            <a:ext cx="11377264" cy="61555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 </a:t>
            </a:r>
            <a:r>
              <a:rPr lang="en-US" altLang="en-US" dirty="0">
                <a:solidFill>
                  <a:srgbClr val="669900"/>
                </a:solidFill>
                <a:latin typeface="Liberation Mono"/>
              </a:rPr>
              <a:t>'Gold'</a:t>
            </a:r>
            <a:r>
              <a:rPr lang="en-US" altLang="en-US" dirty="0">
                <a:latin typeface="Liberation Mono"/>
              </a:rPr>
              <a:t>, </a:t>
            </a:r>
            <a:r>
              <a:rPr lang="en-US" altLang="en-US" dirty="0">
                <a:solidFill>
                  <a:srgbClr val="669900"/>
                </a:solidFill>
                <a:latin typeface="Liberation Mono"/>
              </a:rPr>
              <a:t>'Music'</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rgbClr val="000000"/>
              </a:solidFill>
              <a:effectLst/>
              <a:latin typeface="Liberation Mono"/>
            </a:endParaRPr>
          </a:p>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a:t>
            </a:r>
            <a:r>
              <a:rPr lang="en-US" altLang="en-US" dirty="0">
                <a:solidFill>
                  <a:srgbClr val="669900"/>
                </a:solidFill>
                <a:latin typeface="Liberation Mono"/>
              </a:rPr>
              <a:t> 'Premium'</a:t>
            </a:r>
            <a:r>
              <a:rPr lang="en-US" altLang="en-US" dirty="0">
                <a:latin typeface="Liberation Mono"/>
              </a:rPr>
              <a:t>, </a:t>
            </a:r>
            <a:r>
              <a:rPr lang="en-US" altLang="en-US" dirty="0">
                <a:solidFill>
                  <a:srgbClr val="669900"/>
                </a:solidFill>
                <a:latin typeface="Liberation Mono"/>
              </a:rPr>
              <a:t>'Movie</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8" name="Rectangle 7">
            <a:extLst>
              <a:ext uri="{FF2B5EF4-FFF2-40B4-BE49-F238E27FC236}">
                <a16:creationId xmlns:a16="http://schemas.microsoft.com/office/drawing/2014/main" id="{E1218736-825D-4E2C-A3E0-5A921AE5FD9B}"/>
              </a:ext>
            </a:extLst>
          </p:cNvPr>
          <p:cNvSpPr/>
          <p:nvPr/>
        </p:nvSpPr>
        <p:spPr>
          <a:xfrm>
            <a:off x="263352" y="5301208"/>
            <a:ext cx="11737304" cy="138499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SET data type allows you to specify a list of values to be inserted in the column, like ENUM. But, unlike the ENUM data type, which lets you choose only one value, the SET data type allows you to choose multiple values from the list of specified values.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BA8720FB-F918-F848-E2E9-DBEE8A4A18A3}"/>
              </a:ext>
            </a:extLst>
          </p:cNvPr>
          <p:cNvSpPr/>
          <p:nvPr/>
        </p:nvSpPr>
        <p:spPr>
          <a:xfrm>
            <a:off x="306498" y="117547"/>
            <a:ext cx="11622149" cy="2431435"/>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column can have a maximum of </a:t>
            </a:r>
            <a:r>
              <a:rPr lang="en-IN" b="1" dirty="0">
                <a:latin typeface="Arial" panose="020B0604020202020204" pitchFamily="34" charset="0"/>
                <a:cs typeface="Arial" panose="020B0604020202020204" pitchFamily="34" charset="0"/>
              </a:rPr>
              <a:t>64</a:t>
            </a:r>
            <a:r>
              <a:rPr lang="en-IN" dirty="0">
                <a:latin typeface="Arial" panose="020B0604020202020204" pitchFamily="34" charset="0"/>
                <a:cs typeface="Arial" panose="020B0604020202020204" pitchFamily="34" charset="0"/>
              </a:rPr>
              <a:t> distinct members.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Prevents invalid or duplicate values from being inserted.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is a string object that can have zero or more values, each of which must be chosen from a list of permitted values specified when the table is created.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SET column values that consist of multiple set members are specified with members separated by commas (,) without leaving a spaces.</a:t>
            </a:r>
          </a:p>
        </p:txBody>
      </p:sp>
      <p:sp>
        <p:nvSpPr>
          <p:cNvPr id="10" name="TextBox 9">
            <a:extLst>
              <a:ext uri="{FF2B5EF4-FFF2-40B4-BE49-F238E27FC236}">
                <a16:creationId xmlns:a16="http://schemas.microsoft.com/office/drawing/2014/main" id="{BD59E99C-64B8-A761-F647-9D15C049F550}"/>
              </a:ext>
            </a:extLst>
          </p:cNvPr>
          <p:cNvSpPr txBox="1"/>
          <p:nvPr/>
        </p:nvSpPr>
        <p:spPr>
          <a:xfrm>
            <a:off x="335360" y="4005064"/>
            <a:ext cx="3816424" cy="369332"/>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FIND_IN_SET(str, { strlist </a:t>
            </a:r>
            <a:r>
              <a:rPr lang="en-IN" dirty="0">
                <a:solidFill>
                  <a:schemeClr val="bg1">
                    <a:lumMod val="50000"/>
                  </a:schemeClr>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Field } )</a:t>
            </a:r>
          </a:p>
        </p:txBody>
      </p:sp>
      <p:sp>
        <p:nvSpPr>
          <p:cNvPr id="12" name="TextBox 11">
            <a:extLst>
              <a:ext uri="{FF2B5EF4-FFF2-40B4-BE49-F238E27FC236}">
                <a16:creationId xmlns:a16="http://schemas.microsoft.com/office/drawing/2014/main" id="{28465DDA-D14D-2382-DF67-DE908BD23949}"/>
              </a:ext>
            </a:extLst>
          </p:cNvPr>
          <p:cNvSpPr txBox="1"/>
          <p:nvPr/>
        </p:nvSpPr>
        <p:spPr>
          <a:xfrm>
            <a:off x="390496" y="4365104"/>
            <a:ext cx="11377264" cy="83099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i="0" u="none" strike="noStrike" cap="none" normalizeH="0" baseline="0" dirty="0">
              <a:ln>
                <a:noFill/>
              </a:ln>
              <a:solidFill>
                <a:srgbClr val="000000"/>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'Concert', 'Movie</a:t>
            </a:r>
            <a:r>
              <a:rPr lang="en-US" altLang="en-US" dirty="0">
                <a:latin typeface="Liberation Mono"/>
              </a:rPr>
              <a:t>,</a:t>
            </a:r>
            <a:r>
              <a:rPr lang="en-US" altLang="en-US" dirty="0">
                <a:solidFill>
                  <a:srgbClr val="669900"/>
                </a:solidFill>
                <a:latin typeface="Liberation Mono"/>
              </a:rPr>
              <a:t>Music</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tx1"/>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chemeClr val="tx1"/>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 </a:t>
            </a:r>
            <a:r>
              <a:rPr lang="en-US" altLang="en-US" dirty="0">
                <a:solidFill>
                  <a:srgbClr val="0077AA"/>
                </a:solidFill>
                <a:latin typeface="Liberation Mono"/>
                <a:cs typeface="Arial" panose="020B0604020202020204" pitchFamily="34" charset="0"/>
              </a:rPr>
              <a:t>FROM</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a:t>
            </a:r>
            <a:r>
              <a:rPr kumimoji="0" lang="en-US" altLang="en-US" i="0" u="none" strike="noStrike" cap="none" normalizeH="0" baseline="0" dirty="0">
                <a:ln>
                  <a:noFill/>
                </a:ln>
                <a:solidFill>
                  <a:schemeClr val="tx1"/>
                </a:solidFill>
                <a:effectLst/>
                <a:latin typeface="Liberation Mono"/>
              </a:rPr>
              <a:t> </a:t>
            </a:r>
            <a:r>
              <a:rPr lang="en-US" altLang="en-US" dirty="0">
                <a:solidFill>
                  <a:srgbClr val="0077AA"/>
                </a:solidFill>
                <a:latin typeface="Liberation Mono"/>
                <a:cs typeface="Arial" panose="020B0604020202020204" pitchFamily="34" charset="0"/>
              </a:rPr>
              <a:t>WHERE</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'Music'</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interest</a:t>
            </a:r>
            <a:r>
              <a:rPr kumimoji="0" lang="en-US" altLang="en-US" i="0" u="none" strike="noStrike" cap="none" normalizeH="0" baseline="0" dirty="0">
                <a:ln>
                  <a:noFill/>
                </a:ln>
                <a:solidFill>
                  <a:schemeClr val="tx1"/>
                </a:solidFill>
                <a:effectLst/>
                <a:latin typeface="Liberation Mono"/>
              </a:rPr>
              <a:t>);</a:t>
            </a:r>
          </a:p>
        </p:txBody>
      </p:sp>
      <p:sp>
        <p:nvSpPr>
          <p:cNvPr id="5" name="TextBox 4">
            <a:extLst>
              <a:ext uri="{FF2B5EF4-FFF2-40B4-BE49-F238E27FC236}">
                <a16:creationId xmlns:a16="http://schemas.microsoft.com/office/drawing/2014/main" id="{B60DFB68-99C2-8023-A08D-D85F1FEAAD9E}"/>
              </a:ext>
            </a:extLst>
          </p:cNvPr>
          <p:cNvSpPr txBox="1"/>
          <p:nvPr/>
        </p:nvSpPr>
        <p:spPr>
          <a:xfrm>
            <a:off x="6600056" y="4149080"/>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372171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9E8D7-C1B4-964E-DEFD-0A804D85C06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03A45074-8FBC-53A1-76AB-E5D1EF9CF6E2}"/>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ENUM or SET for Dynamic</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23778F-BE87-6224-3D30-82F071C2293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enum </a:t>
            </a:r>
            <a:r>
              <a:rPr lang="en-IN" sz="3200" i="1">
                <a:solidFill>
                  <a:srgbClr val="FF9900"/>
                </a:solidFill>
                <a:latin typeface="Arial" pitchFamily="34" charset="0"/>
                <a:cs typeface="Arial" pitchFamily="34" charset="0"/>
              </a:rPr>
              <a:t>&amp; set</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090CDF2A-D615-1E91-EBD7-CB9D70D8E8A5}"/>
              </a:ext>
            </a:extLst>
          </p:cNvPr>
          <p:cNvSpPr txBox="1"/>
          <p:nvPr/>
        </p:nvSpPr>
        <p:spPr>
          <a:xfrm>
            <a:off x="288344" y="1335539"/>
            <a:ext cx="5807656"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982663" algn="just"/>
            <a:r>
              <a:rPr lang="en-US" dirty="0">
                <a:latin typeface="Liberation Mono"/>
                <a:cs typeface="Arial" panose="020B0604020202020204" pitchFamily="34" charset="0"/>
              </a:rPr>
              <a:t>  status </a:t>
            </a:r>
            <a:r>
              <a:rPr lang="en-US" dirty="0">
                <a:solidFill>
                  <a:srgbClr val="834689"/>
                </a:solidFill>
                <a:latin typeface="Liberation Mono"/>
                <a:cs typeface="Arial" panose="020B0604020202020204" pitchFamily="34" charset="0"/>
              </a:rPr>
              <a:t>ENUM</a:t>
            </a:r>
            <a:r>
              <a:rPr lang="en-US" dirty="0">
                <a:latin typeface="Liberation Mono"/>
                <a:cs typeface="Arial" panose="020B0604020202020204" pitchFamily="34" charset="0"/>
              </a:rPr>
              <a:t>(</a:t>
            </a:r>
            <a:r>
              <a:rPr lang="en-US" dirty="0">
                <a:solidFill>
                  <a:srgbClr val="669900"/>
                </a:solidFill>
                <a:latin typeface="Liberation Mono"/>
              </a:rPr>
              <a:t>'Active'</a:t>
            </a:r>
            <a:r>
              <a:rPr lang="en-US" dirty="0">
                <a:latin typeface="Liberation Mono"/>
                <a:cs typeface="Arial" panose="020B0604020202020204" pitchFamily="34" charset="0"/>
              </a:rPr>
              <a:t>, </a:t>
            </a:r>
            <a:r>
              <a:rPr lang="en-US" dirty="0">
                <a:solidFill>
                  <a:srgbClr val="669900"/>
                </a:solidFill>
                <a:latin typeface="Liberation Mono"/>
              </a:rPr>
              <a:t>'Inactive'</a:t>
            </a:r>
            <a:r>
              <a:rPr lang="en-US" dirty="0">
                <a:latin typeface="Liberation Mono"/>
                <a:cs typeface="Arial" panose="020B0604020202020204" pitchFamily="34" charset="0"/>
              </a:rPr>
              <a:t>, </a:t>
            </a:r>
            <a:r>
              <a:rPr lang="en-US" dirty="0">
                <a:solidFill>
                  <a:srgbClr val="669900"/>
                </a:solidFill>
                <a:latin typeface="Liberation Mono"/>
              </a:rPr>
              <a:t>'On Leave'</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82C08184-5163-C729-2CFC-A934DA788ABF}"/>
              </a:ext>
            </a:extLst>
          </p:cNvPr>
          <p:cNvSpPr txBox="1"/>
          <p:nvPr/>
        </p:nvSpPr>
        <p:spPr>
          <a:xfrm>
            <a:off x="288344" y="4581128"/>
            <a:ext cx="4381926"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employee_status (</a:t>
            </a:r>
          </a:p>
          <a:p>
            <a:pPr marL="982663" algn="just"/>
            <a:r>
              <a:rPr lang="en-US" dirty="0">
                <a:latin typeface="Liberation Mono"/>
                <a:cs typeface="Arial" panose="020B0604020202020204" pitchFamily="34" charset="0"/>
              </a:rPr>
              <a:t>  status_id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status_name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982663"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9C6D9E1A-DDD5-BCB0-A416-EDF2AFB6277D}"/>
              </a:ext>
            </a:extLst>
          </p:cNvPr>
          <p:cNvSpPr txBox="1"/>
          <p:nvPr/>
        </p:nvSpPr>
        <p:spPr>
          <a:xfrm>
            <a:off x="288344" y="3284984"/>
            <a:ext cx="5159584"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Adding new values requires altering the table.</a:t>
            </a:r>
          </a:p>
        </p:txBody>
      </p:sp>
    </p:spTree>
    <p:extLst>
      <p:ext uri="{BB962C8B-B14F-4D97-AF65-F5344CB8AC3E}">
        <p14:creationId xmlns:p14="http://schemas.microsoft.com/office/powerpoint/2010/main" val="4168104841"/>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8DFFAE9-DCFC-C9DA-65BD-676D1436454D}"/>
              </a:ext>
            </a:extLst>
          </p:cNvPr>
          <p:cNvGraphicFramePr>
            <a:graphicFrameLocks noGrp="1"/>
          </p:cNvGraphicFramePr>
          <p:nvPr/>
        </p:nvGraphicFramePr>
        <p:xfrm>
          <a:off x="335360" y="188640"/>
          <a:ext cx="4968552" cy="6079161"/>
        </p:xfrm>
        <a:graphic>
          <a:graphicData uri="http://schemas.openxmlformats.org/drawingml/2006/table">
            <a:tbl>
              <a:tblPr>
                <a:tableStyleId>{5940675A-B579-460E-94D1-54222C63F5DA}</a:tableStyleId>
              </a:tblPr>
              <a:tblGrid>
                <a:gridCol w="1152128">
                  <a:extLst>
                    <a:ext uri="{9D8B030D-6E8A-4147-A177-3AD203B41FA5}">
                      <a16:colId xmlns:a16="http://schemas.microsoft.com/office/drawing/2014/main" val="4205476112"/>
                    </a:ext>
                  </a:extLst>
                </a:gridCol>
                <a:gridCol w="1039880">
                  <a:extLst>
                    <a:ext uri="{9D8B030D-6E8A-4147-A177-3AD203B41FA5}">
                      <a16:colId xmlns:a16="http://schemas.microsoft.com/office/drawing/2014/main" val="95951773"/>
                    </a:ext>
                  </a:extLst>
                </a:gridCol>
                <a:gridCol w="2776544">
                  <a:extLst>
                    <a:ext uri="{9D8B030D-6E8A-4147-A177-3AD203B41FA5}">
                      <a16:colId xmlns:a16="http://schemas.microsoft.com/office/drawing/2014/main" val="1117133247"/>
                    </a:ext>
                  </a:extLst>
                </a:gridCol>
              </a:tblGrid>
              <a:tr h="387049">
                <a:tc>
                  <a:txBody>
                    <a:bodyPr/>
                    <a:lstStyle/>
                    <a:p>
                      <a:pPr algn="ctr">
                        <a:buNone/>
                      </a:pPr>
                      <a:r>
                        <a:rPr lang="en-IN" sz="2000" dirty="0">
                          <a:solidFill>
                            <a:srgbClr val="3939F5"/>
                          </a:solidFill>
                          <a:latin typeface="Arial" panose="020B0604020202020204" pitchFamily="34" charset="0"/>
                          <a:cs typeface="Arial" panose="020B0604020202020204" pitchFamily="34" charset="0"/>
                        </a:rPr>
                        <a:t>Decimal</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Binary</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Stored Text</a:t>
                      </a:r>
                    </a:p>
                  </a:txBody>
                  <a:tcPr marL="72208" marR="72208" marT="36104" marB="36104" anchor="ctr"/>
                </a:tc>
                <a:extLst>
                  <a:ext uri="{0D108BD9-81ED-4DB2-BD59-A6C34878D82A}">
                    <a16:rowId xmlns:a16="http://schemas.microsoft.com/office/drawing/2014/main" val="3344681522"/>
                  </a:ext>
                </a:extLst>
              </a:tr>
              <a:tr h="355757">
                <a:tc>
                  <a:txBody>
                    <a:bodyPr/>
                    <a:lstStyle/>
                    <a:p>
                      <a:pPr algn="ctr">
                        <a:buNone/>
                      </a:pPr>
                      <a:r>
                        <a:rPr lang="en-IN" sz="1800" dirty="0">
                          <a:latin typeface="Arial" panose="020B0604020202020204" pitchFamily="34" charset="0"/>
                          <a:cs typeface="Arial" panose="020B0604020202020204" pitchFamily="34" charset="0"/>
                        </a:rPr>
                        <a:t>0</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(empty set)</a:t>
                      </a:r>
                    </a:p>
                  </a:txBody>
                  <a:tcPr marL="72208" marR="72208" marT="36104" marB="36104" anchor="ctr"/>
                </a:tc>
                <a:extLst>
                  <a:ext uri="{0D108BD9-81ED-4DB2-BD59-A6C34878D82A}">
                    <a16:rowId xmlns:a16="http://schemas.microsoft.com/office/drawing/2014/main" val="2239651898"/>
                  </a:ext>
                </a:extLst>
              </a:tr>
              <a:tr h="355757">
                <a:tc>
                  <a:txBody>
                    <a:bodyPr/>
                    <a:lstStyle/>
                    <a:p>
                      <a:pPr algn="ctr">
                        <a:buNone/>
                      </a:pPr>
                      <a:r>
                        <a:rPr lang="en-IN" sz="1800" dirty="0">
                          <a:latin typeface="Arial" panose="020B0604020202020204" pitchFamily="34" charset="0"/>
                          <a:cs typeface="Arial" panose="020B0604020202020204" pitchFamily="34" charset="0"/>
                        </a:rPr>
                        <a:t>1</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a:t>
                      </a:r>
                    </a:p>
                  </a:txBody>
                  <a:tcPr marL="72208" marR="72208" marT="36104" marB="36104" anchor="ctr"/>
                </a:tc>
                <a:extLst>
                  <a:ext uri="{0D108BD9-81ED-4DB2-BD59-A6C34878D82A}">
                    <a16:rowId xmlns:a16="http://schemas.microsoft.com/office/drawing/2014/main" val="2285604634"/>
                  </a:ext>
                </a:extLst>
              </a:tr>
              <a:tr h="355757">
                <a:tc>
                  <a:txBody>
                    <a:bodyPr/>
                    <a:lstStyle/>
                    <a:p>
                      <a:pPr algn="ctr">
                        <a:buNone/>
                      </a:pPr>
                      <a:r>
                        <a:rPr lang="en-IN" sz="1800">
                          <a:latin typeface="Arial" panose="020B0604020202020204" pitchFamily="34" charset="0"/>
                          <a:cs typeface="Arial" panose="020B0604020202020204" pitchFamily="34" charset="0"/>
                        </a:rPr>
                        <a:t>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a:t>
                      </a:r>
                    </a:p>
                  </a:txBody>
                  <a:tcPr marL="72208" marR="72208" marT="36104" marB="36104" anchor="ctr"/>
                </a:tc>
                <a:extLst>
                  <a:ext uri="{0D108BD9-81ED-4DB2-BD59-A6C34878D82A}">
                    <a16:rowId xmlns:a16="http://schemas.microsoft.com/office/drawing/2014/main" val="2662368947"/>
                  </a:ext>
                </a:extLst>
              </a:tr>
              <a:tr h="355757">
                <a:tc>
                  <a:txBody>
                    <a:bodyPr/>
                    <a:lstStyle/>
                    <a:p>
                      <a:pPr algn="ctr">
                        <a:buNone/>
                      </a:pPr>
                      <a:r>
                        <a:rPr lang="en-IN" sz="1800" dirty="0">
                          <a:latin typeface="Arial" panose="020B0604020202020204" pitchFamily="34" charset="0"/>
                          <a:cs typeface="Arial" panose="020B0604020202020204" pitchFamily="34" charset="0"/>
                        </a:rPr>
                        <a:t>3</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a:t>
                      </a:r>
                    </a:p>
                  </a:txBody>
                  <a:tcPr marL="72208" marR="72208" marT="36104" marB="36104" anchor="ctr"/>
                </a:tc>
                <a:extLst>
                  <a:ext uri="{0D108BD9-81ED-4DB2-BD59-A6C34878D82A}">
                    <a16:rowId xmlns:a16="http://schemas.microsoft.com/office/drawing/2014/main" val="495199639"/>
                  </a:ext>
                </a:extLst>
              </a:tr>
              <a:tr h="355757">
                <a:tc>
                  <a:txBody>
                    <a:bodyPr/>
                    <a:lstStyle/>
                    <a:p>
                      <a:pPr algn="ctr">
                        <a:buNone/>
                      </a:pPr>
                      <a:r>
                        <a:rPr lang="en-IN" sz="1800" dirty="0">
                          <a:latin typeface="Arial" panose="020B0604020202020204" pitchFamily="34" charset="0"/>
                          <a:cs typeface="Arial" panose="020B0604020202020204" pitchFamily="34" charset="0"/>
                        </a:rPr>
                        <a:t>4</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a:t>
                      </a:r>
                    </a:p>
                  </a:txBody>
                  <a:tcPr marL="72208" marR="72208" marT="36104" marB="36104" anchor="ctr"/>
                </a:tc>
                <a:extLst>
                  <a:ext uri="{0D108BD9-81ED-4DB2-BD59-A6C34878D82A}">
                    <a16:rowId xmlns:a16="http://schemas.microsoft.com/office/drawing/2014/main" val="4087088656"/>
                  </a:ext>
                </a:extLst>
              </a:tr>
              <a:tr h="355757">
                <a:tc>
                  <a:txBody>
                    <a:bodyPr/>
                    <a:lstStyle/>
                    <a:p>
                      <a:pPr algn="ctr">
                        <a:buNone/>
                      </a:pPr>
                      <a:r>
                        <a:rPr lang="en-IN" sz="1800">
                          <a:latin typeface="Arial" panose="020B0604020202020204" pitchFamily="34" charset="0"/>
                          <a:cs typeface="Arial" panose="020B0604020202020204" pitchFamily="34" charset="0"/>
                        </a:rPr>
                        <a:t>5</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a:t>
                      </a:r>
                    </a:p>
                  </a:txBody>
                  <a:tcPr marL="72208" marR="72208" marT="36104" marB="36104" anchor="ctr"/>
                </a:tc>
                <a:extLst>
                  <a:ext uri="{0D108BD9-81ED-4DB2-BD59-A6C34878D82A}">
                    <a16:rowId xmlns:a16="http://schemas.microsoft.com/office/drawing/2014/main" val="3278910166"/>
                  </a:ext>
                </a:extLst>
              </a:tr>
              <a:tr h="355757">
                <a:tc>
                  <a:txBody>
                    <a:bodyPr/>
                    <a:lstStyle/>
                    <a:p>
                      <a:pPr algn="ctr">
                        <a:buNone/>
                      </a:pPr>
                      <a:r>
                        <a:rPr lang="en-IN" sz="1800">
                          <a:latin typeface="Arial" panose="020B0604020202020204" pitchFamily="34" charset="0"/>
                          <a:cs typeface="Arial" panose="020B0604020202020204" pitchFamily="34" charset="0"/>
                        </a:rPr>
                        <a:t>6</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a:t>
                      </a:r>
                    </a:p>
                  </a:txBody>
                  <a:tcPr marL="72208" marR="72208" marT="36104" marB="36104" anchor="ctr"/>
                </a:tc>
                <a:extLst>
                  <a:ext uri="{0D108BD9-81ED-4DB2-BD59-A6C34878D82A}">
                    <a16:rowId xmlns:a16="http://schemas.microsoft.com/office/drawing/2014/main" val="455212581"/>
                  </a:ext>
                </a:extLst>
              </a:tr>
              <a:tr h="355757">
                <a:tc>
                  <a:txBody>
                    <a:bodyPr/>
                    <a:lstStyle/>
                    <a:p>
                      <a:pPr algn="ctr">
                        <a:buNone/>
                      </a:pPr>
                      <a:r>
                        <a:rPr lang="en-IN" sz="1800">
                          <a:latin typeface="Arial" panose="020B0604020202020204" pitchFamily="34" charset="0"/>
                          <a:cs typeface="Arial" panose="020B0604020202020204" pitchFamily="34" charset="0"/>
                        </a:rPr>
                        <a:t>7</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Red,Blue,Green</a:t>
                      </a:r>
                    </a:p>
                  </a:txBody>
                  <a:tcPr marL="72208" marR="72208" marT="36104" marB="36104" anchor="ctr"/>
                </a:tc>
                <a:extLst>
                  <a:ext uri="{0D108BD9-81ED-4DB2-BD59-A6C34878D82A}">
                    <a16:rowId xmlns:a16="http://schemas.microsoft.com/office/drawing/2014/main" val="1728067123"/>
                  </a:ext>
                </a:extLst>
              </a:tr>
              <a:tr h="355757">
                <a:tc>
                  <a:txBody>
                    <a:bodyPr/>
                    <a:lstStyle/>
                    <a:p>
                      <a:pPr algn="ctr">
                        <a:buNone/>
                      </a:pPr>
                      <a:r>
                        <a:rPr lang="en-IN" sz="1800">
                          <a:latin typeface="Arial" panose="020B0604020202020204" pitchFamily="34" charset="0"/>
                          <a:cs typeface="Arial" panose="020B0604020202020204" pitchFamily="34" charset="0"/>
                        </a:rPr>
                        <a:t>8</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Yellow</a:t>
                      </a:r>
                    </a:p>
                  </a:txBody>
                  <a:tcPr marL="72208" marR="72208" marT="36104" marB="36104" anchor="ctr"/>
                </a:tc>
                <a:extLst>
                  <a:ext uri="{0D108BD9-81ED-4DB2-BD59-A6C34878D82A}">
                    <a16:rowId xmlns:a16="http://schemas.microsoft.com/office/drawing/2014/main" val="3408996203"/>
                  </a:ext>
                </a:extLst>
              </a:tr>
              <a:tr h="355757">
                <a:tc>
                  <a:txBody>
                    <a:bodyPr/>
                    <a:lstStyle/>
                    <a:p>
                      <a:pPr algn="ctr">
                        <a:buNone/>
                      </a:pPr>
                      <a:r>
                        <a:rPr lang="en-IN" sz="1800">
                          <a:latin typeface="Arial" panose="020B0604020202020204" pitchFamily="34" charset="0"/>
                          <a:cs typeface="Arial" panose="020B0604020202020204" pitchFamily="34" charset="0"/>
                        </a:rPr>
                        <a:t>9</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Red,Yellow</a:t>
                      </a:r>
                    </a:p>
                  </a:txBody>
                  <a:tcPr marL="72208" marR="72208" marT="36104" marB="36104" anchor="ctr"/>
                </a:tc>
                <a:extLst>
                  <a:ext uri="{0D108BD9-81ED-4DB2-BD59-A6C34878D82A}">
                    <a16:rowId xmlns:a16="http://schemas.microsoft.com/office/drawing/2014/main" val="3480523106"/>
                  </a:ext>
                </a:extLst>
              </a:tr>
              <a:tr h="355757">
                <a:tc>
                  <a:txBody>
                    <a:bodyPr/>
                    <a:lstStyle/>
                    <a:p>
                      <a:pPr algn="ctr">
                        <a:buNone/>
                      </a:pPr>
                      <a:r>
                        <a:rPr lang="en-IN" sz="1800">
                          <a:latin typeface="Arial" panose="020B0604020202020204" pitchFamily="34" charset="0"/>
                          <a:cs typeface="Arial" panose="020B0604020202020204" pitchFamily="34" charset="0"/>
                        </a:rPr>
                        <a:t>10</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Blue,Yellow</a:t>
                      </a:r>
                    </a:p>
                  </a:txBody>
                  <a:tcPr marL="72208" marR="72208" marT="36104" marB="36104" anchor="ctr"/>
                </a:tc>
                <a:extLst>
                  <a:ext uri="{0D108BD9-81ED-4DB2-BD59-A6C34878D82A}">
                    <a16:rowId xmlns:a16="http://schemas.microsoft.com/office/drawing/2014/main" val="871292662"/>
                  </a:ext>
                </a:extLst>
              </a:tr>
              <a:tr h="355757">
                <a:tc>
                  <a:txBody>
                    <a:bodyPr/>
                    <a:lstStyle/>
                    <a:p>
                      <a:pPr algn="ctr">
                        <a:buNone/>
                      </a:pPr>
                      <a:r>
                        <a:rPr lang="en-IN" sz="1800">
                          <a:latin typeface="Arial" panose="020B0604020202020204" pitchFamily="34" charset="0"/>
                          <a:cs typeface="Arial" panose="020B0604020202020204" pitchFamily="34" charset="0"/>
                        </a:rPr>
                        <a:t>11</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Red,Blue,Yellow</a:t>
                      </a:r>
                    </a:p>
                  </a:txBody>
                  <a:tcPr marL="72208" marR="72208" marT="36104" marB="36104" anchor="ctr"/>
                </a:tc>
                <a:extLst>
                  <a:ext uri="{0D108BD9-81ED-4DB2-BD59-A6C34878D82A}">
                    <a16:rowId xmlns:a16="http://schemas.microsoft.com/office/drawing/2014/main" val="1842313006"/>
                  </a:ext>
                </a:extLst>
              </a:tr>
              <a:tr h="355757">
                <a:tc>
                  <a:txBody>
                    <a:bodyPr/>
                    <a:lstStyle/>
                    <a:p>
                      <a:pPr algn="ctr">
                        <a:buNone/>
                      </a:pPr>
                      <a:r>
                        <a:rPr lang="en-IN" sz="1800">
                          <a:latin typeface="Arial" panose="020B0604020202020204" pitchFamily="34" charset="0"/>
                          <a:cs typeface="Arial" panose="020B0604020202020204" pitchFamily="34" charset="0"/>
                        </a:rPr>
                        <a:t>12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Green,Yellow</a:t>
                      </a:r>
                    </a:p>
                  </a:txBody>
                  <a:tcPr marL="72208" marR="72208" marT="36104" marB="36104" anchor="ctr"/>
                </a:tc>
                <a:extLst>
                  <a:ext uri="{0D108BD9-81ED-4DB2-BD59-A6C34878D82A}">
                    <a16:rowId xmlns:a16="http://schemas.microsoft.com/office/drawing/2014/main" val="2044094816"/>
                  </a:ext>
                </a:extLst>
              </a:tr>
              <a:tr h="355757">
                <a:tc>
                  <a:txBody>
                    <a:bodyPr/>
                    <a:lstStyle/>
                    <a:p>
                      <a:pPr algn="ctr">
                        <a:buNone/>
                      </a:pPr>
                      <a:r>
                        <a:rPr lang="en-IN" sz="1800">
                          <a:latin typeface="Arial" panose="020B0604020202020204" pitchFamily="34" charset="0"/>
                          <a:cs typeface="Arial" panose="020B0604020202020204" pitchFamily="34" charset="0"/>
                        </a:rPr>
                        <a:t>13</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Red,Green,Yellow</a:t>
                      </a:r>
                    </a:p>
                  </a:txBody>
                  <a:tcPr marL="72208" marR="72208" marT="36104" marB="36104" anchor="ctr"/>
                </a:tc>
                <a:extLst>
                  <a:ext uri="{0D108BD9-81ED-4DB2-BD59-A6C34878D82A}">
                    <a16:rowId xmlns:a16="http://schemas.microsoft.com/office/drawing/2014/main" val="2010739640"/>
                  </a:ext>
                </a:extLst>
              </a:tr>
              <a:tr h="355757">
                <a:tc>
                  <a:txBody>
                    <a:bodyPr/>
                    <a:lstStyle/>
                    <a:p>
                      <a:pPr algn="ctr">
                        <a:buNone/>
                      </a:pPr>
                      <a:r>
                        <a:rPr lang="en-IN" sz="1800">
                          <a:latin typeface="Arial" panose="020B0604020202020204" pitchFamily="34" charset="0"/>
                          <a:cs typeface="Arial" panose="020B0604020202020204" pitchFamily="34" charset="0"/>
                        </a:rPr>
                        <a:t>14</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Blue,Green,Yellow</a:t>
                      </a:r>
                    </a:p>
                  </a:txBody>
                  <a:tcPr marL="72208" marR="72208" marT="36104" marB="36104" anchor="ctr"/>
                </a:tc>
                <a:extLst>
                  <a:ext uri="{0D108BD9-81ED-4DB2-BD59-A6C34878D82A}">
                    <a16:rowId xmlns:a16="http://schemas.microsoft.com/office/drawing/2014/main" val="3196463939"/>
                  </a:ext>
                </a:extLst>
              </a:tr>
              <a:tr h="355757">
                <a:tc>
                  <a:txBody>
                    <a:bodyPr/>
                    <a:lstStyle/>
                    <a:p>
                      <a:pPr algn="ctr">
                        <a:buNone/>
                      </a:pPr>
                      <a:r>
                        <a:rPr lang="en-IN" sz="1800">
                          <a:latin typeface="Arial" panose="020B0604020202020204" pitchFamily="34" charset="0"/>
                          <a:cs typeface="Arial" panose="020B0604020202020204" pitchFamily="34" charset="0"/>
                        </a:rPr>
                        <a:t>15</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1111</a:t>
                      </a:r>
                    </a:p>
                  </a:txBody>
                  <a:tcPr marL="72208" marR="72208" marT="36104" marB="36104" anchor="ctr"/>
                </a:tc>
                <a:tc>
                  <a:txBody>
                    <a:bodyPr/>
                    <a:lstStyle/>
                    <a:p>
                      <a:pPr>
                        <a:buNone/>
                      </a:pPr>
                      <a:r>
                        <a:rPr lang="en-IN" sz="1800" dirty="0">
                          <a:latin typeface="Arial" panose="020B0604020202020204" pitchFamily="34" charset="0"/>
                          <a:cs typeface="Arial" panose="020B0604020202020204" pitchFamily="34" charset="0"/>
                        </a:rPr>
                        <a:t>Red,Blue,Green,Yellow</a:t>
                      </a:r>
                    </a:p>
                  </a:txBody>
                  <a:tcPr marL="72208" marR="72208" marT="36104" marB="36104" anchor="ctr"/>
                </a:tc>
                <a:extLst>
                  <a:ext uri="{0D108BD9-81ED-4DB2-BD59-A6C34878D82A}">
                    <a16:rowId xmlns:a16="http://schemas.microsoft.com/office/drawing/2014/main" val="666562805"/>
                  </a:ext>
                </a:extLst>
              </a:tr>
            </a:tbl>
          </a:graphicData>
        </a:graphic>
      </p:graphicFrame>
      <p:sp>
        <p:nvSpPr>
          <p:cNvPr id="3" name="Rectangle 2">
            <a:extLst>
              <a:ext uri="{FF2B5EF4-FFF2-40B4-BE49-F238E27FC236}">
                <a16:creationId xmlns:a16="http://schemas.microsoft.com/office/drawing/2014/main" id="{A9920E8E-1484-FBCD-A79E-FC8D22D971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7" name="TextBox 6">
            <a:extLst>
              <a:ext uri="{FF2B5EF4-FFF2-40B4-BE49-F238E27FC236}">
                <a16:creationId xmlns:a16="http://schemas.microsoft.com/office/drawing/2014/main" id="{60755BBE-7EC1-6792-11F7-5F75161AB7A7}"/>
              </a:ext>
            </a:extLst>
          </p:cNvPr>
          <p:cNvSpPr txBox="1"/>
          <p:nvPr/>
        </p:nvSpPr>
        <p:spPr>
          <a:xfrm>
            <a:off x="5663952" y="1196752"/>
            <a:ext cx="619268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x(c1 </a:t>
            </a:r>
            <a:r>
              <a:rPr lang="en-IN" dirty="0">
                <a:solidFill>
                  <a:srgbClr val="834689"/>
                </a:solidFill>
                <a:latin typeface="Liberation Mono"/>
                <a:cs typeface="Arial" panose="020B0604020202020204" pitchFamily="34" charset="0"/>
              </a:rPr>
              <a:t>INT</a:t>
            </a:r>
            <a:r>
              <a:rPr lang="en-IN" dirty="0">
                <a:latin typeface="Liberation Mono"/>
              </a:rPr>
              <a:t> , c2 </a:t>
            </a:r>
            <a:r>
              <a:rPr lang="en-IN" dirty="0">
                <a:solidFill>
                  <a:srgbClr val="834689"/>
                </a:solidFill>
                <a:latin typeface="Liberation Mono"/>
                <a:cs typeface="Arial" panose="020B0604020202020204" pitchFamily="34" charset="0"/>
              </a:rPr>
              <a:t>SET</a:t>
            </a:r>
            <a:r>
              <a:rPr lang="en-IN" dirty="0">
                <a:latin typeface="Liberation Mono"/>
              </a:rPr>
              <a:t>(</a:t>
            </a:r>
            <a:r>
              <a:rPr lang="en-IN" dirty="0">
                <a:solidFill>
                  <a:srgbClr val="669900"/>
                </a:solidFill>
                <a:latin typeface="Liberation Mono"/>
              </a:rPr>
              <a:t>'Red'</a:t>
            </a:r>
            <a:r>
              <a:rPr lang="en-IN" dirty="0">
                <a:latin typeface="Liberation Mono"/>
              </a:rPr>
              <a:t>,</a:t>
            </a:r>
            <a:r>
              <a:rPr lang="en-IN" dirty="0">
                <a:solidFill>
                  <a:srgbClr val="669900"/>
                </a:solidFill>
                <a:latin typeface="Liberation Mono"/>
              </a:rPr>
              <a:t>'Blue'</a:t>
            </a:r>
            <a:r>
              <a:rPr lang="en-IN" dirty="0">
                <a:latin typeface="Liberation Mono"/>
              </a:rPr>
              <a:t>,</a:t>
            </a:r>
            <a:r>
              <a:rPr lang="en-IN" dirty="0">
                <a:solidFill>
                  <a:srgbClr val="669900"/>
                </a:solidFill>
                <a:latin typeface="Liberation Mono"/>
              </a:rPr>
              <a:t>'Green'</a:t>
            </a:r>
            <a:r>
              <a:rPr lang="en-IN" dirty="0">
                <a:latin typeface="Liberation Mono"/>
              </a:rPr>
              <a:t>, </a:t>
            </a:r>
            <a:r>
              <a:rPr lang="en-IN" dirty="0">
                <a:solidFill>
                  <a:srgbClr val="669900"/>
                </a:solidFill>
                <a:latin typeface="Liberation Mono"/>
              </a:rPr>
              <a:t>'Yellow'</a:t>
            </a:r>
            <a:r>
              <a:rPr lang="en-IN" dirty="0">
                <a:latin typeface="Liberation Mono"/>
              </a:rPr>
              <a:t>));</a:t>
            </a:r>
          </a:p>
        </p:txBody>
      </p:sp>
      <p:sp>
        <p:nvSpPr>
          <p:cNvPr id="8" name="TextBox 7">
            <a:extLst>
              <a:ext uri="{FF2B5EF4-FFF2-40B4-BE49-F238E27FC236}">
                <a16:creationId xmlns:a16="http://schemas.microsoft.com/office/drawing/2014/main" id="{7812BA24-83A1-4BE7-C151-103902A3EB1F}"/>
              </a:ext>
            </a:extLst>
          </p:cNvPr>
          <p:cNvSpPr txBox="1"/>
          <p:nvPr/>
        </p:nvSpPr>
        <p:spPr>
          <a:xfrm>
            <a:off x="6528048" y="2531174"/>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113709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a:t>
            </a:r>
          </a:p>
        </p:txBody>
      </p:sp>
      <p:sp>
        <p:nvSpPr>
          <p:cNvPr id="5" name="Rectangle 4"/>
          <p:cNvSpPr/>
          <p:nvPr/>
        </p:nvSpPr>
        <p:spPr>
          <a:xfrm>
            <a:off x="1676400" y="76201"/>
            <a:ext cx="8839200" cy="430887"/>
          </a:xfrm>
          <a:prstGeom prst="rect">
            <a:avLst/>
          </a:prstGeom>
          <a:solidFill>
            <a:srgbClr val="E5EAC8"/>
          </a:solidFill>
        </p:spPr>
        <p:txBody>
          <a:bodyPr wrap="square">
            <a:spAutoFit/>
          </a:bodyPr>
          <a:lstStyle/>
          <a:p>
            <a:r>
              <a:rPr lang="en-IN" sz="2200" dirty="0">
                <a:latin typeface="Segoe UI Light" panose="020B0502040204020203" pitchFamily="34" charset="0"/>
                <a:cs typeface="Segoe UI Light" panose="020B0502040204020203" pitchFamily="34" charset="0"/>
              </a:rPr>
              <a:t>Use a CREATE TABLE statement to specify the layout of your table.</a:t>
            </a:r>
          </a:p>
        </p:txBody>
      </p:sp>
      <p:sp>
        <p:nvSpPr>
          <p:cNvPr id="7" name="Rectangle 6">
            <a:extLst>
              <a:ext uri="{FF2B5EF4-FFF2-40B4-BE49-F238E27FC236}">
                <a16:creationId xmlns:a16="http://schemas.microsoft.com/office/drawing/2014/main" id="{6A1337E7-EA2D-4FF4-8F1A-0FD70109FB9D}"/>
              </a:ext>
            </a:extLst>
          </p:cNvPr>
          <p:cNvSpPr/>
          <p:nvPr/>
        </p:nvSpPr>
        <p:spPr>
          <a:xfrm>
            <a:off x="2166300" y="3095963"/>
            <a:ext cx="7846373" cy="400110"/>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Use a </a:t>
            </a:r>
            <a:r>
              <a:rPr lang="en-IN" sz="2000" b="1" dirty="0">
                <a:latin typeface="Palatino Linotype" panose="02040502050505030304" pitchFamily="18" charset="0"/>
                <a:cs typeface="Segoe UI Light" panose="020B0502040204020203" pitchFamily="34" charset="0"/>
              </a:rPr>
              <a:t>CREATE TABLE </a:t>
            </a:r>
            <a:r>
              <a:rPr lang="en-IN" sz="2000" dirty="0">
                <a:latin typeface="Palatino Linotype" panose="02040502050505030304" pitchFamily="18" charset="0"/>
                <a:cs typeface="Segoe UI Light" panose="020B0502040204020203" pitchFamily="34" charset="0"/>
              </a:rPr>
              <a:t>statement to specify the layout of your table.</a:t>
            </a:r>
          </a:p>
        </p:txBody>
      </p:sp>
      <p:sp>
        <p:nvSpPr>
          <p:cNvPr id="8" name="Rectangle 7">
            <a:extLst>
              <a:ext uri="{FF2B5EF4-FFF2-40B4-BE49-F238E27FC236}">
                <a16:creationId xmlns:a16="http://schemas.microsoft.com/office/drawing/2014/main" id="{D3D08B3E-D2EE-4D3C-A614-3FE7A6911A79}"/>
              </a:ext>
            </a:extLst>
          </p:cNvPr>
          <p:cNvSpPr/>
          <p:nvPr/>
        </p:nvSpPr>
        <p:spPr>
          <a:xfrm>
            <a:off x="263352" y="4149080"/>
            <a:ext cx="11593288" cy="166199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USER TABLES</a:t>
            </a:r>
            <a:r>
              <a:rPr lang="en-US" dirty="0">
                <a:latin typeface="Arial" panose="020B0604020202020204" pitchFamily="34" charset="0"/>
                <a:cs typeface="Arial" panose="020B0604020202020204" pitchFamily="34" charset="0"/>
              </a:rPr>
              <a:t>: This is a collection of tables created and maintained by the user. Contain USER information.</a:t>
            </a:r>
          </a:p>
          <a:p>
            <a:pPr marL="285750" indent="-285750">
              <a:buFont typeface="Arial" panose="020B0604020202020204" pitchFamily="34" charset="0"/>
              <a:buChar char="•"/>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DATA DICTIONARY</a:t>
            </a:r>
            <a:r>
              <a:rPr lang="en-US" dirty="0">
                <a:latin typeface="Arial" panose="020B0604020202020204" pitchFamily="34" charset="0"/>
                <a:cs typeface="Arial" panose="020B0604020202020204" pitchFamily="34" charset="0"/>
              </a:rPr>
              <a:t>: This is a collection of tables created and maintained by the MySQL Server. It contains database information. All data dictionary tables are owned by the SYS user.</a:t>
            </a:r>
          </a:p>
        </p:txBody>
      </p:sp>
      <p:sp>
        <p:nvSpPr>
          <p:cNvPr id="10" name="TextBox 9">
            <a:extLst>
              <a:ext uri="{FF2B5EF4-FFF2-40B4-BE49-F238E27FC236}">
                <a16:creationId xmlns:a16="http://schemas.microsoft.com/office/drawing/2014/main" id="{0260AA27-F642-2E96-1501-99B7295F0300}"/>
              </a:ext>
            </a:extLst>
          </p:cNvPr>
          <p:cNvSpPr txBox="1"/>
          <p:nvPr/>
        </p:nvSpPr>
        <p:spPr>
          <a:xfrm>
            <a:off x="263352" y="1268760"/>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Max 4096 columns per table provided the row size &lt;= 65,535 Bytes.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NULL value is different from values such as 0 for numeric types or the empty string for string types.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18996878"/>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05C45AA-4344-457B-946D-7E2D8508B28A}"/>
              </a:ext>
            </a:extLst>
          </p:cNvPr>
          <p:cNvSpPr/>
          <p:nvPr/>
        </p:nvSpPr>
        <p:spPr>
          <a:xfrm>
            <a:off x="263352" y="2143303"/>
            <a:ext cx="11665296" cy="38779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by default, tables are created in the default database, using the InnoDB storage engine.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should not begin with a number or special symbols.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can start with _table_name (</a:t>
            </a:r>
            <a:r>
              <a:rPr lang="en-IN" dirty="0">
                <a:solidFill>
                  <a:schemeClr val="bg2">
                    <a:lumMod val="50000"/>
                  </a:schemeClr>
                </a:solidFill>
                <a:latin typeface="Arial" panose="020B0604020202020204" pitchFamily="34" charset="0"/>
                <a:cs typeface="Arial" panose="020B0604020202020204" pitchFamily="34" charset="0"/>
              </a:rPr>
              <a:t>underscore</a:t>
            </a:r>
            <a:r>
              <a:rPr lang="en-IN" dirty="0">
                <a:latin typeface="Arial" panose="020B0604020202020204" pitchFamily="34" charset="0"/>
                <a:cs typeface="Arial" panose="020B0604020202020204" pitchFamily="34" charset="0"/>
              </a:rPr>
              <a:t>)  or $table_name (</a:t>
            </a:r>
            <a:r>
              <a:rPr lang="en-IN" dirty="0">
                <a:solidFill>
                  <a:schemeClr val="bg2">
                    <a:lumMod val="50000"/>
                  </a:schemeClr>
                </a:solidFill>
                <a:latin typeface="Arial" panose="020B0604020202020204" pitchFamily="34" charset="0"/>
                <a:cs typeface="Arial" panose="020B0604020202020204" pitchFamily="34" charset="0"/>
              </a:rPr>
              <a:t>dollar</a:t>
            </a:r>
            <a:r>
              <a:rPr lang="en-IN" dirty="0">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sign</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and column name can have max 64 char.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words as table_name is invalid, if you want to give multiple words as table_name then give it in `table_name` (</a:t>
            </a:r>
            <a:r>
              <a:rPr lang="en-IN" dirty="0">
                <a:solidFill>
                  <a:schemeClr val="bg2">
                    <a:lumMod val="50000"/>
                  </a:schemeClr>
                </a:solidFill>
                <a:latin typeface="Arial" panose="020B0604020202020204" pitchFamily="34" charset="0"/>
                <a:cs typeface="Arial" panose="020B0604020202020204" pitchFamily="34" charset="0"/>
              </a:rPr>
              <a:t>backtick</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table exists.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there is no default database.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database does not exist.</a:t>
            </a:r>
          </a:p>
        </p:txBody>
      </p:sp>
      <p:sp>
        <p:nvSpPr>
          <p:cNvPr id="9" name="Rectangle 8">
            <a:extLst>
              <a:ext uri="{FF2B5EF4-FFF2-40B4-BE49-F238E27FC236}">
                <a16:creationId xmlns:a16="http://schemas.microsoft.com/office/drawing/2014/main" id="{6807EBAC-5D98-4A00-8D97-92B56FEE634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6C72572-1A28-46C0-89E9-D366AD68790A}"/>
              </a:ext>
            </a:extLst>
          </p:cNvPr>
          <p:cNvSpPr/>
          <p:nvPr/>
        </p:nvSpPr>
        <p:spPr>
          <a:xfrm>
            <a:off x="3647728" y="539388"/>
            <a:ext cx="7160096" cy="369332"/>
          </a:xfrm>
          <a:prstGeom prst="rect">
            <a:avLst/>
          </a:prstGeom>
        </p:spPr>
        <p:txBody>
          <a:bodyPr wrap="square">
            <a:spAutoFit/>
          </a:bodyPr>
          <a:lstStyle/>
          <a:p>
            <a:r>
              <a:rPr lang="en-IN" sz="1800" dirty="0">
                <a:latin typeface="Palatino Linotype" panose="02040502050505030304" pitchFamily="18" charset="0"/>
                <a:cs typeface="Segoe UI Light" panose="020B0502040204020203" pitchFamily="34" charset="0"/>
              </a:rPr>
              <a:t>Use a </a:t>
            </a:r>
            <a:r>
              <a:rPr lang="en-IN" sz="1800" b="1" dirty="0">
                <a:latin typeface="Palatino Linotype" panose="02040502050505030304" pitchFamily="18" charset="0"/>
                <a:cs typeface="Segoe UI Light" panose="020B0502040204020203" pitchFamily="34" charset="0"/>
              </a:rPr>
              <a:t>CREATE TABLE </a:t>
            </a:r>
            <a:r>
              <a:rPr lang="en-IN" sz="1800" dirty="0">
                <a:latin typeface="Palatino Linotype" panose="02040502050505030304" pitchFamily="18" charset="0"/>
                <a:cs typeface="Segoe UI Light" panose="020B0502040204020203" pitchFamily="34" charset="0"/>
              </a:rPr>
              <a:t>statement to specify the layout of your table.</a:t>
            </a:r>
          </a:p>
        </p:txBody>
      </p:sp>
      <p:sp>
        <p:nvSpPr>
          <p:cNvPr id="3" name="Rectangle 2">
            <a:extLst>
              <a:ext uri="{FF2B5EF4-FFF2-40B4-BE49-F238E27FC236}">
                <a16:creationId xmlns:a16="http://schemas.microsoft.com/office/drawing/2014/main" id="{70952861-E6C5-47C2-93FA-DA6AAD9E7DAD}"/>
              </a:ext>
            </a:extLst>
          </p:cNvPr>
          <p:cNvSpPr/>
          <p:nvPr/>
        </p:nvSpPr>
        <p:spPr>
          <a:xfrm>
            <a:off x="119336" y="1187460"/>
            <a:ext cx="5976664" cy="73866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`123`</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a:p>
            <a:pPr marL="285750" indent="-285750">
              <a:buFont typeface="Arial" panose="020B0604020202020204" pitchFamily="34" charset="0"/>
              <a:buChar char="•"/>
            </a:pPr>
            <a:endParaRPr lang="en-IN" sz="600" b="1"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`Order Details`</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p:txBody>
      </p:sp>
    </p:spTree>
    <p:extLst>
      <p:ext uri="{BB962C8B-B14F-4D97-AF65-F5344CB8AC3E}">
        <p14:creationId xmlns:p14="http://schemas.microsoft.com/office/powerpoint/2010/main" val="2171286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B0BB18C-8E26-4C89-9176-D2A64173C529}"/>
              </a:ext>
            </a:extLst>
          </p:cNvPr>
          <p:cNvSpPr/>
          <p:nvPr/>
        </p:nvSpPr>
        <p:spPr>
          <a:xfrm>
            <a:off x="190550" y="901164"/>
            <a:ext cx="11810106" cy="5632311"/>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1">
                    <a:lumMod val="75000"/>
                    <a:lumOff val="25000"/>
                  </a:schemeClr>
                </a:solidFill>
                <a:latin typeface="Liberation Mono"/>
              </a:rPr>
              <a:t>tbl_name</a:t>
            </a:r>
          </a:p>
          <a:p>
            <a:r>
              <a:rPr lang="en-IN" sz="2000" dirty="0">
                <a:solidFill>
                  <a:srgbClr val="0077AA"/>
                </a:solidFill>
                <a:latin typeface="Liberation Mono"/>
              </a:rPr>
              <a:t>    </a:t>
            </a:r>
            <a:r>
              <a:rPr lang="en-IN" sz="2000" dirty="0">
                <a:solidFill>
                  <a:schemeClr val="tx1">
                    <a:lumMod val="75000"/>
                    <a:lumOff val="25000"/>
                  </a:schemeClr>
                </a:solidFill>
                <a:latin typeface="Liberation Mono"/>
              </a:rPr>
              <a:t>(</a:t>
            </a:r>
            <a:r>
              <a:rPr lang="en-IN" sz="2000" i="1" dirty="0">
                <a:solidFill>
                  <a:schemeClr val="accent4">
                    <a:lumMod val="50000"/>
                  </a:schemeClr>
                </a:solidFill>
                <a:latin typeface="Liberation Mono"/>
              </a:rPr>
              <a:t>create_defineation</a:t>
            </a:r>
            <a:r>
              <a:rPr lang="en-IN" sz="2000" i="1" dirty="0">
                <a:solidFill>
                  <a:schemeClr val="tx1">
                    <a:lumMod val="75000"/>
                    <a:lumOff val="25000"/>
                  </a:schemeClr>
                </a:solidFill>
                <a:latin typeface="Liberation Mono"/>
              </a:rPr>
              <a:t>, </a:t>
            </a:r>
            <a:r>
              <a:rPr lang="en-IN" sz="2000" i="1" dirty="0">
                <a:solidFill>
                  <a:schemeClr val="bg1">
                    <a:lumMod val="50000"/>
                  </a:schemeClr>
                </a:solidFill>
                <a:latin typeface="Liberation Mono"/>
              </a:rPr>
              <a:t>. . .</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a:t>
            </a:r>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[partition_options]</a:t>
            </a:r>
          </a:p>
          <a:p>
            <a:endParaRPr lang="en-IN" sz="1600" dirty="0">
              <a:solidFill>
                <a:srgbClr val="0077AA"/>
              </a:solidFill>
              <a:latin typeface="Liberation Mono"/>
            </a:endParaRPr>
          </a:p>
          <a:p>
            <a:r>
              <a:rPr lang="en-US" sz="2000" b="1" i="1" dirty="0">
                <a:solidFill>
                  <a:schemeClr val="accent4">
                    <a:lumMod val="50000"/>
                  </a:schemeClr>
                </a:solidFill>
                <a:latin typeface="Liberation Mono"/>
              </a:rPr>
              <a:t>create_definition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col_name </a:t>
            </a:r>
            <a:r>
              <a:rPr lang="en-US" sz="2000" b="1" i="1" dirty="0">
                <a:solidFill>
                  <a:schemeClr val="bg2">
                    <a:lumMod val="50000"/>
                  </a:schemeClr>
                </a:solidFill>
                <a:latin typeface="Liberation Mono"/>
              </a:rPr>
              <a:t>column_definition</a:t>
            </a:r>
          </a:p>
          <a:p>
            <a:endParaRPr lang="en-US" sz="1600" dirty="0">
              <a:solidFill>
                <a:srgbClr val="0077AA"/>
              </a:solidFill>
              <a:latin typeface="Liberation Mono"/>
            </a:endParaRPr>
          </a:p>
          <a:p>
            <a:r>
              <a:rPr lang="en-US" sz="2000" b="1" i="1" dirty="0">
                <a:solidFill>
                  <a:schemeClr val="bg2">
                    <a:lumMod val="50000"/>
                  </a:schemeClr>
                </a:solidFill>
                <a:latin typeface="Liberation Mono"/>
              </a:rPr>
              <a:t>column_definition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data_type [NOT NULL | NULL] [DEFAULT default_value]</a:t>
            </a:r>
          </a:p>
          <a:p>
            <a:r>
              <a:rPr lang="en-US" sz="2000" dirty="0">
                <a:solidFill>
                  <a:schemeClr val="tx1">
                    <a:lumMod val="75000"/>
                    <a:lumOff val="25000"/>
                  </a:schemeClr>
                </a:solidFill>
                <a:latin typeface="Liberation Mono"/>
              </a:rPr>
              <a:t>      [AUTO_INCREMENT] [UNIQUE [KEY] | [PRIMARY] KEY]</a:t>
            </a:r>
          </a:p>
          <a:p>
            <a:r>
              <a:rPr lang="en-US" sz="2000" dirty="0">
                <a:solidFill>
                  <a:schemeClr val="tx1">
                    <a:lumMod val="75000"/>
                    <a:lumOff val="25000"/>
                  </a:schemeClr>
                </a:solidFill>
                <a:latin typeface="Liberation Mono"/>
              </a:rPr>
              <a:t>      [reference_definition]</a:t>
            </a:r>
          </a:p>
          <a:p>
            <a:r>
              <a:rPr lang="en-US" sz="2000" dirty="0">
                <a:solidFill>
                  <a:schemeClr val="tx1">
                    <a:lumMod val="75000"/>
                    <a:lumOff val="25000"/>
                  </a:schemeClr>
                </a:solidFill>
                <a:latin typeface="Liberation Mono"/>
              </a:rPr>
              <a:t>  | data_type [GENERATED ALWAYS] AS (expression)  [VIRTUAL] </a:t>
            </a:r>
          </a:p>
          <a:p>
            <a:r>
              <a:rPr lang="en-US" sz="2000" dirty="0">
                <a:solidFill>
                  <a:schemeClr val="tx1">
                    <a:lumMod val="75000"/>
                    <a:lumOff val="25000"/>
                  </a:schemeClr>
                </a:solidFill>
                <a:latin typeface="Liberation Mono"/>
              </a:rPr>
              <a:t>     </a:t>
            </a:r>
            <a:r>
              <a:rPr lang="en-IN" sz="2000" dirty="0">
                <a:solidFill>
                  <a:schemeClr val="tx1">
                    <a:lumMod val="75000"/>
                    <a:lumOff val="25000"/>
                  </a:schemeClr>
                </a:solidFill>
                <a:latin typeface="Liberation Mono"/>
              </a:rPr>
              <a:t>[VISIBLE | INVISIBLE]</a:t>
            </a:r>
            <a:endParaRPr lang="en-US" sz="2000" dirty="0">
              <a:solidFill>
                <a:schemeClr val="tx1">
                  <a:lumMod val="75000"/>
                  <a:lumOff val="25000"/>
                </a:schemeClr>
              </a:solidFill>
              <a:latin typeface="Liberation Mono"/>
            </a:endParaRPr>
          </a:p>
          <a:p>
            <a:r>
              <a:rPr lang="en-US" sz="1600" dirty="0">
                <a:solidFill>
                  <a:srgbClr val="0077AA"/>
                </a:solidFill>
                <a:latin typeface="Liberation Mono"/>
              </a:rPr>
              <a:t>    </a:t>
            </a:r>
          </a:p>
          <a:p>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AUTO_INCREMENT = &lt;number&gt;  </a:t>
            </a:r>
            <a:r>
              <a:rPr lang="en-IN" sz="1600" dirty="0">
                <a:solidFill>
                  <a:srgbClr val="FF0000"/>
                </a:solidFill>
                <a:latin typeface="Liberation Mono"/>
              </a:rPr>
              <a:t>// must be used with </a:t>
            </a:r>
            <a:r>
              <a:rPr lang="en-US" sz="1600" dirty="0">
                <a:solidFill>
                  <a:srgbClr val="FF0000"/>
                </a:solidFill>
                <a:latin typeface="Liberation Mono"/>
              </a:rPr>
              <a:t>AUTO_INCREMENT definition</a:t>
            </a:r>
            <a:endParaRPr lang="en-IN" sz="2000" dirty="0">
              <a:solidFill>
                <a:srgbClr val="FF0000"/>
              </a:solidFill>
              <a:latin typeface="Liberation Mono"/>
            </a:endParaRPr>
          </a:p>
          <a:p>
            <a:r>
              <a:rPr lang="en-IN" sz="2000" dirty="0">
                <a:solidFill>
                  <a:schemeClr val="tx1">
                    <a:lumMod val="75000"/>
                    <a:lumOff val="25000"/>
                  </a:schemeClr>
                </a:solidFill>
                <a:latin typeface="Liberation Mono"/>
              </a:rPr>
              <a:t>ENGINE [=] engine_name</a:t>
            </a:r>
          </a:p>
        </p:txBody>
      </p:sp>
      <p:sp>
        <p:nvSpPr>
          <p:cNvPr id="6" name="Rectangle 5">
            <a:extLst>
              <a:ext uri="{FF2B5EF4-FFF2-40B4-BE49-F238E27FC236}">
                <a16:creationId xmlns:a16="http://schemas.microsoft.com/office/drawing/2014/main" id="{F689B470-43DD-4AB2-BFBD-B57A34ABD5C0}"/>
              </a:ext>
            </a:extLst>
          </p:cNvPr>
          <p:cNvSpPr/>
          <p:nvPr/>
        </p:nvSpPr>
        <p:spPr>
          <a:xfrm>
            <a:off x="190550" y="332656"/>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7" name="Rectangle 6">
            <a:extLst>
              <a:ext uri="{FF2B5EF4-FFF2-40B4-BE49-F238E27FC236}">
                <a16:creationId xmlns:a16="http://schemas.microsoft.com/office/drawing/2014/main" id="{DDE89875-348C-4254-B27A-CE191D2ACD2B}"/>
              </a:ext>
            </a:extLst>
          </p:cNvPr>
          <p:cNvSpPr/>
          <p:nvPr/>
        </p:nvSpPr>
        <p:spPr>
          <a:xfrm>
            <a:off x="8043043" y="526804"/>
            <a:ext cx="3717023" cy="2431435"/>
          </a:xfrm>
          <a:prstGeom prst="rect">
            <a:avLst/>
          </a:prstGeom>
        </p:spPr>
        <p:txBody>
          <a:bodyPr wrap="square">
            <a:spAutoFit/>
          </a:bodyPr>
          <a:lstStyle/>
          <a:p>
            <a:r>
              <a:rPr lang="en-IN" dirty="0">
                <a:solidFill>
                  <a:srgbClr val="FF0000"/>
                </a:solidFill>
                <a:latin typeface="Liberation Mono"/>
                <a:ea typeface="Times New Roman" panose="02020603050405020304" pitchFamily="18" charset="0"/>
              </a:rPr>
              <a:t>e.g.</a:t>
            </a:r>
          </a:p>
          <a:p>
            <a:endParaRPr lang="en-IN" sz="800" dirty="0">
              <a:solidFill>
                <a:srgbClr val="FF0000"/>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student</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pPr marL="177800"/>
            <a:r>
              <a:rPr lang="en-IN" dirty="0">
                <a:solidFill>
                  <a:schemeClr val="tx1">
                    <a:lumMod val="95000"/>
                    <a:lumOff val="5000"/>
                  </a:schemeClr>
                </a:solidFill>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p>
          <a:p>
            <a:pPr marL="177800"/>
            <a:r>
              <a:rPr lang="en-IN" dirty="0">
                <a:solidFill>
                  <a:schemeClr val="tx1">
                    <a:lumMod val="95000"/>
                    <a:lumOff val="5000"/>
                  </a:schemeClr>
                </a:solidFill>
                <a:latin typeface="Liberation Mono"/>
                <a:ea typeface="Times New Roman" panose="02020603050405020304" pitchFamily="18"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lastName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pPr marL="177800"/>
            <a:r>
              <a:rPr lang="en-IN" dirty="0">
                <a:solidFill>
                  <a:schemeClr val="tx1">
                    <a:lumMod val="95000"/>
                    <a:lumOff val="5000"/>
                  </a:schemeClr>
                </a:solidFill>
                <a:latin typeface="Liberation Mono"/>
                <a:ea typeface="Times New Roman" panose="02020603050405020304" pitchFamily="18" charset="0"/>
              </a:rPr>
              <a:t>     DoB </a:t>
            </a:r>
            <a:r>
              <a:rPr lang="en-IN" dirty="0">
                <a:solidFill>
                  <a:srgbClr val="834689"/>
                </a:solidFill>
                <a:latin typeface="Liberation Mono"/>
                <a:cs typeface="Arial" panose="020B0604020202020204" pitchFamily="34" charset="0"/>
              </a:rPr>
              <a:t>DATE</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pPr marL="177800"/>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endParaRPr lang="en-IN" dirty="0">
              <a:solidFill>
                <a:schemeClr val="tx1">
                  <a:lumMod val="95000"/>
                  <a:lumOff val="5000"/>
                </a:schemeClr>
              </a:solidFill>
              <a:latin typeface="Liberation Mono"/>
            </a:endParaRPr>
          </a:p>
        </p:txBody>
      </p:sp>
      <p:sp>
        <p:nvSpPr>
          <p:cNvPr id="9" name="Rectangle 8">
            <a:extLst>
              <a:ext uri="{FF2B5EF4-FFF2-40B4-BE49-F238E27FC236}">
                <a16:creationId xmlns:a16="http://schemas.microsoft.com/office/drawing/2014/main" id="{236D9F70-84BE-4196-AA0F-1810721AFDFF}"/>
              </a:ext>
            </a:extLst>
          </p:cNvPr>
          <p:cNvSpPr/>
          <p:nvPr/>
        </p:nvSpPr>
        <p:spPr>
          <a:xfrm>
            <a:off x="7182030" y="5972697"/>
            <a:ext cx="5017271" cy="830997"/>
          </a:xfrm>
          <a:prstGeom prst="rect">
            <a:avLst/>
          </a:prstGeom>
        </p:spPr>
        <p:txBody>
          <a:bodyPr wrap="none">
            <a:spAutoFit/>
          </a:bodyPr>
          <a:lstStyle/>
          <a:p>
            <a:r>
              <a:rPr lang="en-US" sz="2400" dirty="0">
                <a:solidFill>
                  <a:srgbClr val="0070C0"/>
                </a:solidFill>
                <a:latin typeface="Liberation Mono"/>
              </a:rPr>
              <a:t>show engines;</a:t>
            </a:r>
          </a:p>
          <a:p>
            <a:r>
              <a:rPr lang="en-US" sz="2400" dirty="0">
                <a:solidFill>
                  <a:srgbClr val="0070C0"/>
                </a:solidFill>
                <a:latin typeface="Liberation Mono"/>
              </a:rPr>
              <a:t>set default_storage_engine = memory;</a:t>
            </a:r>
          </a:p>
        </p:txBody>
      </p:sp>
    </p:spTree>
    <p:extLst>
      <p:ext uri="{BB962C8B-B14F-4D97-AF65-F5344CB8AC3E}">
        <p14:creationId xmlns:p14="http://schemas.microsoft.com/office/powerpoint/2010/main" val="1892825253"/>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8E882-3800-C3FB-553F-10D36D7DD0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8030E468-D4AE-7F9C-4228-7A2C9491E31B}"/>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Using NULLs Everywhere</a:t>
            </a:r>
          </a:p>
        </p:txBody>
      </p:sp>
      <p:sp>
        <p:nvSpPr>
          <p:cNvPr id="18" name="Rectangle 17">
            <a:extLst>
              <a:ext uri="{FF2B5EF4-FFF2-40B4-BE49-F238E27FC236}">
                <a16:creationId xmlns:a16="http://schemas.microsoft.com/office/drawing/2014/main" id="{6A69F008-07C3-8789-0D63-37D91023B41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nulls</a:t>
            </a:r>
          </a:p>
        </p:txBody>
      </p:sp>
      <p:sp>
        <p:nvSpPr>
          <p:cNvPr id="14" name="TextBox 13">
            <a:extLst>
              <a:ext uri="{FF2B5EF4-FFF2-40B4-BE49-F238E27FC236}">
                <a16:creationId xmlns:a16="http://schemas.microsoft.com/office/drawing/2014/main" id="{D2440314-2ADD-2FEE-4084-84F0F9F3C0E1}"/>
              </a:ext>
            </a:extLst>
          </p:cNvPr>
          <p:cNvSpPr txBox="1"/>
          <p:nvPr/>
        </p:nvSpPr>
        <p:spPr>
          <a:xfrm>
            <a:off x="288344" y="1650138"/>
            <a:ext cx="5807656" cy="243143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remarks </a:t>
            </a:r>
            <a:r>
              <a:rPr lang="en-US" dirty="0">
                <a:solidFill>
                  <a:srgbClr val="834689"/>
                </a:solidFill>
                <a:latin typeface="Liberation Mono"/>
                <a:cs typeface="Arial" panose="020B0604020202020204" pitchFamily="34" charset="0"/>
              </a:rPr>
              <a:t>TEXT</a:t>
            </a:r>
            <a:r>
              <a:rPr lang="en-US" dirty="0">
                <a:latin typeface="Liberation Mono"/>
                <a:cs typeface="Arial" panose="020B0604020202020204" pitchFamily="34" charset="0"/>
              </a:rPr>
              <a:t> </a:t>
            </a:r>
            <a:r>
              <a:rPr lang="en-US" dirty="0">
                <a:solidFill>
                  <a:srgbClr val="A67F59"/>
                </a:solidFill>
                <a:latin typeface="Liberation Mono"/>
              </a:rPr>
              <a:t>NULL</a:t>
            </a:r>
          </a:p>
          <a:p>
            <a:pPr marL="895350"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516F2725-1E59-FA71-5AD0-8CD630225ABA}"/>
              </a:ext>
            </a:extLst>
          </p:cNvPr>
          <p:cNvSpPr txBox="1"/>
          <p:nvPr/>
        </p:nvSpPr>
        <p:spPr>
          <a:xfrm>
            <a:off x="7248128" y="1650138"/>
            <a:ext cx="4824536" cy="255454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p>
          <a:p>
            <a:pPr algn="just"/>
            <a:endParaRPr lang="en-IN" sz="4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Use DEFAULT values where possible.</a:t>
            </a:r>
          </a:p>
          <a:p>
            <a:pPr algn="just"/>
            <a:endParaRPr lang="en-US"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Split optional data into separate tables.</a:t>
            </a:r>
            <a:endParaRPr lang="en-IN" dirty="0">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a:t>
            </a:r>
            <a:r>
              <a:rPr lang="en-US" dirty="0">
                <a:latin typeface="Liberation Mono"/>
                <a:cs typeface="Arial" panose="020B0604020202020204" pitchFamily="34" charset="0"/>
              </a:rPr>
              <a:t> employee_contacts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NOT</a:t>
            </a:r>
            <a:r>
              <a:rPr lang="en-US" dirty="0">
                <a:latin typeface="Liberation Mono"/>
                <a:cs typeface="Arial" panose="020B0604020202020204" pitchFamily="34" charset="0"/>
              </a:rPr>
              <a:t>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0077AA"/>
                </a:solidFill>
                <a:latin typeface="Liberation Mono"/>
                <a:cs typeface="Arial" panose="020B0604020202020204" pitchFamily="34" charset="0"/>
              </a:rPr>
              <a:t>DEFAULT</a:t>
            </a:r>
            <a:r>
              <a:rPr lang="en-US" dirty="0">
                <a:latin typeface="Liberation Mono"/>
                <a:cs typeface="Arial" panose="020B0604020202020204" pitchFamily="34" charset="0"/>
              </a:rPr>
              <a:t> ''</a:t>
            </a:r>
          </a:p>
          <a:p>
            <a:pPr marL="895350"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AE4C8358-DAF2-0505-B658-E14FB2FEAB8B}"/>
              </a:ext>
            </a:extLst>
          </p:cNvPr>
          <p:cNvSpPr txBox="1"/>
          <p:nvPr/>
        </p:nvSpPr>
        <p:spPr>
          <a:xfrm>
            <a:off x="288344" y="4574738"/>
            <a:ext cx="6671752" cy="144655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Excessive NULL values waste space and complicate queries.</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have to use IS NULL or COALESCE() everywhere.</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Confusing logic for "missing", "unknown", or "not applicable."</a:t>
            </a:r>
          </a:p>
        </p:txBody>
      </p:sp>
    </p:spTree>
    <p:extLst>
      <p:ext uri="{BB962C8B-B14F-4D97-AF65-F5344CB8AC3E}">
        <p14:creationId xmlns:p14="http://schemas.microsoft.com/office/powerpoint/2010/main" val="1187653629"/>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default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5814061B-FECC-4530-8E1D-B568053BB043}"/>
              </a:ext>
            </a:extLst>
          </p:cNvPr>
          <p:cNvSpPr/>
          <p:nvPr/>
        </p:nvSpPr>
        <p:spPr>
          <a:xfrm>
            <a:off x="1559496" y="3228945"/>
            <a:ext cx="9073008" cy="400110"/>
          </a:xfrm>
          <a:prstGeom prst="rect">
            <a:avLst/>
          </a:prstGeom>
        </p:spPr>
        <p:txBody>
          <a:bodyPr wrap="square">
            <a:spAutoFit/>
          </a:bodyPr>
          <a:lstStyle/>
          <a:p>
            <a:pPr algn="ctr"/>
            <a:r>
              <a:rPr lang="en-US" sz="2000" dirty="0">
                <a:latin typeface="Palatino Linotype" panose="02040502050505030304" pitchFamily="18" charset="0"/>
                <a:cs typeface="Segoe UI Light" panose="020B0502040204020203" pitchFamily="34" charset="0"/>
              </a:rPr>
              <a:t>The DEFAULT specifies a default value for the column.</a:t>
            </a:r>
          </a:p>
        </p:txBody>
      </p:sp>
      <p:sp>
        <p:nvSpPr>
          <p:cNvPr id="5" name="TextBox 4">
            <a:extLst>
              <a:ext uri="{FF2B5EF4-FFF2-40B4-BE49-F238E27FC236}">
                <a16:creationId xmlns:a16="http://schemas.microsoft.com/office/drawing/2014/main" id="{F9555347-4C4D-533E-DAB9-0220928EF743}"/>
              </a:ext>
            </a:extLst>
          </p:cNvPr>
          <p:cNvSpPr txBox="1"/>
          <p:nvPr/>
        </p:nvSpPr>
        <p:spPr>
          <a:xfrm>
            <a:off x="767408" y="376788"/>
            <a:ext cx="10657184" cy="110799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Literals, built-in functions (both deterministic and nondeterministic), and operators are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Subqueries, parameters, variables, and stored functions are not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An expression default value cannot depend on a column that has the AUTO_INCREMENT attribute.</a:t>
            </a:r>
          </a:p>
        </p:txBody>
      </p:sp>
      <p:sp>
        <p:nvSpPr>
          <p:cNvPr id="7" name="TextBox 6">
            <a:extLst>
              <a:ext uri="{FF2B5EF4-FFF2-40B4-BE49-F238E27FC236}">
                <a16:creationId xmlns:a16="http://schemas.microsoft.com/office/drawing/2014/main" id="{29FD4F65-EFB7-469C-CA0A-9E7F60248FCD}"/>
              </a:ext>
            </a:extLst>
          </p:cNvPr>
          <p:cNvSpPr txBox="1"/>
          <p:nvPr/>
        </p:nvSpPr>
        <p:spPr>
          <a:xfrm>
            <a:off x="203968" y="4581128"/>
            <a:ext cx="11784066" cy="1107996"/>
          </a:xfrm>
          <a:prstGeom prst="rect">
            <a:avLst/>
          </a:prstGeom>
          <a:noFill/>
        </p:spPr>
        <p:txBody>
          <a:bodyPr wrap="square">
            <a:spAutoFit/>
          </a:bodyPr>
          <a:lstStyle/>
          <a:p>
            <a:pPr marL="285750" indent="-285750">
              <a:buFont typeface="Arial" panose="020B0604020202020204" pitchFamily="34" charset="0"/>
              <a:buChar char="•"/>
            </a:pPr>
            <a:r>
              <a:rPr lang="en-US" dirty="0">
                <a:latin typeface="Liberation Mono"/>
              </a:rPr>
              <a:t> </a:t>
            </a: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 KEY </a:t>
            </a:r>
            <a:r>
              <a:rPr lang="en-IN" dirty="0">
                <a:solidFill>
                  <a:srgbClr val="0077AA"/>
                </a:solidFill>
                <a:latin typeface="Liberation Mono"/>
                <a:cs typeface="Arial" panose="020B0604020202020204" pitchFamily="34" charset="0"/>
              </a:rPr>
              <a:t>AUTO_INCREMENT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p>
          <a:p>
            <a:endParaRPr lang="en-IN"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endParaRPr lang="en-US" dirty="0">
              <a:solidFill>
                <a:srgbClr val="F63122"/>
              </a:solidFill>
              <a:latin typeface="Liberation Mono"/>
            </a:endParaRPr>
          </a:p>
          <a:p>
            <a:pPr marL="285750" indent="-285750">
              <a:buFont typeface="Arial" panose="020B0604020202020204" pitchFamily="34" charset="0"/>
              <a:buChar char="•"/>
            </a:pPr>
            <a:endParaRPr lang="en-US" sz="600" dirty="0">
              <a:solidFill>
                <a:srgbClr val="F63122"/>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 c3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39AE0A"/>
                </a:solidFill>
                <a:latin typeface="Liberation Mono"/>
              </a:rPr>
              <a:t>// OK</a:t>
            </a:r>
            <a:endParaRPr lang="en-IN" dirty="0">
              <a:solidFill>
                <a:srgbClr val="39AE0A"/>
              </a:solidFill>
              <a:latin typeface="Liberation Mono"/>
            </a:endParaRPr>
          </a:p>
        </p:txBody>
      </p:sp>
    </p:spTree>
    <p:extLst>
      <p:ext uri="{BB962C8B-B14F-4D97-AF65-F5344CB8AC3E}">
        <p14:creationId xmlns:p14="http://schemas.microsoft.com/office/powerpoint/2010/main" val="1243358806"/>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1354084"/>
            <a:ext cx="11987239" cy="369332"/>
          </a:xfrm>
          <a:prstGeom prst="rect">
            <a:avLst/>
          </a:prstGeom>
        </p:spPr>
        <p:txBody>
          <a:bodyPr wrap="square">
            <a:spAutoFit/>
          </a:bodyPr>
          <a:lstStyle/>
          <a:p>
            <a:r>
              <a:rPr lang="en-US" dirty="0"/>
              <a:t>The </a:t>
            </a:r>
            <a:r>
              <a:rPr lang="en-US" b="1" dirty="0"/>
              <a:t>DEFAULT</a:t>
            </a:r>
            <a:r>
              <a:rPr lang="en-US" dirty="0"/>
              <a:t> specifies a </a:t>
            </a:r>
            <a:r>
              <a:rPr lang="en-US" b="1" dirty="0"/>
              <a:t>default</a:t>
            </a:r>
            <a:r>
              <a:rPr lang="en-US" dirty="0"/>
              <a:t> 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390870" y="3755935"/>
            <a:ext cx="4767765" cy="2985433"/>
          </a:xfrm>
          <a:prstGeom prst="rect">
            <a:avLst/>
          </a:prstGeom>
        </p:spPr>
        <p:txBody>
          <a:bodyPr wrap="square">
            <a:spAutoFit/>
          </a:bodyPr>
          <a:lstStyle/>
          <a:p>
            <a:r>
              <a:rPr lang="en-US" sz="1800" dirty="0">
                <a:solidFill>
                  <a:srgbClr val="00B050"/>
                </a:solidFill>
                <a:latin typeface="Liberation Mono"/>
                <a:ea typeface="Times New Roman" panose="02020603050405020304" pitchFamily="18" charset="0"/>
                <a:cs typeface="Arial" panose="020B0604020202020204" pitchFamily="34" charset="0"/>
              </a:rPr>
              <a:t># version 8.0 and above.</a:t>
            </a:r>
          </a:p>
          <a:p>
            <a:endParaRPr lang="en-US" sz="800" dirty="0">
              <a:solidFill>
                <a:srgbClr val="0077AA"/>
              </a:solidFill>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CREATE TABLE </a:t>
            </a:r>
            <a:r>
              <a:rPr lang="en-US" dirty="0">
                <a:latin typeface="Liberation Mono"/>
                <a:cs typeface="Arial" panose="020B0604020202020204" pitchFamily="34" charset="0"/>
              </a:rPr>
              <a:t>empl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ID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 KEY</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 </a:t>
            </a:r>
          </a:p>
          <a:p>
            <a:pPr marL="273050"/>
            <a:r>
              <a:rPr lang="en-US" dirty="0">
                <a:latin typeface="Liberation Mono"/>
                <a:cs typeface="Arial" panose="020B0604020202020204" pitchFamily="34" charset="0"/>
              </a:rPr>
              <a:t>   phone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 </a:t>
            </a:r>
            <a:r>
              <a:rPr lang="en-US" dirty="0">
                <a:solidFill>
                  <a:srgbClr val="006699"/>
                </a:solidFill>
                <a:latin typeface="Liberation Mono"/>
              </a:rPr>
              <a:t>DEFAULT</a:t>
            </a:r>
            <a:r>
              <a:rPr lang="en-US" b="1" dirty="0">
                <a:solidFill>
                  <a:srgbClr val="C00000"/>
                </a:solidFill>
                <a:latin typeface="Liberation Mono"/>
                <a:cs typeface="Arial" panose="020B0604020202020204" pitchFamily="34" charset="0"/>
              </a:rPr>
              <a:t> </a:t>
            </a:r>
            <a:r>
              <a:rPr lang="en-US" dirty="0">
                <a:solidFill>
                  <a:srgbClr val="669900"/>
                </a:solidFill>
                <a:latin typeface="Liberation Mono"/>
              </a:rPr>
              <a:t>'PUNE'</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   salary</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comm</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latin typeface="Liberation Mono"/>
                <a:cs typeface="Arial" panose="020B0604020202020204" pitchFamily="34" charset="0"/>
              </a:rPr>
              <a:t>   total</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006699"/>
                </a:solidFill>
                <a:latin typeface="Liberation Mono"/>
              </a:rPr>
              <a:t>DEFAULT</a:t>
            </a:r>
            <a:r>
              <a:rPr lang="en-US" dirty="0">
                <a:latin typeface="Liberation Mono"/>
                <a:cs typeface="Arial" panose="020B0604020202020204" pitchFamily="34" charset="0"/>
              </a:rPr>
              <a:t>(salary </a:t>
            </a:r>
            <a:r>
              <a:rPr lang="en-US" dirty="0">
                <a:solidFill>
                  <a:schemeClr val="accent5">
                    <a:lumMod val="75000"/>
                  </a:schemeClr>
                </a:solidFill>
                <a:latin typeface="Liberation Mono"/>
                <a:cs typeface="Arial" panose="020B0604020202020204" pitchFamily="34" charset="0"/>
              </a:rPr>
              <a:t>+</a:t>
            </a:r>
            <a:r>
              <a:rPr lang="en-US" b="1" dirty="0">
                <a:latin typeface="Liberation Mono"/>
                <a:cs typeface="Arial" panose="020B0604020202020204" pitchFamily="34" charset="0"/>
              </a:rPr>
              <a:t> </a:t>
            </a:r>
            <a:r>
              <a:rPr lang="en-US" dirty="0">
                <a:latin typeface="Liberation Mono"/>
                <a:cs typeface="Arial" panose="020B0604020202020204" pitchFamily="34" charset="0"/>
              </a:rPr>
              <a:t>comm)</a:t>
            </a:r>
          </a:p>
          <a:p>
            <a:pPr marL="273050"/>
            <a:r>
              <a:rPr lang="en-IN" dirty="0">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919008"/>
            <a:ext cx="469453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grpSp>
        <p:nvGrpSpPr>
          <p:cNvPr id="2" name="Group 1">
            <a:extLst>
              <a:ext uri="{FF2B5EF4-FFF2-40B4-BE49-F238E27FC236}">
                <a16:creationId xmlns:a16="http://schemas.microsoft.com/office/drawing/2014/main" id="{5011ED6B-7D84-4474-8C0B-72B9A136A0B9}"/>
              </a:ext>
            </a:extLst>
          </p:cNvPr>
          <p:cNvGrpSpPr/>
          <p:nvPr/>
        </p:nvGrpSpPr>
        <p:grpSpPr>
          <a:xfrm>
            <a:off x="5216691" y="4317290"/>
            <a:ext cx="6752950" cy="2243387"/>
            <a:chOff x="5231904" y="3356992"/>
            <a:chExt cx="6752950" cy="2243387"/>
          </a:xfrm>
        </p:grpSpPr>
        <p:pic>
          <p:nvPicPr>
            <p:cNvPr id="3" name="Picture 2">
              <a:extLst>
                <a:ext uri="{FF2B5EF4-FFF2-40B4-BE49-F238E27FC236}">
                  <a16:creationId xmlns:a16="http://schemas.microsoft.com/office/drawing/2014/main" id="{2C07C1E4-F0E0-490D-931C-D2C7CAE00DC8}"/>
                </a:ext>
              </a:extLst>
            </p:cNvPr>
            <p:cNvPicPr>
              <a:picLocks noChangeAspect="1"/>
            </p:cNvPicPr>
            <p:nvPr/>
          </p:nvPicPr>
          <p:blipFill>
            <a:blip r:embed="rId2"/>
            <a:stretch>
              <a:fillRect/>
            </a:stretch>
          </p:blipFill>
          <p:spPr>
            <a:xfrm>
              <a:off x="5231904" y="3356992"/>
              <a:ext cx="6752950" cy="2243387"/>
            </a:xfrm>
            <a:prstGeom prst="rect">
              <a:avLst/>
            </a:prstGeom>
          </p:spPr>
        </p:pic>
        <p:sp>
          <p:nvSpPr>
            <p:cNvPr id="4" name="Rectangle 3">
              <a:extLst>
                <a:ext uri="{FF2B5EF4-FFF2-40B4-BE49-F238E27FC236}">
                  <a16:creationId xmlns:a16="http://schemas.microsoft.com/office/drawing/2014/main" id="{9FC47D14-8E83-45AD-969B-984439A6AD0E}"/>
                </a:ext>
              </a:extLst>
            </p:cNvPr>
            <p:cNvSpPr/>
            <p:nvPr/>
          </p:nvSpPr>
          <p:spPr>
            <a:xfrm>
              <a:off x="5533888" y="5215086"/>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9" name="Group 8">
            <a:extLst>
              <a:ext uri="{FF2B5EF4-FFF2-40B4-BE49-F238E27FC236}">
                <a16:creationId xmlns:a16="http://schemas.microsoft.com/office/drawing/2014/main" id="{AEE9C3E1-0719-4A27-B187-7407F605FB58}"/>
              </a:ext>
            </a:extLst>
          </p:cNvPr>
          <p:cNvGrpSpPr/>
          <p:nvPr/>
        </p:nvGrpSpPr>
        <p:grpSpPr>
          <a:xfrm>
            <a:off x="5216691" y="1919008"/>
            <a:ext cx="6841394" cy="1624549"/>
            <a:chOff x="5216691" y="1257620"/>
            <a:chExt cx="6841394" cy="1624549"/>
          </a:xfrm>
        </p:grpSpPr>
        <p:pic>
          <p:nvPicPr>
            <p:cNvPr id="10" name="Picture 9">
              <a:extLst>
                <a:ext uri="{FF2B5EF4-FFF2-40B4-BE49-F238E27FC236}">
                  <a16:creationId xmlns:a16="http://schemas.microsoft.com/office/drawing/2014/main" id="{70C9F16D-D58C-4FCE-980F-42206A4B822C}"/>
                </a:ext>
              </a:extLst>
            </p:cNvPr>
            <p:cNvPicPr>
              <a:picLocks noChangeAspect="1"/>
            </p:cNvPicPr>
            <p:nvPr/>
          </p:nvPicPr>
          <p:blipFill>
            <a:blip r:embed="rId3"/>
            <a:stretch>
              <a:fillRect/>
            </a:stretch>
          </p:blipFill>
          <p:spPr>
            <a:xfrm>
              <a:off x="5216691" y="1257620"/>
              <a:ext cx="6841394" cy="1624549"/>
            </a:xfrm>
            <a:prstGeom prst="rect">
              <a:avLst/>
            </a:prstGeom>
          </p:spPr>
        </p:pic>
        <p:sp>
          <p:nvSpPr>
            <p:cNvPr id="11" name="Rectangle 10">
              <a:extLst>
                <a:ext uri="{FF2B5EF4-FFF2-40B4-BE49-F238E27FC236}">
                  <a16:creationId xmlns:a16="http://schemas.microsoft.com/office/drawing/2014/main" id="{366CB8D7-10DC-463F-A467-E513D01DF4C5}"/>
                </a:ext>
              </a:extLst>
            </p:cNvPr>
            <p:cNvSpPr/>
            <p:nvPr/>
          </p:nvSpPr>
          <p:spPr>
            <a:xfrm>
              <a:off x="5533888" y="2194781"/>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E18648F9-AB52-43A1-90C5-DD6976468932}"/>
              </a:ext>
            </a:extLst>
          </p:cNvPr>
          <p:cNvSpPr/>
          <p:nvPr/>
        </p:nvSpPr>
        <p:spPr>
          <a:xfrm>
            <a:off x="334567" y="764704"/>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DEFAULT value</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66466036"/>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insert</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a:t>
            </a:r>
          </a:p>
        </p:txBody>
      </p:sp>
      <p:pic>
        <p:nvPicPr>
          <p:cNvPr id="3" name="Picture 2">
            <a:extLst>
              <a:ext uri="{FF2B5EF4-FFF2-40B4-BE49-F238E27FC236}">
                <a16:creationId xmlns:a16="http://schemas.microsoft.com/office/drawing/2014/main" id="{3E42EAE3-733C-EBF2-1039-990A41FDDB33}"/>
              </a:ext>
            </a:extLst>
          </p:cNvPr>
          <p:cNvPicPr>
            <a:picLocks noChangeAspect="1"/>
          </p:cNvPicPr>
          <p:nvPr/>
        </p:nvPicPr>
        <p:blipFill>
          <a:blip r:embed="rId2"/>
          <a:stretch>
            <a:fillRect/>
          </a:stretch>
        </p:blipFill>
        <p:spPr>
          <a:xfrm>
            <a:off x="5835723" y="1272916"/>
            <a:ext cx="4489984" cy="1178934"/>
          </a:xfrm>
          <a:prstGeom prst="rect">
            <a:avLst/>
          </a:prstGeom>
        </p:spPr>
      </p:pic>
    </p:spTree>
    <p:extLst>
      <p:ext uri="{BB962C8B-B14F-4D97-AF65-F5344CB8AC3E}">
        <p14:creationId xmlns:p14="http://schemas.microsoft.com/office/powerpoint/2010/main" val="937933196"/>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update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92735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temp(</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r>
              <a:rPr lang="en-IN" dirty="0">
                <a:solidFill>
                  <a:srgbClr val="834689"/>
                </a:solidFill>
                <a:latin typeface="Liberation Mono"/>
                <a:cs typeface="Arial" panose="020B0604020202020204" pitchFamily="34" charset="0"/>
              </a:rPr>
              <a:t>,</a:t>
            </a:r>
          </a:p>
          <a:p>
            <a:pPr marL="273050"/>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c4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273050"/>
            <a:endParaRPr lang="en-IN" dirty="0">
              <a:latin typeface="Liberation Mono"/>
              <a:cs typeface="Arial" panose="020B0604020202020204" pitchFamily="34" charset="0"/>
            </a:endParaRP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c3</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c4</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611376854"/>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p:txBody>
      </p:sp>
      <p:sp>
        <p:nvSpPr>
          <p:cNvPr id="6" name="Rectangle 5">
            <a:extLst>
              <a:ext uri="{FF2B5EF4-FFF2-40B4-BE49-F238E27FC236}">
                <a16:creationId xmlns:a16="http://schemas.microsoft.com/office/drawing/2014/main" id="{6DE79E53-CAA4-40DF-AFCE-1F13A27C78F7}"/>
              </a:ext>
            </a:extLst>
          </p:cNvPr>
          <p:cNvSpPr/>
          <p:nvPr/>
        </p:nvSpPr>
        <p:spPr>
          <a:xfrm>
            <a:off x="406573" y="4437972"/>
            <a:ext cx="8990430" cy="1727332"/>
          </a:xfrm>
          <a:prstGeom prst="rect">
            <a:avLst/>
          </a:prstGeom>
          <a:solidFill>
            <a:schemeClr val="bg1"/>
          </a:solidFill>
        </p:spPr>
        <p:txBody>
          <a:bodyPr wrap="square">
            <a:spAutoFit/>
          </a:bodyPr>
          <a:lstStyle/>
          <a:p>
            <a:r>
              <a:rPr lang="en-IN" sz="2000" dirty="0">
                <a:solidFill>
                  <a:srgbClr val="FF0000"/>
                </a:solidFill>
                <a:latin typeface="Palatino Linotype" panose="02040502050505030304" pitchFamily="18" charset="0"/>
                <a:cs typeface="Segoe UI Light" panose="020B0502040204020203" pitchFamily="34" charset="0"/>
              </a:rPr>
              <a:t>You can insert data using following methods:</a:t>
            </a:r>
          </a:p>
          <a:p>
            <a:endParaRPr lang="en-IN" sz="800" dirty="0">
              <a:latin typeface="Palatino Linotype" panose="02040502050505030304" pitchFamily="18" charset="0"/>
              <a:cs typeface="Segoe UI Light" panose="020B0502040204020203" pitchFamily="34" charset="0"/>
            </a:endParaRP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VALUES</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SET</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SELECT</a:t>
            </a:r>
            <a:endParaRPr lang="en-IN" b="1" dirty="0">
              <a:solidFill>
                <a:srgbClr val="0070C0"/>
              </a:solidFill>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796406629"/>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can violate for any of the four types of constraints.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134D557-59D7-8A1F-D564-3BDB4D757793}"/>
              </a:ext>
            </a:extLst>
          </p:cNvPr>
          <p:cNvSpPr txBox="1"/>
          <p:nvPr/>
        </p:nvSpPr>
        <p:spPr>
          <a:xfrm>
            <a:off x="325728" y="620688"/>
            <a:ext cx="11530117" cy="258532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an attribute value is not of the appropriate data type.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 key value in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already exists in another tuple in the relation r(R).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any part of the primary key of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Referential integrity can be violated if the value of any foreign key in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refers to a tuple that does not exist in the referenced relation.</a:t>
            </a:r>
          </a:p>
        </p:txBody>
      </p:sp>
      <p:sp>
        <p:nvSpPr>
          <p:cNvPr id="6" name="Rectangle 5">
            <a:extLst>
              <a:ext uri="{FF2B5EF4-FFF2-40B4-BE49-F238E27FC236}">
                <a16:creationId xmlns:a16="http://schemas.microsoft.com/office/drawing/2014/main" id="{59A7A39C-4129-500F-861A-8A124B40969A}"/>
              </a:ext>
            </a:extLst>
          </p:cNvPr>
          <p:cNvSpPr/>
          <p:nvPr/>
        </p:nvSpPr>
        <p:spPr>
          <a:xfrm>
            <a:off x="406573" y="3573016"/>
            <a:ext cx="11449272" cy="326243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 :</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Your database table has </a:t>
            </a:r>
            <a:r>
              <a:rPr lang="en-IN" b="1" dirty="0">
                <a:latin typeface="Arial" panose="020B0604020202020204" pitchFamily="34" charset="0"/>
                <a:cs typeface="Arial" panose="020B0604020202020204" pitchFamily="34" charset="0"/>
              </a:rPr>
              <a:t>X</a:t>
            </a:r>
            <a:r>
              <a:rPr lang="en-IN" dirty="0">
                <a:latin typeface="Arial" panose="020B0604020202020204" pitchFamily="34" charset="0"/>
                <a:cs typeface="Arial" panose="020B0604020202020204" pitchFamily="34" charset="0"/>
              </a:rPr>
              <a:t> columns, Where as the </a:t>
            </a:r>
            <a:r>
              <a:rPr lang="en-IN" b="1" dirty="0">
                <a:latin typeface="Arial" panose="020B0604020202020204" pitchFamily="34" charset="0"/>
                <a:cs typeface="Arial" panose="020B0604020202020204" pitchFamily="34" charset="0"/>
              </a:rPr>
              <a:t>VALUES</a:t>
            </a:r>
            <a:r>
              <a:rPr lang="en-IN" dirty="0">
                <a:latin typeface="Arial" panose="020B0604020202020204" pitchFamily="34" charset="0"/>
                <a:cs typeface="Arial" panose="020B0604020202020204" pitchFamily="34" charset="0"/>
              </a:rPr>
              <a:t> you are passing are for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This mismatch of column-values will giving you the error.</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Inserting a string into a string column that exceeds the column maximum length. </a:t>
            </a:r>
            <a:r>
              <a:rPr lang="en-US" dirty="0">
                <a:solidFill>
                  <a:schemeClr val="accent6">
                    <a:lumMod val="50000"/>
                  </a:schemeClr>
                </a:solidFill>
                <a:latin typeface="Arial" panose="020B0604020202020204" pitchFamily="34" charset="0"/>
                <a:cs typeface="Arial" panose="020B0604020202020204" pitchFamily="34" charset="0"/>
              </a:rPr>
              <a:t>Data too long for column error will be raise.</a:t>
            </a:r>
          </a:p>
          <a:p>
            <a:pPr marL="342900" indent="-342900">
              <a:buFont typeface="Arial" panose="020B0604020202020204" pitchFamily="34" charset="0"/>
              <a:buChar char="•"/>
            </a:pPr>
            <a:endParaRPr lang="en-US"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accent6">
                    <a:lumMod val="50000"/>
                  </a:schemeClr>
                </a:solidFill>
                <a:latin typeface="Arial" panose="020B0604020202020204" pitchFamily="34" charset="0"/>
                <a:cs typeface="Arial" panose="020B0604020202020204" pitchFamily="34" charset="0"/>
              </a:rPr>
              <a:t>Inserting data into a column than does not exists, then Unknown column error will raise.</a:t>
            </a:r>
          </a:p>
          <a:p>
            <a:pPr marL="342900" indent="-342900">
              <a:buFont typeface="Arial" panose="020B0604020202020204" pitchFamily="34" charset="0"/>
              <a:buChar char="•"/>
            </a:pPr>
            <a:endParaRPr lang="en-IN"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000000"/>
                </a:solidFill>
                <a:effectLst/>
                <a:latin typeface="Liberation Mono"/>
              </a:rPr>
              <a:t>col1</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legal.</a:t>
            </a:r>
            <a:endParaRPr lang="en-IN" b="0" i="0" dirty="0">
              <a:solidFill>
                <a:srgbClr val="FF0000"/>
              </a:solidFill>
              <a:effectLst/>
              <a:latin typeface="Liberation Mono"/>
            </a:endParaRPr>
          </a:p>
          <a:p>
            <a:pPr marL="342900" indent="-342900">
              <a:buFont typeface="Arial" panose="020B0604020202020204" pitchFamily="34" charset="0"/>
              <a:buChar char="•"/>
            </a:pPr>
            <a:endParaRPr lang="en-IN" sz="800" dirty="0">
              <a:solidFill>
                <a:srgbClr val="999999"/>
              </a:solidFill>
              <a:latin typeface="Liberation Mono"/>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000000"/>
                </a:solidFill>
                <a:effectLst/>
                <a:latin typeface="Liberation Mono"/>
              </a:rPr>
              <a:t>col2</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not legal, because the value for col1 refers to col2, which is assigned after col1.</a:t>
            </a:r>
            <a:endParaRPr lang="en-IN" dirty="0">
              <a:solidFill>
                <a:srgbClr val="FF0000"/>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70FF00BB-8E08-266E-2489-A91A710CBE54}"/>
              </a:ext>
            </a:extLst>
          </p:cNvPr>
          <p:cNvSpPr/>
          <p:nvPr/>
        </p:nvSpPr>
        <p:spPr>
          <a:xfrm>
            <a:off x="406573" y="3284984"/>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will also fail in following cases.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94644060"/>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58616"/>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7EE452E-83CC-B067-610E-8D90D4C53042}"/>
              </a:ext>
            </a:extLst>
          </p:cNvPr>
          <p:cNvSpPr txBox="1"/>
          <p:nvPr/>
        </p:nvSpPr>
        <p:spPr>
          <a:xfrm>
            <a:off x="263352" y="116632"/>
            <a:ext cx="11737304" cy="2431435"/>
          </a:xfrm>
          <a:prstGeom prst="rect">
            <a:avLst/>
          </a:prstGeom>
          <a:noFill/>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a:p>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second form of the </a:t>
            </a:r>
            <a:r>
              <a:rPr lang="en-IN" b="1" dirty="0">
                <a:latin typeface="Palatino Linotype" panose="02040502050505030304" pitchFamily="18" charset="0"/>
              </a:rPr>
              <a:t>INSERT</a:t>
            </a:r>
            <a:r>
              <a:rPr lang="en-IN" dirty="0">
                <a:latin typeface="Palatino Linotype" panose="02040502050505030304" pitchFamily="18" charset="0"/>
              </a:rPr>
              <a:t> statement allows the user to specify explicit attribute names that correspond to the values provided in the </a:t>
            </a:r>
            <a:r>
              <a:rPr lang="en-IN" b="1" dirty="0">
                <a:latin typeface="Palatino Linotype" panose="02040502050505030304" pitchFamily="18" charset="0"/>
              </a:rPr>
              <a:t>INSERT</a:t>
            </a:r>
            <a:r>
              <a:rPr lang="en-IN" dirty="0">
                <a:latin typeface="Palatino Linotype" panose="02040502050505030304" pitchFamily="18" charset="0"/>
              </a:rPr>
              <a:t> command. This is useful if a relation has many attributes but only a few of those attributes are assigned values in the new tuple. However, the values must include all attributes with </a:t>
            </a:r>
            <a:r>
              <a:rPr lang="en-IN" b="1" dirty="0">
                <a:latin typeface="Palatino Linotype" panose="02040502050505030304" pitchFamily="18" charset="0"/>
              </a:rPr>
              <a:t>NOT</a:t>
            </a:r>
            <a:r>
              <a:rPr lang="en-IN" dirty="0">
                <a:latin typeface="Palatino Linotype" panose="02040502050505030304" pitchFamily="18" charset="0"/>
              </a:rPr>
              <a:t> </a:t>
            </a:r>
            <a:r>
              <a:rPr lang="en-IN" b="1" dirty="0">
                <a:latin typeface="Palatino Linotype" panose="02040502050505030304" pitchFamily="18" charset="0"/>
              </a:rPr>
              <a:t>NULL</a:t>
            </a:r>
            <a:r>
              <a:rPr lang="en-IN" dirty="0">
                <a:latin typeface="Palatino Linotype" panose="02040502050505030304" pitchFamily="18" charset="0"/>
              </a:rPr>
              <a:t> specification and no default value. Attributes with </a:t>
            </a:r>
            <a:r>
              <a:rPr lang="en-IN" b="1" dirty="0">
                <a:latin typeface="Palatino Linotype" panose="02040502050505030304" pitchFamily="18" charset="0"/>
              </a:rPr>
              <a:t>NULL</a:t>
            </a:r>
            <a:r>
              <a:rPr lang="en-IN" dirty="0">
                <a:latin typeface="Palatino Linotype" panose="02040502050505030304" pitchFamily="18" charset="0"/>
              </a:rPr>
              <a:t> allowed or </a:t>
            </a:r>
            <a:r>
              <a:rPr lang="en-IN" b="1" dirty="0">
                <a:latin typeface="Palatino Linotype" panose="02040502050505030304" pitchFamily="18" charset="0"/>
              </a:rPr>
              <a:t>DEFAULT</a:t>
            </a:r>
            <a:r>
              <a:rPr lang="en-IN" dirty="0">
                <a:latin typeface="Palatino Linotype" panose="02040502050505030304" pitchFamily="18" charset="0"/>
              </a:rPr>
              <a:t> values are the ones that can be left out.</a:t>
            </a:r>
          </a:p>
        </p:txBody>
      </p:sp>
      <p:sp>
        <p:nvSpPr>
          <p:cNvPr id="6" name="TextBox 5">
            <a:extLst>
              <a:ext uri="{FF2B5EF4-FFF2-40B4-BE49-F238E27FC236}">
                <a16:creationId xmlns:a16="http://schemas.microsoft.com/office/drawing/2014/main" id="{A371CAEA-B753-00E9-60FF-3677C3617DCB}"/>
              </a:ext>
            </a:extLst>
          </p:cNvPr>
          <p:cNvSpPr txBox="1"/>
          <p:nvPr/>
        </p:nvSpPr>
        <p:spPr>
          <a:xfrm>
            <a:off x="371364" y="4149080"/>
            <a:ext cx="11521280" cy="1015663"/>
          </a:xfrm>
          <a:prstGeom prst="rect">
            <a:avLst/>
          </a:prstGeom>
          <a:noFill/>
        </p:spPr>
        <p:txBody>
          <a:bodyPr wrap="square">
            <a:spAutoFit/>
          </a:bodyPr>
          <a:lstStyle/>
          <a:p>
            <a:r>
              <a:rPr lang="en-IN" sz="2000" dirty="0">
                <a:solidFill>
                  <a:schemeClr val="accent4">
                    <a:lumMod val="50000"/>
                  </a:schemeClr>
                </a:solidFill>
                <a:latin typeface="Liberation Mono"/>
              </a:rPr>
              <a:t>ON</a:t>
            </a:r>
            <a:r>
              <a:rPr lang="en-IN" sz="2000" dirty="0">
                <a:latin typeface="Liberation Mono"/>
              </a:rPr>
              <a:t> </a:t>
            </a:r>
            <a:r>
              <a:rPr lang="en-IN" sz="2000" dirty="0">
                <a:solidFill>
                  <a:schemeClr val="accent4">
                    <a:lumMod val="50000"/>
                  </a:schemeClr>
                </a:solidFill>
                <a:latin typeface="Liberation Mono"/>
              </a:rPr>
              <a:t>DUPLICATE</a:t>
            </a:r>
            <a:r>
              <a:rPr lang="en-IN" sz="2000" dirty="0">
                <a:latin typeface="Liberation Mono"/>
              </a:rPr>
              <a:t> </a:t>
            </a:r>
            <a:r>
              <a:rPr lang="en-IN" sz="2000" dirty="0">
                <a:solidFill>
                  <a:schemeClr val="accent4">
                    <a:lumMod val="50000"/>
                  </a:schemeClr>
                </a:solidFill>
                <a:latin typeface="Liberation Mono"/>
              </a:rPr>
              <a:t>KEY</a:t>
            </a:r>
            <a:r>
              <a:rPr lang="en-IN" sz="2000" dirty="0">
                <a:latin typeface="Liberation Mono"/>
              </a:rPr>
              <a:t> </a:t>
            </a:r>
            <a:r>
              <a:rPr lang="en-IN" sz="2000" dirty="0">
                <a:solidFill>
                  <a:srgbClr val="0077AA"/>
                </a:solidFill>
                <a:latin typeface="Liberation Mono"/>
              </a:rPr>
              <a:t>UPDATE</a:t>
            </a:r>
            <a:r>
              <a:rPr lang="en-IN" sz="2000" dirty="0">
                <a:latin typeface="Liberation Mono"/>
              </a:rPr>
              <a:t> clause is used in INSERT statements to deal with situations where a duplicate key (like a </a:t>
            </a:r>
            <a:r>
              <a:rPr lang="en-IN" sz="2000" b="1" dirty="0">
                <a:latin typeface="Liberation Mono"/>
              </a:rPr>
              <a:t>PRIMARY KEY</a:t>
            </a:r>
            <a:r>
              <a:rPr lang="en-IN" sz="2000" dirty="0">
                <a:latin typeface="Liberation Mono"/>
              </a:rPr>
              <a:t> or </a:t>
            </a:r>
            <a:r>
              <a:rPr lang="en-IN" sz="2000" b="1" dirty="0">
                <a:latin typeface="Liberation Mono"/>
              </a:rPr>
              <a:t>UNIQUE KEY</a:t>
            </a:r>
            <a:r>
              <a:rPr lang="en-IN" sz="2000" dirty="0">
                <a:latin typeface="Liberation Mono"/>
              </a:rPr>
              <a:t>) would lead to a conflict. Instead of throwing an error, MySQL updates the existing record.</a:t>
            </a:r>
          </a:p>
        </p:txBody>
      </p:sp>
    </p:spTree>
    <p:extLst>
      <p:ext uri="{BB962C8B-B14F-4D97-AF65-F5344CB8AC3E}">
        <p14:creationId xmlns:p14="http://schemas.microsoft.com/office/powerpoint/2010/main" val="1385727286"/>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6" name="Rectangle 5"/>
          <p:cNvSpPr/>
          <p:nvPr/>
        </p:nvSpPr>
        <p:spPr>
          <a:xfrm>
            <a:off x="407368" y="2556695"/>
            <a:ext cx="10184432" cy="400110"/>
          </a:xfrm>
          <a:prstGeom prst="rect">
            <a:avLst/>
          </a:prstGeom>
          <a:noFill/>
        </p:spPr>
        <p:txBody>
          <a:bodyPr wrap="square">
            <a:spAutoFit/>
          </a:bodyPr>
          <a:lstStyle/>
          <a:p>
            <a:pPr>
              <a:buFont typeface="Arial" panose="020B0604020202020204" pitchFamily="34" charset="0"/>
              <a:buNone/>
            </a:pPr>
            <a:r>
              <a:rPr lang="en-IN" sz="2000" dirty="0">
                <a:solidFill>
                  <a:schemeClr val="tx1">
                    <a:lumMod val="85000"/>
                    <a:lumOff val="15000"/>
                  </a:schemeClr>
                </a:solidFill>
                <a:latin typeface="Segoe UI Light" panose="020B0502040204020203" pitchFamily="34" charset="0"/>
                <a:cs typeface="Segoe UI Light" panose="020B0502040204020203" pitchFamily="34" charset="0"/>
              </a:rPr>
              <a:t>The affected-rows value for an INSERT can be obtained using the ROW_COUNT() function.</a:t>
            </a:r>
          </a:p>
        </p:txBody>
      </p:sp>
      <p:grpSp>
        <p:nvGrpSpPr>
          <p:cNvPr id="9" name="Group 8">
            <a:extLst>
              <a:ext uri="{FF2B5EF4-FFF2-40B4-BE49-F238E27FC236}">
                <a16:creationId xmlns:a16="http://schemas.microsoft.com/office/drawing/2014/main" id="{BF4B8512-CD61-4373-BC7D-BCE8E59EDBE0}"/>
              </a:ext>
            </a:extLst>
          </p:cNvPr>
          <p:cNvGrpSpPr/>
          <p:nvPr/>
        </p:nvGrpSpPr>
        <p:grpSpPr>
          <a:xfrm>
            <a:off x="486355" y="3409529"/>
            <a:ext cx="8898972" cy="2971799"/>
            <a:chOff x="1676400" y="3200401"/>
            <a:chExt cx="8898972" cy="2971799"/>
          </a:xfrm>
        </p:grpSpPr>
        <p:pic>
          <p:nvPicPr>
            <p:cNvPr id="31" name="Picture 30"/>
            <p:cNvPicPr>
              <a:picLocks noChangeAspect="1"/>
            </p:cNvPicPr>
            <p:nvPr/>
          </p:nvPicPr>
          <p:blipFill>
            <a:blip r:embed="rId2" cstate="print"/>
            <a:stretch>
              <a:fillRect/>
            </a:stretch>
          </p:blipFill>
          <p:spPr>
            <a:xfrm>
              <a:off x="1692828" y="3200401"/>
              <a:ext cx="7826226" cy="407679"/>
            </a:xfrm>
            <a:prstGeom prst="rect">
              <a:avLst/>
            </a:prstGeom>
          </p:spPr>
        </p:pic>
        <p:grpSp>
          <p:nvGrpSpPr>
            <p:cNvPr id="3" name="Group 2"/>
            <p:cNvGrpSpPr/>
            <p:nvPr/>
          </p:nvGrpSpPr>
          <p:grpSpPr>
            <a:xfrm>
              <a:off x="5341621" y="4442415"/>
              <a:ext cx="2573929" cy="472666"/>
              <a:chOff x="3817620" y="4442415"/>
              <a:chExt cx="2573929" cy="472666"/>
            </a:xfrm>
          </p:grpSpPr>
          <p:cxnSp>
            <p:nvCxnSpPr>
              <p:cNvPr id="23" name="Elbow Connector 22"/>
              <p:cNvCxnSpPr/>
              <p:nvPr/>
            </p:nvCxnSpPr>
            <p:spPr>
              <a:xfrm rot="16200000" flipV="1">
                <a:off x="4321620" y="3938415"/>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p:cNvSpPr txBox="1"/>
              <p:nvPr/>
            </p:nvSpPr>
            <p:spPr>
              <a:xfrm>
                <a:off x="5062339" y="4545749"/>
                <a:ext cx="1329210" cy="369332"/>
              </a:xfrm>
              <a:prstGeom prst="rect">
                <a:avLst/>
              </a:prstGeom>
              <a:noFill/>
            </p:spPr>
            <p:txBody>
              <a:bodyPr wrap="none" rtlCol="0">
                <a:spAutoFit/>
              </a:bodyPr>
              <a:lstStyle/>
              <a:p>
                <a:r>
                  <a:rPr lang="en-IN" dirty="0">
                    <a:solidFill>
                      <a:srgbClr val="C8A0C3"/>
                    </a:solidFill>
                  </a:rPr>
                  <a:t>Column List</a:t>
                </a:r>
              </a:p>
            </p:txBody>
          </p:sp>
        </p:grpSp>
        <p:grpSp>
          <p:nvGrpSpPr>
            <p:cNvPr id="2" name="Group 1"/>
            <p:cNvGrpSpPr/>
            <p:nvPr/>
          </p:nvGrpSpPr>
          <p:grpSpPr>
            <a:xfrm>
              <a:off x="7647543" y="3536458"/>
              <a:ext cx="2811146" cy="472666"/>
              <a:chOff x="6123543" y="3536458"/>
              <a:chExt cx="2811146" cy="472666"/>
            </a:xfrm>
          </p:grpSpPr>
          <p:cxnSp>
            <p:nvCxnSpPr>
              <p:cNvPr id="27" name="Elbow Connector 26"/>
              <p:cNvCxnSpPr/>
              <p:nvPr/>
            </p:nvCxnSpPr>
            <p:spPr>
              <a:xfrm rot="16200000" flipV="1">
                <a:off x="6627543" y="3032458"/>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7381443" y="3639792"/>
                <a:ext cx="1553246" cy="369332"/>
              </a:xfrm>
              <a:prstGeom prst="rect">
                <a:avLst/>
              </a:prstGeom>
              <a:noFill/>
            </p:spPr>
            <p:txBody>
              <a:bodyPr wrap="none" rtlCol="0">
                <a:spAutoFit/>
              </a:bodyPr>
              <a:lstStyle/>
              <a:p>
                <a:r>
                  <a:rPr lang="en-IN" dirty="0">
                    <a:solidFill>
                      <a:srgbClr val="C8A0C3"/>
                    </a:solidFill>
                  </a:rPr>
                  <a:t>Column Values</a:t>
                </a:r>
              </a:p>
            </p:txBody>
          </p:sp>
        </p:grpSp>
        <p:grpSp>
          <p:nvGrpSpPr>
            <p:cNvPr id="8" name="Group 7"/>
            <p:cNvGrpSpPr/>
            <p:nvPr/>
          </p:nvGrpSpPr>
          <p:grpSpPr>
            <a:xfrm>
              <a:off x="4953001" y="5771156"/>
              <a:ext cx="5257801" cy="401044"/>
              <a:chOff x="3429000" y="5885637"/>
              <a:chExt cx="4701100" cy="401044"/>
            </a:xfrm>
          </p:grpSpPr>
          <p:cxnSp>
            <p:nvCxnSpPr>
              <p:cNvPr id="29" name="Elbow Connector 28"/>
              <p:cNvCxnSpPr/>
              <p:nvPr/>
            </p:nvCxnSpPr>
            <p:spPr>
              <a:xfrm rot="16200000" flipV="1">
                <a:off x="4583581" y="4731056"/>
                <a:ext cx="216378" cy="252554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5896845" y="5917349"/>
                <a:ext cx="2233255" cy="369332"/>
              </a:xfrm>
              <a:prstGeom prst="rect">
                <a:avLst/>
              </a:prstGeom>
              <a:noFill/>
            </p:spPr>
            <p:txBody>
              <a:bodyPr wrap="square" rtlCol="0">
                <a:spAutoFit/>
              </a:bodyPr>
              <a:lstStyle/>
              <a:p>
                <a:r>
                  <a:rPr lang="en-IN" dirty="0">
                    <a:solidFill>
                      <a:srgbClr val="C8A0C3"/>
                    </a:solidFill>
                  </a:rPr>
                  <a:t>Inserting multiple rows</a:t>
                </a:r>
              </a:p>
            </p:txBody>
          </p:sp>
        </p:grpSp>
        <p:pic>
          <p:nvPicPr>
            <p:cNvPr id="32" name="Picture 31"/>
            <p:cNvPicPr>
              <a:picLocks noChangeAspect="1"/>
            </p:cNvPicPr>
            <p:nvPr/>
          </p:nvPicPr>
          <p:blipFill>
            <a:blip r:embed="rId3" cstate="print"/>
            <a:stretch>
              <a:fillRect/>
            </a:stretch>
          </p:blipFill>
          <p:spPr>
            <a:xfrm>
              <a:off x="1684614" y="4054884"/>
              <a:ext cx="8822772" cy="381000"/>
            </a:xfrm>
            <a:prstGeom prst="rect">
              <a:avLst/>
            </a:prstGeom>
          </p:spPr>
        </p:pic>
        <p:pic>
          <p:nvPicPr>
            <p:cNvPr id="33" name="Picture 32"/>
            <p:cNvPicPr>
              <a:picLocks noChangeAspect="1"/>
            </p:cNvPicPr>
            <p:nvPr/>
          </p:nvPicPr>
          <p:blipFill>
            <a:blip r:embed="rId4" cstate="print"/>
            <a:stretch>
              <a:fillRect/>
            </a:stretch>
          </p:blipFill>
          <p:spPr>
            <a:xfrm>
              <a:off x="1676400" y="5027710"/>
              <a:ext cx="8898972" cy="724264"/>
            </a:xfrm>
            <a:prstGeom prst="rect">
              <a:avLst/>
            </a:prstGeom>
          </p:spPr>
        </p:pic>
      </p:grpSp>
      <p:sp>
        <p:nvSpPr>
          <p:cNvPr id="20" name="Rectangle 19">
            <a:extLst>
              <a:ext uri="{FF2B5EF4-FFF2-40B4-BE49-F238E27FC236}">
                <a16:creationId xmlns:a16="http://schemas.microsoft.com/office/drawing/2014/main" id="{33A46E6D-0FE9-4B3B-BD17-39A63EC9E6A7}"/>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10" name="Rectangle 9">
            <a:extLst>
              <a:ext uri="{FF2B5EF4-FFF2-40B4-BE49-F238E27FC236}">
                <a16:creationId xmlns:a16="http://schemas.microsoft.com/office/drawing/2014/main" id="{F86BF11C-C3CF-107B-1BA1-F800AA7CEF3D}"/>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Tree>
    <p:extLst>
      <p:ext uri="{BB962C8B-B14F-4D97-AF65-F5344CB8AC3E}">
        <p14:creationId xmlns:p14="http://schemas.microsoft.com/office/powerpoint/2010/main" val="1276071742"/>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2123658"/>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29</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'patil'</a:t>
            </a:r>
            <a:r>
              <a:rPr lang="en-IN" dirty="0">
                <a:latin typeface="Liberation Mono"/>
                <a:cs typeface="Arial" panose="020B0604020202020204" pitchFamily="34" charset="0"/>
              </a:rPr>
              <a:t>, '1999-11-10', </a:t>
            </a:r>
            <a:r>
              <a:rPr lang="en-IN" dirty="0">
                <a:solidFill>
                  <a:srgbClr val="669900"/>
                </a:solidFill>
                <a:latin typeface="Liberation Mono"/>
              </a:rPr>
              <a:t>'sharmin.patil@gmail.com'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nameLast, DOB,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30</a:t>
            </a:r>
            <a:r>
              <a:rPr lang="en-IN" dirty="0">
                <a:latin typeface="Liberation Mono"/>
                <a:cs typeface="Arial" panose="020B0604020202020204" pitchFamily="34" charset="0"/>
              </a:rPr>
              <a:t>, </a:t>
            </a:r>
            <a:r>
              <a:rPr lang="en-IN" dirty="0">
                <a:solidFill>
                  <a:srgbClr val="669900"/>
                </a:solidFill>
                <a:latin typeface="Liberation Mono"/>
              </a:rPr>
              <a:t>'john'</a:t>
            </a:r>
            <a:r>
              <a:rPr lang="en-IN" dirty="0">
                <a:latin typeface="Liberation Mono"/>
                <a:cs typeface="Arial" panose="020B0604020202020204" pitchFamily="34" charset="0"/>
              </a:rPr>
              <a:t>, </a:t>
            </a:r>
            <a:r>
              <a:rPr lang="en-IN" dirty="0">
                <a:solidFill>
                  <a:srgbClr val="669900"/>
                </a:solidFill>
                <a:latin typeface="Liberation Mono"/>
              </a:rPr>
              <a:t>'thomas'</a:t>
            </a:r>
            <a:r>
              <a:rPr lang="en-IN" dirty="0">
                <a:latin typeface="Liberation Mono"/>
                <a:cs typeface="Arial" panose="020B0604020202020204" pitchFamily="34" charset="0"/>
              </a:rPr>
              <a:t>, '1983-11-10', </a:t>
            </a:r>
            <a:r>
              <a:rPr lang="en-IN" dirty="0">
                <a:solidFill>
                  <a:srgbClr val="669900"/>
                </a:solidFill>
                <a:latin typeface="Liberation Mono"/>
              </a:rPr>
              <a:t>'john.thomas@gmail.com’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'jack.thorn@gmail.com'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56490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
        <p:nvSpPr>
          <p:cNvPr id="2" name="Rectangle 1">
            <a:extLst>
              <a:ext uri="{FF2B5EF4-FFF2-40B4-BE49-F238E27FC236}">
                <a16:creationId xmlns:a16="http://schemas.microsoft.com/office/drawing/2014/main" id="{B79D08FF-3A57-7E4C-075F-FACF2F3F3305}"/>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5" name="TextBox 4">
            <a:extLst>
              <a:ext uri="{FF2B5EF4-FFF2-40B4-BE49-F238E27FC236}">
                <a16:creationId xmlns:a16="http://schemas.microsoft.com/office/drawing/2014/main" id="{8937C0B8-B706-3B97-30F8-D69304270CB5}"/>
              </a:ext>
            </a:extLst>
          </p:cNvPr>
          <p:cNvSpPr txBox="1"/>
          <p:nvPr/>
        </p:nvSpPr>
        <p:spPr>
          <a:xfrm>
            <a:off x="5087888" y="2955225"/>
            <a:ext cx="695847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a(c1, c2) </a:t>
            </a:r>
            <a:r>
              <a:rPr lang="en-IN" dirty="0">
                <a:solidFill>
                  <a:srgbClr val="0077AA"/>
                </a:solidFill>
                <a:latin typeface="Liberation Mono"/>
                <a:cs typeface="Arial" panose="020B0604020202020204" pitchFamily="34" charset="0"/>
              </a:rPr>
              <a:t>VALUES</a:t>
            </a:r>
            <a:r>
              <a:rPr lang="en-IN" dirty="0">
                <a:latin typeface="Liberation Mono"/>
              </a:rPr>
              <a:t>(2, </a:t>
            </a:r>
            <a:r>
              <a:rPr lang="en-IN" dirty="0" err="1">
                <a:latin typeface="Liberation Mono"/>
              </a:rPr>
              <a:t>elt</a:t>
            </a:r>
            <a:r>
              <a:rPr lang="en-IN" dirty="0">
                <a:latin typeface="Liberation Mono"/>
              </a:rPr>
              <a:t>(c1, </a:t>
            </a:r>
            <a:r>
              <a:rPr lang="en-IN" dirty="0">
                <a:solidFill>
                  <a:srgbClr val="669900"/>
                </a:solidFill>
                <a:latin typeface="Liberation Mono"/>
              </a:rPr>
              <a:t>'cod'</a:t>
            </a:r>
            <a:r>
              <a:rPr lang="en-IN" dirty="0">
                <a:latin typeface="Liberation Mono"/>
              </a:rPr>
              <a:t>, </a:t>
            </a:r>
            <a:r>
              <a:rPr lang="en-IN" dirty="0">
                <a:solidFill>
                  <a:srgbClr val="669900"/>
                </a:solidFill>
                <a:latin typeface="Liberation Mono"/>
              </a:rPr>
              <a:t>'cash'</a:t>
            </a:r>
            <a:r>
              <a:rPr lang="en-IN" dirty="0">
                <a:latin typeface="Liberation Mono"/>
              </a:rPr>
              <a:t>, </a:t>
            </a:r>
            <a:r>
              <a:rPr lang="en-IN" dirty="0">
                <a:solidFill>
                  <a:srgbClr val="669900"/>
                </a:solidFill>
                <a:latin typeface="Liberation Mono"/>
              </a:rPr>
              <a:t>'credit'</a:t>
            </a:r>
            <a:r>
              <a:rPr lang="en-IN" dirty="0">
                <a:latin typeface="Liberation Mono"/>
              </a:rPr>
              <a:t>, </a:t>
            </a:r>
            <a:r>
              <a:rPr lang="en-IN" dirty="0">
                <a:solidFill>
                  <a:srgbClr val="669900"/>
                </a:solidFill>
                <a:latin typeface="Liberation Mono"/>
              </a:rPr>
              <a:t>'debit'</a:t>
            </a:r>
            <a:r>
              <a:rPr lang="en-IN" dirty="0">
                <a:latin typeface="Liberation Mono"/>
              </a:rPr>
              <a:t>));</a:t>
            </a:r>
          </a:p>
        </p:txBody>
      </p:sp>
    </p:spTree>
    <p:extLst>
      <p:ext uri="{BB962C8B-B14F-4D97-AF65-F5344CB8AC3E}">
        <p14:creationId xmlns:p14="http://schemas.microsoft.com/office/powerpoint/2010/main" val="2653120337"/>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55053-DE68-8B68-733A-605710295E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3EF8A1-B31C-2EEB-11B9-A6B660B2B258}"/>
              </a:ext>
            </a:extLst>
          </p:cNvPr>
          <p:cNvSpPr txBox="1">
            <a:spLocks/>
          </p:cNvSpPr>
          <p:nvPr/>
        </p:nvSpPr>
        <p:spPr>
          <a:xfrm>
            <a:off x="1676400" y="2658616"/>
            <a:ext cx="8839200"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 with </a:t>
            </a:r>
          </a:p>
          <a:p>
            <a:pPr algn="ctr"/>
            <a:r>
              <a:rPr lang="en-IN" sz="4800" dirty="0">
                <a:solidFill>
                  <a:srgbClr val="DC525C"/>
                </a:solidFill>
                <a:latin typeface="Segoe UI Light" panose="020B0502040204020203" pitchFamily="34" charset="0"/>
                <a:cs typeface="Segoe UI Light" panose="020B0502040204020203" pitchFamily="34" charset="0"/>
              </a:rPr>
              <a:t>on duplicate key UPDATE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896821300"/>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EDAB3-4502-70B5-BEE2-4B6CE0E4257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088FEF-E03B-40FD-B1AB-F276CC3EBFBB}"/>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3" name="Rectangle 2">
            <a:extLst>
              <a:ext uri="{FF2B5EF4-FFF2-40B4-BE49-F238E27FC236}">
                <a16:creationId xmlns:a16="http://schemas.microsoft.com/office/drawing/2014/main" id="{786D12B2-E32F-CA0E-5C01-A7346E36CFA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with on duplicate key UPDATE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DA68D61B-507D-C864-F920-9CE6D714635B}"/>
              </a:ext>
            </a:extLst>
          </p:cNvPr>
          <p:cNvSpPr txBox="1"/>
          <p:nvPr/>
        </p:nvSpPr>
        <p:spPr>
          <a:xfrm>
            <a:off x="290449" y="2588711"/>
            <a:ext cx="6094378"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`login_count`(`userID`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A67F59"/>
                </a:solidFill>
                <a:latin typeface="Liberation Mono"/>
              </a:rPr>
              <a:t>NOT</a:t>
            </a:r>
            <a:r>
              <a:rPr lang="en-IN" dirty="0">
                <a:latin typeface="Liberation Mono"/>
              </a:rPr>
              <a:t> </a:t>
            </a:r>
            <a:r>
              <a:rPr lang="en-IN" dirty="0">
                <a:solidFill>
                  <a:srgbClr val="A67F59"/>
                </a:solidFill>
                <a:latin typeface="Liberation Mono"/>
              </a:rPr>
              <a:t>NULL</a:t>
            </a:r>
            <a:r>
              <a:rPr lang="en-IN" dirty="0">
                <a:latin typeface="Liberation Mono"/>
              </a:rPr>
              <a:t>, `loginCount`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990055"/>
                </a:solidFill>
                <a:latin typeface="Liberation Mono"/>
              </a:rPr>
              <a:t>1</a:t>
            </a:r>
            <a:r>
              <a:rPr lang="en-IN" dirty="0">
                <a:latin typeface="Liberation Mono"/>
              </a:rPr>
              <a:t>, </a:t>
            </a:r>
          </a:p>
          <a:p>
            <a:pPr marL="266700"/>
            <a:r>
              <a:rPr lang="en-IN" dirty="0">
                <a:latin typeface="Liberation Mono"/>
              </a:rPr>
              <a:t>`loginDate` </a:t>
            </a:r>
            <a:r>
              <a:rPr lang="en-IN" dirty="0">
                <a:solidFill>
                  <a:srgbClr val="834689"/>
                </a:solidFill>
                <a:latin typeface="Liberation Mono"/>
                <a:cs typeface="Arial" panose="020B0604020202020204" pitchFamily="34" charset="0"/>
              </a:rPr>
              <a:t>DATETIME</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A67F59"/>
                </a:solidFill>
                <a:latin typeface="Liberation Mono"/>
              </a:rPr>
              <a:t>NULL</a:t>
            </a:r>
            <a:r>
              <a:rPr lang="en-IN" dirty="0">
                <a:latin typeface="Liberation Mono"/>
              </a:rPr>
              <a:t>, </a:t>
            </a:r>
          </a:p>
          <a:p>
            <a:pPr marL="266700"/>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(`userID`));</a:t>
            </a:r>
          </a:p>
        </p:txBody>
      </p:sp>
      <p:sp>
        <p:nvSpPr>
          <p:cNvPr id="10" name="Rectangle 9">
            <a:extLst>
              <a:ext uri="{FF2B5EF4-FFF2-40B4-BE49-F238E27FC236}">
                <a16:creationId xmlns:a16="http://schemas.microsoft.com/office/drawing/2014/main" id="{3B41AD22-7EA5-5054-E777-98E1B86A7E28}"/>
              </a:ext>
            </a:extLst>
          </p:cNvPr>
          <p:cNvSpPr/>
          <p:nvPr/>
        </p:nvSpPr>
        <p:spPr>
          <a:xfrm>
            <a:off x="290449" y="1412776"/>
            <a:ext cx="11278159" cy="707886"/>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 DUPLICATE KEY </a:t>
            </a:r>
            <a:r>
              <a:rPr lang="en-IN" sz="2000" dirty="0">
                <a:solidFill>
                  <a:srgbClr val="0077AA"/>
                </a:solidFill>
                <a:latin typeface="Liberation Mono"/>
              </a:rPr>
              <a:t>UPDATE</a:t>
            </a:r>
            <a:r>
              <a:rPr lang="en-IN" sz="2000" dirty="0">
                <a:solidFill>
                  <a:schemeClr val="accent4">
                    <a:lumMod val="50000"/>
                  </a:schemeClr>
                </a:solidFill>
                <a:latin typeface="Liberation Mono"/>
              </a:rPr>
              <a:t> </a:t>
            </a:r>
            <a:r>
              <a:rPr lang="en-IN" sz="2000" dirty="0">
                <a:latin typeface="Liberation Mono"/>
              </a:rPr>
              <a:t>assignment_list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3" name="TextBox 12">
            <a:extLst>
              <a:ext uri="{FF2B5EF4-FFF2-40B4-BE49-F238E27FC236}">
                <a16:creationId xmlns:a16="http://schemas.microsoft.com/office/drawing/2014/main" id="{25CB7B17-9DDD-C254-48DD-0FE4332B0B52}"/>
              </a:ext>
            </a:extLst>
          </p:cNvPr>
          <p:cNvSpPr txBox="1"/>
          <p:nvPr/>
        </p:nvSpPr>
        <p:spPr>
          <a:xfrm>
            <a:off x="290449" y="4437112"/>
            <a:ext cx="11641146"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p:txBody>
      </p:sp>
    </p:spTree>
    <p:extLst>
      <p:ext uri="{BB962C8B-B14F-4D97-AF65-F5344CB8AC3E}">
        <p14:creationId xmlns:p14="http://schemas.microsoft.com/office/powerpoint/2010/main" val="1582913470"/>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multiple rows</a:t>
            </a:r>
          </a:p>
        </p:txBody>
      </p:sp>
      <p:sp>
        <p:nvSpPr>
          <p:cNvPr id="4" name="Rectangle 3">
            <a:extLst>
              <a:ext uri="{FF2B5EF4-FFF2-40B4-BE49-F238E27FC236}">
                <a16:creationId xmlns:a16="http://schemas.microsoft.com/office/drawing/2014/main" id="{5CB61B23-1F8E-C03E-488C-D8EB1F176784}"/>
              </a:ext>
            </a:extLst>
          </p:cNvPr>
          <p:cNvSpPr/>
          <p:nvPr/>
        </p:nvSpPr>
        <p:spPr>
          <a:xfrm>
            <a:off x="2045550" y="3276600"/>
            <a:ext cx="8100900" cy="646331"/>
          </a:xfrm>
          <a:prstGeom prst="rect">
            <a:avLst/>
          </a:prstGeom>
        </p:spPr>
        <p:txBody>
          <a:bodyPr wrap="square">
            <a:spAutoFit/>
          </a:bodyPr>
          <a:lstStyle/>
          <a:p>
            <a:r>
              <a:rPr lang="en-US" dirty="0">
                <a:latin typeface="Palatino Linotype" panose="02040502050505030304" pitchFamily="18" charset="0"/>
              </a:rPr>
              <a:t>To insert multiple rows in a single INSERT statement, provide multiple sets of values separated by commas.</a:t>
            </a:r>
            <a:endParaRPr lang="en-IN" dirty="0">
              <a:latin typeface="Palatino Linotype" panose="02040502050505030304" pitchFamily="18" charset="0"/>
            </a:endParaRPr>
          </a:p>
        </p:txBody>
      </p:sp>
    </p:spTree>
    <p:extLst>
      <p:ext uri="{BB962C8B-B14F-4D97-AF65-F5344CB8AC3E}">
        <p14:creationId xmlns:p14="http://schemas.microsoft.com/office/powerpoint/2010/main" val="1016344215"/>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001878"/>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IN" sz="2000" dirty="0">
                <a:solidFill>
                  <a:srgbClr val="0077AA"/>
                </a:solidFill>
                <a:latin typeface="Liberation Mono"/>
              </a:rPr>
              <a:t>INSERT</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endParaRPr lang="en-US" sz="2000" dirty="0">
              <a:latin typeface="Liberation Mono"/>
            </a:endParaRPr>
          </a:p>
        </p:txBody>
      </p:sp>
      <p:grpSp>
        <p:nvGrpSpPr>
          <p:cNvPr id="4" name="Group 3">
            <a:extLst>
              <a:ext uri="{FF2B5EF4-FFF2-40B4-BE49-F238E27FC236}">
                <a16:creationId xmlns:a16="http://schemas.microsoft.com/office/drawing/2014/main" id="{7533144C-7660-4AFE-F1F3-7AF313BB5037}"/>
              </a:ext>
            </a:extLst>
          </p:cNvPr>
          <p:cNvGrpSpPr/>
          <p:nvPr/>
        </p:nvGrpSpPr>
        <p:grpSpPr>
          <a:xfrm>
            <a:off x="1127448" y="4365104"/>
            <a:ext cx="8297502" cy="1908215"/>
            <a:chOff x="191345" y="3980789"/>
            <a:chExt cx="10438837" cy="1908215"/>
          </a:xfrm>
        </p:grpSpPr>
        <p:sp>
          <p:nvSpPr>
            <p:cNvPr id="6" name="Rectangle 5">
              <a:extLst>
                <a:ext uri="{FF2B5EF4-FFF2-40B4-BE49-F238E27FC236}">
                  <a16:creationId xmlns:a16="http://schemas.microsoft.com/office/drawing/2014/main" id="{43651AEC-95F0-41B9-B91B-D73E975D95DD}"/>
                </a:ext>
              </a:extLst>
            </p:cNvPr>
            <p:cNvSpPr/>
            <p:nvPr/>
          </p:nvSpPr>
          <p:spPr>
            <a:xfrm>
              <a:off x="191345" y="3980789"/>
              <a:ext cx="5400600" cy="1908215"/>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VALUES</a:t>
              </a:r>
              <a:r>
                <a:rPr lang="en-IN" dirty="0">
                  <a:latin typeface="Liberation Mono"/>
                  <a:cs typeface="Arial" panose="020B0604020202020204" pitchFamily="34" charset="0"/>
                </a:rPr>
                <a:t> </a:t>
              </a:r>
            </a:p>
            <a:p>
              <a:r>
                <a:rPr lang="en-IN" dirty="0">
                  <a:solidFill>
                    <a:schemeClr val="bg1">
                      <a:lumMod val="50000"/>
                    </a:schemeClr>
                  </a:solidFill>
                  <a:latin typeface="Liberation Mono"/>
                  <a:cs typeface="Arial" panose="020B0604020202020204" pitchFamily="34" charset="0"/>
                </a:rPr>
                <a:t>          (</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chemeClr val="bg1">
                      <a:lumMod val="50000"/>
                    </a:schemeClr>
                  </a:solidFill>
                  <a:latin typeface="Liberation Mono"/>
                  <a:cs typeface="Arial" panose="020B0604020202020204" pitchFamily="34" charset="0"/>
                </a:rPr>
                <a:t>          (</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chemeClr val="bg1">
                      <a:lumMod val="50000"/>
                    </a:schemeClr>
                  </a:solidFill>
                  <a:latin typeface="Liberation Mono"/>
                  <a:cs typeface="Arial" panose="020B0604020202020204" pitchFamily="34" charset="0"/>
                </a:rPr>
                <a:t>          (</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7A7E7114-4AE1-CA99-F5C6-91150F5548F7}"/>
                </a:ext>
              </a:extLst>
            </p:cNvPr>
            <p:cNvSpPr/>
            <p:nvPr/>
          </p:nvSpPr>
          <p:spPr>
            <a:xfrm>
              <a:off x="5591946" y="3980789"/>
              <a:ext cx="5038236" cy="1908215"/>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VALUES </a:t>
              </a:r>
            </a:p>
            <a:p>
              <a:r>
                <a:rPr lang="en-IN" dirty="0">
                  <a:solidFill>
                    <a:srgbClr val="0077AA"/>
                  </a:solidFill>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F63122"/>
                  </a:solidFill>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F63122"/>
                  </a:solidFill>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grpSp>
    </p:spTree>
    <p:extLst>
      <p:ext uri="{BB962C8B-B14F-4D97-AF65-F5344CB8AC3E}">
        <p14:creationId xmlns:p14="http://schemas.microsoft.com/office/powerpoint/2010/main" val="1414765010"/>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7F221-C046-C759-1C5C-1102C5E046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F22407E-233C-B96D-DDA9-5D42B6A79C79}"/>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Inserting Multiple Rows Using Multiple INSERT</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F5DF08C4-211D-4222-9560-1CB5B42C7EB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0310632-3DC7-A7A1-9650-30A7D84D38AA}"/>
              </a:ext>
            </a:extLst>
          </p:cNvPr>
          <p:cNvSpPr txBox="1"/>
          <p:nvPr/>
        </p:nvSpPr>
        <p:spPr>
          <a:xfrm>
            <a:off x="288344" y="1650138"/>
            <a:ext cx="6671752"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9BCD1590-512A-ED0B-FF5E-9A989C6FF141}"/>
              </a:ext>
            </a:extLst>
          </p:cNvPr>
          <p:cNvSpPr txBox="1"/>
          <p:nvPr/>
        </p:nvSpPr>
        <p:spPr>
          <a:xfrm>
            <a:off x="288344" y="4544541"/>
            <a:ext cx="4824536" cy="193899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r>
              <a:rPr lang="en-IN" sz="2200" dirty="0">
                <a:solidFill>
                  <a:srgbClr val="7D2170"/>
                </a:solidFill>
                <a:latin typeface="Arial" panose="020B0604020202020204" pitchFamily="34" charset="0"/>
                <a:cs typeface="Arial" panose="020B0604020202020204" pitchFamily="34" charset="0"/>
              </a:rPr>
              <a:t>Bulk Insert</a:t>
            </a: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INSERT INTO</a:t>
            </a:r>
            <a:r>
              <a:rPr lang="en-US" dirty="0">
                <a:latin typeface="Liberation Mono"/>
                <a:cs typeface="Arial" panose="020B0604020202020204" pitchFamily="34" charset="0"/>
              </a:rPr>
              <a:t> emp(ename, sal) </a:t>
            </a:r>
          </a:p>
          <a:p>
            <a:pPr marL="285750" indent="-285750" algn="just">
              <a:buFont typeface="Arial" panose="020B0604020202020204" pitchFamily="34" charset="0"/>
              <a:buChar char="•"/>
            </a:pPr>
            <a:r>
              <a:rPr lang="en-US" dirty="0">
                <a:solidFill>
                  <a:srgbClr val="0077AA"/>
                </a:solidFill>
                <a:latin typeface="Liberation Mono"/>
                <a:cs typeface="Arial" panose="020B0604020202020204" pitchFamily="34" charset="0"/>
              </a:rPr>
              <a:t>            VALUES</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FEF39292-C1C4-3A81-9FED-C6EE7B77D95F}"/>
              </a:ext>
            </a:extLst>
          </p:cNvPr>
          <p:cNvSpPr txBox="1"/>
          <p:nvPr/>
        </p:nvSpPr>
        <p:spPr>
          <a:xfrm>
            <a:off x="288344" y="3451647"/>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Generates high network overhead and slow performance.</a:t>
            </a:r>
          </a:p>
        </p:txBody>
      </p:sp>
    </p:spTree>
    <p:extLst>
      <p:ext uri="{BB962C8B-B14F-4D97-AF65-F5344CB8AC3E}">
        <p14:creationId xmlns:p14="http://schemas.microsoft.com/office/powerpoint/2010/main" val="1167254012"/>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D902D-9B0D-CFA1-2432-2FC6BF9B94B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AAFDE46-44E9-449E-084A-EA53D513AFD0}"/>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to Fetch Auto-Increment ID Incorrectly</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357C9D6E-D235-B1AE-A66B-4CC18ACD8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CFD4D8C9-2BA0-CFBC-0563-DA96B7CC1BA9}"/>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dept(deptno)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1001</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   -- WRONG</a:t>
            </a:r>
          </a:p>
        </p:txBody>
      </p:sp>
      <p:sp>
        <p:nvSpPr>
          <p:cNvPr id="22" name="TextBox 21">
            <a:extLst>
              <a:ext uri="{FF2B5EF4-FFF2-40B4-BE49-F238E27FC236}">
                <a16:creationId xmlns:a16="http://schemas.microsoft.com/office/drawing/2014/main" id="{C38055BF-3478-8739-DC2F-8E8134B8AA69}"/>
              </a:ext>
            </a:extLst>
          </p:cNvPr>
          <p:cNvSpPr txBox="1"/>
          <p:nvPr/>
        </p:nvSpPr>
        <p:spPr>
          <a:xfrm>
            <a:off x="288344" y="4686235"/>
            <a:ext cx="4824536"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 </a:t>
            </a:r>
            <a:r>
              <a:rPr lang="en-US" dirty="0">
                <a:latin typeface="Liberation Mono"/>
                <a:cs typeface="Arial" panose="020B0604020202020204" pitchFamily="34" charset="0"/>
              </a:rPr>
              <a:t>LAST_INSERT_ID();</a:t>
            </a:r>
          </a:p>
        </p:txBody>
      </p:sp>
      <p:sp>
        <p:nvSpPr>
          <p:cNvPr id="8" name="TextBox 7">
            <a:extLst>
              <a:ext uri="{FF2B5EF4-FFF2-40B4-BE49-F238E27FC236}">
                <a16:creationId xmlns:a16="http://schemas.microsoft.com/office/drawing/2014/main" id="{9AB71474-01D5-7407-27B8-EA0604B8D5BA}"/>
              </a:ext>
            </a:extLst>
          </p:cNvPr>
          <p:cNvSpPr txBox="1"/>
          <p:nvPr/>
        </p:nvSpPr>
        <p:spPr>
          <a:xfrm>
            <a:off x="288344" y="3429000"/>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DD4A68"/>
                </a:solidFill>
                <a:latin typeface="Liberation Mono"/>
              </a:rPr>
              <a:t>MAX</a:t>
            </a:r>
            <a:r>
              <a:rPr lang="en-US" dirty="0"/>
              <a:t>(</a:t>
            </a:r>
            <a:r>
              <a:rPr lang="en-US" dirty="0">
                <a:latin typeface="Liberation Mono"/>
                <a:cs typeface="Arial" panose="020B0604020202020204" pitchFamily="34" charset="0"/>
              </a:rPr>
              <a:t>deptno</a:t>
            </a:r>
            <a:r>
              <a:rPr lang="en-US" dirty="0"/>
              <a:t>) is not safe if multiple users insert simultaneously.</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3905297"/>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E7FD8-DBC3-5A1D-8E91-8A9E33DB873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99621D75-3904-4868-4091-CF3E3C56C25F}"/>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INSERT Without Using Transactions</a:t>
            </a:r>
          </a:p>
        </p:txBody>
      </p:sp>
      <p:sp>
        <p:nvSpPr>
          <p:cNvPr id="18" name="Rectangle 17">
            <a:extLst>
              <a:ext uri="{FF2B5EF4-FFF2-40B4-BE49-F238E27FC236}">
                <a16:creationId xmlns:a16="http://schemas.microsoft.com/office/drawing/2014/main" id="{33BC3487-C20A-8726-C7B1-5EEA6E17E4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9BDC6D52-75B3-4D90-2BA1-5F64F5EB6D3C}"/>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   -- WRONG</a:t>
            </a:r>
          </a:p>
        </p:txBody>
      </p:sp>
      <p:sp>
        <p:nvSpPr>
          <p:cNvPr id="22" name="TextBox 21">
            <a:extLst>
              <a:ext uri="{FF2B5EF4-FFF2-40B4-BE49-F238E27FC236}">
                <a16:creationId xmlns:a16="http://schemas.microsoft.com/office/drawing/2014/main" id="{20360CDD-9798-B9A2-6CF7-E10D8DEA04E4}"/>
              </a:ext>
            </a:extLst>
          </p:cNvPr>
          <p:cNvSpPr txBox="1"/>
          <p:nvPr/>
        </p:nvSpPr>
        <p:spPr>
          <a:xfrm>
            <a:off x="288344" y="4686235"/>
            <a:ext cx="5375608"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START TRANSACTION </a:t>
            </a:r>
            <a:r>
              <a:rPr lang="en-IN" dirty="0">
                <a:solidFill>
                  <a:srgbClr val="0077AA"/>
                </a:solidFill>
                <a:latin typeface="Liberation Mono"/>
                <a:cs typeface="Arial" panose="020B0604020202020204" pitchFamily="34" charset="0"/>
              </a:rPr>
              <a:t>READ WRITE</a:t>
            </a:r>
            <a:r>
              <a:rPr lang="en-US" dirty="0">
                <a:solidFill>
                  <a:srgbClr val="FF0000"/>
                </a:solidFill>
                <a:latin typeface="Liberation Mono"/>
                <a:cs typeface="Arial" panose="020B0604020202020204" pitchFamily="34" charset="0"/>
              </a:rPr>
              <a:t>;</a:t>
            </a: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COMMIT</a:t>
            </a:r>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FB16CD94-C6AC-C6AF-856D-3EC5D178529F}"/>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If the </a:t>
            </a:r>
            <a:r>
              <a:rPr lang="en-US" b="1" i="1" dirty="0">
                <a:solidFill>
                  <a:srgbClr val="C00000"/>
                </a:solidFill>
              </a:rPr>
              <a:t>second</a:t>
            </a:r>
            <a:r>
              <a:rPr lang="en-US" dirty="0"/>
              <a:t> INSERT command </a:t>
            </a:r>
            <a:r>
              <a:rPr lang="en-US" b="1" dirty="0"/>
              <a:t>fails</a:t>
            </a:r>
            <a:r>
              <a:rPr lang="en-US" dirty="0"/>
              <a:t>, the </a:t>
            </a:r>
            <a:r>
              <a:rPr lang="en-US" b="1" i="1" dirty="0">
                <a:solidFill>
                  <a:srgbClr val="C00000"/>
                </a:solidFill>
              </a:rPr>
              <a:t>first</a:t>
            </a:r>
            <a:r>
              <a:rPr lang="en-US" dirty="0"/>
              <a:t> INSERT statement will be executed and a record will be created.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85118826"/>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C2BF2-1044-59E8-B037-E91565DB6667}"/>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2312D3CE-0C4A-FD2A-F7AC-EFAB2D5615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err="1">
                <a:solidFill>
                  <a:srgbClr val="FFFF00"/>
                </a:solidFill>
                <a:latin typeface="Arial" panose="020B0604020202020204" pitchFamily="34" charset="0"/>
                <a:cs typeface="Arial" panose="020B0604020202020204" pitchFamily="34" charset="0"/>
              </a:rPr>
              <a:t>INSERTing</a:t>
            </a:r>
            <a:r>
              <a:rPr lang="en-US" sz="2400" dirty="0">
                <a:solidFill>
                  <a:srgbClr val="FFFF00"/>
                </a:solidFill>
                <a:latin typeface="Arial" panose="020B0604020202020204" pitchFamily="34" charset="0"/>
                <a:cs typeface="Arial" panose="020B0604020202020204" pitchFamily="34" charset="0"/>
              </a:rPr>
              <a:t> Sensitive Data Without Encryption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1647C8CE-9D2D-0E0B-AC45-57991B74B6E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F06C6ED-2A41-8151-5E87-4147A2B204CE}"/>
              </a:ext>
            </a:extLst>
          </p:cNvPr>
          <p:cNvSpPr txBox="1"/>
          <p:nvPr/>
        </p:nvSpPr>
        <p:spPr>
          <a:xfrm>
            <a:off x="288344" y="1650138"/>
            <a:ext cx="6671752"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user(password)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'Saleel'</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A2E2021B-DF74-0BDF-6C77-7093BDF10C71}"/>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Leelawadee UI Semilight" panose="020B0402040204020203" pitchFamily="34" charset="-34"/>
              </a:rPr>
              <a:t>password </a:t>
            </a:r>
            <a:r>
              <a:rPr lang="en-US" dirty="0">
                <a:solidFill>
                  <a:srgbClr val="834689"/>
                </a:solidFill>
                <a:latin typeface="Liberation Mono"/>
                <a:cs typeface="Arial" panose="020B0604020202020204" pitchFamily="34" charset="0"/>
              </a:rPr>
              <a:t>VARBINARY</a:t>
            </a:r>
            <a:r>
              <a:rPr lang="en-US" dirty="0">
                <a:latin typeface="Liberation Mono"/>
                <a:cs typeface="Leelawadee UI Semilight" panose="020B0402040204020203" pitchFamily="34" charset="-34"/>
              </a:rPr>
              <a:t>(60)</a:t>
            </a:r>
          </a:p>
        </p:txBody>
      </p:sp>
      <p:sp>
        <p:nvSpPr>
          <p:cNvPr id="8" name="TextBox 7">
            <a:extLst>
              <a:ext uri="{FF2B5EF4-FFF2-40B4-BE49-F238E27FC236}">
                <a16:creationId xmlns:a16="http://schemas.microsoft.com/office/drawing/2014/main" id="{8B2FA55D-E8DA-F860-4688-541E9C3AB6D6}"/>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Sensitive data will be displayed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4221405"/>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replace statement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REPLACE </a:t>
            </a:r>
            <a:r>
              <a:rPr lang="en-US" dirty="0">
                <a:latin typeface="Palatino Linotype" panose="02040502050505030304" pitchFamily="18" charset="0"/>
              </a:rPr>
              <a:t>works exactly like INSERT, except that if an old row in the table has the same value as a new row for a PRIMARY KEY or a UNIQUE index, </a:t>
            </a:r>
            <a:r>
              <a:rPr lang="en-US" b="1" dirty="0">
                <a:latin typeface="Palatino Linotype" panose="02040502050505030304" pitchFamily="18" charset="0"/>
              </a:rPr>
              <a:t>the old row is deleted before the new row is inserted / it deletes the old row and inserts the new one..</a:t>
            </a:r>
            <a:endParaRPr lang="en-IN" b="1" dirty="0">
              <a:latin typeface="Palatino Linotype" panose="02040502050505030304" pitchFamily="18" charset="0"/>
            </a:endParaRPr>
          </a:p>
        </p:txBody>
      </p:sp>
      <p:sp>
        <p:nvSpPr>
          <p:cNvPr id="3" name="TextBox 2">
            <a:extLst>
              <a:ext uri="{FF2B5EF4-FFF2-40B4-BE49-F238E27FC236}">
                <a16:creationId xmlns:a16="http://schemas.microsoft.com/office/drawing/2014/main" id="{2A15D2AF-7C87-37A2-BA0A-7E82798AF8FF}"/>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REPLACE makes sense only if a </a:t>
            </a:r>
            <a:r>
              <a:rPr lang="en-US" b="1" dirty="0">
                <a:solidFill>
                  <a:srgbClr val="FF0000"/>
                </a:solidFill>
                <a:latin typeface="Arial" panose="020B0604020202020204" pitchFamily="34" charset="0"/>
                <a:cs typeface="Arial" panose="020B0604020202020204" pitchFamily="34" charset="0"/>
              </a:rPr>
              <a:t>table has a </a:t>
            </a:r>
            <a:r>
              <a:rPr lang="en-US" b="1" dirty="0">
                <a:latin typeface="Arial" panose="020B0604020202020204" pitchFamily="34" charset="0"/>
                <a:cs typeface="Arial" panose="020B0604020202020204" pitchFamily="34" charset="0"/>
              </a:rPr>
              <a:t>PRIMARY KEY </a:t>
            </a:r>
            <a:r>
              <a:rPr lang="en-US" dirty="0">
                <a:latin typeface="Arial" panose="020B0604020202020204" pitchFamily="34" charset="0"/>
                <a:cs typeface="Arial" panose="020B0604020202020204" pitchFamily="34" charset="0"/>
              </a:rPr>
              <a:t>or </a:t>
            </a:r>
            <a:r>
              <a:rPr lang="en-US" b="1" dirty="0">
                <a:latin typeface="Arial" panose="020B0604020202020204" pitchFamily="34" charset="0"/>
                <a:cs typeface="Arial" panose="020B0604020202020204" pitchFamily="34" charset="0"/>
              </a:rPr>
              <a:t>UNIQUE index</a:t>
            </a:r>
            <a:r>
              <a:rPr lang="en-US" dirty="0">
                <a:latin typeface="Arial" panose="020B0604020202020204" pitchFamily="34" charset="0"/>
                <a:cs typeface="Arial" panose="020B0604020202020204" pitchFamily="34" charset="0"/>
              </a:rPr>
              <a:t>. Otherwise, it behaves like to INSERT</a:t>
            </a:r>
            <a:r>
              <a:rPr lang="en-IN" dirty="0">
                <a:latin typeface="Arial" panose="020B0604020202020204" pitchFamily="34" charset="0"/>
                <a:cs typeface="Arial" panose="020B0604020202020204" pitchFamily="34" charset="0"/>
              </a:rPr>
              <a:t> statement.</a:t>
            </a:r>
          </a:p>
        </p:txBody>
      </p:sp>
      <p:graphicFrame>
        <p:nvGraphicFramePr>
          <p:cNvPr id="4" name="Table 3">
            <a:extLst>
              <a:ext uri="{FF2B5EF4-FFF2-40B4-BE49-F238E27FC236}">
                <a16:creationId xmlns:a16="http://schemas.microsoft.com/office/drawing/2014/main" id="{78D234D2-008B-70A6-6EB0-437D53F545B2}"/>
              </a:ext>
            </a:extLst>
          </p:cNvPr>
          <p:cNvGraphicFramePr>
            <a:graphicFrameLocks noGrp="1"/>
          </p:cNvGraphicFramePr>
          <p:nvPr>
            <p:extLst>
              <p:ext uri="{D42A27DB-BD31-4B8C-83A1-F6EECF244321}">
                <p14:modId xmlns:p14="http://schemas.microsoft.com/office/powerpoint/2010/main" val="523639120"/>
              </p:ext>
            </p:extLst>
          </p:nvPr>
        </p:nvGraphicFramePr>
        <p:xfrm>
          <a:off x="191344" y="226699"/>
          <a:ext cx="11881320" cy="1463040"/>
        </p:xfrm>
        <a:graphic>
          <a:graphicData uri="http://schemas.openxmlformats.org/drawingml/2006/table">
            <a:tbl>
              <a:tblPr>
                <a:tableStyleId>{5940675A-B579-460E-94D1-54222C63F5DA}</a:tableStyleId>
              </a:tblPr>
              <a:tblGrid>
                <a:gridCol w="3984589">
                  <a:extLst>
                    <a:ext uri="{9D8B030D-6E8A-4147-A177-3AD203B41FA5}">
                      <a16:colId xmlns:a16="http://schemas.microsoft.com/office/drawing/2014/main" val="2915862077"/>
                    </a:ext>
                  </a:extLst>
                </a:gridCol>
                <a:gridCol w="3549907">
                  <a:extLst>
                    <a:ext uri="{9D8B030D-6E8A-4147-A177-3AD203B41FA5}">
                      <a16:colId xmlns:a16="http://schemas.microsoft.com/office/drawing/2014/main" val="1490537092"/>
                    </a:ext>
                  </a:extLst>
                </a:gridCol>
                <a:gridCol w="4346824">
                  <a:extLst>
                    <a:ext uri="{9D8B030D-6E8A-4147-A177-3AD203B41FA5}">
                      <a16:colId xmlns:a16="http://schemas.microsoft.com/office/drawing/2014/main" val="3145833631"/>
                    </a:ext>
                  </a:extLst>
                </a:gridCol>
              </a:tblGrid>
              <a:tr h="0">
                <a:tc>
                  <a:txBody>
                    <a:bodyPr/>
                    <a:lstStyle/>
                    <a:p>
                      <a:pPr algn="ctr"/>
                      <a:r>
                        <a:rPr lang="en-IN" b="1" dirty="0">
                          <a:latin typeface="Arial" panose="020B0604020202020204" pitchFamily="34" charset="0"/>
                          <a:cs typeface="Arial" panose="020B0604020202020204" pitchFamily="34" charset="0"/>
                        </a:rPr>
                        <a:t>Point</a:t>
                      </a:r>
                    </a:p>
                  </a:txBody>
                  <a:tcPr anchor="ctr"/>
                </a:tc>
                <a:tc>
                  <a:txBody>
                    <a:bodyPr/>
                    <a:lstStyle/>
                    <a:p>
                      <a:pPr algn="ctr"/>
                      <a:r>
                        <a:rPr lang="en-IN" b="1" dirty="0">
                          <a:latin typeface="Arial" panose="020B0604020202020204" pitchFamily="34" charset="0"/>
                          <a:cs typeface="Arial" panose="020B0604020202020204" pitchFamily="34" charset="0"/>
                        </a:rPr>
                        <a:t>Replace Into</a:t>
                      </a:r>
                    </a:p>
                  </a:txBody>
                  <a:tcPr anchor="ctr"/>
                </a:tc>
                <a:tc>
                  <a:txBody>
                    <a:bodyPr/>
                    <a:lstStyle/>
                    <a:p>
                      <a:pPr algn="ctr"/>
                      <a:r>
                        <a:rPr lang="en-US" b="1" dirty="0">
                          <a:latin typeface="Arial" panose="020B0604020202020204" pitchFamily="34" charset="0"/>
                          <a:cs typeface="Arial" panose="020B0604020202020204" pitchFamily="34" charset="0"/>
                        </a:rPr>
                        <a:t>Insert ... On Duplicate Key Update</a:t>
                      </a:r>
                    </a:p>
                  </a:txBody>
                  <a:tcPr anchor="ctr"/>
                </a:tc>
                <a:extLst>
                  <a:ext uri="{0D108BD9-81ED-4DB2-BD59-A6C34878D82A}">
                    <a16:rowId xmlns:a16="http://schemas.microsoft.com/office/drawing/2014/main" val="3778949495"/>
                  </a:ext>
                </a:extLst>
              </a:tr>
              <a:tr h="0">
                <a:tc>
                  <a:txBody>
                    <a:bodyPr/>
                    <a:lstStyle/>
                    <a:p>
                      <a:r>
                        <a:rPr lang="en-IN" dirty="0">
                          <a:latin typeface="Arial" panose="020B0604020202020204" pitchFamily="34" charset="0"/>
                          <a:cs typeface="Arial" panose="020B0604020202020204" pitchFamily="34" charset="0"/>
                        </a:rPr>
                        <a:t>on duplicate</a:t>
                      </a:r>
                    </a:p>
                  </a:txBody>
                  <a:tcPr anchor="ctr"/>
                </a:tc>
                <a:tc>
                  <a:txBody>
                    <a:bodyPr/>
                    <a:lstStyle/>
                    <a:p>
                      <a:r>
                        <a:rPr lang="en-US">
                          <a:latin typeface="Arial" panose="020B0604020202020204" pitchFamily="34" charset="0"/>
                          <a:cs typeface="Arial" panose="020B0604020202020204" pitchFamily="34" charset="0"/>
                        </a:rPr>
                        <a:t>Deletes old row, inserts new one</a:t>
                      </a:r>
                    </a:p>
                  </a:txBody>
                  <a:tcPr anchor="ctr"/>
                </a:tc>
                <a:tc>
                  <a:txBody>
                    <a:bodyPr/>
                    <a:lstStyle/>
                    <a:p>
                      <a:r>
                        <a:rPr lang="en-IN">
                          <a:latin typeface="Arial" panose="020B0604020202020204" pitchFamily="34" charset="0"/>
                          <a:cs typeface="Arial" panose="020B0604020202020204" pitchFamily="34" charset="0"/>
                        </a:rPr>
                        <a:t>Updates existing row</a:t>
                      </a:r>
                    </a:p>
                  </a:txBody>
                  <a:tcPr anchor="ctr"/>
                </a:tc>
                <a:extLst>
                  <a:ext uri="{0D108BD9-81ED-4DB2-BD59-A6C34878D82A}">
                    <a16:rowId xmlns:a16="http://schemas.microsoft.com/office/drawing/2014/main" val="1950803936"/>
                  </a:ext>
                </a:extLst>
              </a:tr>
              <a:tr h="0">
                <a:tc>
                  <a:txBody>
                    <a:bodyPr/>
                    <a:lstStyle/>
                    <a:p>
                      <a:r>
                        <a:rPr lang="en-IN" dirty="0">
                          <a:latin typeface="Arial" panose="020B0604020202020204" pitchFamily="34" charset="0"/>
                          <a:cs typeface="Arial" panose="020B0604020202020204" pitchFamily="34" charset="0"/>
                        </a:rPr>
                        <a:t>Auto-increment field changes?</a:t>
                      </a:r>
                    </a:p>
                  </a:txBody>
                  <a:tcPr anchor="ctr"/>
                </a:tc>
                <a:tc>
                  <a:txBody>
                    <a:bodyPr/>
                    <a:lstStyle/>
                    <a:p>
                      <a:r>
                        <a:rPr lang="en-IN" dirty="0">
                          <a:latin typeface="Arial" panose="020B0604020202020204" pitchFamily="34" charset="0"/>
                          <a:cs typeface="Arial" panose="020B0604020202020204" pitchFamily="34" charset="0"/>
                        </a:rPr>
                        <a:t>Yes</a:t>
                      </a:r>
                    </a:p>
                  </a:txBody>
                  <a:tcPr anchor="ctr"/>
                </a:tc>
                <a:tc>
                  <a:txBody>
                    <a:bodyPr/>
                    <a:lstStyle/>
                    <a:p>
                      <a:r>
                        <a:rPr lang="en-US" dirty="0">
                          <a:latin typeface="Arial" panose="020B0604020202020204" pitchFamily="34" charset="0"/>
                          <a:cs typeface="Arial" panose="020B0604020202020204" pitchFamily="34" charset="0"/>
                        </a:rPr>
                        <a:t>No (same row is updated)</a:t>
                      </a:r>
                    </a:p>
                  </a:txBody>
                  <a:tcPr anchor="ctr"/>
                </a:tc>
                <a:extLst>
                  <a:ext uri="{0D108BD9-81ED-4DB2-BD59-A6C34878D82A}">
                    <a16:rowId xmlns:a16="http://schemas.microsoft.com/office/drawing/2014/main" val="2382286534"/>
                  </a:ext>
                </a:extLst>
              </a:tr>
              <a:tr h="0">
                <a:tc>
                  <a:txBody>
                    <a:bodyPr/>
                    <a:lstStyle/>
                    <a:p>
                      <a:r>
                        <a:rPr lang="en-IN">
                          <a:latin typeface="Arial" panose="020B0604020202020204" pitchFamily="34" charset="0"/>
                          <a:cs typeface="Arial" panose="020B0604020202020204" pitchFamily="34" charset="0"/>
                        </a:rPr>
                        <a:t>Triggers (BEFORE/AFTER DELETE)</a:t>
                      </a:r>
                    </a:p>
                  </a:txBody>
                  <a:tcPr anchor="ctr"/>
                </a:tc>
                <a:tc>
                  <a:txBody>
                    <a:bodyPr/>
                    <a:lstStyle/>
                    <a:p>
                      <a:r>
                        <a:rPr lang="en-IN" dirty="0">
                          <a:latin typeface="Arial" panose="020B0604020202020204" pitchFamily="34" charset="0"/>
                          <a:cs typeface="Arial" panose="020B0604020202020204" pitchFamily="34" charset="0"/>
                        </a:rPr>
                        <a:t>Fires</a:t>
                      </a:r>
                    </a:p>
                  </a:txBody>
                  <a:tcPr anchor="ctr"/>
                </a:tc>
                <a:tc>
                  <a:txBody>
                    <a:bodyPr/>
                    <a:lstStyle/>
                    <a:p>
                      <a:r>
                        <a:rPr lang="en-IN" dirty="0">
                          <a:latin typeface="Arial" panose="020B0604020202020204" pitchFamily="34" charset="0"/>
                          <a:cs typeface="Arial" panose="020B0604020202020204" pitchFamily="34" charset="0"/>
                        </a:rPr>
                        <a:t>Not fired</a:t>
                      </a:r>
                    </a:p>
                  </a:txBody>
                  <a:tcPr anchor="ctr"/>
                </a:tc>
                <a:extLst>
                  <a:ext uri="{0D108BD9-81ED-4DB2-BD59-A6C34878D82A}">
                    <a16:rowId xmlns:a16="http://schemas.microsoft.com/office/drawing/2014/main" val="2617558444"/>
                  </a:ext>
                </a:extLst>
              </a:tr>
            </a:tbl>
          </a:graphicData>
        </a:graphic>
      </p:graphicFrame>
    </p:spTree>
    <p:extLst>
      <p:ext uri="{BB962C8B-B14F-4D97-AF65-F5344CB8AC3E}">
        <p14:creationId xmlns:p14="http://schemas.microsoft.com/office/powerpoint/2010/main" val="1174949251"/>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3861048"/>
            <a:ext cx="11881319" cy="1877437"/>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latin typeface="Liberation Mono"/>
                <a:cs typeface="Arial" panose="020B0604020202020204" pitchFamily="34" charset="0"/>
              </a:rPr>
              <a:t>, </a:t>
            </a:r>
            <a:r>
              <a:rPr lang="en-IN" dirty="0">
                <a:solidFill>
                  <a:srgbClr val="669900"/>
                </a:solidFill>
                <a:latin typeface="Liberation Mono"/>
              </a:rPr>
              <a:t>'james@gmail.com'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latin typeface="Liberation Mono"/>
                <a:cs typeface="Arial" panose="020B0604020202020204" pitchFamily="34" charset="0"/>
              </a:rPr>
              <a:t>, </a:t>
            </a:r>
            <a:r>
              <a:rPr lang="en-IN" dirty="0">
                <a:solidFill>
                  <a:srgbClr val="669900"/>
                </a:solidFill>
                <a:latin typeface="Liberation Mono"/>
              </a:rPr>
              <a:t>'james@redifmail.com'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cs typeface="Arial" panose="020B0604020202020204" pitchFamily="34" charset="0"/>
              </a:rPr>
              <a:t>, </a:t>
            </a:r>
            <a:r>
              <a:rPr lang="en-IN" dirty="0">
                <a:solidFill>
                  <a:srgbClr val="669900"/>
                </a:solidFill>
                <a:latin typeface="Liberation Mono"/>
              </a:rPr>
              <a:t>'james@mail.com'</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jack'</a:t>
            </a:r>
            <a:r>
              <a:rPr lang="en-IN" dirty="0">
                <a:latin typeface="Liberation Mono"/>
                <a:cs typeface="Arial" panose="020B0604020202020204" pitchFamily="34" charset="0"/>
              </a:rPr>
              <a:t>, </a:t>
            </a:r>
            <a:r>
              <a:rPr lang="en-IN" dirty="0">
                <a:solidFill>
                  <a:srgbClr val="669900"/>
                </a:solidFill>
                <a:latin typeface="Liberation Mono"/>
              </a:rPr>
              <a:t>'jack@redifmail.com'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jack'</a:t>
            </a:r>
            <a:r>
              <a:rPr lang="en-IN" dirty="0">
                <a:latin typeface="Liberation Mono"/>
                <a:cs typeface="Arial" panose="020B0604020202020204" pitchFamily="34" charset="0"/>
              </a:rPr>
              <a:t>, </a:t>
            </a:r>
            <a:r>
              <a:rPr lang="en-IN" dirty="0">
                <a:solidFill>
                  <a:srgbClr val="669900"/>
                </a:solidFill>
                <a:latin typeface="Liberation Mono"/>
              </a:rPr>
              <a:t>'jack@mail.com'</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replace statement</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US" sz="2000" dirty="0">
                <a:solidFill>
                  <a:srgbClr val="0077AA"/>
                </a:solidFill>
                <a:latin typeface="Liberation Mono"/>
              </a:rPr>
              <a:t>REPLACE</a:t>
            </a:r>
            <a:r>
              <a:rPr lang="en-IN" sz="2000" dirty="0">
                <a:latin typeface="Liberation Mono"/>
              </a:rPr>
              <a:t> </a:t>
            </a:r>
            <a:r>
              <a:rPr lang="en-IN" sz="2000" dirty="0">
                <a:solidFill>
                  <a:srgbClr val="0077AA"/>
                </a:solidFill>
                <a:latin typeface="Liberation Mono"/>
              </a:rPr>
              <a:t>INTO </a:t>
            </a:r>
            <a:r>
              <a:rPr lang="en-IN" sz="2000" dirty="0">
                <a:latin typeface="Liberation Mono"/>
              </a:rPr>
              <a:t>tbl_name </a:t>
            </a:r>
            <a:r>
              <a:rPr lang="en-US" sz="2000" dirty="0">
                <a:latin typeface="Liberation Mono"/>
              </a:rPr>
              <a:t>[(</a:t>
            </a:r>
            <a:r>
              <a:rPr lang="en-US" sz="2000" i="1" dirty="0">
                <a:latin typeface="Liberation Mono"/>
              </a:rPr>
              <a:t>field_name</a:t>
            </a:r>
            <a:r>
              <a:rPr lang="en-US" sz="2000" dirty="0">
                <a:latin typeface="Liberation Mono"/>
              </a:rPr>
              <a:t>,...)]</a:t>
            </a:r>
            <a:r>
              <a:rPr lang="en-IN" sz="2000" dirty="0">
                <a:latin typeface="Liberation Mono"/>
              </a:rPr>
              <a:t>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value_list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a:t>
            </a:r>
          </a:p>
        </p:txBody>
      </p:sp>
    </p:spTree>
    <p:extLst>
      <p:ext uri="{BB962C8B-B14F-4D97-AF65-F5344CB8AC3E}">
        <p14:creationId xmlns:p14="http://schemas.microsoft.com/office/powerpoint/2010/main" val="2721609667"/>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encoding/decoding</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632839141"/>
      </p:ext>
    </p:extLst>
  </p:cSld>
  <p:clrMapOvr>
    <a:masterClrMapping/>
  </p:clrMapOvr>
  <p:transition/>
</p:sld>
</file>

<file path=ppt/slides/slide2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aes_encrypt  /  aes_decrypt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01469"/>
            <a:ext cx="11377264"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AES_ENCRYPT() and AES_DECRYPT() implement encryption and decryption of data using the official AES (Advanced Encryption Standard) algorithm, previously known as "</a:t>
            </a:r>
            <a:r>
              <a:rPr lang="en-US" dirty="0" err="1">
                <a:latin typeface="Arial" panose="020B0604020202020204" pitchFamily="34" charset="0"/>
                <a:cs typeface="Arial" panose="020B0604020202020204" pitchFamily="34" charset="0"/>
              </a:rPr>
              <a:t>Rijndael</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12" name="Rectangle 11"/>
          <p:cNvSpPr/>
          <p:nvPr/>
        </p:nvSpPr>
        <p:spPr>
          <a:xfrm>
            <a:off x="335360" y="1568986"/>
            <a:ext cx="5760640" cy="707886"/>
          </a:xfrm>
          <a:prstGeom prst="rect">
            <a:avLst/>
          </a:prstGeom>
        </p:spPr>
        <p:txBody>
          <a:bodyPr wrap="square">
            <a:spAutoFit/>
          </a:bodyPr>
          <a:lstStyle/>
          <a:p>
            <a:pPr marL="342900" indent="-342900">
              <a:buFont typeface="Arial" panose="020B0604020202020204" pitchFamily="34" charset="0"/>
              <a:buChar char="•"/>
            </a:pPr>
            <a:r>
              <a:rPr lang="en-US" dirty="0">
                <a:solidFill>
                  <a:srgbClr val="DD4A68"/>
                </a:solidFill>
                <a:latin typeface="Liberation Mono"/>
              </a:rPr>
              <a:t>AES_ENCRYPT</a:t>
            </a:r>
            <a:r>
              <a:rPr lang="en-US" sz="2000" dirty="0">
                <a:latin typeface="Liberation Mono"/>
              </a:rPr>
              <a:t>(str, key_str)</a:t>
            </a:r>
          </a:p>
          <a:p>
            <a:pPr marL="342900" indent="-342900">
              <a:buFont typeface="Arial" panose="020B0604020202020204" pitchFamily="34" charset="0"/>
              <a:buChar char="•"/>
            </a:pPr>
            <a:r>
              <a:rPr lang="en-US" dirty="0">
                <a:solidFill>
                  <a:srgbClr val="DD4A68"/>
                </a:solidFill>
                <a:latin typeface="Liberation Mono"/>
              </a:rPr>
              <a:t>AES_DECRYPT</a:t>
            </a:r>
            <a:r>
              <a:rPr lang="en-US" sz="2000" dirty="0">
                <a:latin typeface="Liberation Mono"/>
              </a:rPr>
              <a:t>(str, key_str)</a:t>
            </a:r>
          </a:p>
        </p:txBody>
      </p:sp>
      <p:sp>
        <p:nvSpPr>
          <p:cNvPr id="9" name="TextBox 8">
            <a:extLst>
              <a:ext uri="{FF2B5EF4-FFF2-40B4-BE49-F238E27FC236}">
                <a16:creationId xmlns:a16="http://schemas.microsoft.com/office/drawing/2014/main" id="{287D8A11-1C96-446A-9F00-9451A5E0036D}"/>
              </a:ext>
            </a:extLst>
          </p:cNvPr>
          <p:cNvSpPr txBox="1"/>
          <p:nvPr/>
        </p:nvSpPr>
        <p:spPr>
          <a:xfrm>
            <a:off x="335360" y="2430755"/>
            <a:ext cx="1159328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pwd (</a:t>
            </a:r>
          </a:p>
          <a:p>
            <a:pPr marL="273050"/>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pwd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'sharmin'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'sharmin'</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'kaushal'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'kaushal'</a:t>
            </a:r>
            <a:r>
              <a:rPr lang="en-IN" dirty="0">
                <a:latin typeface="Liberation Mono"/>
              </a:rPr>
              <a:t>, </a:t>
            </a:r>
            <a:r>
              <a:rPr lang="en-IN" dirty="0">
                <a:solidFill>
                  <a:srgbClr val="669900"/>
                </a:solidFill>
                <a:latin typeface="Liberation Mono"/>
              </a:rPr>
              <a:t>'kaushal1'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669900"/>
                </a:solidFill>
                <a:latin typeface="Liberation Mono"/>
              </a:rPr>
              <a:t>'ruhan'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'ruhan'</a:t>
            </a:r>
            <a:r>
              <a:rPr lang="en-IN" dirty="0">
                <a:latin typeface="Liberation Mono"/>
              </a:rPr>
              <a:t>, </a:t>
            </a:r>
            <a:r>
              <a:rPr lang="en-IN" dirty="0">
                <a:solidFill>
                  <a:srgbClr val="669900"/>
                </a:solidFill>
                <a:latin typeface="Liberation Mono"/>
              </a:rPr>
              <a:t>'ruhan1</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A67F59"/>
                </a:solidFill>
                <a:latin typeface="Liberation Mono"/>
              </a:rPr>
              <a:t>*</a:t>
            </a:r>
            <a:r>
              <a:rPr lang="en-IN" dirty="0">
                <a:solidFill>
                  <a:srgbClr val="0077AA"/>
                </a:solidFill>
                <a:latin typeface="Liberation Mono"/>
                <a:cs typeface="Arial" panose="020B0604020202020204" pitchFamily="34" charset="0"/>
              </a:rPr>
              <a:t> FROM </a:t>
            </a:r>
            <a:r>
              <a:rPr lang="en-IN" dirty="0">
                <a:latin typeface="Liberation Mono"/>
              </a:rPr>
              <a:t>pwd;</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latin typeface="Liberation Mono"/>
                <a:cs typeface="Arial" panose="020B0604020202020204" pitchFamily="34" charset="0"/>
              </a:rPr>
              <a:t>AS</a:t>
            </a:r>
            <a:r>
              <a:rPr lang="en-IN" dirty="0">
                <a:latin typeface="Liberation Mono"/>
              </a:rPr>
              <a:t> </a:t>
            </a:r>
            <a:r>
              <a:rPr lang="en-IN" dirty="0">
                <a:latin typeface="Liberation Mono"/>
                <a:cs typeface="Arial" panose="020B0604020202020204" pitchFamily="34" charset="0"/>
              </a:rPr>
              <a:t>CHAR</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a:t>
            </a:r>
          </a:p>
        </p:txBody>
      </p:sp>
    </p:spTree>
    <p:extLst>
      <p:ext uri="{BB962C8B-B14F-4D97-AF65-F5344CB8AC3E}">
        <p14:creationId xmlns:p14="http://schemas.microsoft.com/office/powerpoint/2010/main" val="3391551381"/>
      </p:ext>
    </p:extLst>
  </p:cSld>
  <p:clrMapOvr>
    <a:masterClrMapping/>
  </p:clrMapOvr>
  <p:transition/>
</p:sld>
</file>

<file path=ppt/slides/slide2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md5()</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548680"/>
            <a:ext cx="11624592" cy="923330"/>
          </a:xfrm>
          <a:prstGeom prst="rect">
            <a:avLst/>
          </a:prstGeom>
        </p:spPr>
        <p:txBody>
          <a:bodyPr wrap="square">
            <a:spAutoFit/>
          </a:bodyPr>
          <a:lstStyle/>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MD5() is a built-in function that generates a 128-bit hash value from a string.</a:t>
            </a:r>
          </a:p>
          <a:p>
            <a:pPr marL="285750" indent="-285750">
              <a:buFont typeface="Arial" panose="020B0604020202020204" pitchFamily="34" charset="0"/>
              <a:buChar char="•"/>
            </a:pPr>
            <a:r>
              <a:rPr lang="en-IN" dirty="0"/>
              <a:t>MD5 stands for Message-Digest Algorithm 5. </a:t>
            </a:r>
          </a:p>
          <a:p>
            <a:pPr marL="285750" indent="-285750">
              <a:buFont typeface="Arial" panose="020B0604020202020204" pitchFamily="34" charset="0"/>
              <a:buChar char="•"/>
            </a:pPr>
            <a:r>
              <a:rPr lang="en-IN" dirty="0"/>
              <a:t>It converts a string into a fixed-length 128-bit (16-byte) hash, normally represented as 32 hexadecimal characters.</a:t>
            </a:r>
          </a:p>
        </p:txBody>
      </p:sp>
      <p:grpSp>
        <p:nvGrpSpPr>
          <p:cNvPr id="8" name="Group 7">
            <a:extLst>
              <a:ext uri="{FF2B5EF4-FFF2-40B4-BE49-F238E27FC236}">
                <a16:creationId xmlns:a16="http://schemas.microsoft.com/office/drawing/2014/main" id="{0A80E885-C17A-EF16-0D20-E282977EBF6E}"/>
              </a:ext>
            </a:extLst>
          </p:cNvPr>
          <p:cNvGrpSpPr/>
          <p:nvPr/>
        </p:nvGrpSpPr>
        <p:grpSpPr>
          <a:xfrm>
            <a:off x="241515" y="1710390"/>
            <a:ext cx="11718437" cy="3889323"/>
            <a:chOff x="241515" y="1710390"/>
            <a:chExt cx="11718437" cy="3889323"/>
          </a:xfrm>
        </p:grpSpPr>
        <p:sp>
          <p:nvSpPr>
            <p:cNvPr id="7" name="Rectangle 6">
              <a:extLst>
                <a:ext uri="{FF2B5EF4-FFF2-40B4-BE49-F238E27FC236}">
                  <a16:creationId xmlns:a16="http://schemas.microsoft.com/office/drawing/2014/main" id="{CD151B4D-7805-CA63-9947-8C1A1E31CA90}"/>
                </a:ext>
              </a:extLst>
            </p:cNvPr>
            <p:cNvSpPr/>
            <p:nvPr/>
          </p:nvSpPr>
          <p:spPr>
            <a:xfrm>
              <a:off x="623392" y="1710390"/>
              <a:ext cx="5472608" cy="400110"/>
            </a:xfrm>
            <a:prstGeom prst="rect">
              <a:avLst/>
            </a:prstGeom>
          </p:spPr>
          <p:txBody>
            <a:bodyPr wrap="square">
              <a:spAutoFit/>
            </a:bodyPr>
            <a:lstStyle/>
            <a:p>
              <a:r>
                <a:rPr lang="en-US" dirty="0">
                  <a:solidFill>
                    <a:srgbClr val="DD4A68"/>
                  </a:solidFill>
                  <a:latin typeface="Liberation Mono"/>
                </a:rPr>
                <a:t>MD5</a:t>
              </a:r>
              <a:r>
                <a:rPr lang="en-US" sz="2000" dirty="0">
                  <a:latin typeface="Liberation Mono"/>
                </a:rPr>
                <a:t>(</a:t>
              </a:r>
              <a:r>
                <a:rPr lang="en-US" sz="2000" i="1" dirty="0">
                  <a:latin typeface="Liberation Mono"/>
                </a:rPr>
                <a:t>string</a:t>
              </a:r>
              <a:r>
                <a:rPr lang="en-US" sz="2000" dirty="0">
                  <a:latin typeface="Liberation Mono"/>
                </a:rPr>
                <a:t>) </a:t>
              </a:r>
            </a:p>
          </p:txBody>
        </p:sp>
        <p:sp>
          <p:nvSpPr>
            <p:cNvPr id="9" name="TextBox 8">
              <a:extLst>
                <a:ext uri="{FF2B5EF4-FFF2-40B4-BE49-F238E27FC236}">
                  <a16:creationId xmlns:a16="http://schemas.microsoft.com/office/drawing/2014/main" id="{D5CDE843-B72A-08D5-8186-19C61F823CD8}"/>
                </a:ext>
              </a:extLst>
            </p:cNvPr>
            <p:cNvSpPr txBox="1"/>
            <p:nvPr/>
          </p:nvSpPr>
          <p:spPr>
            <a:xfrm>
              <a:off x="9223648" y="2169151"/>
              <a:ext cx="2736304" cy="110799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'saleel'</a:t>
              </a:r>
              <a:r>
                <a:rPr lang="en-IN" dirty="0">
                  <a:latin typeface="Liberation Mono"/>
                </a:rPr>
                <a:t>);</a:t>
              </a:r>
            </a:p>
          </p:txBody>
        </p:sp>
        <p:sp>
          <p:nvSpPr>
            <p:cNvPr id="3" name="TextBox 2">
              <a:extLst>
                <a:ext uri="{FF2B5EF4-FFF2-40B4-BE49-F238E27FC236}">
                  <a16:creationId xmlns:a16="http://schemas.microsoft.com/office/drawing/2014/main" id="{F5ED5785-B0FD-6783-6F24-6DBCF5DA5AB3}"/>
                </a:ext>
              </a:extLst>
            </p:cNvPr>
            <p:cNvSpPr txBox="1"/>
            <p:nvPr/>
          </p:nvSpPr>
          <p:spPr>
            <a:xfrm>
              <a:off x="241515" y="2183393"/>
              <a:ext cx="8518781" cy="3416320"/>
            </a:xfrm>
            <a:prstGeom prst="rect">
              <a:avLst/>
            </a:prstGeom>
            <a:noFill/>
          </p:spPr>
          <p:txBody>
            <a:bodyPr wrap="square">
              <a:spAutoFit/>
            </a:bodyPr>
            <a:lstStyle/>
            <a:p>
              <a:pPr marL="285750" indent="-285750">
                <a:buFont typeface="Arial" panose="020B0604020202020204" pitchFamily="34" charset="0"/>
                <a:buChar char="•"/>
              </a:pPr>
              <a:r>
                <a:rPr lang="en-IN" sz="1800" dirty="0">
                  <a:solidFill>
                    <a:srgbClr val="0077AA"/>
                  </a:solidFill>
                  <a:latin typeface="Liberation Mono"/>
                  <a:cs typeface="Arial" panose="020B0604020202020204" pitchFamily="34" charset="0"/>
                </a:rPr>
                <a:t>CREATE</a:t>
              </a:r>
              <a:r>
                <a:rPr lang="en-IN" sz="1800" dirty="0">
                  <a:latin typeface="Liberation Mono"/>
                </a:rPr>
                <a:t> </a:t>
              </a:r>
              <a:r>
                <a:rPr lang="en-IN" sz="1800" dirty="0">
                  <a:solidFill>
                    <a:srgbClr val="0077AA"/>
                  </a:solidFill>
                  <a:latin typeface="Liberation Mono"/>
                  <a:cs typeface="Arial" panose="020B0604020202020204" pitchFamily="34" charset="0"/>
                </a:rPr>
                <a:t>TABLE</a:t>
              </a:r>
              <a:r>
                <a:rPr lang="en-IN" sz="1800" dirty="0">
                  <a:latin typeface="Liberation Mono"/>
                </a:rPr>
                <a:t> pwd (</a:t>
              </a:r>
            </a:p>
            <a:p>
              <a:pPr marL="273050"/>
              <a:r>
                <a:rPr lang="en-IN" sz="1800" dirty="0">
                  <a:latin typeface="Liberation Mono"/>
                </a:rPr>
                <a:t>     ID </a:t>
              </a:r>
              <a:r>
                <a:rPr lang="en-IN" sz="1800" dirty="0">
                  <a:solidFill>
                    <a:srgbClr val="834689"/>
                  </a:solidFill>
                  <a:latin typeface="Liberation Mono"/>
                  <a:cs typeface="Arial" panose="020B0604020202020204" pitchFamily="34" charset="0"/>
                </a:rPr>
                <a:t>INT</a:t>
              </a:r>
              <a:r>
                <a:rPr lang="en-IN" sz="1800" dirty="0">
                  <a:latin typeface="Liberation Mono"/>
                </a:rPr>
                <a:t> </a:t>
              </a:r>
              <a:r>
                <a:rPr lang="en-IN" sz="1800" dirty="0">
                  <a:solidFill>
                    <a:srgbClr val="C00000"/>
                  </a:solidFill>
                  <a:latin typeface="Liberation Mono"/>
                  <a:cs typeface="Arial" panose="020B0604020202020204" pitchFamily="34" charset="0"/>
                </a:rPr>
                <a:t>PRIMARY</a:t>
              </a:r>
              <a:r>
                <a:rPr lang="en-IN" sz="1800" dirty="0">
                  <a:latin typeface="Liberation Mono"/>
                </a:rPr>
                <a:t> </a:t>
              </a:r>
              <a:r>
                <a:rPr lang="en-IN" sz="1800" dirty="0">
                  <a:solidFill>
                    <a:srgbClr val="C00000"/>
                  </a:solidFill>
                  <a:latin typeface="Liberation Mono"/>
                  <a:cs typeface="Arial" panose="020B0604020202020204" pitchFamily="34" charset="0"/>
                </a:rPr>
                <a:t>KEY</a:t>
              </a:r>
              <a:r>
                <a:rPr lang="en-IN" sz="1800" dirty="0">
                  <a:latin typeface="Liberation Mono"/>
                </a:rPr>
                <a:t>,</a:t>
              </a:r>
            </a:p>
            <a:p>
              <a:pPr marL="273050"/>
              <a:r>
                <a:rPr lang="en-IN" sz="1800" dirty="0">
                  <a:latin typeface="Liberation Mono"/>
                </a:rPr>
                <a:t>   </a:t>
              </a:r>
              <a:r>
                <a:rPr lang="en-IN" dirty="0">
                  <a:latin typeface="Liberation Mono"/>
                </a:rPr>
                <a:t>  user_name</a:t>
              </a:r>
              <a:r>
                <a:rPr lang="en-IN" sz="1800" dirty="0">
                  <a:latin typeface="Liberation Mono"/>
                </a:rPr>
                <a:t> </a:t>
              </a:r>
              <a:r>
                <a:rPr lang="en-IN" sz="1800" dirty="0">
                  <a:solidFill>
                    <a:srgbClr val="834689"/>
                  </a:solidFill>
                  <a:latin typeface="Liberation Mono"/>
                  <a:cs typeface="Arial" panose="020B0604020202020204" pitchFamily="34" charset="0"/>
                </a:rPr>
                <a:t>VARCHAR</a:t>
              </a:r>
              <a:r>
                <a:rPr lang="en-IN" sz="1800" dirty="0">
                  <a:latin typeface="Liberation Mono"/>
                </a:rPr>
                <a:t>(45),</a:t>
              </a:r>
            </a:p>
            <a:p>
              <a:pPr marL="273050"/>
              <a:r>
                <a:rPr lang="en-IN" sz="1800" dirty="0">
                  <a:latin typeface="Liberation Mono"/>
                </a:rPr>
                <a:t>     pwd </a:t>
              </a:r>
              <a:r>
                <a:rPr lang="en-IN" dirty="0">
                  <a:solidFill>
                    <a:srgbClr val="834689"/>
                  </a:solidFill>
                  <a:latin typeface="Liberation Mono"/>
                  <a:cs typeface="Arial" panose="020B0604020202020204" pitchFamily="34" charset="0"/>
                </a:rPr>
                <a:t>VARCHAR</a:t>
              </a:r>
              <a:r>
                <a:rPr lang="en-IN" sz="1800" dirty="0">
                  <a:latin typeface="Liberation Mono"/>
                </a:rPr>
                <a:t>(45)</a:t>
              </a:r>
            </a:p>
            <a:p>
              <a:pPr marL="273050"/>
              <a:r>
                <a:rPr lang="en-IN" sz="1800" dirty="0">
                  <a:latin typeface="Liberation Mono"/>
                </a:rPr>
                <a:t>);</a:t>
              </a:r>
            </a:p>
            <a:p>
              <a:pPr marL="273050"/>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pwd(ID, user_name, password_hash) </a:t>
              </a:r>
              <a:r>
                <a:rPr lang="en-IN" dirty="0">
                  <a:solidFill>
                    <a:srgbClr val="0077AA"/>
                  </a:solidFill>
                  <a:latin typeface="Liberation Mono"/>
                  <a:cs typeface="Arial" panose="020B0604020202020204" pitchFamily="34" charset="0"/>
                </a:rPr>
                <a:t>VALUES</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'saleel'</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'p1'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pwd(ID, user_name, password_hash) </a:t>
              </a:r>
              <a:r>
                <a:rPr lang="en-IN" dirty="0">
                  <a:solidFill>
                    <a:srgbClr val="0077AA"/>
                  </a:solidFill>
                  <a:latin typeface="Liberation Mono"/>
                  <a:cs typeface="Arial" panose="020B0604020202020204" pitchFamily="34" charset="0"/>
                </a:rPr>
                <a:t>VALUES</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00B050"/>
                  </a:solidFill>
                  <a:latin typeface="Liberation Mono"/>
                </a:rPr>
                <a:t>'sharmin'</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'p1'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pwd(ID, user_name, password_hash) </a:t>
              </a:r>
              <a:r>
                <a:rPr lang="en-IN" dirty="0">
                  <a:solidFill>
                    <a:srgbClr val="0077AA"/>
                  </a:solidFill>
                  <a:latin typeface="Liberation Mono"/>
                  <a:cs typeface="Arial" panose="020B0604020202020204" pitchFamily="34" charset="0"/>
                </a:rPr>
                <a:t>VALUES</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00B050"/>
                  </a:solidFill>
                  <a:latin typeface="Liberation Mono"/>
                </a:rPr>
                <a:t>'ruhan'</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'p2'</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pwd(ID, user_name, password_hash) </a:t>
              </a:r>
              <a:r>
                <a:rPr lang="en-IN" dirty="0">
                  <a:solidFill>
                    <a:srgbClr val="0077AA"/>
                  </a:solidFill>
                  <a:latin typeface="Liberation Mono"/>
                  <a:cs typeface="Arial" panose="020B0604020202020204" pitchFamily="34" charset="0"/>
                </a:rPr>
                <a:t>VALUES</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00B050"/>
                  </a:solidFill>
                  <a:latin typeface="Liberation Mono"/>
                </a:rPr>
                <a:t>'natasha'</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'p2’</a:t>
              </a:r>
              <a:r>
                <a:rPr lang="en-IN" dirty="0">
                  <a:latin typeface="Liberation Mono"/>
                </a:rPr>
                <a:t>));</a:t>
              </a:r>
            </a:p>
            <a:p>
              <a:pPr marL="285750" indent="-285750">
                <a:buFont typeface="Arial" panose="020B0604020202020204" pitchFamily="34" charset="0"/>
                <a:buChar char="•"/>
              </a:pPr>
              <a:endParaRPr lang="en-IN" sz="1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pwd </a:t>
              </a:r>
              <a:r>
                <a:rPr lang="en-US" dirty="0">
                  <a:solidFill>
                    <a:srgbClr val="0077AA"/>
                  </a:solidFill>
                  <a:latin typeface="Liberation Mono"/>
                  <a:cs typeface="Arial" panose="020B0604020202020204" pitchFamily="34" charset="0"/>
                </a:rPr>
                <a:t>WHERE</a:t>
              </a:r>
              <a:r>
                <a:rPr lang="en-US" dirty="0">
                  <a:latin typeface="Liberation Mono"/>
                </a:rPr>
                <a:t> password_hash= </a:t>
              </a:r>
              <a:r>
                <a:rPr lang="en-US" dirty="0">
                  <a:solidFill>
                    <a:srgbClr val="DD4A68"/>
                  </a:solidFill>
                  <a:latin typeface="Liberation Mono"/>
                </a:rPr>
                <a:t>MD5</a:t>
              </a:r>
              <a:r>
                <a:rPr lang="en-US" dirty="0">
                  <a:latin typeface="Liberation Mono"/>
                </a:rPr>
                <a:t>(</a:t>
              </a:r>
              <a:r>
                <a:rPr lang="en-US" dirty="0">
                  <a:solidFill>
                    <a:srgbClr val="00B050"/>
                  </a:solidFill>
                  <a:latin typeface="Liberation Mono"/>
                </a:rPr>
                <a:t>'p1'</a:t>
              </a:r>
              <a:r>
                <a:rPr lang="en-US" dirty="0">
                  <a:latin typeface="Liberation Mono"/>
                </a:rPr>
                <a:t>);</a:t>
              </a:r>
              <a:endParaRPr lang="en-IN" sz="1800" dirty="0">
                <a:latin typeface="Liberation Mono"/>
              </a:endParaRPr>
            </a:p>
          </p:txBody>
        </p:sp>
      </p:grpSp>
    </p:spTree>
    <p:extLst>
      <p:ext uri="{BB962C8B-B14F-4D97-AF65-F5344CB8AC3E}">
        <p14:creationId xmlns:p14="http://schemas.microsoft.com/office/powerpoint/2010/main" val="4178618038"/>
      </p:ext>
    </p:extLst>
  </p:cSld>
  <p:clrMapOvr>
    <a:masterClrMapping/>
  </p:clrMapOvr>
  <p:transition/>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9BD095-7A83-5943-4293-87C5696F6F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457491-8DB3-94EE-3148-12CCCD2202F7}"/>
              </a:ext>
            </a:extLst>
          </p:cNvPr>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sha2</a:t>
            </a:r>
          </a:p>
        </p:txBody>
      </p:sp>
      <p:sp>
        <p:nvSpPr>
          <p:cNvPr id="4" name="Rectangle 3">
            <a:extLst>
              <a:ext uri="{FF2B5EF4-FFF2-40B4-BE49-F238E27FC236}">
                <a16:creationId xmlns:a16="http://schemas.microsoft.com/office/drawing/2014/main" id="{EAC09521-0F36-5126-441C-9C0A7D873A5A}"/>
              </a:ext>
            </a:extLst>
          </p:cNvPr>
          <p:cNvSpPr/>
          <p:nvPr/>
        </p:nvSpPr>
        <p:spPr>
          <a:xfrm>
            <a:off x="1550495" y="3276600"/>
            <a:ext cx="9091010" cy="369332"/>
          </a:xfrm>
          <a:prstGeom prst="rect">
            <a:avLst/>
          </a:prstGeom>
        </p:spPr>
        <p:txBody>
          <a:bodyPr wrap="square">
            <a:spAutoFit/>
          </a:bodyPr>
          <a:lstStyle/>
          <a:p>
            <a:r>
              <a:rPr lang="en-US" dirty="0">
                <a:latin typeface="Palatino Linotype" panose="02040502050505030304" pitchFamily="18" charset="0"/>
              </a:rPr>
              <a:t>SHA2() is a function used to generate a SHA-2 family cryptographic hash from a string.</a:t>
            </a:r>
            <a:endParaRPr lang="en-IN" dirty="0">
              <a:latin typeface="Palatino Linotype" panose="02040502050505030304" pitchFamily="18" charset="0"/>
            </a:endParaRPr>
          </a:p>
        </p:txBody>
      </p:sp>
      <p:sp>
        <p:nvSpPr>
          <p:cNvPr id="7" name="Rectangle 6">
            <a:extLst>
              <a:ext uri="{FF2B5EF4-FFF2-40B4-BE49-F238E27FC236}">
                <a16:creationId xmlns:a16="http://schemas.microsoft.com/office/drawing/2014/main" id="{1A3EC4A0-9E2B-0A08-2750-147E025DFF13}"/>
              </a:ext>
            </a:extLst>
          </p:cNvPr>
          <p:cNvSpPr/>
          <p:nvPr/>
        </p:nvSpPr>
        <p:spPr>
          <a:xfrm>
            <a:off x="335360" y="862301"/>
            <a:ext cx="11278159" cy="400110"/>
          </a:xfrm>
          <a:prstGeom prst="rect">
            <a:avLst/>
          </a:prstGeom>
        </p:spPr>
        <p:txBody>
          <a:bodyPr wrap="square">
            <a:spAutoFit/>
          </a:bodyPr>
          <a:lstStyle/>
          <a:p>
            <a:r>
              <a:rPr lang="en-IN" sz="2000" dirty="0">
                <a:solidFill>
                  <a:schemeClr val="accent4">
                    <a:lumMod val="50000"/>
                  </a:schemeClr>
                </a:solidFill>
                <a:latin typeface="Liberation Mono"/>
              </a:rPr>
              <a:t>SHA2</a:t>
            </a:r>
            <a:r>
              <a:rPr lang="en-IN" sz="2000" dirty="0">
                <a:latin typeface="Liberation Mono"/>
              </a:rPr>
              <a:t>(</a:t>
            </a:r>
            <a:r>
              <a:rPr lang="en-IN" sz="2000" i="1" dirty="0">
                <a:latin typeface="Liberation Mono"/>
              </a:rPr>
              <a:t>string, hash_length</a:t>
            </a:r>
            <a:r>
              <a:rPr lang="en-IN" sz="2000" dirty="0">
                <a:latin typeface="Liberation Mono"/>
              </a:rPr>
              <a:t>)</a:t>
            </a:r>
          </a:p>
        </p:txBody>
      </p:sp>
      <p:sp>
        <p:nvSpPr>
          <p:cNvPr id="11" name="TextBox 10">
            <a:extLst>
              <a:ext uri="{FF2B5EF4-FFF2-40B4-BE49-F238E27FC236}">
                <a16:creationId xmlns:a16="http://schemas.microsoft.com/office/drawing/2014/main" id="{0EC63AA3-D6E2-4155-9B53-62036BA17F37}"/>
              </a:ext>
            </a:extLst>
          </p:cNvPr>
          <p:cNvSpPr txBox="1"/>
          <p:nvPr/>
        </p:nvSpPr>
        <p:spPr>
          <a:xfrm>
            <a:off x="335360" y="1340768"/>
            <a:ext cx="6094378" cy="923330"/>
          </a:xfrm>
          <a:prstGeom prst="rect">
            <a:avLst/>
          </a:prstGeom>
          <a:noFill/>
        </p:spPr>
        <p:txBody>
          <a:bodyPr wrap="square">
            <a:spAutoFit/>
          </a:bodyPr>
          <a:lstStyle/>
          <a:p>
            <a:pPr lvl="0"/>
            <a:r>
              <a:rPr lang="en-IN" dirty="0">
                <a:latin typeface="Gill Sans MT (Body)"/>
              </a:rPr>
              <a:t>str </a:t>
            </a:r>
            <a:r>
              <a:rPr lang="en-IN" b="1" dirty="0">
                <a:solidFill>
                  <a:srgbClr val="FF0000"/>
                </a:solidFill>
                <a:latin typeface="Gill Sans MT (Body)"/>
              </a:rPr>
              <a:t>→</a:t>
            </a:r>
            <a:r>
              <a:rPr lang="en-IN" dirty="0">
                <a:latin typeface="Gill Sans MT (Body)"/>
              </a:rPr>
              <a:t> text/value to hash </a:t>
            </a:r>
          </a:p>
          <a:p>
            <a:pPr lvl="0"/>
            <a:r>
              <a:rPr lang="en-IN" dirty="0">
                <a:latin typeface="Gill Sans MT (Body)"/>
              </a:rPr>
              <a:t>hash_length </a:t>
            </a:r>
            <a:r>
              <a:rPr lang="en-IN" b="1" dirty="0">
                <a:solidFill>
                  <a:srgbClr val="FF0000"/>
                </a:solidFill>
                <a:latin typeface="Gill Sans MT (Body)"/>
              </a:rPr>
              <a:t>→</a:t>
            </a:r>
            <a:r>
              <a:rPr lang="en-IN" dirty="0">
                <a:latin typeface="Gill Sans MT (Body)"/>
              </a:rPr>
              <a:t> </a:t>
            </a:r>
            <a:r>
              <a:rPr lang="en-IN" dirty="0">
                <a:solidFill>
                  <a:srgbClr val="990055"/>
                </a:solidFill>
                <a:latin typeface="Gill Sans MT (Body)"/>
              </a:rPr>
              <a:t>224</a:t>
            </a:r>
            <a:r>
              <a:rPr lang="en-IN" dirty="0">
                <a:latin typeface="Gill Sans MT (Body)"/>
              </a:rPr>
              <a:t>, </a:t>
            </a:r>
            <a:r>
              <a:rPr lang="en-IN" dirty="0">
                <a:solidFill>
                  <a:srgbClr val="990055"/>
                </a:solidFill>
                <a:latin typeface="Gill Sans MT (Body)"/>
              </a:rPr>
              <a:t>256</a:t>
            </a:r>
            <a:r>
              <a:rPr lang="en-IN" dirty="0">
                <a:latin typeface="Gill Sans MT (Body)"/>
              </a:rPr>
              <a:t>, </a:t>
            </a:r>
            <a:r>
              <a:rPr lang="en-IN" dirty="0">
                <a:solidFill>
                  <a:srgbClr val="990055"/>
                </a:solidFill>
                <a:latin typeface="Gill Sans MT (Body)"/>
              </a:rPr>
              <a:t>384</a:t>
            </a:r>
            <a:r>
              <a:rPr lang="en-IN" dirty="0">
                <a:latin typeface="Gill Sans MT (Body)"/>
              </a:rPr>
              <a:t>, </a:t>
            </a:r>
            <a:r>
              <a:rPr lang="en-IN" dirty="0">
                <a:solidFill>
                  <a:srgbClr val="990055"/>
                </a:solidFill>
                <a:latin typeface="Gill Sans MT (Body)"/>
              </a:rPr>
              <a:t>512</a:t>
            </a:r>
            <a:r>
              <a:rPr lang="en-IN" dirty="0">
                <a:latin typeface="Gill Sans MT (Body)"/>
              </a:rPr>
              <a:t>, or </a:t>
            </a:r>
            <a:r>
              <a:rPr lang="en-IN" dirty="0">
                <a:solidFill>
                  <a:srgbClr val="990055"/>
                </a:solidFill>
                <a:latin typeface="Gill Sans MT (Body)"/>
              </a:rPr>
              <a:t>0</a:t>
            </a:r>
            <a:r>
              <a:rPr lang="en-IN" dirty="0">
                <a:latin typeface="Gill Sans MT (Body)"/>
              </a:rPr>
              <a:t> </a:t>
            </a:r>
          </a:p>
          <a:p>
            <a:pPr lvl="0"/>
            <a:r>
              <a:rPr lang="en-IN" dirty="0">
                <a:latin typeface="Gill Sans MT (Body)"/>
              </a:rPr>
              <a:t>0 means SHA-512</a:t>
            </a:r>
          </a:p>
        </p:txBody>
      </p:sp>
      <p:sp>
        <p:nvSpPr>
          <p:cNvPr id="5" name="TextBox 4">
            <a:extLst>
              <a:ext uri="{FF2B5EF4-FFF2-40B4-BE49-F238E27FC236}">
                <a16:creationId xmlns:a16="http://schemas.microsoft.com/office/drawing/2014/main" id="{C5FDD741-D400-FC39-D788-928C84064295}"/>
              </a:ext>
            </a:extLst>
          </p:cNvPr>
          <p:cNvSpPr txBox="1"/>
          <p:nvPr/>
        </p:nvSpPr>
        <p:spPr>
          <a:xfrm>
            <a:off x="3048811" y="4915688"/>
            <a:ext cx="6094378" cy="369332"/>
          </a:xfrm>
          <a:prstGeom prst="rect">
            <a:avLst/>
          </a:prstGeom>
          <a:noFill/>
        </p:spPr>
        <p:txBody>
          <a:bodyPr wrap="square">
            <a:spAutoFit/>
          </a:bodyPr>
          <a:lstStyle/>
          <a:p>
            <a:r>
              <a:rPr lang="en-US" sz="1800" dirty="0">
                <a:solidFill>
                  <a:srgbClr val="A67F59"/>
                </a:solidFill>
                <a:latin typeface="Liberation Mono"/>
              </a:rPr>
              <a:t>*</a:t>
            </a:r>
            <a:endParaRPr lang="en-IN" dirty="0"/>
          </a:p>
        </p:txBody>
      </p:sp>
    </p:spTree>
    <p:extLst>
      <p:ext uri="{BB962C8B-B14F-4D97-AF65-F5344CB8AC3E}">
        <p14:creationId xmlns:p14="http://schemas.microsoft.com/office/powerpoint/2010/main" val="3567116838"/>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BD01F-5BA4-EA3F-3853-E6871CA1E21D}"/>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16CB5AB7-DEA1-89FE-0288-04ECE5DB6D39}"/>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err="1">
                <a:solidFill>
                  <a:srgbClr val="FFFF00"/>
                </a:solidFill>
                <a:latin typeface="Arial" panose="020B0604020202020204" pitchFamily="34" charset="0"/>
                <a:cs typeface="Arial" panose="020B0604020202020204" pitchFamily="34" charset="0"/>
              </a:rPr>
              <a:t>INSERTing</a:t>
            </a:r>
            <a:r>
              <a:rPr lang="en-US" sz="2400" dirty="0">
                <a:solidFill>
                  <a:srgbClr val="FFFF00"/>
                </a:solidFill>
                <a:latin typeface="Arial" panose="020B0604020202020204" pitchFamily="34" charset="0"/>
                <a:cs typeface="Arial" panose="020B0604020202020204" pitchFamily="34" charset="0"/>
              </a:rPr>
              <a:t> Sensitive Data Encryption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30C2A9E9-0BEA-B3F5-F5C9-E298BEEEE94C}"/>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sha2()</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5008D19A-74C7-1771-5DB8-7DE82A163A1E}"/>
              </a:ext>
            </a:extLst>
          </p:cNvPr>
          <p:cNvSpPr txBox="1"/>
          <p:nvPr/>
        </p:nvSpPr>
        <p:spPr>
          <a:xfrm>
            <a:off x="288344" y="3174435"/>
            <a:ext cx="11640304" cy="2308324"/>
          </a:xfrm>
          <a:prstGeom prst="rect">
            <a:avLst/>
          </a:prstGeom>
          <a:noFill/>
        </p:spPr>
        <p:txBody>
          <a:bodyPr wrap="square">
            <a:spAutoFit/>
          </a:bodyPr>
          <a:lstStyle/>
          <a:p>
            <a:pPr marL="285750" indent="-285750" algn="just">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users(user_id, user_name)</a:t>
            </a:r>
          </a:p>
          <a:p>
            <a:pPr marL="273050" algn="just"/>
            <a:r>
              <a:rPr lang="en-US" dirty="0">
                <a:solidFill>
                  <a:srgbClr val="0077AA"/>
                </a:solidFill>
                <a:latin typeface="Liberation Mono"/>
                <a:cs typeface="Arial" panose="020B0604020202020204" pitchFamily="34" charset="0"/>
              </a:rPr>
              <a:t>VALUES</a:t>
            </a:r>
          </a:p>
          <a:p>
            <a:pPr marL="273050" algn="just"/>
            <a:r>
              <a:rPr lang="en-US" dirty="0">
                <a:latin typeface="Liberation Mono"/>
              </a:rPr>
              <a:t>   (1, </a:t>
            </a:r>
            <a:r>
              <a:rPr lang="en-US" dirty="0">
                <a:solidFill>
                  <a:srgbClr val="00B050"/>
                </a:solidFill>
                <a:latin typeface="Liberation Mono"/>
              </a:rPr>
              <a:t>'saleel’</a:t>
            </a:r>
            <a:r>
              <a:rPr lang="en-US" dirty="0">
                <a:latin typeface="Liberation Mono"/>
              </a:rPr>
              <a:t>),</a:t>
            </a:r>
          </a:p>
          <a:p>
            <a:pPr marL="273050" algn="just"/>
            <a:r>
              <a:rPr lang="en-US" dirty="0">
                <a:latin typeface="Liberation Mono"/>
              </a:rPr>
              <a:t>   (2, </a:t>
            </a:r>
            <a:r>
              <a:rPr lang="en-US" dirty="0">
                <a:solidFill>
                  <a:srgbClr val="00B050"/>
                </a:solidFill>
                <a:latin typeface="Liberation Mono"/>
              </a:rPr>
              <a:t>'sharmin’</a:t>
            </a:r>
            <a:r>
              <a:rPr lang="en-US" dirty="0">
                <a:latin typeface="Liberation Mono"/>
              </a:rPr>
              <a:t>),</a:t>
            </a:r>
          </a:p>
          <a:p>
            <a:pPr marL="273050" algn="just"/>
            <a:r>
              <a:rPr lang="en-US" dirty="0">
                <a:latin typeface="Liberation Mono"/>
              </a:rPr>
              <a:t>   (3, </a:t>
            </a:r>
            <a:r>
              <a:rPr lang="en-US" dirty="0">
                <a:solidFill>
                  <a:srgbClr val="00B050"/>
                </a:solidFill>
                <a:latin typeface="Liberation Mono"/>
              </a:rPr>
              <a:t>'Ruhan’</a:t>
            </a:r>
            <a:r>
              <a:rPr lang="en-US" dirty="0">
                <a:latin typeface="Liberation Mono"/>
              </a:rPr>
              <a:t>),</a:t>
            </a:r>
          </a:p>
          <a:p>
            <a:pPr marL="273050" algn="just"/>
            <a:r>
              <a:rPr lang="en-US" dirty="0">
                <a:latin typeface="Liberation Mono"/>
              </a:rPr>
              <a:t>   (4, </a:t>
            </a:r>
            <a:r>
              <a:rPr lang="en-US" dirty="0">
                <a:solidFill>
                  <a:srgbClr val="00B050"/>
                </a:solidFill>
                <a:latin typeface="Liberation Mono"/>
              </a:rPr>
              <a:t>'deep’</a:t>
            </a:r>
            <a:r>
              <a:rPr lang="en-US" dirty="0">
                <a:latin typeface="Liberation Mono"/>
              </a:rPr>
              <a:t>),</a:t>
            </a:r>
          </a:p>
          <a:p>
            <a:pPr marL="273050" algn="just"/>
            <a:r>
              <a:rPr lang="en-US" dirty="0">
                <a:latin typeface="Liberation Mono"/>
              </a:rPr>
              <a:t>   (5, </a:t>
            </a:r>
            <a:r>
              <a:rPr lang="en-US" dirty="0">
                <a:solidFill>
                  <a:srgbClr val="00B050"/>
                </a:solidFill>
                <a:latin typeface="Liberation Mono"/>
              </a:rPr>
              <a:t>'neel’</a:t>
            </a:r>
            <a:r>
              <a:rPr lang="en-US" dirty="0">
                <a:latin typeface="Liberation Mono"/>
              </a:rPr>
              <a:t>),</a:t>
            </a:r>
          </a:p>
          <a:p>
            <a:pPr marL="273050" algn="just"/>
            <a:r>
              <a:rPr lang="en-US" dirty="0">
                <a:latin typeface="Liberation Mono"/>
              </a:rPr>
              <a:t>   (6, </a:t>
            </a:r>
            <a:r>
              <a:rPr lang="en-US" dirty="0">
                <a:solidFill>
                  <a:srgbClr val="00B050"/>
                </a:solidFill>
                <a:latin typeface="Liberation Mono"/>
              </a:rPr>
              <a:t>'gau'</a:t>
            </a:r>
            <a:r>
              <a:rPr lang="en-US" dirty="0">
                <a:latin typeface="Liberation Mono"/>
              </a:rPr>
              <a:t>);</a:t>
            </a:r>
          </a:p>
        </p:txBody>
      </p:sp>
      <p:sp>
        <p:nvSpPr>
          <p:cNvPr id="3" name="TextBox 2">
            <a:extLst>
              <a:ext uri="{FF2B5EF4-FFF2-40B4-BE49-F238E27FC236}">
                <a16:creationId xmlns:a16="http://schemas.microsoft.com/office/drawing/2014/main" id="{D3A80144-3DB2-4E1B-C14A-BB861AF136CB}"/>
              </a:ext>
            </a:extLst>
          </p:cNvPr>
          <p:cNvSpPr txBox="1"/>
          <p:nvPr/>
        </p:nvSpPr>
        <p:spPr>
          <a:xfrm>
            <a:off x="191344" y="1405518"/>
            <a:ext cx="11809312" cy="1754326"/>
          </a:xfrm>
          <a:prstGeom prst="rect">
            <a:avLst/>
          </a:prstGeom>
          <a:noFill/>
        </p:spPr>
        <p:txBody>
          <a:bodyPr wrap="square">
            <a:spAutoFit/>
          </a:bodyPr>
          <a:lstStyle/>
          <a:p>
            <a:r>
              <a:rPr lang="en-US" dirty="0">
                <a:solidFill>
                  <a:srgbClr val="0077AA"/>
                </a:solidFill>
                <a:latin typeface="Liberation Mono"/>
                <a:cs typeface="Arial" panose="020B0604020202020204" pitchFamily="34" charset="0"/>
              </a:rPr>
              <a:t>CREATE TABLE</a:t>
            </a:r>
            <a:r>
              <a:rPr lang="en-US" dirty="0">
                <a:latin typeface="Liberation Mono"/>
              </a:rPr>
              <a:t> users</a:t>
            </a:r>
          </a:p>
          <a:p>
            <a:r>
              <a:rPr lang="en-US" dirty="0">
                <a:latin typeface="Liberation Mono"/>
              </a:rPr>
              <a:t>(</a:t>
            </a:r>
          </a:p>
          <a:p>
            <a:r>
              <a:rPr lang="en-US" dirty="0">
                <a:latin typeface="Liberation Mono"/>
              </a:rPr>
              <a:t>    user_id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a:t>
            </a:r>
          </a:p>
          <a:p>
            <a:r>
              <a:rPr lang="en-US" dirty="0">
                <a:latin typeface="Liberation Mono"/>
              </a:rPr>
              <a:t>    user_name </a:t>
            </a:r>
            <a:r>
              <a:rPr lang="en-US" dirty="0">
                <a:solidFill>
                  <a:srgbClr val="834689"/>
                </a:solidFill>
                <a:latin typeface="Liberation Mono"/>
                <a:cs typeface="Arial" panose="020B0604020202020204" pitchFamily="34" charset="0"/>
              </a:rPr>
              <a:t>VARCHAR</a:t>
            </a:r>
            <a:r>
              <a:rPr lang="en-US" dirty="0">
                <a:latin typeface="Liberation Mono"/>
              </a:rPr>
              <a:t>(10),</a:t>
            </a:r>
          </a:p>
          <a:p>
            <a:r>
              <a:rPr lang="en-US" dirty="0">
                <a:latin typeface="Liberation Mono"/>
              </a:rPr>
              <a:t>    password_hash </a:t>
            </a:r>
            <a:r>
              <a:rPr lang="en-US" dirty="0">
                <a:solidFill>
                  <a:srgbClr val="834689"/>
                </a:solidFill>
                <a:latin typeface="Liberation Mono"/>
                <a:cs typeface="Arial" panose="020B0604020202020204" pitchFamily="34" charset="0"/>
              </a:rPr>
              <a:t>VARCHAR</a:t>
            </a:r>
            <a:r>
              <a:rPr lang="en-US" dirty="0">
                <a:latin typeface="Liberation Mono"/>
              </a:rPr>
              <a:t>(255) </a:t>
            </a:r>
            <a:r>
              <a:rPr lang="en-US" dirty="0">
                <a:solidFill>
                  <a:srgbClr val="0077AA"/>
                </a:solidFill>
                <a:latin typeface="Liberation Mono"/>
                <a:cs typeface="Arial" panose="020B0604020202020204" pitchFamily="34" charset="0"/>
              </a:rPr>
              <a:t>GENERATED ALWAYS AS </a:t>
            </a:r>
            <a:r>
              <a:rPr lang="en-US" dirty="0">
                <a:latin typeface="Liberation Mono"/>
              </a:rPr>
              <a:t>(</a:t>
            </a:r>
            <a:r>
              <a:rPr lang="en-US" dirty="0">
                <a:solidFill>
                  <a:schemeClr val="accent3">
                    <a:lumMod val="50000"/>
                  </a:schemeClr>
                </a:solidFill>
                <a:latin typeface="Liberation Mono"/>
                <a:cs typeface="Arial" panose="020B0604020202020204" pitchFamily="34" charset="0"/>
              </a:rPr>
              <a:t>SHA2</a:t>
            </a:r>
            <a:r>
              <a:rPr lang="en-US" dirty="0">
                <a:latin typeface="Liberation Mono"/>
              </a:rPr>
              <a:t>(CONCAT(user_id, user_name), 256)) </a:t>
            </a:r>
            <a:r>
              <a:rPr lang="en-US" dirty="0">
                <a:solidFill>
                  <a:srgbClr val="0077AA"/>
                </a:solidFill>
                <a:latin typeface="Liberation Mono"/>
                <a:cs typeface="Arial" panose="020B0604020202020204" pitchFamily="34" charset="0"/>
              </a:rPr>
              <a:t>STORED</a:t>
            </a:r>
          </a:p>
          <a:p>
            <a:r>
              <a:rPr lang="en-US" dirty="0">
                <a:latin typeface="Liberation Mono"/>
              </a:rPr>
              <a:t>);</a:t>
            </a:r>
            <a:endParaRPr lang="en-IN" dirty="0">
              <a:latin typeface="Liberation Mono"/>
            </a:endParaRPr>
          </a:p>
        </p:txBody>
      </p:sp>
      <p:sp>
        <p:nvSpPr>
          <p:cNvPr id="5" name="TextBox 4">
            <a:extLst>
              <a:ext uri="{FF2B5EF4-FFF2-40B4-BE49-F238E27FC236}">
                <a16:creationId xmlns:a16="http://schemas.microsoft.com/office/drawing/2014/main" id="{53E0EE99-BCCC-BEAF-DBB5-CFF5586219B7}"/>
              </a:ext>
            </a:extLst>
          </p:cNvPr>
          <p:cNvSpPr txBox="1"/>
          <p:nvPr/>
        </p:nvSpPr>
        <p:spPr>
          <a:xfrm>
            <a:off x="293046" y="5661248"/>
            <a:ext cx="11635601" cy="369332"/>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users </a:t>
            </a:r>
            <a:r>
              <a:rPr lang="en-IN" dirty="0">
                <a:solidFill>
                  <a:srgbClr val="0077AA"/>
                </a:solidFill>
                <a:latin typeface="Liberation Mono"/>
                <a:cs typeface="Arial" panose="020B0604020202020204" pitchFamily="34" charset="0"/>
              </a:rPr>
              <a:t>WHERE</a:t>
            </a:r>
            <a:r>
              <a:rPr lang="en-IN" dirty="0">
                <a:latin typeface="Liberation Mono"/>
              </a:rPr>
              <a:t> password_hash = </a:t>
            </a:r>
            <a:r>
              <a:rPr lang="en-IN" dirty="0">
                <a:solidFill>
                  <a:schemeClr val="accent3">
                    <a:lumMod val="50000"/>
                  </a:schemeClr>
                </a:solidFill>
                <a:latin typeface="Liberation Mono"/>
                <a:cs typeface="Arial" panose="020B0604020202020204" pitchFamily="34" charset="0"/>
              </a:rPr>
              <a:t>SHA2</a:t>
            </a:r>
            <a:r>
              <a:rPr lang="en-IN" dirty="0">
                <a:latin typeface="Liberation Mono"/>
              </a:rPr>
              <a:t>(</a:t>
            </a:r>
            <a:r>
              <a:rPr lang="en-US" dirty="0">
                <a:solidFill>
                  <a:srgbClr val="DD4A68"/>
                </a:solidFill>
                <a:latin typeface="Liberation Mono"/>
              </a:rPr>
              <a:t>CONCAT</a:t>
            </a:r>
            <a:r>
              <a:rPr lang="en-US" dirty="0">
                <a:latin typeface="Liberation Mono"/>
              </a:rPr>
              <a:t>(user_id, user_name)</a:t>
            </a:r>
            <a:r>
              <a:rPr lang="en-IN" dirty="0">
                <a:latin typeface="Liberation Mono"/>
              </a:rPr>
              <a:t>, </a:t>
            </a:r>
            <a:r>
              <a:rPr lang="en-IN" dirty="0">
                <a:solidFill>
                  <a:srgbClr val="990055"/>
                </a:solidFill>
                <a:latin typeface="Liberation Mono"/>
              </a:rPr>
              <a:t>256</a:t>
            </a:r>
            <a:r>
              <a:rPr lang="en-IN" dirty="0">
                <a:latin typeface="Liberation Mono"/>
              </a:rPr>
              <a:t>);</a:t>
            </a:r>
          </a:p>
        </p:txBody>
      </p:sp>
      <p:sp>
        <p:nvSpPr>
          <p:cNvPr id="10" name="TextBox 9">
            <a:extLst>
              <a:ext uri="{FF2B5EF4-FFF2-40B4-BE49-F238E27FC236}">
                <a16:creationId xmlns:a16="http://schemas.microsoft.com/office/drawing/2014/main" id="{C5F75259-3DD4-338B-63BD-7FDFE0F376B2}"/>
              </a:ext>
            </a:extLst>
          </p:cNvPr>
          <p:cNvSpPr txBox="1"/>
          <p:nvPr/>
        </p:nvSpPr>
        <p:spPr>
          <a:xfrm>
            <a:off x="293046" y="6030580"/>
            <a:ext cx="11635601" cy="369332"/>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users </a:t>
            </a:r>
            <a:r>
              <a:rPr lang="en-IN" dirty="0">
                <a:solidFill>
                  <a:srgbClr val="0077AA"/>
                </a:solidFill>
                <a:latin typeface="Liberation Mono"/>
                <a:cs typeface="Arial" panose="020B0604020202020204" pitchFamily="34" charset="0"/>
              </a:rPr>
              <a:t>WHERE</a:t>
            </a:r>
            <a:r>
              <a:rPr lang="en-IN" dirty="0">
                <a:latin typeface="Liberation Mono"/>
              </a:rPr>
              <a:t> user_id =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AND</a:t>
            </a:r>
            <a:r>
              <a:rPr lang="en-IN" dirty="0">
                <a:latin typeface="Liberation Mono"/>
              </a:rPr>
              <a:t> password_hash = </a:t>
            </a:r>
            <a:r>
              <a:rPr lang="en-IN" dirty="0">
                <a:solidFill>
                  <a:schemeClr val="accent3">
                    <a:lumMod val="50000"/>
                  </a:schemeClr>
                </a:solidFill>
                <a:latin typeface="Liberation Mono"/>
                <a:cs typeface="Arial" panose="020B0604020202020204" pitchFamily="34" charset="0"/>
              </a:rPr>
              <a:t>SHA2</a:t>
            </a:r>
            <a:r>
              <a:rPr lang="en-IN" dirty="0">
                <a:latin typeface="Liberation Mono"/>
              </a:rPr>
              <a:t>(</a:t>
            </a:r>
            <a:r>
              <a:rPr lang="en-US" dirty="0">
                <a:solidFill>
                  <a:srgbClr val="DD4A68"/>
                </a:solidFill>
                <a:latin typeface="Liberation Mono"/>
              </a:rPr>
              <a:t>CONCAT</a:t>
            </a:r>
            <a:r>
              <a:rPr lang="en-US" dirty="0">
                <a:latin typeface="Liberation Mono"/>
              </a:rPr>
              <a:t>(user_id, user_name)</a:t>
            </a:r>
            <a:r>
              <a:rPr lang="en-IN" dirty="0">
                <a:latin typeface="Liberation Mono"/>
              </a:rPr>
              <a:t>, </a:t>
            </a:r>
            <a:r>
              <a:rPr lang="en-IN" dirty="0">
                <a:solidFill>
                  <a:srgbClr val="990055"/>
                </a:solidFill>
                <a:latin typeface="Liberation Mono"/>
              </a:rPr>
              <a:t>256</a:t>
            </a:r>
            <a:r>
              <a:rPr lang="en-IN" dirty="0">
                <a:latin typeface="Liberation Mono"/>
              </a:rPr>
              <a:t>);</a:t>
            </a:r>
          </a:p>
        </p:txBody>
      </p:sp>
    </p:spTree>
    <p:extLst>
      <p:ext uri="{BB962C8B-B14F-4D97-AF65-F5344CB8AC3E}">
        <p14:creationId xmlns:p14="http://schemas.microsoft.com/office/powerpoint/2010/main" val="3484152334"/>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rows using select</a:t>
            </a:r>
          </a:p>
        </p:txBody>
      </p:sp>
    </p:spTree>
    <p:extLst>
      <p:ext uri="{BB962C8B-B14F-4D97-AF65-F5344CB8AC3E}">
        <p14:creationId xmlns:p14="http://schemas.microsoft.com/office/powerpoint/2010/main" val="1425111052"/>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38201"/>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With INSERT ... SELECT, you can quickly insert many rows into a table from one or many tables. </a:t>
            </a:r>
          </a:p>
        </p:txBody>
      </p:sp>
      <p:sp>
        <p:nvSpPr>
          <p:cNvPr id="7" name="Rectangle 6"/>
          <p:cNvSpPr/>
          <p:nvPr/>
        </p:nvSpPr>
        <p:spPr>
          <a:xfrm>
            <a:off x="362210" y="1563469"/>
            <a:ext cx="10486318" cy="400110"/>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i="1" dirty="0">
                <a:latin typeface="Liberation Mono"/>
              </a:rPr>
              <a:t>col_name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SELECT </a:t>
            </a:r>
            <a:r>
              <a:rPr lang="en-US" sz="2000" dirty="0">
                <a:solidFill>
                  <a:schemeClr val="bg1">
                    <a:lumMod val="50000"/>
                  </a:schemeClr>
                </a:solidFill>
                <a:latin typeface="Liberation Mono"/>
              </a:rPr>
              <a:t>. . .</a:t>
            </a:r>
            <a:r>
              <a:rPr lang="en-IN" sz="2000" dirty="0">
                <a:solidFill>
                  <a:srgbClr val="0077AA"/>
                </a:solidFill>
                <a:latin typeface="Liberation Mono"/>
              </a:rPr>
              <a:t> </a:t>
            </a:r>
            <a:endParaRPr lang="en-US" sz="2000" dirty="0">
              <a:solidFill>
                <a:srgbClr val="0077AA"/>
              </a:solidFill>
              <a:latin typeface="Liberation Mono"/>
            </a:endParaRPr>
          </a:p>
        </p:txBody>
      </p:sp>
      <p:sp>
        <p:nvSpPr>
          <p:cNvPr id="8" name="Rectangle 7"/>
          <p:cNvSpPr/>
          <p:nvPr/>
        </p:nvSpPr>
        <p:spPr>
          <a:xfrm>
            <a:off x="263352" y="2416076"/>
            <a:ext cx="10328448" cy="3416320"/>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MAX</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40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@x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0257791"/>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Tree>
    <p:extLst>
      <p:ext uri="{BB962C8B-B14F-4D97-AF65-F5344CB8AC3E}">
        <p14:creationId xmlns:p14="http://schemas.microsoft.com/office/powerpoint/2010/main" val="1028797432"/>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2A2F8AE3-754E-6AEC-798A-DB45E02C82CC}"/>
              </a:ext>
            </a:extLst>
          </p:cNvPr>
          <p:cNvSpPr txBox="1"/>
          <p:nvPr/>
        </p:nvSpPr>
        <p:spPr>
          <a:xfrm>
            <a:off x="263352" y="4941168"/>
            <a:ext cx="6094378" cy="1138773"/>
          </a:xfrm>
          <a:prstGeom prst="rect">
            <a:avLst/>
          </a:prstGeom>
          <a:noFill/>
        </p:spPr>
        <p:txBody>
          <a:bodyPr wrap="square">
            <a:spAutoFit/>
          </a:bodyPr>
          <a:lstStyle/>
          <a:p>
            <a:pPr>
              <a:buNone/>
            </a:pPr>
            <a:r>
              <a:rPr lang="en-US" sz="2000" dirty="0">
                <a:latin typeface="Arial" panose="020B0604020202020204" pitchFamily="34" charset="0"/>
                <a:cs typeface="Arial" panose="020B0604020202020204" pitchFamily="34" charset="0"/>
              </a:rPr>
              <a:t>SELECT * means:</a:t>
            </a:r>
          </a:p>
          <a:p>
            <a:pPr>
              <a:buNone/>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rows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columns</a:t>
            </a:r>
          </a:p>
        </p:txBody>
      </p:sp>
    </p:spTree>
    <p:extLst>
      <p:ext uri="{BB962C8B-B14F-4D97-AF65-F5344CB8AC3E}">
        <p14:creationId xmlns:p14="http://schemas.microsoft.com/office/powerpoint/2010/main" val="2883508815"/>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975597871"/>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record’s/row’s/</a:t>
            </a:r>
            <a:r>
              <a:rPr lang="en-IN" sz="2400" dirty="0"/>
              <a:t>tuple’s</a:t>
            </a:r>
            <a:r>
              <a:rPr lang="en-US" sz="2400" dirty="0">
                <a:latin typeface="Arial" pitchFamily="34" charset="0"/>
                <a:cs typeface="Arial" pitchFamily="34" charset="0"/>
              </a:rPr>
              <a:t>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3915625698"/>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column’s/attribute’s/field’s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1703950191"/>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672976171"/>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1355939013"/>
              </p:ext>
            </p:extLst>
          </p:nvPr>
        </p:nvGraphicFramePr>
        <p:xfrm>
          <a:off x="406801" y="3430800"/>
          <a:ext cx="6409278" cy="2518914"/>
        </p:xfrm>
        <a:graphic>
          <a:graphicData uri="http://schemas.openxmlformats.org/drawingml/2006/table">
            <a:tbl>
              <a:tblPr>
                <a:tableStyleId>{BC89EF96-8CEA-46FF-86C4-4CE0E7609802}</a:tableStyleId>
              </a:tblPr>
              <a:tblGrid>
                <a:gridCol w="1039341">
                  <a:extLst>
                    <a:ext uri="{9D8B030D-6E8A-4147-A177-3AD203B41FA5}">
                      <a16:colId xmlns:a16="http://schemas.microsoft.com/office/drawing/2014/main" val="20000"/>
                    </a:ext>
                  </a:extLst>
                </a:gridCol>
                <a:gridCol w="1014914">
                  <a:extLst>
                    <a:ext uri="{9D8B030D-6E8A-4147-A177-3AD203B41FA5}">
                      <a16:colId xmlns:a16="http://schemas.microsoft.com/office/drawing/2014/main" val="20001"/>
                    </a:ext>
                  </a:extLst>
                </a:gridCol>
                <a:gridCol w="1150383">
                  <a:extLst>
                    <a:ext uri="{9D8B030D-6E8A-4147-A177-3AD203B41FA5}">
                      <a16:colId xmlns:a16="http://schemas.microsoft.com/office/drawing/2014/main" val="20002"/>
                    </a:ext>
                  </a:extLst>
                </a:gridCol>
                <a:gridCol w="1561235">
                  <a:extLst>
                    <a:ext uri="{9D8B030D-6E8A-4147-A177-3AD203B41FA5}">
                      <a16:colId xmlns:a16="http://schemas.microsoft.com/office/drawing/2014/main" val="20003"/>
                    </a:ext>
                  </a:extLst>
                </a:gridCol>
                <a:gridCol w="1643405">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26652148"/>
              </p:ext>
            </p:extLst>
          </p:nvPr>
        </p:nvGraphicFramePr>
        <p:xfrm>
          <a:off x="7896199" y="3430833"/>
          <a:ext cx="4032447" cy="1761227"/>
        </p:xfrm>
        <a:graphic>
          <a:graphicData uri="http://schemas.openxmlformats.org/drawingml/2006/table">
            <a:tbl>
              <a:tblPr>
                <a:tableStyleId>{BC89EF96-8CEA-46FF-86C4-4CE0E7609802}</a:tableStyleId>
              </a:tblPr>
              <a:tblGrid>
                <a:gridCol w="1379521">
                  <a:extLst>
                    <a:ext uri="{9D8B030D-6E8A-4147-A177-3AD203B41FA5}">
                      <a16:colId xmlns:a16="http://schemas.microsoft.com/office/drawing/2014/main" val="20000"/>
                    </a:ext>
                  </a:extLst>
                </a:gridCol>
                <a:gridCol w="1408411">
                  <a:extLst>
                    <a:ext uri="{9D8B030D-6E8A-4147-A177-3AD203B41FA5}">
                      <a16:colId xmlns:a16="http://schemas.microsoft.com/office/drawing/2014/main" val="20001"/>
                    </a:ext>
                  </a:extLst>
                </a:gridCol>
                <a:gridCol w="1244515">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pic>
        <p:nvPicPr>
          <p:cNvPr id="1026" name="Picture 2" descr="10+ Free Hyperlink &amp; Link Images - Pixabay">
            <a:extLst>
              <a:ext uri="{FF2B5EF4-FFF2-40B4-BE49-F238E27FC236}">
                <a16:creationId xmlns:a16="http://schemas.microsoft.com/office/drawing/2014/main" id="{ECA55A3D-AAA2-3DBF-1C88-29AD04B432D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99075" y="4049123"/>
            <a:ext cx="904005" cy="9040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0675626"/>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0123159"/>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9255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sz="2400"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 </a:t>
            </a:r>
            <a:r>
              <a:rPr lang="en-IN" dirty="0">
                <a:latin typeface="Arial" panose="020B0604020202020204" pitchFamily="34" charset="0"/>
                <a:cs typeface="Arial" panose="020B0604020202020204" pitchFamily="34" charset="0"/>
              </a:rPr>
              <a:t>user requirements) </a:t>
            </a:r>
          </a:p>
        </p:txBody>
      </p:sp>
    </p:spTree>
    <p:extLst>
      <p:ext uri="{BB962C8B-B14F-4D97-AF65-F5344CB8AC3E}">
        <p14:creationId xmlns:p14="http://schemas.microsoft.com/office/powerpoint/2010/main" val="2052213243"/>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4904"/>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single-table update</a:t>
            </a:r>
          </a:p>
        </p:txBody>
      </p:sp>
      <p:sp>
        <p:nvSpPr>
          <p:cNvPr id="4" name="Rectangle 3"/>
          <p:cNvSpPr/>
          <p:nvPr/>
        </p:nvSpPr>
        <p:spPr>
          <a:xfrm>
            <a:off x="191344" y="75080"/>
            <a:ext cx="11449272" cy="923330"/>
          </a:xfrm>
          <a:prstGeom prst="rect">
            <a:avLst/>
          </a:prstGeom>
          <a:noFill/>
        </p:spPr>
        <p:txBody>
          <a:bodyPr wrap="square">
            <a:spAutoFit/>
          </a:bodyPr>
          <a:lstStyle/>
          <a:p>
            <a:r>
              <a:rPr lang="en-IN" u="sng" dirty="0">
                <a:solidFill>
                  <a:schemeClr val="tx2">
                    <a:lumMod val="75000"/>
                  </a:schemeClr>
                </a:solidFill>
                <a:latin typeface="Arial" panose="020B0604020202020204" pitchFamily="34" charset="0"/>
                <a:cs typeface="Arial" panose="020B0604020202020204" pitchFamily="34" charset="0"/>
              </a:rPr>
              <a:t>ORDER BY in UPDATE</a:t>
            </a:r>
            <a:r>
              <a:rPr lang="en-IN" dirty="0">
                <a:latin typeface="Arial" panose="020B0604020202020204" pitchFamily="34" charset="0"/>
                <a:cs typeface="Arial" panose="020B0604020202020204" pitchFamily="34" charset="0"/>
              </a:rPr>
              <a:t>: if the table contains two values 1 and 2 in the id column and 1 is updated to 2 before 2 is updated to 3, an error occurs. To avoid this problem, add an ORDER BY clause to cause the rows with larger id values to be updated before those with smaller values.</a:t>
            </a:r>
          </a:p>
        </p:txBody>
      </p:sp>
      <p:sp>
        <p:nvSpPr>
          <p:cNvPr id="3" name="Rectangle 2"/>
          <p:cNvSpPr/>
          <p:nvPr/>
        </p:nvSpPr>
        <p:spPr>
          <a:xfrm>
            <a:off x="220468" y="1052736"/>
            <a:ext cx="7387700" cy="1538883"/>
          </a:xfrm>
          <a:prstGeom prst="rect">
            <a:avLst/>
          </a:prstGeom>
        </p:spPr>
        <p:txBody>
          <a:bodyPr wrap="square">
            <a:spAutoFit/>
          </a:bodyPr>
          <a:lstStyle/>
          <a:p>
            <a:r>
              <a:rPr lang="en-US" sz="2200" dirty="0">
                <a:solidFill>
                  <a:srgbClr val="E01E1E"/>
                </a:solidFill>
                <a:latin typeface="Arial" panose="020B0604020202020204" pitchFamily="34" charset="0"/>
                <a:cs typeface="Arial" panose="020B0604020202020204" pitchFamily="34" charset="0"/>
              </a:rPr>
              <a:t>Note:</a:t>
            </a:r>
            <a:r>
              <a:rPr lang="en-US" dirty="0">
                <a:solidFill>
                  <a:srgbClr val="E01E1E"/>
                </a:solidFill>
                <a:latin typeface="Arial" panose="020B0604020202020204" pitchFamily="34" charset="0"/>
                <a:cs typeface="Arial" panose="020B0604020202020204" pitchFamily="34" charset="0"/>
              </a:rPr>
              <a:t> </a:t>
            </a:r>
          </a:p>
          <a:p>
            <a:endParaRPr lang="en-US" sz="600" dirty="0">
              <a:solidFill>
                <a:srgbClr val="E01E1E"/>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Here c1 column is a </a:t>
            </a:r>
            <a:r>
              <a:rPr lang="en-US" dirty="0">
                <a:solidFill>
                  <a:srgbClr val="2658E6"/>
                </a:solidFill>
                <a:latin typeface="Arial" panose="020B0604020202020204" pitchFamily="34" charset="0"/>
                <a:cs typeface="Arial" panose="020B0604020202020204" pitchFamily="34" charset="0"/>
              </a:rPr>
              <a:t>Primary Key</a:t>
            </a:r>
          </a:p>
          <a:p>
            <a:endParaRPr lang="en-IN" sz="600" dirty="0">
              <a:solidFill>
                <a:srgbClr val="2658E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In case of decrement</a:t>
            </a:r>
          </a:p>
          <a:p>
            <a:pPr marL="285750" indent="-285750">
              <a:buFont typeface="Arial" panose="020B0604020202020204" pitchFamily="34" charset="0"/>
              <a:buChar char="•"/>
            </a:pPr>
            <a:endParaRPr lang="en-IN" sz="6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ea typeface="Times New Roman" panose="02020603050405020304" pitchFamily="18" charset="0"/>
                <a:cs typeface="Arial" panose="020B0604020202020204" pitchFamily="34" charset="0"/>
              </a:rPr>
              <a:t>DESC</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   # In case of increment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01940667-7188-4672-B7C2-EF95A106A555}"/>
              </a:ext>
            </a:extLst>
          </p:cNvPr>
          <p:cNvSpPr txBox="1"/>
          <p:nvPr/>
        </p:nvSpPr>
        <p:spPr>
          <a:xfrm>
            <a:off x="224244" y="3678704"/>
            <a:ext cx="11848420"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SET </a:t>
            </a:r>
            <a:r>
              <a:rPr lang="en-IN" dirty="0">
                <a:solidFill>
                  <a:schemeClr val="tx2">
                    <a:lumMod val="7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2">
                    <a:lumMod val="7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2">
                    <a:lumMod val="75000"/>
                  </a:schemeClr>
                </a:solidFill>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rPr>
              <a:t> emp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@x </a:t>
            </a:r>
            <a:r>
              <a:rPr lang="en-IN" dirty="0">
                <a:solidFill>
                  <a:schemeClr val="accent5">
                    <a:lumMod val="75000"/>
                  </a:schemeClr>
                </a:solidFill>
                <a:latin typeface="Liberation Mono"/>
              </a:rPr>
              <a:t>:=</a:t>
            </a:r>
            <a:r>
              <a:rPr lang="en-IN" dirty="0">
                <a:latin typeface="Liberation Mono"/>
              </a:rPr>
              <a:t> @x </a:t>
            </a:r>
            <a:r>
              <a:rPr lang="en-IN" dirty="0">
                <a:solidFill>
                  <a:srgbClr val="A67F59"/>
                </a:solidFill>
                <a:latin typeface="Liberation Mono"/>
                <a:cs typeface="Arial" panose="020B0604020202020204" pitchFamily="34" charset="0"/>
              </a:rPr>
              <a:t>+ </a:t>
            </a:r>
            <a:r>
              <a:rPr lang="en-IN" dirty="0">
                <a:latin typeface="Liberation Mono"/>
              </a:rPr>
              <a:t>1;</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US" dirty="0">
                <a:latin typeface="Liberation Mono"/>
              </a:rPr>
              <a:t> t, (</a:t>
            </a:r>
            <a:r>
              <a:rPr lang="en-US" dirty="0">
                <a:solidFill>
                  <a:srgbClr val="0077AA"/>
                </a:solidFill>
                <a:latin typeface="Liberation Mono"/>
              </a:rPr>
              <a:t>SELECT</a:t>
            </a:r>
            <a:r>
              <a:rPr lang="en-US" dirty="0">
                <a:latin typeface="Liberation Mono"/>
              </a:rPr>
              <a:t> isactive, </a:t>
            </a:r>
            <a:r>
              <a:rPr lang="en-US" dirty="0">
                <a:solidFill>
                  <a:srgbClr val="C74C49"/>
                </a:solidFill>
                <a:latin typeface="Liberation Mono"/>
                <a:cs typeface="Arial" panose="020B0604020202020204" pitchFamily="34" charset="0"/>
              </a:rPr>
              <a:t>COUNT</a:t>
            </a:r>
            <a:r>
              <a:rPr lang="en-US" dirty="0">
                <a:latin typeface="Liberation Mono"/>
              </a:rPr>
              <a:t>(isactive) r1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isactive) a </a:t>
            </a:r>
            <a:r>
              <a:rPr lang="en-US" dirty="0">
                <a:solidFill>
                  <a:srgbClr val="0077AA"/>
                </a:solidFill>
                <a:latin typeface="Liberation Mono"/>
              </a:rPr>
              <a:t>SET</a:t>
            </a:r>
            <a:r>
              <a:rPr lang="en-US" dirty="0">
                <a:latin typeface="Liberation Mono"/>
              </a:rPr>
              <a:t> t.c2 </a:t>
            </a:r>
            <a:r>
              <a:rPr lang="en-US" dirty="0">
                <a:solidFill>
                  <a:schemeClr val="accent5">
                    <a:lumMod val="75000"/>
                  </a:schemeClr>
                </a:solidFill>
                <a:latin typeface="Liberation Mono"/>
              </a:rPr>
              <a:t>=</a:t>
            </a:r>
            <a:r>
              <a:rPr lang="en-US" dirty="0">
                <a:latin typeface="Liberation Mono"/>
              </a:rPr>
              <a:t> a.r1 </a:t>
            </a:r>
            <a:r>
              <a:rPr lang="en-US" dirty="0">
                <a:solidFill>
                  <a:srgbClr val="0077AA"/>
                </a:solidFill>
                <a:latin typeface="Liberation Mono"/>
              </a:rPr>
              <a:t>WHERE</a:t>
            </a:r>
            <a:r>
              <a:rPr lang="en-US" dirty="0">
                <a:latin typeface="Liberation Mono"/>
              </a:rPr>
              <a:t> t.c1 </a:t>
            </a:r>
            <a:r>
              <a:rPr lang="en-US" dirty="0">
                <a:solidFill>
                  <a:schemeClr val="accent5">
                    <a:lumMod val="75000"/>
                  </a:schemeClr>
                </a:solidFill>
                <a:latin typeface="Liberation Mono"/>
              </a:rPr>
              <a:t>=</a:t>
            </a:r>
            <a:r>
              <a:rPr lang="en-US" dirty="0">
                <a:latin typeface="Liberation Mono"/>
              </a:rPr>
              <a:t> a.isactive;</a:t>
            </a:r>
            <a:endParaRPr lang="en-IN" dirty="0">
              <a:latin typeface="Liberation Mono"/>
            </a:endParaRPr>
          </a:p>
        </p:txBody>
      </p:sp>
      <p:grpSp>
        <p:nvGrpSpPr>
          <p:cNvPr id="6" name="Group 5">
            <a:extLst>
              <a:ext uri="{FF2B5EF4-FFF2-40B4-BE49-F238E27FC236}">
                <a16:creationId xmlns:a16="http://schemas.microsoft.com/office/drawing/2014/main" id="{AB6C5AB9-3A9F-AE10-9108-4A44120D5D4C}"/>
              </a:ext>
            </a:extLst>
          </p:cNvPr>
          <p:cNvGrpSpPr/>
          <p:nvPr/>
        </p:nvGrpSpPr>
        <p:grpSpPr>
          <a:xfrm>
            <a:off x="385277" y="4725144"/>
            <a:ext cx="3456384" cy="2016224"/>
            <a:chOff x="385277" y="4581128"/>
            <a:chExt cx="3456384" cy="2016224"/>
          </a:xfrm>
        </p:grpSpPr>
        <p:grpSp>
          <p:nvGrpSpPr>
            <p:cNvPr id="5" name="Group 4">
              <a:extLst>
                <a:ext uri="{FF2B5EF4-FFF2-40B4-BE49-F238E27FC236}">
                  <a16:creationId xmlns:a16="http://schemas.microsoft.com/office/drawing/2014/main" id="{F0378169-90BA-465D-9A07-A3FD5887C926}"/>
                </a:ext>
              </a:extLst>
            </p:cNvPr>
            <p:cNvGrpSpPr/>
            <p:nvPr/>
          </p:nvGrpSpPr>
          <p:grpSpPr>
            <a:xfrm>
              <a:off x="385277" y="4841044"/>
              <a:ext cx="3456384" cy="1756308"/>
              <a:chOff x="407368" y="5083202"/>
              <a:chExt cx="3456384" cy="1756308"/>
            </a:xfrm>
          </p:grpSpPr>
          <p:sp>
            <p:nvSpPr>
              <p:cNvPr id="11" name="TextBox 10">
                <a:extLst>
                  <a:ext uri="{FF2B5EF4-FFF2-40B4-BE49-F238E27FC236}">
                    <a16:creationId xmlns:a16="http://schemas.microsoft.com/office/drawing/2014/main" id="{01FCD091-A010-4419-9CCC-8B7EC01BEF8E}"/>
                  </a:ext>
                </a:extLst>
              </p:cNvPr>
              <p:cNvSpPr txBox="1"/>
              <p:nvPr/>
            </p:nvSpPr>
            <p:spPr>
              <a:xfrm>
                <a:off x="2292319" y="5083202"/>
                <a:ext cx="1571433"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6   |</a:t>
                </a:r>
              </a:p>
              <a:p>
                <a:r>
                  <a:rPr lang="en-IN" dirty="0">
                    <a:latin typeface="Liberation Mono"/>
                    <a:cs typeface="Arial" panose="020B0604020202020204" pitchFamily="34" charset="0"/>
                  </a:rPr>
                  <a:t>|    1   |   14  |</a:t>
                </a:r>
              </a:p>
              <a:p>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A72CAEA9-E87E-4EC6-BB9B-91F18E9CFAA7}"/>
                  </a:ext>
                </a:extLst>
              </p:cNvPr>
              <p:cNvSpPr txBox="1"/>
              <p:nvPr/>
            </p:nvSpPr>
            <p:spPr>
              <a:xfrm>
                <a:off x="407368" y="5085184"/>
                <a:ext cx="1701640"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NULL |</a:t>
                </a:r>
              </a:p>
              <a:p>
                <a:r>
                  <a:rPr lang="en-IN" dirty="0">
                    <a:latin typeface="Liberation Mono"/>
                    <a:cs typeface="Arial" panose="020B0604020202020204" pitchFamily="34" charset="0"/>
                  </a:rPr>
                  <a:t>|    1   | NULL |</a:t>
                </a:r>
              </a:p>
              <a:p>
                <a:r>
                  <a:rPr lang="en-IN" dirty="0">
                    <a:latin typeface="Liberation Mono"/>
                    <a:cs typeface="Arial" panose="020B0604020202020204" pitchFamily="34" charset="0"/>
                  </a:rPr>
                  <a:t>+-------+--------+</a:t>
                </a:r>
              </a:p>
            </p:txBody>
          </p:sp>
        </p:grpSp>
        <p:sp>
          <p:nvSpPr>
            <p:cNvPr id="15" name="TextBox 14">
              <a:extLst>
                <a:ext uri="{FF2B5EF4-FFF2-40B4-BE49-F238E27FC236}">
                  <a16:creationId xmlns:a16="http://schemas.microsoft.com/office/drawing/2014/main" id="{780F891F-99C0-426C-B87F-B050AEFE239E}"/>
                </a:ext>
              </a:extLst>
            </p:cNvPr>
            <p:cNvSpPr txBox="1"/>
            <p:nvPr/>
          </p:nvSpPr>
          <p:spPr>
            <a:xfrm>
              <a:off x="407368" y="4581128"/>
              <a:ext cx="3312368" cy="369332"/>
            </a:xfrm>
            <a:prstGeom prst="rect">
              <a:avLst/>
            </a:prstGeom>
            <a:noFill/>
          </p:spPr>
          <p:txBody>
            <a:bodyPr wrap="square">
              <a:spAutoFit/>
            </a:bodyPr>
            <a:lstStyle/>
            <a:p>
              <a:r>
                <a:rPr lang="en-IN" dirty="0">
                  <a:latin typeface="Liberation Mono"/>
                  <a:cs typeface="Arial" panose="020B0604020202020204" pitchFamily="34" charset="0"/>
                </a:rPr>
                <a:t>mysql&gt; </a:t>
              </a:r>
              <a:r>
                <a:rPr lang="en-IN" dirty="0">
                  <a:solidFill>
                    <a:srgbClr val="0077AA"/>
                  </a:solidFill>
                  <a:latin typeface="Liberation Mono"/>
                </a:rPr>
                <a:t>SELECT</a:t>
              </a:r>
              <a:r>
                <a:rPr lang="en-IN" dirty="0">
                  <a:latin typeface="Liberation Mono"/>
                  <a:cs typeface="Arial" panose="020B0604020202020204" pitchFamily="34" charset="0"/>
                </a:rPr>
                <a:t> * </a:t>
              </a:r>
              <a:r>
                <a:rPr lang="en-IN" dirty="0">
                  <a:solidFill>
                    <a:srgbClr val="0077AA"/>
                  </a:solidFill>
                  <a:latin typeface="Liberation Mono"/>
                </a:rPr>
                <a:t>FROM</a:t>
              </a:r>
              <a:r>
                <a:rPr lang="en-IN" dirty="0">
                  <a:latin typeface="Liberation Mono"/>
                  <a:cs typeface="Arial" panose="020B0604020202020204" pitchFamily="34" charset="0"/>
                </a:rPr>
                <a:t> t;</a:t>
              </a:r>
            </a:p>
          </p:txBody>
        </p:sp>
      </p:grpSp>
      <p:sp>
        <p:nvSpPr>
          <p:cNvPr id="10" name="Rectangle 9">
            <a:extLst>
              <a:ext uri="{FF2B5EF4-FFF2-40B4-BE49-F238E27FC236}">
                <a16:creationId xmlns:a16="http://schemas.microsoft.com/office/drawing/2014/main" id="{F3FF3732-5877-491C-BE36-CD858B0733F9}"/>
              </a:ext>
            </a:extLst>
          </p:cNvPr>
          <p:cNvSpPr/>
          <p:nvPr/>
        </p:nvSpPr>
        <p:spPr>
          <a:xfrm>
            <a:off x="6255610" y="5760723"/>
            <a:ext cx="5732722" cy="830997"/>
          </a:xfrm>
          <a:prstGeom prst="rect">
            <a:avLst/>
          </a:prstGeom>
        </p:spPr>
        <p:txBody>
          <a:bodyPr wrap="square">
            <a:spAutoFit/>
          </a:bodyPr>
          <a:lstStyle/>
          <a:p>
            <a:r>
              <a:rPr lang="en-IN" sz="1600" dirty="0">
                <a:solidFill>
                  <a:srgbClr val="00B0F0"/>
                </a:solidFill>
                <a:latin typeface="Arial" panose="020B0604020202020204" pitchFamily="34" charset="0"/>
                <a:cs typeface="Arial" panose="020B0604020202020204" pitchFamily="34" charset="0"/>
              </a:rPr>
              <a:t>e.g. </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top 2 rows.</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UnitPrice for the top 5 most expensive products.</a:t>
            </a:r>
          </a:p>
        </p:txBody>
      </p:sp>
      <p:sp>
        <p:nvSpPr>
          <p:cNvPr id="14" name="TextBox 13">
            <a:extLst>
              <a:ext uri="{FF2B5EF4-FFF2-40B4-BE49-F238E27FC236}">
                <a16:creationId xmlns:a16="http://schemas.microsoft.com/office/drawing/2014/main" id="{72723C61-7C4A-4435-92D1-771199F277AD}"/>
              </a:ext>
            </a:extLst>
          </p:cNvPr>
          <p:cNvSpPr txBox="1"/>
          <p:nvPr/>
        </p:nvSpPr>
        <p:spPr>
          <a:xfrm>
            <a:off x="6845204" y="747889"/>
            <a:ext cx="5227460" cy="523220"/>
          </a:xfrm>
          <a:prstGeom prst="rect">
            <a:avLst/>
          </a:prstGeom>
          <a:solidFill>
            <a:schemeClr val="accent5">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In a </a:t>
            </a:r>
            <a:r>
              <a:rPr lang="en-IN" sz="2000" b="1" dirty="0">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statement, </a:t>
            </a:r>
            <a:r>
              <a:rPr lang="en-IN" sz="2800"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is treated identically to </a:t>
            </a:r>
            <a:r>
              <a:rPr lang="en-IN" sz="2800" dirty="0">
                <a:solidFill>
                  <a:schemeClr val="accent5">
                    <a:lumMod val="75000"/>
                  </a:schemeClr>
                </a:solidFill>
                <a:latin typeface="Liberation Mono"/>
              </a:rPr>
              <a:t>:=</a:t>
            </a:r>
            <a:endParaRPr lang="en-IN" dirty="0">
              <a:solidFill>
                <a:schemeClr val="accent5">
                  <a:lumMod val="75000"/>
                </a:schemeClr>
              </a:solidFill>
              <a:latin typeface="Liberation Mono"/>
            </a:endParaRPr>
          </a:p>
        </p:txBody>
      </p:sp>
      <p:sp>
        <p:nvSpPr>
          <p:cNvPr id="8" name="Rectangle 7">
            <a:extLst>
              <a:ext uri="{FF2B5EF4-FFF2-40B4-BE49-F238E27FC236}">
                <a16:creationId xmlns:a16="http://schemas.microsoft.com/office/drawing/2014/main" id="{0119DCDE-8C0D-9C42-2F4F-051568AEEC25}"/>
              </a:ext>
            </a:extLst>
          </p:cNvPr>
          <p:cNvSpPr/>
          <p:nvPr/>
        </p:nvSpPr>
        <p:spPr>
          <a:xfrm>
            <a:off x="1107792" y="3276600"/>
            <a:ext cx="9976416" cy="369332"/>
          </a:xfrm>
          <a:prstGeom prst="rect">
            <a:avLst/>
          </a:prstGeom>
        </p:spPr>
        <p:txBody>
          <a:bodyPr wrap="square">
            <a:spAutoFit/>
          </a:bodyPr>
          <a:lstStyle/>
          <a:p>
            <a:r>
              <a:rPr lang="en-US" b="1" dirty="0">
                <a:latin typeface="Palatino Linotype" panose="02040502050505030304" pitchFamily="18" charset="0"/>
              </a:rPr>
              <a:t>UPDATE</a:t>
            </a:r>
            <a:r>
              <a:rPr lang="en-US" dirty="0">
                <a:latin typeface="Palatino Linotype" panose="02040502050505030304" pitchFamily="18" charset="0"/>
              </a:rPr>
              <a:t>  is used to change/modify the values of some attributes of one or more selected tuples.</a:t>
            </a:r>
            <a:endParaRPr lang="en-IN" dirty="0">
              <a:latin typeface="Palatino Linotype" panose="02040502050505030304" pitchFamily="18" charset="0"/>
            </a:endParaRPr>
          </a:p>
        </p:txBody>
      </p:sp>
      <p:sp>
        <p:nvSpPr>
          <p:cNvPr id="9" name="Rectangle 8"/>
          <p:cNvSpPr/>
          <p:nvPr/>
        </p:nvSpPr>
        <p:spPr>
          <a:xfrm>
            <a:off x="6023992" y="1331476"/>
            <a:ext cx="6079549" cy="369332"/>
          </a:xfrm>
          <a:prstGeom prst="rect">
            <a:avLst/>
          </a:prstGeom>
        </p:spPr>
        <p:txBody>
          <a:bodyPr wrap="none">
            <a:spAutoFit/>
          </a:bodyPr>
          <a:lstStyle/>
          <a:p>
            <a:r>
              <a:rPr lang="en-IN" dirty="0">
                <a:solidFill>
                  <a:srgbClr val="0077AA"/>
                </a:solidFill>
                <a:latin typeface="Liberation Mono"/>
              </a:rPr>
              <a:t>SELECT</a:t>
            </a:r>
            <a:r>
              <a:rPr lang="en-IN" dirty="0">
                <a:latin typeface="Liberation Mono"/>
              </a:rPr>
              <a:t> ename, job, sal, sal </a:t>
            </a:r>
            <a:r>
              <a:rPr lang="en-IN" dirty="0">
                <a:solidFill>
                  <a:srgbClr val="A67F59"/>
                </a:solidFill>
                <a:latin typeface="Liberation Mono"/>
                <a:cs typeface="Arial" panose="020B0604020202020204" pitchFamily="34" charset="0"/>
              </a:rPr>
              <a:t>*</a:t>
            </a:r>
            <a:r>
              <a:rPr lang="en-IN" dirty="0">
                <a:latin typeface="Liberation Mono"/>
              </a:rPr>
              <a:t> 1.1, sal </a:t>
            </a:r>
            <a:r>
              <a:rPr lang="en-IN" dirty="0">
                <a:solidFill>
                  <a:srgbClr val="A67F59"/>
                </a:solidFill>
                <a:latin typeface="Liberation Mono"/>
                <a:cs typeface="Arial" panose="020B0604020202020204" pitchFamily="34" charset="0"/>
              </a:rPr>
              <a:t>*</a:t>
            </a:r>
            <a:r>
              <a:rPr lang="en-IN" dirty="0">
                <a:latin typeface="Liberation Mono"/>
              </a:rPr>
              <a:t> 1.25 </a:t>
            </a:r>
            <a:r>
              <a:rPr lang="en-IN" dirty="0">
                <a:solidFill>
                  <a:srgbClr val="0077AA"/>
                </a:solidFill>
                <a:latin typeface="Liberation Mono"/>
              </a:rPr>
              <a:t>FROM</a:t>
            </a:r>
            <a:r>
              <a:rPr lang="en-IN" dirty="0">
                <a:latin typeface="Liberation Mono"/>
              </a:rPr>
              <a:t> emp;</a:t>
            </a:r>
          </a:p>
        </p:txBody>
      </p:sp>
      <p:sp>
        <p:nvSpPr>
          <p:cNvPr id="27" name="TextBox 26">
            <a:extLst>
              <a:ext uri="{FF2B5EF4-FFF2-40B4-BE49-F238E27FC236}">
                <a16:creationId xmlns:a16="http://schemas.microsoft.com/office/drawing/2014/main" id="{6E65EB57-593D-4F18-EBCE-7AF52E86C11C}"/>
              </a:ext>
            </a:extLst>
          </p:cNvPr>
          <p:cNvSpPr txBox="1"/>
          <p:nvPr/>
        </p:nvSpPr>
        <p:spPr>
          <a:xfrm>
            <a:off x="926435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10%</a:t>
            </a:r>
            <a:endParaRPr lang="en-IN" dirty="0">
              <a:latin typeface="Palatino Linotype" panose="02040502050505030304" pitchFamily="18" charset="0"/>
            </a:endParaRPr>
          </a:p>
        </p:txBody>
      </p:sp>
      <p:sp>
        <p:nvSpPr>
          <p:cNvPr id="28" name="TextBox 27">
            <a:extLst>
              <a:ext uri="{FF2B5EF4-FFF2-40B4-BE49-F238E27FC236}">
                <a16:creationId xmlns:a16="http://schemas.microsoft.com/office/drawing/2014/main" id="{CFFDCB93-018E-7322-3076-1E5B03F3EB67}"/>
              </a:ext>
            </a:extLst>
          </p:cNvPr>
          <p:cNvSpPr txBox="1"/>
          <p:nvPr/>
        </p:nvSpPr>
        <p:spPr>
          <a:xfrm>
            <a:off x="1060637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25%</a:t>
            </a:r>
            <a:endParaRPr lang="en-IN" dirty="0">
              <a:latin typeface="Palatino Linotype" panose="02040502050505030304" pitchFamily="18" charset="0"/>
            </a:endParaRPr>
          </a:p>
        </p:txBody>
      </p:sp>
      <p:cxnSp>
        <p:nvCxnSpPr>
          <p:cNvPr id="30" name="Straight Arrow Connector 29">
            <a:extLst>
              <a:ext uri="{FF2B5EF4-FFF2-40B4-BE49-F238E27FC236}">
                <a16:creationId xmlns:a16="http://schemas.microsoft.com/office/drawing/2014/main" id="{85EAB1BC-BCC5-287D-4F97-43C5DF4A1D06}"/>
              </a:ext>
            </a:extLst>
          </p:cNvPr>
          <p:cNvCxnSpPr/>
          <p:nvPr/>
        </p:nvCxnSpPr>
        <p:spPr>
          <a:xfrm>
            <a:off x="8781738" y="1700808"/>
            <a:ext cx="770646" cy="372814"/>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C076115-CDD0-ABAF-0754-ECE79D18E83C}"/>
              </a:ext>
            </a:extLst>
          </p:cNvPr>
          <p:cNvCxnSpPr>
            <a:cxnSpLocks/>
          </p:cNvCxnSpPr>
          <p:nvPr/>
        </p:nvCxnSpPr>
        <p:spPr>
          <a:xfrm>
            <a:off x="9955308" y="1700808"/>
            <a:ext cx="893220" cy="369332"/>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9338980"/>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UPDATE can violate.</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4041091058"/>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9147F-A59E-CB24-FA8D-62C9D9FBD7C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16EEFCF-F73B-BA5A-4C15-C65B181166A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6E41F53-A4FA-F309-8F12-11894491580D}"/>
              </a:ext>
            </a:extLst>
          </p:cNvPr>
          <p:cNvSpPr/>
          <p:nvPr/>
        </p:nvSpPr>
        <p:spPr>
          <a:xfrm>
            <a:off x="263352" y="692696"/>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UPDATE statement updates columns of existing rows in the named table with new values. The SET clause indicates which columns to modify and the values they should be given. The </a:t>
            </a:r>
            <a:r>
              <a:rPr lang="en-IN" b="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if given, specifies the conditions that identify which rows to update. With </a:t>
            </a:r>
            <a:r>
              <a:rPr lang="en-IN" b="1" dirty="0">
                <a:latin typeface="Arial" panose="020B0604020202020204" pitchFamily="34" charset="0"/>
                <a:cs typeface="Arial" panose="020B0604020202020204" pitchFamily="34" charset="0"/>
              </a:rPr>
              <a:t>no WHERE </a:t>
            </a:r>
            <a:r>
              <a:rPr lang="en-IN" dirty="0">
                <a:latin typeface="Arial" panose="020B0604020202020204" pitchFamily="34" charset="0"/>
                <a:cs typeface="Arial" panose="020B0604020202020204" pitchFamily="34" charset="0"/>
              </a:rPr>
              <a:t>clause, all rows are updated. If the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 is specified, the rows are updated in the order that is specified. The </a:t>
            </a:r>
            <a:r>
              <a:rPr lang="en-IN" b="1" dirty="0">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clause places a limit on the number of rows that can be updated.</a:t>
            </a:r>
          </a:p>
        </p:txBody>
      </p:sp>
      <p:sp>
        <p:nvSpPr>
          <p:cNvPr id="2" name="Rectangle 1">
            <a:extLst>
              <a:ext uri="{FF2B5EF4-FFF2-40B4-BE49-F238E27FC236}">
                <a16:creationId xmlns:a16="http://schemas.microsoft.com/office/drawing/2014/main" id="{EDA4C00A-ABA5-9B2B-B73E-D6600F012DB2}"/>
              </a:ext>
            </a:extLst>
          </p:cNvPr>
          <p:cNvSpPr/>
          <p:nvPr/>
        </p:nvSpPr>
        <p:spPr>
          <a:xfrm>
            <a:off x="263352" y="2725078"/>
            <a:ext cx="11809312" cy="707886"/>
          </a:xfrm>
          <a:prstGeom prst="rect">
            <a:avLst/>
          </a:prstGeom>
        </p:spPr>
        <p:txBody>
          <a:bodyPr wrap="square">
            <a:spAutoFit/>
          </a:bodyPr>
          <a:lstStyle/>
          <a:p>
            <a:pPr lvl="0" eaLnBrk="0" fontAlgn="base" hangingPunct="0">
              <a:spcBef>
                <a:spcPct val="0"/>
              </a:spcBef>
              <a:spcAft>
                <a:spcPct val="0"/>
              </a:spcAft>
            </a:pPr>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3" name="Rectangle 2">
            <a:extLst>
              <a:ext uri="{FF2B5EF4-FFF2-40B4-BE49-F238E27FC236}">
                <a16:creationId xmlns:a16="http://schemas.microsoft.com/office/drawing/2014/main" id="{EAB22E76-5F72-9B13-AEC1-C7CDF0A1CF7C}"/>
              </a:ext>
            </a:extLst>
          </p:cNvPr>
          <p:cNvSpPr/>
          <p:nvPr/>
        </p:nvSpPr>
        <p:spPr>
          <a:xfrm>
            <a:off x="263352" y="3789040"/>
            <a:ext cx="11809312" cy="707886"/>
          </a:xfrm>
          <a:prstGeom prst="rect">
            <a:avLst/>
          </a:prstGeom>
        </p:spPr>
        <p:txBody>
          <a:bodyPr wrap="square">
            <a:spAutoFit/>
          </a:bodyPr>
          <a:lstStyle/>
          <a:p>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expr1</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i="1" dirty="0">
                <a:latin typeface="Liberation Mono"/>
              </a:rPr>
              <a:t>col_name2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expr2</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 ] </a:t>
            </a:r>
            <a:r>
              <a:rPr lang="en-US" sz="2000" dirty="0">
                <a:latin typeface="Liberation Mono"/>
              </a:rPr>
              <a:t>. .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3628897761"/>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1" y="758800"/>
            <a:ext cx="11809313" cy="31393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dname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a:t>
            </a:r>
            <a:r>
              <a:rPr lang="en-IN" dirty="0">
                <a:latin typeface="Liberation Mono"/>
                <a:ea typeface="Times New Roman" panose="02020603050405020304" pitchFamily="18"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ALTER</a:t>
            </a:r>
            <a:r>
              <a:rPr lang="en-US" dirty="0">
                <a:latin typeface="Liberation Mono"/>
              </a:rPr>
              <a:t> </a:t>
            </a:r>
            <a:r>
              <a:rPr lang="en-US" dirty="0">
                <a:solidFill>
                  <a:srgbClr val="0077AA"/>
                </a:solidFill>
                <a:latin typeface="Liberation Mono"/>
              </a:rPr>
              <a:t>TABLE</a:t>
            </a:r>
            <a:r>
              <a:rPr lang="en-US" dirty="0">
                <a:latin typeface="Liberation Mono"/>
              </a:rPr>
              <a:t> dept </a:t>
            </a:r>
            <a:r>
              <a:rPr lang="en-US" dirty="0">
                <a:solidFill>
                  <a:srgbClr val="0077AA"/>
                </a:solidFill>
                <a:latin typeface="Liberation Mono"/>
              </a:rPr>
              <a:t>ADD</a:t>
            </a:r>
            <a:r>
              <a:rPr lang="en-US" dirty="0">
                <a:latin typeface="Liberation Mono"/>
              </a:rPr>
              <a:t> SUMSALARY INT;</a:t>
            </a:r>
          </a:p>
          <a:p>
            <a:pPr marL="342900" indent="-342900">
              <a:lnSpc>
                <a:spcPct val="150000"/>
              </a:lnSpc>
              <a:buFont typeface="Arial" panose="020B0604020202020204" pitchFamily="34" charset="0"/>
              <a:buChar char="•"/>
            </a:pPr>
            <a:r>
              <a:rPr lang="en-IN" dirty="0">
                <a:solidFill>
                  <a:srgbClr val="0077AA"/>
                </a:solidFill>
                <a:latin typeface="Liberation Mono"/>
              </a:rPr>
              <a:t>UPDATE</a:t>
            </a:r>
            <a:r>
              <a:rPr lang="en-IN" dirty="0">
                <a:latin typeface="Liberation Mono"/>
              </a:rPr>
              <a:t> dept </a:t>
            </a:r>
            <a:r>
              <a:rPr lang="en-IN" dirty="0">
                <a:solidFill>
                  <a:srgbClr val="0077AA"/>
                </a:solidFill>
                <a:latin typeface="Liberation Mono"/>
              </a:rPr>
              <a:t>SET</a:t>
            </a:r>
            <a:r>
              <a:rPr lang="en-IN" dirty="0">
                <a:latin typeface="Liberation Mono"/>
              </a:rPr>
              <a:t> sumsalary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C74C49"/>
                </a:solidFill>
                <a:latin typeface="Liberation Mono"/>
                <a:cs typeface="Arial" panose="020B0604020202020204" pitchFamily="34" charset="0"/>
              </a:rPr>
              <a:t>SUM</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emp.deptno);</a:t>
            </a:r>
          </a:p>
          <a:p>
            <a:pPr marL="342900" indent="-342900">
              <a:buFont typeface="Arial" panose="020B0604020202020204" pitchFamily="34" charset="0"/>
              <a:buChar char="•"/>
            </a:pPr>
            <a:r>
              <a:rPr lang="en-US" dirty="0">
                <a:solidFill>
                  <a:srgbClr val="0077AA"/>
                </a:solidFill>
                <a:latin typeface="Liberation Mono"/>
              </a:rPr>
              <a:t>UPDATE</a:t>
            </a:r>
            <a:r>
              <a:rPr lang="en-US" dirty="0">
                <a:latin typeface="Liberation Mono"/>
              </a:rPr>
              <a:t> candidate </a:t>
            </a:r>
            <a:r>
              <a:rPr lang="en-US" dirty="0">
                <a:solidFill>
                  <a:srgbClr val="0077AA"/>
                </a:solidFill>
                <a:latin typeface="Liberation Mono"/>
              </a:rPr>
              <a:t>SET</a:t>
            </a:r>
            <a:r>
              <a:rPr lang="en-US" dirty="0">
                <a:latin typeface="Liberation Mono"/>
              </a:rPr>
              <a:t> totalvotes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C74C49"/>
                </a:solidFill>
                <a:latin typeface="Liberation Mono"/>
                <a:cs typeface="Arial" panose="020B0604020202020204" pitchFamily="34" charset="0"/>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votes </a:t>
            </a:r>
            <a:r>
              <a:rPr lang="en-US" dirty="0">
                <a:solidFill>
                  <a:srgbClr val="0077AA"/>
                </a:solidFill>
                <a:latin typeface="Liberation Mono"/>
              </a:rPr>
              <a:t>WHERE</a:t>
            </a:r>
            <a:r>
              <a:rPr lang="en-US" dirty="0">
                <a:latin typeface="Liberation Mono"/>
              </a:rPr>
              <a:t> candidate.id </a:t>
            </a:r>
            <a:r>
              <a:rPr lang="en-US" dirty="0">
                <a:solidFill>
                  <a:schemeClr val="accent5">
                    <a:lumMod val="75000"/>
                  </a:schemeClr>
                </a:solidFill>
                <a:latin typeface="Liberation Mono"/>
              </a:rPr>
              <a:t>=</a:t>
            </a:r>
            <a:r>
              <a:rPr lang="en-US" dirty="0">
                <a:latin typeface="Liberation Mono"/>
              </a:rPr>
              <a:t> votes.candidateID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votes.candidateID);</a:t>
            </a:r>
            <a:endParaRPr lang="en-IN" dirty="0">
              <a:latin typeface="Liberation Mono"/>
            </a:endParaRPr>
          </a:p>
        </p:txBody>
      </p:sp>
      <p:sp>
        <p:nvSpPr>
          <p:cNvPr id="12" name="TextBox 11">
            <a:extLst>
              <a:ext uri="{FF2B5EF4-FFF2-40B4-BE49-F238E27FC236}">
                <a16:creationId xmlns:a16="http://schemas.microsoft.com/office/drawing/2014/main" id="{12286EC6-29F3-A1B5-B578-DD1E1B3FF676}"/>
              </a:ext>
            </a:extLst>
          </p:cNvPr>
          <p:cNvSpPr txBox="1"/>
          <p:nvPr/>
        </p:nvSpPr>
        <p:spPr>
          <a:xfrm>
            <a:off x="191344" y="4186153"/>
            <a:ext cx="10801200" cy="109260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Important:</a:t>
            </a:r>
          </a:p>
          <a:p>
            <a:endParaRPr lang="en-IN" sz="7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duplicate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a:t>
            </a:r>
            <a:r>
              <a:rPr lang="en-IN" dirty="0">
                <a:solidFill>
                  <a:schemeClr val="bg1">
                    <a:lumMod val="50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bg1">
                    <a:lumMod val="50000"/>
                  </a:schemeClr>
                </a:solidFill>
                <a:latin typeface="Liberation Mono"/>
              </a:rPr>
              <a:t>)</a:t>
            </a:r>
            <a:r>
              <a:rPr lang="en-IN" dirty="0">
                <a:latin typeface="Liberation Mono"/>
              </a:rPr>
              <a:t>;</a:t>
            </a:r>
          </a:p>
          <a:p>
            <a:endParaRPr lang="en-IN" sz="4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subscriptions </a:t>
            </a:r>
            <a:r>
              <a:rPr lang="en-IN" dirty="0">
                <a:solidFill>
                  <a:srgbClr val="0077AA"/>
                </a:solidFill>
                <a:latin typeface="Liberation Mono"/>
              </a:rPr>
              <a:t>SET</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expiry_date </a:t>
            </a:r>
            <a:r>
              <a:rPr lang="en-IN" dirty="0">
                <a:solidFill>
                  <a:schemeClr val="accent5">
                    <a:lumMod val="75000"/>
                  </a:schemeClr>
                </a:solidFill>
                <a:latin typeface="Liberation Mono"/>
              </a:rPr>
              <a:t>&lt;</a:t>
            </a:r>
            <a:r>
              <a:rPr lang="en-IN" dirty="0">
                <a:latin typeface="Liberation Mono"/>
              </a:rPr>
              <a:t> CURDATE()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'Expired'</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'Active'</a:t>
            </a:r>
            <a:r>
              <a:rPr lang="en-IN" dirty="0">
                <a:latin typeface="Liberation Mono"/>
              </a:rPr>
              <a:t> </a:t>
            </a:r>
            <a:r>
              <a:rPr lang="en-IN" dirty="0">
                <a:solidFill>
                  <a:srgbClr val="DB7BC9"/>
                </a:solidFill>
                <a:latin typeface="Liberation Mono"/>
              </a:rPr>
              <a:t>END</a:t>
            </a:r>
            <a:r>
              <a:rPr lang="en-IN" dirty="0">
                <a:latin typeface="Liberation Mono"/>
              </a:rPr>
              <a:t>;</a:t>
            </a:r>
          </a:p>
        </p:txBody>
      </p:sp>
      <p:sp>
        <p:nvSpPr>
          <p:cNvPr id="7" name="TextBox 6">
            <a:extLst>
              <a:ext uri="{FF2B5EF4-FFF2-40B4-BE49-F238E27FC236}">
                <a16:creationId xmlns:a16="http://schemas.microsoft.com/office/drawing/2014/main" id="{8A211F20-3793-362E-665E-636C1876DF6B}"/>
              </a:ext>
            </a:extLst>
          </p:cNvPr>
          <p:cNvSpPr txBox="1"/>
          <p:nvPr/>
        </p:nvSpPr>
        <p:spPr>
          <a:xfrm>
            <a:off x="191344" y="5673442"/>
            <a:ext cx="11881320" cy="707886"/>
          </a:xfrm>
          <a:prstGeom prst="rect">
            <a:avLst/>
          </a:prstGeom>
          <a:gradFill flip="none" rotWithShape="1">
            <a:gsLst>
              <a:gs pos="0">
                <a:schemeClr val="accent3">
                  <a:lumMod val="67000"/>
                </a:schemeClr>
              </a:gs>
              <a:gs pos="48000">
                <a:schemeClr val="accent3">
                  <a:lumMod val="97000"/>
                  <a:lumOff val="3000"/>
                </a:schemeClr>
              </a:gs>
              <a:gs pos="100000">
                <a:schemeClr val="accent3">
                  <a:lumMod val="60000"/>
                  <a:lumOff val="40000"/>
                </a:schemeClr>
              </a:gs>
            </a:gsLst>
            <a:lin ang="16200000" scaled="1"/>
            <a:tileRect/>
          </a:gradFill>
        </p:spPr>
        <p:txBody>
          <a:bodyPr wrap="square">
            <a:spAutoFit/>
          </a:bodyPr>
          <a:lstStyle/>
          <a:p>
            <a:pPr marL="342900" indent="-342900">
              <a:buFont typeface="Arial" panose="020B0604020202020204" pitchFamily="34" charset="0"/>
              <a:buChar char="•"/>
            </a:pPr>
            <a:r>
              <a:rPr lang="en-IN" sz="2000" dirty="0">
                <a:solidFill>
                  <a:srgbClr val="0077AA"/>
                </a:solidFill>
                <a:latin typeface="Liberation Mono"/>
              </a:rPr>
              <a:t>UPDATE</a:t>
            </a:r>
            <a:r>
              <a:rPr lang="en-IN" sz="2000" dirty="0">
                <a:latin typeface="Liberation Mono"/>
              </a:rPr>
              <a:t> subscription </a:t>
            </a:r>
            <a:r>
              <a:rPr lang="en-IN" sz="2000" dirty="0">
                <a:solidFill>
                  <a:srgbClr val="0077AA"/>
                </a:solidFill>
                <a:latin typeface="Liberation Mono"/>
              </a:rPr>
              <a:t>SET</a:t>
            </a:r>
            <a:r>
              <a:rPr lang="en-IN" sz="2000" dirty="0">
                <a:latin typeface="Liberation Mono"/>
              </a:rPr>
              <a:t>  start_date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'2026-06-10'</a:t>
            </a:r>
            <a:r>
              <a:rPr lang="en-IN" sz="2000" dirty="0">
                <a:latin typeface="Liberation Mono"/>
              </a:rPr>
              <a:t>, expiration_date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'2026-07-10'</a:t>
            </a:r>
            <a:r>
              <a:rPr lang="en-IN" sz="2000" dirty="0">
                <a:latin typeface="Liberation Mono"/>
              </a:rPr>
              <a:t> </a:t>
            </a:r>
            <a:r>
              <a:rPr lang="en-IN" sz="2000" dirty="0">
                <a:solidFill>
                  <a:srgbClr val="0077AA"/>
                </a:solidFill>
                <a:latin typeface="Liberation Mono"/>
              </a:rPr>
              <a:t>WHERE</a:t>
            </a:r>
            <a:r>
              <a:rPr lang="en-IN" sz="2000" dirty="0">
                <a:latin typeface="Liberation Mono"/>
              </a:rPr>
              <a:t> subscription_id </a:t>
            </a:r>
            <a:r>
              <a:rPr lang="en-IN" dirty="0">
                <a:solidFill>
                  <a:schemeClr val="accent5">
                    <a:lumMod val="75000"/>
                  </a:schemeClr>
                </a:solidFill>
                <a:latin typeface="Liberation Mono"/>
              </a:rPr>
              <a:t>=</a:t>
            </a:r>
            <a:r>
              <a:rPr lang="en-IN" sz="2000" dirty="0">
                <a:latin typeface="Liberation Mono"/>
              </a:rPr>
              <a:t> (</a:t>
            </a:r>
            <a:r>
              <a:rPr lang="en-IN" sz="2000" dirty="0">
                <a:solidFill>
                  <a:srgbClr val="0077AA"/>
                </a:solidFill>
                <a:latin typeface="Liberation Mono"/>
              </a:rPr>
              <a:t>SELECT</a:t>
            </a:r>
            <a:r>
              <a:rPr lang="en-IN" sz="2000" dirty="0">
                <a:latin typeface="Liberation Mono"/>
              </a:rPr>
              <a:t> subscription_id </a:t>
            </a:r>
            <a:r>
              <a:rPr lang="en-IN" sz="2000" dirty="0">
                <a:solidFill>
                  <a:srgbClr val="0077AA"/>
                </a:solidFill>
                <a:latin typeface="Liberation Mono"/>
              </a:rPr>
              <a:t>FROM</a:t>
            </a:r>
            <a:r>
              <a:rPr lang="en-IN" sz="2000" dirty="0">
                <a:latin typeface="Liberation Mono"/>
              </a:rPr>
              <a:t> (</a:t>
            </a:r>
            <a:r>
              <a:rPr lang="en-IN" sz="2000" dirty="0">
                <a:solidFill>
                  <a:srgbClr val="0077AA"/>
                </a:solidFill>
                <a:latin typeface="Liberation Mono"/>
              </a:rPr>
              <a:t>SELECT</a:t>
            </a:r>
            <a:r>
              <a:rPr lang="en-IN" sz="2000" dirty="0">
                <a:latin typeface="Liberation Mono"/>
              </a:rPr>
              <a:t> </a:t>
            </a:r>
            <a:r>
              <a:rPr lang="en-IN" dirty="0">
                <a:solidFill>
                  <a:srgbClr val="C74C49"/>
                </a:solidFill>
                <a:latin typeface="Liberation Mono"/>
                <a:cs typeface="Arial" panose="020B0604020202020204" pitchFamily="34" charset="0"/>
              </a:rPr>
              <a:t>MAX</a:t>
            </a:r>
            <a:r>
              <a:rPr lang="en-IN" sz="2000" dirty="0">
                <a:latin typeface="Liberation Mono"/>
              </a:rPr>
              <a:t>(subscription_id) </a:t>
            </a:r>
            <a:r>
              <a:rPr lang="en-IN" sz="2000" dirty="0">
                <a:solidFill>
                  <a:srgbClr val="0077AA"/>
                </a:solidFill>
                <a:latin typeface="Liberation Mono"/>
              </a:rPr>
              <a:t>FROM</a:t>
            </a:r>
            <a:r>
              <a:rPr lang="en-IN" sz="2000" dirty="0">
                <a:latin typeface="Liberation Mono"/>
              </a:rPr>
              <a:t> subscription) t);</a:t>
            </a:r>
          </a:p>
        </p:txBody>
      </p:sp>
    </p:spTree>
    <p:extLst>
      <p:ext uri="{BB962C8B-B14F-4D97-AF65-F5344CB8AC3E}">
        <p14:creationId xmlns:p14="http://schemas.microsoft.com/office/powerpoint/2010/main" val="3639250110"/>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single-table </a:t>
            </a:r>
            <a:r>
              <a:rPr lang="en-US" sz="4800" dirty="0">
                <a:solidFill>
                  <a:srgbClr val="DC525C"/>
                </a:solidFill>
                <a:latin typeface="Segoe UI Light" panose="020B0502040204020203" pitchFamily="34" charset="0"/>
                <a:cs typeface="Segoe UI Light" panose="020B0502040204020203" pitchFamily="34" charset="0"/>
              </a:rPr>
              <a:t>delete</a:t>
            </a:r>
          </a:p>
        </p:txBody>
      </p:sp>
      <p:sp>
        <p:nvSpPr>
          <p:cNvPr id="3" name="Rectangle 2">
            <a:extLst>
              <a:ext uri="{FF2B5EF4-FFF2-40B4-BE49-F238E27FC236}">
                <a16:creationId xmlns:a16="http://schemas.microsoft.com/office/drawing/2014/main" id="{ABA1DED6-069A-530E-0273-2F34E6DBFCBF}"/>
              </a:ext>
            </a:extLst>
          </p:cNvPr>
          <p:cNvSpPr/>
          <p:nvPr/>
        </p:nvSpPr>
        <p:spPr>
          <a:xfrm>
            <a:off x="3510997" y="3276600"/>
            <a:ext cx="5170005" cy="369332"/>
          </a:xfrm>
          <a:prstGeom prst="rect">
            <a:avLst/>
          </a:prstGeom>
        </p:spPr>
        <p:txBody>
          <a:bodyPr wrap="none">
            <a:spAutoFit/>
          </a:bodyPr>
          <a:lstStyle/>
          <a:p>
            <a:r>
              <a:rPr lang="en-US" b="1" dirty="0">
                <a:latin typeface="Palatino Linotype" panose="02040502050505030304" pitchFamily="18" charset="0"/>
              </a:rPr>
              <a:t>DELETE</a:t>
            </a:r>
            <a:r>
              <a:rPr lang="en-US" dirty="0">
                <a:latin typeface="Palatino Linotype" panose="02040502050505030304" pitchFamily="18" charset="0"/>
              </a:rPr>
              <a:t> is used to delete tuples  from a relation.</a:t>
            </a:r>
            <a:endParaRPr lang="en-IN" dirty="0">
              <a:latin typeface="Palatino Linotype" panose="02040502050505030304" pitchFamily="18" charset="0"/>
            </a:endParaRPr>
          </a:p>
        </p:txBody>
      </p:sp>
    </p:spTree>
    <p:extLst>
      <p:ext uri="{BB962C8B-B14F-4D97-AF65-F5344CB8AC3E}">
        <p14:creationId xmlns:p14="http://schemas.microsoft.com/office/powerpoint/2010/main" val="1364519760"/>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can violate only in referential integrity.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operation can violate only referential integrity. This occurs if the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being deleted is referenced by foreign keys from other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in the database.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6298530"/>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single</a:t>
            </a:r>
            <a:r>
              <a:rPr lang="en-US" sz="3200" i="1" dirty="0">
                <a:solidFill>
                  <a:srgbClr val="FF9900"/>
                </a:solidFill>
                <a:latin typeface="Arial" pitchFamily="34" charset="0"/>
                <a:cs typeface="Arial" pitchFamily="34" charset="0"/>
              </a:rPr>
              <a:t>-table delete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06917"/>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DELETE statement deletes rows from tbl_name and returns the number of deleted rows. To check the number of deleted rows, call the </a:t>
            </a:r>
            <a:r>
              <a:rPr lang="en-IN" i="1" dirty="0">
                <a:solidFill>
                  <a:srgbClr val="2658E6"/>
                </a:solidFill>
                <a:latin typeface="Arial" panose="020B0604020202020204" pitchFamily="34" charset="0"/>
                <a:cs typeface="Arial" panose="020B0604020202020204" pitchFamily="34" charset="0"/>
              </a:rPr>
              <a:t>ROW_COUNT() </a:t>
            </a:r>
            <a:r>
              <a:rPr lang="en-IN" dirty="0">
                <a:latin typeface="Arial" panose="020B0604020202020204" pitchFamily="34" charset="0"/>
                <a:cs typeface="Arial" panose="020B0604020202020204" pitchFamily="34" charset="0"/>
              </a:rPr>
              <a:t>function. The optional WHERE clause identify which rows to delete. With no WHERE clause, all rows are deleted. If the ORDER BY clause is specified, the rows are deleted in the order that is specified. The LIMIT clause places a limit on the number of rows that can be deleted.</a:t>
            </a:r>
          </a:p>
        </p:txBody>
      </p:sp>
      <p:sp>
        <p:nvSpPr>
          <p:cNvPr id="6" name="Rectangle 5"/>
          <p:cNvSpPr/>
          <p:nvPr/>
        </p:nvSpPr>
        <p:spPr>
          <a:xfrm>
            <a:off x="407368" y="4110171"/>
            <a:ext cx="11305256"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LIMIT clauses apply to single-table deletes, but not multi-table deletes.</a:t>
            </a:r>
          </a:p>
        </p:txBody>
      </p:sp>
      <p:sp>
        <p:nvSpPr>
          <p:cNvPr id="9" name="Rectangle 8"/>
          <p:cNvSpPr/>
          <p:nvPr/>
        </p:nvSpPr>
        <p:spPr>
          <a:xfrm>
            <a:off x="407368" y="4941168"/>
            <a:ext cx="11305256"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97ED902F-F659-4F64-A8C8-FDDF7CC73350}"/>
              </a:ext>
            </a:extLst>
          </p:cNvPr>
          <p:cNvSpPr/>
          <p:nvPr/>
        </p:nvSpPr>
        <p:spPr>
          <a:xfrm>
            <a:off x="263352" y="2484060"/>
            <a:ext cx="8839200" cy="1631216"/>
          </a:xfrm>
          <a:prstGeom prst="rect">
            <a:avLst/>
          </a:prstGeom>
        </p:spPr>
        <p:txBody>
          <a:bodyPr wrap="square">
            <a:spAutoFit/>
          </a:bodyPr>
          <a:lstStyle/>
          <a:p>
            <a:r>
              <a:rPr lang="en-IN" sz="2000" dirty="0">
                <a:solidFill>
                  <a:srgbClr val="0077AA"/>
                </a:solidFill>
                <a:latin typeface="Liberation Mono"/>
              </a:rPr>
              <a:t>DELETE FROM </a:t>
            </a:r>
            <a:r>
              <a:rPr lang="en-IN" sz="2000" dirty="0">
                <a:latin typeface="Liberation Mono"/>
              </a:rPr>
              <a:t>tbl_name</a:t>
            </a:r>
          </a:p>
          <a:p>
            <a:r>
              <a:rPr lang="fr-FR" sz="2000" dirty="0">
                <a:solidFill>
                  <a:srgbClr val="0077AA"/>
                </a:solidFill>
                <a:latin typeface="Liberation Mono"/>
              </a:rPr>
              <a:t>    </a:t>
            </a:r>
            <a:r>
              <a:rPr lang="fr-FR" sz="2000" dirty="0">
                <a:latin typeface="Liberation Mono"/>
              </a:rPr>
              <a:t>[</a:t>
            </a:r>
            <a:r>
              <a:rPr lang="fr-FR" sz="2000" dirty="0">
                <a:solidFill>
                  <a:srgbClr val="0077AA"/>
                </a:solidFill>
                <a:latin typeface="Liberation Mono"/>
              </a:rPr>
              <a:t>PARTITION </a:t>
            </a:r>
            <a:r>
              <a:rPr lang="fr-FR" sz="2000" dirty="0">
                <a:latin typeface="Liberation Mono"/>
              </a:rPr>
              <a:t>(</a:t>
            </a:r>
            <a:r>
              <a:rPr lang="fr-FR" sz="2000" i="1" dirty="0">
                <a:latin typeface="Liberation Mono"/>
              </a:rPr>
              <a:t>partition_name </a:t>
            </a:r>
            <a:r>
              <a:rPr lang="fr-FR" sz="2000" dirty="0">
                <a:latin typeface="Liberation Mono"/>
              </a:rPr>
              <a:t>[,</a:t>
            </a:r>
            <a:r>
              <a:rPr lang="fr-FR" sz="2000" dirty="0">
                <a:solidFill>
                  <a:srgbClr val="0077AA"/>
                </a:solidFill>
                <a:latin typeface="Liberation Mono"/>
              </a:rPr>
              <a:t> </a:t>
            </a:r>
            <a:r>
              <a:rPr lang="fr-FR" sz="2000" i="1" dirty="0">
                <a:latin typeface="Liberation Mono"/>
              </a:rPr>
              <a:t>partition_name</a:t>
            </a:r>
            <a:r>
              <a:rPr lang="fr-FR" sz="2000" dirty="0">
                <a:latin typeface="Liberation Mono"/>
              </a:rPr>
              <a:t>] . . .)]</a:t>
            </a:r>
            <a:r>
              <a:rPr lang="en-IN" sz="2000" dirty="0">
                <a:solidFill>
                  <a:srgbClr val="0077AA"/>
                </a:solidFill>
                <a:latin typeface="Liberation Mono"/>
              </a:rPr>
              <a:t>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160024638"/>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auto_increment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19653C24-9BC0-460D-825B-EEF049B89F29}"/>
              </a:ext>
            </a:extLst>
          </p:cNvPr>
          <p:cNvSpPr/>
          <p:nvPr/>
        </p:nvSpPr>
        <p:spPr>
          <a:xfrm>
            <a:off x="695400" y="3307504"/>
            <a:ext cx="10657183"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a:t>
            </a:r>
            <a:r>
              <a:rPr lang="en-US" sz="2000" b="1" dirty="0">
                <a:latin typeface="Palatino Linotype" panose="02040502050505030304" pitchFamily="18" charset="0"/>
                <a:cs typeface="Segoe UI Light" panose="020B0502040204020203" pitchFamily="34" charset="0"/>
              </a:rPr>
              <a:t>AUTO_INCREMENT </a:t>
            </a:r>
            <a:r>
              <a:rPr lang="en-US" sz="2000" dirty="0">
                <a:latin typeface="Palatino Linotype" panose="02040502050505030304" pitchFamily="18" charset="0"/>
                <a:cs typeface="Segoe UI Light" panose="020B0502040204020203" pitchFamily="34" charset="0"/>
              </a:rPr>
              <a:t>attribute can be used to generate a unique number/identity for new rows.</a:t>
            </a:r>
          </a:p>
        </p:txBody>
      </p:sp>
    </p:spTree>
    <p:extLst>
      <p:ext uri="{BB962C8B-B14F-4D97-AF65-F5344CB8AC3E}">
        <p14:creationId xmlns:p14="http://schemas.microsoft.com/office/powerpoint/2010/main" val="604180576"/>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56BABA31-D6D1-483B-8498-12B917B0631B}"/>
              </a:ext>
            </a:extLst>
          </p:cNvPr>
          <p:cNvSpPr/>
          <p:nvPr/>
        </p:nvSpPr>
        <p:spPr>
          <a:xfrm>
            <a:off x="263351" y="1174680"/>
            <a:ext cx="11598457" cy="3539430"/>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400" b="1"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There can be </a:t>
            </a:r>
            <a:r>
              <a:rPr lang="en-IN" b="1" dirty="0">
                <a:solidFill>
                  <a:schemeClr val="bg2">
                    <a:lumMod val="10000"/>
                  </a:schemeClr>
                </a:solidFill>
                <a:latin typeface="Arial" panose="020B0604020202020204" pitchFamily="34" charset="0"/>
                <a:cs typeface="Arial" panose="020B0604020202020204" pitchFamily="34" charset="0"/>
              </a:rPr>
              <a:t>only one </a:t>
            </a:r>
            <a:r>
              <a:rPr lang="en-IN" dirty="0">
                <a:solidFill>
                  <a:srgbClr val="0077AA"/>
                </a:solidFill>
                <a:latin typeface="Arial" panose="020B0604020202020204" pitchFamily="34" charset="0"/>
                <a:cs typeface="Arial" panose="020B0604020202020204" pitchFamily="34" charset="0"/>
              </a:rPr>
              <a:t>AUTO_INCREMENT </a:t>
            </a:r>
            <a:r>
              <a:rPr lang="en-IN" dirty="0">
                <a:solidFill>
                  <a:schemeClr val="bg2">
                    <a:lumMod val="10000"/>
                  </a:schemeClr>
                </a:solidFill>
                <a:latin typeface="Arial" panose="020B0604020202020204" pitchFamily="34" charset="0"/>
                <a:cs typeface="Arial" panose="020B0604020202020204" pitchFamily="34" charset="0"/>
              </a:rPr>
              <a:t>column per table. </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column defined with </a:t>
            </a:r>
            <a:r>
              <a:rPr lang="en-US" dirty="0">
                <a:solidFill>
                  <a:srgbClr val="0077AA"/>
                </a:solidFill>
                <a:latin typeface="Arial" panose="020B0604020202020204" pitchFamily="34" charset="0"/>
                <a:cs typeface="Arial" panose="020B0604020202020204" pitchFamily="34" charset="0"/>
              </a:rPr>
              <a:t>AUTO_INCREMENT </a:t>
            </a:r>
            <a:r>
              <a:rPr lang="en-US" b="1" dirty="0">
                <a:solidFill>
                  <a:schemeClr val="bg2">
                    <a:lumMod val="10000"/>
                  </a:schemeClr>
                </a:solidFill>
                <a:latin typeface="Arial" panose="020B0604020202020204" pitchFamily="34" charset="0"/>
                <a:cs typeface="Arial" panose="020B0604020202020204" pitchFamily="34" charset="0"/>
              </a:rPr>
              <a:t>must be indexed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cannot have a </a:t>
            </a:r>
            <a:r>
              <a:rPr lang="en-IN" dirty="0">
                <a:solidFill>
                  <a:srgbClr val="0077AA"/>
                </a:solidFill>
                <a:latin typeface="Arial" panose="020B0604020202020204" pitchFamily="34" charset="0"/>
                <a:cs typeface="Arial" panose="020B0604020202020204" pitchFamily="34" charset="0"/>
              </a:rPr>
              <a:t>DEFAULT</a:t>
            </a:r>
            <a:r>
              <a:rPr lang="en-IN" dirty="0">
                <a:solidFill>
                  <a:schemeClr val="bg2">
                    <a:lumMod val="10000"/>
                  </a:schemeClr>
                </a:solidFill>
                <a:latin typeface="Arial" panose="020B0604020202020204" pitchFamily="34" charset="0"/>
                <a:cs typeface="Arial" panose="020B0604020202020204" pitchFamily="34" charset="0"/>
              </a:rPr>
              <a:t> value. </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contains only </a:t>
            </a:r>
            <a:r>
              <a:rPr lang="en-IN" b="1" dirty="0">
                <a:solidFill>
                  <a:schemeClr val="bg2">
                    <a:lumMod val="10000"/>
                  </a:schemeClr>
                </a:solidFill>
                <a:latin typeface="Arial" panose="020B0604020202020204" pitchFamily="34" charset="0"/>
                <a:cs typeface="Arial" panose="020B0604020202020204" pitchFamily="34" charset="0"/>
              </a:rPr>
              <a:t>positive values</a:t>
            </a:r>
            <a:r>
              <a:rPr lang="en-IN" dirty="0">
                <a:solidFill>
                  <a:schemeClr val="bg2">
                    <a:lumMod val="10000"/>
                  </a:schemeClr>
                </a:solidFill>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works only with </a:t>
            </a:r>
            <a:r>
              <a:rPr lang="en-US" b="1" dirty="0">
                <a:solidFill>
                  <a:schemeClr val="bg2">
                    <a:lumMod val="10000"/>
                  </a:schemeClr>
                </a:solidFill>
                <a:latin typeface="Arial" panose="020B0604020202020204" pitchFamily="34" charset="0"/>
                <a:cs typeface="Arial" panose="020B0604020202020204" pitchFamily="34" charset="0"/>
              </a:rPr>
              <a:t>integer types </a:t>
            </a:r>
            <a:r>
              <a:rPr lang="en-US" dirty="0">
                <a:solidFill>
                  <a:schemeClr val="bg2">
                    <a:lumMod val="10000"/>
                  </a:schemeClr>
                </a:solidFill>
                <a:latin typeface="Arial" panose="020B0604020202020204" pitchFamily="34" charset="0"/>
                <a:cs typeface="Arial" panose="020B0604020202020204" pitchFamily="34" charset="0"/>
              </a:rPr>
              <a:t>(TINYINT, SMALLINT, INT, BIGINT . . .)</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you insert a value of </a:t>
            </a:r>
            <a:r>
              <a:rPr lang="en-IN" dirty="0">
                <a:solidFill>
                  <a:srgbClr val="A67F59"/>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or </a:t>
            </a:r>
            <a:r>
              <a:rPr lang="en-IN" dirty="0">
                <a:solidFill>
                  <a:srgbClr val="990055"/>
                </a:solidFill>
                <a:latin typeface="Arial" panose="020B0604020202020204" pitchFamily="34" charset="0"/>
                <a:cs typeface="Arial" panose="020B0604020202020204" pitchFamily="34" charset="0"/>
              </a:rPr>
              <a:t>0</a:t>
            </a:r>
            <a:r>
              <a:rPr lang="en-IN" dirty="0">
                <a:latin typeface="Arial" panose="020B0604020202020204" pitchFamily="34" charset="0"/>
                <a:cs typeface="Arial" panose="020B0604020202020204" pitchFamily="34" charset="0"/>
              </a:rPr>
              <a:t> into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column, it generates </a:t>
            </a:r>
            <a:r>
              <a:rPr lang="en-IN" b="1" dirty="0">
                <a:latin typeface="Arial" panose="020B0604020202020204" pitchFamily="34" charset="0"/>
                <a:cs typeface="Arial" panose="020B0604020202020204" pitchFamily="34" charset="0"/>
              </a:rPr>
              <a:t>next value</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a row is deleted or a transaction is rolled back, the auto_increment number is not reused.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Truncating a table </a:t>
            </a:r>
            <a:r>
              <a:rPr lang="en-US" b="1" dirty="0">
                <a:latin typeface="Arial" panose="020B0604020202020204" pitchFamily="34" charset="0"/>
                <a:cs typeface="Arial" panose="020B0604020202020204" pitchFamily="34" charset="0"/>
              </a:rPr>
              <a:t>resets</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back to </a:t>
            </a:r>
            <a:r>
              <a:rPr lang="en-US" dirty="0">
                <a:solidFill>
                  <a:srgbClr val="990055"/>
                </a:solidFill>
                <a:latin typeface="Arial" panose="020B0604020202020204" pitchFamily="34" charset="0"/>
                <a:cs typeface="Arial" panose="020B0604020202020204" pitchFamily="34" charset="0"/>
              </a:rPr>
              <a:t>1</a:t>
            </a:r>
            <a:r>
              <a:rPr lang="en-US"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you insert multiple rows in one INSERT, each row gets a </a:t>
            </a:r>
            <a:r>
              <a:rPr lang="en-US" b="1" dirty="0">
                <a:latin typeface="Arial" panose="020B0604020202020204" pitchFamily="34" charset="0"/>
                <a:cs typeface="Arial" panose="020B0604020202020204" pitchFamily="34" charset="0"/>
              </a:rPr>
              <a:t>different value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i="1" dirty="0">
                <a:latin typeface="Arial" panose="020B0604020202020204" pitchFamily="34" charset="0"/>
                <a:cs typeface="Arial" panose="020B0604020202020204" pitchFamily="34" charset="0"/>
              </a:rPr>
              <a:t>use LAST_INSERT_ID</a:t>
            </a:r>
            <a:r>
              <a:rPr lang="en-IN" dirty="0">
                <a:latin typeface="Arial" panose="020B0604020202020204" pitchFamily="34" charset="0"/>
                <a:cs typeface="Arial" panose="020B0604020202020204" pitchFamily="34" charset="0"/>
              </a:rPr>
              <a:t>() function to find the row that contains the most recent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value.</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t>
            </a: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directly with a </a:t>
            </a:r>
            <a:r>
              <a:rPr lang="en-US" dirty="0">
                <a:solidFill>
                  <a:srgbClr val="0077AA"/>
                </a:solidFill>
                <a:latin typeface="Arial" panose="020B0604020202020204" pitchFamily="34" charset="0"/>
                <a:cs typeface="Arial" panose="020B0604020202020204" pitchFamily="34" charset="0"/>
              </a:rPr>
              <a:t>GENERATED ALWAYS AS</a:t>
            </a:r>
            <a:r>
              <a:rPr lang="en-US" dirty="0">
                <a:solidFill>
                  <a:schemeClr val="bg2">
                    <a:lumMod val="10000"/>
                  </a:schemeClr>
                </a:solidFill>
                <a:latin typeface="Arial" panose="020B0604020202020204" pitchFamily="34" charset="0"/>
                <a:cs typeface="Arial" panose="020B0604020202020204" pitchFamily="34" charset="0"/>
              </a:rPr>
              <a:t> column.</a:t>
            </a:r>
            <a:endParaRPr lang="en-IN" dirty="0">
              <a:solidFill>
                <a:schemeClr val="bg2">
                  <a:lumMod val="10000"/>
                </a:schemeClr>
              </a:solidFill>
              <a:latin typeface="Arial" panose="020B0604020202020204" pitchFamily="34" charset="0"/>
              <a:cs typeface="Arial" panose="020B0604020202020204" pitchFamily="34" charset="0"/>
            </a:endParaRPr>
          </a:p>
        </p:txBody>
      </p:sp>
      <p:cxnSp>
        <p:nvCxnSpPr>
          <p:cNvPr id="9" name="Straight Connector 8">
            <a:extLst>
              <a:ext uri="{FF2B5EF4-FFF2-40B4-BE49-F238E27FC236}">
                <a16:creationId xmlns:a16="http://schemas.microsoft.com/office/drawing/2014/main" id="{D0BCAD2D-B4B7-43B9-98C0-BC8293CDF95E}"/>
              </a:ext>
            </a:extLst>
          </p:cNvPr>
          <p:cNvCxnSpPr/>
          <p:nvPr/>
        </p:nvCxnSpPr>
        <p:spPr>
          <a:xfrm>
            <a:off x="412537" y="4714110"/>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705CC873-45B4-45BA-B3B3-0963F6A2026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2CCD5262-11B2-48D4-A5DA-15C822C234DF}"/>
              </a:ext>
            </a:extLst>
          </p:cNvPr>
          <p:cNvSpPr/>
          <p:nvPr/>
        </p:nvSpPr>
        <p:spPr>
          <a:xfrm>
            <a:off x="8651777" y="622429"/>
            <a:ext cx="3348879" cy="646331"/>
          </a:xfrm>
          <a:prstGeom prst="rect">
            <a:avLst/>
          </a:prstGeom>
          <a:solidFill>
            <a:schemeClr val="bg1"/>
          </a:solidFill>
        </p:spPr>
        <p:txBody>
          <a:bodyPr wrap="square">
            <a:spAutoFit/>
          </a:bodyPr>
          <a:lstStyle/>
          <a:p>
            <a:r>
              <a:rPr lang="en-IN" b="1" i="1" dirty="0">
                <a:latin typeface="Palatino Linotype" panose="02040502050505030304" pitchFamily="18" charset="0"/>
                <a:ea typeface="Times New Roman" panose="02020603050405020304" pitchFamily="18" charset="0"/>
                <a:cs typeface="Arial" panose="020B0604020202020204" pitchFamily="34" charset="0"/>
              </a:rPr>
              <a:t>IDENTITY</a:t>
            </a:r>
            <a:r>
              <a:rPr lang="en-IN" dirty="0">
                <a:latin typeface="Palatino Linotype" panose="02040502050505030304" pitchFamily="18" charset="0"/>
                <a:ea typeface="Times New Roman" panose="0202060305040502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 synonym to the </a:t>
            </a:r>
            <a:r>
              <a:rPr lang="en-IN" b="1" i="1" dirty="0">
                <a:latin typeface="Palatino Linotype" panose="02040502050505030304" pitchFamily="18" charset="0"/>
                <a:ea typeface="Times New Roman" panose="02020603050405020304" pitchFamily="18" charset="0"/>
                <a:cs typeface="Arial" panose="020B0604020202020204" pitchFamily="34" charset="0"/>
              </a:rPr>
              <a:t>LAST_INSERT_ID</a:t>
            </a:r>
            <a:r>
              <a:rPr lang="en-IN" b="1"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variable.</a:t>
            </a:r>
          </a:p>
        </p:txBody>
      </p:sp>
      <p:sp>
        <p:nvSpPr>
          <p:cNvPr id="4" name="Rectangle 3">
            <a:extLst>
              <a:ext uri="{FF2B5EF4-FFF2-40B4-BE49-F238E27FC236}">
                <a16:creationId xmlns:a16="http://schemas.microsoft.com/office/drawing/2014/main" id="{4137F616-44E5-49F0-BBCE-B21B854137A7}"/>
              </a:ext>
            </a:extLst>
          </p:cNvPr>
          <p:cNvSpPr/>
          <p:nvPr/>
        </p:nvSpPr>
        <p:spPr>
          <a:xfrm>
            <a:off x="27217" y="755412"/>
            <a:ext cx="8157016"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UNIQUE</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chemeClr val="bg1">
                    <a:lumMod val="65000"/>
                  </a:schemeClr>
                </a:solidFill>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PRIMARY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DADBB7BA-C44B-9070-4E40-0F9B8C3FF488}"/>
              </a:ext>
            </a:extLst>
          </p:cNvPr>
          <p:cNvGrpSpPr/>
          <p:nvPr/>
        </p:nvGrpSpPr>
        <p:grpSpPr>
          <a:xfrm>
            <a:off x="263350" y="5659606"/>
            <a:ext cx="11598459" cy="1200329"/>
            <a:chOff x="546478" y="5036983"/>
            <a:chExt cx="11315331" cy="1200329"/>
          </a:xfrm>
        </p:grpSpPr>
        <p:sp>
          <p:nvSpPr>
            <p:cNvPr id="3" name="Rectangle 2"/>
            <p:cNvSpPr/>
            <p:nvPr/>
          </p:nvSpPr>
          <p:spPr>
            <a:xfrm>
              <a:off x="546478" y="5036983"/>
              <a:ext cx="3445381" cy="1015663"/>
            </a:xfrm>
            <a:prstGeom prst="rect">
              <a:avLst/>
            </a:prstGeom>
          </p:spPr>
          <p:txBody>
            <a:bodyPr wrap="square">
              <a:spAutoFit/>
            </a:bodyPr>
            <a:lstStyle/>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latin typeface="Arial" panose="020B0604020202020204" pitchFamily="34" charset="0"/>
                  <a:cs typeface="Arial" panose="020B0604020202020204" pitchFamily="34" charset="0"/>
                </a:rPr>
                <a:t> </a:t>
              </a:r>
              <a:r>
                <a:rPr lang="en-IN" sz="1700" i="1" dirty="0">
                  <a:solidFill>
                    <a:srgbClr val="EE9900"/>
                  </a:solidFill>
                  <a:latin typeface="Arial" panose="020B0604020202020204" pitchFamily="34" charset="0"/>
                  <a:cs typeface="Arial" panose="020B0604020202020204" pitchFamily="34" charset="0"/>
                </a:rPr>
                <a:t>@@</a:t>
              </a:r>
              <a:r>
                <a:rPr lang="en-IN" sz="1700" dirty="0">
                  <a:solidFill>
                    <a:schemeClr val="accent6">
                      <a:lumMod val="50000"/>
                    </a:schemeClr>
                  </a:solidFill>
                  <a:latin typeface="Arial" panose="020B0604020202020204" pitchFamily="34" charset="0"/>
                  <a:cs typeface="Arial" panose="020B0604020202020204" pitchFamily="34" charset="0"/>
                </a:rPr>
                <a:t>IDENTITY</a:t>
              </a:r>
              <a:endParaRPr lang="en-IN" sz="1700" dirty="0">
                <a:solidFill>
                  <a:schemeClr val="accent6">
                    <a:lumMod val="50000"/>
                  </a:schemeClr>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LAST_INSERT_ID</a:t>
              </a:r>
              <a:r>
                <a:rPr lang="en-IN" sz="1700"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INSERT_</a:t>
              </a:r>
              <a:r>
                <a:rPr lang="en-IN" sz="1700" dirty="0">
                  <a:latin typeface="Arial" panose="020B0604020202020204" pitchFamily="34" charset="0"/>
                  <a:cs typeface="Arial" panose="020B0604020202020204" pitchFamily="34" charset="0"/>
                </a:rPr>
                <a:t>ID </a:t>
              </a:r>
              <a:r>
                <a:rPr lang="en-IN" dirty="0">
                  <a:solidFill>
                    <a:schemeClr val="accent5">
                      <a:lumMod val="75000"/>
                    </a:schemeClr>
                  </a:solidFill>
                  <a:latin typeface="Arial" panose="020B0604020202020204" pitchFamily="34" charset="0"/>
                  <a:cs typeface="Arial" panose="020B0604020202020204" pitchFamily="34" charset="0"/>
                </a:rPr>
                <a:t>=</a:t>
              </a:r>
              <a:r>
                <a:rPr lang="en-IN" sz="1700" dirty="0">
                  <a:latin typeface="Arial" panose="020B0604020202020204" pitchFamily="34" charset="0"/>
                  <a:cs typeface="Arial" panose="020B0604020202020204" pitchFamily="34" charset="0"/>
                </a:rPr>
                <a:t> </a:t>
              </a:r>
              <a:r>
                <a:rPr lang="en-IN" dirty="0">
                  <a:solidFill>
                    <a:srgbClr val="990055"/>
                  </a:solidFill>
                  <a:latin typeface="Liberation Mono"/>
                </a:rPr>
                <a:t>7</a:t>
              </a:r>
            </a:p>
          </p:txBody>
        </p:sp>
        <p:sp>
          <p:nvSpPr>
            <p:cNvPr id="11" name="TextBox 10">
              <a:extLst>
                <a:ext uri="{FF2B5EF4-FFF2-40B4-BE49-F238E27FC236}">
                  <a16:creationId xmlns:a16="http://schemas.microsoft.com/office/drawing/2014/main" id="{59A9FDF7-EEB2-4C6D-979A-74242DC5F03A}"/>
                </a:ext>
              </a:extLst>
            </p:cNvPr>
            <p:cNvSpPr txBox="1"/>
            <p:nvPr/>
          </p:nvSpPr>
          <p:spPr>
            <a:xfrm>
              <a:off x="4871865" y="5036983"/>
              <a:ext cx="698994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 (</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UNIQUE</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auto_number will start with value 2.</a:t>
              </a:r>
              <a:endParaRPr lang="en-IN" dirty="0">
                <a:latin typeface="Liberation Mono"/>
                <a:cs typeface="Arial" panose="020B0604020202020204" pitchFamily="34" charset="0"/>
              </a:endParaRPr>
            </a:p>
          </p:txBody>
        </p:sp>
      </p:grpSp>
      <p:sp>
        <p:nvSpPr>
          <p:cNvPr id="12" name="TextBox 11">
            <a:extLst>
              <a:ext uri="{FF2B5EF4-FFF2-40B4-BE49-F238E27FC236}">
                <a16:creationId xmlns:a16="http://schemas.microsoft.com/office/drawing/2014/main" id="{1C06E04D-2050-8663-40BA-1E16CD154607}"/>
              </a:ext>
            </a:extLst>
          </p:cNvPr>
          <p:cNvSpPr txBox="1"/>
          <p:nvPr/>
        </p:nvSpPr>
        <p:spPr>
          <a:xfrm>
            <a:off x="191344" y="137870"/>
            <a:ext cx="5760639" cy="400110"/>
          </a:xfrm>
          <a:prstGeom prst="rect">
            <a:avLst/>
          </a:prstGeom>
          <a:solidFill>
            <a:schemeClr val="accent3">
              <a:lumMod val="40000"/>
              <a:lumOff val="60000"/>
            </a:schemeClr>
          </a:solidFill>
        </p:spPr>
        <p:txBody>
          <a:bodyPr wrap="square">
            <a:spAutoFit/>
          </a:bodyPr>
          <a:lstStyle>
            <a:defPPr>
              <a:defRPr lang="en-US"/>
            </a:defPPr>
            <a:lvl1pPr>
              <a:defRPr sz="2000">
                <a:latin typeface="Arial" panose="020B0604020202020204" pitchFamily="34" charset="0"/>
                <a:cs typeface="Arial" panose="020B0604020202020204" pitchFamily="34" charset="0"/>
              </a:defRPr>
            </a:lvl1pPr>
          </a:lstStyle>
          <a:p>
            <a:r>
              <a:rPr lang="en-IN" dirty="0"/>
              <a:t>Gap occurs when :- </a:t>
            </a:r>
            <a:r>
              <a:rPr lang="en-US" dirty="0"/>
              <a:t>INSERT fails or is rolled back</a:t>
            </a:r>
            <a:endParaRPr lang="en-IN" dirty="0"/>
          </a:p>
        </p:txBody>
      </p:sp>
      <p:sp>
        <p:nvSpPr>
          <p:cNvPr id="6" name="TextBox 5">
            <a:extLst>
              <a:ext uri="{FF2B5EF4-FFF2-40B4-BE49-F238E27FC236}">
                <a16:creationId xmlns:a16="http://schemas.microsoft.com/office/drawing/2014/main" id="{0A5D5A68-5CA5-E8FD-2352-2D696B5A2987}"/>
              </a:ext>
            </a:extLst>
          </p:cNvPr>
          <p:cNvSpPr txBox="1"/>
          <p:nvPr/>
        </p:nvSpPr>
        <p:spPr>
          <a:xfrm>
            <a:off x="263350" y="4765695"/>
            <a:ext cx="11915231"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200519038"/>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auto_increment </a:t>
            </a:r>
            <a:r>
              <a:rPr lang="en-US" dirty="0"/>
              <a:t>specifies a </a:t>
            </a:r>
            <a:r>
              <a:rPr lang="en-US" b="1" dirty="0"/>
              <a:t> auto_increment </a:t>
            </a:r>
            <a:r>
              <a:rPr lang="en-US" dirty="0"/>
              <a:t>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AB23FA4-579C-49F6-970F-BA30755F4559}"/>
              </a:ext>
            </a:extLst>
          </p:cNvPr>
          <p:cNvSpPr txBox="1"/>
          <p:nvPr/>
        </p:nvSpPr>
        <p:spPr>
          <a:xfrm>
            <a:off x="263352" y="1288500"/>
            <a:ext cx="543877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F48E34A2-DE3C-4E9F-88EF-700EA030E40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1F98988A-0DD1-46A5-90C6-97C71E134310}"/>
              </a:ext>
            </a:extLst>
          </p:cNvPr>
          <p:cNvSpPr txBox="1"/>
          <p:nvPr/>
        </p:nvSpPr>
        <p:spPr>
          <a:xfrm>
            <a:off x="268693" y="3402866"/>
            <a:ext cx="60960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comments(</a:t>
            </a:r>
          </a:p>
          <a:p>
            <a:pPr marL="273050"/>
            <a:r>
              <a:rPr lang="en-IN" dirty="0">
                <a:latin typeface="Liberation Mono"/>
                <a:cs typeface="Arial" panose="020B0604020202020204" pitchFamily="34" charset="0"/>
              </a:rPr>
              <a:t>   commentID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 );</a:t>
            </a:r>
          </a:p>
        </p:txBody>
      </p:sp>
      <p:grpSp>
        <p:nvGrpSpPr>
          <p:cNvPr id="4" name="Group 3">
            <a:extLst>
              <a:ext uri="{FF2B5EF4-FFF2-40B4-BE49-F238E27FC236}">
                <a16:creationId xmlns:a16="http://schemas.microsoft.com/office/drawing/2014/main" id="{814D3408-E7F2-451E-9B7A-1F6F77F510C2}"/>
              </a:ext>
            </a:extLst>
          </p:cNvPr>
          <p:cNvGrpSpPr/>
          <p:nvPr/>
        </p:nvGrpSpPr>
        <p:grpSpPr>
          <a:xfrm>
            <a:off x="5663952" y="1390604"/>
            <a:ext cx="6369463" cy="1652222"/>
            <a:chOff x="5663952" y="1390604"/>
            <a:chExt cx="6369463" cy="1652222"/>
          </a:xfrm>
        </p:grpSpPr>
        <p:pic>
          <p:nvPicPr>
            <p:cNvPr id="2" name="Picture 1">
              <a:extLst>
                <a:ext uri="{FF2B5EF4-FFF2-40B4-BE49-F238E27FC236}">
                  <a16:creationId xmlns:a16="http://schemas.microsoft.com/office/drawing/2014/main" id="{42213549-6ACD-4D20-BA9D-E697AAF9B8A9}"/>
                </a:ext>
              </a:extLst>
            </p:cNvPr>
            <p:cNvPicPr>
              <a:picLocks noChangeAspect="1"/>
            </p:cNvPicPr>
            <p:nvPr/>
          </p:nvPicPr>
          <p:blipFill>
            <a:blip r:embed="rId3"/>
            <a:stretch>
              <a:fillRect/>
            </a:stretch>
          </p:blipFill>
          <p:spPr>
            <a:xfrm>
              <a:off x="5663952" y="1390604"/>
              <a:ext cx="6336704" cy="1652222"/>
            </a:xfrm>
            <a:prstGeom prst="rect">
              <a:avLst/>
            </a:prstGeom>
          </p:spPr>
        </p:pic>
        <p:sp>
          <p:nvSpPr>
            <p:cNvPr id="11" name="Rectangle 10">
              <a:extLst>
                <a:ext uri="{FF2B5EF4-FFF2-40B4-BE49-F238E27FC236}">
                  <a16:creationId xmlns:a16="http://schemas.microsoft.com/office/drawing/2014/main" id="{A2388BD4-75F9-4B7C-ADDB-5AF75B4B8574}"/>
                </a:ext>
              </a:extLst>
            </p:cNvPr>
            <p:cNvSpPr/>
            <p:nvPr/>
          </p:nvSpPr>
          <p:spPr>
            <a:xfrm>
              <a:off x="5696711" y="1797106"/>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6" name="Group 5">
            <a:extLst>
              <a:ext uri="{FF2B5EF4-FFF2-40B4-BE49-F238E27FC236}">
                <a16:creationId xmlns:a16="http://schemas.microsoft.com/office/drawing/2014/main" id="{50ED2E05-4E2B-47D2-8882-E531B4E4F514}"/>
              </a:ext>
            </a:extLst>
          </p:cNvPr>
          <p:cNvGrpSpPr/>
          <p:nvPr/>
        </p:nvGrpSpPr>
        <p:grpSpPr>
          <a:xfrm>
            <a:off x="5658318" y="3737360"/>
            <a:ext cx="6375097" cy="1707864"/>
            <a:chOff x="5658318" y="4457440"/>
            <a:chExt cx="6375097" cy="1707864"/>
          </a:xfrm>
        </p:grpSpPr>
        <p:pic>
          <p:nvPicPr>
            <p:cNvPr id="3" name="Picture 2">
              <a:extLst>
                <a:ext uri="{FF2B5EF4-FFF2-40B4-BE49-F238E27FC236}">
                  <a16:creationId xmlns:a16="http://schemas.microsoft.com/office/drawing/2014/main" id="{432986EB-B6D7-4260-ABD9-151369DB6CCE}"/>
                </a:ext>
              </a:extLst>
            </p:cNvPr>
            <p:cNvPicPr>
              <a:picLocks noChangeAspect="1"/>
            </p:cNvPicPr>
            <p:nvPr/>
          </p:nvPicPr>
          <p:blipFill>
            <a:blip r:embed="rId4"/>
            <a:stretch>
              <a:fillRect/>
            </a:stretch>
          </p:blipFill>
          <p:spPr>
            <a:xfrm>
              <a:off x="5658318" y="4457440"/>
              <a:ext cx="6375097" cy="1707864"/>
            </a:xfrm>
            <a:prstGeom prst="rect">
              <a:avLst/>
            </a:prstGeom>
          </p:spPr>
        </p:pic>
        <p:sp>
          <p:nvSpPr>
            <p:cNvPr id="12" name="Rectangle 11">
              <a:extLst>
                <a:ext uri="{FF2B5EF4-FFF2-40B4-BE49-F238E27FC236}">
                  <a16:creationId xmlns:a16="http://schemas.microsoft.com/office/drawing/2014/main" id="{AD22C143-5022-4613-8FDE-F7AAF158A6B7}"/>
                </a:ext>
              </a:extLst>
            </p:cNvPr>
            <p:cNvSpPr/>
            <p:nvPr/>
          </p:nvSpPr>
          <p:spPr>
            <a:xfrm>
              <a:off x="5696711" y="4851959"/>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79CABD19-0F30-F371-A5AA-E27ACACBAF73}"/>
              </a:ext>
            </a:extLst>
          </p:cNvPr>
          <p:cNvSpPr txBox="1"/>
          <p:nvPr/>
        </p:nvSpPr>
        <p:spPr>
          <a:xfrm>
            <a:off x="102383" y="5851726"/>
            <a:ext cx="11987238" cy="738664"/>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6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714751360"/>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80408"/>
            <a:ext cx="11377264" cy="1446550"/>
          </a:xfrm>
          <a:prstGeom prst="rect">
            <a:avLst/>
          </a:prstGeom>
          <a:noFill/>
        </p:spPr>
        <p:txBody>
          <a:bodyPr wrap="square">
            <a:spAutoFit/>
          </a:bodyPr>
          <a:lstStyle/>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auto_increment_increment</a:t>
            </a:r>
            <a:r>
              <a:rPr lang="en-IN" sz="2000" dirty="0">
                <a:latin typeface="Calibri" panose="020F0502020204030204" pitchFamily="34" charset="0"/>
                <a:cs typeface="Calibri" panose="020F0502020204030204" pitchFamily="34" charset="0"/>
              </a:rPr>
              <a:t> – is the incremental value, controls the interval between successive column values.</a:t>
            </a:r>
          </a:p>
          <a:p>
            <a:pPr marL="285750" indent="-285750">
              <a:buFont typeface="Arial" panose="020B0604020202020204" pitchFamily="34" charset="0"/>
              <a:buChar char="•"/>
            </a:pPr>
            <a:endParaRPr lang="en-IN" sz="800" dirty="0">
              <a:latin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auto_increment_offset</a:t>
            </a:r>
            <a:r>
              <a:rPr lang="en-IN" sz="2000" dirty="0">
                <a:latin typeface="Calibri" panose="020F0502020204030204" pitchFamily="34" charset="0"/>
                <a:cs typeface="Calibri" panose="020F0502020204030204" pitchFamily="34" charset="0"/>
              </a:rPr>
              <a:t> – determines the starting value for the AUTO_INCREMENT field; this value is used for the first record inserted into the table.</a:t>
            </a:r>
          </a:p>
        </p:txBody>
      </p:sp>
      <p:sp>
        <p:nvSpPr>
          <p:cNvPr id="6" name="Rectangle 5"/>
          <p:cNvSpPr/>
          <p:nvPr/>
        </p:nvSpPr>
        <p:spPr>
          <a:xfrm>
            <a:off x="407368" y="2691497"/>
            <a:ext cx="8839200" cy="1169551"/>
          </a:xfrm>
          <a:prstGeom prst="rect">
            <a:avLst/>
          </a:prstGeom>
          <a:noFill/>
        </p:spPr>
        <p:txBody>
          <a:bodyPr wrap="square">
            <a:spAutoFit/>
          </a:bodyPr>
          <a:lstStyle/>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@@auto_increment_offset</a:t>
            </a:r>
            <a:r>
              <a:rPr lang="da-DK" dirty="0">
                <a:solidFill>
                  <a:srgbClr val="A67F59"/>
                </a:solidFill>
                <a:effectLst/>
                <a:latin typeface="Liberation Mono"/>
              </a:rPr>
              <a:t>=</a:t>
            </a:r>
            <a:r>
              <a:rPr lang="da-DK" dirty="0">
                <a:solidFill>
                  <a:srgbClr val="990055"/>
                </a:solidFill>
                <a:effectLst/>
                <a:latin typeface="Liberation Mono"/>
              </a:rPr>
              <a:t>5</a:t>
            </a:r>
            <a:r>
              <a:rPr lang="da-DK" dirty="0">
                <a:solidFill>
                  <a:srgbClr val="999999"/>
                </a:solidFill>
                <a:effectLst/>
                <a:latin typeface="Liberation Mono"/>
              </a:rPr>
              <a:t>;</a:t>
            </a:r>
            <a:endParaRPr lang="en-IN" dirty="0">
              <a:solidFill>
                <a:srgbClr val="990055"/>
              </a:solidFill>
              <a:effectLst/>
              <a:latin typeface="Liberation Mono"/>
              <a:cs typeface="Arial" panose="020B0604020202020204" pitchFamily="34" charset="0"/>
            </a:endParaRPr>
          </a:p>
          <a:p>
            <a:pPr marL="342900" indent="-342900">
              <a:buFont typeface="Arial" panose="020B0604020202020204" pitchFamily="34" charset="0"/>
              <a:buChar char="•"/>
            </a:pPr>
            <a:endParaRPr lang="da-DK" sz="800" dirty="0">
              <a:solidFill>
                <a:srgbClr val="0077AA"/>
              </a:solidFill>
              <a:effectLst/>
              <a:latin typeface="Liberation Mono"/>
            </a:endParaRPr>
          </a:p>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@@auto_increment_increment</a:t>
            </a:r>
            <a:r>
              <a:rPr lang="da-DK" dirty="0">
                <a:solidFill>
                  <a:srgbClr val="A67F59"/>
                </a:solidFill>
                <a:effectLst/>
                <a:latin typeface="Liberation Mono"/>
              </a:rPr>
              <a:t>=</a:t>
            </a:r>
            <a:r>
              <a:rPr lang="da-DK" dirty="0">
                <a:solidFill>
                  <a:srgbClr val="990055"/>
                </a:solidFill>
                <a:effectLst/>
                <a:latin typeface="Liberation Mono"/>
              </a:rPr>
              <a:t>10</a:t>
            </a:r>
            <a:r>
              <a:rPr lang="da-DK" dirty="0">
                <a:solidFill>
                  <a:srgbClr val="999999"/>
                </a:solidFill>
                <a:effectLst/>
                <a:latin typeface="Liberation Mono"/>
              </a:rPr>
              <a:t>;</a:t>
            </a:r>
            <a:endParaRPr lang="en-IN" dirty="0">
              <a:solidFill>
                <a:srgbClr val="990055"/>
              </a:solidFill>
              <a:latin typeface="Liberation Mono"/>
              <a:cs typeface="Arial" panose="020B0604020202020204" pitchFamily="34" charset="0"/>
            </a:endParaRPr>
          </a:p>
          <a:p>
            <a:endParaRPr lang="en-IN" sz="800" dirty="0">
              <a:solidFill>
                <a:srgbClr val="92D050"/>
              </a:solidFill>
              <a:latin typeface="Liberation Mono"/>
            </a:endParaRPr>
          </a:p>
          <a:p>
            <a:pPr marL="342900" indent="-34290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r>
              <a:rPr lang="en-IN" dirty="0">
                <a:solidFill>
                  <a:srgbClr val="E0D612"/>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21EEFBC7-2535-E0C9-1AFA-6E093FE8E235}"/>
              </a:ext>
            </a:extLst>
          </p:cNvPr>
          <p:cNvSpPr/>
          <p:nvPr/>
        </p:nvSpPr>
        <p:spPr>
          <a:xfrm>
            <a:off x="480935" y="4450467"/>
            <a:ext cx="11173864" cy="1138773"/>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800"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If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set is greater than that of </a:t>
            </a:r>
            <a:r>
              <a:rPr lang="en-US" dirty="0">
                <a:solidFill>
                  <a:srgbClr val="EE9900"/>
                </a:solidFill>
                <a:latin typeface="Arial" panose="020B0604020202020204" pitchFamily="34" charset="0"/>
                <a:cs typeface="Arial" panose="020B0604020202020204" pitchFamily="34" charset="0"/>
              </a:rPr>
              <a:t>auto_increment_increment</a:t>
            </a:r>
            <a:r>
              <a:rPr lang="en-US" dirty="0">
                <a:solidFill>
                  <a:schemeClr val="bg2">
                    <a:lumMod val="10000"/>
                  </a:schemeClr>
                </a:solidFill>
                <a:latin typeface="Arial" panose="020B0604020202020204" pitchFamily="34" charset="0"/>
                <a:cs typeface="Arial" panose="020B0604020202020204" pitchFamily="34" charset="0"/>
              </a:rPr>
              <a:t>, the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is </a:t>
            </a:r>
            <a:r>
              <a:rPr lang="en-US" sz="2000" dirty="0">
                <a:solidFill>
                  <a:srgbClr val="C00000"/>
                </a:solidFill>
                <a:latin typeface="Arial" panose="020B0604020202020204" pitchFamily="34" charset="0"/>
                <a:cs typeface="Arial" panose="020B0604020202020204" pitchFamily="34" charset="0"/>
              </a:rPr>
              <a:t>ignored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67731828"/>
      </p:ext>
    </p:extLst>
  </p:cSld>
  <p:clrMapOvr>
    <a:masterClrMapping/>
  </p:clrMapOvr>
  <p:transition/>
</p:sld>
</file>

<file path=ppt/slides/slide2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3" name="Rectangle 2"/>
          <p:cNvSpPr/>
          <p:nvPr/>
        </p:nvSpPr>
        <p:spPr>
          <a:xfrm>
            <a:off x="1676400" y="762001"/>
            <a:ext cx="8839200" cy="1200329"/>
          </a:xfrm>
          <a:prstGeom prst="rect">
            <a:avLst/>
          </a:prstGeom>
          <a:noFill/>
        </p:spPr>
        <p:txBody>
          <a:bodyPr wrap="square">
            <a:spAutoFit/>
          </a:bodyPr>
          <a:lstStyle/>
          <a:p>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affects handling of </a:t>
            </a:r>
            <a:r>
              <a:rPr lang="en-IN" i="1" dirty="0">
                <a:latin typeface="Liberation Mono"/>
                <a:cs typeface="Arial" panose="020B0604020202020204" pitchFamily="34" charset="0"/>
              </a:rPr>
              <a:t>AUTO_INCREMENT</a:t>
            </a:r>
            <a:r>
              <a:rPr lang="en-IN" dirty="0">
                <a:latin typeface="Liberation Mono"/>
                <a:cs typeface="Arial" panose="020B0604020202020204" pitchFamily="34" charset="0"/>
              </a:rPr>
              <a:t> columns. Normally, you generate the next sequence number for the column by inserting either NULL or 0 into it. </a:t>
            </a:r>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suppresses this behaviour for 0 so that only NULL generates the next sequence number.</a:t>
            </a:r>
          </a:p>
        </p:txBody>
      </p:sp>
      <p:sp>
        <p:nvSpPr>
          <p:cNvPr id="5" name="Rectangle 4"/>
          <p:cNvSpPr/>
          <p:nvPr/>
        </p:nvSpPr>
        <p:spPr>
          <a:xfrm>
            <a:off x="1676400" y="2429471"/>
            <a:ext cx="8839200" cy="785343"/>
          </a:xfrm>
          <a:prstGeom prst="rect">
            <a:avLst/>
          </a:prstGeom>
          <a:solidFill>
            <a:schemeClr val="accent4">
              <a:lumMod val="40000"/>
              <a:lumOff val="60000"/>
            </a:schemeClr>
          </a:solidFill>
        </p:spPr>
        <p:txBody>
          <a:bodyPr wrap="square">
            <a:spAutoFit/>
          </a:bodyPr>
          <a:lstStyle/>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a:t>
            </a:r>
          </a:p>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'NO_AUTO_VALUE_ON_ZERO';</a:t>
            </a:r>
          </a:p>
        </p:txBody>
      </p:sp>
    </p:spTree>
    <p:extLst>
      <p:ext uri="{BB962C8B-B14F-4D97-AF65-F5344CB8AC3E}">
        <p14:creationId xmlns:p14="http://schemas.microsoft.com/office/powerpoint/2010/main" val="3177179872"/>
      </p:ext>
    </p:extLst>
  </p:cSld>
  <p:clrMapOvr>
    <a:masterClrMapping/>
  </p:clrMapOvr>
  <p:transition/>
</p:sld>
</file>

<file path=ppt/slides/slide2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777478"/>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generated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79560E6C-F891-48A7-932E-505EAA3E2AFC}"/>
              </a:ext>
            </a:extLst>
          </p:cNvPr>
          <p:cNvSpPr/>
          <p:nvPr/>
        </p:nvSpPr>
        <p:spPr>
          <a:xfrm>
            <a:off x="203967" y="5805264"/>
            <a:ext cx="11784066" cy="1107996"/>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US" sz="2200" dirty="0">
                <a:solidFill>
                  <a:srgbClr val="FF0000"/>
                </a:solidFill>
                <a:latin typeface="Arial" panose="020B0604020202020204" pitchFamily="34" charset="0"/>
                <a:cs typeface="Arial" panose="020B0604020202020204" pitchFamily="34" charset="0"/>
              </a:rPr>
              <a:t>Note: </a:t>
            </a:r>
          </a:p>
          <a:p>
            <a:endParaRPr lang="en-US" sz="6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expression can contain literals, built-in functions with no parameters, operators, or references to any column within the same table. If you use a function, it must be scalar and deterministic.</a:t>
            </a:r>
            <a:endParaRPr lang="en-IN" dirty="0">
              <a:solidFill>
                <a:schemeClr val="bg2">
                  <a:lumMod val="1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3E56605D-CA1A-41BE-BAEA-DBBFDF4E143C}"/>
              </a:ext>
            </a:extLst>
          </p:cNvPr>
          <p:cNvSpPr/>
          <p:nvPr/>
        </p:nvSpPr>
        <p:spPr>
          <a:xfrm>
            <a:off x="203967" y="116632"/>
            <a:ext cx="11784066" cy="938719"/>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LIKE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preserves generated column information</a:t>
            </a:r>
            <a:r>
              <a:rPr lang="en-IN" sz="1600" dirty="0">
                <a:latin typeface="Arial" panose="020B0604020202020204" pitchFamily="34" charset="0"/>
                <a:cs typeface="Arial" panose="020B0604020202020204" pitchFamily="34" charset="0"/>
              </a:rPr>
              <a:t> from the original table.</a:t>
            </a:r>
          </a:p>
          <a:p>
            <a:pPr marL="285750" indent="-285750">
              <a:buFont typeface="Arial" panose="020B0604020202020204" pitchFamily="34" charset="0"/>
              <a:buChar char="•"/>
            </a:pPr>
            <a:endParaRPr lang="en-IN" sz="7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SELECT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does not preserves generated column information</a:t>
            </a:r>
            <a:r>
              <a:rPr lang="en-IN" sz="1600" dirty="0">
                <a:latin typeface="Arial" panose="020B0604020202020204" pitchFamily="34" charset="0"/>
                <a:cs typeface="Arial" panose="020B0604020202020204" pitchFamily="34" charset="0"/>
              </a:rPr>
              <a:t> from the original table.</a:t>
            </a:r>
          </a:p>
        </p:txBody>
      </p:sp>
      <p:sp>
        <p:nvSpPr>
          <p:cNvPr id="6" name="TextBox 5">
            <a:extLst>
              <a:ext uri="{FF2B5EF4-FFF2-40B4-BE49-F238E27FC236}">
                <a16:creationId xmlns:a16="http://schemas.microsoft.com/office/drawing/2014/main" id="{25D21A0A-AC96-9219-C088-ABC23F32BF9C}"/>
              </a:ext>
            </a:extLst>
          </p:cNvPr>
          <p:cNvSpPr txBox="1"/>
          <p:nvPr/>
        </p:nvSpPr>
        <p:spPr>
          <a:xfrm>
            <a:off x="203967" y="1569566"/>
            <a:ext cx="11784066" cy="923330"/>
          </a:xfrm>
          <a:prstGeom prst="rect">
            <a:avLst/>
          </a:prstGeom>
          <a:noFill/>
        </p:spPr>
        <p:txBody>
          <a:bodyPr wrap="square">
            <a:spAutoFit/>
          </a:bodyPr>
          <a:lstStyle/>
          <a:p>
            <a:r>
              <a:rPr lang="en-US" dirty="0">
                <a:solidFill>
                  <a:schemeClr val="bg2">
                    <a:lumMod val="10000"/>
                  </a:schemeClr>
                </a:solidFill>
                <a:latin typeface="Arial" panose="020B0604020202020204" pitchFamily="34" charset="0"/>
                <a:cs typeface="Arial" panose="020B0604020202020204" pitchFamily="34" charset="0"/>
              </a:rPr>
              <a:t>A SQL generated column is a type of column that stores values calculated from an expression applied to data in other columns of the same table. The value of a generated column cannot be altered manually and is automatically updated whenever the data it depends on changes.</a:t>
            </a:r>
          </a:p>
        </p:txBody>
      </p:sp>
      <p:sp>
        <p:nvSpPr>
          <p:cNvPr id="4" name="Rectangle 3">
            <a:extLst>
              <a:ext uri="{FF2B5EF4-FFF2-40B4-BE49-F238E27FC236}">
                <a16:creationId xmlns:a16="http://schemas.microsoft.com/office/drawing/2014/main" id="{A148D12D-CA56-2796-959C-F16EDC767CBB}"/>
              </a:ext>
            </a:extLst>
          </p:cNvPr>
          <p:cNvSpPr/>
          <p:nvPr/>
        </p:nvSpPr>
        <p:spPr>
          <a:xfrm>
            <a:off x="203967" y="2451080"/>
            <a:ext cx="11784066" cy="3570208"/>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marL="285750" indent="-285750" algn="just">
              <a:buFont typeface="Arial" panose="020B0604020202020204" pitchFamily="34" charset="0"/>
              <a:buChar char="•"/>
            </a:pPr>
            <a:endParaRPr lang="en-IN" sz="600"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functions and user-defined functions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procedure and function with parameters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Variables (system variables, user-defined variables, and stored program local variables)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Subqueries are not permitted.</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 generated column in a DEFAULT clause.</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t>
            </a: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directly with a </a:t>
            </a:r>
            <a:r>
              <a:rPr lang="en-US" dirty="0">
                <a:solidFill>
                  <a:srgbClr val="0077AA"/>
                </a:solidFill>
                <a:latin typeface="Arial" panose="020B0604020202020204" pitchFamily="34" charset="0"/>
                <a:cs typeface="Arial" panose="020B0604020202020204" pitchFamily="34" charset="0"/>
              </a:rPr>
              <a:t>GENERATED ALWAYS AS</a:t>
            </a:r>
            <a:r>
              <a:rPr lang="en-US" dirty="0">
                <a:solidFill>
                  <a:schemeClr val="bg2">
                    <a:lumMod val="10000"/>
                  </a:schemeClr>
                </a:solidFill>
                <a:latin typeface="Arial" panose="020B0604020202020204" pitchFamily="34" charset="0"/>
                <a:cs typeface="Arial" panose="020B0604020202020204" pitchFamily="34" charset="0"/>
              </a:rPr>
              <a:t> column.</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AUTO_INCREMENT attribute cannot be used in a generated column definition.</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a:t>
            </a:r>
            <a:r>
              <a:rPr lang="en-US" b="1" dirty="0">
                <a:latin typeface="Arial" panose="020B0604020202020204" pitchFamily="34" charset="0"/>
                <a:cs typeface="Arial" panose="020B0604020202020204" pitchFamily="34" charset="0"/>
              </a:rPr>
              <a:t>cannot insert/update</a:t>
            </a:r>
            <a:r>
              <a:rPr lang="en-US" dirty="0">
                <a:latin typeface="Arial" panose="020B0604020202020204" pitchFamily="34" charset="0"/>
                <a:cs typeface="Arial" panose="020B0604020202020204" pitchFamily="34" charset="0"/>
              </a:rPr>
              <a:t> values into a generated column directly.</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Triggers cannot use NEW.COL_NAME or use OLD.COL_NAME to refer to generated columns.</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column cannot be converted to virtual column and virtual column cannot be converted to stored column.</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Generated column can be made as invisible column.</a:t>
            </a:r>
          </a:p>
        </p:txBody>
      </p:sp>
    </p:spTree>
    <p:extLst>
      <p:ext uri="{BB962C8B-B14F-4D97-AF65-F5344CB8AC3E}">
        <p14:creationId xmlns:p14="http://schemas.microsoft.com/office/powerpoint/2010/main" val="2558910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4" grpId="0"/>
    </p:bldLst>
  </p:timing>
</p:sld>
</file>

<file path=ppt/slides/slide2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generated always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780869"/>
            <a:ext cx="11449272" cy="646331"/>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VIRTUAL</a:t>
            </a:r>
            <a:r>
              <a:rPr lang="en-IN" dirty="0">
                <a:solidFill>
                  <a:srgbClr val="000000"/>
                </a:solidFill>
                <a:latin typeface="Arial" panose="020B0604020202020204" pitchFamily="34" charset="0"/>
                <a:cs typeface="Arial" panose="020B0604020202020204" pitchFamily="34" charset="0"/>
              </a:rPr>
              <a:t> </a:t>
            </a:r>
            <a:r>
              <a:rPr lang="en-IN" dirty="0">
                <a:solidFill>
                  <a:srgbClr val="A67F59"/>
                </a:solidFill>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a:t>
            </a:r>
          </a:p>
        </p:txBody>
      </p:sp>
      <p:sp>
        <p:nvSpPr>
          <p:cNvPr id="6" name="Rectangle 5"/>
          <p:cNvSpPr/>
          <p:nvPr/>
        </p:nvSpPr>
        <p:spPr>
          <a:xfrm>
            <a:off x="335360" y="1556792"/>
            <a:ext cx="11593288" cy="1323439"/>
          </a:xfrm>
          <a:prstGeom prst="rect">
            <a:avLst/>
          </a:prstGeom>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VIRTUAL</a:t>
            </a:r>
            <a:r>
              <a:rPr lang="en-IN" dirty="0">
                <a:latin typeface="Arial" panose="020B0604020202020204" pitchFamily="34" charset="0"/>
                <a:cs typeface="Arial" panose="020B0604020202020204" pitchFamily="34" charset="0"/>
              </a:rPr>
              <a:t>: Column values are not stored, but are evaluated when rows are read, immediately after any BEFORE triggers. A virtual column takes no storage.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 Column values are evaluated and stored when rows are inserted or updated. A stored column does require storage space and can be indexed.</a:t>
            </a: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4149080"/>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productVendor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productDescription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buyPrice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stockValue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2996952"/>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default is </a:t>
            </a:r>
            <a:r>
              <a:rPr lang="en-IN" b="1" dirty="0">
                <a:solidFill>
                  <a:schemeClr val="bg2">
                    <a:lumMod val="10000"/>
                  </a:schemeClr>
                </a:solidFill>
                <a:latin typeface="Arial" panose="020B0604020202020204" pitchFamily="34" charset="0"/>
                <a:cs typeface="Arial" panose="020B0604020202020204" pitchFamily="34" charset="0"/>
              </a:rPr>
              <a:t>VIRTUAL</a:t>
            </a:r>
            <a:r>
              <a:rPr lang="en-IN" dirty="0">
                <a:solidFill>
                  <a:schemeClr val="bg2">
                    <a:lumMod val="10000"/>
                  </a:schemeClr>
                </a:solidFill>
                <a:latin typeface="Arial" panose="020B0604020202020204" pitchFamily="34" charset="0"/>
                <a:cs typeface="Arial" panose="020B0604020202020204" pitchFamily="34" charset="0"/>
              </a:rPr>
              <a:t> if neither keyword is specified.</a:t>
            </a:r>
          </a:p>
        </p:txBody>
      </p:sp>
      <p:grpSp>
        <p:nvGrpSpPr>
          <p:cNvPr id="5" name="Group 4">
            <a:extLst>
              <a:ext uri="{FF2B5EF4-FFF2-40B4-BE49-F238E27FC236}">
                <a16:creationId xmlns:a16="http://schemas.microsoft.com/office/drawing/2014/main" id="{D92DD7F7-6E5A-480A-B0B3-0EA6BB645B1D}"/>
              </a:ext>
            </a:extLst>
          </p:cNvPr>
          <p:cNvGrpSpPr/>
          <p:nvPr/>
        </p:nvGrpSpPr>
        <p:grpSpPr>
          <a:xfrm>
            <a:off x="6600056" y="3825068"/>
            <a:ext cx="5328592" cy="1980196"/>
            <a:chOff x="6600056" y="3772698"/>
            <a:chExt cx="5328592" cy="1980196"/>
          </a:xfrm>
        </p:grpSpPr>
        <p:pic>
          <p:nvPicPr>
            <p:cNvPr id="3" name="Picture 2">
              <a:extLst>
                <a:ext uri="{FF2B5EF4-FFF2-40B4-BE49-F238E27FC236}">
                  <a16:creationId xmlns:a16="http://schemas.microsoft.com/office/drawing/2014/main" id="{E2F57B11-773F-44C7-AFBB-B9237DABEA85}"/>
                </a:ext>
              </a:extLst>
            </p:cNvPr>
            <p:cNvPicPr>
              <a:picLocks noChangeAspect="1"/>
            </p:cNvPicPr>
            <p:nvPr/>
          </p:nvPicPr>
          <p:blipFill>
            <a:blip r:embed="rId2"/>
            <a:stretch>
              <a:fillRect/>
            </a:stretch>
          </p:blipFill>
          <p:spPr>
            <a:xfrm>
              <a:off x="6600056" y="3772698"/>
              <a:ext cx="5328592" cy="1980196"/>
            </a:xfrm>
            <a:prstGeom prst="rect">
              <a:avLst/>
            </a:prstGeom>
          </p:spPr>
        </p:pic>
        <p:sp>
          <p:nvSpPr>
            <p:cNvPr id="8" name="Rectangle 7">
              <a:extLst>
                <a:ext uri="{FF2B5EF4-FFF2-40B4-BE49-F238E27FC236}">
                  <a16:creationId xmlns:a16="http://schemas.microsoft.com/office/drawing/2014/main" id="{0F77324A-A31A-4EEA-8B8B-7410754CEF1A}"/>
                </a:ext>
              </a:extLst>
            </p:cNvPr>
            <p:cNvSpPr/>
            <p:nvPr/>
          </p:nvSpPr>
          <p:spPr>
            <a:xfrm>
              <a:off x="6830595" y="5441741"/>
              <a:ext cx="5077550"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2582681479"/>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A4352-CD3B-7B2A-B144-FFC71000B27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57682A9-949D-7B3A-1238-38121B5D0A1E}"/>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0E338EF2-C9E2-7AB0-6BCE-23A77A1EACE6}"/>
              </a:ext>
            </a:extLst>
          </p:cNvPr>
          <p:cNvSpPr txBox="1"/>
          <p:nvPr/>
        </p:nvSpPr>
        <p:spPr>
          <a:xfrm>
            <a:off x="335360" y="1607889"/>
            <a:ext cx="11449272"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loan(</a:t>
            </a:r>
          </a:p>
          <a:p>
            <a:pPr marL="447675"/>
            <a:r>
              <a:rPr lang="en-IN" dirty="0">
                <a:latin typeface="Liberation Mono"/>
              </a:rPr>
              <a:t>loanID </a:t>
            </a:r>
            <a:r>
              <a:rPr lang="en-IN" dirty="0">
                <a:solidFill>
                  <a:srgbClr val="834689"/>
                </a:solidFill>
                <a:latin typeface="Liberation Mono"/>
                <a:cs typeface="Arial" panose="020B0604020202020204" pitchFamily="34" charset="0"/>
              </a:rPr>
              <a:t>BIGINT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pPr marL="447675"/>
            <a:r>
              <a:rPr lang="en-IN" dirty="0">
                <a:latin typeface="Liberation Mono"/>
              </a:rPr>
              <a:t>bankName </a:t>
            </a:r>
            <a:r>
              <a:rPr lang="en-IN" dirty="0">
                <a:solidFill>
                  <a:srgbClr val="834689"/>
                </a:solidFill>
                <a:latin typeface="Liberation Mono"/>
                <a:cs typeface="Arial" panose="020B0604020202020204" pitchFamily="34" charset="0"/>
              </a:rPr>
              <a:t>VARCHAR</a:t>
            </a:r>
            <a:r>
              <a:rPr lang="en-IN" dirty="0">
                <a:latin typeface="Liberation Mono"/>
              </a:rPr>
              <a:t>(50), </a:t>
            </a:r>
          </a:p>
          <a:p>
            <a:pPr marL="447675"/>
            <a:r>
              <a:rPr lang="en-IN" dirty="0">
                <a:latin typeface="Liberation Mono"/>
              </a:rPr>
              <a:t>accountNumber </a:t>
            </a:r>
            <a:r>
              <a:rPr lang="en-IN" dirty="0">
                <a:solidFill>
                  <a:srgbClr val="834689"/>
                </a:solidFill>
                <a:latin typeface="Liberation Mono"/>
                <a:cs typeface="Arial" panose="020B0604020202020204" pitchFamily="34" charset="0"/>
              </a:rPr>
              <a:t>VARCHAR</a:t>
            </a:r>
            <a:r>
              <a:rPr lang="en-IN" dirty="0">
                <a:latin typeface="Liberation Mono"/>
              </a:rPr>
              <a:t>(30), </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p>
          <a:p>
            <a:pPr marL="447675"/>
            <a:r>
              <a:rPr lang="en-IN" dirty="0">
                <a:latin typeface="Liberation Mono"/>
              </a:rPr>
              <a:t>riskStatus </a:t>
            </a:r>
            <a:r>
              <a:rPr lang="en-IN" dirty="0">
                <a:solidFill>
                  <a:srgbClr val="834689"/>
                </a:solidFill>
                <a:latin typeface="Liberation Mono"/>
                <a:cs typeface="Arial" panose="020B0604020202020204" pitchFamily="34" charset="0"/>
              </a:rPr>
              <a:t>VARCHAR</a:t>
            </a:r>
            <a:r>
              <a:rPr lang="en-IN" dirty="0">
                <a:latin typeface="Liberation Mono"/>
              </a:rPr>
              <a:t>(30)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p>
          <a:p>
            <a:pPr marL="447675"/>
            <a:r>
              <a:rPr lang="en-IN" dirty="0">
                <a:solidFill>
                  <a:srgbClr val="DB7BC9"/>
                </a:solidFill>
                <a:latin typeface="Liberation Mono"/>
                <a:cs typeface="Arial" panose="020B0604020202020204" pitchFamily="34" charset="0"/>
              </a:rPr>
              <a:t>CASE</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'Low Risk'</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rgbClr val="0077AA"/>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US" dirty="0">
                <a:solidFill>
                  <a:srgbClr val="A67F59"/>
                </a:solidFill>
                <a:latin typeface="Liberation Mono"/>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'Above Average Risk'</a:t>
            </a:r>
            <a:r>
              <a:rPr lang="en-IN" dirty="0">
                <a:latin typeface="Liberation Mono"/>
              </a:rPr>
              <a:t> </a:t>
            </a:r>
          </a:p>
          <a:p>
            <a:pPr marL="447675"/>
            <a:r>
              <a:rPr lang="en-IN" dirty="0">
                <a:solidFill>
                  <a:srgbClr val="DB7BC9"/>
                </a:solidFill>
                <a:latin typeface="Liberation Mono"/>
                <a:cs typeface="Arial" panose="020B0604020202020204" pitchFamily="34" charset="0"/>
              </a:rPr>
              <a:t>    ELSE</a:t>
            </a:r>
            <a:r>
              <a:rPr lang="en-IN" dirty="0">
                <a:latin typeface="Liberation Mono"/>
              </a:rPr>
              <a:t> </a:t>
            </a:r>
            <a:r>
              <a:rPr lang="en-IN" dirty="0">
                <a:solidFill>
                  <a:srgbClr val="00B050"/>
                </a:solidFill>
                <a:latin typeface="Liberation Mono"/>
              </a:rPr>
              <a:t>'High Risk’</a:t>
            </a:r>
            <a:r>
              <a:rPr lang="en-IN" dirty="0">
                <a:latin typeface="Liberation Mono"/>
              </a:rPr>
              <a:t> </a:t>
            </a:r>
          </a:p>
          <a:p>
            <a:pPr marL="447675"/>
            <a:r>
              <a:rPr lang="en-IN" dirty="0">
                <a:solidFill>
                  <a:srgbClr val="DB7BC9"/>
                </a:solidFill>
                <a:latin typeface="Liberation Mono"/>
                <a:cs typeface="Arial" panose="020B0604020202020204" pitchFamily="34" charset="0"/>
              </a:rPr>
              <a:t>END</a:t>
            </a:r>
            <a:r>
              <a:rPr lang="en-IN" dirty="0">
                <a:latin typeface="Liberation Mono"/>
              </a:rPr>
              <a:t>));</a:t>
            </a:r>
          </a:p>
        </p:txBody>
      </p:sp>
      <p:sp>
        <p:nvSpPr>
          <p:cNvPr id="6" name="Rectangle 5">
            <a:extLst>
              <a:ext uri="{FF2B5EF4-FFF2-40B4-BE49-F238E27FC236}">
                <a16:creationId xmlns:a16="http://schemas.microsoft.com/office/drawing/2014/main" id="{D0630C33-1BBE-0E18-B8E2-83CA3F719474}"/>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75330179"/>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D9BC5-40D7-82CE-C0EF-C96CD9B739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2BFF6ED-96F6-5FAA-09EA-9F112CE701F0}"/>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8B86702-4267-114D-4F29-8CDE8294A5A5}"/>
              </a:ext>
            </a:extLst>
          </p:cNvPr>
          <p:cNvSpPr txBox="1"/>
          <p:nvPr/>
        </p:nvSpPr>
        <p:spPr>
          <a:xfrm>
            <a:off x="335360" y="1607889"/>
            <a:ext cx="11449272" cy="369331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patientAdmission(</a:t>
            </a:r>
          </a:p>
          <a:p>
            <a:r>
              <a:rPr lang="en-US" dirty="0">
                <a:latin typeface="Liberation Mono"/>
              </a:rPr>
              <a:t>        admissionID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a:t>
            </a:r>
          </a:p>
          <a:p>
            <a:r>
              <a:rPr lang="en-US" dirty="0">
                <a:latin typeface="Liberation Mono"/>
              </a:rPr>
              <a:t>        patientName </a:t>
            </a:r>
            <a:r>
              <a:rPr lang="en-US" dirty="0">
                <a:solidFill>
                  <a:srgbClr val="834689"/>
                </a:solidFill>
                <a:latin typeface="Liberation Mono"/>
                <a:cs typeface="Arial" panose="020B0604020202020204" pitchFamily="34" charset="0"/>
              </a:rPr>
              <a:t>VARCHAR</a:t>
            </a:r>
            <a:r>
              <a:rPr lang="en-US" dirty="0">
                <a:latin typeface="Liberation Mono"/>
              </a:rPr>
              <a:t>(10),</a:t>
            </a:r>
          </a:p>
          <a:p>
            <a:r>
              <a:rPr lang="en-US" dirty="0">
                <a:latin typeface="Liberation Mono"/>
              </a:rPr>
              <a:t>        referred_by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'ref1'</a:t>
            </a:r>
            <a:r>
              <a:rPr lang="en-US" dirty="0">
                <a:latin typeface="Liberation Mono"/>
              </a:rPr>
              <a:t>, </a:t>
            </a:r>
            <a:r>
              <a:rPr lang="en-US" dirty="0">
                <a:solidFill>
                  <a:srgbClr val="00B050"/>
                </a:solidFill>
                <a:latin typeface="Liberation Mono"/>
              </a:rPr>
              <a:t>'ref2'</a:t>
            </a:r>
            <a:r>
              <a:rPr lang="en-US" dirty="0">
                <a:latin typeface="Liberation Mono"/>
              </a:rPr>
              <a:t>, </a:t>
            </a:r>
            <a:r>
              <a:rPr lang="en-US" dirty="0">
                <a:solidFill>
                  <a:srgbClr val="00B050"/>
                </a:solidFill>
                <a:latin typeface="Liberation Mono"/>
              </a:rPr>
              <a:t>'ref3'</a:t>
            </a:r>
            <a:r>
              <a:rPr lang="en-US" dirty="0">
                <a:latin typeface="Liberation Mono"/>
              </a:rPr>
              <a:t>, </a:t>
            </a:r>
            <a:r>
              <a:rPr lang="en-US" dirty="0">
                <a:solidFill>
                  <a:srgbClr val="00B050"/>
                </a:solidFill>
                <a:latin typeface="Liberation Mono"/>
              </a:rPr>
              <a:t>'ref4'</a:t>
            </a:r>
            <a:r>
              <a:rPr lang="en-US" dirty="0">
                <a:latin typeface="Liberation Mono"/>
              </a:rPr>
              <a:t>, </a:t>
            </a:r>
            <a:r>
              <a:rPr lang="en-US" dirty="0">
                <a:solidFill>
                  <a:srgbClr val="00B050"/>
                </a:solidFill>
                <a:latin typeface="Liberation Mono"/>
              </a:rPr>
              <a:t>'ref5'</a:t>
            </a:r>
            <a:r>
              <a:rPr lang="en-US" dirty="0">
                <a:latin typeface="Liberation Mono"/>
              </a:rPr>
              <a:t>, </a:t>
            </a:r>
            <a:r>
              <a:rPr lang="en-US" dirty="0">
                <a:solidFill>
                  <a:srgbClr val="00B050"/>
                </a:solidFill>
                <a:latin typeface="Liberation Mono"/>
              </a:rPr>
              <a:t>'ref9'</a:t>
            </a:r>
            <a:r>
              <a:rPr lang="en-US" dirty="0">
                <a:latin typeface="Liberation Mono"/>
              </a:rPr>
              <a:t>),</a:t>
            </a:r>
          </a:p>
          <a:p>
            <a:r>
              <a:rPr lang="en-US" dirty="0">
                <a:latin typeface="Liberation Mono"/>
              </a:rPr>
              <a:t>        admissionType </a:t>
            </a:r>
            <a:r>
              <a:rPr lang="en-US" dirty="0">
                <a:solidFill>
                  <a:srgbClr val="834689"/>
                </a:solidFill>
                <a:latin typeface="Liberation Mono"/>
                <a:cs typeface="Arial" panose="020B0604020202020204" pitchFamily="34" charset="0"/>
              </a:rPr>
              <a:t>VARCHAR</a:t>
            </a:r>
            <a:r>
              <a:rPr lang="en-US" dirty="0">
                <a:latin typeface="Liberation Mono"/>
              </a:rPr>
              <a:t>(40)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'ref1'</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'Emergency'</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'ref2'</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'Urgent'</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'ref3'</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'Elective'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'ref4'</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'Newborn'</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'ref5'</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'Trauma Center'</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'ref9'</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'Information Not Available'</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3ED2B3C9-DFF9-3CC9-0AED-AAEAB6813BE8}"/>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31862310"/>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30AEFD-DA1D-4961-05C0-EFA3B5886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85290D4-BF62-859B-EE08-BAEBD327F143}"/>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2E107A7-4BDC-33CD-2C4D-54ED784341DC}"/>
              </a:ext>
            </a:extLst>
          </p:cNvPr>
          <p:cNvSpPr txBox="1"/>
          <p:nvPr/>
        </p:nvSpPr>
        <p:spPr>
          <a:xfrm>
            <a:off x="335360" y="1607889"/>
            <a:ext cx="11449272"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ticketReservation (</a:t>
            </a:r>
          </a:p>
          <a:p>
            <a:r>
              <a:rPr lang="en-US" dirty="0">
                <a:latin typeface="Liberation Mono"/>
              </a:rPr>
              <a:t>        ticketID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 </a:t>
            </a:r>
            <a:r>
              <a:rPr lang="en-US" dirty="0">
                <a:solidFill>
                  <a:srgbClr val="0077AA"/>
                </a:solidFill>
                <a:latin typeface="Liberation Mono"/>
                <a:cs typeface="Arial" panose="020B0604020202020204" pitchFamily="34" charset="0"/>
              </a:rPr>
              <a:t>AUTO_INCREMENT</a:t>
            </a:r>
            <a:r>
              <a:rPr lang="en-US" dirty="0">
                <a:latin typeface="Liberation Mono"/>
              </a:rPr>
              <a:t>,</a:t>
            </a:r>
          </a:p>
          <a:p>
            <a:r>
              <a:rPr lang="en-US" dirty="0">
                <a:latin typeface="Liberation Mono"/>
              </a:rPr>
              <a:t>        reservationType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'GN'</a:t>
            </a:r>
            <a:r>
              <a:rPr lang="en-US" dirty="0">
                <a:latin typeface="Liberation Mono"/>
              </a:rPr>
              <a:t>, </a:t>
            </a:r>
            <a:r>
              <a:rPr lang="en-US" dirty="0">
                <a:solidFill>
                  <a:srgbClr val="00B050"/>
                </a:solidFill>
                <a:latin typeface="Liberation Mono"/>
              </a:rPr>
              <a:t>'TQ'</a:t>
            </a:r>
            <a:r>
              <a:rPr lang="en-US" dirty="0">
                <a:latin typeface="Liberation Mono"/>
              </a:rPr>
              <a:t>,</a:t>
            </a:r>
            <a:r>
              <a:rPr lang="en-US" dirty="0">
                <a:solidFill>
                  <a:srgbClr val="00B050"/>
                </a:solidFill>
                <a:latin typeface="Liberation Mono"/>
              </a:rPr>
              <a:t>'LD'</a:t>
            </a:r>
            <a:r>
              <a:rPr lang="en-US" dirty="0">
                <a:latin typeface="Liberation Mono"/>
              </a:rPr>
              <a:t>,</a:t>
            </a:r>
            <a:r>
              <a:rPr lang="en-US" dirty="0">
                <a:solidFill>
                  <a:srgbClr val="00B050"/>
                </a:solidFill>
                <a:latin typeface="Liberation Mono"/>
              </a:rPr>
              <a:t>'FT'</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00B050"/>
                </a:solidFill>
                <a:latin typeface="Liberation Mono"/>
              </a:rPr>
              <a:t>'OQ'</a:t>
            </a:r>
            <a:r>
              <a:rPr lang="en-US" dirty="0">
                <a:latin typeface="Liberation Mono"/>
              </a:rPr>
              <a:t>),</a:t>
            </a:r>
          </a:p>
          <a:p>
            <a:r>
              <a:rPr lang="en-US" dirty="0">
                <a:latin typeface="Liberation Mono"/>
              </a:rPr>
              <a:t>        description </a:t>
            </a:r>
            <a:r>
              <a:rPr lang="en-US" dirty="0">
                <a:solidFill>
                  <a:srgbClr val="834689"/>
                </a:solidFill>
                <a:latin typeface="Liberation Mono"/>
                <a:cs typeface="Arial" panose="020B0604020202020204" pitchFamily="34" charset="0"/>
              </a:rPr>
              <a:t>VARCHAR</a:t>
            </a:r>
            <a:r>
              <a:rPr lang="en-US" dirty="0">
                <a:latin typeface="Liberation Mono"/>
              </a:rPr>
              <a:t>(100)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'GN'</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'General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'TQ'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'Tatkal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'LD'</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'Ladies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'FT'</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'Foreign Tourists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'Physically Handicapped'</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'OQ'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'Headquarters/High Official, Parliament House, </a:t>
            </a:r>
            <a:r>
              <a:rPr lang="en-US" dirty="0" err="1">
                <a:solidFill>
                  <a:srgbClr val="00B050"/>
                </a:solidFill>
                <a:latin typeface="Liberation Mono"/>
              </a:rPr>
              <a:t>Defence</a:t>
            </a:r>
            <a:r>
              <a:rPr lang="en-US" dirty="0">
                <a:solidFill>
                  <a:srgbClr val="00B050"/>
                </a:solidFill>
                <a:latin typeface="Liberation Mono"/>
              </a:rPr>
              <a:t>, Duty Pass Quota'</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B0380453-AD6A-F44D-E477-EFDBC26D1C2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58490008"/>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49B3698-F2BD-8AA9-764B-5528615AA0F7}"/>
              </a:ext>
            </a:extLst>
          </p:cNvPr>
          <p:cNvSpPr txBox="1"/>
          <p:nvPr/>
        </p:nvSpPr>
        <p:spPr>
          <a:xfrm>
            <a:off x="334800" y="1609200"/>
            <a:ext cx="1173730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hostelBilling(</a:t>
            </a:r>
          </a:p>
          <a:p>
            <a:pPr marL="447675"/>
            <a:r>
              <a:rPr lang="en-IN" dirty="0">
                <a:latin typeface="Liberation Mono"/>
              </a:rPr>
              <a:t>billingID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447675"/>
            <a:r>
              <a:rPr lang="en-IN" dirty="0">
                <a:latin typeface="Liberation Mono"/>
              </a:rPr>
              <a:t>studentID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roomRent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messCharges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laundryCharges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discountPercent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((roomRent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messCharges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laundryCharges)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discountPercent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US" dirty="0">
                <a:latin typeface="Liberation Mono"/>
              </a:rPr>
              <a:t>, </a:t>
            </a:r>
          </a:p>
          <a:p>
            <a:pPr marL="447675"/>
            <a:r>
              <a:rPr lang="en-US" dirty="0">
                <a:latin typeface="Liberation Mono"/>
              </a:rPr>
              <a:t>amenities varchar(150)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pPr marL="447675"/>
            <a:r>
              <a:rPr lang="en-US" dirty="0">
                <a:solidFill>
                  <a:srgbClr val="DB7BC9"/>
                </a:solidFill>
                <a:latin typeface="Liberation Mono"/>
                <a:cs typeface="Arial" panose="020B0604020202020204" pitchFamily="34" charset="0"/>
              </a:rPr>
              <a:t>CASE</a:t>
            </a:r>
            <a:r>
              <a:rPr lang="en-US" dirty="0">
                <a:latin typeface="Liberation Mono"/>
              </a:rPr>
              <a:t> </a:t>
            </a:r>
          </a:p>
          <a:p>
            <a:pPr marL="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6000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&amp; Bed-sheets'</a:t>
            </a:r>
            <a:r>
              <a:rPr lang="en-US" dirty="0">
                <a:latin typeface="Liberation Mono"/>
              </a:rPr>
              <a:t> </a:t>
            </a:r>
          </a:p>
          <a:p>
            <a:pPr marL="982663" indent="-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6001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8000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&amp; Lockers'</a:t>
            </a:r>
            <a:r>
              <a:rPr lang="en-US" dirty="0">
                <a:latin typeface="Liberation Mono"/>
              </a:rPr>
              <a:t> </a:t>
            </a:r>
          </a:p>
          <a:p>
            <a:pPr marL="982663" indent="-534988"/>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8001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10000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Lockers and Ac, Fridge, Induction stove'</a:t>
            </a:r>
            <a:r>
              <a:rPr lang="en-US" dirty="0">
                <a:latin typeface="Liberation Mono"/>
              </a:rPr>
              <a:t> </a:t>
            </a:r>
          </a:p>
          <a:p>
            <a:pPr marL="447675"/>
            <a:r>
              <a:rPr lang="en-US" dirty="0">
                <a:solidFill>
                  <a:srgbClr val="DB7BC9"/>
                </a:solidFill>
                <a:latin typeface="Liberation Mono"/>
                <a:cs typeface="Arial" panose="020B0604020202020204" pitchFamily="34" charset="0"/>
              </a:rPr>
              <a:t>END</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EE4C25B7-CC60-F745-B394-FA9AD3DB6D44}"/>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755C62EF-B8E4-6CA0-8CD7-0ACC9908092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10452370"/>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E3661-2EDF-07C2-60BC-180025536B3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24EC199-EA87-8644-C8CE-882389D75291}"/>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674A6FC-32D6-54AB-7B04-BF92332F500D}"/>
              </a:ext>
            </a:extLst>
          </p:cNvPr>
          <p:cNvSpPr txBox="1"/>
          <p:nvPr/>
        </p:nvSpPr>
        <p:spPr>
          <a:xfrm>
            <a:off x="335360" y="1807656"/>
            <a:ext cx="1144927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latin typeface="Liberation Mono"/>
              </a:rPr>
              <a:t>       document </a:t>
            </a:r>
            <a:r>
              <a:rPr lang="en-IN" dirty="0">
                <a:solidFill>
                  <a:srgbClr val="834689"/>
                </a:solidFill>
                <a:latin typeface="Liberation Mono"/>
                <a:cs typeface="Arial" panose="020B0604020202020204" pitchFamily="34" charset="0"/>
              </a:rPr>
              <a:t>JSON</a:t>
            </a:r>
            <a:r>
              <a:rPr lang="en-IN" dirty="0">
                <a:latin typeface="Liberation Mono"/>
              </a:rPr>
              <a:t>,</a:t>
            </a:r>
          </a:p>
          <a:p>
            <a:r>
              <a:rPr lang="en-IN" dirty="0"/>
              <a:t>      brand </a:t>
            </a:r>
            <a:r>
              <a:rPr lang="en-IN" dirty="0">
                <a:solidFill>
                  <a:srgbClr val="834689"/>
                </a:solidFill>
                <a:latin typeface="Liberation Mono"/>
                <a:cs typeface="Arial" panose="020B0604020202020204" pitchFamily="34" charset="0"/>
              </a:rPr>
              <a:t>VARCHAR</a:t>
            </a:r>
            <a:r>
              <a:rPr lang="en-IN" dirty="0"/>
              <a:t>(10),</a:t>
            </a:r>
            <a:endParaRPr lang="en-IN" dirty="0">
              <a:latin typeface="Liberation Mono"/>
            </a:endParaRPr>
          </a:p>
          <a:p>
            <a:r>
              <a:rPr lang="en-IN" dirty="0">
                <a:latin typeface="Liberation Mono"/>
              </a:rPr>
              <a:t>       total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.rate’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latin typeface="Liberation Mono"/>
              </a:rPr>
              <a:t>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.qty'));</a:t>
            </a:r>
          </a:p>
        </p:txBody>
      </p:sp>
      <p:sp>
        <p:nvSpPr>
          <p:cNvPr id="6" name="Rectangle 5">
            <a:extLst>
              <a:ext uri="{FF2B5EF4-FFF2-40B4-BE49-F238E27FC236}">
                <a16:creationId xmlns:a16="http://schemas.microsoft.com/office/drawing/2014/main" id="{1918D370-9CC3-B626-8F04-88E019285F2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6463E9F-BB65-E38A-05D0-845B832AD666}"/>
              </a:ext>
            </a:extLst>
          </p:cNvPr>
          <p:cNvSpPr/>
          <p:nvPr/>
        </p:nvSpPr>
        <p:spPr>
          <a:xfrm>
            <a:off x="353361" y="5877272"/>
            <a:ext cx="11431270" cy="76944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MySQL doesn’t allow you to insert a value into </a:t>
            </a:r>
            <a:r>
              <a:rPr lang="en-IN" dirty="0">
                <a:solidFill>
                  <a:srgbClr val="0077AA"/>
                </a:solidFill>
                <a:latin typeface="Liberation Mono"/>
                <a:cs typeface="Arial" panose="020B0604020202020204" pitchFamily="34" charset="0"/>
              </a:rPr>
              <a:t>GENERATED column</a:t>
            </a:r>
            <a:r>
              <a:rPr lang="en-US" dirty="0"/>
              <a:t> — not even </a:t>
            </a:r>
            <a:r>
              <a:rPr lang="en-US" dirty="0">
                <a:latin typeface="Courier New" panose="02070309020205020404" pitchFamily="49" charset="0"/>
              </a:rPr>
              <a:t>DEFAULT</a:t>
            </a:r>
            <a:endParaRPr lang="en-IN" dirty="0"/>
          </a:p>
        </p:txBody>
      </p:sp>
    </p:spTree>
    <p:extLst>
      <p:ext uri="{BB962C8B-B14F-4D97-AF65-F5344CB8AC3E}">
        <p14:creationId xmlns:p14="http://schemas.microsoft.com/office/powerpoint/2010/main" val="1734287015"/>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6347F-68AF-F2F6-6FAE-AA7B0BEA33D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610A191-18A4-4D57-4517-63BC1F02DE2B}"/>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71C5255E-3814-493A-919B-F31AF00BF73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5354BE6-8AF6-124B-2C43-B7D6EFAEF079}"/>
              </a:ext>
            </a:extLst>
          </p:cNvPr>
          <p:cNvSpPr txBox="1"/>
          <p:nvPr/>
        </p:nvSpPr>
        <p:spPr>
          <a:xfrm>
            <a:off x="335360" y="2420888"/>
            <a:ext cx="11521280" cy="83099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brand,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.rate' rate,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.qty' quantity, total </a:t>
            </a:r>
            <a:r>
              <a:rPr lang="en-US" dirty="0">
                <a:solidFill>
                  <a:srgbClr val="0077AA"/>
                </a:solidFill>
                <a:latin typeface="Liberation Mono"/>
              </a:rPr>
              <a:t>FROM</a:t>
            </a:r>
            <a:r>
              <a:rPr lang="en-US" dirty="0">
                <a:latin typeface="Liberation Mono"/>
              </a:rPr>
              <a:t> product;</a:t>
            </a:r>
          </a:p>
          <a:p>
            <a:pPr marL="285750" indent="-285750">
              <a:buFont typeface="Arial" panose="020B0604020202020204" pitchFamily="34" charset="0"/>
              <a:buChar char="•"/>
            </a:pPr>
            <a:endParaRPr lang="en-US" sz="12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77AA"/>
                </a:solidFill>
                <a:latin typeface="Liberation Mono"/>
              </a:rPr>
              <a:t>FROM</a:t>
            </a:r>
            <a:r>
              <a:rPr lang="en-US" dirty="0">
                <a:latin typeface="Liberation Mono"/>
              </a:rPr>
              <a:t> product; </a:t>
            </a:r>
            <a:r>
              <a:rPr lang="en-US" dirty="0">
                <a:solidFill>
                  <a:srgbClr val="00B050"/>
                </a:solidFill>
                <a:latin typeface="Liberation Mono"/>
              </a:rPr>
              <a:t>// return the number of elements in array</a:t>
            </a:r>
          </a:p>
        </p:txBody>
      </p:sp>
      <p:sp>
        <p:nvSpPr>
          <p:cNvPr id="7" name="TextBox 6">
            <a:extLst>
              <a:ext uri="{FF2B5EF4-FFF2-40B4-BE49-F238E27FC236}">
                <a16:creationId xmlns:a16="http://schemas.microsoft.com/office/drawing/2014/main" id="{B13A0660-262B-1427-D602-067305A9C432}"/>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SELECT</a:t>
            </a:r>
            <a:endParaRPr lang="en-IN" sz="1900" dirty="0">
              <a:solidFill>
                <a:srgbClr val="B212AA"/>
              </a:solidFill>
            </a:endParaRPr>
          </a:p>
        </p:txBody>
      </p:sp>
    </p:spTree>
    <p:extLst>
      <p:ext uri="{BB962C8B-B14F-4D97-AF65-F5344CB8AC3E}">
        <p14:creationId xmlns:p14="http://schemas.microsoft.com/office/powerpoint/2010/main" val="101398324"/>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50512-DB07-DBD2-366B-59DFCAEC6AF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FFC94D1-5F19-7294-6A2A-CD3F23613A77}"/>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7112546-E8FE-FA11-A670-81E07632399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31BC0FF-603C-207E-B9D2-A3F293286646}"/>
              </a:ext>
            </a:extLst>
          </p:cNvPr>
          <p:cNvSpPr txBox="1"/>
          <p:nvPr/>
        </p:nvSpPr>
        <p:spPr>
          <a:xfrm>
            <a:off x="119336" y="2420888"/>
            <a:ext cx="11953328" cy="101566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product(id, document, brand) </a:t>
            </a:r>
            <a:r>
              <a:rPr lang="en-US" dirty="0">
                <a:solidFill>
                  <a:srgbClr val="0077AA"/>
                </a:solidFill>
                <a:latin typeface="Liberation Mono"/>
              </a:rPr>
              <a:t>VALUES</a:t>
            </a:r>
            <a:r>
              <a:rPr lang="en-US" dirty="0">
                <a:latin typeface="Liberation Mono"/>
              </a:rPr>
              <a:t> (</a:t>
            </a:r>
            <a:r>
              <a:rPr lang="en-US" dirty="0">
                <a:solidFill>
                  <a:srgbClr val="0077AA"/>
                </a:solidFill>
                <a:latin typeface="Liberation Mono"/>
              </a:rPr>
              <a:t>DEFAULT</a:t>
            </a:r>
            <a:r>
              <a:rPr lang="en-US"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"productName", </a:t>
            </a:r>
            <a:r>
              <a:rPr lang="en-IN" dirty="0">
                <a:solidFill>
                  <a:srgbClr val="00B050"/>
                </a:solidFill>
                <a:latin typeface="Liberation Mono"/>
              </a:rPr>
              <a:t>"shirt"</a:t>
            </a:r>
            <a:r>
              <a:rPr lang="en-IN" dirty="0">
                <a:solidFill>
                  <a:srgbClr val="669900"/>
                </a:solidFill>
                <a:latin typeface="Liberation Mono"/>
              </a:rPr>
              <a:t>, "rate"</a:t>
            </a:r>
            <a:r>
              <a:rPr lang="en-IN" dirty="0">
                <a:latin typeface="Liberation Mono"/>
              </a:rPr>
              <a:t>, </a:t>
            </a:r>
            <a:r>
              <a:rPr lang="en-IN" dirty="0">
                <a:solidFill>
                  <a:srgbClr val="990055"/>
                </a:solidFill>
                <a:latin typeface="Liberation Mono"/>
              </a:rPr>
              <a:t>1250</a:t>
            </a:r>
            <a:r>
              <a:rPr lang="en-IN" dirty="0">
                <a:latin typeface="Liberation Mono"/>
              </a:rPr>
              <a:t>, </a:t>
            </a:r>
            <a:r>
              <a:rPr lang="en-IN" dirty="0">
                <a:solidFill>
                  <a:srgbClr val="669900"/>
                </a:solidFill>
                <a:latin typeface="Liberation Mono"/>
              </a:rPr>
              <a:t>"qty"</a:t>
            </a:r>
            <a:r>
              <a:rPr lang="en-IN" dirty="0">
                <a:latin typeface="Liberation Mono"/>
              </a:rPr>
              <a:t>, </a:t>
            </a:r>
            <a:r>
              <a:rPr lang="en-IN" dirty="0">
                <a:solidFill>
                  <a:srgbClr val="990055"/>
                </a:solidFill>
                <a:latin typeface="Liberation Mono"/>
              </a:rPr>
              <a:t>9</a:t>
            </a:r>
            <a:r>
              <a:rPr lang="en-US" dirty="0">
                <a:solidFill>
                  <a:srgbClr val="990055"/>
                </a:solidFill>
                <a:latin typeface="Liberation Mono"/>
              </a:rPr>
              <a:t>, </a:t>
            </a:r>
            <a:r>
              <a:rPr lang="en-US" dirty="0">
                <a:solidFill>
                  <a:srgbClr val="669900"/>
                </a:solidFill>
                <a:latin typeface="Liberation Mono"/>
              </a:rPr>
              <a:t>"size"</a:t>
            </a:r>
            <a:r>
              <a:rPr lang="en-US" dirty="0">
                <a:latin typeface="Liberation Mono"/>
              </a:rPr>
              <a:t>,</a:t>
            </a:r>
            <a:r>
              <a:rPr lang="en-US" dirty="0">
                <a:solidFill>
                  <a:srgbClr val="990055"/>
                </a:solidFill>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00B050"/>
                </a:solidFill>
                <a:latin typeface="Liberation Mono"/>
              </a:rPr>
              <a:t>'S'</a:t>
            </a:r>
            <a:r>
              <a:rPr lang="en-US" dirty="0">
                <a:latin typeface="Liberation Mono"/>
              </a:rPr>
              <a:t>, </a:t>
            </a:r>
            <a:r>
              <a:rPr lang="en-US" dirty="0">
                <a:solidFill>
                  <a:srgbClr val="00B050"/>
                </a:solidFill>
                <a:latin typeface="Liberation Mono"/>
              </a:rPr>
              <a:t>'M'</a:t>
            </a:r>
            <a:r>
              <a:rPr lang="en-US" dirty="0">
                <a:latin typeface="Liberation Mono"/>
              </a:rPr>
              <a:t>)</a:t>
            </a:r>
            <a:r>
              <a:rPr lang="en-IN" dirty="0">
                <a:latin typeface="Liberation Mono"/>
              </a:rPr>
              <a:t>)</a:t>
            </a:r>
            <a:r>
              <a:rPr lang="en-US" dirty="0">
                <a:latin typeface="Liberation Mono"/>
              </a:rPr>
              <a:t>, </a:t>
            </a:r>
            <a:r>
              <a:rPr lang="en-US" dirty="0">
                <a:solidFill>
                  <a:srgbClr val="00B050"/>
                </a:solidFill>
                <a:latin typeface="Liberation Mono"/>
              </a:rPr>
              <a:t>'Raymonds'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product(document) </a:t>
            </a:r>
            <a:r>
              <a:rPr lang="en-US" dirty="0">
                <a:solidFill>
                  <a:srgbClr val="0077AA"/>
                </a:solidFill>
                <a:latin typeface="Liberation Mono"/>
              </a:rPr>
              <a:t>VALUES</a:t>
            </a:r>
            <a:r>
              <a:rPr lang="en-US" dirty="0">
                <a:latin typeface="Liberation Mono"/>
              </a:rPr>
              <a:t>(</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'userName'</a:t>
            </a:r>
            <a:r>
              <a:rPr lang="en-US" dirty="0">
                <a:latin typeface="Liberation Mono"/>
              </a:rPr>
              <a:t>, </a:t>
            </a:r>
            <a:r>
              <a:rPr lang="en-US" dirty="0">
                <a:solidFill>
                  <a:srgbClr val="00B050"/>
                </a:solidFill>
                <a:latin typeface="Liberation Mono"/>
              </a:rPr>
              <a:t>'saleel'</a:t>
            </a:r>
            <a:r>
              <a:rPr lang="en-US" dirty="0">
                <a:latin typeface="Liberation Mono"/>
              </a:rPr>
              <a:t>, </a:t>
            </a:r>
            <a:r>
              <a:rPr lang="en-US" dirty="0">
                <a:solidFill>
                  <a:srgbClr val="669900"/>
                </a:solidFill>
                <a:latin typeface="Liberation Mono"/>
              </a:rPr>
              <a:t>'password'</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00B050"/>
                </a:solidFill>
                <a:latin typeface="Liberation Mono"/>
              </a:rPr>
              <a:t>'saleel'</a:t>
            </a:r>
            <a:r>
              <a:rPr lang="en-US" dirty="0">
                <a:latin typeface="Liberation Mono"/>
              </a:rPr>
              <a:t>));</a:t>
            </a:r>
          </a:p>
        </p:txBody>
      </p:sp>
      <p:sp>
        <p:nvSpPr>
          <p:cNvPr id="7" name="TextBox 6">
            <a:extLst>
              <a:ext uri="{FF2B5EF4-FFF2-40B4-BE49-F238E27FC236}">
                <a16:creationId xmlns:a16="http://schemas.microsoft.com/office/drawing/2014/main" id="{7F76CC30-87D6-49CC-0F89-2D6CE8477188}"/>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INSERT in </a:t>
            </a:r>
            <a:r>
              <a:rPr lang="en-IN" sz="1900" b="1" i="1" dirty="0">
                <a:solidFill>
                  <a:srgbClr val="B212AA"/>
                </a:solidFill>
                <a:latin typeface="Arial" panose="020B0604020202020204" pitchFamily="34" charset="0"/>
                <a:cs typeface="Arial" panose="020B0604020202020204" pitchFamily="34" charset="0"/>
              </a:rPr>
              <a:t>Array, Binary</a:t>
            </a:r>
            <a:endParaRPr lang="en-IN" sz="1900" b="1" dirty="0">
              <a:solidFill>
                <a:srgbClr val="B212AA"/>
              </a:solidFill>
            </a:endParaRPr>
          </a:p>
        </p:txBody>
      </p:sp>
      <p:sp>
        <p:nvSpPr>
          <p:cNvPr id="9" name="TextBox 8">
            <a:extLst>
              <a:ext uri="{FF2B5EF4-FFF2-40B4-BE49-F238E27FC236}">
                <a16:creationId xmlns:a16="http://schemas.microsoft.com/office/drawing/2014/main" id="{68F775EC-E63E-2544-C92D-9E4B3628E047}"/>
              </a:ext>
            </a:extLst>
          </p:cNvPr>
          <p:cNvSpPr txBox="1"/>
          <p:nvPr/>
        </p:nvSpPr>
        <p:spPr>
          <a:xfrm>
            <a:off x="119336" y="4545702"/>
            <a:ext cx="11953327" cy="212365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.qty', </a:t>
            </a:r>
            <a:r>
              <a:rPr lang="en-IN" dirty="0">
                <a:solidFill>
                  <a:srgbClr val="990055"/>
                </a:solidFill>
                <a:latin typeface="Liberation Mono"/>
              </a:rPr>
              <a:t>100</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 update the existing value</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.discount', </a:t>
            </a:r>
            <a:r>
              <a:rPr lang="en-IN" dirty="0">
                <a:solidFill>
                  <a:srgbClr val="990055"/>
                </a:solidFill>
                <a:latin typeface="Liberation Mono"/>
              </a:rPr>
              <a:t>10.34</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00B050"/>
                </a:solidFill>
                <a:latin typeface="Liberation Mono"/>
              </a:rPr>
              <a:t>// add new key</a:t>
            </a:r>
          </a:p>
          <a:p>
            <a:pPr marL="285750" indent="-285750">
              <a:buFont typeface="Arial" panose="020B0604020202020204" pitchFamily="34" charset="0"/>
              <a:buChar char="•"/>
            </a:pPr>
            <a:endParaRPr lang="en-IN"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'L'</a:t>
            </a:r>
            <a:r>
              <a:rPr lang="en-US" dirty="0">
                <a:latin typeface="Liberation Mono"/>
              </a:rPr>
              <a:t>); </a:t>
            </a:r>
            <a:r>
              <a:rPr lang="en-US" dirty="0">
                <a:solidFill>
                  <a:srgbClr val="00B050"/>
                </a:solidFill>
                <a:latin typeface="Liberation Mono"/>
              </a:rPr>
              <a:t>// append a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'XS'</a:t>
            </a:r>
            <a:r>
              <a:rPr lang="en-US" dirty="0">
                <a:latin typeface="Liberation Mono"/>
              </a:rPr>
              <a: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'XL’</a:t>
            </a:r>
            <a:r>
              <a:rPr lang="en-US" dirty="0">
                <a:latin typeface="Liberation Mono"/>
              </a:rPr>
              <a:t>); </a:t>
            </a:r>
            <a:r>
              <a:rPr lang="en-US" dirty="0">
                <a:solidFill>
                  <a:srgbClr val="00B050"/>
                </a:solidFill>
                <a:latin typeface="Liberation Mono"/>
              </a:rPr>
              <a:t>// append multiple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JSON_REMOVE</a:t>
            </a:r>
            <a:r>
              <a:rPr lang="en-IN" dirty="0">
                <a:latin typeface="Liberation Mono"/>
              </a:rPr>
              <a:t>(document, '</a:t>
            </a:r>
            <a:r>
              <a:rPr lang="en-IN" dirty="0">
                <a:solidFill>
                  <a:srgbClr val="DD4A68"/>
                </a:solidFill>
                <a:latin typeface="Liberation Mono"/>
              </a:rPr>
              <a:t>$</a:t>
            </a:r>
            <a:r>
              <a:rPr lang="en-IN" dirty="0">
                <a:latin typeface="Liberation Mono"/>
              </a:rPr>
              <a:t>.size[</a:t>
            </a:r>
            <a:r>
              <a:rPr lang="en-IN" dirty="0">
                <a:solidFill>
                  <a:srgbClr val="990055"/>
                </a:solidFill>
                <a:latin typeface="Liberation Mono"/>
              </a:rPr>
              <a:t>0</a:t>
            </a:r>
            <a:r>
              <a:rPr lang="en-IN" dirty="0">
                <a:latin typeface="Liberation Mono"/>
              </a:rPr>
              <a:t>]’); </a:t>
            </a:r>
            <a:r>
              <a:rPr lang="en-IN" dirty="0">
                <a:solidFill>
                  <a:srgbClr val="00B050"/>
                </a:solidFill>
                <a:latin typeface="Liberation Mono"/>
              </a:rPr>
              <a:t>// remove element from array</a:t>
            </a:r>
          </a:p>
        </p:txBody>
      </p:sp>
      <p:sp>
        <p:nvSpPr>
          <p:cNvPr id="11" name="TextBox 10">
            <a:extLst>
              <a:ext uri="{FF2B5EF4-FFF2-40B4-BE49-F238E27FC236}">
                <a16:creationId xmlns:a16="http://schemas.microsoft.com/office/drawing/2014/main" id="{441ABC4C-B0DB-CFDD-441E-D9209569D1D1}"/>
              </a:ext>
            </a:extLst>
          </p:cNvPr>
          <p:cNvSpPr txBox="1"/>
          <p:nvPr/>
        </p:nvSpPr>
        <p:spPr>
          <a:xfrm>
            <a:off x="353361" y="3872949"/>
            <a:ext cx="11431269"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UPDATE</a:t>
            </a:r>
            <a:endParaRPr lang="en-IN" sz="1900" dirty="0">
              <a:solidFill>
                <a:srgbClr val="B212AA"/>
              </a:solidFill>
            </a:endParaRPr>
          </a:p>
        </p:txBody>
      </p:sp>
    </p:spTree>
    <p:extLst>
      <p:ext uri="{BB962C8B-B14F-4D97-AF65-F5344CB8AC3E}">
        <p14:creationId xmlns:p14="http://schemas.microsoft.com/office/powerpoint/2010/main" val="2391401115"/>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2492896"/>
            <a:ext cx="1144927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Virtual column cannot be converted to stored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4607262"/>
            <a:ext cx="11593288" cy="169277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virtual column  [ GENERATED ALWAYS AS  ] to stored column by not giving GENERATED ALWAYS AS</a:t>
            </a:r>
          </a:p>
          <a:p>
            <a:r>
              <a:rPr lang="en-IN" sz="2400" dirty="0">
                <a:solidFill>
                  <a:srgbClr val="39AE0A"/>
                </a:solidFill>
                <a:latin typeface="Liberation Mono"/>
                <a:cs typeface="Arial" panose="020B0604020202020204" pitchFamily="34" charset="0"/>
              </a:rPr>
              <a:t>Then What-</a:t>
            </a:r>
            <a:r>
              <a:rPr lang="en-IN" sz="2400" dirty="0">
                <a:solidFill>
                  <a:srgbClr val="39AE0A"/>
                </a:solidFill>
                <a:latin typeface="Liberation Mono"/>
                <a:cs typeface="Arial" panose="020B0604020202020204" pitchFamily="34" charset="0"/>
                <a:sym typeface="Wingdings" panose="05000000000000000000" pitchFamily="2" charset="2"/>
              </a:rPr>
              <a:t> give</a:t>
            </a:r>
          </a:p>
          <a:p>
            <a:endParaRPr lang="en-IN" sz="800" dirty="0">
              <a:solidFill>
                <a:srgbClr val="39AE0A"/>
              </a:solidFill>
              <a:latin typeface="Liberation Mono"/>
              <a:cs typeface="Arial" panose="020B0604020202020204" pitchFamily="34" charset="0"/>
              <a:sym typeface="Wingdings" panose="05000000000000000000" pitchFamily="2" charset="2"/>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a:t>
            </a:r>
            <a:r>
              <a:rPr lang="en-IN" dirty="0">
                <a:solidFill>
                  <a:schemeClr val="bg1">
                    <a:lumMod val="50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endParaRPr lang="en-IN" dirty="0">
              <a:solidFill>
                <a:srgbClr val="39AE0A"/>
              </a:solidFill>
              <a:latin typeface="Liberation Mono"/>
              <a:cs typeface="Arial" panose="020B0604020202020204" pitchFamily="34" charset="0"/>
            </a:endParaRPr>
          </a:p>
          <a:p>
            <a:pPr marL="285750" indent="-285750">
              <a:buFont typeface="Arial" panose="020B0604020202020204" pitchFamily="34" charset="0"/>
              <a:buChar char="•"/>
            </a:pPr>
            <a:endParaRPr lang="en-IN" dirty="0">
              <a:solidFill>
                <a:srgbClr val="39AE0A"/>
              </a:solidFill>
              <a:latin typeface="Liberation Mono"/>
              <a:cs typeface="Arial" panose="020B0604020202020204" pitchFamily="34" charset="0"/>
            </a:endParaRPr>
          </a:p>
        </p:txBody>
      </p:sp>
      <p:sp>
        <p:nvSpPr>
          <p:cNvPr id="9" name="TextBox 8">
            <a:extLst>
              <a:ext uri="{FF2B5EF4-FFF2-40B4-BE49-F238E27FC236}">
                <a16:creationId xmlns:a16="http://schemas.microsoft.com/office/drawing/2014/main" id="{10E1C558-073A-4A57-A448-E12D6B106C93}"/>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AB3AA83E-E307-BEFA-7D26-2FF9DBC40EF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07369083"/>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F4254FBC-3588-4BD4-9D83-1D10BDE9C204}"/>
              </a:ext>
            </a:extLst>
          </p:cNvPr>
          <p:cNvSpPr txBox="1"/>
          <p:nvPr/>
        </p:nvSpPr>
        <p:spPr>
          <a:xfrm>
            <a:off x="335360" y="2494800"/>
            <a:ext cx="856895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Stored column cannot be converted to virtual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5158933"/>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stored column to virtual column by giving GENERATED ALWAYS AS</a:t>
            </a:r>
          </a:p>
        </p:txBody>
      </p:sp>
      <p:sp>
        <p:nvSpPr>
          <p:cNvPr id="7" name="Rectangle 6">
            <a:extLst>
              <a:ext uri="{FF2B5EF4-FFF2-40B4-BE49-F238E27FC236}">
                <a16:creationId xmlns:a16="http://schemas.microsoft.com/office/drawing/2014/main" id="{37E29D04-BAB4-45E4-9B6A-34101EBDE0F6}"/>
              </a:ext>
            </a:extLst>
          </p:cNvPr>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B57D4E66-00C2-482E-B8F7-2498726B488B}"/>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6C740BC7-A734-3B47-99F3-EC32C01A0A32}"/>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99704631"/>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03967" y="16288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visible / invisible columns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80365" y="2543200"/>
            <a:ext cx="11431270"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Columns are visible by default. To explicitly specify visibility for a new column, use a VISIBLE or INVISIBLE keyword as part of the column definition for CREATE TABLE or ALTER TABLE.</a:t>
            </a:r>
            <a:endParaRPr lang="en-IN" dirty="0">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3F262B4-69B8-4A4E-89B3-0E81DE60D46C}"/>
              </a:ext>
            </a:extLst>
          </p:cNvPr>
          <p:cNvSpPr/>
          <p:nvPr/>
        </p:nvSpPr>
        <p:spPr>
          <a:xfrm>
            <a:off x="353361" y="3796585"/>
            <a:ext cx="11431270" cy="280076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An invisible column is normally hidden to queries, but can be accessed if explicitly referenced. Prior to MySQL 8.0.23, all columns are visible.</a:t>
            </a:r>
          </a:p>
          <a:p>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 table must have at least one visible column. Attempting to make all columns invisible produces an error.</a:t>
            </a:r>
          </a:p>
          <a:p>
            <a:pPr marL="342900" indent="-342900">
              <a:buFont typeface="Arial" panose="020B0604020202020204" pitchFamily="34" charset="0"/>
              <a:buChar char="•"/>
            </a:pPr>
            <a:endParaRPr lang="en-IN"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SELECT * queries by default  does not include invisible columns.</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Invisible columns can be indexed and used in constraints (PK, UNIQUE, FK).</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change visibility with ALTER TABLE.</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Both STORED and VIRTUAL generated columns can also be declared VISIBLE or INVISIBLE.</a:t>
            </a:r>
          </a:p>
        </p:txBody>
      </p:sp>
    </p:spTree>
    <p:extLst>
      <p:ext uri="{BB962C8B-B14F-4D97-AF65-F5344CB8AC3E}">
        <p14:creationId xmlns:p14="http://schemas.microsoft.com/office/powerpoint/2010/main" val="3917828657"/>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invisible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4" y="1556792"/>
            <a:ext cx="6858920" cy="230832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commission)</a:t>
            </a:r>
            <a:r>
              <a:rPr lang="en-IN" dirty="0">
                <a:solidFill>
                  <a:schemeClr val="bg1">
                    <a:lumMod val="65000"/>
                  </a:schemeClr>
                </a:solidFill>
                <a:latin typeface="Liberation Mono"/>
                <a:cs typeface="Arial" panose="020B0604020202020204" pitchFamily="34" charset="0"/>
              </a:rPr>
              <a:t> </a:t>
            </a:r>
            <a:r>
              <a:rPr lang="en-IN" dirty="0">
                <a:solidFill>
                  <a:srgbClr val="FD8603"/>
                </a:solidFill>
                <a:latin typeface="Liberation Mono"/>
                <a:cs typeface="Arial" panose="020B0604020202020204" pitchFamily="34" charset="0"/>
              </a:rPr>
              <a:t>INVISIBLE</a:t>
            </a:r>
          </a:p>
          <a:p>
            <a:r>
              <a:rPr lang="en-US" dirty="0">
                <a:solidFill>
                  <a:srgbClr val="0077AA"/>
                </a:solidFill>
                <a:latin typeface="Liberation Mono"/>
                <a:cs typeface="Arial" panose="020B0604020202020204" pitchFamily="34" charset="0"/>
              </a:rPr>
              <a:t>       </a:t>
            </a:r>
            <a:r>
              <a:rPr lang="en-US" dirty="0">
                <a:latin typeface="Liberation Mono"/>
                <a:cs typeface="Arial" panose="020B0604020202020204" pitchFamily="34" charset="0"/>
              </a:rPr>
              <a:t>tax</a:t>
            </a:r>
            <a:r>
              <a:rPr lang="en-US" dirty="0">
                <a:solidFill>
                  <a:srgbClr val="0077AA"/>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r>
              <a:rPr lang="en-US" dirty="0">
                <a:solidFill>
                  <a:srgbClr val="0077AA"/>
                </a:solidFill>
                <a:latin typeface="Liberation Mono"/>
                <a:cs typeface="Arial" panose="020B0604020202020204" pitchFamily="34" charset="0"/>
              </a:rPr>
              <a:t> GENERATED ALWAYS AS </a:t>
            </a:r>
            <a:r>
              <a:rPr lang="en-US" dirty="0">
                <a:latin typeface="Liberation Mono"/>
                <a:cs typeface="Arial" panose="020B0604020202020204" pitchFamily="34" charset="0"/>
              </a:rPr>
              <a:t>(total</a:t>
            </a:r>
            <a:r>
              <a:rPr lang="en-US" dirty="0">
                <a:solidFill>
                  <a:srgbClr val="0077AA"/>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a:t>
            </a:r>
            <a:r>
              <a:rPr lang="en-US" dirty="0">
                <a:solidFill>
                  <a:srgbClr val="990055"/>
                </a:solidFill>
                <a:latin typeface="Liberation Mono"/>
              </a:rPr>
              <a:t>.25</a:t>
            </a:r>
            <a:r>
              <a:rPr lang="en-US" dirty="0">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VIRTUAL </a:t>
            </a:r>
            <a:r>
              <a:rPr lang="en-US" dirty="0">
                <a:solidFill>
                  <a:srgbClr val="FD8603"/>
                </a:solidFill>
                <a:latin typeface="Liberation Mono"/>
                <a:cs typeface="Arial" panose="020B0604020202020204" pitchFamily="34" charset="0"/>
              </a:rPr>
              <a:t>INVISIBLE</a:t>
            </a:r>
            <a:endParaRPr lang="en-IN" dirty="0">
              <a:solidFill>
                <a:srgbClr val="FD8603"/>
              </a:solidFill>
              <a:latin typeface="Liberation Mono"/>
              <a:cs typeface="Arial" panose="020B0604020202020204" pitchFamily="34" charset="0"/>
            </a:endParaRP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299610" y="3861048"/>
            <a:ext cx="11162033"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rgbClr val="990055"/>
                </a:solidFill>
                <a:latin typeface="Liberation Mono"/>
              </a:rPr>
              <a:t>-700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rgbClr val="990055"/>
                </a:solidFill>
                <a:latin typeface="Liberation Mono"/>
              </a:rPr>
              <a:t>250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(firstName, salary, commission)</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a:t>
            </a:r>
            <a:endParaRPr lang="en-IN" dirty="0"/>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INVISIBLE</a:t>
            </a:r>
            <a:endParaRPr lang="en-IN" dirty="0">
              <a:solidFill>
                <a:srgbClr val="0077AA"/>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0D133126-D949-46DD-A58A-9F84AD477AE4}"/>
              </a:ext>
            </a:extLst>
          </p:cNvPr>
          <p:cNvSpPr txBox="1"/>
          <p:nvPr/>
        </p:nvSpPr>
        <p:spPr>
          <a:xfrm>
            <a:off x="334567" y="5877272"/>
            <a:ext cx="544432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VISIBLE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INVISIBLE</a:t>
            </a:r>
            <a:r>
              <a:rPr lang="en-IN" dirty="0">
                <a:latin typeface="Liberation Mono"/>
              </a:rPr>
              <a:t>;</a:t>
            </a:r>
          </a:p>
        </p:txBody>
      </p:sp>
      <p:sp>
        <p:nvSpPr>
          <p:cNvPr id="13" name="Rectangle 12">
            <a:extLst>
              <a:ext uri="{FF2B5EF4-FFF2-40B4-BE49-F238E27FC236}">
                <a16:creationId xmlns:a16="http://schemas.microsoft.com/office/drawing/2014/main" id="{5B399BF2-1A87-4455-9FEB-CF56CA9115E0}"/>
              </a:ext>
            </a:extLst>
          </p:cNvPr>
          <p:cNvSpPr/>
          <p:nvPr/>
        </p:nvSpPr>
        <p:spPr>
          <a:xfrm>
            <a:off x="6600056" y="1556792"/>
            <a:ext cx="544432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 </a:t>
            </a:r>
            <a:r>
              <a:rPr lang="en-IN" dirty="0">
                <a:solidFill>
                  <a:srgbClr val="FD8603"/>
                </a:solidFill>
                <a:latin typeface="Liberation Mono"/>
                <a:cs typeface="Arial" panose="020B0604020202020204" pitchFamily="34" charset="0"/>
              </a:rPr>
              <a:t>INVISIBLE</a:t>
            </a:r>
            <a:r>
              <a:rPr lang="en-IN" dirty="0">
                <a:solidFill>
                  <a:srgbClr val="C00000"/>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3618066837"/>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varbinary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94987B17-CE69-8785-84B0-5FE29FC91AC6}"/>
              </a:ext>
            </a:extLst>
          </p:cNvPr>
          <p:cNvSpPr/>
          <p:nvPr/>
        </p:nvSpPr>
        <p:spPr>
          <a:xfrm>
            <a:off x="1091444" y="3249851"/>
            <a:ext cx="10009112"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VARBINARY is a variable-length binary string column. It’s similar to VARCHAR, but it stores binary data, not text.</a:t>
            </a:r>
            <a:endParaRPr lang="en-IN"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1E97A893-EA5D-5C44-1A63-CFC88374BDA3}"/>
              </a:ext>
            </a:extLst>
          </p:cNvPr>
          <p:cNvSpPr/>
          <p:nvPr/>
        </p:nvSpPr>
        <p:spPr>
          <a:xfrm>
            <a:off x="353361" y="4482439"/>
            <a:ext cx="11431270" cy="193899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VARBINARY stores binary strings, not character strings.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Comparisons are based on numeric byte values, not text collation.</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index VARBINARY columns.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assign default values but must be valid binary literals.</a:t>
            </a:r>
          </a:p>
        </p:txBody>
      </p:sp>
    </p:spTree>
    <p:extLst>
      <p:ext uri="{BB962C8B-B14F-4D97-AF65-F5344CB8AC3E}">
        <p14:creationId xmlns:p14="http://schemas.microsoft.com/office/powerpoint/2010/main" val="3383703477"/>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varbinary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VARBINARY</a:t>
            </a:r>
            <a:r>
              <a:rPr lang="en-IN" dirty="0">
                <a:latin typeface="Liberation Mono"/>
                <a:cs typeface="Arial" panose="020B0604020202020204" pitchFamily="34" charset="0"/>
              </a:rPr>
              <a:t>(40) </a:t>
            </a:r>
            <a:r>
              <a:rPr lang="en-IN" dirty="0">
                <a:solidFill>
                  <a:srgbClr val="FD8603"/>
                </a:solidFill>
                <a:latin typeface="Liberation Mono"/>
                <a:cs typeface="Arial" panose="020B0604020202020204" pitchFamily="34" charset="0"/>
              </a:rPr>
              <a:t>INVISIBLE</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334566" y="3356992"/>
            <a:ext cx="111620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669900"/>
                </a:solidFill>
                <a:latin typeface="Liberation Mono"/>
              </a:rPr>
              <a:t>'ram@123'</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669900"/>
                </a:solidFill>
                <a:latin typeface="Liberation Mono"/>
              </a:rPr>
              <a:t>'pankaj'</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669900"/>
                </a:solidFill>
                <a:latin typeface="Liberation Mono"/>
              </a:rPr>
              <a:t>'rajan'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a:t>
            </a:r>
            <a:r>
              <a:rPr lang="en-IN" dirty="0">
                <a:latin typeface="Liberation Mono"/>
                <a:cs typeface="Arial" panose="020B0604020202020204" pitchFamily="34" charset="0"/>
              </a:rPr>
              <a:t>login(userName, password)</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dirty="0">
                <a:solidFill>
                  <a:srgbClr val="834689"/>
                </a:solidFill>
                <a:latin typeface="Liberation Mono"/>
                <a:cs typeface="Arial" panose="020B0604020202020204" pitchFamily="34" charset="0"/>
              </a:rPr>
              <a:t>VARBINARY</a:t>
            </a:r>
            <a:endParaRPr lang="en-IN" dirty="0">
              <a:solidFill>
                <a:srgbClr val="0077AA"/>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ECA95C0-760E-4F1E-8B51-2373B8B7181D}"/>
              </a:ext>
            </a:extLst>
          </p:cNvPr>
          <p:cNvSpPr txBox="1"/>
          <p:nvPr/>
        </p:nvSpPr>
        <p:spPr>
          <a:xfrm>
            <a:off x="334566" y="5085184"/>
            <a:ext cx="60937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login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t> username, </a:t>
            </a:r>
            <a:r>
              <a:rPr lang="en-US" dirty="0">
                <a:solidFill>
                  <a:srgbClr val="0077AA"/>
                </a:solidFill>
                <a:latin typeface="Liberation Mono"/>
                <a:cs typeface="Arial" panose="020B0604020202020204" pitchFamily="34" charset="0"/>
              </a:rPr>
              <a:t>CAST</a:t>
            </a:r>
            <a:r>
              <a:rPr lang="en-US" dirty="0">
                <a:solidFill>
                  <a:schemeClr val="bg1">
                    <a:lumMod val="50000"/>
                  </a:schemeClr>
                </a:solidFill>
              </a:rPr>
              <a:t>(</a:t>
            </a:r>
            <a:r>
              <a:rPr lang="en-US" dirty="0"/>
              <a:t>password as </a:t>
            </a:r>
            <a:r>
              <a:rPr lang="en-US" dirty="0">
                <a:solidFill>
                  <a:srgbClr val="0077AA"/>
                </a:solidFill>
                <a:latin typeface="Liberation Mono"/>
                <a:cs typeface="Arial" panose="020B0604020202020204" pitchFamily="34" charset="0"/>
              </a:rPr>
              <a:t>CHAR</a:t>
            </a:r>
            <a:r>
              <a:rPr lang="en-US" dirty="0">
                <a:solidFill>
                  <a:schemeClr val="bg1">
                    <a:lumMod val="50000"/>
                  </a:schemeClr>
                </a:solidFill>
              </a:rPr>
              <a:t>)</a:t>
            </a:r>
            <a:r>
              <a:rPr lang="en-US" dirty="0"/>
              <a:t> </a:t>
            </a:r>
            <a:r>
              <a:rPr lang="en-US" dirty="0">
                <a:solidFill>
                  <a:srgbClr val="0077AA"/>
                </a:solidFill>
                <a:latin typeface="Liberation Mono"/>
                <a:cs typeface="Arial" panose="020B0604020202020204" pitchFamily="34" charset="0"/>
              </a:rPr>
              <a:t>FROM</a:t>
            </a:r>
            <a:r>
              <a:rPr lang="en-US" dirty="0"/>
              <a:t> login;</a:t>
            </a:r>
            <a:endParaRPr lang="en-IN" dirty="0"/>
          </a:p>
        </p:txBody>
      </p:sp>
      <p:sp>
        <p:nvSpPr>
          <p:cNvPr id="2" name="TextBox 1">
            <a:extLst>
              <a:ext uri="{FF2B5EF4-FFF2-40B4-BE49-F238E27FC236}">
                <a16:creationId xmlns:a16="http://schemas.microsoft.com/office/drawing/2014/main" id="{41BA9A89-4A6F-2F4E-263D-2A6F8D7DD0AB}"/>
              </a:ext>
            </a:extLst>
          </p:cNvPr>
          <p:cNvSpPr txBox="1"/>
          <p:nvPr/>
        </p:nvSpPr>
        <p:spPr>
          <a:xfrm>
            <a:off x="7218534" y="1685894"/>
            <a:ext cx="4770687"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temp(</a:t>
            </a:r>
          </a:p>
          <a:p>
            <a:r>
              <a:rPr lang="en-IN" dirty="0">
                <a:latin typeface="Liberation Mono"/>
              </a:rPr>
              <a:t>        c1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c2 </a:t>
            </a:r>
            <a:r>
              <a:rPr lang="en-IN" dirty="0">
                <a:solidFill>
                  <a:srgbClr val="834689"/>
                </a:solidFill>
                <a:latin typeface="Liberation Mono"/>
                <a:cs typeface="Arial" panose="020B0604020202020204" pitchFamily="34" charset="0"/>
              </a:rPr>
              <a:t>VARBINARY</a:t>
            </a:r>
            <a:r>
              <a:rPr lang="en-IN" dirty="0">
                <a:latin typeface="Liberation Mono"/>
              </a:rPr>
              <a:t>(4) </a:t>
            </a:r>
            <a:r>
              <a:rPr lang="en-IN" dirty="0">
                <a:solidFill>
                  <a:srgbClr val="0077AA"/>
                </a:solidFill>
                <a:latin typeface="Liberation Mono"/>
                <a:cs typeface="Arial" panose="020B0604020202020204" pitchFamily="34" charset="0"/>
              </a:rPr>
              <a:t>DEFAULT</a:t>
            </a:r>
            <a:r>
              <a:rPr lang="en-IN" dirty="0">
                <a:latin typeface="Liberation Mono"/>
              </a:rPr>
              <a:t> 0x89504E47);</a:t>
            </a:r>
          </a:p>
        </p:txBody>
      </p:sp>
    </p:spTree>
    <p:extLst>
      <p:ext uri="{BB962C8B-B14F-4D97-AF65-F5344CB8AC3E}">
        <p14:creationId xmlns:p14="http://schemas.microsoft.com/office/powerpoint/2010/main" val="1926408959"/>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zerofill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53362" y="3284985"/>
            <a:ext cx="11431270" cy="646331"/>
          </a:xfrm>
          <a:prstGeom prst="rect">
            <a:avLst/>
          </a:prstGeom>
          <a:noFill/>
        </p:spPr>
        <p:txBody>
          <a:bodyPr wrap="square">
            <a:spAutoFit/>
          </a:bodyPr>
          <a:lstStyle/>
          <a:p>
            <a:pPr algn="just"/>
            <a:r>
              <a:rPr lang="en-IN" dirty="0">
                <a:latin typeface="Palatino Linotype" panose="02040502050505030304" pitchFamily="18" charset="0"/>
                <a:cs typeface="Arial" panose="020B0604020202020204" pitchFamily="34" charset="0"/>
              </a:rPr>
              <a:t>When you select a column with the type ZEROFILL it pads the displayed value of the field with zeros up to the display width specified in the column definition.</a:t>
            </a:r>
          </a:p>
        </p:txBody>
      </p:sp>
      <p:sp>
        <p:nvSpPr>
          <p:cNvPr id="5" name="Rectangle 4">
            <a:extLst>
              <a:ext uri="{FF2B5EF4-FFF2-40B4-BE49-F238E27FC236}">
                <a16:creationId xmlns:a16="http://schemas.microsoft.com/office/drawing/2014/main" id="{33F262B4-69B8-4A4E-89B3-0E81DE60D46C}"/>
              </a:ext>
            </a:extLst>
          </p:cNvPr>
          <p:cNvSpPr/>
          <p:nvPr/>
        </p:nvSpPr>
        <p:spPr>
          <a:xfrm>
            <a:off x="353361" y="4482439"/>
            <a:ext cx="11431270" cy="101566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ZEROFILL attribute is use for numeric datatype.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graphicFrame>
        <p:nvGraphicFramePr>
          <p:cNvPr id="6" name="Table 5">
            <a:extLst>
              <a:ext uri="{FF2B5EF4-FFF2-40B4-BE49-F238E27FC236}">
                <a16:creationId xmlns:a16="http://schemas.microsoft.com/office/drawing/2014/main" id="{1FC28C04-2FC9-4B21-92F9-9D64484A8A0A}"/>
              </a:ext>
            </a:extLst>
          </p:cNvPr>
          <p:cNvGraphicFramePr>
            <a:graphicFrameLocks noGrp="1"/>
          </p:cNvGraphicFramePr>
          <p:nvPr/>
        </p:nvGraphicFramePr>
        <p:xfrm>
          <a:off x="1189563" y="1215162"/>
          <a:ext cx="7829618" cy="736600"/>
        </p:xfrm>
        <a:graphic>
          <a:graphicData uri="http://schemas.openxmlformats.org/drawingml/2006/table">
            <a:tbl>
              <a:tblPr firstRow="1" bandRow="1">
                <a:tableStyleId>{2D5ABB26-0587-4C30-8999-92F81FD0307C}</a:tableStyleId>
              </a:tblPr>
              <a:tblGrid>
                <a:gridCol w="2855888">
                  <a:extLst>
                    <a:ext uri="{9D8B030D-6E8A-4147-A177-3AD203B41FA5}">
                      <a16:colId xmlns:a16="http://schemas.microsoft.com/office/drawing/2014/main" val="20000"/>
                    </a:ext>
                  </a:extLst>
                </a:gridCol>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tblGrid>
              <a:tr h="370840">
                <a:tc>
                  <a:txBody>
                    <a:bodyPr/>
                    <a:lstStyle/>
                    <a:p>
                      <a:r>
                        <a:rPr lang="en-IN" sz="1800" dirty="0">
                          <a:latin typeface="Arial" panose="020B0604020202020204" pitchFamily="34" charset="0"/>
                          <a:cs typeface="Arial" panose="020B0604020202020204" pitchFamily="34" charset="0"/>
                        </a:rPr>
                        <a:t>a1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 </a:t>
                      </a:r>
                      <a:r>
                        <a:rPr lang="en-IN" sz="1800" kern="1200" dirty="0">
                          <a:solidFill>
                            <a:srgbClr val="FF0000"/>
                          </a:solidFill>
                          <a:latin typeface="Arial" panose="020B0604020202020204" pitchFamily="34" charset="0"/>
                          <a:ea typeface="+mn-ea"/>
                          <a:cs typeface="Arial" panose="020B0604020202020204" pitchFamily="34" charset="0"/>
                        </a:rPr>
                        <a:t>zerofill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r>
                        <a:rPr lang="en-IN" sz="1800" dirty="0">
                          <a:latin typeface="Arial" panose="020B0604020202020204" pitchFamily="34" charset="0"/>
                          <a:cs typeface="Arial" panose="020B0604020202020204" pitchFamily="34" charset="0"/>
                        </a:rPr>
                        <a:t>a2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graphicFrame>
        <p:nvGraphicFramePr>
          <p:cNvPr id="8" name="Table 7">
            <a:extLst>
              <a:ext uri="{FF2B5EF4-FFF2-40B4-BE49-F238E27FC236}">
                <a16:creationId xmlns:a16="http://schemas.microsoft.com/office/drawing/2014/main" id="{524FFB51-C6E2-4993-8DD9-6E925F171704}"/>
              </a:ext>
            </a:extLst>
          </p:cNvPr>
          <p:cNvGraphicFramePr>
            <a:graphicFrameLocks noGrp="1"/>
          </p:cNvGraphicFramePr>
          <p:nvPr/>
        </p:nvGraphicFramePr>
        <p:xfrm>
          <a:off x="4049882" y="1225780"/>
          <a:ext cx="6956986" cy="736600"/>
        </p:xfrm>
        <a:graphic>
          <a:graphicData uri="http://schemas.openxmlformats.org/drawingml/2006/table">
            <a:tbl>
              <a:tblPr firstRow="1" bandRow="1">
                <a:tableStyleId>{2D5ABB26-0587-4C30-8999-92F81FD0307C}</a:tableStyleId>
              </a:tblPr>
              <a:tblGrid>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gridCol w="1983256">
                  <a:extLst>
                    <a:ext uri="{9D8B030D-6E8A-4147-A177-3AD203B41FA5}">
                      <a16:colId xmlns:a16="http://schemas.microsoft.com/office/drawing/2014/main" val="20011"/>
                    </a:ext>
                  </a:extLst>
                </a:gridCol>
              </a:tblGrid>
              <a:tr h="370840">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ID1</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baseline="0" dirty="0">
                          <a:latin typeface="Arial" panose="020B0604020202020204" pitchFamily="34" charset="0"/>
                          <a:cs typeface="Arial" panose="020B0604020202020204" pitchFamily="34" charset="0"/>
                        </a:rPr>
                        <a:t> -&gt;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ID2</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  -&gt;  4</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898163940"/>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ZEROFILL</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rgbClr val="A67F59"/>
                </a:solidFill>
                <a:latin typeface="Liberation Mono"/>
                <a:cs typeface="Arial" panose="020B0604020202020204" pitchFamily="34" charset="0"/>
              </a:rPr>
              <a:t>+</a:t>
            </a:r>
            <a:r>
              <a:rPr lang="en-IN" dirty="0">
                <a:latin typeface="Liberation Mono"/>
                <a:cs typeface="Arial" panose="020B0604020202020204" pitchFamily="34" charset="0"/>
              </a:rPr>
              <a:t> commission)</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173184" y="3873686"/>
            <a:ext cx="11449271"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pankaj</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rgbClr val="990055"/>
                </a:solidFill>
                <a:latin typeface="Liberation Mono"/>
              </a:rPr>
              <a:t>400</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rajan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0</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r>
              <a:rPr lang="en-US"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solidFill>
                  <a:schemeClr val="tx1">
                    <a:lumMod val="95000"/>
                    <a:lumOff val="5000"/>
                  </a:schemeClr>
                </a:solidFill>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 </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r>
              <a:rPr lang="en-IN" dirty="0">
                <a:solidFill>
                  <a:srgbClr val="990055"/>
                </a:solidFill>
                <a:latin typeface="Liberation Mono"/>
              </a:rPr>
              <a:t>200</a:t>
            </a:r>
            <a:r>
              <a:rPr lang="en-IN" dirty="0">
                <a:solidFill>
                  <a:schemeClr val="tx1">
                    <a:lumMod val="95000"/>
                    <a:lumOff val="5000"/>
                  </a:schemeClr>
                </a:solidFill>
                <a:latin typeface="Liberation Mono"/>
                <a:cs typeface="Arial" panose="020B0604020202020204" pitchFamily="34" charset="0"/>
              </a:rPr>
              <a:t>, </a:t>
            </a:r>
            <a:r>
              <a:rPr lang="en-IN" dirty="0">
                <a:solidFill>
                  <a:srgbClr val="669900"/>
                </a:solidFill>
                <a:latin typeface="Liberation Mono"/>
              </a:rPr>
              <a:t>'rahul'</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3000</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 , default</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9325C189-CB9F-45EA-AC9D-7E21C0DF022A}"/>
              </a:ext>
            </a:extLst>
          </p:cNvPr>
          <p:cNvSpPr/>
          <p:nvPr/>
        </p:nvSpPr>
        <p:spPr>
          <a:xfrm>
            <a:off x="173185" y="5807005"/>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ID, </a:t>
            </a:r>
            <a:r>
              <a:rPr lang="en-US" dirty="0">
                <a:solidFill>
                  <a:srgbClr val="DD4A68"/>
                </a:solidFill>
                <a:latin typeface="Liberation Mono"/>
              </a:rPr>
              <a:t>LENGTH</a:t>
            </a:r>
            <a:r>
              <a:rPr lang="en-US" dirty="0">
                <a:latin typeface="Liberation Mono"/>
                <a:cs typeface="Arial" panose="020B0604020202020204" pitchFamily="34" charset="0"/>
              </a:rPr>
              <a:t>(ID), </a:t>
            </a:r>
            <a:r>
              <a:rPr lang="en-US" dirty="0">
                <a:solidFill>
                  <a:schemeClr val="tx1">
                    <a:lumMod val="95000"/>
                    <a:lumOff val="5000"/>
                  </a:schemeClr>
                </a:solidFill>
                <a:latin typeface="Liberation Mono"/>
                <a:cs typeface="Arial" panose="020B0604020202020204" pitchFamily="34" charset="0"/>
              </a:rPr>
              <a:t>salary, </a:t>
            </a:r>
            <a:r>
              <a:rPr lang="en-US" dirty="0">
                <a:solidFill>
                  <a:srgbClr val="DD4A68"/>
                </a:solidFill>
                <a:latin typeface="Liberation Mono"/>
              </a:rPr>
              <a:t>LENGTH</a:t>
            </a:r>
            <a:r>
              <a:rPr lang="en-US" dirty="0">
                <a:latin typeface="Liberation Mono"/>
                <a:cs typeface="Arial" panose="020B0604020202020204" pitchFamily="34" charset="0"/>
              </a:rPr>
              <a:t>(salary)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IN" dirty="0">
              <a:solidFill>
                <a:schemeClr val="tx1">
                  <a:lumMod val="95000"/>
                  <a:lumOff val="5000"/>
                </a:schemeClr>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ZEROFILL</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91622507"/>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3861048"/>
            <a:ext cx="11665296"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numeric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sp>
        <p:nvSpPr>
          <p:cNvPr id="7" name="TextBox 6">
            <a:extLst>
              <a:ext uri="{FF2B5EF4-FFF2-40B4-BE49-F238E27FC236}">
                <a16:creationId xmlns:a16="http://schemas.microsoft.com/office/drawing/2014/main" id="{E214126E-1424-429A-BC1A-01F83E8A4A35}"/>
              </a:ext>
            </a:extLst>
          </p:cNvPr>
          <p:cNvSpPr txBox="1"/>
          <p:nvPr/>
        </p:nvSpPr>
        <p:spPr>
          <a:xfrm>
            <a:off x="479376" y="908720"/>
            <a:ext cx="540060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account ( </a:t>
            </a:r>
          </a:p>
          <a:p>
            <a:pPr marL="355600"/>
            <a:r>
              <a:rPr lang="en-IN" dirty="0">
                <a:latin typeface="Liberation Mono"/>
                <a:cs typeface="Arial" panose="020B0604020202020204" pitchFamily="34" charset="0"/>
              </a:rPr>
              <a:t>  accountNumber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ZEROFILL</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accountName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355600"/>
            <a:r>
              <a:rPr lang="en-IN" dirty="0">
                <a:latin typeface="Liberation Mono"/>
                <a:cs typeface="Arial" panose="020B0604020202020204" pitchFamily="34" charset="0"/>
              </a:rPr>
              <a:t>  custonerID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openingDate </a:t>
            </a:r>
            <a:r>
              <a:rPr lang="en-IN" dirty="0">
                <a:solidFill>
                  <a:srgbClr val="834689"/>
                </a:solidFill>
                <a:latin typeface="Liberation Mono"/>
                <a:cs typeface="Arial" panose="020B0604020202020204" pitchFamily="34" charset="0"/>
              </a:rPr>
              <a:t>DATE</a:t>
            </a:r>
          </a:p>
          <a:p>
            <a:pPr marL="355600"/>
            <a:r>
              <a:rPr lang="en-IN" dirty="0">
                <a:latin typeface="Liberation Mono"/>
                <a:cs typeface="Arial" panose="020B0604020202020204" pitchFamily="34" charset="0"/>
              </a:rPr>
              <a:t>);</a:t>
            </a:r>
          </a:p>
        </p:txBody>
      </p:sp>
      <p:grpSp>
        <p:nvGrpSpPr>
          <p:cNvPr id="3" name="Group 2">
            <a:extLst>
              <a:ext uri="{FF2B5EF4-FFF2-40B4-BE49-F238E27FC236}">
                <a16:creationId xmlns:a16="http://schemas.microsoft.com/office/drawing/2014/main" id="{9FE57A33-7412-4EB1-AB2E-0F32716DD0E9}"/>
              </a:ext>
            </a:extLst>
          </p:cNvPr>
          <p:cNvGrpSpPr/>
          <p:nvPr/>
        </p:nvGrpSpPr>
        <p:grpSpPr>
          <a:xfrm>
            <a:off x="5879976" y="908720"/>
            <a:ext cx="6083236" cy="2308324"/>
            <a:chOff x="5879976" y="908720"/>
            <a:chExt cx="6083236" cy="2308324"/>
          </a:xfrm>
        </p:grpSpPr>
        <p:pic>
          <p:nvPicPr>
            <p:cNvPr id="2" name="Picture 1">
              <a:extLst>
                <a:ext uri="{FF2B5EF4-FFF2-40B4-BE49-F238E27FC236}">
                  <a16:creationId xmlns:a16="http://schemas.microsoft.com/office/drawing/2014/main" id="{CC818116-03F5-4372-B9D8-C5346793498B}"/>
                </a:ext>
              </a:extLst>
            </p:cNvPr>
            <p:cNvPicPr>
              <a:picLocks noChangeAspect="1"/>
            </p:cNvPicPr>
            <p:nvPr/>
          </p:nvPicPr>
          <p:blipFill>
            <a:blip r:embed="rId2"/>
            <a:stretch>
              <a:fillRect/>
            </a:stretch>
          </p:blipFill>
          <p:spPr>
            <a:xfrm>
              <a:off x="5879976" y="908720"/>
              <a:ext cx="6083236" cy="2308324"/>
            </a:xfrm>
            <a:prstGeom prst="rect">
              <a:avLst/>
            </a:prstGeom>
          </p:spPr>
        </p:pic>
        <p:sp>
          <p:nvSpPr>
            <p:cNvPr id="6" name="Rectangle 5">
              <a:extLst>
                <a:ext uri="{FF2B5EF4-FFF2-40B4-BE49-F238E27FC236}">
                  <a16:creationId xmlns:a16="http://schemas.microsoft.com/office/drawing/2014/main" id="{EB8B40AC-C3AD-4883-82E6-9D02C517C77B}"/>
                </a:ext>
              </a:extLst>
            </p:cNvPr>
            <p:cNvSpPr/>
            <p:nvPr/>
          </p:nvSpPr>
          <p:spPr>
            <a:xfrm>
              <a:off x="6146014" y="1307220"/>
              <a:ext cx="254227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12833210"/>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8" name="Rectangle 7">
            <a:extLst>
              <a:ext uri="{FF2B5EF4-FFF2-40B4-BE49-F238E27FC236}">
                <a16:creationId xmlns:a16="http://schemas.microsoft.com/office/drawing/2014/main" id="{C00433B9-72C4-4EE5-AA94-A89EF775506D}"/>
              </a:ext>
            </a:extLst>
          </p:cNvPr>
          <p:cNvSpPr/>
          <p:nvPr/>
        </p:nvSpPr>
        <p:spPr>
          <a:xfrm>
            <a:off x="370570" y="3286725"/>
            <a:ext cx="11449272" cy="707886"/>
          </a:xfrm>
          <a:prstGeom prst="rect">
            <a:avLst/>
          </a:prstGeom>
        </p:spPr>
        <p:txBody>
          <a:bodyPr wrap="square">
            <a:spAutoFit/>
          </a:bodyPr>
          <a:lstStyle/>
          <a:p>
            <a:r>
              <a:rPr lang="en-US" sz="2000" dirty="0">
                <a:latin typeface="Palatino Linotype" panose="02040502050505030304" pitchFamily="18" charset="0"/>
                <a:cs typeface="Arial" panose="020B0604020202020204" pitchFamily="34" charset="0"/>
              </a:rPr>
              <a:t>CONSTRAINT is used to define rules to allow or restrict what values can be stored in columns. The purpose of inducing constraints is to enforce the integrity of a database. </a:t>
            </a:r>
          </a:p>
        </p:txBody>
      </p:sp>
      <p:sp>
        <p:nvSpPr>
          <p:cNvPr id="12" name="TextBox 11">
            <a:extLst>
              <a:ext uri="{FF2B5EF4-FFF2-40B4-BE49-F238E27FC236}">
                <a16:creationId xmlns:a16="http://schemas.microsoft.com/office/drawing/2014/main" id="{973CF11B-0932-4E50-AD98-3D0817EB9826}"/>
              </a:ext>
            </a:extLst>
          </p:cNvPr>
          <p:cNvSpPr txBox="1"/>
          <p:nvPr/>
        </p:nvSpPr>
        <p:spPr>
          <a:xfrm>
            <a:off x="479376" y="4365104"/>
            <a:ext cx="10945216" cy="1846659"/>
          </a:xfrm>
          <a:prstGeom prst="rect">
            <a:avLst/>
          </a:prstGeom>
          <a:noFill/>
        </p:spPr>
        <p:txBody>
          <a:bodyPr wrap="square">
            <a:spAutoFit/>
          </a:bodyPr>
          <a:lstStyle/>
          <a:p>
            <a:r>
              <a:rPr lang="en-US" dirty="0">
                <a:latin typeface="Palatino Linotype" panose="02040502050505030304" pitchFamily="18" charset="0"/>
                <a:cs typeface="Arial" panose="020B0604020202020204" pitchFamily="34" charset="0"/>
              </a:rPr>
              <a:t>CONSTRAINTS can be classified into two types – </a:t>
            </a:r>
          </a:p>
          <a:p>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Column Level</a:t>
            </a:r>
          </a:p>
          <a:p>
            <a:pPr marL="285750" indent="-285750">
              <a:buFont typeface="Arial" panose="020B0604020202020204" pitchFamily="34" charset="0"/>
              <a:buChar char="•"/>
            </a:pPr>
            <a:endParaRPr lang="en-US" sz="400" i="1"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Table Level</a:t>
            </a:r>
            <a:endParaRPr lang="en-US" i="1" dirty="0">
              <a:solidFill>
                <a:srgbClr val="0070C0"/>
              </a:solidFill>
              <a:latin typeface="Palatino Linotype" panose="02040502050505030304" pitchFamily="18" charset="0"/>
              <a:cs typeface="Arial" panose="020B0604020202020204" pitchFamily="34" charset="0"/>
            </a:endParaRPr>
          </a:p>
          <a:p>
            <a:endParaRPr lang="en-US" sz="800" dirty="0">
              <a:latin typeface="Palatino Linotype" panose="02040502050505030304" pitchFamily="18" charset="0"/>
              <a:cs typeface="Arial" panose="020B0604020202020204" pitchFamily="34" charset="0"/>
            </a:endParaRPr>
          </a:p>
          <a:p>
            <a:r>
              <a:rPr lang="en-US" dirty="0">
                <a:latin typeface="Palatino Linotype" panose="02040502050505030304" pitchFamily="18" charset="0"/>
                <a:cs typeface="Arial" panose="020B0604020202020204" pitchFamily="34" charset="0"/>
              </a:rPr>
              <a:t>The column level constraints can apply only to one column where as table level constraints are applied to the entire table.</a:t>
            </a:r>
            <a:endParaRPr lang="en-IN" dirty="0">
              <a:latin typeface="Palatino Linotype" panose="02040502050505030304" pitchFamily="18" charset="0"/>
              <a:cs typeface="Arial" panose="020B0604020202020204" pitchFamily="34" charset="0"/>
            </a:endParaRPr>
          </a:p>
        </p:txBody>
      </p:sp>
      <p:sp>
        <p:nvSpPr>
          <p:cNvPr id="2" name="TextBox 1">
            <a:extLst>
              <a:ext uri="{FF2B5EF4-FFF2-40B4-BE49-F238E27FC236}">
                <a16:creationId xmlns:a16="http://schemas.microsoft.com/office/drawing/2014/main" id="{F4CDE5F9-05D0-6F59-DC96-91E147581B06}"/>
              </a:ext>
            </a:extLst>
          </p:cNvPr>
          <p:cNvSpPr txBox="1"/>
          <p:nvPr/>
        </p:nvSpPr>
        <p:spPr>
          <a:xfrm>
            <a:off x="173738" y="260648"/>
            <a:ext cx="11826917" cy="1631216"/>
          </a:xfrm>
          <a:prstGeom prst="rect">
            <a:avLst/>
          </a:prstGeom>
          <a:noFill/>
        </p:spPr>
        <p:txBody>
          <a:bodyPr wrap="square">
            <a:spAutoFit/>
          </a:bodyPr>
          <a:lstStyle/>
          <a:p>
            <a:r>
              <a:rPr lang="en-IN" sz="2000" dirty="0">
                <a:latin typeface="Palatino Linotype" panose="02040502050505030304" pitchFamily="18" charset="0"/>
                <a:cs typeface="Arial" panose="020B0604020202020204" pitchFamily="34" charset="0"/>
              </a:rPr>
              <a:t>Constraints define specific rules to the column(s) data in a database table. While </a:t>
            </a:r>
            <a:r>
              <a:rPr lang="en-IN" sz="2000" b="1" i="1" dirty="0">
                <a:latin typeface="Palatino Linotype" panose="02040502050505030304" pitchFamily="18" charset="0"/>
                <a:cs typeface="Arial" panose="020B0604020202020204" pitchFamily="34" charset="0"/>
              </a:rPr>
              <a:t>inserting</a:t>
            </a:r>
            <a:r>
              <a:rPr lang="en-IN" sz="2000" dirty="0">
                <a:latin typeface="Palatino Linotype" panose="02040502050505030304" pitchFamily="18" charset="0"/>
                <a:cs typeface="Arial" panose="020B0604020202020204" pitchFamily="34" charset="0"/>
              </a:rPr>
              <a:t>, </a:t>
            </a:r>
            <a:r>
              <a:rPr lang="en-IN" sz="2000" b="1" i="1" dirty="0">
                <a:latin typeface="Palatino Linotype" panose="02040502050505030304" pitchFamily="18" charset="0"/>
                <a:cs typeface="Arial" panose="020B0604020202020204" pitchFamily="34" charset="0"/>
              </a:rPr>
              <a:t>updating</a:t>
            </a:r>
            <a:r>
              <a:rPr lang="en-IN" sz="2000" dirty="0">
                <a:latin typeface="Palatino Linotype" panose="02040502050505030304" pitchFamily="18" charset="0"/>
                <a:cs typeface="Arial" panose="020B0604020202020204" pitchFamily="34" charset="0"/>
              </a:rPr>
              <a:t>, or </a:t>
            </a:r>
            <a:r>
              <a:rPr lang="en-IN" sz="2000" b="1" i="1" dirty="0">
                <a:latin typeface="Palatino Linotype" panose="02040502050505030304" pitchFamily="18" charset="0"/>
                <a:cs typeface="Arial" panose="020B0604020202020204" pitchFamily="34" charset="0"/>
              </a:rPr>
              <a:t>deleting</a:t>
            </a:r>
            <a:r>
              <a:rPr lang="en-IN" sz="2000" dirty="0">
                <a:latin typeface="Palatino Linotype" panose="02040502050505030304" pitchFamily="18" charset="0"/>
                <a:cs typeface="Arial" panose="020B0604020202020204" pitchFamily="34" charset="0"/>
              </a:rPr>
              <a:t> the data rows, if the rules of the constraint are </a:t>
            </a:r>
            <a:r>
              <a:rPr lang="en-IN" sz="2000" b="1" dirty="0">
                <a:latin typeface="Palatino Linotype" panose="02040502050505030304" pitchFamily="18" charset="0"/>
                <a:cs typeface="Arial" panose="020B0604020202020204" pitchFamily="34" charset="0"/>
              </a:rPr>
              <a:t>not followed</a:t>
            </a:r>
            <a:r>
              <a:rPr lang="en-IN" sz="2000" dirty="0">
                <a:latin typeface="Palatino Linotype" panose="02040502050505030304" pitchFamily="18" charset="0"/>
                <a:cs typeface="Arial" panose="020B0604020202020204" pitchFamily="34" charset="0"/>
              </a:rPr>
              <a:t>, the system will display an </a:t>
            </a:r>
            <a:r>
              <a:rPr lang="en-IN" sz="2000" b="1" dirty="0">
                <a:latin typeface="Palatino Linotype" panose="02040502050505030304" pitchFamily="18" charset="0"/>
                <a:cs typeface="Arial" panose="020B0604020202020204" pitchFamily="34" charset="0"/>
              </a:rPr>
              <a:t>error</a:t>
            </a:r>
            <a:r>
              <a:rPr lang="en-IN" sz="2000" dirty="0">
                <a:latin typeface="Palatino Linotype" panose="02040502050505030304" pitchFamily="18" charset="0"/>
                <a:cs typeface="Arial" panose="020B0604020202020204" pitchFamily="34" charset="0"/>
              </a:rPr>
              <a:t> message and </a:t>
            </a:r>
            <a:r>
              <a:rPr lang="en-IN" sz="2000" b="1" i="1" dirty="0">
                <a:latin typeface="Palatino Linotype" panose="02040502050505030304" pitchFamily="18" charset="0"/>
                <a:cs typeface="Arial" panose="020B0604020202020204" pitchFamily="34" charset="0"/>
              </a:rPr>
              <a:t>the action will be terminated</a:t>
            </a:r>
            <a:r>
              <a:rPr lang="en-IN" sz="2000" dirty="0">
                <a:latin typeface="Palatino Linotype" panose="02040502050505030304" pitchFamily="18" charset="0"/>
                <a:cs typeface="Arial" panose="020B0604020202020204" pitchFamily="34" charset="0"/>
              </a:rPr>
              <a:t>. The SQL Constraints are defined while creating a new table. We can also </a:t>
            </a:r>
            <a:r>
              <a:rPr lang="en-IN" sz="2000" b="1" dirty="0">
                <a:latin typeface="Palatino Linotype" panose="02040502050505030304" pitchFamily="18" charset="0"/>
                <a:cs typeface="Arial" panose="020B0604020202020204" pitchFamily="34" charset="0"/>
              </a:rPr>
              <a:t>ALTER</a:t>
            </a:r>
            <a:r>
              <a:rPr lang="en-IN" sz="2000" dirty="0">
                <a:latin typeface="Palatino Linotype" panose="02040502050505030304" pitchFamily="18" charset="0"/>
                <a:cs typeface="Arial" panose="020B0604020202020204" pitchFamily="34" charset="0"/>
              </a:rPr>
              <a:t> the table and </a:t>
            </a:r>
            <a:r>
              <a:rPr lang="en-IN" sz="2000" b="1" dirty="0">
                <a:latin typeface="Palatino Linotype" panose="02040502050505030304" pitchFamily="18" charset="0"/>
                <a:cs typeface="Arial" panose="020B0604020202020204" pitchFamily="34" charset="0"/>
              </a:rPr>
              <a:t>ADD new </a:t>
            </a:r>
            <a:r>
              <a:rPr lang="en-IN" sz="2000" dirty="0">
                <a:latin typeface="Palatino Linotype" panose="02040502050505030304" pitchFamily="18" charset="0"/>
                <a:cs typeface="Arial" panose="020B0604020202020204" pitchFamily="34" charset="0"/>
              </a:rPr>
              <a:t>SQL Constraints. The MySQL Constraints are mainly used to maintain </a:t>
            </a:r>
            <a:r>
              <a:rPr lang="en-IN" sz="2000" b="1" dirty="0">
                <a:latin typeface="Palatino Linotype" panose="02040502050505030304" pitchFamily="18" charset="0"/>
                <a:cs typeface="Arial" panose="020B0604020202020204" pitchFamily="34" charset="0"/>
              </a:rPr>
              <a:t>data integrity</a:t>
            </a:r>
            <a:r>
              <a:rPr lang="en-IN" sz="2000"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583513494"/>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9" name="Rectangle 8">
            <a:extLst>
              <a:ext uri="{FF2B5EF4-FFF2-40B4-BE49-F238E27FC236}">
                <a16:creationId xmlns:a16="http://schemas.microsoft.com/office/drawing/2014/main" id="{9C5DB24B-FF56-430A-8067-27089C808925}"/>
              </a:ext>
            </a:extLst>
          </p:cNvPr>
          <p:cNvSpPr/>
          <p:nvPr/>
        </p:nvSpPr>
        <p:spPr>
          <a:xfrm>
            <a:off x="3623343" y="3214718"/>
            <a:ext cx="5328190" cy="400110"/>
          </a:xfrm>
          <a:prstGeom prst="rect">
            <a:avLst/>
          </a:prstGeom>
        </p:spPr>
        <p:txBody>
          <a:bodyPr wrap="none">
            <a:spAutoFit/>
          </a:bodyPr>
          <a:lstStyle/>
          <a:p>
            <a:r>
              <a:rPr lang="en-US" sz="2000" dirty="0">
                <a:solidFill>
                  <a:schemeClr val="tx1">
                    <a:lumMod val="85000"/>
                    <a:lumOff val="15000"/>
                  </a:schemeClr>
                </a:solidFill>
                <a:latin typeface="Palatino Linotype" panose="02040502050505030304" pitchFamily="18" charset="0"/>
                <a:cs typeface="Segoe UI Light" panose="020B0502040204020203" pitchFamily="34" charset="0"/>
              </a:rPr>
              <a:t>To limit or to restrict or to check or to control.</a:t>
            </a:r>
          </a:p>
        </p:txBody>
      </p:sp>
      <p:sp>
        <p:nvSpPr>
          <p:cNvPr id="11" name="Rectangle 10">
            <a:extLst>
              <a:ext uri="{FF2B5EF4-FFF2-40B4-BE49-F238E27FC236}">
                <a16:creationId xmlns:a16="http://schemas.microsoft.com/office/drawing/2014/main" id="{789D37B7-7A04-4E8D-9981-5258B75421C5}"/>
              </a:ext>
            </a:extLst>
          </p:cNvPr>
          <p:cNvSpPr/>
          <p:nvPr/>
        </p:nvSpPr>
        <p:spPr>
          <a:xfrm>
            <a:off x="479920" y="4046876"/>
            <a:ext cx="11376720" cy="221599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table with a foreign key that references another table's primary key is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more than one of the Key values applies to a given column of a table, Key displays the one with the highest priority, in the order </a:t>
            </a:r>
            <a:r>
              <a:rPr lang="en-IN" b="1"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If a table has a PRIMARY KEY or UNIQUE NOT NULL index that consists of a single column that has an integer type, you can use </a:t>
            </a:r>
            <a:r>
              <a:rPr lang="en-US" dirty="0">
                <a:solidFill>
                  <a:srgbClr val="FD8603"/>
                </a:solidFill>
                <a:latin typeface="Arial" panose="020B0604020202020204" pitchFamily="34" charset="0"/>
                <a:cs typeface="Arial" panose="020B0604020202020204" pitchFamily="34" charset="0"/>
              </a:rPr>
              <a:t>_</a:t>
            </a:r>
            <a:r>
              <a:rPr lang="en-US" b="1" dirty="0">
                <a:solidFill>
                  <a:srgbClr val="FD8603"/>
                </a:solidFill>
                <a:latin typeface="Arial" panose="020B0604020202020204" pitchFamily="34" charset="0"/>
                <a:cs typeface="Arial" panose="020B0604020202020204" pitchFamily="34" charset="0"/>
              </a:rPr>
              <a:t>rowid</a:t>
            </a:r>
            <a:r>
              <a:rPr lang="en-US" dirty="0">
                <a:latin typeface="Arial" panose="020B0604020202020204" pitchFamily="34" charset="0"/>
                <a:cs typeface="Arial" panose="020B0604020202020204" pitchFamily="34" charset="0"/>
              </a:rPr>
              <a:t> to refer to the indexed column in SELECT statements.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505939BB-43D8-7E42-0A7E-A9D2C6A1BC16}"/>
              </a:ext>
            </a:extLst>
          </p:cNvPr>
          <p:cNvSpPr/>
          <p:nvPr/>
        </p:nvSpPr>
        <p:spPr>
          <a:xfrm>
            <a:off x="479920" y="476672"/>
            <a:ext cx="11376720" cy="193899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 =&gt; primary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 =&gt; unique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=&gt; is basically an index that is neither a </a:t>
            </a:r>
            <a:r>
              <a:rPr lang="en-IN" b="1" dirty="0">
                <a:solidFill>
                  <a:srgbClr val="0089A4"/>
                </a:solidFill>
                <a:latin typeface="Arial" panose="020B0604020202020204" pitchFamily="34" charset="0"/>
                <a:cs typeface="Arial" panose="020B0604020202020204" pitchFamily="34" charset="0"/>
              </a:rPr>
              <a:t>primary</a:t>
            </a:r>
            <a:r>
              <a:rPr lang="en-IN" dirty="0">
                <a:solidFill>
                  <a:srgbClr val="0089A4"/>
                </a:solidFill>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solidFill>
                  <a:srgbClr val="0089A4"/>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nor a </a:t>
            </a:r>
            <a:r>
              <a:rPr lang="en-IN" b="1" dirty="0">
                <a:solidFill>
                  <a:srgbClr val="0089A4"/>
                </a:solidFill>
                <a:latin typeface="Arial" panose="020B0604020202020204" pitchFamily="34" charset="0"/>
                <a:cs typeface="Arial" panose="020B0604020202020204" pitchFamily="34" charset="0"/>
              </a:rPr>
              <a:t>unique</a:t>
            </a:r>
            <a:r>
              <a:rPr lang="en-IN" dirty="0">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latin typeface="Arial" panose="020B0604020202020204" pitchFamily="34" charset="0"/>
                <a:cs typeface="Arial" panose="020B0604020202020204" pitchFamily="34" charset="0"/>
              </a:rPr>
              <a:t>. The name comes from      </a:t>
            </a:r>
          </a:p>
          <a:p>
            <a:pPr marL="1079500" indent="-1079500"/>
            <a:r>
              <a:rPr lang="en-IN" dirty="0">
                <a:latin typeface="Arial" panose="020B0604020202020204" pitchFamily="34" charset="0"/>
                <a:cs typeface="Arial" panose="020B0604020202020204" pitchFamily="34" charset="0"/>
              </a:rPr>
              <a:t>                 "multiple" because multiple occurrences of the same value are allowed (</a:t>
            </a:r>
            <a:r>
              <a:rPr lang="en-US" dirty="0"/>
              <a:t>Since it’s not unique, the column can contain </a:t>
            </a:r>
            <a:r>
              <a:rPr lang="en-US" b="1" dirty="0"/>
              <a:t>duplicate values</a:t>
            </a:r>
            <a:r>
              <a:rPr lang="en-US" dirty="0"/>
              <a:t>.</a:t>
            </a:r>
            <a:r>
              <a:rPr lang="en-IN" dirty="0">
                <a:latin typeface="Arial" panose="020B0604020202020204" pitchFamily="34" charset="0"/>
                <a:cs typeface="Arial" panose="020B0604020202020204" pitchFamily="34" charset="0"/>
              </a:rPr>
              <a:t>).</a:t>
            </a:r>
          </a:p>
        </p:txBody>
      </p:sp>
      <p:sp>
        <p:nvSpPr>
          <p:cNvPr id="3" name="TextBox 2">
            <a:extLst>
              <a:ext uri="{FF2B5EF4-FFF2-40B4-BE49-F238E27FC236}">
                <a16:creationId xmlns:a16="http://schemas.microsoft.com/office/drawing/2014/main" id="{2CB5D504-FECF-2BB2-28B9-E0E4A8CB6892}"/>
              </a:ext>
            </a:extLst>
          </p:cNvPr>
          <p:cNvSpPr txBox="1"/>
          <p:nvPr/>
        </p:nvSpPr>
        <p:spPr>
          <a:xfrm>
            <a:off x="5256584" y="158072"/>
            <a:ext cx="6816080" cy="646331"/>
          </a:xfrm>
          <a:prstGeom prst="rect">
            <a:avLst/>
          </a:prstGeom>
          <a:solidFill>
            <a:schemeClr val="accent3">
              <a:lumMod val="20000"/>
              <a:lumOff val="80000"/>
            </a:schemeClr>
          </a:solidFill>
        </p:spPr>
        <p:txBody>
          <a:bodyPr wrap="square">
            <a:spAutoFit/>
          </a:bodyPr>
          <a:lstStyle/>
          <a:p>
            <a:r>
              <a:rPr lang="en-IN" dirty="0"/>
              <a:t>In MySQL, when you run SHOW INDEXES or SHOW CREATE TABLE, you may see MUL under the Key column.</a:t>
            </a:r>
          </a:p>
        </p:txBody>
      </p:sp>
    </p:spTree>
    <p:extLst>
      <p:ext uri="{BB962C8B-B14F-4D97-AF65-F5344CB8AC3E}">
        <p14:creationId xmlns:p14="http://schemas.microsoft.com/office/powerpoint/2010/main" val="277172826"/>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646331"/>
          </a:xfrm>
          <a:prstGeom prst="rect">
            <a:avLst/>
          </a:prstGeom>
        </p:spPr>
        <p:txBody>
          <a:bodyPr wrap="square">
            <a:spAutoFit/>
          </a:bodyPr>
          <a:lstStyle/>
          <a:p>
            <a:pPr lvl="0" algn="r">
              <a:spcBef>
                <a:spcPct val="0"/>
              </a:spcBef>
              <a:defRPr/>
            </a:pPr>
            <a:r>
              <a:rPr lang="en-US" sz="3600" i="1" dirty="0">
                <a:solidFill>
                  <a:srgbClr val="FF9900"/>
                </a:solidFill>
                <a:latin typeface="Arial" pitchFamily="34" charset="0"/>
                <a:cs typeface="Arial" pitchFamily="34" charset="0"/>
              </a:rPr>
              <a:t>types</a:t>
            </a:r>
            <a:r>
              <a:rPr lang="en-US" sz="3600" dirty="0"/>
              <a:t> </a:t>
            </a:r>
            <a:r>
              <a:rPr lang="en-US" sz="3600" i="1" dirty="0">
                <a:solidFill>
                  <a:srgbClr val="FF9900"/>
                </a:solidFill>
                <a:latin typeface="Arial" pitchFamily="34" charset="0"/>
                <a:cs typeface="Arial" pitchFamily="34" charset="0"/>
              </a:rPr>
              <a:t>of</a:t>
            </a:r>
            <a:r>
              <a:rPr lang="en-US" sz="3600" dirty="0"/>
              <a:t> </a:t>
            </a:r>
            <a:r>
              <a:rPr lang="en-US" sz="3600" i="1" dirty="0">
                <a:solidFill>
                  <a:srgbClr val="FF9900"/>
                </a:solidFill>
                <a:latin typeface="Arial" pitchFamily="34" charset="0"/>
                <a:cs typeface="Arial" pitchFamily="34" charset="0"/>
              </a:rPr>
              <a:t>Keys</a:t>
            </a:r>
            <a:r>
              <a:rPr lang="en-IN" sz="3600" i="1" dirty="0">
                <a:solidFill>
                  <a:srgbClr val="FF9900"/>
                </a:solidFill>
                <a:latin typeface="Arial" pitchFamily="34" charset="0"/>
                <a:cs typeface="Arial" pitchFamily="34" charset="0"/>
              </a:rPr>
              <a:t>?</a:t>
            </a:r>
            <a:endParaRPr lang="en-US" sz="36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p:cNvSpPr/>
          <p:nvPr/>
        </p:nvSpPr>
        <p:spPr>
          <a:xfrm>
            <a:off x="143904" y="1954617"/>
            <a:ext cx="11856751" cy="4524315"/>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a:t>
            </a: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Tree>
    <p:extLst>
      <p:ext uri="{BB962C8B-B14F-4D97-AF65-F5344CB8AC3E}">
        <p14:creationId xmlns:p14="http://schemas.microsoft.com/office/powerpoint/2010/main" val="3382784131"/>
      </p:ext>
    </p:extLst>
  </p:cSld>
  <p:clrMapOvr>
    <a:masterClrMapping/>
  </p:clrMapOvr>
  <p:transition/>
</p:sld>
</file>

<file path=ppt/slides/slide2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6275345"/>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83D3D-505D-1052-3B7B-1F9438E6972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99040D7-94FE-8370-95FD-CB82DB996430}"/>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No Primary Key in a Table</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7A56D18B-E876-F267-5B71-5F4177DC5D8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primary key</a:t>
            </a:r>
          </a:p>
        </p:txBody>
      </p:sp>
      <p:sp>
        <p:nvSpPr>
          <p:cNvPr id="14" name="TextBox 13">
            <a:extLst>
              <a:ext uri="{FF2B5EF4-FFF2-40B4-BE49-F238E27FC236}">
                <a16:creationId xmlns:a16="http://schemas.microsoft.com/office/drawing/2014/main" id="{29A0E525-B52B-A328-6067-9DDE352F3704}"/>
              </a:ext>
            </a:extLst>
          </p:cNvPr>
          <p:cNvSpPr txBox="1"/>
          <p:nvPr/>
        </p:nvSpPr>
        <p:spPr>
          <a:xfrm>
            <a:off x="288345" y="1725776"/>
            <a:ext cx="5591630" cy="1631216"/>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22" name="TextBox 21">
            <a:extLst>
              <a:ext uri="{FF2B5EF4-FFF2-40B4-BE49-F238E27FC236}">
                <a16:creationId xmlns:a16="http://schemas.microsoft.com/office/drawing/2014/main" id="{733B36CC-3E0A-DEF0-626E-DFF766EE4267}"/>
              </a:ext>
            </a:extLst>
          </p:cNvPr>
          <p:cNvSpPr txBox="1"/>
          <p:nvPr/>
        </p:nvSpPr>
        <p:spPr>
          <a:xfrm>
            <a:off x="288344" y="4132818"/>
            <a:ext cx="6023683"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a:t>
            </a:r>
            <a:r>
              <a:rPr lang="en-US" dirty="0">
                <a:solidFill>
                  <a:srgbClr val="834689"/>
                </a:solidFill>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solidFill>
                  <a:srgbClr val="834689"/>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AUTO_INCREMENT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TextBox 7">
            <a:extLst>
              <a:ext uri="{FF2B5EF4-FFF2-40B4-BE49-F238E27FC236}">
                <a16:creationId xmlns:a16="http://schemas.microsoft.com/office/drawing/2014/main" id="{9D5BDE57-E57E-0EDB-0C43-A7C2554B1B9E}"/>
              </a:ext>
            </a:extLst>
          </p:cNvPr>
          <p:cNvSpPr txBox="1"/>
          <p:nvPr/>
        </p:nvSpPr>
        <p:spPr>
          <a:xfrm>
            <a:off x="6407681" y="1725776"/>
            <a:ext cx="4872895"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Rows cannot be uniquely identified.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Makes updates/deletes unreliable.</a:t>
            </a:r>
          </a:p>
        </p:txBody>
      </p:sp>
    </p:spTree>
    <p:extLst>
      <p:ext uri="{BB962C8B-B14F-4D97-AF65-F5344CB8AC3E}">
        <p14:creationId xmlns:p14="http://schemas.microsoft.com/office/powerpoint/2010/main" val="3546032428"/>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263352" y="71914"/>
            <a:ext cx="8424935" cy="304698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cannot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has only one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values cannot be changed, if it is referred by some other column.</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must be given a value when a new record is inserted.</a:t>
            </a: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An index can consist of 16 columns, at maximum. Since a PRIMARY KEY constraint automatically adds an index, it can't have more than 16 columns.</a:t>
            </a:r>
            <a:endParaRPr lang="en-IN" b="1"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609FB7D5-F5A8-4D4F-BCC4-E6E422ECF696}"/>
              </a:ext>
            </a:extLst>
          </p:cNvPr>
          <p:cNvSpPr txBox="1"/>
          <p:nvPr/>
        </p:nvSpPr>
        <p:spPr>
          <a:xfrm>
            <a:off x="216468" y="4653136"/>
            <a:ext cx="11810107" cy="1938992"/>
          </a:xfrm>
          <a:prstGeom prst="rect">
            <a:avLst/>
          </a:prstGeom>
          <a:solidFill>
            <a:schemeClr val="bg1"/>
          </a:solid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Primary key in a relation is always associated with an </a:t>
            </a:r>
            <a:r>
              <a:rPr lang="en-IN" sz="1800" b="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NOT NULL &amp; UNIQUE </a:t>
            </a:r>
            <a:r>
              <a:rPr lang="en-IN" sz="1800" dirty="0">
                <a:solidFill>
                  <a:schemeClr val="tx1"/>
                </a:solidFill>
                <a:latin typeface="Arial" panose="020B0604020202020204" pitchFamily="34" charset="0"/>
                <a:cs typeface="Arial" panose="020B0604020202020204" pitchFamily="34" charset="0"/>
              </a:rPr>
              <a:t>key then it behaves like a PRIMARY key.</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UNIQUE key &amp; AUTO_INCREMENT </a:t>
            </a:r>
            <a:r>
              <a:rPr lang="en-IN" sz="1800" dirty="0">
                <a:solidFill>
                  <a:schemeClr val="tx1"/>
                </a:solidFill>
                <a:latin typeface="Arial" panose="020B0604020202020204" pitchFamily="34" charset="0"/>
                <a:cs typeface="Arial" panose="020B0604020202020204" pitchFamily="34" charset="0"/>
              </a:rPr>
              <a:t>then also it behaves like a PRIMARY key.</a:t>
            </a:r>
          </a:p>
          <a:p>
            <a:pPr>
              <a:lnSpc>
                <a:spcPct val="100000"/>
              </a:lnSpc>
            </a:pPr>
            <a:r>
              <a:rPr lang="en-US" sz="1800" dirty="0">
                <a:solidFill>
                  <a:schemeClr val="tx1"/>
                </a:solidFill>
                <a:latin typeface="Arial" panose="020B0604020202020204" pitchFamily="34" charset="0"/>
                <a:cs typeface="Arial" panose="020B0604020202020204" pitchFamily="34" charset="0"/>
              </a:rPr>
              <a:t>Stability: The value of the primary key should be stable over time and not change frequently.</a:t>
            </a:r>
            <a:endParaRPr lang="en-IN" sz="1800" dirty="0">
              <a:solidFill>
                <a:schemeClr val="tx1"/>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E46642D-DBEE-4521-B4D3-3B62B58F0FF5}"/>
              </a:ext>
            </a:extLst>
          </p:cNvPr>
          <p:cNvSpPr/>
          <p:nvPr/>
        </p:nvSpPr>
        <p:spPr>
          <a:xfrm>
            <a:off x="263352" y="3873242"/>
            <a:ext cx="11521280" cy="707886"/>
          </a:xfrm>
          <a:prstGeom prst="rect">
            <a:avLst/>
          </a:prstGeom>
        </p:spPr>
        <p:txBody>
          <a:bodyPr wrap="square">
            <a:spAutoFit/>
          </a:bodyPr>
          <a:lstStyle/>
          <a:p>
            <a:r>
              <a:rPr lang="en-US" sz="2000" dirty="0">
                <a:latin typeface="Palatino Linotype" panose="02040502050505030304" pitchFamily="18" charset="0"/>
              </a:rPr>
              <a:t>A primary key is a special column (or set of combined columns) in a relational database table, that is used to uniquely identify each record. Each database table needs a primary key.</a:t>
            </a:r>
          </a:p>
        </p:txBody>
      </p:sp>
      <p:graphicFrame>
        <p:nvGraphicFramePr>
          <p:cNvPr id="4" name="Table 3">
            <a:extLst>
              <a:ext uri="{FF2B5EF4-FFF2-40B4-BE49-F238E27FC236}">
                <a16:creationId xmlns:a16="http://schemas.microsoft.com/office/drawing/2014/main" id="{BFD4E574-B3B3-1F76-8989-B6EFD6F8C099}"/>
              </a:ext>
            </a:extLst>
          </p:cNvPr>
          <p:cNvGraphicFramePr>
            <a:graphicFrameLocks noGrp="1"/>
          </p:cNvGraphicFramePr>
          <p:nvPr/>
        </p:nvGraphicFramePr>
        <p:xfrm>
          <a:off x="8861523" y="97331"/>
          <a:ext cx="3211141" cy="2804160"/>
        </p:xfrm>
        <a:graphic>
          <a:graphicData uri="http://schemas.openxmlformats.org/drawingml/2006/table">
            <a:tbl>
              <a:tblPr firstRow="1" bandRow="1">
                <a:tableStyleId>{5940675A-B579-460E-94D1-54222C63F5DA}</a:tableStyleId>
              </a:tblPr>
              <a:tblGrid>
                <a:gridCol w="1360895">
                  <a:extLst>
                    <a:ext uri="{9D8B030D-6E8A-4147-A177-3AD203B41FA5}">
                      <a16:colId xmlns:a16="http://schemas.microsoft.com/office/drawing/2014/main" val="3239224561"/>
                    </a:ext>
                  </a:extLst>
                </a:gridCol>
                <a:gridCol w="1850246">
                  <a:extLst>
                    <a:ext uri="{9D8B030D-6E8A-4147-A177-3AD203B41FA5}">
                      <a16:colId xmlns:a16="http://schemas.microsoft.com/office/drawing/2014/main" val="3775945385"/>
                    </a:ext>
                  </a:extLst>
                </a:gridCol>
              </a:tblGrid>
              <a:tr h="370840">
                <a:tc>
                  <a:txBody>
                    <a:bodyPr/>
                    <a:lstStyle/>
                    <a:p>
                      <a:r>
                        <a:rPr lang="en-IN" sz="1600" b="1" dirty="0"/>
                        <a:t>Database</a:t>
                      </a:r>
                      <a:endParaRPr lang="en-IN" sz="1600" dirty="0"/>
                    </a:p>
                  </a:txBody>
                  <a:tcPr anchor="ctr"/>
                </a:tc>
                <a:tc>
                  <a:txBody>
                    <a:bodyPr/>
                    <a:lstStyle/>
                    <a:p>
                      <a:pPr marL="0" algn="l" rtl="0" eaLnBrk="1" latinLnBrk="0" hangingPunct="1"/>
                      <a:r>
                        <a:rPr kumimoji="0" lang="en-US" sz="1600" b="1" kern="1200" dirty="0">
                          <a:solidFill>
                            <a:schemeClr val="tx1"/>
                          </a:solidFill>
                          <a:latin typeface="+mn-lt"/>
                          <a:ea typeface="+mn-ea"/>
                          <a:cs typeface="+mn-cs"/>
                        </a:rPr>
                        <a:t>Max Columns in Primary Key</a:t>
                      </a:r>
                      <a:endParaRPr kumimoji="0" lang="en-IN" sz="1600" b="1" kern="1200" dirty="0">
                        <a:solidFill>
                          <a:schemeClr val="tx1"/>
                        </a:solidFill>
                        <a:latin typeface="+mn-lt"/>
                        <a:ea typeface="+mn-ea"/>
                        <a:cs typeface="+mn-cs"/>
                      </a:endParaRPr>
                    </a:p>
                  </a:txBody>
                  <a:tcPr anchor="ctr"/>
                </a:tc>
                <a:extLst>
                  <a:ext uri="{0D108BD9-81ED-4DB2-BD59-A6C34878D82A}">
                    <a16:rowId xmlns:a16="http://schemas.microsoft.com/office/drawing/2014/main" val="424736084"/>
                  </a:ext>
                </a:extLst>
              </a:tr>
              <a:tr h="370840">
                <a:tc>
                  <a:txBody>
                    <a:bodyPr/>
                    <a:lstStyle/>
                    <a:p>
                      <a:r>
                        <a:rPr lang="en-IN" sz="1600" dirty="0"/>
                        <a:t>MySQL</a:t>
                      </a:r>
                    </a:p>
                  </a:txBody>
                  <a:tcPr/>
                </a:tc>
                <a:tc>
                  <a:txBody>
                    <a:bodyPr/>
                    <a:lstStyle/>
                    <a:p>
                      <a:r>
                        <a:rPr lang="en-US" sz="1600" dirty="0"/>
                        <a:t>16</a:t>
                      </a:r>
                      <a:endParaRPr lang="en-IN" sz="1600" dirty="0"/>
                    </a:p>
                  </a:txBody>
                  <a:tcPr/>
                </a:tc>
                <a:extLst>
                  <a:ext uri="{0D108BD9-81ED-4DB2-BD59-A6C34878D82A}">
                    <a16:rowId xmlns:a16="http://schemas.microsoft.com/office/drawing/2014/main" val="2248451593"/>
                  </a:ext>
                </a:extLst>
              </a:tr>
              <a:tr h="370840">
                <a:tc>
                  <a:txBody>
                    <a:bodyPr/>
                    <a:lstStyle/>
                    <a:p>
                      <a:r>
                        <a:rPr lang="en-IN" sz="1600" dirty="0"/>
                        <a:t>PostgreSQL</a:t>
                      </a:r>
                    </a:p>
                  </a:txBody>
                  <a:tcPr/>
                </a:tc>
                <a:tc>
                  <a:txBody>
                    <a:bodyPr/>
                    <a:lstStyle/>
                    <a:p>
                      <a:r>
                        <a:rPr lang="en-US" sz="1600" dirty="0"/>
                        <a:t>32</a:t>
                      </a:r>
                      <a:endParaRPr lang="en-IN" sz="1600" dirty="0"/>
                    </a:p>
                  </a:txBody>
                  <a:tcPr/>
                </a:tc>
                <a:extLst>
                  <a:ext uri="{0D108BD9-81ED-4DB2-BD59-A6C34878D82A}">
                    <a16:rowId xmlns:a16="http://schemas.microsoft.com/office/drawing/2014/main" val="1617527997"/>
                  </a:ext>
                </a:extLst>
              </a:tr>
              <a:tr h="370840">
                <a:tc>
                  <a:txBody>
                    <a:bodyPr/>
                    <a:lstStyle/>
                    <a:p>
                      <a:r>
                        <a:rPr lang="en-IN" sz="1600" dirty="0"/>
                        <a:t>Oracle</a:t>
                      </a:r>
                    </a:p>
                  </a:txBody>
                  <a:tcPr/>
                </a:tc>
                <a:tc>
                  <a:txBody>
                    <a:bodyPr/>
                    <a:lstStyle/>
                    <a:p>
                      <a:r>
                        <a:rPr lang="en-US" sz="1600" dirty="0"/>
                        <a:t>32</a:t>
                      </a:r>
                      <a:endParaRPr lang="en-IN" sz="1600" dirty="0"/>
                    </a:p>
                  </a:txBody>
                  <a:tcPr/>
                </a:tc>
                <a:extLst>
                  <a:ext uri="{0D108BD9-81ED-4DB2-BD59-A6C34878D82A}">
                    <a16:rowId xmlns:a16="http://schemas.microsoft.com/office/drawing/2014/main" val="2606193264"/>
                  </a:ext>
                </a:extLst>
              </a:tr>
              <a:tr h="370840">
                <a:tc>
                  <a:txBody>
                    <a:bodyPr/>
                    <a:lstStyle/>
                    <a:p>
                      <a:r>
                        <a:rPr lang="en-IN" sz="1600" dirty="0"/>
                        <a:t>SQL Server</a:t>
                      </a:r>
                    </a:p>
                  </a:txBody>
                  <a:tcPr/>
                </a:tc>
                <a:tc>
                  <a:txBody>
                    <a:bodyPr/>
                    <a:lstStyle/>
                    <a:p>
                      <a:r>
                        <a:rPr lang="en-US" sz="1600" dirty="0"/>
                        <a:t>16</a:t>
                      </a:r>
                      <a:endParaRPr lang="en-IN" sz="1600" dirty="0"/>
                    </a:p>
                  </a:txBody>
                  <a:tcPr/>
                </a:tc>
                <a:extLst>
                  <a:ext uri="{0D108BD9-81ED-4DB2-BD59-A6C34878D82A}">
                    <a16:rowId xmlns:a16="http://schemas.microsoft.com/office/drawing/2014/main" val="4003640258"/>
                  </a:ext>
                </a:extLst>
              </a:tr>
              <a:tr h="370840">
                <a:tc>
                  <a:txBody>
                    <a:bodyPr/>
                    <a:lstStyle/>
                    <a:p>
                      <a:r>
                        <a:rPr lang="en-IN" sz="1600" dirty="0"/>
                        <a:t>DB2</a:t>
                      </a:r>
                    </a:p>
                  </a:txBody>
                  <a:tcPr/>
                </a:tc>
                <a:tc>
                  <a:txBody>
                    <a:bodyPr/>
                    <a:lstStyle/>
                    <a:p>
                      <a:r>
                        <a:rPr lang="en-US" sz="1600" dirty="0"/>
                        <a:t>16</a:t>
                      </a:r>
                      <a:endParaRPr lang="en-IN" sz="1600" dirty="0"/>
                    </a:p>
                  </a:txBody>
                  <a:tcPr/>
                </a:tc>
                <a:extLst>
                  <a:ext uri="{0D108BD9-81ED-4DB2-BD59-A6C34878D82A}">
                    <a16:rowId xmlns:a16="http://schemas.microsoft.com/office/drawing/2014/main" val="3475131862"/>
                  </a:ext>
                </a:extLst>
              </a:tr>
              <a:tr h="370840">
                <a:tc>
                  <a:txBody>
                    <a:bodyPr/>
                    <a:lstStyle/>
                    <a:p>
                      <a:r>
                        <a:rPr lang="en-IN" sz="1600" dirty="0"/>
                        <a:t>MariaDB</a:t>
                      </a:r>
                    </a:p>
                  </a:txBody>
                  <a:tcPr/>
                </a:tc>
                <a:tc>
                  <a:txBody>
                    <a:bodyPr/>
                    <a:lstStyle/>
                    <a:p>
                      <a:r>
                        <a:rPr lang="en-US" sz="1600" dirty="0"/>
                        <a:t>16</a:t>
                      </a:r>
                      <a:endParaRPr lang="en-IN" sz="1600" dirty="0"/>
                    </a:p>
                  </a:txBody>
                  <a:tcPr/>
                </a:tc>
                <a:extLst>
                  <a:ext uri="{0D108BD9-81ED-4DB2-BD59-A6C34878D82A}">
                    <a16:rowId xmlns:a16="http://schemas.microsoft.com/office/drawing/2014/main" val="3516013530"/>
                  </a:ext>
                </a:extLst>
              </a:tr>
            </a:tbl>
          </a:graphicData>
        </a:graphic>
      </p:graphicFrame>
      <p:sp>
        <p:nvSpPr>
          <p:cNvPr id="2" name="Title 1"/>
          <p:cNvSpPr txBox="1">
            <a:spLocks/>
          </p:cNvSpPr>
          <p:nvPr/>
        </p:nvSpPr>
        <p:spPr>
          <a:xfrm>
            <a:off x="1676977" y="3081154"/>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PRIMARY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41163720"/>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8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16" name="TextBox 15">
            <a:extLst>
              <a:ext uri="{FF2B5EF4-FFF2-40B4-BE49-F238E27FC236}">
                <a16:creationId xmlns:a16="http://schemas.microsoft.com/office/drawing/2014/main" id="{633FFDEC-1624-4FAE-B1DB-5A9EDC93FC69}"/>
              </a:ext>
            </a:extLst>
          </p:cNvPr>
          <p:cNvSpPr txBox="1"/>
          <p:nvPr/>
        </p:nvSpPr>
        <p:spPr>
          <a:xfrm>
            <a:off x="224450" y="2996952"/>
            <a:ext cx="11704197" cy="2616101"/>
          </a:xfrm>
          <a:prstGeom prst="rect">
            <a:avLst/>
          </a:prstGeom>
          <a:noFill/>
        </p:spPr>
        <p:txBody>
          <a:bodyPr wrap="square">
            <a:spAutoFit/>
          </a:bodyPr>
          <a:lstStyle/>
          <a:p>
            <a:pPr algn="just"/>
            <a:r>
              <a:rPr lang="en-IN" sz="2000" b="0" i="0" dirty="0">
                <a:solidFill>
                  <a:srgbClr val="610B4B"/>
                </a:solidFill>
                <a:effectLst/>
                <a:latin typeface="erdana"/>
              </a:rPr>
              <a:t>Clustered Index:- </a:t>
            </a:r>
            <a:r>
              <a:rPr lang="en-US" i="0" dirty="0">
                <a:solidFill>
                  <a:srgbClr val="333333"/>
                </a:solidFill>
                <a:latin typeface="Palatino Linotype" panose="02040502050505030304" pitchFamily="18" charset="0"/>
              </a:rPr>
              <a:t>The InnoDB table uses a clustered index for optimizing the speed of most common lookups ( SELECT statement) and DML operations like INSERT, UPDATE, and DELETE command. </a:t>
            </a:r>
            <a:r>
              <a:rPr lang="en-US" dirty="0">
                <a:solidFill>
                  <a:srgbClr val="333333"/>
                </a:solidFill>
                <a:latin typeface="Palatino Linotype" panose="02040502050505030304" pitchFamily="18" charset="0"/>
              </a:rPr>
              <a:t>Clustered indexes sort and store the data rows in the table based on their key values </a:t>
            </a:r>
            <a:r>
              <a:rPr lang="en-US" b="0" i="0" dirty="0">
                <a:solidFill>
                  <a:srgbClr val="333333"/>
                </a:solidFill>
                <a:effectLst/>
                <a:latin typeface="inter-regular"/>
              </a:rPr>
              <a:t>that can be sorted in only one way</a:t>
            </a:r>
            <a:r>
              <a:rPr lang="en-US" dirty="0">
                <a:solidFill>
                  <a:srgbClr val="333333"/>
                </a:solidFill>
                <a:latin typeface="Palatino Linotype" panose="02040502050505030304" pitchFamily="18" charset="0"/>
              </a:rPr>
              <a:t>. If the table column contains a primary key or unique key, MySQL creates a clustered index named PRIMARY based on that specific column. </a:t>
            </a:r>
          </a:p>
          <a:p>
            <a:pPr algn="just"/>
            <a:endParaRPr lang="en-US" sz="800" dirty="0">
              <a:solidFill>
                <a:srgbClr val="333333"/>
              </a:solidFill>
              <a:latin typeface="Palatino Linotype" panose="02040502050505030304" pitchFamily="18" charset="0"/>
            </a:endParaRPr>
          </a:p>
          <a:p>
            <a:pPr algn="just"/>
            <a:endParaRPr lang="en-US" sz="800" dirty="0">
              <a:solidFill>
                <a:srgbClr val="333333"/>
              </a:solidFill>
              <a:latin typeface="Palatino Linotype" panose="02040502050505030304" pitchFamily="18" charset="0"/>
            </a:endParaRPr>
          </a:p>
          <a:p>
            <a:pPr algn="just"/>
            <a:r>
              <a:rPr lang="en-IN" sz="2000" b="0" i="0" dirty="0">
                <a:solidFill>
                  <a:srgbClr val="610B4B"/>
                </a:solidFill>
                <a:effectLst/>
                <a:latin typeface="erdana"/>
              </a:rPr>
              <a:t>Non-Clustered Index:- </a:t>
            </a:r>
            <a:r>
              <a:rPr lang="en-US" dirty="0">
                <a:solidFill>
                  <a:srgbClr val="333333"/>
                </a:solidFill>
                <a:latin typeface="Palatino Linotype" panose="02040502050505030304" pitchFamily="18" charset="0"/>
              </a:rPr>
              <a:t>The indexes other than PRIMARY indexes (i.e. clustered indexes) called a non-clustered index. The non-clustered indexes are also known as secondary indexes. The non-clustered index and table data are both stored in different places. </a:t>
            </a:r>
            <a:r>
              <a:rPr lang="en-US" b="0" i="0" dirty="0">
                <a:solidFill>
                  <a:srgbClr val="333333"/>
                </a:solidFill>
                <a:effectLst/>
                <a:latin typeface="inter-regular"/>
              </a:rPr>
              <a:t>It is not sorted (ordering) the table data.</a:t>
            </a:r>
            <a:endParaRPr lang="en-IN" dirty="0">
              <a:solidFill>
                <a:srgbClr val="333333"/>
              </a:solidFill>
              <a:latin typeface="Palatino Linotype" panose="02040502050505030304" pitchFamily="18" charset="0"/>
            </a:endParaRPr>
          </a:p>
        </p:txBody>
      </p:sp>
      <p:sp>
        <p:nvSpPr>
          <p:cNvPr id="6" name="TextBox 5">
            <a:extLst>
              <a:ext uri="{FF2B5EF4-FFF2-40B4-BE49-F238E27FC236}">
                <a16:creationId xmlns:a16="http://schemas.microsoft.com/office/drawing/2014/main" id="{5F768E62-2BD0-17EA-6D45-34CA257EC614}"/>
              </a:ext>
            </a:extLst>
          </p:cNvPr>
          <p:cNvSpPr txBox="1"/>
          <p:nvPr/>
        </p:nvSpPr>
        <p:spPr>
          <a:xfrm>
            <a:off x="191343" y="5733256"/>
            <a:ext cx="1173730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test</a:t>
            </a:r>
            <a:r>
              <a:rPr lang="en-IN" dirty="0">
                <a:solidFill>
                  <a:schemeClr val="bg1">
                    <a:lumMod val="50000"/>
                  </a:schemeClr>
                </a:solidFill>
                <a:latin typeface="Liberation Mono"/>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a:t>
            </a:r>
            <a:r>
              <a:rPr lang="en-IN" dirty="0">
                <a:latin typeface="Liberation Mono"/>
              </a:rPr>
              <a:t>, 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 c11 </a:t>
            </a:r>
            <a:r>
              <a:rPr lang="en-IN" dirty="0">
                <a:solidFill>
                  <a:srgbClr val="834689"/>
                </a:solidFill>
                <a:latin typeface="Liberation Mono"/>
                <a:cs typeface="Arial" panose="020B0604020202020204" pitchFamily="34" charset="0"/>
              </a:rPr>
              <a:t>INT</a:t>
            </a:r>
            <a:r>
              <a:rPr lang="en-IN" dirty="0">
                <a:latin typeface="Liberation Mono"/>
              </a:rPr>
              <a:t>, 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 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chemeClr val="bg1">
                    <a:lumMod val="50000"/>
                  </a:schemeClr>
                </a:solidFill>
                <a:latin typeface="Liberation Mono"/>
              </a:rPr>
              <a:t>(</a:t>
            </a:r>
            <a:r>
              <a:rPr lang="en-IN" dirty="0">
                <a:latin typeface="Liberation Mono"/>
              </a:rPr>
              <a:t>c1, c2, c3, c4, c5, c6, c7, c8, c9, c10, c11, c12, c13, c14, c15, c16, c17, c18 </a:t>
            </a:r>
            <a:r>
              <a:rPr lang="en-IN" dirty="0">
                <a:solidFill>
                  <a:schemeClr val="bg1">
                    <a:lumMod val="50000"/>
                  </a:schemeClr>
                </a:solidFill>
                <a:latin typeface="Liberation Mono"/>
              </a:rPr>
              <a:t>))</a:t>
            </a:r>
            <a:r>
              <a:rPr lang="en-IN" dirty="0">
                <a:latin typeface="Liberation Mono"/>
              </a:rPr>
              <a:t>; </a:t>
            </a:r>
            <a:r>
              <a:rPr lang="en-IN" dirty="0">
                <a:solidFill>
                  <a:srgbClr val="C00000"/>
                </a:solidFill>
                <a:latin typeface="Liberation Mono"/>
                <a:cs typeface="Arial" panose="020B0604020202020204" pitchFamily="34" charset="0"/>
              </a:rPr>
              <a:t>// error</a:t>
            </a:r>
          </a:p>
        </p:txBody>
      </p:sp>
    </p:spTree>
    <p:extLst>
      <p:ext uri="{BB962C8B-B14F-4D97-AF65-F5344CB8AC3E}">
        <p14:creationId xmlns:p14="http://schemas.microsoft.com/office/powerpoint/2010/main" val="118540358"/>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a:t>
            </a:r>
          </a:p>
        </p:txBody>
      </p:sp>
      <p:sp>
        <p:nvSpPr>
          <p:cNvPr id="6" name="Rectangle 5"/>
          <p:cNvSpPr/>
          <p:nvPr/>
        </p:nvSpPr>
        <p:spPr>
          <a:xfrm>
            <a:off x="290745" y="1469683"/>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84CE300-2050-49A3-BDFF-69F18BC5022A}"/>
              </a:ext>
            </a:extLst>
          </p:cNvPr>
          <p:cNvSpPr/>
          <p:nvPr/>
        </p:nvSpPr>
        <p:spPr>
          <a:xfrm>
            <a:off x="191344" y="2318678"/>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TextBox 10">
            <a:extLst>
              <a:ext uri="{FF2B5EF4-FFF2-40B4-BE49-F238E27FC236}">
                <a16:creationId xmlns:a16="http://schemas.microsoft.com/office/drawing/2014/main" id="{C96BE7FC-DFE5-41BC-93C2-653212AF3C1D}"/>
              </a:ext>
            </a:extLst>
          </p:cNvPr>
          <p:cNvSpPr txBox="1"/>
          <p:nvPr/>
        </p:nvSpPr>
        <p:spPr>
          <a:xfrm>
            <a:off x="3863752" y="2320164"/>
            <a:ext cx="36004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purchase_orders(</a:t>
            </a:r>
          </a:p>
          <a:p>
            <a:pPr marL="273050"/>
            <a:r>
              <a:rPr lang="en-IN" dirty="0">
                <a:latin typeface="Liberation Mono"/>
                <a:cs typeface="Arial" panose="020B0604020202020204" pitchFamily="34" charset="0"/>
              </a:rPr>
              <a:t>   po_number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po_status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(po_number)</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DBC70CAB-9E5D-4B16-B79A-DDAA9D4DCD21}"/>
              </a:ext>
            </a:extLst>
          </p:cNvPr>
          <p:cNvSpPr txBox="1"/>
          <p:nvPr/>
        </p:nvSpPr>
        <p:spPr>
          <a:xfrm>
            <a:off x="191344" y="4566027"/>
            <a:ext cx="54006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supplier(</a:t>
            </a:r>
          </a:p>
          <a:p>
            <a:pPr marL="177800"/>
            <a:r>
              <a:rPr lang="en-IN" dirty="0">
                <a:latin typeface="Liberation Mono"/>
                <a:cs typeface="Arial" panose="020B0604020202020204" pitchFamily="34" charset="0"/>
              </a:rPr>
              <a:t>   supplier_id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supplier_name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contact_name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pk_supplier_id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(supplier_id)</a:t>
            </a:r>
          </a:p>
          <a:p>
            <a:pPr marL="17780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CE24E9CA-5966-46C4-A517-1C673C806CCE}"/>
              </a:ext>
            </a:extLst>
          </p:cNvPr>
          <p:cNvSpPr txBox="1"/>
          <p:nvPr/>
        </p:nvSpPr>
        <p:spPr>
          <a:xfrm>
            <a:off x="7824192" y="2312705"/>
            <a:ext cx="3511766"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person</a:t>
            </a:r>
            <a:r>
              <a:rPr lang="en-US" dirty="0">
                <a:latin typeface="Liberation Mono"/>
                <a:cs typeface="Arial" panose="020B0604020202020204" pitchFamily="34" charset="0"/>
              </a:rPr>
              <a:t>(</a:t>
            </a:r>
          </a:p>
          <a:p>
            <a:pPr marL="273050"/>
            <a:r>
              <a:rPr lang="en-US" dirty="0">
                <a:latin typeface="Liberation Mono"/>
              </a:rPr>
              <a:t>   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 NULL </a:t>
            </a:r>
            <a:r>
              <a:rPr lang="en-US" dirty="0">
                <a:solidFill>
                  <a:srgbClr val="C00000"/>
                </a:solidFill>
                <a:latin typeface="Liberation Mono"/>
                <a:cs typeface="Arial" panose="020B0604020202020204" pitchFamily="34" charset="0"/>
              </a:rPr>
              <a:t>UNIQUE</a:t>
            </a:r>
            <a:r>
              <a:rPr lang="en-US" dirty="0">
                <a:latin typeface="Liberation Mono"/>
              </a:rPr>
              <a:t>,</a:t>
            </a:r>
          </a:p>
          <a:p>
            <a:pPr marL="273050"/>
            <a:r>
              <a:rPr lang="en-US" dirty="0">
                <a:latin typeface="Liberation Mono"/>
              </a:rPr>
              <a:t>   lastName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age </a:t>
            </a:r>
            <a:r>
              <a:rPr lang="en-US" dirty="0">
                <a:solidFill>
                  <a:srgbClr val="834689"/>
                </a:solidFill>
                <a:latin typeface="Liberation Mono"/>
                <a:cs typeface="Arial" panose="020B0604020202020204" pitchFamily="34" charset="0"/>
              </a:rPr>
              <a:t>INT</a:t>
            </a:r>
            <a:r>
              <a:rPr lang="en-US" dirty="0">
                <a:latin typeface="Liberation Mono"/>
              </a:rPr>
              <a:t>,</a:t>
            </a:r>
          </a:p>
          <a:p>
            <a:pPr marL="273050"/>
            <a:r>
              <a:rPr lang="en-US" dirty="0">
                <a:latin typeface="Liberation Mono"/>
              </a:rPr>
              <a:t>   email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255</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a:t>
            </a:r>
            <a:r>
              <a:rPr lang="en-US" dirty="0">
                <a:latin typeface="Liberation Mono"/>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9C6AF6EC-A1E8-4919-8C22-ECF2003C92D5}"/>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PRIMARY KEY</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15163208"/>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 PRIMARY KEY</a:t>
            </a:r>
            <a:r>
              <a:rPr lang="en-IN" dirty="0">
                <a:latin typeface="Arial" panose="020B0604020202020204" pitchFamily="34" charset="0"/>
                <a:cs typeface="Arial" panose="020B0604020202020204" pitchFamily="34" charset="0"/>
              </a:rPr>
              <a:t> column.</a:t>
            </a:r>
          </a:p>
        </p:txBody>
      </p:sp>
      <p:sp>
        <p:nvSpPr>
          <p:cNvPr id="6" name="Rectangle 5">
            <a:extLst>
              <a:ext uri="{FF2B5EF4-FFF2-40B4-BE49-F238E27FC236}">
                <a16:creationId xmlns:a16="http://schemas.microsoft.com/office/drawing/2014/main" id="{508B2882-D272-43E8-BB0E-C46F90ABB1F5}"/>
              </a:ext>
            </a:extLst>
          </p:cNvPr>
          <p:cNvSpPr/>
          <p:nvPr/>
        </p:nvSpPr>
        <p:spPr>
          <a:xfrm>
            <a:off x="291912" y="1340768"/>
            <a:ext cx="5832648" cy="2585323"/>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salesDetails (</a:t>
            </a:r>
          </a:p>
          <a:p>
            <a:pPr marL="177800"/>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timeID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salesAmount</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17780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(customerID , productID, timeID)</a:t>
            </a:r>
          </a:p>
          <a:p>
            <a:pPr marL="17780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graphicFrame>
        <p:nvGraphicFramePr>
          <p:cNvPr id="2" name="Table 2">
            <a:extLst>
              <a:ext uri="{FF2B5EF4-FFF2-40B4-BE49-F238E27FC236}">
                <a16:creationId xmlns:a16="http://schemas.microsoft.com/office/drawing/2014/main" id="{4913F93C-F1E8-4820-B777-122AA6661B4D}"/>
              </a:ext>
            </a:extLst>
          </p:cNvPr>
          <p:cNvGraphicFramePr>
            <a:graphicFrameLocks noGrp="1"/>
          </p:cNvGraphicFramePr>
          <p:nvPr/>
        </p:nvGraphicFramePr>
        <p:xfrm>
          <a:off x="407368" y="4001472"/>
          <a:ext cx="11305254" cy="2595880"/>
        </p:xfrm>
        <a:graphic>
          <a:graphicData uri="http://schemas.openxmlformats.org/drawingml/2006/table">
            <a:tbl>
              <a:tblPr firstRow="1" bandRow="1">
                <a:tableStyleId>{5940675A-B579-460E-94D1-54222C63F5DA}</a:tableStyleId>
              </a:tblPr>
              <a:tblGrid>
                <a:gridCol w="1884209">
                  <a:extLst>
                    <a:ext uri="{9D8B030D-6E8A-4147-A177-3AD203B41FA5}">
                      <a16:colId xmlns:a16="http://schemas.microsoft.com/office/drawing/2014/main" val="2946014459"/>
                    </a:ext>
                  </a:extLst>
                </a:gridCol>
                <a:gridCol w="1884209">
                  <a:extLst>
                    <a:ext uri="{9D8B030D-6E8A-4147-A177-3AD203B41FA5}">
                      <a16:colId xmlns:a16="http://schemas.microsoft.com/office/drawing/2014/main" val="2449853468"/>
                    </a:ext>
                  </a:extLst>
                </a:gridCol>
                <a:gridCol w="1884209">
                  <a:extLst>
                    <a:ext uri="{9D8B030D-6E8A-4147-A177-3AD203B41FA5}">
                      <a16:colId xmlns:a16="http://schemas.microsoft.com/office/drawing/2014/main" val="2433386357"/>
                    </a:ext>
                  </a:extLst>
                </a:gridCol>
                <a:gridCol w="1884209">
                  <a:extLst>
                    <a:ext uri="{9D8B030D-6E8A-4147-A177-3AD203B41FA5}">
                      <a16:colId xmlns:a16="http://schemas.microsoft.com/office/drawing/2014/main" val="2438442059"/>
                    </a:ext>
                  </a:extLst>
                </a:gridCol>
                <a:gridCol w="1884209">
                  <a:extLst>
                    <a:ext uri="{9D8B030D-6E8A-4147-A177-3AD203B41FA5}">
                      <a16:colId xmlns:a16="http://schemas.microsoft.com/office/drawing/2014/main" val="206918280"/>
                    </a:ext>
                  </a:extLst>
                </a:gridCol>
                <a:gridCol w="1884209">
                  <a:extLst>
                    <a:ext uri="{9D8B030D-6E8A-4147-A177-3AD203B41FA5}">
                      <a16:colId xmlns:a16="http://schemas.microsoft.com/office/drawing/2014/main" val="3050868127"/>
                    </a:ext>
                  </a:extLst>
                </a:gridCol>
              </a:tblGrid>
              <a:tr h="370840">
                <a:tc>
                  <a:txBody>
                    <a:bodyPr/>
                    <a:lstStyle/>
                    <a:p>
                      <a:pPr algn="l"/>
                      <a:r>
                        <a:rPr lang="en-IN" b="1" dirty="0">
                          <a:latin typeface="Liberation Mono"/>
                          <a:cs typeface="Arial" panose="020B0604020202020204" pitchFamily="34" charset="0"/>
                        </a:rPr>
                        <a:t>customerID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productID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timeID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quantity</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salesDate</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salesAmount</a:t>
                      </a:r>
                      <a:endParaRPr lang="en-IN" b="1" dirty="0">
                        <a:latin typeface="Liberation Mono"/>
                      </a:endParaRPr>
                    </a:p>
                  </a:txBody>
                  <a:tcPr>
                    <a:solidFill>
                      <a:schemeClr val="accent3">
                        <a:lumMod val="60000"/>
                        <a:lumOff val="40000"/>
                      </a:schemeClr>
                    </a:solidFill>
                  </a:tcPr>
                </a:tc>
                <a:extLst>
                  <a:ext uri="{0D108BD9-81ED-4DB2-BD59-A6C34878D82A}">
                    <a16:rowId xmlns:a16="http://schemas.microsoft.com/office/drawing/2014/main" val="4194449835"/>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algn="l"/>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algn="l"/>
                      <a:r>
                        <a:rPr lang="en-IN" dirty="0">
                          <a:latin typeface="Liberation Mono"/>
                        </a:rPr>
                        <a:t>●●●●●●</a:t>
                      </a:r>
                    </a:p>
                  </a:txBody>
                  <a:tcPr>
                    <a:noFill/>
                  </a:tcPr>
                </a:tc>
                <a:tc>
                  <a:txBody>
                    <a:bodyPr/>
                    <a:lstStyle/>
                    <a:p>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345119452"/>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D2-T1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517342104"/>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958127778"/>
                  </a:ext>
                </a:extLst>
              </a:tr>
              <a:tr h="370840">
                <a:tc>
                  <a:txBody>
                    <a:bodyPr/>
                    <a:lstStyle/>
                    <a:p>
                      <a:pPr algn="l"/>
                      <a:r>
                        <a:rPr lang="en-US" dirty="0">
                          <a:latin typeface="Liberation Mono"/>
                        </a:rPr>
                        <a:t>Cust-002</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778648"/>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3622462086"/>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D3-T1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790322774"/>
                  </a:ext>
                </a:extLst>
              </a:tr>
            </a:tbl>
          </a:graphicData>
        </a:graphic>
      </p:graphicFrame>
    </p:spTree>
    <p:extLst>
      <p:ext uri="{BB962C8B-B14F-4D97-AF65-F5344CB8AC3E}">
        <p14:creationId xmlns:p14="http://schemas.microsoft.com/office/powerpoint/2010/main" val="2290815819"/>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6" name="Rectangle 15">
            <a:extLst>
              <a:ext uri="{FF2B5EF4-FFF2-40B4-BE49-F238E27FC236}">
                <a16:creationId xmlns:a16="http://schemas.microsoft.com/office/drawing/2014/main" id="{D9A51BB9-98B8-4A94-A83D-7C4A3BEAF5BF}"/>
              </a:ext>
            </a:extLst>
          </p:cNvPr>
          <p:cNvSpPr/>
          <p:nvPr/>
        </p:nvSpPr>
        <p:spPr>
          <a:xfrm>
            <a:off x="263352" y="4277995"/>
            <a:ext cx="777686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order_product (</a:t>
            </a: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rate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pk_orderID_productID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(orderID, productID)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69E6E69D-84C6-4555-BD49-4FF624C219F2}"/>
              </a:ext>
            </a:extLst>
          </p:cNvPr>
          <p:cNvSpPr/>
          <p:nvPr/>
        </p:nvSpPr>
        <p:spPr>
          <a:xfrm>
            <a:off x="263352" y="1685707"/>
            <a:ext cx="568863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payments (</a:t>
            </a:r>
          </a:p>
          <a:p>
            <a:pPr marL="273050"/>
            <a:r>
              <a:rPr lang="en-IN" dirty="0">
                <a:latin typeface="Liberation Mono"/>
                <a:cs typeface="Arial" panose="020B0604020202020204" pitchFamily="34" charset="0"/>
              </a:rPr>
              <a:t>   paymentID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bankDetails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(paymentID , orderID)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3" name="TextBox 2">
            <a:extLst>
              <a:ext uri="{FF2B5EF4-FFF2-40B4-BE49-F238E27FC236}">
                <a16:creationId xmlns:a16="http://schemas.microsoft.com/office/drawing/2014/main" id="{7E064F4A-8B07-1276-369B-F27A8390D945}"/>
              </a:ext>
            </a:extLst>
          </p:cNvPr>
          <p:cNvSpPr txBox="1"/>
          <p:nvPr/>
        </p:nvSpPr>
        <p:spPr>
          <a:xfrm>
            <a:off x="6096000" y="2644462"/>
            <a:ext cx="609426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try</a:t>
            </a:r>
            <a:r>
              <a:rPr lang="en-IN" dirty="0">
                <a:latin typeface="Liberation Mono"/>
                <a:cs typeface="Arial" panose="020B0604020202020204" pitchFamily="34" charset="0"/>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 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 </a:t>
            </a:r>
            <a:r>
              <a:rPr lang="en-IN" dirty="0">
                <a:latin typeface="Liberation Mono"/>
              </a:rPr>
              <a:t>,c7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,c11 </a:t>
            </a:r>
            <a:r>
              <a:rPr lang="en-IN" dirty="0">
                <a:solidFill>
                  <a:srgbClr val="834689"/>
                </a:solidFill>
                <a:latin typeface="Liberation Mono"/>
                <a:cs typeface="Arial" panose="020B0604020202020204" pitchFamily="34" charset="0"/>
              </a:rPr>
              <a:t>INT</a:t>
            </a:r>
            <a:r>
              <a:rPr lang="en-IN" dirty="0">
                <a:latin typeface="Liberation Mono"/>
              </a:rPr>
              <a:t>,c12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c21 </a:t>
            </a:r>
            <a:r>
              <a:rPr lang="en-IN" dirty="0">
                <a:solidFill>
                  <a:srgbClr val="834689"/>
                </a:solidFill>
                <a:latin typeface="Liberation Mono"/>
                <a:cs typeface="Arial" panose="020B0604020202020204" pitchFamily="34" charset="0"/>
              </a:rPr>
              <a:t>INT</a:t>
            </a:r>
            <a:r>
              <a:rPr lang="en-IN" dirty="0">
                <a:latin typeface="Liberation Mono"/>
              </a:rPr>
              <a:t>, c22 </a:t>
            </a:r>
            <a:r>
              <a:rPr lang="en-IN" dirty="0">
                <a:solidFill>
                  <a:srgbClr val="834689"/>
                </a:solidFill>
                <a:latin typeface="Liberation Mono"/>
                <a:cs typeface="Arial" panose="020B0604020202020204" pitchFamily="34" charset="0"/>
              </a:rPr>
              <a:t>INT</a:t>
            </a:r>
            <a:r>
              <a:rPr lang="en-IN" dirty="0">
                <a:latin typeface="Liberation Mono"/>
              </a:rPr>
              <a:t>, c23 </a:t>
            </a:r>
            <a:r>
              <a:rPr lang="en-IN" dirty="0">
                <a:solidFill>
                  <a:srgbClr val="834689"/>
                </a:solidFill>
                <a:latin typeface="Liberation Mono"/>
                <a:cs typeface="Arial" panose="020B0604020202020204" pitchFamily="34" charset="0"/>
              </a:rPr>
              <a:t>INT</a:t>
            </a:r>
            <a:r>
              <a:rPr lang="en-IN" dirty="0">
                <a:latin typeface="Liberation Mono"/>
              </a:rPr>
              <a:t>, c24 </a:t>
            </a:r>
            <a:r>
              <a:rPr lang="en-IN" dirty="0">
                <a:solidFill>
                  <a:srgbClr val="834689"/>
                </a:solidFill>
                <a:latin typeface="Liberation Mono"/>
                <a:cs typeface="Arial" panose="020B0604020202020204" pitchFamily="34" charset="0"/>
              </a:rPr>
              <a:t>INT</a:t>
            </a:r>
            <a:r>
              <a:rPr lang="en-IN" dirty="0">
                <a:latin typeface="Liberation Mono"/>
              </a:rPr>
              <a:t>, c25 </a:t>
            </a:r>
            <a:r>
              <a:rPr lang="en-IN" dirty="0">
                <a:solidFill>
                  <a:srgbClr val="834689"/>
                </a:solidFill>
                <a:latin typeface="Liberation Mono"/>
                <a:cs typeface="Arial" panose="020B0604020202020204" pitchFamily="34" charset="0"/>
              </a:rPr>
              <a:t>INT</a:t>
            </a:r>
            <a:r>
              <a:rPr lang="en-IN" dirty="0">
                <a:latin typeface="Liberation Mono"/>
              </a:rPr>
              <a:t>, c26 </a:t>
            </a:r>
            <a:r>
              <a:rPr lang="en-IN" dirty="0">
                <a:solidFill>
                  <a:srgbClr val="834689"/>
                </a:solidFill>
                <a:latin typeface="Liberation Mono"/>
                <a:cs typeface="Arial" panose="020B0604020202020204" pitchFamily="34" charset="0"/>
              </a:rPr>
              <a:t>INT</a:t>
            </a:r>
            <a:r>
              <a:rPr lang="en-IN" dirty="0">
                <a:latin typeface="Liberation Mono"/>
              </a:rPr>
              <a:t>, c27 </a:t>
            </a:r>
            <a:r>
              <a:rPr lang="en-IN" dirty="0">
                <a:solidFill>
                  <a:srgbClr val="834689"/>
                </a:solidFill>
                <a:latin typeface="Liberation Mono"/>
                <a:cs typeface="Arial" panose="020B0604020202020204" pitchFamily="34" charset="0"/>
              </a:rPr>
              <a:t>INT</a:t>
            </a:r>
            <a:r>
              <a:rPr lang="en-IN" dirty="0">
                <a:latin typeface="Liberation Mono"/>
              </a:rPr>
              <a:t>, c28 </a:t>
            </a:r>
            <a:r>
              <a:rPr lang="en-IN" dirty="0">
                <a:solidFill>
                  <a:srgbClr val="834689"/>
                </a:solidFill>
                <a:latin typeface="Liberation Mono"/>
                <a:cs typeface="Arial" panose="020B0604020202020204" pitchFamily="34" charset="0"/>
              </a:rPr>
              <a:t>INT</a:t>
            </a:r>
            <a:r>
              <a:rPr lang="en-IN" dirty="0">
                <a:latin typeface="Liberation Mono"/>
              </a:rPr>
              <a:t>, c29 </a:t>
            </a:r>
            <a:r>
              <a:rPr lang="en-IN" dirty="0">
                <a:solidFill>
                  <a:srgbClr val="834689"/>
                </a:solidFill>
                <a:latin typeface="Liberation Mono"/>
                <a:cs typeface="Arial" panose="020B0604020202020204" pitchFamily="34" charset="0"/>
              </a:rPr>
              <a:t>INT </a:t>
            </a:r>
            <a:r>
              <a:rPr lang="en-IN" dirty="0">
                <a:latin typeface="Liberation Mono"/>
              </a:rPr>
              <a:t>, c30 </a:t>
            </a:r>
            <a:r>
              <a:rPr lang="en-IN" dirty="0">
                <a:solidFill>
                  <a:srgbClr val="834689"/>
                </a:solidFill>
                <a:latin typeface="Liberation Mono"/>
                <a:cs typeface="Arial" panose="020B0604020202020204" pitchFamily="34" charset="0"/>
              </a:rPr>
              <a:t>INT</a:t>
            </a:r>
            <a:r>
              <a:rPr lang="en-IN" dirty="0">
                <a:latin typeface="Liberation Mono"/>
              </a:rPr>
              <a:t>, c31 </a:t>
            </a:r>
            <a:r>
              <a:rPr lang="en-IN" dirty="0">
                <a:solidFill>
                  <a:srgbClr val="834689"/>
                </a:solidFill>
                <a:latin typeface="Liberation Mono"/>
                <a:cs typeface="Arial" panose="020B0604020202020204" pitchFamily="34" charset="0"/>
              </a:rPr>
              <a:t>INT</a:t>
            </a:r>
            <a:r>
              <a:rPr lang="en-IN" dirty="0">
                <a:latin typeface="Liberation Mono"/>
              </a:rPr>
              <a:t>, c32 </a:t>
            </a:r>
            <a:r>
              <a:rPr lang="en-IN" dirty="0">
                <a:solidFill>
                  <a:srgbClr val="834689"/>
                </a:solidFill>
                <a:latin typeface="Liberation Mono"/>
                <a:cs typeface="Arial" panose="020B0604020202020204" pitchFamily="34" charset="0"/>
              </a:rPr>
              <a:t>INT</a:t>
            </a:r>
            <a:r>
              <a:rPr lang="en-IN" dirty="0">
                <a:latin typeface="Liberation Mono"/>
              </a:rPr>
              <a:t>, c33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c1, c2, c3, c4, c5, c6, c7, c8, c9, c10, c11, c12, c13, c14, c15, c16, c17</a:t>
            </a:r>
            <a:r>
              <a:rPr lang="en-IN" dirty="0">
                <a:latin typeface="Liberation Mono"/>
                <a:cs typeface="Arial" panose="020B0604020202020204" pitchFamily="34" charset="0"/>
              </a:rPr>
              <a:t>))</a:t>
            </a:r>
            <a:r>
              <a:rPr lang="en-IN" dirty="0">
                <a:latin typeface="Liberation Mono"/>
              </a:rPr>
              <a:t>;</a:t>
            </a:r>
          </a:p>
        </p:txBody>
      </p:sp>
      <p:sp>
        <p:nvSpPr>
          <p:cNvPr id="6" name="TextBox 5">
            <a:extLst>
              <a:ext uri="{FF2B5EF4-FFF2-40B4-BE49-F238E27FC236}">
                <a16:creationId xmlns:a16="http://schemas.microsoft.com/office/drawing/2014/main" id="{AABEA06F-3E8C-A78E-D03A-FEBB3CFDD208}"/>
              </a:ext>
            </a:extLst>
          </p:cNvPr>
          <p:cNvSpPr txBox="1"/>
          <p:nvPr/>
        </p:nvSpPr>
        <p:spPr>
          <a:xfrm>
            <a:off x="6105306" y="2123913"/>
            <a:ext cx="1085963" cy="430887"/>
          </a:xfrm>
          <a:prstGeom prst="rect">
            <a:avLst/>
          </a:prstGeom>
          <a:noFill/>
        </p:spPr>
        <p:txBody>
          <a:bodyPr wrap="square">
            <a:spAutoFit/>
          </a:bodyPr>
          <a:lstStyle/>
          <a:p>
            <a:r>
              <a:rPr lang="en-IN" sz="2200" dirty="0">
                <a:solidFill>
                  <a:srgbClr val="C00000"/>
                </a:solidFill>
                <a:latin typeface="Liberation Mono"/>
                <a:cs typeface="Arial" panose="020B0604020202020204" pitchFamily="34" charset="0"/>
              </a:rPr>
              <a:t>Try It</a:t>
            </a:r>
            <a:endParaRPr lang="en-IN" sz="2200" dirty="0"/>
          </a:p>
        </p:txBody>
      </p:sp>
      <p:sp>
        <p:nvSpPr>
          <p:cNvPr id="9" name="TextBox 8">
            <a:extLst>
              <a:ext uri="{FF2B5EF4-FFF2-40B4-BE49-F238E27FC236}">
                <a16:creationId xmlns:a16="http://schemas.microsoft.com/office/drawing/2014/main" id="{D94A5514-6B8A-52BD-6616-90D70B125F3D}"/>
              </a:ext>
            </a:extLst>
          </p:cNvPr>
          <p:cNvSpPr txBox="1"/>
          <p:nvPr/>
        </p:nvSpPr>
        <p:spPr>
          <a:xfrm>
            <a:off x="7464152" y="4399364"/>
            <a:ext cx="4464496" cy="1261884"/>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US" sz="1800" dirty="0">
                <a:solidFill>
                  <a:schemeClr val="tx1"/>
                </a:solidFill>
                <a:latin typeface="Arial" panose="020B0604020202020204" pitchFamily="34" charset="0"/>
                <a:cs typeface="Arial" panose="020B0604020202020204" pitchFamily="34" charset="0"/>
              </a:rPr>
              <a:t>ERROR 1070 (42000): Too many key parts specified; max 16 parts allowed</a:t>
            </a:r>
            <a:endParaRPr lang="en-IN" sz="1800" dirty="0">
              <a:solidFill>
                <a:schemeClr val="tx1"/>
              </a:solidFill>
              <a:latin typeface="Arial" panose="020B0604020202020204" pitchFamily="34" charset="0"/>
              <a:cs typeface="Arial" panose="020B0604020202020204" pitchFamily="34" charset="0"/>
            </a:endParaRP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328248"/>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Primary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C719848B-35AE-4D16-A9C7-09A7B14F8FA2}"/>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1967690939"/>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321575" y="4869160"/>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pk_vendor_id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PRIMARY KEY </a:t>
            </a:r>
            <a:r>
              <a:rPr lang="en-IN" dirty="0">
                <a:latin typeface="Arial" panose="020B0604020202020204" pitchFamily="34" charset="0"/>
                <a:cs typeface="Arial" panose="020B0604020202020204" pitchFamily="34" charset="0"/>
              </a:rPr>
              <a:t>on existing column.</a:t>
            </a:r>
          </a:p>
        </p:txBody>
      </p:sp>
      <p:sp>
        <p:nvSpPr>
          <p:cNvPr id="7" name="TextBox 6">
            <a:extLst>
              <a:ext uri="{FF2B5EF4-FFF2-40B4-BE49-F238E27FC236}">
                <a16:creationId xmlns:a16="http://schemas.microsoft.com/office/drawing/2014/main" id="{3679F9AB-3621-4169-8DD2-10667557B6E8}"/>
              </a:ext>
            </a:extLst>
          </p:cNvPr>
          <p:cNvSpPr txBox="1"/>
          <p:nvPr/>
        </p:nvSpPr>
        <p:spPr>
          <a:xfrm>
            <a:off x="321575" y="3296226"/>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  );</a:t>
            </a:r>
          </a:p>
        </p:txBody>
      </p:sp>
      <p:sp>
        <p:nvSpPr>
          <p:cNvPr id="2" name="Rectangle 1">
            <a:extLst>
              <a:ext uri="{FF2B5EF4-FFF2-40B4-BE49-F238E27FC236}">
                <a16:creationId xmlns:a16="http://schemas.microsoft.com/office/drawing/2014/main" id="{D86F3506-B4BE-45FB-8556-FC030B26835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180589065"/>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Primary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18AC7600-BD65-4F43-8D2F-87A3E298E8EC}"/>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1241484636"/>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primary key</a:t>
            </a:r>
          </a:p>
        </p:txBody>
      </p:sp>
      <p:sp>
        <p:nvSpPr>
          <p:cNvPr id="2" name="Rectangle 1"/>
          <p:cNvSpPr/>
          <p:nvPr/>
        </p:nvSpPr>
        <p:spPr>
          <a:xfrm>
            <a:off x="290745" y="4869160"/>
            <a:ext cx="8990430"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vendors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PRIMARY KEY</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64F6EAE-E046-4F67-BC66-C7DD08803E16}"/>
              </a:ext>
            </a:extLst>
          </p:cNvPr>
          <p:cNvSpPr txBox="1"/>
          <p:nvPr/>
        </p:nvSpPr>
        <p:spPr>
          <a:xfrm>
            <a:off x="290745" y="2946878"/>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648B8C23-93E8-4CA7-A02F-881EE4718DBF}"/>
              </a:ext>
            </a:extLst>
          </p:cNvPr>
          <p:cNvSpPr/>
          <p:nvPr/>
        </p:nvSpPr>
        <p:spPr>
          <a:xfrm>
            <a:off x="190550" y="1458000"/>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436781720"/>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UNIQUE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D0DFC63B-0C1A-4089-BBF5-37A01CE99472}"/>
              </a:ext>
            </a:extLst>
          </p:cNvPr>
          <p:cNvSpPr/>
          <p:nvPr/>
        </p:nvSpPr>
        <p:spPr>
          <a:xfrm>
            <a:off x="263352" y="156981"/>
            <a:ext cx="11737305" cy="1692771"/>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can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can have multiple unique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column can have unique key as well as a primary key.</a:t>
            </a:r>
          </a:p>
        </p:txBody>
      </p:sp>
      <p:sp>
        <p:nvSpPr>
          <p:cNvPr id="4" name="TextBox 3">
            <a:extLst>
              <a:ext uri="{FF2B5EF4-FFF2-40B4-BE49-F238E27FC236}">
                <a16:creationId xmlns:a16="http://schemas.microsoft.com/office/drawing/2014/main" id="{21EA9905-3215-40B9-BC2A-DE6FAFB787C5}"/>
              </a:ext>
            </a:extLst>
          </p:cNvPr>
          <p:cNvSpPr txBox="1"/>
          <p:nvPr/>
        </p:nvSpPr>
        <p:spPr>
          <a:xfrm>
            <a:off x="263351" y="4527781"/>
            <a:ext cx="9937104" cy="984885"/>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Unique key in a relation is always associated with an </a:t>
            </a:r>
            <a:r>
              <a:rPr lang="en-IN" sz="1800" b="1" i="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C3B79674-F21B-4C8C-8E2E-9E36A20C5C25}"/>
              </a:ext>
            </a:extLst>
          </p:cNvPr>
          <p:cNvSpPr/>
          <p:nvPr/>
        </p:nvSpPr>
        <p:spPr>
          <a:xfrm>
            <a:off x="263350" y="3248036"/>
            <a:ext cx="11665297" cy="646331"/>
          </a:xfrm>
          <a:prstGeom prst="rect">
            <a:avLst/>
          </a:prstGeom>
        </p:spPr>
        <p:txBody>
          <a:bodyPr wrap="square">
            <a:spAutoFit/>
          </a:bodyPr>
          <a:lstStyle/>
          <a:p>
            <a:r>
              <a:rPr lang="en-IN" dirty="0">
                <a:latin typeface="Palatino Linotype" panose="02040502050505030304" pitchFamily="18" charset="0"/>
              </a:rPr>
              <a:t>A </a:t>
            </a:r>
            <a:r>
              <a:rPr lang="en-IN" b="1" dirty="0">
                <a:latin typeface="Palatino Linotype" panose="02040502050505030304" pitchFamily="18" charset="0"/>
              </a:rPr>
              <a:t>UNIQUE key </a:t>
            </a:r>
            <a:r>
              <a:rPr lang="en-US" dirty="0">
                <a:latin typeface="Palatino Linotype" panose="02040502050505030304" pitchFamily="18" charset="0"/>
              </a:rPr>
              <a:t>constraint</a:t>
            </a:r>
            <a:r>
              <a:rPr lang="en-IN" b="1" dirty="0">
                <a:latin typeface="Palatino Linotype" panose="02040502050505030304" pitchFamily="18" charset="0"/>
              </a:rPr>
              <a:t> </a:t>
            </a:r>
            <a:r>
              <a:rPr lang="en-IN" dirty="0">
                <a:latin typeface="Palatino Linotype" panose="02040502050505030304" pitchFamily="18" charset="0"/>
              </a:rPr>
              <a:t>is a set of one or more than one fields/columns of a table that uniquely identify a record in a database table.</a:t>
            </a:r>
          </a:p>
        </p:txBody>
      </p:sp>
    </p:spTree>
    <p:extLst>
      <p:ext uri="{BB962C8B-B14F-4D97-AF65-F5344CB8AC3E}">
        <p14:creationId xmlns:p14="http://schemas.microsoft.com/office/powerpoint/2010/main" val="3925389135"/>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 with </a:t>
            </a:r>
            <a:r>
              <a:rPr lang="en-IN" b="1" dirty="0">
                <a:latin typeface="Arial" panose="020B0604020202020204" pitchFamily="34" charset="0"/>
                <a:cs typeface="Arial" panose="020B0604020202020204" pitchFamily="34" charset="0"/>
              </a:rPr>
              <a:t>UNIQUE KEY </a:t>
            </a:r>
            <a:r>
              <a:rPr lang="en-IN" dirty="0">
                <a:latin typeface="Arial" panose="020B0604020202020204" pitchFamily="34" charset="0"/>
                <a:cs typeface="Arial" panose="020B0604020202020204" pitchFamily="34" charset="0"/>
              </a:rPr>
              <a:t>column.</a:t>
            </a:r>
          </a:p>
        </p:txBody>
      </p:sp>
      <p:sp>
        <p:nvSpPr>
          <p:cNvPr id="17" name="Rectangle 16">
            <a:extLst>
              <a:ext uri="{FF2B5EF4-FFF2-40B4-BE49-F238E27FC236}">
                <a16:creationId xmlns:a16="http://schemas.microsoft.com/office/drawing/2014/main" id="{1054FA30-BD90-42A6-A67E-D1D783D1FA59}"/>
              </a:ext>
            </a:extLst>
          </p:cNvPr>
          <p:cNvSpPr/>
          <p:nvPr/>
        </p:nvSpPr>
        <p:spPr>
          <a:xfrm>
            <a:off x="578777" y="4145596"/>
            <a:ext cx="5544616"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ea typeface="Times New Roman" panose="02020603050405020304" pitchFamily="18" charset="0"/>
              </a:rPr>
              <a:t> uni_brandName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brandName</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4BD0CAA4-1761-4C43-97E5-B683C9917B8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a:t>
            </a:r>
          </a:p>
        </p:txBody>
      </p:sp>
      <p:sp>
        <p:nvSpPr>
          <p:cNvPr id="8" name="TextBox 7">
            <a:extLst>
              <a:ext uri="{FF2B5EF4-FFF2-40B4-BE49-F238E27FC236}">
                <a16:creationId xmlns:a16="http://schemas.microsoft.com/office/drawing/2014/main" id="{87C25CC9-1005-42FD-96C8-122E68205586}"/>
              </a:ext>
            </a:extLst>
          </p:cNvPr>
          <p:cNvSpPr txBox="1"/>
          <p:nvPr/>
        </p:nvSpPr>
        <p:spPr>
          <a:xfrm>
            <a:off x="578777" y="1975554"/>
            <a:ext cx="4221079"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clients (</a:t>
            </a:r>
          </a:p>
          <a:p>
            <a:pPr marL="273050"/>
            <a:r>
              <a:rPr lang="en-IN" dirty="0">
                <a:latin typeface="Liberation Mono"/>
                <a:cs typeface="Arial" panose="020B0604020202020204" pitchFamily="34" charset="0"/>
              </a:rPr>
              <a:t>   client_id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company_name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879976" y="2079431"/>
            <a:ext cx="378283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(phone)</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62C9910A-9548-4805-A85F-AC3BFF01F45F}"/>
              </a:ext>
            </a:extLst>
          </p:cNvPr>
          <p:cNvSpPr txBox="1"/>
          <p:nvPr/>
        </p:nvSpPr>
        <p:spPr>
          <a:xfrm>
            <a:off x="578777" y="6075154"/>
            <a:ext cx="609600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SHOW</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INDEX</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clients;</a:t>
            </a:r>
          </a:p>
        </p:txBody>
      </p:sp>
      <p:sp>
        <p:nvSpPr>
          <p:cNvPr id="2" name="Rectangle 1">
            <a:extLst>
              <a:ext uri="{FF2B5EF4-FFF2-40B4-BE49-F238E27FC236}">
                <a16:creationId xmlns:a16="http://schemas.microsoft.com/office/drawing/2014/main" id="{0923A840-D013-4900-93F8-B3A10AC2432B}"/>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UNIQUE KEY</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814268966"/>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Unique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4CBEF26E-B1F0-4181-B7BE-DDDF9E958030}"/>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613791111"/>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228588" y="4845215"/>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UNIQUE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C7E16DA2-9FA3-4017-A5CC-063C20910F71}"/>
              </a:ext>
            </a:extLst>
          </p:cNvPr>
          <p:cNvSpPr/>
          <p:nvPr/>
        </p:nvSpPr>
        <p:spPr>
          <a:xfrm>
            <a:off x="312724" y="2996952"/>
            <a:ext cx="554461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1" name="Rectangle 10">
            <a:extLst>
              <a:ext uri="{FF2B5EF4-FFF2-40B4-BE49-F238E27FC236}">
                <a16:creationId xmlns:a16="http://schemas.microsoft.com/office/drawing/2014/main" id="{C033090A-527D-4153-9412-A6B7AFF3130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452037647"/>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Unique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38DA9D59-2926-4E2A-A5B4-39DF0CF249E7}"/>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953992605"/>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unique key</a:t>
            </a:r>
          </a:p>
        </p:txBody>
      </p:sp>
      <p:sp>
        <p:nvSpPr>
          <p:cNvPr id="2" name="Rectangle 1"/>
          <p:cNvSpPr/>
          <p:nvPr/>
        </p:nvSpPr>
        <p:spPr>
          <a:xfrm>
            <a:off x="376649" y="2420888"/>
            <a:ext cx="8990430" cy="81560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&lt;COLUMN_NAME&gt;;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U_USER_ID</a:t>
            </a:r>
            <a:r>
              <a:rPr lang="en-IN" dirty="0">
                <a:latin typeface="Liberation Mono"/>
                <a:cs typeface="Arial" panose="020B0604020202020204" pitchFamily="34" charset="0"/>
              </a:rPr>
              <a:t>;      </a:t>
            </a:r>
            <a:r>
              <a:rPr lang="en-IN" dirty="0">
                <a:solidFill>
                  <a:srgbClr val="669900"/>
                </a:solidFill>
                <a:latin typeface="Liberation Mono"/>
              </a:rPr>
              <a:t>#CONSTRAINT NAME</a:t>
            </a:r>
          </a:p>
        </p:txBody>
      </p:sp>
      <p:sp>
        <p:nvSpPr>
          <p:cNvPr id="8" name="Rectangle 7">
            <a:extLst>
              <a:ext uri="{FF2B5EF4-FFF2-40B4-BE49-F238E27FC236}">
                <a16:creationId xmlns:a16="http://schemas.microsoft.com/office/drawing/2014/main" id="{009B3B35-811C-4811-8858-D19837C677F7}"/>
              </a:ext>
            </a:extLst>
          </p:cNvPr>
          <p:cNvSpPr/>
          <p:nvPr/>
        </p:nvSpPr>
        <p:spPr>
          <a:xfrm>
            <a:off x="376649" y="6021288"/>
            <a:ext cx="4692822"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email;</a:t>
            </a:r>
          </a:p>
        </p:txBody>
      </p:sp>
      <p:sp>
        <p:nvSpPr>
          <p:cNvPr id="9" name="Rectangle 8">
            <a:extLst>
              <a:ext uri="{FF2B5EF4-FFF2-40B4-BE49-F238E27FC236}">
                <a16:creationId xmlns:a16="http://schemas.microsoft.com/office/drawing/2014/main" id="{01F476AE-77AC-4917-9228-2A0BE35F7244}"/>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UNIQUE KEY</a:t>
            </a:r>
            <a:r>
              <a:rPr lang="en-IN" dirty="0">
                <a:latin typeface="Arial" panose="020B0604020202020204" pitchFamily="34" charset="0"/>
                <a:cs typeface="Arial" panose="020B0604020202020204" pitchFamily="34" charset="0"/>
              </a:rPr>
              <a:t>.</a:t>
            </a:r>
          </a:p>
        </p:txBody>
      </p:sp>
      <p:sp>
        <p:nvSpPr>
          <p:cNvPr id="15" name="Rectangle 14">
            <a:extLst>
              <a:ext uri="{FF2B5EF4-FFF2-40B4-BE49-F238E27FC236}">
                <a16:creationId xmlns:a16="http://schemas.microsoft.com/office/drawing/2014/main" id="{44B276FC-D2E2-41E3-BBA6-11C8E14EE7B2}"/>
              </a:ext>
            </a:extLst>
          </p:cNvPr>
          <p:cNvSpPr/>
          <p:nvPr/>
        </p:nvSpPr>
        <p:spPr>
          <a:xfrm>
            <a:off x="6096000" y="3645024"/>
            <a:ext cx="5544616"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uni_email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(email)</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6" name="Rectangle 15">
            <a:extLst>
              <a:ext uri="{FF2B5EF4-FFF2-40B4-BE49-F238E27FC236}">
                <a16:creationId xmlns:a16="http://schemas.microsoft.com/office/drawing/2014/main" id="{039E4F27-1DC0-41D3-8092-B4BFF5464DB5}"/>
              </a:ext>
            </a:extLst>
          </p:cNvPr>
          <p:cNvSpPr/>
          <p:nvPr/>
        </p:nvSpPr>
        <p:spPr>
          <a:xfrm>
            <a:off x="407368" y="364502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7" name="Rectangle 16">
            <a:extLst>
              <a:ext uri="{FF2B5EF4-FFF2-40B4-BE49-F238E27FC236}">
                <a16:creationId xmlns:a16="http://schemas.microsoft.com/office/drawing/2014/main" id="{8447DB7B-F93C-493E-A432-B9DF58809A4D}"/>
              </a:ext>
            </a:extLst>
          </p:cNvPr>
          <p:cNvSpPr/>
          <p:nvPr/>
        </p:nvSpPr>
        <p:spPr>
          <a:xfrm>
            <a:off x="6107957" y="6030580"/>
            <a:ext cx="529148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uni_email;</a:t>
            </a:r>
          </a:p>
        </p:txBody>
      </p:sp>
      <p:sp>
        <p:nvSpPr>
          <p:cNvPr id="10" name="Rectangle 9">
            <a:extLst>
              <a:ext uri="{FF2B5EF4-FFF2-40B4-BE49-F238E27FC236}">
                <a16:creationId xmlns:a16="http://schemas.microsoft.com/office/drawing/2014/main" id="{8F8F66B6-5772-4DD3-9E60-518E4660E51D}"/>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585F634D-38EE-4001-9853-867F5E7B0A6D}"/>
              </a:ext>
            </a:extLst>
          </p:cNvPr>
          <p:cNvSpPr txBox="1"/>
          <p:nvPr/>
        </p:nvSpPr>
        <p:spPr>
          <a:xfrm>
            <a:off x="5904655" y="1333214"/>
            <a:ext cx="609600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table_name, constraint_name, constraint_type </a:t>
            </a:r>
            <a:r>
              <a:rPr lang="en-IN" dirty="0">
                <a:solidFill>
                  <a:srgbClr val="0077AA"/>
                </a:solidFill>
                <a:latin typeface="Liberation Mono"/>
              </a:rPr>
              <a:t>FROM</a:t>
            </a:r>
            <a:r>
              <a:rPr lang="en-IN" dirty="0">
                <a:latin typeface="Liberation Mono"/>
              </a:rPr>
              <a:t> information_schema.table_constraints </a:t>
            </a:r>
            <a:r>
              <a:rPr lang="en-IN" dirty="0">
                <a:solidFill>
                  <a:srgbClr val="0077AA"/>
                </a:solidFill>
                <a:latin typeface="Liberation Mono"/>
              </a:rPr>
              <a:t>WHERE</a:t>
            </a:r>
            <a:r>
              <a:rPr lang="en-IN" dirty="0">
                <a:latin typeface="Liberation Mono"/>
              </a:rPr>
              <a:t> constraint_schema </a:t>
            </a:r>
            <a:r>
              <a:rPr lang="en-IN" dirty="0">
                <a:solidFill>
                  <a:srgbClr val="A67F59"/>
                </a:solidFill>
                <a:latin typeface="Liberation Mono"/>
                <a:cs typeface="Arial" panose="020B0604020202020204" pitchFamily="34" charset="0"/>
              </a:rPr>
              <a:t>=</a:t>
            </a:r>
            <a:r>
              <a:rPr lang="en-IN" dirty="0">
                <a:latin typeface="Liberation Mono"/>
              </a:rPr>
              <a:t> 'z' </a:t>
            </a:r>
            <a:r>
              <a:rPr lang="en-IN" dirty="0">
                <a:solidFill>
                  <a:srgbClr val="A67F59"/>
                </a:solidFill>
                <a:latin typeface="Liberation Mono"/>
              </a:rPr>
              <a:t>AND</a:t>
            </a:r>
            <a:r>
              <a:rPr lang="en-IN" dirty="0">
                <a:latin typeface="Liberation Mono"/>
              </a:rPr>
              <a:t> table_name </a:t>
            </a:r>
            <a:r>
              <a:rPr lang="en-IN" dirty="0">
                <a:solidFill>
                  <a:srgbClr val="A67F59"/>
                </a:solidFill>
                <a:latin typeface="Liberation Mono"/>
              </a:rPr>
              <a:t>IN</a:t>
            </a:r>
            <a:r>
              <a:rPr lang="en-IN" dirty="0">
                <a:latin typeface="Liberation Mono"/>
              </a:rPr>
              <a:t> </a:t>
            </a:r>
            <a:r>
              <a:rPr lang="en-IN" dirty="0">
                <a:solidFill>
                  <a:schemeClr val="bg1">
                    <a:lumMod val="50000"/>
                  </a:schemeClr>
                </a:solidFill>
                <a:latin typeface="Liberation Mono"/>
              </a:rPr>
              <a:t>(</a:t>
            </a:r>
            <a:r>
              <a:rPr lang="en-IN" dirty="0">
                <a:latin typeface="Liberation Mono"/>
              </a:rPr>
              <a:t>'A', 'B'</a:t>
            </a:r>
            <a:r>
              <a:rPr lang="en-IN" dirty="0">
                <a:solidFill>
                  <a:schemeClr val="bg1">
                    <a:lumMod val="50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1934565565"/>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8" y="2679854"/>
            <a:ext cx="8838049" cy="707886"/>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FOREIGN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Rectangle 5">
            <a:extLst>
              <a:ext uri="{FF2B5EF4-FFF2-40B4-BE49-F238E27FC236}">
                <a16:creationId xmlns:a16="http://schemas.microsoft.com/office/drawing/2014/main" id="{77271AF6-2DA2-4C26-A817-0A825B9BAE51}"/>
              </a:ext>
            </a:extLst>
          </p:cNvPr>
          <p:cNvSpPr/>
          <p:nvPr/>
        </p:nvSpPr>
        <p:spPr>
          <a:xfrm>
            <a:off x="1055440" y="3494618"/>
            <a:ext cx="10153128" cy="1323439"/>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used to link two tables together. 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field (or collection of fields) in one table that refers to the PRIMARY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in another table. The table containing the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called the child table, and the table containing the candidate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is called the referenced or parent table.</a:t>
            </a:r>
          </a:p>
        </p:txBody>
      </p:sp>
      <p:sp>
        <p:nvSpPr>
          <p:cNvPr id="3" name="TextBox 2">
            <a:extLst>
              <a:ext uri="{FF2B5EF4-FFF2-40B4-BE49-F238E27FC236}">
                <a16:creationId xmlns:a16="http://schemas.microsoft.com/office/drawing/2014/main" id="{33E3F1DE-E5BD-4854-5380-B980BD9E8938}"/>
              </a:ext>
            </a:extLst>
          </p:cNvPr>
          <p:cNvSpPr txBox="1"/>
          <p:nvPr/>
        </p:nvSpPr>
        <p:spPr>
          <a:xfrm>
            <a:off x="767408" y="332656"/>
            <a:ext cx="9865096" cy="1107996"/>
          </a:xfrm>
          <a:prstGeom prst="rect">
            <a:avLst/>
          </a:prstGeom>
          <a:noFill/>
        </p:spPr>
        <p:txBody>
          <a:bodyPr wrap="square">
            <a:spAutoFit/>
          </a:bodyPr>
          <a:lstStyle/>
          <a:p>
            <a:r>
              <a:rPr lang="en-US" sz="2000" b="0" i="0" dirty="0">
                <a:effectLst/>
                <a:latin typeface="Liberation Mono"/>
              </a:rPr>
              <a:t>[</a:t>
            </a:r>
            <a:r>
              <a:rPr lang="en-US" sz="2000" b="0" i="0" dirty="0">
                <a:solidFill>
                  <a:srgbClr val="0077AA"/>
                </a:solidFill>
                <a:effectLst/>
                <a:latin typeface="Liberation Mono"/>
              </a:rPr>
              <a:t>CONSTRAINT</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symbol</a:t>
            </a:r>
            <a:r>
              <a:rPr lang="en-US" sz="2000" b="0" i="0" dirty="0">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FOREIGN</a:t>
            </a:r>
            <a:r>
              <a:rPr lang="en-US" sz="2000" b="0" i="0" dirty="0">
                <a:solidFill>
                  <a:srgbClr val="000000"/>
                </a:solidFill>
                <a:effectLst/>
                <a:latin typeface="Liberation Mono"/>
              </a:rPr>
              <a:t> </a:t>
            </a:r>
            <a:r>
              <a:rPr lang="en-US" sz="2000" b="0" i="0" dirty="0">
                <a:solidFill>
                  <a:srgbClr val="0077AA"/>
                </a:solidFill>
                <a:effectLst/>
                <a:latin typeface="Liberation Mono"/>
              </a:rPr>
              <a:t>KEY</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r>
              <a:rPr lang="en-US" sz="2000" b="0" i="0" dirty="0">
                <a:solidFill>
                  <a:srgbClr val="000000"/>
                </a:solidFill>
                <a:effectLst/>
                <a:latin typeface="Liberation Mono"/>
              </a:rPr>
              <a:t> </a:t>
            </a:r>
            <a:r>
              <a:rPr lang="en-US" sz="2000" b="0" i="0" dirty="0">
                <a:solidFill>
                  <a:srgbClr val="0077AA"/>
                </a:solidFill>
                <a:effectLst/>
                <a:latin typeface="Liberation Mono"/>
              </a:rPr>
              <a:t>REFERENCES</a:t>
            </a:r>
            <a:r>
              <a:rPr lang="en-US" sz="2000" b="0" i="0" dirty="0">
                <a:solidFill>
                  <a:srgbClr val="000000"/>
                </a:solidFill>
                <a:effectLst/>
                <a:latin typeface="Liberation Mono"/>
              </a:rPr>
              <a:t> </a:t>
            </a:r>
            <a:r>
              <a:rPr lang="en-US" sz="2000" b="0" i="1" dirty="0">
                <a:solidFill>
                  <a:srgbClr val="000000"/>
                </a:solidFill>
                <a:effectLst/>
                <a:latin typeface="Liberation Mono"/>
              </a:rPr>
              <a:t>tbl_name</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p>
          <a:p>
            <a:endParaRPr lang="en-US" sz="600" dirty="0">
              <a:solidFill>
                <a:srgbClr val="999999"/>
              </a:solidFill>
              <a:latin typeface="Liberation Mono"/>
            </a:endParaRP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endParaRPr lang="en-IN" sz="2000" dirty="0"/>
          </a:p>
        </p:txBody>
      </p:sp>
    </p:spTree>
    <p:extLst>
      <p:ext uri="{BB962C8B-B14F-4D97-AF65-F5344CB8AC3E}">
        <p14:creationId xmlns:p14="http://schemas.microsoft.com/office/powerpoint/2010/main" val="758266435"/>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068993"/>
            <a:ext cx="11377264"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foreign key can have a different column name from its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DataType of primary key and foreign key column must be same.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ensures rows in one table have corresponding rows in another.</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Unlike the Primary key, they do not have to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Foreign keys can be null even though primary keys can not.</a:t>
            </a:r>
          </a:p>
        </p:txBody>
      </p:sp>
      <p:sp>
        <p:nvSpPr>
          <p:cNvPr id="7" name="Rectangle 6">
            <a:extLst>
              <a:ext uri="{FF2B5EF4-FFF2-40B4-BE49-F238E27FC236}">
                <a16:creationId xmlns:a16="http://schemas.microsoft.com/office/drawing/2014/main" id="{E47CA1B9-519B-4544-9313-2BFB87DDDB99}"/>
              </a:ext>
            </a:extLst>
          </p:cNvPr>
          <p:cNvSpPr/>
          <p:nvPr/>
        </p:nvSpPr>
        <p:spPr>
          <a:xfrm>
            <a:off x="407368" y="3783811"/>
            <a:ext cx="11377264" cy="1661993"/>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0089A4"/>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The table containing the FOREIGN KEY is referred to as the child table, and the table containing the PRIMARY KEY (referenced key) is the parent table.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and they cannot be defined as temporary tables.</a:t>
            </a:r>
            <a:endParaRPr lang="en-IN"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5E5C1CC-9113-40B6-A9F2-DA1BE5E0981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3434763549"/>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63352" y="908720"/>
            <a:ext cx="11737304" cy="3262432"/>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A referential constraint could be violated in following cases.</a:t>
            </a:r>
          </a:p>
          <a:p>
            <a:endParaRPr lang="en-IN" sz="2000" dirty="0"/>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INSERT</a:t>
            </a:r>
            <a:r>
              <a:rPr lang="en-IN" dirty="0">
                <a:latin typeface="Arial" panose="020B0604020202020204" pitchFamily="34" charset="0"/>
                <a:cs typeface="Arial" panose="020B0604020202020204" pitchFamily="34" charset="0"/>
              </a:rPr>
              <a:t> attempt to add a row to a child table that has a value in its foreign key columns that does not match a value in the corresponding parent table's column.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child table's foreign key columns to a value that has no matching value in the corresponding parent table's parent key.</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parent table's parent key to a value that does not have a matching value in a child table's foreign key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a:t>
            </a:r>
            <a:r>
              <a:rPr lang="en-IN" b="1" dirty="0">
                <a:solidFill>
                  <a:srgbClr val="006C86"/>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attempt to remove a record from a parent table that has a matching value in a child table's foreign key columns.</a:t>
            </a:r>
          </a:p>
        </p:txBody>
      </p:sp>
      <p:sp>
        <p:nvSpPr>
          <p:cNvPr id="2" name="Rectangle 1">
            <a:extLst>
              <a:ext uri="{FF2B5EF4-FFF2-40B4-BE49-F238E27FC236}">
                <a16:creationId xmlns:a16="http://schemas.microsoft.com/office/drawing/2014/main" id="{4A8935F6-11C8-4F3E-8E35-D8D37D7F2577}"/>
              </a:ext>
            </a:extLst>
          </p:cNvPr>
          <p:cNvSpPr/>
          <p:nvPr/>
        </p:nvSpPr>
        <p:spPr>
          <a:xfrm>
            <a:off x="406574" y="4653136"/>
            <a:ext cx="10478119" cy="1692771"/>
          </a:xfrm>
          <a:prstGeom prst="rect">
            <a:avLst/>
          </a:prstGeom>
          <a:noFill/>
        </p:spPr>
        <p:txBody>
          <a:bodyPr wrap="square">
            <a:spAutoFit/>
          </a:bodyPr>
          <a:lstStyle/>
          <a:p>
            <a:r>
              <a:rPr lang="en-US" sz="2200" dirty="0">
                <a:solidFill>
                  <a:srgbClr val="FF0000"/>
                </a:solidFill>
                <a:latin typeface="Palatino Linotype" panose="02040502050505030304" pitchFamily="18" charset="0"/>
                <a:cs typeface="Arial" panose="020B0604020202020204" pitchFamily="34" charset="0"/>
              </a:rPr>
              <a:t>Note:</a:t>
            </a:r>
          </a:p>
          <a:p>
            <a:endParaRPr lang="en-IN" sz="800" dirty="0">
              <a:solidFill>
                <a:srgbClr val="0089A4"/>
              </a:solidFill>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and they cannot be defined as temporary tables.</a:t>
            </a:r>
          </a:p>
          <a:p>
            <a:pPr marL="342900" indent="-342900">
              <a:buFont typeface="Arial" panose="020B0604020202020204" pitchFamily="34" charset="0"/>
              <a:buChar char="•"/>
            </a:pPr>
            <a:r>
              <a:rPr lang="en-US" dirty="0">
                <a:solidFill>
                  <a:schemeClr val="bg2">
                    <a:lumMod val="25000"/>
                  </a:schemeClr>
                </a:solidFill>
                <a:latin typeface="Palatino Linotype" panose="02040502050505030304" pitchFamily="18" charset="0"/>
              </a:rPr>
              <a:t>If we don’t give constraint name. System will automatically generated the constraint name and will assign to foreign key constraint. </a:t>
            </a:r>
            <a:r>
              <a:rPr lang="en-US" sz="2000" b="1" dirty="0">
                <a:solidFill>
                  <a:schemeClr val="accent6">
                    <a:lumMod val="50000"/>
                  </a:schemeClr>
                </a:solidFill>
                <a:latin typeface="Palatino Linotype" panose="02040502050505030304" pitchFamily="18" charset="0"/>
              </a:rPr>
              <a:t>e.g. login_ibfk_1, login_ibfk_2, …..</a:t>
            </a:r>
            <a:endParaRPr lang="en-IN" b="1" dirty="0">
              <a:solidFill>
                <a:schemeClr val="accent6">
                  <a:lumMod val="50000"/>
                </a:schemeClr>
              </a:solidFill>
              <a:latin typeface="Palatino Linotype" panose="02040502050505030304" pitchFamily="18" charset="0"/>
            </a:endParaRPr>
          </a:p>
        </p:txBody>
      </p:sp>
      <p:sp>
        <p:nvSpPr>
          <p:cNvPr id="5" name="Rectangle 4">
            <a:extLst>
              <a:ext uri="{FF2B5EF4-FFF2-40B4-BE49-F238E27FC236}">
                <a16:creationId xmlns:a16="http://schemas.microsoft.com/office/drawing/2014/main" id="{FB454E24-F236-48C4-ADE8-A3E4D00AC83A}"/>
              </a:ext>
            </a:extLst>
          </p:cNvPr>
          <p:cNvSpPr/>
          <p:nvPr/>
        </p:nvSpPr>
        <p:spPr>
          <a:xfrm>
            <a:off x="1524595" y="4"/>
            <a:ext cx="9360097"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 update, &amp; delete – (primary key/foreign key)</a:t>
            </a:r>
          </a:p>
        </p:txBody>
      </p:sp>
    </p:spTree>
    <p:extLst>
      <p:ext uri="{BB962C8B-B14F-4D97-AF65-F5344CB8AC3E}">
        <p14:creationId xmlns:p14="http://schemas.microsoft.com/office/powerpoint/2010/main" val="1024614191"/>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260648"/>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anomaly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6838034" y="683404"/>
            <a:ext cx="487459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student_course (child) Table</a:t>
            </a:r>
          </a:p>
        </p:txBody>
      </p:sp>
      <p:sp>
        <p:nvSpPr>
          <p:cNvPr id="12" name="TextBox 11">
            <a:extLst>
              <a:ext uri="{FF2B5EF4-FFF2-40B4-BE49-F238E27FC236}">
                <a16:creationId xmlns:a16="http://schemas.microsoft.com/office/drawing/2014/main" id="{1F748B5D-FCBB-42ED-8958-5DDA05963FBE}"/>
              </a:ext>
            </a:extLst>
          </p:cNvPr>
          <p:cNvSpPr txBox="1"/>
          <p:nvPr/>
        </p:nvSpPr>
        <p:spPr>
          <a:xfrm>
            <a:off x="212662" y="3644761"/>
            <a:ext cx="11787994" cy="2800767"/>
          </a:xfrm>
          <a:prstGeom prst="rect">
            <a:avLst/>
          </a:prstGeom>
          <a:noFill/>
        </p:spPr>
        <p:txBody>
          <a:bodyPr wrap="square">
            <a:spAutoFit/>
          </a:bodyPr>
          <a:lstStyle/>
          <a:p>
            <a:pPr algn="l" fontAlgn="base"/>
            <a:r>
              <a:rPr lang="en-US" b="1" i="0" dirty="0">
                <a:solidFill>
                  <a:srgbClr val="006C86"/>
                </a:solidFill>
                <a:effectLst/>
                <a:latin typeface="Arial" panose="020B0604020202020204" pitchFamily="34" charset="0"/>
                <a:cs typeface="Arial" panose="020B0604020202020204" pitchFamily="34" charset="0"/>
              </a:rPr>
              <a:t>Insertion anomaly:</a:t>
            </a:r>
          </a:p>
          <a:p>
            <a:pPr algn="l" fontAlgn="base"/>
            <a:endParaRPr lang="en-US" sz="800" b="1"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insert a record in Student_Course (child)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7</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algn="l" fontAlgn="base"/>
            <a:endParaRPr lang="en-US" b="0" i="0" dirty="0">
              <a:solidFill>
                <a:schemeClr val="tx1">
                  <a:lumMod val="85000"/>
                  <a:lumOff val="15000"/>
                </a:schemeClr>
              </a:solidFill>
              <a:effectLst/>
              <a:latin typeface="Arial" panose="020B0604020202020204" pitchFamily="34" charset="0"/>
              <a:cs typeface="Arial" panose="020B0604020202020204" pitchFamily="34" charset="0"/>
            </a:endParaRPr>
          </a:p>
          <a:p>
            <a:pPr algn="l" fontAlgn="base"/>
            <a:r>
              <a:rPr lang="en-US" b="1" i="0" dirty="0">
                <a:solidFill>
                  <a:srgbClr val="006C86"/>
                </a:solidFill>
                <a:effectLst/>
                <a:latin typeface="Arial" panose="020B0604020202020204" pitchFamily="34" charset="0"/>
                <a:cs typeface="Arial" panose="020B0604020202020204" pitchFamily="34" charset="0"/>
              </a:rPr>
              <a:t>Updation and Deletion anomaly:</a:t>
            </a:r>
            <a:r>
              <a:rPr lang="en-US" b="0" i="0" dirty="0">
                <a:solidFill>
                  <a:srgbClr val="006C86"/>
                </a:solidFill>
                <a:effectLst/>
                <a:latin typeface="Arial" panose="020B0604020202020204" pitchFamily="34" charset="0"/>
                <a:cs typeface="Arial" panose="020B0604020202020204" pitchFamily="34" charset="0"/>
              </a:rPr>
              <a:t> </a:t>
            </a:r>
          </a:p>
          <a:p>
            <a:pPr algn="l" fontAlgn="base"/>
            <a:endParaRPr lang="en-US"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b="0" i="0" dirty="0">
                <a:solidFill>
                  <a:schemeClr val="tx1">
                    <a:lumMod val="85000"/>
                    <a:lumOff val="15000"/>
                  </a:schemeClr>
                </a:solidFill>
                <a:effectLst/>
                <a:latin typeface="Arial" panose="020B0604020202020204" pitchFamily="34" charset="0"/>
                <a:cs typeface="Arial" panose="020B0604020202020204" pitchFamily="34" charset="0"/>
              </a:rPr>
              <a:t>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6</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algn="l"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dirty="0">
                <a:latin typeface="Arial" panose="020B0604020202020204" pitchFamily="34" charset="0"/>
                <a:cs typeface="Arial" panose="020B0604020202020204" pitchFamily="34" charset="0"/>
              </a:rPr>
              <a:t>Student_Course (child)</a:t>
            </a:r>
            <a:r>
              <a:rPr lang="en-US" b="0" i="0" dirty="0">
                <a:solidFill>
                  <a:schemeClr val="tx1">
                    <a:lumMod val="85000"/>
                    <a:lumOff val="15000"/>
                  </a:schemeClr>
                </a:solidFill>
                <a:effectLst/>
                <a:latin typeface="Arial" panose="020B0604020202020204" pitchFamily="34" charset="0"/>
                <a:cs typeface="Arial" panose="020B0604020202020204" pitchFamily="34" charset="0"/>
              </a:rPr>
              <a: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9</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3</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delete a record from 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p:txBody>
      </p:sp>
      <p:graphicFrame>
        <p:nvGraphicFramePr>
          <p:cNvPr id="2" name="Table 1">
            <a:extLst>
              <a:ext uri="{FF2B5EF4-FFF2-40B4-BE49-F238E27FC236}">
                <a16:creationId xmlns:a16="http://schemas.microsoft.com/office/drawing/2014/main" id="{78FA7036-C613-4AD7-B9CF-9BF349ECAF00}"/>
              </a:ext>
            </a:extLst>
          </p:cNvPr>
          <p:cNvGraphicFramePr>
            <a:graphicFrameLocks noGrp="1"/>
          </p:cNvGraphicFramePr>
          <p:nvPr/>
        </p:nvGraphicFramePr>
        <p:xfrm>
          <a:off x="263318" y="1124744"/>
          <a:ext cx="6336739" cy="2224752"/>
        </p:xfrm>
        <a:graphic>
          <a:graphicData uri="http://schemas.openxmlformats.org/drawingml/2006/table">
            <a:tbl>
              <a:tblPr firstRow="1" bandRow="1">
                <a:tableStyleId>{10A1B5D5-9B99-4C35-A422-299274C87663}</a:tableStyleId>
              </a:tblPr>
              <a:tblGrid>
                <a:gridCol w="985286">
                  <a:extLst>
                    <a:ext uri="{9D8B030D-6E8A-4147-A177-3AD203B41FA5}">
                      <a16:colId xmlns:a16="http://schemas.microsoft.com/office/drawing/2014/main" val="335185449"/>
                    </a:ext>
                  </a:extLst>
                </a:gridCol>
                <a:gridCol w="1163359">
                  <a:extLst>
                    <a:ext uri="{9D8B030D-6E8A-4147-A177-3AD203B41FA5}">
                      <a16:colId xmlns:a16="http://schemas.microsoft.com/office/drawing/2014/main" val="410791785"/>
                    </a:ext>
                  </a:extLst>
                </a:gridCol>
                <a:gridCol w="1095179">
                  <a:extLst>
                    <a:ext uri="{9D8B030D-6E8A-4147-A177-3AD203B41FA5}">
                      <a16:colId xmlns:a16="http://schemas.microsoft.com/office/drawing/2014/main" val="1178793827"/>
                    </a:ext>
                  </a:extLst>
                </a:gridCol>
                <a:gridCol w="921311">
                  <a:extLst>
                    <a:ext uri="{9D8B030D-6E8A-4147-A177-3AD203B41FA5}">
                      <a16:colId xmlns:a16="http://schemas.microsoft.com/office/drawing/2014/main" val="831646229"/>
                    </a:ext>
                  </a:extLst>
                </a:gridCol>
                <a:gridCol w="775572">
                  <a:extLst>
                    <a:ext uri="{9D8B030D-6E8A-4147-A177-3AD203B41FA5}">
                      <a16:colId xmlns:a16="http://schemas.microsoft.com/office/drawing/2014/main" val="3072107594"/>
                    </a:ext>
                  </a:extLst>
                </a:gridCol>
                <a:gridCol w="1396032">
                  <a:extLst>
                    <a:ext uri="{9D8B030D-6E8A-4147-A177-3AD203B41FA5}">
                      <a16:colId xmlns:a16="http://schemas.microsoft.com/office/drawing/2014/main" val="2857807087"/>
                    </a:ext>
                  </a:extLst>
                </a:gridCol>
              </a:tblGrid>
              <a:tr h="370792">
                <a:tc>
                  <a:txBody>
                    <a:bodyPr/>
                    <a:lstStyle/>
                    <a:p>
                      <a:pPr algn="l"/>
                      <a:r>
                        <a:rPr lang="en-US" sz="1800" b="0" dirty="0">
                          <a:solidFill>
                            <a:schemeClr val="tx1"/>
                          </a:solidFill>
                          <a:latin typeface="Arial" panose="020B0604020202020204" pitchFamily="34" charset="0"/>
                          <a:cs typeface="Arial" panose="020B0604020202020204" pitchFamily="34" charset="0"/>
                        </a:rPr>
                        <a:t>RollNo</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Mobile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City</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State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isActive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Ramesh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Pune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MH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2</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Amit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3</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Rajan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4</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Bhavin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5</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Pankaj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graphicFrame>
        <p:nvGraphicFramePr>
          <p:cNvPr id="5" name="Table 4">
            <a:extLst>
              <a:ext uri="{FF2B5EF4-FFF2-40B4-BE49-F238E27FC236}">
                <a16:creationId xmlns:a16="http://schemas.microsoft.com/office/drawing/2014/main" id="{DF6C10CD-76FC-48F5-A58D-0C287FA6DF55}"/>
              </a:ext>
            </a:extLst>
          </p:cNvPr>
          <p:cNvGraphicFramePr>
            <a:graphicFrameLocks noGrp="1"/>
          </p:cNvGraphicFramePr>
          <p:nvPr/>
        </p:nvGraphicFramePr>
        <p:xfrm>
          <a:off x="6838034" y="1124744"/>
          <a:ext cx="4874590" cy="2224752"/>
        </p:xfrm>
        <a:graphic>
          <a:graphicData uri="http://schemas.openxmlformats.org/drawingml/2006/table">
            <a:tbl>
              <a:tblPr firstRow="1" bandRow="1">
                <a:tableStyleId>{10A1B5D5-9B99-4C35-A422-299274C87663}</a:tableStyleId>
              </a:tblPr>
              <a:tblGrid>
                <a:gridCol w="935982">
                  <a:extLst>
                    <a:ext uri="{9D8B030D-6E8A-4147-A177-3AD203B41FA5}">
                      <a16:colId xmlns:a16="http://schemas.microsoft.com/office/drawing/2014/main" val="335185449"/>
                    </a:ext>
                  </a:extLst>
                </a:gridCol>
                <a:gridCol w="1954619">
                  <a:extLst>
                    <a:ext uri="{9D8B030D-6E8A-4147-A177-3AD203B41FA5}">
                      <a16:colId xmlns:a16="http://schemas.microsoft.com/office/drawing/2014/main" val="410791785"/>
                    </a:ext>
                  </a:extLst>
                </a:gridCol>
                <a:gridCol w="1983989">
                  <a:extLst>
                    <a:ext uri="{9D8B030D-6E8A-4147-A177-3AD203B41FA5}">
                      <a16:colId xmlns:a16="http://schemas.microsoft.com/office/drawing/2014/main" val="1178793827"/>
                    </a:ext>
                  </a:extLst>
                </a:gridCol>
              </a:tblGrid>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RollNo</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solidFill>
                            <a:schemeClr val="tx1"/>
                          </a:solidFill>
                          <a:latin typeface="Arial" panose="020B0604020202020204" pitchFamily="34" charset="0"/>
                          <a:cs typeface="Arial" panose="020B0604020202020204" pitchFamily="34" charset="0"/>
                        </a:rPr>
                        <a:t>CourceDuration</a:t>
                      </a:r>
                      <a:endParaRPr lang="en-IN" b="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800" b="0" dirty="0">
                          <a:solidFill>
                            <a:schemeClr val="tx1"/>
                          </a:solidFill>
                          <a:latin typeface="Arial" panose="020B0604020202020204" pitchFamily="34" charset="0"/>
                          <a:cs typeface="Arial" panose="020B0604020202020204" pitchFamily="34" charset="0"/>
                        </a:rPr>
                        <a:t>CourceName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latin typeface="Arial" panose="020B0604020202020204" pitchFamily="34" charset="0"/>
                          <a:cs typeface="Arial" panose="020B0604020202020204" pitchFamily="34" charset="0"/>
                        </a:rPr>
                        <a:t>1.5 month</a:t>
                      </a:r>
                      <a:endParaRPr lang="en-IN" b="0" dirty="0">
                        <a:latin typeface="Arial" panose="020B0604020202020204" pitchFamily="34" charset="0"/>
                        <a:cs typeface="Arial" panose="020B0604020202020204" pitchFamily="34" charset="0"/>
                      </a:endParaRPr>
                    </a:p>
                  </a:txBody>
                  <a:tcPr/>
                </a:tc>
                <a:tc>
                  <a:txBody>
                    <a:bodyPr/>
                    <a:lstStyle/>
                    <a:p>
                      <a:pPr algn="l"/>
                      <a:r>
                        <a:rPr lang="en-US" sz="1800" b="0" dirty="0">
                          <a:latin typeface="Arial" panose="020B0604020202020204" pitchFamily="34" charset="0"/>
                          <a:cs typeface="Arial" panose="020B0604020202020204" pitchFamily="34" charset="0"/>
                        </a:rPr>
                        <a:t>RDBMS</a:t>
                      </a:r>
                      <a:endParaRPr lang="en-IN" sz="1800" b="0" dirty="0">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NoSQL</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3</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Networking</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Java</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sp>
        <p:nvSpPr>
          <p:cNvPr id="11" name="Rectangle 10">
            <a:extLst>
              <a:ext uri="{FF2B5EF4-FFF2-40B4-BE49-F238E27FC236}">
                <a16:creationId xmlns:a16="http://schemas.microsoft.com/office/drawing/2014/main" id="{0A3C5162-59B7-42A7-AB3B-4953132280E8}"/>
              </a:ext>
            </a:extLst>
          </p:cNvPr>
          <p:cNvSpPr/>
          <p:nvPr/>
        </p:nvSpPr>
        <p:spPr>
          <a:xfrm>
            <a:off x="296156" y="683404"/>
            <a:ext cx="6303901"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 (parent) Table</a:t>
            </a:r>
          </a:p>
        </p:txBody>
      </p:sp>
    </p:spTree>
    <p:extLst>
      <p:ext uri="{BB962C8B-B14F-4D97-AF65-F5344CB8AC3E}">
        <p14:creationId xmlns:p14="http://schemas.microsoft.com/office/powerpoint/2010/main" val="4162570505"/>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332656"/>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drop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5087888" y="836712"/>
            <a:ext cx="6048672" cy="1892826"/>
          </a:xfrm>
          <a:prstGeom prst="rect">
            <a:avLst/>
          </a:prstGeom>
        </p:spPr>
        <p:txBody>
          <a:bodyPr wrap="square">
            <a:spAutoFit/>
          </a:bodyPr>
          <a:lstStyle/>
          <a:p>
            <a:r>
              <a:rPr lang="en-US" sz="1800" dirty="0">
                <a:solidFill>
                  <a:srgbClr val="C00000"/>
                </a:solidFill>
                <a:latin typeface="Liberation Mono"/>
                <a:cs typeface="Arial" panose="020B0604020202020204" pitchFamily="34" charset="0"/>
              </a:rPr>
              <a:t>Child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student_course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FK</a:t>
            </a:r>
            <a:r>
              <a:rPr lang="en-US" dirty="0">
                <a:solidFill>
                  <a:srgbClr val="FF0000"/>
                </a:solidFill>
                <a:latin typeface="Liberation Mono"/>
                <a:cs typeface="Arial" panose="020B0604020202020204" pitchFamily="34" charset="0"/>
              </a:rPr>
              <a:t>)</a:t>
            </a:r>
            <a:r>
              <a:rPr lang="en-US" sz="1800" b="0" dirty="0">
                <a:solidFill>
                  <a:schemeClr val="tx1"/>
                </a:solidFill>
                <a:latin typeface="Liberation Mono"/>
                <a:cs typeface="Arial" panose="020B0604020202020204" pitchFamily="34" charset="0"/>
              </a:rPr>
              <a:t>	</a:t>
            </a:r>
          </a:p>
          <a:p>
            <a:r>
              <a:rPr lang="en-US" dirty="0">
                <a:latin typeface="Liberation Mono"/>
                <a:cs typeface="Arial" panose="020B0604020202020204" pitchFamily="34" charset="0"/>
              </a:rPr>
              <a:t>    </a:t>
            </a:r>
            <a:r>
              <a:rPr lang="en-US" b="0" dirty="0">
                <a:solidFill>
                  <a:schemeClr val="tx1"/>
                </a:solidFill>
                <a:latin typeface="Liberation Mono"/>
                <a:cs typeface="Arial" panose="020B0604020202020204" pitchFamily="34" charset="0"/>
              </a:rPr>
              <a:t>courceduration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p>
          <a:p>
            <a:r>
              <a:rPr lang="en-US" sz="1800" b="0" dirty="0">
                <a:solidFill>
                  <a:schemeClr val="tx1"/>
                </a:solidFill>
                <a:latin typeface="Liberation Mono"/>
                <a:cs typeface="Arial" panose="020B0604020202020204" pitchFamily="34" charset="0"/>
              </a:rPr>
              <a:t>    courcename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endParaRPr lang="en-US" dirty="0">
              <a:latin typeface="Liberation Mono"/>
              <a:cs typeface="Arial" panose="020B0604020202020204" pitchFamily="34" charset="0"/>
            </a:endParaRPr>
          </a:p>
          <a:p>
            <a:r>
              <a:rPr lang="en-US"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284B127A-1D84-4127-9059-0AD6133EF878}"/>
              </a:ext>
            </a:extLst>
          </p:cNvPr>
          <p:cNvSpPr txBox="1"/>
          <p:nvPr/>
        </p:nvSpPr>
        <p:spPr>
          <a:xfrm>
            <a:off x="839416" y="836712"/>
            <a:ext cx="3861476" cy="2754600"/>
          </a:xfrm>
          <a:prstGeom prst="rect">
            <a:avLst/>
          </a:prstGeom>
          <a:noFill/>
        </p:spPr>
        <p:txBody>
          <a:bodyPr wrap="square">
            <a:spAutoFit/>
          </a:bodyPr>
          <a:lstStyle/>
          <a:p>
            <a:r>
              <a:rPr lang="en-US" sz="2000" dirty="0">
                <a:solidFill>
                  <a:srgbClr val="C00000"/>
                </a:solidFill>
                <a:latin typeface="Liberation Mono"/>
                <a:cs typeface="Arial" panose="020B0604020202020204" pitchFamily="34" charset="0"/>
              </a:rPr>
              <a:t>Parent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  =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PK</a:t>
            </a:r>
            <a:r>
              <a:rPr lang="en-US" dirty="0">
                <a:solidFill>
                  <a:srgbClr val="FF0000"/>
                </a:solidFill>
                <a:latin typeface="Liberation Mono"/>
                <a:cs typeface="Arial" panose="020B0604020202020204" pitchFamily="34" charset="0"/>
              </a:rPr>
              <a:t>)</a:t>
            </a:r>
            <a:r>
              <a:rPr lang="en-US" sz="1900" dirty="0">
                <a:solidFill>
                  <a:srgbClr val="FF0000"/>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mobile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state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isActive </a:t>
            </a:r>
            <a:r>
              <a:rPr lang="en-US" dirty="0">
                <a:solidFill>
                  <a:srgbClr val="834689"/>
                </a:solidFill>
                <a:latin typeface="Liberation Mono"/>
                <a:cs typeface="Arial" panose="020B0604020202020204" pitchFamily="34" charset="0"/>
              </a:rPr>
              <a:t>BOOL</a:t>
            </a:r>
            <a:r>
              <a:rPr lang="en-US" sz="1800" b="0" dirty="0">
                <a:solidFill>
                  <a:schemeClr val="tx1"/>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a:t>
            </a:r>
            <a:endParaRPr lang="en-IN" dirty="0">
              <a:latin typeface="Liberation Mono"/>
            </a:endParaRPr>
          </a:p>
        </p:txBody>
      </p:sp>
      <p:sp>
        <p:nvSpPr>
          <p:cNvPr id="27" name="Rectangle 26">
            <a:extLst>
              <a:ext uri="{FF2B5EF4-FFF2-40B4-BE49-F238E27FC236}">
                <a16:creationId xmlns:a16="http://schemas.microsoft.com/office/drawing/2014/main" id="{78AB7B4D-037D-43FC-A0FC-F1333B33592B}"/>
              </a:ext>
            </a:extLst>
          </p:cNvPr>
          <p:cNvSpPr/>
          <p:nvPr/>
        </p:nvSpPr>
        <p:spPr>
          <a:xfrm>
            <a:off x="263352" y="3717032"/>
            <a:ext cx="11737304" cy="2708434"/>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DDL command could be violated in following cases.</a:t>
            </a:r>
          </a:p>
          <a:p>
            <a:endParaRPr lang="en-IN" sz="800" dirty="0"/>
          </a:p>
          <a:p>
            <a:r>
              <a:rPr lang="en-US" b="1" dirty="0">
                <a:solidFill>
                  <a:srgbClr val="006C86"/>
                </a:solidFill>
                <a:latin typeface="Arial" panose="020B0604020202020204" pitchFamily="34" charset="0"/>
                <a:cs typeface="Arial" panose="020B0604020202020204" pitchFamily="34" charset="0"/>
              </a:rPr>
              <a:t>Alter command:</a:t>
            </a:r>
          </a:p>
          <a:p>
            <a:endParaRPr lang="en-IN" sz="800" dirty="0"/>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modify datatype of RollNo in Student or Student_Course table with </a:t>
            </a:r>
            <a:r>
              <a:rPr lang="en-IN" dirty="0">
                <a:solidFill>
                  <a:srgbClr val="834689"/>
                </a:solidFill>
                <a:latin typeface="Arial" panose="020B0604020202020204" pitchFamily="34" charset="0"/>
                <a:cs typeface="Arial" panose="020B0604020202020204" pitchFamily="34" charset="0"/>
              </a:rPr>
              <a:t>VARCHAR</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apply auto_increment to RollNo in Student table, </a:t>
            </a:r>
            <a:r>
              <a:rPr lang="en-IN" dirty="0">
                <a:solidFill>
                  <a:srgbClr val="C00000"/>
                </a:solidFill>
                <a:latin typeface="Arial" panose="020B0604020202020204" pitchFamily="34" charset="0"/>
                <a:cs typeface="Arial" panose="020B0604020202020204" pitchFamily="34" charset="0"/>
              </a:rPr>
              <a:t>it will not allow</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RollNo column from Student table ,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dirty="0">
              <a:solidFill>
                <a:schemeClr val="tx1">
                  <a:lumMod val="85000"/>
                  <a:lumOff val="15000"/>
                </a:schemeClr>
              </a:solidFill>
              <a:latin typeface="Arial" panose="020B0604020202020204" pitchFamily="34" charset="0"/>
              <a:cs typeface="Arial" panose="020B0604020202020204" pitchFamily="34" charset="0"/>
            </a:endParaRPr>
          </a:p>
          <a:p>
            <a:r>
              <a:rPr lang="en-US" b="1" dirty="0">
                <a:solidFill>
                  <a:srgbClr val="006C86"/>
                </a:solidFill>
                <a:latin typeface="Arial" panose="020B0604020202020204" pitchFamily="34" charset="0"/>
                <a:cs typeface="Arial" panose="020B0604020202020204" pitchFamily="34" charset="0"/>
              </a:rPr>
              <a:t>Drop command:</a:t>
            </a:r>
          </a:p>
          <a:p>
            <a:endParaRPr lang="en-US" sz="800" b="1" dirty="0">
              <a:solidFill>
                <a:srgbClr val="006C8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Student (parent) table,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70932670"/>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600786" y="838200"/>
            <a:ext cx="8990430" cy="923330"/>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2" cstate="print"/>
          <a:stretch>
            <a:fillRect/>
          </a:stretch>
        </p:blipFill>
        <p:spPr>
          <a:xfrm>
            <a:off x="1829356" y="2014959"/>
            <a:ext cx="5180926" cy="3891269"/>
          </a:xfrm>
          <a:prstGeom prst="rect">
            <a:avLst/>
          </a:prstGeom>
        </p:spPr>
      </p:pic>
      <p:pic>
        <p:nvPicPr>
          <p:cNvPr id="1026" name="Picture 2" descr="MySQL recursive foreign ke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1705" y="2010007"/>
            <a:ext cx="1961895" cy="20859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4876959" y="4648200"/>
            <a:ext cx="5638066" cy="1107996"/>
          </a:xfrm>
          <a:prstGeom prst="rect">
            <a:avLst/>
          </a:prstGeom>
          <a:solidFill>
            <a:schemeClr val="bg1"/>
          </a:solidFill>
        </p:spPr>
        <p:txBody>
          <a:bodyPr wrap="square">
            <a:spAutoFit/>
          </a:bodyPr>
          <a:lstStyle/>
          <a:p>
            <a:pPr algn="just"/>
            <a:r>
              <a:rPr lang="en-IN" sz="2200" dirty="0">
                <a:latin typeface="Segoe UI" panose="020B0502040204020203" pitchFamily="34" charset="0"/>
                <a:cs typeface="Segoe UI" panose="020B0502040204020203" pitchFamily="34" charset="0"/>
              </a:rPr>
              <a:t>The customers table is called </a:t>
            </a:r>
            <a:r>
              <a:rPr lang="en-IN" sz="2200" b="1" i="1" dirty="0">
                <a:latin typeface="Segoe UI" panose="020B0502040204020203" pitchFamily="34" charset="0"/>
                <a:cs typeface="Segoe UI" panose="020B0502040204020203" pitchFamily="34" charset="0"/>
              </a:rPr>
              <a:t>parent table </a:t>
            </a:r>
            <a:r>
              <a:rPr lang="en-IN" sz="2200"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referenced table</a:t>
            </a:r>
            <a:r>
              <a:rPr lang="en-IN" sz="2200" dirty="0">
                <a:latin typeface="Segoe UI" panose="020B0502040204020203" pitchFamily="34" charset="0"/>
                <a:cs typeface="Segoe UI" panose="020B0502040204020203" pitchFamily="34" charset="0"/>
              </a:rPr>
              <a:t>, and the orders table is known as </a:t>
            </a:r>
            <a:r>
              <a:rPr lang="en-IN" sz="2200" b="1" i="1" dirty="0">
                <a:latin typeface="Segoe UI" panose="020B0502040204020203" pitchFamily="34" charset="0"/>
                <a:cs typeface="Segoe UI" panose="020B0502040204020203" pitchFamily="34" charset="0"/>
              </a:rPr>
              <a:t>child table </a:t>
            </a:r>
            <a:r>
              <a:rPr lang="en-IN" sz="2200" b="1"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referencing table</a:t>
            </a:r>
            <a:r>
              <a:rPr lang="en-IN" sz="2200" dirty="0">
                <a:latin typeface="Segoe UI" panose="020B0502040204020203" pitchFamily="34" charset="0"/>
                <a:cs typeface="Segoe UI" panose="020B0502040204020203" pitchFamily="34" charset="0"/>
              </a:rPr>
              <a:t>.</a:t>
            </a:r>
          </a:p>
        </p:txBody>
      </p:sp>
    </p:spTree>
    <p:extLst>
      <p:ext uri="{BB962C8B-B14F-4D97-AF65-F5344CB8AC3E}">
        <p14:creationId xmlns:p14="http://schemas.microsoft.com/office/powerpoint/2010/main" val="2933113878"/>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5D9C33-2C5A-BD65-7662-B702BAFEBE72}"/>
            </a:ext>
          </a:extLst>
        </p:cNvPr>
        <p:cNvGrpSpPr/>
        <p:nvPr/>
      </p:nvGrpSpPr>
      <p:grpSpPr>
        <a:xfrm>
          <a:off x="0" y="0"/>
          <a:ext cx="0" cy="0"/>
          <a:chOff x="0" y="0"/>
          <a:chExt cx="0" cy="0"/>
        </a:xfrm>
      </p:grpSpPr>
      <p:grpSp>
        <p:nvGrpSpPr>
          <p:cNvPr id="8" name="Group 7">
            <a:extLst>
              <a:ext uri="{FF2B5EF4-FFF2-40B4-BE49-F238E27FC236}">
                <a16:creationId xmlns:a16="http://schemas.microsoft.com/office/drawing/2014/main" id="{8F5C6FB3-BF1B-605B-5975-2AC62536DDEB}"/>
              </a:ext>
            </a:extLst>
          </p:cNvPr>
          <p:cNvGrpSpPr/>
          <p:nvPr/>
        </p:nvGrpSpPr>
        <p:grpSpPr>
          <a:xfrm>
            <a:off x="227348" y="1340768"/>
            <a:ext cx="11737304" cy="3745751"/>
            <a:chOff x="191344" y="2600737"/>
            <a:chExt cx="11737304" cy="3745751"/>
          </a:xfrm>
        </p:grpSpPr>
        <p:sp>
          <p:nvSpPr>
            <p:cNvPr id="14" name="Rectangle 13">
              <a:extLst>
                <a:ext uri="{FF2B5EF4-FFF2-40B4-BE49-F238E27FC236}">
                  <a16:creationId xmlns:a16="http://schemas.microsoft.com/office/drawing/2014/main" id="{923FC6EE-91F9-C296-54DE-B1535925D0DE}"/>
                </a:ext>
              </a:extLst>
            </p:cNvPr>
            <p:cNvSpPr/>
            <p:nvPr/>
          </p:nvSpPr>
          <p:spPr>
            <a:xfrm>
              <a:off x="191344" y="3429000"/>
              <a:ext cx="5400599" cy="92333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 TABLE </a:t>
              </a:r>
              <a:r>
                <a:rPr lang="en-US" dirty="0">
                  <a:latin typeface="Liberation Mono"/>
                  <a:cs typeface="Arial" panose="020B0604020202020204" pitchFamily="34" charset="0"/>
                </a:rPr>
                <a:t>department(</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UNSIGNED </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 KEY</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3" name="TextBox 12">
              <a:extLst>
                <a:ext uri="{FF2B5EF4-FFF2-40B4-BE49-F238E27FC236}">
                  <a16:creationId xmlns:a16="http://schemas.microsoft.com/office/drawing/2014/main" id="{BB6EFF35-5F96-1044-561C-54075726106C}"/>
                </a:ext>
              </a:extLst>
            </p:cNvPr>
            <p:cNvSpPr txBox="1"/>
            <p:nvPr/>
          </p:nvSpPr>
          <p:spPr>
            <a:xfrm>
              <a:off x="5519936" y="2600737"/>
              <a:ext cx="6408712" cy="1477328"/>
            </a:xfrm>
            <a:prstGeom prst="rect">
              <a:avLst/>
            </a:prstGeom>
            <a:noFill/>
          </p:spPr>
          <p:txBody>
            <a:bodyPr wrap="square">
              <a:spAutoFit/>
            </a:bodyPr>
            <a:lstStyle/>
            <a:p>
              <a:r>
                <a:rPr lang="en-US" dirty="0">
                  <a:solidFill>
                    <a:srgbClr val="0077AA"/>
                  </a:solidFill>
                  <a:latin typeface="Liberation Mono"/>
                </a:rPr>
                <a:t>CREATE TABLE </a:t>
              </a:r>
              <a:r>
                <a:rPr lang="en-US" dirty="0">
                  <a:latin typeface="Liberation Mono"/>
                  <a:cs typeface="Arial" panose="020B0604020202020204" pitchFamily="34" charset="0"/>
                </a:rPr>
                <a:t>employee(</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r>
                <a:rPr lang="en-US" dirty="0">
                  <a:solidFill>
                    <a:srgbClr val="C00000"/>
                  </a:solidFill>
                  <a:latin typeface="Liberation Mono"/>
                  <a:cs typeface="Arial" panose="020B0604020202020204" pitchFamily="34" charset="0"/>
                </a:rPr>
                <a:t>   FOREIGN KEY </a:t>
              </a:r>
              <a:r>
                <a:rPr lang="en-US" dirty="0">
                  <a:latin typeface="Liberation Mono"/>
                  <a:cs typeface="Arial" panose="020B0604020202020204" pitchFamily="34" charset="0"/>
                </a:rPr>
                <a:t>(department_id)  </a:t>
              </a:r>
              <a:r>
                <a:rPr lang="en-US" dirty="0">
                  <a:solidFill>
                    <a:srgbClr val="C00000"/>
                  </a:solidFill>
                  <a:latin typeface="Liberation Mono"/>
                  <a:cs typeface="Arial" panose="020B0604020202020204" pitchFamily="34" charset="0"/>
                </a:rPr>
                <a:t>REFERENCES </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department(department_id)</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AF180C5A-E22C-15A7-88EC-443CA003DCBA}"/>
                </a:ext>
              </a:extLst>
            </p:cNvPr>
            <p:cNvSpPr txBox="1"/>
            <p:nvPr/>
          </p:nvSpPr>
          <p:spPr>
            <a:xfrm>
              <a:off x="5519936" y="4869160"/>
              <a:ext cx="6408712" cy="1477328"/>
            </a:xfrm>
            <a:prstGeom prst="rect">
              <a:avLst/>
            </a:prstGeom>
            <a:noFill/>
          </p:spPr>
          <p:txBody>
            <a:bodyPr wrap="square">
              <a:spAutoFit/>
            </a:bodyPr>
            <a:lstStyle/>
            <a:p>
              <a:r>
                <a:rPr lang="en-US" dirty="0">
                  <a:solidFill>
                    <a:srgbClr val="0077AA"/>
                  </a:solidFill>
                  <a:latin typeface="Liberation Mono"/>
                </a:rPr>
                <a:t>CREATE TABLE </a:t>
              </a:r>
              <a:r>
                <a:rPr lang="en-US" dirty="0">
                  <a:latin typeface="Liberation Mono"/>
                  <a:cs typeface="Arial" panose="020B0604020202020204" pitchFamily="34" charset="0"/>
                </a:rPr>
                <a:t>employee(</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 </a:t>
              </a:r>
              <a:r>
                <a:rPr lang="en-US" dirty="0">
                  <a:solidFill>
                    <a:schemeClr val="accent4">
                      <a:lumMod val="50000"/>
                    </a:schemeClr>
                  </a:solidFill>
                  <a:latin typeface="Liberation Mono"/>
                  <a:cs typeface="Arial" panose="020B0604020202020204" pitchFamily="34" charset="0"/>
                </a:rPr>
                <a:t>UNSIGNED</a:t>
              </a:r>
              <a:r>
                <a:rPr lang="en-US" dirty="0">
                  <a:latin typeface="Liberation Mono"/>
                  <a:cs typeface="Arial" panose="020B0604020202020204" pitchFamily="34" charset="0"/>
                </a:rPr>
                <a:t>, </a:t>
              </a:r>
            </a:p>
            <a:p>
              <a:r>
                <a:rPr lang="en-US" dirty="0">
                  <a:solidFill>
                    <a:srgbClr val="C00000"/>
                  </a:solidFill>
                  <a:latin typeface="Liberation Mono"/>
                  <a:cs typeface="Arial" panose="020B0604020202020204" pitchFamily="34" charset="0"/>
                </a:rPr>
                <a:t>   FOREIGN KEY </a:t>
              </a:r>
              <a:r>
                <a:rPr lang="en-US" dirty="0">
                  <a:latin typeface="Liberation Mono"/>
                  <a:cs typeface="Arial" panose="020B0604020202020204" pitchFamily="34" charset="0"/>
                </a:rPr>
                <a:t>(department_id)  </a:t>
              </a:r>
              <a:r>
                <a:rPr lang="en-US" dirty="0">
                  <a:solidFill>
                    <a:srgbClr val="C00000"/>
                  </a:solidFill>
                  <a:latin typeface="Liberation Mono"/>
                  <a:cs typeface="Arial" panose="020B0604020202020204" pitchFamily="34" charset="0"/>
                </a:rPr>
                <a:t>REFERENCES </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department(department_id)</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grpSp>
      <p:sp>
        <p:nvSpPr>
          <p:cNvPr id="4" name="Rectangle 3">
            <a:extLst>
              <a:ext uri="{FF2B5EF4-FFF2-40B4-BE49-F238E27FC236}">
                <a16:creationId xmlns:a16="http://schemas.microsoft.com/office/drawing/2014/main" id="{1460CA6D-9FA5-A2C0-4CA2-0AA1D15793EE}"/>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72216315"/>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52AC5BF-F401-400C-9E24-C603715BF983}"/>
              </a:ext>
            </a:extLst>
          </p:cNvPr>
          <p:cNvPicPr>
            <a:picLocks noChangeAspect="1"/>
          </p:cNvPicPr>
          <p:nvPr/>
        </p:nvPicPr>
        <p:blipFill>
          <a:blip r:embed="rId3"/>
          <a:stretch>
            <a:fillRect/>
          </a:stretch>
        </p:blipFill>
        <p:spPr>
          <a:xfrm>
            <a:off x="7176120" y="1556751"/>
            <a:ext cx="5015880" cy="4608552"/>
          </a:xfrm>
          <a:prstGeom prst="rect">
            <a:avLst/>
          </a:prstGeom>
        </p:spPr>
      </p:pic>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19336" y="692697"/>
            <a:ext cx="11881320" cy="646331"/>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9B69DA52-EE90-4F18-BF1C-914923E0889E}"/>
              </a:ext>
            </a:extLst>
          </p:cNvPr>
          <p:cNvSpPr txBox="1"/>
          <p:nvPr/>
        </p:nvSpPr>
        <p:spPr>
          <a:xfrm>
            <a:off x="191344" y="1615999"/>
            <a:ext cx="46085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movie (</a:t>
            </a:r>
          </a:p>
          <a:p>
            <a:pPr marL="273050">
              <a:tabLst>
                <a:tab pos="273050" algn="l"/>
              </a:tabLst>
            </a:pPr>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tabLst>
                <a:tab pos="273050" algn="l"/>
              </a:tabLst>
            </a:pPr>
            <a:r>
              <a:rPr lang="en-IN" dirty="0">
                <a:latin typeface="Liberation Mono"/>
                <a:cs typeface="Arial" panose="020B0604020202020204" pitchFamily="34" charset="0"/>
              </a:rPr>
              <a:t>   movie_year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movie_time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movie_lang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tabLst>
                <a:tab pos="273050" algn="l"/>
              </a:tabLst>
            </a:pPr>
            <a:r>
              <a:rPr lang="en-IN" dirty="0">
                <a:latin typeface="Liberation Mono"/>
                <a:cs typeface="Arial" panose="020B0604020202020204" pitchFamily="34" charset="0"/>
              </a:rPr>
              <a:t>   movie_dt_rel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movie_rel_country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a:t>
            </a:r>
          </a:p>
          <a:p>
            <a:pPr marL="273050">
              <a:tabLst>
                <a:tab pos="273050" algn="l"/>
              </a:tabLst>
            </a:pPr>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5C9078FC-44BA-4B7D-921E-5CCF560FDDBE}"/>
              </a:ext>
            </a:extLst>
          </p:cNvPr>
          <p:cNvSpPr txBox="1"/>
          <p:nvPr/>
        </p:nvSpPr>
        <p:spPr>
          <a:xfrm>
            <a:off x="191344" y="4478294"/>
            <a:ext cx="799288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err="1">
                <a:latin typeface="Liberation Mono"/>
                <a:cs typeface="Arial" panose="020B0604020202020204" pitchFamily="34" charset="0"/>
              </a:rPr>
              <a:t>movie_cast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role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(30),</a:t>
            </a: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fk_movie_id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(movie_id)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movie(movie_id),</a:t>
            </a:r>
            <a:endParaRPr lang="en-IN" dirty="0">
              <a:solidFill>
                <a:schemeClr val="bg1">
                  <a:lumMod val="65000"/>
                </a:schemeClr>
              </a:solidFill>
              <a:latin typeface="Liberation Mono"/>
              <a:cs typeface="Arial" panose="020B0604020202020204" pitchFamily="34" charset="0"/>
            </a:endParaRP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fk_actor_id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(actor_id)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actor(actor_id)</a:t>
            </a:r>
          </a:p>
          <a:p>
            <a:pPr marL="27305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6A0425CF-4EEC-41FB-B1D5-20B9067682A8}"/>
              </a:ext>
            </a:extLst>
          </p:cNvPr>
          <p:cNvSpPr txBox="1"/>
          <p:nvPr/>
        </p:nvSpPr>
        <p:spPr>
          <a:xfrm>
            <a:off x="4007768" y="1615999"/>
            <a:ext cx="374441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actor (</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actor_fname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actor_lname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actor_gender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a:t>
            </a:r>
          </a:p>
          <a:p>
            <a:pPr marL="273050"/>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845571344"/>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find </a:t>
            </a:r>
            <a:r>
              <a:rPr lang="en-IN" b="1" i="1" dirty="0">
                <a:latin typeface="Arial" panose="020B0604020202020204" pitchFamily="34" charset="0"/>
                <a:cs typeface="Arial" panose="020B0604020202020204" pitchFamily="34" charset="0"/>
              </a:rPr>
              <a:t>Foreign Key </a:t>
            </a:r>
            <a:r>
              <a:rPr lang="en-IN" dirty="0">
                <a:latin typeface="Arial" panose="020B0604020202020204" pitchFamily="34" charset="0"/>
                <a:cs typeface="Arial" panose="020B0604020202020204" pitchFamily="34" charset="0"/>
              </a:rPr>
              <a:t>columns.</a:t>
            </a:r>
          </a:p>
        </p:txBody>
      </p:sp>
      <p:sp>
        <p:nvSpPr>
          <p:cNvPr id="17" name="Rectangle 16">
            <a:extLst>
              <a:ext uri="{FF2B5EF4-FFF2-40B4-BE49-F238E27FC236}">
                <a16:creationId xmlns:a16="http://schemas.microsoft.com/office/drawing/2014/main" id="{1054FA30-BD90-42A6-A67E-D1D783D1FA59}"/>
              </a:ext>
            </a:extLst>
          </p:cNvPr>
          <p:cNvSpPr/>
          <p:nvPr/>
        </p:nvSpPr>
        <p:spPr>
          <a:xfrm>
            <a:off x="290745" y="5369806"/>
            <a:ext cx="4509111"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brand_id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8" name="TextBox 7">
            <a:extLst>
              <a:ext uri="{FF2B5EF4-FFF2-40B4-BE49-F238E27FC236}">
                <a16:creationId xmlns:a16="http://schemas.microsoft.com/office/drawing/2014/main" id="{87C25CC9-1005-42FD-96C8-122E68205586}"/>
              </a:ext>
            </a:extLst>
          </p:cNvPr>
          <p:cNvSpPr txBox="1"/>
          <p:nvPr/>
        </p:nvSpPr>
        <p:spPr>
          <a:xfrm>
            <a:off x="290745" y="1481633"/>
            <a:ext cx="422107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owner (</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498342" y="1481633"/>
            <a:ext cx="43924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contact_id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contact_number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7E7EF431-C3D3-4125-9F78-EA223659843D}"/>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QUESTION – find foreign key  columns</a:t>
            </a:r>
          </a:p>
        </p:txBody>
      </p:sp>
      <p:sp>
        <p:nvSpPr>
          <p:cNvPr id="13" name="Rectangle 12">
            <a:extLst>
              <a:ext uri="{FF2B5EF4-FFF2-40B4-BE49-F238E27FC236}">
                <a16:creationId xmlns:a16="http://schemas.microsoft.com/office/drawing/2014/main" id="{0BB35454-B62B-422C-8E43-7870498F83A4}"/>
              </a:ext>
            </a:extLst>
          </p:cNvPr>
          <p:cNvSpPr/>
          <p:nvPr/>
        </p:nvSpPr>
        <p:spPr>
          <a:xfrm>
            <a:off x="290745"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E3C3704C-F23D-4889-9691-38EE6ED38B03}"/>
              </a:ext>
            </a:extLst>
          </p:cNvPr>
          <p:cNvSpPr/>
          <p:nvPr/>
        </p:nvSpPr>
        <p:spPr>
          <a:xfrm>
            <a:off x="5498342"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shop_brand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endParaRPr lang="en-IN" dirty="0">
              <a:latin typeface="Liberation Mono"/>
              <a:ea typeface="Times New Roman" panose="02020603050405020304" pitchFamily="18" charset="0"/>
            </a:endParaRP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a:t>
            </a:r>
            <a:r>
              <a:rPr lang="en-IN" dirty="0">
                <a:latin typeface="Liberation Mono"/>
                <a:ea typeface="Times New Roman" panose="02020603050405020304" pitchFamily="18" charset="0"/>
              </a:rPr>
              <a:t>brand_id</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Tree>
    <p:extLst>
      <p:ext uri="{BB962C8B-B14F-4D97-AF65-F5344CB8AC3E}">
        <p14:creationId xmlns:p14="http://schemas.microsoft.com/office/powerpoint/2010/main" val="2783192644"/>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052736"/>
            <a:ext cx="8447481"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3214496271"/>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foreign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290745" y="5167874"/>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FOREIGN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2414E19E-1633-405B-B460-842657490657}"/>
              </a:ext>
            </a:extLst>
          </p:cNvPr>
          <p:cNvSpPr/>
          <p:nvPr/>
        </p:nvSpPr>
        <p:spPr>
          <a:xfrm>
            <a:off x="263352" y="3356992"/>
            <a:ext cx="4464496"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CEC83B1C-1273-4F75-B92F-B86BC6ABF53F}"/>
              </a:ext>
            </a:extLst>
          </p:cNvPr>
          <p:cNvSpPr/>
          <p:nvPr/>
        </p:nvSpPr>
        <p:spPr>
          <a:xfrm>
            <a:off x="5303912" y="3356992"/>
            <a:ext cx="591665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2" name="Rectangle 11">
            <a:extLst>
              <a:ext uri="{FF2B5EF4-FFF2-40B4-BE49-F238E27FC236}">
                <a16:creationId xmlns:a16="http://schemas.microsoft.com/office/drawing/2014/main" id="{5619D88C-E65B-4669-A573-BA0E6D807D02}"/>
              </a:ext>
            </a:extLst>
          </p:cNvPr>
          <p:cNvSpPr/>
          <p:nvPr/>
        </p:nvSpPr>
        <p:spPr>
          <a:xfrm>
            <a:off x="190550" y="1457489"/>
            <a:ext cx="8641754"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1458047718"/>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FOREIGN KEY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3717166147"/>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foreign key</a:t>
            </a:r>
          </a:p>
        </p:txBody>
      </p:sp>
      <p:sp>
        <p:nvSpPr>
          <p:cNvPr id="2" name="Rectangle 1"/>
          <p:cNvSpPr/>
          <p:nvPr/>
        </p:nvSpPr>
        <p:spPr>
          <a:xfrm>
            <a:off x="380714" y="5085184"/>
            <a:ext cx="1152054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fk_userID;</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login_ibfk_1; </a:t>
            </a:r>
            <a:r>
              <a:rPr lang="en-IN" b="1" dirty="0">
                <a:solidFill>
                  <a:srgbClr val="00B050"/>
                </a:solidFill>
                <a:latin typeface="Liberation Mono"/>
                <a:cs typeface="Arial" panose="020B0604020202020204" pitchFamily="34" charset="0"/>
              </a:rPr>
              <a:t>// login_ibfk_1 is the default constraint name.</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FOREIGN KEY</a:t>
            </a:r>
            <a:r>
              <a:rPr lang="en-IN" dirty="0">
                <a:latin typeface="Arial" panose="020B0604020202020204" pitchFamily="34" charset="0"/>
                <a:cs typeface="Arial" panose="020B0604020202020204" pitchFamily="34" charset="0"/>
              </a:rPr>
              <a:t>.</a:t>
            </a:r>
          </a:p>
        </p:txBody>
      </p:sp>
      <p:sp>
        <p:nvSpPr>
          <p:cNvPr id="9" name="Rectangle 8">
            <a:extLst>
              <a:ext uri="{FF2B5EF4-FFF2-40B4-BE49-F238E27FC236}">
                <a16:creationId xmlns:a16="http://schemas.microsoft.com/office/drawing/2014/main" id="{F721C021-771E-46CA-8586-187657349569}"/>
              </a:ext>
            </a:extLst>
          </p:cNvPr>
          <p:cNvSpPr/>
          <p:nvPr/>
        </p:nvSpPr>
        <p:spPr>
          <a:xfrm>
            <a:off x="348011" y="1253660"/>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E1212"/>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6" name="Rectangle 5">
            <a:extLst>
              <a:ext uri="{FF2B5EF4-FFF2-40B4-BE49-F238E27FC236}">
                <a16:creationId xmlns:a16="http://schemas.microsoft.com/office/drawing/2014/main" id="{359D72E5-7050-4773-9F2D-5AEC37CC0492}"/>
              </a:ext>
            </a:extLst>
          </p:cNvPr>
          <p:cNvSpPr/>
          <p:nvPr/>
        </p:nvSpPr>
        <p:spPr>
          <a:xfrm>
            <a:off x="5519937" y="1253660"/>
            <a:ext cx="5916653"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35071D6D-A9EE-4928-A106-90662EE95A2A}"/>
              </a:ext>
            </a:extLst>
          </p:cNvPr>
          <p:cNvSpPr/>
          <p:nvPr/>
        </p:nvSpPr>
        <p:spPr>
          <a:xfrm>
            <a:off x="290747" y="3068960"/>
            <a:ext cx="66693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loginTime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fk_userID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D85E533-D201-44C6-B876-CBD913BA8466}"/>
              </a:ext>
            </a:extLst>
          </p:cNvPr>
          <p:cNvSpPr/>
          <p:nvPr/>
        </p:nvSpPr>
        <p:spPr>
          <a:xfrm>
            <a:off x="380714" y="6156594"/>
            <a:ext cx="10539822"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constraint_type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a:t>
            </a:r>
          </a:p>
        </p:txBody>
      </p:sp>
    </p:spTree>
    <p:extLst>
      <p:ext uri="{BB962C8B-B14F-4D97-AF65-F5344CB8AC3E}">
        <p14:creationId xmlns:p14="http://schemas.microsoft.com/office/powerpoint/2010/main" val="2335779408"/>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3" name="Rectangle 2"/>
          <p:cNvSpPr/>
          <p:nvPr/>
        </p:nvSpPr>
        <p:spPr>
          <a:xfrm>
            <a:off x="140939" y="767263"/>
            <a:ext cx="9524369" cy="1446550"/>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DELETE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UPDATE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solidFill>
                <a:srgbClr val="000000"/>
              </a:solidFill>
              <a:latin typeface="Liberation Mono"/>
              <a:cs typeface="Arial" panose="020B0604020202020204" pitchFamily="34" charset="0"/>
            </a:endParaRPr>
          </a:p>
          <a:p>
            <a:r>
              <a:rPr lang="en-IN" sz="2000" i="1" dirty="0">
                <a:solidFill>
                  <a:srgbClr val="000000"/>
                </a:solidFill>
                <a:latin typeface="Liberation Mono"/>
                <a:cs typeface="Arial" panose="020B0604020202020204" pitchFamily="34" charset="0"/>
              </a:rPr>
              <a:t>reference_option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RESTRICT</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CASCADE</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990055"/>
                </a:solidFill>
                <a:latin typeface="Liberation Mono"/>
                <a:cs typeface="Arial" panose="020B0604020202020204" pitchFamily="34" charset="0"/>
              </a:rPr>
              <a:t>NULL</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NO</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ACTION</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DEFAULT</a:t>
            </a:r>
            <a:endParaRPr lang="en-IN" sz="2000" dirty="0">
              <a:latin typeface="Liberation Mono"/>
              <a:cs typeface="Arial" panose="020B0604020202020204" pitchFamily="34" charset="0"/>
            </a:endParaRPr>
          </a:p>
        </p:txBody>
      </p:sp>
      <p:sp>
        <p:nvSpPr>
          <p:cNvPr id="8" name="Rectangle 7"/>
          <p:cNvSpPr/>
          <p:nvPr/>
        </p:nvSpPr>
        <p:spPr>
          <a:xfrm>
            <a:off x="140939" y="2760144"/>
            <a:ext cx="11910122"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When an UPDATE or DELETE operation affects a key value in the parent table that has matching rows in the child table, the result depends on the referential action specified using ON UPDATE and ON DELETE sub clauses of the FOREIGN KEY clause.</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ON DELETE or ON UPDATE that is not specified, the default action is always RESTRICT.</a:t>
            </a:r>
          </a:p>
        </p:txBody>
      </p:sp>
      <p:sp>
        <p:nvSpPr>
          <p:cNvPr id="2" name="Rectangle 1"/>
          <p:cNvSpPr/>
          <p:nvPr/>
        </p:nvSpPr>
        <p:spPr>
          <a:xfrm>
            <a:off x="7248128" y="794402"/>
            <a:ext cx="4802933" cy="707886"/>
          </a:xfrm>
          <a:prstGeom prst="rect">
            <a:avLst/>
          </a:prstGeom>
          <a:solidFill>
            <a:schemeClr val="accent5">
              <a:lumMod val="50000"/>
            </a:schemeClr>
          </a:solidFill>
        </p:spPr>
        <p:txBody>
          <a:bodyPr wrap="square">
            <a:spAutoFit/>
          </a:bodyPr>
          <a:lstStyle/>
          <a:p>
            <a:r>
              <a:rPr lang="en-IN" sz="2000" dirty="0">
                <a:solidFill>
                  <a:schemeClr val="bg1">
                    <a:lumMod val="95000"/>
                  </a:schemeClr>
                </a:solidFill>
                <a:latin typeface="Arial" panose="020B0604020202020204" pitchFamily="34" charset="0"/>
                <a:cs typeface="Arial" panose="020B0604020202020204" pitchFamily="34" charset="0"/>
              </a:rPr>
              <a:t>Cascaded FOREIGN KEY actions do not activate triggers.</a:t>
            </a:r>
          </a:p>
        </p:txBody>
      </p:sp>
    </p:spTree>
    <p:extLst>
      <p:ext uri="{BB962C8B-B14F-4D97-AF65-F5344CB8AC3E}">
        <p14:creationId xmlns:p14="http://schemas.microsoft.com/office/powerpoint/2010/main" val="158334957"/>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2" name="Rectangle 1"/>
          <p:cNvSpPr/>
          <p:nvPr/>
        </p:nvSpPr>
        <p:spPr>
          <a:xfrm>
            <a:off x="335360" y="404664"/>
            <a:ext cx="11521280" cy="1785104"/>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CASCADE</a:t>
            </a:r>
            <a:r>
              <a:rPr lang="en-IN" dirty="0">
                <a:latin typeface="Arial" panose="020B0604020202020204" pitchFamily="34" charset="0"/>
                <a:cs typeface="Arial" panose="020B0604020202020204" pitchFamily="34" charset="0"/>
              </a:rPr>
              <a:t>: DELETE or UPDATE the row from the parent table, and automatically DELETE or UPDATE the matching rows in the child table. Both ON DELETE CASCADE and ON UPDATE CASCADE are supported.</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SET 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Both ON DELETE SET NULL and ON UPDATE SET NULL clauses are supported.</a:t>
            </a:r>
          </a:p>
        </p:txBody>
      </p:sp>
      <p:sp>
        <p:nvSpPr>
          <p:cNvPr id="8" name="Rectangle 7">
            <a:extLst>
              <a:ext uri="{FF2B5EF4-FFF2-40B4-BE49-F238E27FC236}">
                <a16:creationId xmlns:a16="http://schemas.microsoft.com/office/drawing/2014/main" id="{A78FEABA-0D7A-4238-A3D4-960FA1F84DF3}"/>
              </a:ext>
            </a:extLst>
          </p:cNvPr>
          <p:cNvSpPr/>
          <p:nvPr/>
        </p:nvSpPr>
        <p:spPr>
          <a:xfrm>
            <a:off x="191344" y="2480248"/>
            <a:ext cx="371702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9" name="Rectangle 8">
            <a:extLst>
              <a:ext uri="{FF2B5EF4-FFF2-40B4-BE49-F238E27FC236}">
                <a16:creationId xmlns:a16="http://schemas.microsoft.com/office/drawing/2014/main" id="{69A7CC67-8070-4D44-BD42-D83DCB27D62F}"/>
              </a:ext>
            </a:extLst>
          </p:cNvPr>
          <p:cNvSpPr/>
          <p:nvPr/>
        </p:nvSpPr>
        <p:spPr>
          <a:xfrm>
            <a:off x="3359696" y="2420888"/>
            <a:ext cx="8712968"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CASCADE ON UPDATE CASCADE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2E3CCCC-BC68-471E-8C79-B6BD867408B8}"/>
              </a:ext>
            </a:extLst>
          </p:cNvPr>
          <p:cNvSpPr/>
          <p:nvPr/>
        </p:nvSpPr>
        <p:spPr>
          <a:xfrm>
            <a:off x="3292061" y="4697449"/>
            <a:ext cx="8712967"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 ON UPDATE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Tree>
    <p:extLst>
      <p:ext uri="{BB962C8B-B14F-4D97-AF65-F5344CB8AC3E}">
        <p14:creationId xmlns:p14="http://schemas.microsoft.com/office/powerpoint/2010/main" val="1692487458"/>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on delete / on update – foreign key</a:t>
            </a:r>
          </a:p>
        </p:txBody>
      </p:sp>
      <p:sp>
        <p:nvSpPr>
          <p:cNvPr id="5" name="Rectangle 4">
            <a:extLst>
              <a:ext uri="{FF2B5EF4-FFF2-40B4-BE49-F238E27FC236}">
                <a16:creationId xmlns:a16="http://schemas.microsoft.com/office/drawing/2014/main" id="{1EC3AF28-8BF6-4AD8-9E4B-250822387F63}"/>
              </a:ext>
            </a:extLst>
          </p:cNvPr>
          <p:cNvSpPr/>
          <p:nvPr/>
        </p:nvSpPr>
        <p:spPr>
          <a:xfrm>
            <a:off x="191344" y="887810"/>
            <a:ext cx="11737304" cy="3416320"/>
          </a:xfrm>
          <a:prstGeom prst="rect">
            <a:avLst/>
          </a:prstGeom>
        </p:spPr>
        <p:txBody>
          <a:bodyPr wrap="square">
            <a:spAutoFit/>
          </a:bodyPr>
          <a:lstStyle/>
          <a:p>
            <a:r>
              <a:rPr lang="en-IN" dirty="0">
                <a:solidFill>
                  <a:srgbClr val="2658E6"/>
                </a:solidFill>
                <a:latin typeface="Arial" panose="020B0604020202020204" pitchFamily="34" charset="0"/>
                <a:cs typeface="Arial" panose="020B0604020202020204" pitchFamily="34" charset="0"/>
              </a:rPr>
              <a:t>SET</a:t>
            </a:r>
            <a:r>
              <a:rPr lang="en-IN" dirty="0">
                <a:solidFill>
                  <a:srgbClr val="006C86"/>
                </a:solidFill>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If you specify a SET NULL action, make sure that you have not declared the columns in the child table as NOT NULL.</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RESTRICT</a:t>
            </a:r>
            <a:r>
              <a:rPr lang="en-IN" dirty="0">
                <a:latin typeface="Arial" panose="020B0604020202020204" pitchFamily="34" charset="0"/>
                <a:cs typeface="Arial" panose="020B0604020202020204" pitchFamily="34" charset="0"/>
              </a:rPr>
              <a:t>: Rejects the delete or update operation for the parent table. Specifying RESTRICT (or NO ACTION) is the same as omitting the ON DELETE or ON UPDATE clause.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NO</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ACTION</a:t>
            </a:r>
            <a:r>
              <a:rPr lang="en-IN" dirty="0">
                <a:latin typeface="Arial" panose="020B0604020202020204" pitchFamily="34" charset="0"/>
                <a:cs typeface="Arial" panose="020B0604020202020204" pitchFamily="34" charset="0"/>
              </a:rPr>
              <a:t>:  Is equivalent to RESTRICT. The MySQL Server rejects the delete or update operation for the parent table if there is a related foreign key value in the referenced table.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This action is recognized by the MySQL parser, but both InnoDB and NDB reject table definitions containing ON DELETE SET DEFAULT or ON UPDATE SET DEFAULT clauses.</a:t>
            </a:r>
          </a:p>
        </p:txBody>
      </p:sp>
    </p:spTree>
    <p:extLst>
      <p:ext uri="{BB962C8B-B14F-4D97-AF65-F5344CB8AC3E}">
        <p14:creationId xmlns:p14="http://schemas.microsoft.com/office/powerpoint/2010/main" val="3620759375"/>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3" name="Group 2">
            <a:extLst>
              <a:ext uri="{FF2B5EF4-FFF2-40B4-BE49-F238E27FC236}">
                <a16:creationId xmlns:a16="http://schemas.microsoft.com/office/drawing/2014/main" id="{DB1D8E2F-82C3-4D0A-B6D1-EE247C238C3E}"/>
              </a:ext>
            </a:extLst>
          </p:cNvPr>
          <p:cNvGrpSpPr/>
          <p:nvPr/>
        </p:nvGrpSpPr>
        <p:grpSpPr>
          <a:xfrm>
            <a:off x="1627495" y="229864"/>
            <a:ext cx="8154746" cy="1949100"/>
            <a:chOff x="1627495" y="229864"/>
            <a:chExt cx="8154746" cy="1949100"/>
          </a:xfrm>
        </p:grpSpPr>
        <p:grpSp>
          <p:nvGrpSpPr>
            <p:cNvPr id="4" name="Group 3">
              <a:extLst>
                <a:ext uri="{FF2B5EF4-FFF2-40B4-BE49-F238E27FC236}">
                  <a16:creationId xmlns:a16="http://schemas.microsoft.com/office/drawing/2014/main" id="{A67F6B19-C52A-45F3-BC45-F0022725A330}"/>
                </a:ext>
              </a:extLst>
            </p:cNvPr>
            <p:cNvGrpSpPr/>
            <p:nvPr/>
          </p:nvGrpSpPr>
          <p:grpSpPr>
            <a:xfrm>
              <a:off x="6096000" y="620689"/>
              <a:ext cx="3686241" cy="1558275"/>
              <a:chOff x="4572000" y="620688"/>
              <a:chExt cx="3686241" cy="1558275"/>
            </a:xfrm>
          </p:grpSpPr>
          <p:grpSp>
            <p:nvGrpSpPr>
              <p:cNvPr id="6" name="Group 5">
                <a:extLst>
                  <a:ext uri="{FF2B5EF4-FFF2-40B4-BE49-F238E27FC236}">
                    <a16:creationId xmlns:a16="http://schemas.microsoft.com/office/drawing/2014/main" id="{39905B9F-952A-4269-B47F-F6AD1B37BD5F}"/>
                  </a:ext>
                </a:extLst>
              </p:cNvPr>
              <p:cNvGrpSpPr/>
              <p:nvPr/>
            </p:nvGrpSpPr>
            <p:grpSpPr>
              <a:xfrm>
                <a:off x="4572000" y="1340769"/>
                <a:ext cx="3686241" cy="838194"/>
                <a:chOff x="2566549" y="4548100"/>
                <a:chExt cx="5977257" cy="935500"/>
              </a:xfrm>
            </p:grpSpPr>
            <p:pic>
              <p:nvPicPr>
                <p:cNvPr id="9" name="Picture 8">
                  <a:extLst>
                    <a:ext uri="{FF2B5EF4-FFF2-40B4-BE49-F238E27FC236}">
                      <a16:creationId xmlns:a16="http://schemas.microsoft.com/office/drawing/2014/main" id="{5E4864E5-5829-444C-8285-10D22A233FBF}"/>
                    </a:ext>
                  </a:extLst>
                </p:cNvPr>
                <p:cNvPicPr>
                  <a:picLocks noChangeAspect="1"/>
                </p:cNvPicPr>
                <p:nvPr/>
              </p:nvPicPr>
              <p:blipFill>
                <a:blip r:embed="rId2" cstate="print"/>
                <a:stretch>
                  <a:fillRect/>
                </a:stretch>
              </p:blipFill>
              <p:spPr>
                <a:xfrm>
                  <a:off x="2599206" y="4606781"/>
                  <a:ext cx="1737120" cy="413629"/>
                </a:xfrm>
                <a:prstGeom prst="rect">
                  <a:avLst/>
                </a:prstGeom>
              </p:spPr>
            </p:pic>
            <p:pic>
              <p:nvPicPr>
                <p:cNvPr id="10" name="Picture 9">
                  <a:extLst>
                    <a:ext uri="{FF2B5EF4-FFF2-40B4-BE49-F238E27FC236}">
                      <a16:creationId xmlns:a16="http://schemas.microsoft.com/office/drawing/2014/main" id="{4E85A8E7-68A7-4045-8D85-B1A52291BD8C}"/>
                    </a:ext>
                  </a:extLst>
                </p:cNvPr>
                <p:cNvPicPr>
                  <a:picLocks noChangeAspect="1"/>
                </p:cNvPicPr>
                <p:nvPr/>
              </p:nvPicPr>
              <p:blipFill>
                <a:blip r:embed="rId3" cstate="print"/>
                <a:stretch>
                  <a:fillRect/>
                </a:stretch>
              </p:blipFill>
              <p:spPr>
                <a:xfrm>
                  <a:off x="4522395" y="5049698"/>
                  <a:ext cx="1770850" cy="429849"/>
                </a:xfrm>
                <a:prstGeom prst="rect">
                  <a:avLst/>
                </a:prstGeom>
              </p:spPr>
            </p:pic>
            <p:pic>
              <p:nvPicPr>
                <p:cNvPr id="11" name="Picture 10">
                  <a:extLst>
                    <a:ext uri="{FF2B5EF4-FFF2-40B4-BE49-F238E27FC236}">
                      <a16:creationId xmlns:a16="http://schemas.microsoft.com/office/drawing/2014/main" id="{B99B2E66-642C-41EF-B479-C4950E4C4595}"/>
                    </a:ext>
                  </a:extLst>
                </p:cNvPr>
                <p:cNvPicPr>
                  <a:picLocks noChangeAspect="1"/>
                </p:cNvPicPr>
                <p:nvPr/>
              </p:nvPicPr>
              <p:blipFill>
                <a:blip r:embed="rId4" cstate="print"/>
                <a:stretch>
                  <a:fillRect/>
                </a:stretch>
              </p:blipFill>
              <p:spPr>
                <a:xfrm>
                  <a:off x="4519943" y="4582454"/>
                  <a:ext cx="1762418" cy="437958"/>
                </a:xfrm>
                <a:prstGeom prst="rect">
                  <a:avLst/>
                </a:prstGeom>
              </p:spPr>
            </p:pic>
            <p:pic>
              <p:nvPicPr>
                <p:cNvPr id="12" name="Picture 11">
                  <a:extLst>
                    <a:ext uri="{FF2B5EF4-FFF2-40B4-BE49-F238E27FC236}">
                      <a16:creationId xmlns:a16="http://schemas.microsoft.com/office/drawing/2014/main" id="{03CF76F7-8CE8-4FFF-9E7F-915095E20262}"/>
                    </a:ext>
                  </a:extLst>
                </p:cNvPr>
                <p:cNvPicPr>
                  <a:picLocks noChangeAspect="1"/>
                </p:cNvPicPr>
                <p:nvPr/>
              </p:nvPicPr>
              <p:blipFill>
                <a:blip r:embed="rId5" cstate="print"/>
                <a:stretch>
                  <a:fillRect/>
                </a:stretch>
              </p:blipFill>
              <p:spPr>
                <a:xfrm>
                  <a:off x="2566549" y="5069972"/>
                  <a:ext cx="1787716" cy="413628"/>
                </a:xfrm>
                <a:prstGeom prst="rect">
                  <a:avLst/>
                </a:prstGeom>
              </p:spPr>
            </p:pic>
            <p:pic>
              <p:nvPicPr>
                <p:cNvPr id="13" name="Picture 12">
                  <a:extLst>
                    <a:ext uri="{FF2B5EF4-FFF2-40B4-BE49-F238E27FC236}">
                      <a16:creationId xmlns:a16="http://schemas.microsoft.com/office/drawing/2014/main" id="{388FEC14-A9A9-4603-A848-3DD40C1A26F3}"/>
                    </a:ext>
                  </a:extLst>
                </p:cNvPr>
                <p:cNvPicPr>
                  <a:picLocks noChangeAspect="1"/>
                </p:cNvPicPr>
                <p:nvPr/>
              </p:nvPicPr>
              <p:blipFill>
                <a:blip r:embed="rId6" cstate="print"/>
                <a:stretch>
                  <a:fillRect/>
                </a:stretch>
              </p:blipFill>
              <p:spPr>
                <a:xfrm>
                  <a:off x="6334459" y="5074030"/>
                  <a:ext cx="2209347" cy="405518"/>
                </a:xfrm>
                <a:prstGeom prst="rect">
                  <a:avLst/>
                </a:prstGeom>
              </p:spPr>
            </p:pic>
            <p:pic>
              <p:nvPicPr>
                <p:cNvPr id="14" name="Picture 13">
                  <a:extLst>
                    <a:ext uri="{FF2B5EF4-FFF2-40B4-BE49-F238E27FC236}">
                      <a16:creationId xmlns:a16="http://schemas.microsoft.com/office/drawing/2014/main" id="{668AFE56-4922-414E-9627-69FB2E5BAE3B}"/>
                    </a:ext>
                  </a:extLst>
                </p:cNvPr>
                <p:cNvPicPr>
                  <a:picLocks noChangeAspect="1"/>
                </p:cNvPicPr>
                <p:nvPr/>
              </p:nvPicPr>
              <p:blipFill>
                <a:blip r:embed="rId7" cstate="print"/>
                <a:stretch>
                  <a:fillRect/>
                </a:stretch>
              </p:blipFill>
              <p:spPr>
                <a:xfrm>
                  <a:off x="6419672" y="4548100"/>
                  <a:ext cx="1711822" cy="437959"/>
                </a:xfrm>
                <a:prstGeom prst="rect">
                  <a:avLst/>
                </a:prstGeom>
              </p:spPr>
            </p:pic>
          </p:grpSp>
          <p:cxnSp>
            <p:nvCxnSpPr>
              <p:cNvPr id="7" name="Elbow Connector 26">
                <a:extLst>
                  <a:ext uri="{FF2B5EF4-FFF2-40B4-BE49-F238E27FC236}">
                    <a16:creationId xmlns:a16="http://schemas.microsoft.com/office/drawing/2014/main" id="{107BEBF6-F670-4A20-BBC1-444FACD21B53}"/>
                  </a:ext>
                </a:extLst>
              </p:cNvPr>
              <p:cNvCxnSpPr>
                <a:cxnSpLocks/>
              </p:cNvCxnSpPr>
              <p:nvPr/>
            </p:nvCxnSpPr>
            <p:spPr>
              <a:xfrm rot="16200000" flipH="1">
                <a:off x="5728463" y="645754"/>
                <a:ext cx="353060" cy="302928"/>
              </a:xfrm>
              <a:prstGeom prst="bentConnector3">
                <a:avLst>
                  <a:gd name="adj1" fmla="val 50000"/>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F5F1975-E32E-4DF3-A1D0-4B9B07E700A7}"/>
                  </a:ext>
                </a:extLst>
              </p:cNvPr>
              <p:cNvSpPr txBox="1"/>
              <p:nvPr/>
            </p:nvSpPr>
            <p:spPr>
              <a:xfrm>
                <a:off x="5325636" y="935497"/>
                <a:ext cx="1624036" cy="461665"/>
              </a:xfrm>
              <a:prstGeom prst="rect">
                <a:avLst/>
              </a:prstGeom>
              <a:noFill/>
            </p:spPr>
            <p:txBody>
              <a:bodyPr wrap="square" rtlCol="0">
                <a:spAutoFit/>
              </a:bodyPr>
              <a:lstStyle/>
              <a:p>
                <a:r>
                  <a:rPr lang="en-IN" sz="2400" dirty="0">
                    <a:solidFill>
                      <a:srgbClr val="92D050"/>
                    </a:solidFill>
                  </a:rPr>
                  <a:t>// ERROR</a:t>
                </a:r>
              </a:p>
            </p:txBody>
          </p:sp>
        </p:grpSp>
        <p:sp>
          <p:nvSpPr>
            <p:cNvPr id="5" name="Rectangle 4">
              <a:extLst>
                <a:ext uri="{FF2B5EF4-FFF2-40B4-BE49-F238E27FC236}">
                  <a16:creationId xmlns:a16="http://schemas.microsoft.com/office/drawing/2014/main" id="{7F3676CD-DB4B-443A-A28D-DE3BAAAACA46}"/>
                </a:ext>
              </a:extLst>
            </p:cNvPr>
            <p:cNvSpPr/>
            <p:nvPr/>
          </p:nvSpPr>
          <p:spPr>
            <a:xfrm>
              <a:off x="1627495" y="229864"/>
              <a:ext cx="6484729" cy="46487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itchFamily="34" charset="0"/>
                </a:rPr>
                <a:t>c1 </a:t>
              </a:r>
              <a:r>
                <a:rPr lang="en-US" dirty="0">
                  <a:solidFill>
                    <a:srgbClr val="834689"/>
                  </a:solidFill>
                  <a:latin typeface="Liberation Mono"/>
                </a:rPr>
                <a:t>INT</a:t>
              </a:r>
              <a:r>
                <a:rPr lang="en-US" dirty="0">
                  <a:latin typeface="Liberation Mono"/>
                  <a:cs typeface="Arial" pitchFamily="34" charset="0"/>
                </a:rPr>
                <a:t>, c2 </a:t>
              </a:r>
              <a:r>
                <a:rPr lang="en-US" dirty="0">
                  <a:solidFill>
                    <a:srgbClr val="834689"/>
                  </a:solidFill>
                  <a:latin typeface="Liberation Mono"/>
                </a:rPr>
                <a:t>INT</a:t>
              </a:r>
              <a:r>
                <a:rPr lang="en-US" dirty="0">
                  <a:latin typeface="Liberation Mono"/>
                  <a:cs typeface="Arial" pitchFamily="34" charset="0"/>
                </a:rPr>
                <a:t>, c3 </a:t>
              </a:r>
              <a:r>
                <a:rPr lang="en-US" dirty="0">
                  <a:solidFill>
                    <a:srgbClr val="834689"/>
                  </a:solidFill>
                  <a:latin typeface="Liberation Mono"/>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c3</a:t>
              </a:r>
              <a:r>
                <a:rPr lang="en-US" dirty="0">
                  <a:solidFill>
                    <a:srgbClr val="00B0F0"/>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B0F0"/>
                  </a:solidFill>
                  <a:latin typeface="Liberation Mono"/>
                  <a:cs typeface="Arial" panose="020B0604020202020204" pitchFamily="34" charset="0"/>
                </a:rPr>
                <a:t> SUM</a:t>
              </a:r>
              <a:r>
                <a:rPr lang="en-IN" dirty="0">
                  <a:solidFill>
                    <a:schemeClr val="bg1">
                      <a:lumMod val="65000"/>
                    </a:schemeClr>
                  </a:solidFill>
                  <a:latin typeface="Liberation Mono"/>
                  <a:cs typeface="Arial" panose="020B0604020202020204" pitchFamily="34" charset="0"/>
                </a:rPr>
                <a:t>(</a:t>
              </a:r>
              <a:r>
                <a:rPr lang="en-US" dirty="0">
                  <a:solidFill>
                    <a:srgbClr val="00B0F0"/>
                  </a:solidFill>
                  <a:latin typeface="Liberation Mono"/>
                  <a:cs typeface="Arial" panose="020B0604020202020204" pitchFamily="34" charset="0"/>
                </a:rPr>
                <a:t>c1</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itchFamily="34" charset="0"/>
                </a:rPr>
                <a:t>;</a:t>
              </a:r>
            </a:p>
          </p:txBody>
        </p:sp>
      </p:grpSp>
      <p:sp>
        <p:nvSpPr>
          <p:cNvPr id="15" name="TextBox 14">
            <a:extLst>
              <a:ext uri="{FF2B5EF4-FFF2-40B4-BE49-F238E27FC236}">
                <a16:creationId xmlns:a16="http://schemas.microsoft.com/office/drawing/2014/main" id="{7DD6F187-8E20-2803-28BE-BB0330FCB47C}"/>
              </a:ext>
            </a:extLst>
          </p:cNvPr>
          <p:cNvSpPr txBox="1"/>
          <p:nvPr/>
        </p:nvSpPr>
        <p:spPr>
          <a:xfrm>
            <a:off x="3564645" y="3098144"/>
            <a:ext cx="5062709" cy="369332"/>
          </a:xfrm>
          <a:prstGeom prst="rect">
            <a:avLst/>
          </a:prstGeom>
          <a:noFill/>
        </p:spPr>
        <p:txBody>
          <a:bodyPr wrap="square">
            <a:spAutoFit/>
          </a:bodyPr>
          <a:lstStyle/>
          <a:p>
            <a:r>
              <a:rPr lang="en-IN" dirty="0"/>
              <a:t>operators like =, &gt;, &lt;, BETWEEN, IN, LIKE. Can use. </a:t>
            </a:r>
          </a:p>
        </p:txBody>
      </p:sp>
    </p:spTree>
    <p:extLst>
      <p:ext uri="{BB962C8B-B14F-4D97-AF65-F5344CB8AC3E}">
        <p14:creationId xmlns:p14="http://schemas.microsoft.com/office/powerpoint/2010/main" val="227576524"/>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1" name="Rectangle 10"/>
          <p:cNvSpPr/>
          <p:nvPr/>
        </p:nvSpPr>
        <p:spPr>
          <a:xfrm>
            <a:off x="263352" y="836713"/>
            <a:ext cx="11665296" cy="2923877"/>
          </a:xfrm>
          <a:prstGeom prst="rect">
            <a:avLst/>
          </a:prstGeom>
        </p:spPr>
        <p:txBody>
          <a:bodyPr wrap="square">
            <a:spAutoFit/>
          </a:bodyPr>
          <a:lstStyle/>
          <a:p>
            <a:r>
              <a:rPr lang="en-US" sz="2200" dirty="0">
                <a:solidFill>
                  <a:srgbClr val="006C86"/>
                </a:solidFill>
                <a:latin typeface="Arial" panose="020B0604020202020204" pitchFamily="34" charset="0"/>
                <a:cs typeface="Arial" panose="020B0604020202020204" pitchFamily="34" charset="0"/>
              </a:rPr>
              <a:t>CHECK condition expressions must follow some rules.</a:t>
            </a:r>
          </a:p>
          <a:p>
            <a:endParaRPr lang="en-US" dirty="0">
              <a:solidFill>
                <a:srgbClr val="006C86"/>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Literals, deterministic built-in functions, and operators are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Non-generated and generated columns are permitted, except columns with the  AUTO_INCREMENT attribute.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Sub-queries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Environmental variables (such as CURRENT_USER, CURRENT_DATE,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Non-Deterministic built-in functions (such as AVG, COUNT, RAND, LAST_INSERT_ID, FIRST_VALUE, LAST_VALUE,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Variables (system variables, user-defined variables, and stored program local variables)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Stored functions and user-defined functions are not permitted.</a:t>
            </a:r>
          </a:p>
        </p:txBody>
      </p:sp>
      <p:cxnSp>
        <p:nvCxnSpPr>
          <p:cNvPr id="3" name="Straight Connector 2">
            <a:extLst>
              <a:ext uri="{FF2B5EF4-FFF2-40B4-BE49-F238E27FC236}">
                <a16:creationId xmlns:a16="http://schemas.microsoft.com/office/drawing/2014/main" id="{EB3637F7-4F68-4EF5-8106-F8EB5B29D7FD}"/>
              </a:ext>
            </a:extLst>
          </p:cNvPr>
          <p:cNvCxnSpPr/>
          <p:nvPr/>
        </p:nvCxnSpPr>
        <p:spPr>
          <a:xfrm>
            <a:off x="407368" y="3861048"/>
            <a:ext cx="1116124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4FF2CC1F-F0F0-4660-81AF-1CAE87F51932}"/>
              </a:ext>
            </a:extLst>
          </p:cNvPr>
          <p:cNvSpPr/>
          <p:nvPr/>
        </p:nvSpPr>
        <p:spPr>
          <a:xfrm>
            <a:off x="263352" y="4077072"/>
            <a:ext cx="11587172" cy="1107996"/>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006C86"/>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Prior to MySQL 8.0.16, CREATE TABLE permits only the following limited version of table CHECK constraint syntax, which is parsed and ignored.</a:t>
            </a:r>
          </a:p>
        </p:txBody>
      </p:sp>
      <p:sp>
        <p:nvSpPr>
          <p:cNvPr id="2" name="TextBox 1">
            <a:extLst>
              <a:ext uri="{FF2B5EF4-FFF2-40B4-BE49-F238E27FC236}">
                <a16:creationId xmlns:a16="http://schemas.microsoft.com/office/drawing/2014/main" id="{B756F713-8D4C-47AF-8072-66DC56304DFB}"/>
              </a:ext>
            </a:extLst>
          </p:cNvPr>
          <p:cNvSpPr txBox="1"/>
          <p:nvPr/>
        </p:nvSpPr>
        <p:spPr>
          <a:xfrm>
            <a:off x="269468" y="5246329"/>
            <a:ext cx="11587172" cy="120032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bg2">
                  <a:lumMod val="25000"/>
                </a:schemeClr>
              </a:solidFill>
              <a:latin typeface="Palatino Linotype" panose="02040502050505030304" pitchFamily="18" charset="0"/>
            </a:endParaRPr>
          </a:p>
          <a:p>
            <a:r>
              <a:rPr lang="en-IN" dirty="0">
                <a:solidFill>
                  <a:schemeClr val="bg2">
                    <a:lumMod val="25000"/>
                  </a:schemeClr>
                </a:solidFill>
                <a:latin typeface="Palatino Linotype" panose="02040502050505030304" pitchFamily="18" charset="0"/>
              </a:rPr>
              <a:t>If you omit the constraint name, MySQL automatically generates a name with the following convention:</a:t>
            </a:r>
          </a:p>
          <a:p>
            <a:endParaRPr lang="en-IN" sz="6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dirty="0">
                <a:solidFill>
                  <a:schemeClr val="accent5">
                    <a:lumMod val="50000"/>
                  </a:schemeClr>
                </a:solidFill>
                <a:latin typeface="Palatino Linotype" panose="02040502050505030304" pitchFamily="18" charset="0"/>
              </a:rPr>
              <a:t>table_name_chk_n</a:t>
            </a:r>
          </a:p>
        </p:txBody>
      </p:sp>
    </p:spTree>
    <p:extLst>
      <p:ext uri="{BB962C8B-B14F-4D97-AF65-F5344CB8AC3E}">
        <p14:creationId xmlns:p14="http://schemas.microsoft.com/office/powerpoint/2010/main" val="4237150648"/>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2" name="Rectangle 11">
            <a:extLst>
              <a:ext uri="{FF2B5EF4-FFF2-40B4-BE49-F238E27FC236}">
                <a16:creationId xmlns:a16="http://schemas.microsoft.com/office/drawing/2014/main" id="{7FB941C0-CFB1-4FA3-975D-679432B20353}"/>
              </a:ext>
            </a:extLst>
          </p:cNvPr>
          <p:cNvSpPr/>
          <p:nvPr/>
        </p:nvSpPr>
        <p:spPr>
          <a:xfrm>
            <a:off x="5735961" y="1868046"/>
            <a:ext cx="407820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42FA42D-F5E5-4AA6-AB66-1C81B90320F5}"/>
              </a:ext>
            </a:extLst>
          </p:cNvPr>
          <p:cNvSpPr/>
          <p:nvPr/>
        </p:nvSpPr>
        <p:spPr>
          <a:xfrm>
            <a:off x="290746" y="4228053"/>
            <a:ext cx="544521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r>
              <a:rPr lang="en-IN" dirty="0">
                <a:solidFill>
                  <a:srgbClr val="C00000"/>
                </a:solidFill>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5" name="Rectangle 14">
            <a:extLst>
              <a:ext uri="{FF2B5EF4-FFF2-40B4-BE49-F238E27FC236}">
                <a16:creationId xmlns:a16="http://schemas.microsoft.com/office/drawing/2014/main" id="{BD5CFF68-B162-4F3B-A3FB-141AFB29E4B4}"/>
              </a:ext>
            </a:extLst>
          </p:cNvPr>
          <p:cNvSpPr/>
          <p:nvPr/>
        </p:nvSpPr>
        <p:spPr>
          <a:xfrm>
            <a:off x="5735961" y="4228053"/>
            <a:ext cx="6264696" cy="2585323"/>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rgbClr val="A67F59"/>
                </a:solidFill>
                <a:latin typeface="Liberation Mono"/>
              </a:rPr>
              <a:t>&gt;</a:t>
            </a:r>
            <a:r>
              <a:rPr lang="en-IN" dirty="0">
                <a:latin typeface="Liberation Mono"/>
                <a:cs typeface="Arial" panose="020B0604020202020204" pitchFamily="34" charset="0"/>
              </a:rPr>
              <a:t> 50),</a:t>
            </a:r>
          </a:p>
          <a:p>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chk_email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LENGTH</a:t>
            </a:r>
            <a:r>
              <a:rPr lang="en-IN" dirty="0">
                <a:latin typeface="Liberation Mono"/>
                <a:cs typeface="Arial" panose="020B0604020202020204" pitchFamily="34" charset="0"/>
              </a:rPr>
              <a:t>(email)</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12</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604348847"/>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1137726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rgbClr val="A67F59"/>
                </a:solidFill>
                <a:latin typeface="Liberation Mono"/>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BEA6FD-C7C9-4336-B128-C08EADD4485D}"/>
              </a:ext>
            </a:extLst>
          </p:cNvPr>
          <p:cNvSpPr txBox="1"/>
          <p:nvPr/>
        </p:nvSpPr>
        <p:spPr>
          <a:xfrm>
            <a:off x="430065" y="4221088"/>
            <a:ext cx="7344816"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sz="2000" dirty="0">
                <a:solidFill>
                  <a:srgbClr val="A67F59"/>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FROM</a:t>
            </a:r>
            <a:r>
              <a:rPr lang="en-IN" dirty="0">
                <a:latin typeface="Liberation Mono"/>
              </a:rPr>
              <a:t> check_constraints </a:t>
            </a:r>
            <a:r>
              <a:rPr lang="en-IN" dirty="0">
                <a:solidFill>
                  <a:srgbClr val="0077AA"/>
                </a:solidFill>
                <a:latin typeface="Liberation Mono"/>
              </a:rPr>
              <a:t>WHERE</a:t>
            </a:r>
            <a:r>
              <a:rPr lang="en-IN" dirty="0">
                <a:latin typeface="Liberation Mono"/>
              </a:rPr>
              <a:t> CONSTRAINT_SCHEMA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'z';</a:t>
            </a:r>
          </a:p>
        </p:txBody>
      </p:sp>
    </p:spTree>
    <p:extLst>
      <p:ext uri="{BB962C8B-B14F-4D97-AF65-F5344CB8AC3E}">
        <p14:creationId xmlns:p14="http://schemas.microsoft.com/office/powerpoint/2010/main" val="1535193668"/>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Check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263836254"/>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check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321575" y="5221262"/>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CHECK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1A47A7E4-6467-4917-8D00-2F5C31C7F533}"/>
              </a:ext>
            </a:extLst>
          </p:cNvPr>
          <p:cNvSpPr/>
          <p:nvPr/>
        </p:nvSpPr>
        <p:spPr>
          <a:xfrm>
            <a:off x="407369" y="3140969"/>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4" name="Rectangle 3">
            <a:extLst>
              <a:ext uri="{FF2B5EF4-FFF2-40B4-BE49-F238E27FC236}">
                <a16:creationId xmlns:a16="http://schemas.microsoft.com/office/drawing/2014/main" id="{8365B915-0BE6-4CC7-A577-94F326CFA22C}"/>
              </a:ext>
            </a:extLst>
          </p:cNvPr>
          <p:cNvSpPr/>
          <p:nvPr/>
        </p:nvSpPr>
        <p:spPr>
          <a:xfrm>
            <a:off x="190550" y="1458000"/>
            <a:ext cx="8641754" cy="1015663"/>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870355308"/>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0A39D530-940F-4419-B655-0910E600C441}"/>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ea typeface="Verdana" panose="020B0604030504040204" pitchFamily="34" charset="0"/>
              </a:rPr>
              <a:t>ALTER</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TABLE</a:t>
            </a:r>
            <a:r>
              <a:rPr lang="en-IN" sz="2000" dirty="0">
                <a:latin typeface="Liberation Mono"/>
                <a:ea typeface="Verdana" panose="020B0604030504040204" pitchFamily="34" charset="0"/>
                <a:cs typeface="Arial" panose="020B0604020202020204" pitchFamily="34" charset="0"/>
              </a:rPr>
              <a:t> table_name</a:t>
            </a:r>
          </a:p>
          <a:p>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DROP</a:t>
            </a:r>
            <a:r>
              <a:rPr lang="en-IN" sz="2000" dirty="0">
                <a:latin typeface="Liberation Mono"/>
                <a:ea typeface="Verdana" panose="020B0604030504040204" pitchFamily="34" charset="0"/>
                <a:cs typeface="Arial" panose="020B0604020202020204" pitchFamily="34" charset="0"/>
              </a:rPr>
              <a:t> { </a:t>
            </a:r>
            <a:r>
              <a:rPr lang="en-IN" sz="2000" dirty="0">
                <a:solidFill>
                  <a:srgbClr val="0077AA"/>
                </a:solidFill>
                <a:latin typeface="Liberation Mono"/>
                <a:ea typeface="Verdana" panose="020B0604030504040204" pitchFamily="34" charset="0"/>
              </a:rPr>
              <a:t>CHECK </a:t>
            </a:r>
            <a:r>
              <a:rPr lang="en-IN" sz="2000" dirty="0">
                <a:solidFill>
                  <a:schemeClr val="bg1">
                    <a:lumMod val="50000"/>
                  </a:schemeClr>
                </a:solidFill>
                <a:latin typeface="Liberation Mono"/>
                <a:ea typeface="Verdana" panose="020B0604030504040204" pitchFamily="34" charset="0"/>
                <a:cs typeface="Arial" panose="020B0604020202020204" pitchFamily="34" charset="0"/>
              </a:rPr>
              <a:t>|</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CONSTRAINT</a:t>
            </a:r>
            <a:r>
              <a:rPr lang="en-IN" sz="2000" dirty="0">
                <a:latin typeface="Liberation Mono"/>
                <a:ea typeface="Verdana" panose="020B0604030504040204" pitchFamily="34" charset="0"/>
                <a:cs typeface="Arial" panose="020B0604020202020204" pitchFamily="34" charset="0"/>
              </a:rPr>
              <a:t> } </a:t>
            </a:r>
            <a:r>
              <a:rPr lang="en-IN" sz="2000" i="1" dirty="0">
                <a:latin typeface="Liberation Mono"/>
                <a:ea typeface="Verdana" panose="020B0604030504040204" pitchFamily="34" charset="0"/>
                <a:cs typeface="Arial" panose="020B0604020202020204" pitchFamily="34" charset="0"/>
              </a:rPr>
              <a:t>constraint_name</a:t>
            </a:r>
          </a:p>
        </p:txBody>
      </p:sp>
    </p:spTree>
    <p:extLst>
      <p:ext uri="{BB962C8B-B14F-4D97-AF65-F5344CB8AC3E}">
        <p14:creationId xmlns:p14="http://schemas.microsoft.com/office/powerpoint/2010/main" val="261426395"/>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check key</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CHECK KEY</a:t>
            </a:r>
            <a:r>
              <a:rPr lang="en-IN" dirty="0">
                <a:latin typeface="Arial" panose="020B0604020202020204" pitchFamily="34" charset="0"/>
                <a:cs typeface="Arial" panose="020B0604020202020204" pitchFamily="34" charset="0"/>
              </a:rPr>
              <a:t>.</a:t>
            </a:r>
          </a:p>
        </p:txBody>
      </p:sp>
      <p:sp>
        <p:nvSpPr>
          <p:cNvPr id="7" name="Rectangle 6">
            <a:extLst>
              <a:ext uri="{FF2B5EF4-FFF2-40B4-BE49-F238E27FC236}">
                <a16:creationId xmlns:a16="http://schemas.microsoft.com/office/drawing/2014/main" id="{632310A1-C3ED-4F6A-B1B8-68016A2C05F9}"/>
              </a:ext>
            </a:extLst>
          </p:cNvPr>
          <p:cNvSpPr/>
          <p:nvPr/>
        </p:nvSpPr>
        <p:spPr>
          <a:xfrm>
            <a:off x="6051384" y="3789040"/>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9" name="Rectangle 8">
            <a:extLst>
              <a:ext uri="{FF2B5EF4-FFF2-40B4-BE49-F238E27FC236}">
                <a16:creationId xmlns:a16="http://schemas.microsoft.com/office/drawing/2014/main" id="{FD998E65-2285-4F02-85BD-82F5A3CC8922}"/>
              </a:ext>
            </a:extLst>
          </p:cNvPr>
          <p:cNvSpPr/>
          <p:nvPr/>
        </p:nvSpPr>
        <p:spPr>
          <a:xfrm>
            <a:off x="6051385" y="1358791"/>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8A3C065-AD84-42BE-9055-8E395DF92DD7}"/>
              </a:ext>
            </a:extLst>
          </p:cNvPr>
          <p:cNvSpPr/>
          <p:nvPr/>
        </p:nvSpPr>
        <p:spPr>
          <a:xfrm>
            <a:off x="190551" y="3789040"/>
            <a:ext cx="5157184" cy="129407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cs typeface="Arial" panose="020B0604020202020204" pitchFamily="34" charset="0"/>
              </a:rPr>
              <a:t>chk_ratings;</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rPr>
              <a:t>users_chk_1</a:t>
            </a:r>
            <a:r>
              <a:rPr lang="en-IN" dirty="0">
                <a:latin typeface="Liberation Mono"/>
                <a:cs typeface="Arial" panose="020B0604020202020204" pitchFamily="34" charset="0"/>
              </a:rPr>
              <a:t>;</a:t>
            </a:r>
            <a:endParaRPr lang="en-IN" dirty="0">
              <a:solidFill>
                <a:srgbClr val="0077AA"/>
              </a:solidFill>
              <a:latin typeface="Liberation Mono"/>
            </a:endParaRPr>
          </a:p>
        </p:txBody>
      </p:sp>
      <p:sp>
        <p:nvSpPr>
          <p:cNvPr id="12" name="Rectangle 11">
            <a:extLst>
              <a:ext uri="{FF2B5EF4-FFF2-40B4-BE49-F238E27FC236}">
                <a16:creationId xmlns:a16="http://schemas.microsoft.com/office/drawing/2014/main" id="{A5258822-A1BB-47E1-9F65-8D3C5C66C719}"/>
              </a:ext>
            </a:extLst>
          </p:cNvPr>
          <p:cNvSpPr/>
          <p:nvPr/>
        </p:nvSpPr>
        <p:spPr>
          <a:xfrm>
            <a:off x="119336" y="6093296"/>
            <a:ext cx="11901255"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a:t>
            </a:r>
            <a:r>
              <a:rPr lang="en-IN" sz="1600" dirty="0" err="1">
                <a:latin typeface="Arial" panose="020B0604020202020204" pitchFamily="34" charset="0"/>
                <a:cs typeface="Arial" panose="020B0604020202020204" pitchFamily="34" charset="0"/>
              </a:rPr>
              <a:t>constraint_type</a:t>
            </a:r>
            <a:r>
              <a:rPr lang="en-IN" sz="1600" dirty="0">
                <a:latin typeface="Arial" panose="020B0604020202020204" pitchFamily="34" charset="0"/>
                <a:cs typeface="Arial" panose="020B0604020202020204" pitchFamily="34" charset="0"/>
              </a:rPr>
              <a:t>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 </a:t>
            </a:r>
            <a:r>
              <a:rPr lang="en-IN" sz="1600" dirty="0">
                <a:solidFill>
                  <a:srgbClr val="0077AA"/>
                </a:solidFill>
                <a:latin typeface="Arial" panose="020B0604020202020204" pitchFamily="34" charset="0"/>
                <a:cs typeface="Arial" panose="020B0604020202020204" pitchFamily="34" charset="0"/>
              </a:rPr>
              <a:t>AND</a:t>
            </a:r>
            <a:r>
              <a:rPr lang="en-IN" sz="1600" dirty="0">
                <a:latin typeface="Arial" panose="020B0604020202020204" pitchFamily="34" charset="0"/>
                <a:cs typeface="Arial" panose="020B0604020202020204" pitchFamily="34" charset="0"/>
              </a:rPr>
              <a:t> (table_name LIKE 'U%' </a:t>
            </a:r>
            <a:r>
              <a:rPr lang="en-IN" sz="1600" dirty="0">
                <a:solidFill>
                  <a:srgbClr val="0077AA"/>
                </a:solidFill>
                <a:latin typeface="Arial" panose="020B0604020202020204" pitchFamily="34" charset="0"/>
                <a:cs typeface="Arial" panose="020B0604020202020204" pitchFamily="34" charset="0"/>
              </a:rPr>
              <a:t>OR</a:t>
            </a:r>
            <a:r>
              <a:rPr lang="en-IN" sz="1600" dirty="0">
                <a:latin typeface="Arial" panose="020B0604020202020204" pitchFamily="34" charset="0"/>
                <a:cs typeface="Arial" panose="020B0604020202020204" pitchFamily="34" charset="0"/>
              </a:rPr>
              <a:t> table_name LIKE 'L%');</a:t>
            </a:r>
          </a:p>
        </p:txBody>
      </p:sp>
      <p:sp>
        <p:nvSpPr>
          <p:cNvPr id="2" name="Rectangle 1">
            <a:extLst>
              <a:ext uri="{FF2B5EF4-FFF2-40B4-BE49-F238E27FC236}">
                <a16:creationId xmlns:a16="http://schemas.microsoft.com/office/drawing/2014/main" id="{41E0C6F6-4FAD-4B87-9C96-F94ED3B775D4}"/>
              </a:ext>
            </a:extLst>
          </p:cNvPr>
          <p:cNvSpPr/>
          <p:nvPr/>
        </p:nvSpPr>
        <p:spPr>
          <a:xfrm>
            <a:off x="190550" y="1458000"/>
            <a:ext cx="8641754" cy="707886"/>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 </a:t>
            </a:r>
            <a:r>
              <a:rPr lang="en-IN" sz="2000" dirty="0">
                <a:solidFill>
                  <a:srgbClr val="0077AA"/>
                </a:solidFill>
                <a:latin typeface="Liberation Mono"/>
              </a:rPr>
              <a:t>CHECK </a:t>
            </a:r>
            <a:r>
              <a:rPr lang="en-IN" sz="2000" dirty="0">
                <a:solidFill>
                  <a:schemeClr val="bg1">
                    <a:lumMod val="50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1955904108"/>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59B0522-274A-4471-9276-674C3760AA83}"/>
              </a:ext>
            </a:extLst>
          </p:cNvPr>
          <p:cNvSpPr/>
          <p:nvPr/>
        </p:nvSpPr>
        <p:spPr>
          <a:xfrm>
            <a:off x="407368" y="526097"/>
            <a:ext cx="11521280" cy="646331"/>
          </a:xfrm>
          <a:prstGeom prst="rect">
            <a:avLst/>
          </a:prstGeom>
        </p:spPr>
        <p:txBody>
          <a:bodyPr wrap="square">
            <a:spAutoFit/>
          </a:bodyPr>
          <a:lstStyle/>
          <a:p>
            <a:r>
              <a:rPr lang="en-US" dirty="0"/>
              <a:t>The check constraint defined on a table must refer to only columns in that table. It can not refer to columns in other tables.</a:t>
            </a:r>
          </a:p>
        </p:txBody>
      </p:sp>
      <p:sp>
        <p:nvSpPr>
          <p:cNvPr id="7" name="Rectangle 6">
            <a:extLst>
              <a:ext uri="{FF2B5EF4-FFF2-40B4-BE49-F238E27FC236}">
                <a16:creationId xmlns:a16="http://schemas.microsoft.com/office/drawing/2014/main" id="{C884CE47-3510-46E3-854C-338AD3497CBF}"/>
              </a:ext>
            </a:extLst>
          </p:cNvPr>
          <p:cNvSpPr/>
          <p:nvPr/>
        </p:nvSpPr>
        <p:spPr>
          <a:xfrm>
            <a:off x="478806" y="1334541"/>
            <a:ext cx="9253692"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latin typeface="Liberation Mono"/>
                <a:cs typeface="Arial" pitchFamily="34" charset="0"/>
              </a:rPr>
              <a:t>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 </a:t>
            </a:r>
            <a:r>
              <a:rPr lang="en-US" dirty="0">
                <a:latin typeface="Liberation Mono"/>
                <a:cs typeface="Arial" pitchFamily="34" charset="0"/>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a:t>
            </a:r>
            <a:r>
              <a:rPr lang="en-US" dirty="0">
                <a:solidFill>
                  <a:srgbClr val="C00000"/>
                </a:solidFill>
                <a:latin typeface="Liberation Mono"/>
                <a:cs typeface="Arial" panose="020B0604020202020204" pitchFamily="34" charset="0"/>
              </a:rPr>
              <a:t>PRIMARY</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itchFamily="34" charset="0"/>
              </a:rPr>
              <a:t>(c1),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CREATE</a:t>
            </a:r>
            <a:r>
              <a:rPr lang="en-US" dirty="0">
                <a:latin typeface="Liberation Mono"/>
                <a:cs typeface="Arial" pitchFamily="34" charset="0"/>
              </a:rPr>
              <a:t> </a:t>
            </a:r>
            <a:r>
              <a:rPr lang="en-US" dirty="0">
                <a:solidFill>
                  <a:srgbClr val="0077AA"/>
                </a:solidFill>
                <a:latin typeface="Liberation Mono"/>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US" dirty="0">
                <a:latin typeface="Liberation Mono"/>
                <a:cs typeface="Arial" pitchFamily="34" charset="0"/>
              </a:rPr>
              <a:t> (a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(a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),b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 a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&lt;=</a:t>
            </a:r>
            <a:r>
              <a:rPr lang="en-US" dirty="0">
                <a:latin typeface="Liberation Mono"/>
                <a:cs typeface="Arial" pitchFamily="34" charset="0"/>
              </a:rPr>
              <a:t> </a:t>
            </a:r>
            <a:r>
              <a:rPr lang="en-US" dirty="0">
                <a:solidFill>
                  <a:srgbClr val="990055"/>
                </a:solidFill>
                <a:latin typeface="Liberation Mono"/>
              </a:rPr>
              <a:t>10</a:t>
            </a:r>
            <a:r>
              <a:rPr lang="en-US" dirty="0">
                <a:latin typeface="Liberation Mono"/>
                <a:cs typeface="Arial" pitchFamily="34" charset="0"/>
              </a:rPr>
              <a:t>));</a:t>
            </a:r>
          </a:p>
        </p:txBody>
      </p:sp>
      <p:sp>
        <p:nvSpPr>
          <p:cNvPr id="8" name="Rectangle 7">
            <a:extLst>
              <a:ext uri="{FF2B5EF4-FFF2-40B4-BE49-F238E27FC236}">
                <a16:creationId xmlns:a16="http://schemas.microsoft.com/office/drawing/2014/main" id="{4E579850-14EE-4B20-9702-F3C986761C4F}"/>
              </a:ext>
            </a:extLst>
          </p:cNvPr>
          <p:cNvSpPr/>
          <p:nvPr/>
        </p:nvSpPr>
        <p:spPr>
          <a:xfrm>
            <a:off x="508360" y="3513782"/>
            <a:ext cx="8411524" cy="92333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test </a:t>
            </a:r>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chk_id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(ID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a:t>
            </a:r>
            <a:r>
              <a:rPr lang="en-IN" dirty="0">
                <a:latin typeface="Liberation Mono"/>
                <a:cs typeface="Arial" panose="020B0604020202020204" pitchFamily="34" charset="0"/>
              </a:rPr>
              <a:t>test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DROP</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 chk_id;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D799B93-3361-B539-D764-E99B1A1F9BA3}"/>
              </a:ext>
            </a:extLst>
          </p:cNvPr>
          <p:cNvSpPr txBox="1"/>
          <p:nvPr/>
        </p:nvSpPr>
        <p:spPr>
          <a:xfrm>
            <a:off x="510698" y="4890629"/>
            <a:ext cx="6881446"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payments(</a:t>
            </a:r>
          </a:p>
          <a:p>
            <a:r>
              <a:rPr lang="en-IN" dirty="0">
                <a:latin typeface="Liberation Mono"/>
              </a:rPr>
              <a:t>        paymentID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paymentMode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r>
              <a:rPr lang="en-IN" dirty="0">
                <a:solidFill>
                  <a:srgbClr val="C00000"/>
                </a:solidFill>
                <a:latin typeface="Liberation Mono"/>
                <a:cs typeface="Arial" panose="020B0604020202020204" pitchFamily="34" charset="0"/>
              </a:rPr>
              <a:t>CHECK</a:t>
            </a:r>
            <a:r>
              <a:rPr lang="en-IN" dirty="0">
                <a:latin typeface="Liberation Mono"/>
              </a:rPr>
              <a:t> (paymentMode </a:t>
            </a:r>
            <a:r>
              <a:rPr lang="en-IN" dirty="0">
                <a:solidFill>
                  <a:srgbClr val="00B0F0"/>
                </a:solidFill>
                <a:latin typeface="Liberation Mono"/>
                <a:cs typeface="Arial" panose="020B0604020202020204" pitchFamily="34" charset="0"/>
              </a:rPr>
              <a:t>IN</a:t>
            </a:r>
            <a:r>
              <a:rPr lang="en-IN" dirty="0">
                <a:latin typeface="Liberation Mono"/>
              </a:rPr>
              <a:t> (</a:t>
            </a:r>
            <a:r>
              <a:rPr lang="en-IN" dirty="0">
                <a:solidFill>
                  <a:srgbClr val="00B050"/>
                </a:solidFill>
                <a:latin typeface="Liberation Mono"/>
              </a:rPr>
              <a:t>'Cash'</a:t>
            </a:r>
            <a:r>
              <a:rPr lang="en-IN" dirty="0">
                <a:latin typeface="Liberation Mono"/>
              </a:rPr>
              <a:t>, </a:t>
            </a:r>
            <a:r>
              <a:rPr lang="en-IN" dirty="0">
                <a:solidFill>
                  <a:srgbClr val="00B050"/>
                </a:solidFill>
                <a:latin typeface="Liberation Mono"/>
              </a:rPr>
              <a:t>'Card'</a:t>
            </a:r>
            <a:r>
              <a:rPr lang="en-IN" dirty="0">
                <a:latin typeface="Liberation Mono"/>
              </a:rPr>
              <a:t>, </a:t>
            </a:r>
            <a:r>
              <a:rPr lang="en-IN" dirty="0">
                <a:solidFill>
                  <a:srgbClr val="00B050"/>
                </a:solidFill>
                <a:latin typeface="Liberation Mono"/>
              </a:rPr>
              <a:t>'UPI'</a:t>
            </a:r>
            <a:r>
              <a:rPr lang="en-IN" dirty="0">
                <a:latin typeface="Liberation Mono"/>
              </a:rPr>
              <a:t>, </a:t>
            </a:r>
            <a:r>
              <a:rPr lang="en-IN" dirty="0">
                <a:solidFill>
                  <a:srgbClr val="00B050"/>
                </a:solidFill>
                <a:latin typeface="Liberation Mono"/>
              </a:rPr>
              <a:t>'Insurance'</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957662238"/>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check with (in, like, and between)</a:t>
            </a:r>
          </a:p>
        </p:txBody>
      </p:sp>
      <p:sp>
        <p:nvSpPr>
          <p:cNvPr id="8" name="Rectangle 7">
            <a:extLst>
              <a:ext uri="{FF2B5EF4-FFF2-40B4-BE49-F238E27FC236}">
                <a16:creationId xmlns:a16="http://schemas.microsoft.com/office/drawing/2014/main" id="{39EE2652-EC8A-4B3D-B413-CB5BD593191C}"/>
              </a:ext>
            </a:extLst>
          </p:cNvPr>
          <p:cNvSpPr/>
          <p:nvPr/>
        </p:nvSpPr>
        <p:spPr>
          <a:xfrm>
            <a:off x="290745" y="817897"/>
            <a:ext cx="899043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CHECK</a:t>
            </a:r>
            <a:r>
              <a:rPr lang="en-US" dirty="0">
                <a:latin typeface="Arial" panose="020B0604020202020204" pitchFamily="34" charset="0"/>
                <a:cs typeface="Arial" panose="020B0604020202020204" pitchFamily="34" charset="0"/>
              </a:rPr>
              <a:t> constraint using </a:t>
            </a:r>
            <a:r>
              <a:rPr lang="en-US" dirty="0">
                <a:solidFill>
                  <a:srgbClr val="C00000"/>
                </a:solidFill>
                <a:latin typeface="Arial" panose="020B0604020202020204" pitchFamily="34" charset="0"/>
                <a:cs typeface="Arial" panose="020B0604020202020204" pitchFamily="34" charset="0"/>
              </a:rPr>
              <a:t>IN</a:t>
            </a:r>
            <a:r>
              <a:rPr lang="en-US" dirty="0">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LIKE</a:t>
            </a:r>
            <a:r>
              <a:rPr lang="en-US" dirty="0">
                <a:latin typeface="Arial" panose="020B0604020202020204" pitchFamily="34" charset="0"/>
                <a:cs typeface="Arial" panose="020B0604020202020204" pitchFamily="34" charset="0"/>
              </a:rPr>
              <a:t>, and </a:t>
            </a:r>
            <a:r>
              <a:rPr lang="en-US" dirty="0">
                <a:solidFill>
                  <a:srgbClr val="C00000"/>
                </a:solidFill>
                <a:latin typeface="Arial" panose="020B0604020202020204" pitchFamily="34" charset="0"/>
                <a:cs typeface="Arial" panose="020B0604020202020204" pitchFamily="34" charset="0"/>
              </a:rPr>
              <a:t>BETWEEN</a:t>
            </a:r>
            <a:r>
              <a:rPr lang="en-US" dirty="0">
                <a:latin typeface="Arial" panose="020B0604020202020204" pitchFamily="34" charset="0"/>
                <a:cs typeface="Arial" panose="020B0604020202020204" pitchFamily="34" charset="0"/>
              </a:rPr>
              <a: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B968F81E-A313-4737-B699-5057C629D90C}"/>
              </a:ext>
            </a:extLst>
          </p:cNvPr>
          <p:cNvSpPr/>
          <p:nvPr/>
        </p:nvSpPr>
        <p:spPr>
          <a:xfrm>
            <a:off x="407368" y="1628800"/>
            <a:ext cx="11377264"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solidFill>
                  <a:srgbClr val="00B0F0"/>
                </a:solidFill>
                <a:latin typeface="Liberation Mono"/>
                <a:cs typeface="Arial" panose="020B0604020202020204" pitchFamily="34" charset="0"/>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password)</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('I%') </a:t>
            </a:r>
            <a:r>
              <a:rPr lang="en-IN" dirty="0">
                <a:solidFill>
                  <a:srgbClr val="A67F59"/>
                </a:solidFill>
                <a:latin typeface="Liberation Mono"/>
              </a:rPr>
              <a:t>OR</a:t>
            </a:r>
            <a:r>
              <a:rPr lang="en-IN" dirty="0">
                <a:solidFill>
                  <a:srgbClr val="00B0F0"/>
                </a:solidFill>
                <a:latin typeface="Liberation Mono"/>
                <a:cs typeface="Arial" panose="020B0604020202020204" pitchFamily="34" charset="0"/>
              </a:rPr>
              <a:t> </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('U%')),</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5</a:t>
            </a:r>
            <a:r>
              <a:rPr lang="en-IN" dirty="0">
                <a:solidFill>
                  <a:schemeClr val="bg1">
                    <a:lumMod val="65000"/>
                  </a:schemeClr>
                </a:solidFill>
                <a:latin typeface="Liberation Mono"/>
                <a:cs typeface="Arial" panose="020B0604020202020204" pitchFamily="34" charset="0"/>
              </a:rPr>
              <a:t> </a:t>
            </a:r>
            <a:r>
              <a:rPr lang="en-IN" dirty="0">
                <a:solidFill>
                  <a:srgbClr val="A67F59"/>
                </a:solidFill>
                <a:latin typeface="Liberation Mono"/>
              </a:rPr>
              <a:t>OR</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25</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isActive </a:t>
            </a:r>
            <a:r>
              <a:rPr lang="en-IN" dirty="0">
                <a:solidFill>
                  <a:srgbClr val="834689"/>
                </a:solidFill>
                <a:latin typeface="Liberation Mono"/>
                <a:cs typeface="Arial" panose="020B0604020202020204" pitchFamily="34" charset="0"/>
              </a:rPr>
              <a:t>BOOL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(isActive </a:t>
            </a:r>
            <a:r>
              <a:rPr lang="en-IN" dirty="0">
                <a:solidFill>
                  <a:srgbClr val="00B0F0"/>
                </a:solidFill>
                <a:latin typeface="Liberation Mono"/>
                <a:cs typeface="Arial" panose="020B0604020202020204" pitchFamily="34" charset="0"/>
              </a:rPr>
              <a:t>IN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Tree>
    <p:extLst>
      <p:ext uri="{BB962C8B-B14F-4D97-AF65-F5344CB8AC3E}">
        <p14:creationId xmlns:p14="http://schemas.microsoft.com/office/powerpoint/2010/main" val="1807104090"/>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alter table</a:t>
            </a:r>
          </a:p>
        </p:txBody>
      </p:sp>
      <p:sp>
        <p:nvSpPr>
          <p:cNvPr id="3" name="Rectangle 2">
            <a:extLst>
              <a:ext uri="{FF2B5EF4-FFF2-40B4-BE49-F238E27FC236}">
                <a16:creationId xmlns:a16="http://schemas.microsoft.com/office/drawing/2014/main" id="{0A13198E-01DA-4EAE-A11D-857D7465964F}"/>
              </a:ext>
            </a:extLst>
          </p:cNvPr>
          <p:cNvSpPr/>
          <p:nvPr/>
        </p:nvSpPr>
        <p:spPr>
          <a:xfrm>
            <a:off x="3341297" y="3228945"/>
            <a:ext cx="5509406"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ALTER TABLE changes the structure of a table. </a:t>
            </a:r>
          </a:p>
        </p:txBody>
      </p:sp>
      <p:sp>
        <p:nvSpPr>
          <p:cNvPr id="4" name="Rectangle 3">
            <a:extLst>
              <a:ext uri="{FF2B5EF4-FFF2-40B4-BE49-F238E27FC236}">
                <a16:creationId xmlns:a16="http://schemas.microsoft.com/office/drawing/2014/main" id="{ACE9ED2A-BDA2-4AAE-A4D0-D7903A0F0388}"/>
              </a:ext>
            </a:extLst>
          </p:cNvPr>
          <p:cNvSpPr/>
          <p:nvPr/>
        </p:nvSpPr>
        <p:spPr>
          <a:xfrm>
            <a:off x="262558" y="3933056"/>
            <a:ext cx="11594082" cy="258532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add or delete columns,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create or destroy indexes,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change the type of existing columns, or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rename columns or the table itself.</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change the position of columns in table structure. </a:t>
            </a:r>
            <a:r>
              <a:rPr lang="en-US" dirty="0">
                <a:solidFill>
                  <a:srgbClr val="00B050"/>
                </a:solidFill>
                <a:latin typeface="Arial" panose="020B0604020202020204" pitchFamily="34" charset="0"/>
                <a:cs typeface="Arial" panose="020B0604020202020204" pitchFamily="34" charset="0"/>
              </a:rPr>
              <a:t>If not, then what? </a:t>
            </a:r>
            <a:r>
              <a:rPr lang="en-US">
                <a:solidFill>
                  <a:srgbClr val="00B050"/>
                </a:solidFill>
                <a:latin typeface="Arial" panose="020B0604020202020204" pitchFamily="34" charset="0"/>
                <a:cs typeface="Arial" panose="020B0604020202020204" pitchFamily="34" charset="0"/>
              </a:rPr>
              <a:t>create a new </a:t>
            </a:r>
            <a:r>
              <a:rPr lang="en-US" dirty="0">
                <a:solidFill>
                  <a:srgbClr val="00B050"/>
                </a:solidFill>
                <a:latin typeface="Arial" panose="020B0604020202020204" pitchFamily="34" charset="0"/>
                <a:cs typeface="Arial" panose="020B0604020202020204" pitchFamily="34" charset="0"/>
              </a:rPr>
              <a:t>table with SELECT statement.</a:t>
            </a:r>
            <a:endParaRPr lang="en-IN" dirty="0">
              <a:solidFill>
                <a:srgbClr val="00B05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15284725"/>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F5A735EB-AE7A-4204-8BE6-AB0DCC9E534C}"/>
              </a:ext>
            </a:extLst>
          </p:cNvPr>
          <p:cNvSpPr/>
          <p:nvPr/>
        </p:nvSpPr>
        <p:spPr>
          <a:xfrm>
            <a:off x="190550" y="188640"/>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8" name="Rectangle 7">
            <a:extLst>
              <a:ext uri="{FF2B5EF4-FFF2-40B4-BE49-F238E27FC236}">
                <a16:creationId xmlns:a16="http://schemas.microsoft.com/office/drawing/2014/main" id="{BC3338FF-4D2D-45F0-A977-FB66A4C07D53}"/>
              </a:ext>
            </a:extLst>
          </p:cNvPr>
          <p:cNvSpPr/>
          <p:nvPr/>
        </p:nvSpPr>
        <p:spPr>
          <a:xfrm>
            <a:off x="190550" y="927884"/>
            <a:ext cx="11593288" cy="5632311"/>
          </a:xfrm>
          <a:prstGeom prst="rect">
            <a:avLst/>
          </a:prstGeom>
        </p:spPr>
        <p:txBody>
          <a:bodyPr wrap="square">
            <a:spAutoFit/>
          </a:bodyPr>
          <a:lstStyle/>
          <a:p>
            <a:r>
              <a:rPr lang="en-IN" sz="2000" dirty="0">
                <a:solidFill>
                  <a:srgbClr val="0077AA"/>
                </a:solidFill>
                <a:latin typeface="Liberation Mono"/>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TABLE</a:t>
            </a:r>
            <a:r>
              <a:rPr lang="en-IN" sz="2000" dirty="0">
                <a:solidFill>
                  <a:schemeClr val="tx1">
                    <a:lumMod val="95000"/>
                    <a:lumOff val="5000"/>
                  </a:schemeClr>
                </a:solidFill>
                <a:latin typeface="Liberation Mono"/>
                <a:cs typeface="Arial" panose="020B0604020202020204" pitchFamily="34" charset="0"/>
              </a:rPr>
              <a:t> tbl_name </a:t>
            </a:r>
          </a:p>
          <a:p>
            <a:endParaRPr lang="en-IN" sz="10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t>
            </a:r>
            <a:r>
              <a:rPr lang="en-IN" sz="2000" i="1" dirty="0">
                <a:solidFill>
                  <a:schemeClr val="accent4">
                    <a:lumMod val="50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accent4">
                    <a:lumMod val="50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rPr>
              <a:t>. . .</a:t>
            </a:r>
            <a:endParaRPr lang="en-IN" sz="2000" dirty="0">
              <a:solidFill>
                <a:schemeClr val="bg1">
                  <a:lumMod val="50000"/>
                </a:schemeClr>
              </a:solidFill>
              <a:latin typeface="Liberation Mono"/>
              <a:cs typeface="Arial" panose="020B0604020202020204" pitchFamily="34" charset="0"/>
            </a:endParaRPr>
          </a:p>
          <a:p>
            <a:endParaRPr lang="en-IN" sz="10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[index_name] (</a:t>
            </a:r>
            <a:r>
              <a:rPr lang="en-IN" sz="2000" i="1" dirty="0">
                <a:solidFill>
                  <a:srgbClr val="000000"/>
                </a:solidFill>
                <a:latin typeface="Liberation Mono"/>
              </a:rPr>
              <a:t>index_col_name</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 </a:t>
            </a:r>
            <a:r>
              <a:rPr lang="en-IN" sz="2000" i="1" dirty="0">
                <a:solidFill>
                  <a:srgbClr val="000000"/>
                </a:solidFill>
                <a:latin typeface="Liberation Mono"/>
              </a:rPr>
              <a:t>symbol </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UNIQUE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i="1" dirty="0">
                <a:solidFill>
                  <a:srgbClr val="000000"/>
                </a:solidFill>
                <a:latin typeface="Liberation Mono"/>
              </a:rPr>
              <a:t> </a:t>
            </a:r>
            <a:r>
              <a:rPr lang="en-IN" sz="2000" dirty="0">
                <a:solidFill>
                  <a:srgbClr val="0077AA"/>
                </a:solidFill>
                <a:latin typeface="Liberation Mono"/>
              </a:rPr>
              <a:t>KEY</a:t>
            </a:r>
            <a:r>
              <a:rPr lang="en-IN" sz="2000" i="1" dirty="0">
                <a:solidFill>
                  <a:srgbClr val="000000"/>
                </a:solidFill>
                <a:latin typeface="Liberation Mono"/>
              </a:rPr>
              <a:t> reference_definition</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CHANGE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old_col_name new_col_name </a:t>
            </a:r>
            <a:r>
              <a:rPr lang="en-IN" sz="2000" dirty="0">
                <a:solidFill>
                  <a:schemeClr val="tx1">
                    <a:lumMod val="95000"/>
                    <a:lumOff val="5000"/>
                  </a:schemeClr>
                </a:solidFill>
                <a:latin typeface="Liberation Mono"/>
                <a:cs typeface="Arial" panose="020B0604020202020204" pitchFamily="34" charset="0"/>
              </a:rPr>
              <a:t>column_definition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MODIFY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 </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a:t>
            </a:r>
            <a:r>
              <a:rPr lang="en-IN" sz="2000" dirty="0">
                <a:solidFill>
                  <a:schemeClr val="tx1">
                    <a:lumMod val="95000"/>
                    <a:lumOff val="5000"/>
                  </a:schemeClr>
                </a:solidFill>
                <a:latin typeface="Liberation Mono"/>
                <a:cs typeface="Arial" panose="020B0604020202020204" pitchFamily="34" charset="0"/>
              </a:rPr>
              <a:t>_</a:t>
            </a:r>
            <a:r>
              <a:rPr lang="en-IN" sz="2000" i="1" dirty="0">
                <a:solidFill>
                  <a:srgbClr val="000000"/>
                </a:solidFill>
                <a:latin typeface="Liberation Mono"/>
              </a:rPr>
              <a:t>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index_name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fk_symbol</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TO</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AS</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new_tbl_name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 COLUMN </a:t>
            </a:r>
            <a:r>
              <a:rPr lang="en-US" sz="2000" b="0" i="1" dirty="0">
                <a:solidFill>
                  <a:srgbClr val="000000"/>
                </a:solidFill>
                <a:effectLst/>
                <a:latin typeface="Liberation Mono"/>
              </a:rPr>
              <a:t>old_col_name</a:t>
            </a:r>
            <a:r>
              <a:rPr lang="en-US" sz="2000" b="0" i="0" dirty="0">
                <a:solidFill>
                  <a:srgbClr val="000000"/>
                </a:solidFill>
                <a:effectLst/>
                <a:latin typeface="Liberation Mono"/>
              </a:rPr>
              <a:t> </a:t>
            </a:r>
            <a:r>
              <a:rPr lang="en-US" sz="2000" b="0" i="0" dirty="0">
                <a:solidFill>
                  <a:srgbClr val="0077AA"/>
                </a:solidFill>
                <a:effectLst/>
                <a:latin typeface="Liberation Mono"/>
              </a:rPr>
              <a:t>TO</a:t>
            </a:r>
            <a:r>
              <a:rPr lang="en-US" sz="2000" b="0" i="0" dirty="0">
                <a:solidFill>
                  <a:srgbClr val="000000"/>
                </a:solidFill>
                <a:effectLst/>
                <a:latin typeface="Liberation Mono"/>
              </a:rPr>
              <a:t> </a:t>
            </a:r>
            <a:r>
              <a:rPr lang="en-US" sz="2000" b="0" i="1" dirty="0">
                <a:solidFill>
                  <a:srgbClr val="000000"/>
                </a:solidFill>
                <a:effectLst/>
                <a:latin typeface="Liberation Mono"/>
              </a:rPr>
              <a:t>new_col_name</a:t>
            </a:r>
            <a:endParaRPr lang="en-IN" sz="2000" i="1" dirty="0">
              <a:solidFill>
                <a:srgbClr val="000000"/>
              </a:solidFill>
              <a:latin typeface="Liberation Mono"/>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b="0" i="0" dirty="0">
                <a:solidFill>
                  <a:srgbClr val="0077AA"/>
                </a:solidFill>
                <a:effectLst/>
                <a:latin typeface="Liberation Mono"/>
              </a:rPr>
              <a:t>ALTER</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0" dirty="0">
                <a:solidFill>
                  <a:srgbClr val="0077AA"/>
                </a:solidFill>
                <a:effectLst/>
                <a:latin typeface="Liberation Mono"/>
              </a:rPr>
              <a:t>COLUMN</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 </a:t>
            </a:r>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DEFAULT</a:t>
            </a:r>
            <a:r>
              <a:rPr lang="en-IN" sz="2000" b="0" i="0" dirty="0">
                <a:solidFill>
                  <a:srgbClr val="000000"/>
                </a:solidFill>
                <a:effectLst/>
                <a:latin typeface="Liberation Mono"/>
              </a:rPr>
              <a:t> {</a:t>
            </a:r>
            <a:r>
              <a:rPr lang="en-IN" sz="2000" b="0" i="1" dirty="0">
                <a:solidFill>
                  <a:srgbClr val="000000"/>
                </a:solidFill>
                <a:effectLst/>
                <a:latin typeface="Liberation Mono"/>
              </a:rPr>
              <a:t>literal</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1" dirty="0">
                <a:solidFill>
                  <a:srgbClr val="000000"/>
                </a:solidFill>
                <a:effectLst/>
                <a:latin typeface="Liberation Mono"/>
              </a:rPr>
              <a:t>expr</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DROP</a:t>
            </a:r>
            <a:r>
              <a:rPr lang="en-IN" sz="2000" dirty="0">
                <a:solidFill>
                  <a:srgbClr val="000000"/>
                </a:solidFill>
                <a:latin typeface="Liberation Mono"/>
              </a:rPr>
              <a:t> </a:t>
            </a:r>
            <a:r>
              <a:rPr lang="en-IN" sz="2000" dirty="0">
                <a:solidFill>
                  <a:srgbClr val="0077AA"/>
                </a:solidFill>
                <a:latin typeface="Liberation Mono"/>
              </a:rPr>
              <a:t>DEFAULT </a:t>
            </a:r>
            <a:r>
              <a:rPr lang="en-IN" sz="2000" dirty="0">
                <a:solidFill>
                  <a:srgbClr val="000000"/>
                </a:solidFill>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SET</a:t>
            </a:r>
            <a:r>
              <a:rPr lang="en-IN" sz="2000" b="0" i="0" dirty="0">
                <a:solidFill>
                  <a:srgbClr val="000000"/>
                </a:solidFill>
                <a:effectLst/>
                <a:latin typeface="Liberation Mono"/>
              </a:rPr>
              <a:t> { </a:t>
            </a:r>
            <a:r>
              <a:rPr lang="en-IN" sz="2000" b="0" i="0" dirty="0">
                <a:solidFill>
                  <a:srgbClr val="0077AA"/>
                </a:solidFill>
                <a:effectLst/>
                <a:latin typeface="Liberation Mono"/>
              </a:rPr>
              <a:t>VISIBLE</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INVISIBLE </a:t>
            </a:r>
            <a:r>
              <a:rPr lang="en-IN" sz="2000" b="0" i="0" dirty="0">
                <a:solidFill>
                  <a:srgbClr val="000000"/>
                </a:solidFill>
                <a:effectLst/>
                <a:latin typeface="Liberation Mono"/>
              </a:rPr>
              <a:t>}</a:t>
            </a:r>
            <a:endParaRPr lang="en-IN" sz="2000" dirty="0">
              <a:latin typeface="Liberation Mono"/>
            </a:endParaRPr>
          </a:p>
        </p:txBody>
      </p:sp>
    </p:spTree>
    <p:extLst>
      <p:ext uri="{BB962C8B-B14F-4D97-AF65-F5344CB8AC3E}">
        <p14:creationId xmlns:p14="http://schemas.microsoft.com/office/powerpoint/2010/main" val="3210344797"/>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332656"/>
            <a:ext cx="11521280" cy="276998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Change Columns</a:t>
            </a:r>
            <a:r>
              <a:rPr lang="en-IN" dirty="0">
                <a:latin typeface="Arial" panose="020B0604020202020204" pitchFamily="34" charset="0"/>
                <a:cs typeface="Arial" panose="020B0604020202020204" pitchFamily="34" charset="0"/>
              </a:rPr>
              <a:t> :- You can rename a column using a CHANGE old_col_name new_col_name column_definition clause. To do so, specify the old and new column names and the definition that the column currently has.</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Modify Columns :- </a:t>
            </a:r>
            <a:r>
              <a:rPr lang="en-IN" dirty="0">
                <a:latin typeface="Arial" panose="020B0604020202020204" pitchFamily="34" charset="0"/>
                <a:cs typeface="Arial" panose="020B0604020202020204" pitchFamily="34" charset="0"/>
              </a:rPr>
              <a:t>You can also use MODIFY to change a column's type without renaming it.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Dropping Columns :- </a:t>
            </a:r>
            <a:r>
              <a:rPr lang="en-IN" dirty="0">
                <a:latin typeface="Arial" panose="020B0604020202020204" pitchFamily="34" charset="0"/>
                <a:cs typeface="Arial" panose="020B0604020202020204" pitchFamily="34" charset="0"/>
              </a:rPr>
              <a:t>If a table contains only one column, the column cannot be dropped. If columns are dropped from a table, the columns are also removed from any index of which they are a part. If all columns that make up an index are dropped, the index is dropped as well.</a:t>
            </a:r>
          </a:p>
        </p:txBody>
      </p:sp>
      <p:sp>
        <p:nvSpPr>
          <p:cNvPr id="2" name="Rectangle 1"/>
          <p:cNvSpPr/>
          <p:nvPr/>
        </p:nvSpPr>
        <p:spPr>
          <a:xfrm>
            <a:off x="335360" y="3394806"/>
            <a:ext cx="10729192" cy="113877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convert a table from one storage engine to another, use an ALTER TABLE statement that indicates the new engine:</a:t>
            </a:r>
          </a:p>
        </p:txBody>
      </p:sp>
      <p:sp>
        <p:nvSpPr>
          <p:cNvPr id="3" name="Rectangle 2"/>
          <p:cNvSpPr/>
          <p:nvPr/>
        </p:nvSpPr>
        <p:spPr>
          <a:xfrm>
            <a:off x="358106" y="4725144"/>
            <a:ext cx="11498534" cy="1295868"/>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i="1" dirty="0">
                <a:latin typeface="Liberation Mono"/>
                <a:cs typeface="Arial" panose="020B0604020202020204" pitchFamily="34" charset="0"/>
              </a:rPr>
              <a:t>tbl_name</a:t>
            </a:r>
            <a:r>
              <a:rPr lang="en-IN" dirty="0">
                <a:latin typeface="Liberation Mono"/>
                <a:cs typeface="Arial" panose="020B0604020202020204" pitchFamily="34" charset="0"/>
              </a:rPr>
              <a:t> </a:t>
            </a:r>
            <a:r>
              <a:rPr lang="en-IN" dirty="0">
                <a:solidFill>
                  <a:srgbClr val="0077AA"/>
                </a:solidFill>
                <a:latin typeface="Liberation Mono"/>
              </a:rPr>
              <a:t>ENGINE </a:t>
            </a:r>
            <a:r>
              <a:rPr lang="en-IN" dirty="0">
                <a:solidFill>
                  <a:srgbClr val="A67F59"/>
                </a:solidFill>
                <a:latin typeface="Liberation Mono"/>
              </a:rPr>
              <a:t>=</a:t>
            </a:r>
            <a:r>
              <a:rPr lang="en-IN" dirty="0">
                <a:solidFill>
                  <a:srgbClr val="0077AA"/>
                </a:solidFill>
                <a:latin typeface="Liberation Mono"/>
              </a:rPr>
              <a:t> InnoDB</a:t>
            </a:r>
            <a:r>
              <a:rPr lang="en-IN" dirty="0">
                <a:latin typeface="Liberation Mono"/>
              </a:rPr>
              <a:t>;</a:t>
            </a: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ADD</a:t>
            </a:r>
            <a:r>
              <a:rPr lang="en-IN" dirty="0">
                <a:latin typeface="Liberation Mono"/>
              </a:rPr>
              <a:t> </a:t>
            </a:r>
            <a:r>
              <a:rPr lang="en-IN" dirty="0">
                <a:latin typeface="Liberation Mono"/>
                <a:ea typeface="Times New Roman" panose="02020603050405020304" pitchFamily="18" charset="0"/>
              </a:rPr>
              <a:t>col1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solidFill>
                <a:srgbClr val="834689"/>
              </a:solidFill>
              <a:latin typeface="Liberation Mono"/>
              <a:cs typeface="Arial" panose="020B0604020202020204" pitchFamily="34" charset="0"/>
            </a:endParaRP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col3</a:t>
            </a:r>
            <a:r>
              <a:rPr lang="en-IN" dirty="0">
                <a:solidFill>
                  <a:srgbClr val="DD4A68"/>
                </a:solidFill>
                <a:latin typeface="Liberation Mono"/>
                <a:ea typeface="Times New Roman" panose="02020603050405020304" pitchFamily="18" charset="0"/>
              </a:rPr>
              <a:t>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4072977255"/>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add column </a:t>
            </a:r>
          </a:p>
        </p:txBody>
      </p:sp>
      <p:sp>
        <p:nvSpPr>
          <p:cNvPr id="7" name="Rectangle 6">
            <a:extLst>
              <a:ext uri="{FF2B5EF4-FFF2-40B4-BE49-F238E27FC236}">
                <a16:creationId xmlns:a16="http://schemas.microsoft.com/office/drawing/2014/main" id="{E4F8498B-A621-46FB-9E14-2D486B1505D4}"/>
              </a:ext>
            </a:extLst>
          </p:cNvPr>
          <p:cNvSpPr/>
          <p:nvPr/>
        </p:nvSpPr>
        <p:spPr>
          <a:xfrm>
            <a:off x="191812" y="3906922"/>
            <a:ext cx="10008644" cy="156966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 ]</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p:txBody>
      </p:sp>
    </p:spTree>
    <p:extLst>
      <p:ext uri="{BB962C8B-B14F-4D97-AF65-F5344CB8AC3E}">
        <p14:creationId xmlns:p14="http://schemas.microsoft.com/office/powerpoint/2010/main" val="3751095417"/>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add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121629" y="404664"/>
            <a:ext cx="4104456"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5719541" y="702277"/>
            <a:ext cx="5614892"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first</a:t>
            </a:r>
            <a:r>
              <a:rPr lang="en-IN" dirty="0">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pic>
        <p:nvPicPr>
          <p:cNvPr id="11" name="Picture 10">
            <a:extLst>
              <a:ext uri="{FF2B5EF4-FFF2-40B4-BE49-F238E27FC236}">
                <a16:creationId xmlns:a16="http://schemas.microsoft.com/office/drawing/2014/main" id="{6F5DDCE9-A337-467E-86AA-227E3F74F068}"/>
              </a:ext>
            </a:extLst>
          </p:cNvPr>
          <p:cNvPicPr>
            <a:picLocks noChangeAspect="1"/>
          </p:cNvPicPr>
          <p:nvPr/>
        </p:nvPicPr>
        <p:blipFill>
          <a:blip r:embed="rId2" cstate="print"/>
          <a:stretch>
            <a:fillRect/>
          </a:stretch>
        </p:blipFill>
        <p:spPr>
          <a:xfrm>
            <a:off x="140436" y="1886808"/>
            <a:ext cx="5163476" cy="1243301"/>
          </a:xfrm>
          <a:prstGeom prst="rect">
            <a:avLst/>
          </a:prstGeom>
        </p:spPr>
      </p:pic>
      <p:sp>
        <p:nvSpPr>
          <p:cNvPr id="22" name="Rectangle 21">
            <a:extLst>
              <a:ext uri="{FF2B5EF4-FFF2-40B4-BE49-F238E27FC236}">
                <a16:creationId xmlns:a16="http://schemas.microsoft.com/office/drawing/2014/main" id="{423CE2D1-04FE-47E8-A991-4A6450E30CD3}"/>
              </a:ext>
            </a:extLst>
          </p:cNvPr>
          <p:cNvSpPr/>
          <p:nvPr/>
        </p:nvSpPr>
        <p:spPr>
          <a:xfrm>
            <a:off x="121629" y="3297458"/>
            <a:ext cx="5470315"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114</a:t>
            </a:r>
            <a:r>
              <a:rPr lang="en-IN" dirty="0">
                <a:latin typeface="Liberation Mono"/>
                <a:cs typeface="Arial" panose="020B0604020202020204" pitchFamily="34" charset="0"/>
              </a:rPr>
              <a:t>, </a:t>
            </a:r>
            <a:r>
              <a:rPr lang="en-IN" dirty="0">
                <a:solidFill>
                  <a:srgbClr val="990055"/>
                </a:solidFill>
                <a:latin typeface="Liberation Mono"/>
              </a:rPr>
              <a:t>2005</a:t>
            </a:r>
            <a:r>
              <a:rPr lang="en-IN" dirty="0">
                <a:latin typeface="Liberation Mono"/>
                <a:cs typeface="Arial" panose="020B0604020202020204" pitchFamily="34" charset="0"/>
              </a:rPr>
              <a:t>, 'Toyota');</a:t>
            </a:r>
          </a:p>
        </p:txBody>
      </p:sp>
      <p:pic>
        <p:nvPicPr>
          <p:cNvPr id="23" name="Picture 22">
            <a:extLst>
              <a:ext uri="{FF2B5EF4-FFF2-40B4-BE49-F238E27FC236}">
                <a16:creationId xmlns:a16="http://schemas.microsoft.com/office/drawing/2014/main" id="{F8E6C826-5389-4897-9BF7-D9C740A29E69}"/>
              </a:ext>
            </a:extLst>
          </p:cNvPr>
          <p:cNvPicPr>
            <a:picLocks noChangeAspect="1"/>
          </p:cNvPicPr>
          <p:nvPr/>
        </p:nvPicPr>
        <p:blipFill>
          <a:blip r:embed="rId3" cstate="print"/>
          <a:stretch>
            <a:fillRect/>
          </a:stretch>
        </p:blipFill>
        <p:spPr>
          <a:xfrm>
            <a:off x="5719541" y="2235548"/>
            <a:ext cx="5837023" cy="1980131"/>
          </a:xfrm>
          <a:prstGeom prst="rect">
            <a:avLst/>
          </a:prstGeom>
        </p:spPr>
      </p:pic>
      <p:pic>
        <p:nvPicPr>
          <p:cNvPr id="2" name="Picture 1">
            <a:extLst>
              <a:ext uri="{FF2B5EF4-FFF2-40B4-BE49-F238E27FC236}">
                <a16:creationId xmlns:a16="http://schemas.microsoft.com/office/drawing/2014/main" id="{12069576-892D-4AB4-8C8D-597DB382DBB1}"/>
              </a:ext>
            </a:extLst>
          </p:cNvPr>
          <p:cNvPicPr>
            <a:picLocks noChangeAspect="1"/>
          </p:cNvPicPr>
          <p:nvPr/>
        </p:nvPicPr>
        <p:blipFill>
          <a:blip r:embed="rId4"/>
          <a:stretch>
            <a:fillRect/>
          </a:stretch>
        </p:blipFill>
        <p:spPr>
          <a:xfrm>
            <a:off x="5719540" y="4678396"/>
            <a:ext cx="5837023" cy="1980131"/>
          </a:xfrm>
          <a:prstGeom prst="rect">
            <a:avLst/>
          </a:prstGeom>
        </p:spPr>
      </p:pic>
      <p:sp>
        <p:nvSpPr>
          <p:cNvPr id="5" name="Rectangle 4">
            <a:extLst>
              <a:ext uri="{FF2B5EF4-FFF2-40B4-BE49-F238E27FC236}">
                <a16:creationId xmlns:a16="http://schemas.microsoft.com/office/drawing/2014/main" id="{93B36CBE-D3C5-4187-8225-4E8ED4E49DC1}"/>
              </a:ext>
            </a:extLst>
          </p:cNvPr>
          <p:cNvSpPr/>
          <p:nvPr/>
        </p:nvSpPr>
        <p:spPr>
          <a:xfrm>
            <a:off x="5719541" y="3446639"/>
            <a:ext cx="5837023" cy="71516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AEC72E33-C85B-4CC7-A4A8-0154FF625758}"/>
              </a:ext>
            </a:extLst>
          </p:cNvPr>
          <p:cNvSpPr/>
          <p:nvPr/>
        </p:nvSpPr>
        <p:spPr>
          <a:xfrm>
            <a:off x="5719541" y="2526041"/>
            <a:ext cx="5837023" cy="25448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682744165"/>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modify column </a:t>
            </a:r>
          </a:p>
        </p:txBody>
      </p:sp>
      <p:sp>
        <p:nvSpPr>
          <p:cNvPr id="7" name="Rectangle 6">
            <a:extLst>
              <a:ext uri="{FF2B5EF4-FFF2-40B4-BE49-F238E27FC236}">
                <a16:creationId xmlns:a16="http://schemas.microsoft.com/office/drawing/2014/main" id="{3DD6E901-4817-47BA-8D2A-EC55F41E7206}"/>
              </a:ext>
            </a:extLst>
          </p:cNvPr>
          <p:cNvSpPr/>
          <p:nvPr/>
        </p:nvSpPr>
        <p:spPr>
          <a:xfrm>
            <a:off x="191812" y="3895888"/>
            <a:ext cx="10008644"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MODIFY</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a:t>
            </a:r>
          </a:p>
        </p:txBody>
      </p:sp>
    </p:spTree>
    <p:extLst>
      <p:ext uri="{BB962C8B-B14F-4D97-AF65-F5344CB8AC3E}">
        <p14:creationId xmlns:p14="http://schemas.microsoft.com/office/powerpoint/2010/main" val="2572094155"/>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modify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291661" y="116632"/>
            <a:ext cx="4104456"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endParaRPr lang="en-US" dirty="0">
              <a:latin typeface="Liberation Mono"/>
              <a:cs typeface="Arial" panose="020B0604020202020204" pitchFamily="34" charset="0"/>
            </a:endParaRP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68F718D7-3FDC-412A-B390-B6F4313E9964}"/>
              </a:ext>
            </a:extLst>
          </p:cNvPr>
          <p:cNvSpPr/>
          <p:nvPr/>
        </p:nvSpPr>
        <p:spPr>
          <a:xfrm>
            <a:off x="6092952" y="620689"/>
            <a:ext cx="4752528"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pic>
        <p:nvPicPr>
          <p:cNvPr id="5" name="Picture 4">
            <a:extLst>
              <a:ext uri="{FF2B5EF4-FFF2-40B4-BE49-F238E27FC236}">
                <a16:creationId xmlns:a16="http://schemas.microsoft.com/office/drawing/2014/main" id="{336D0B7D-7744-4271-8EF0-3B9347550C97}"/>
              </a:ext>
            </a:extLst>
          </p:cNvPr>
          <p:cNvPicPr>
            <a:picLocks noChangeAspect="1"/>
          </p:cNvPicPr>
          <p:nvPr/>
        </p:nvPicPr>
        <p:blipFill>
          <a:blip r:embed="rId2" cstate="print"/>
          <a:stretch>
            <a:fillRect/>
          </a:stretch>
        </p:blipFill>
        <p:spPr>
          <a:xfrm>
            <a:off x="124311" y="2410889"/>
            <a:ext cx="5531754" cy="1942540"/>
          </a:xfrm>
          <a:prstGeom prst="rect">
            <a:avLst/>
          </a:prstGeom>
        </p:spPr>
      </p:pic>
      <p:pic>
        <p:nvPicPr>
          <p:cNvPr id="7" name="Picture 6">
            <a:extLst>
              <a:ext uri="{FF2B5EF4-FFF2-40B4-BE49-F238E27FC236}">
                <a16:creationId xmlns:a16="http://schemas.microsoft.com/office/drawing/2014/main" id="{1510B635-7B34-40C6-9858-8BFD3853945A}"/>
              </a:ext>
            </a:extLst>
          </p:cNvPr>
          <p:cNvPicPr>
            <a:picLocks noChangeAspect="1"/>
          </p:cNvPicPr>
          <p:nvPr/>
        </p:nvPicPr>
        <p:blipFill>
          <a:blip r:embed="rId3" cstate="print"/>
          <a:stretch>
            <a:fillRect/>
          </a:stretch>
        </p:blipFill>
        <p:spPr>
          <a:xfrm>
            <a:off x="5883228" y="2348880"/>
            <a:ext cx="5773502" cy="2052861"/>
          </a:xfrm>
          <a:prstGeom prst="rect">
            <a:avLst/>
          </a:prstGeom>
        </p:spPr>
      </p:pic>
      <p:sp>
        <p:nvSpPr>
          <p:cNvPr id="2" name="Rectangle 1">
            <a:extLst>
              <a:ext uri="{FF2B5EF4-FFF2-40B4-BE49-F238E27FC236}">
                <a16:creationId xmlns:a16="http://schemas.microsoft.com/office/drawing/2014/main" id="{D75D8687-FA3F-4EE2-8D68-4908FC546C75}"/>
              </a:ext>
            </a:extLst>
          </p:cNvPr>
          <p:cNvSpPr/>
          <p:nvPr/>
        </p:nvSpPr>
        <p:spPr>
          <a:xfrm>
            <a:off x="114170" y="4509120"/>
            <a:ext cx="11742471"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 'A1', 'silver', '</a:t>
            </a:r>
            <a:r>
              <a:rPr lang="en-US" dirty="0">
                <a:latin typeface="Liberation Mono"/>
                <a:cs typeface="Arial" panose="020B0604020202020204" pitchFamily="34" charset="0"/>
              </a:rPr>
              <a:t> Honda was the first Japanese automobile manufacturer to release a dedicated luxury brand, Acura, in </a:t>
            </a:r>
            <a:r>
              <a:rPr lang="en-US" dirty="0">
                <a:solidFill>
                  <a:srgbClr val="990055"/>
                </a:solidFill>
                <a:latin typeface="Liberation Mono"/>
              </a:rPr>
              <a:t>1986</a:t>
            </a:r>
            <a:r>
              <a:rPr lang="en-US" dirty="0">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 'AC1', 'white', '</a:t>
            </a:r>
            <a:r>
              <a:rPr lang="en-US" dirty="0">
                <a:latin typeface="Liberation Mono"/>
                <a:cs typeface="Arial" panose="020B0604020202020204" pitchFamily="34" charset="0"/>
              </a:rPr>
              <a:t> Hyundai operates the world's largest integrated automobile manufacturing facility in Ulsan, South Korea which has an annual production capacity of 1.6 million units.</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 'D2', 'black', '</a:t>
            </a:r>
            <a:r>
              <a:rPr lang="en-US" dirty="0">
                <a:latin typeface="Liberation Mono"/>
                <a:cs typeface="Arial" panose="020B0604020202020204" pitchFamily="34" charset="0"/>
              </a:rPr>
              <a:t> Fiat Chrysler Automobiles has owned Jeep since 2014. Previous owners include the Kaiser Jeep Corporation and American Motors Corporation. Most Jeeps are American-made, except for a select few models. The Toledo Assembly Complex in Ohio manufactures the Jeep Wrangler.</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5D1ECD4E-F3CB-4EB9-B5CF-F73961B96C72}"/>
              </a:ext>
            </a:extLst>
          </p:cNvPr>
          <p:cNvSpPr/>
          <p:nvPr/>
        </p:nvSpPr>
        <p:spPr>
          <a:xfrm>
            <a:off x="5985405" y="2942877"/>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76230247-0B12-49C3-B107-03CAFDE62D32}"/>
              </a:ext>
            </a:extLst>
          </p:cNvPr>
          <p:cNvSpPr/>
          <p:nvPr/>
        </p:nvSpPr>
        <p:spPr>
          <a:xfrm>
            <a:off x="5985405" y="3758682"/>
            <a:ext cx="5837023" cy="25224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689106733"/>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COLUMN</a:t>
            </a:r>
            <a:r>
              <a:rPr lang="en-IN" sz="2000" dirty="0">
                <a:solidFill>
                  <a:schemeClr val="tx1">
                    <a:lumMod val="95000"/>
                    <a:lumOff val="5000"/>
                  </a:schemeClr>
                </a:solidFill>
                <a:latin typeface="Liberation Mono"/>
                <a:cs typeface="Arial" panose="020B0604020202020204" pitchFamily="34" charset="0"/>
              </a:rPr>
              <a:t> old_col_name TO new_col_name</a:t>
            </a:r>
          </a:p>
        </p:txBody>
      </p:sp>
    </p:spTree>
    <p:extLst>
      <p:ext uri="{BB962C8B-B14F-4D97-AF65-F5344CB8AC3E}">
        <p14:creationId xmlns:p14="http://schemas.microsoft.com/office/powerpoint/2010/main" val="783443508"/>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rename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RENAME COLUMN</a:t>
            </a:r>
            <a:r>
              <a:rPr lang="en-US" dirty="0">
                <a:solidFill>
                  <a:schemeClr val="tx1">
                    <a:lumMod val="95000"/>
                    <a:lumOff val="5000"/>
                  </a:schemeClr>
                </a:solidFill>
                <a:latin typeface="Liberation Mono"/>
                <a:cs typeface="Arial" panose="020B0604020202020204" pitchFamily="34" charset="0"/>
              </a:rPr>
              <a:t> year </a:t>
            </a:r>
            <a:r>
              <a:rPr lang="en-US" dirty="0">
                <a:solidFill>
                  <a:srgbClr val="0077AA"/>
                </a:solidFill>
                <a:latin typeface="Liberation Mono"/>
                <a:cs typeface="Arial" panose="020B0604020202020204" pitchFamily="34" charset="0"/>
              </a:rPr>
              <a:t>TO</a:t>
            </a:r>
            <a:r>
              <a:rPr lang="en-US" dirty="0">
                <a:solidFill>
                  <a:schemeClr val="tx1">
                    <a:lumMod val="95000"/>
                    <a:lumOff val="5000"/>
                  </a:schemeClr>
                </a:solidFill>
                <a:latin typeface="Liberation Mono"/>
                <a:cs typeface="Arial" panose="020B0604020202020204" pitchFamily="34" charset="0"/>
              </a:rPr>
              <a:t> model_year </a:t>
            </a:r>
            <a:endParaRPr lang="en-IN" dirty="0">
              <a:solidFill>
                <a:schemeClr val="tx1">
                  <a:lumMod val="95000"/>
                  <a:lumOff val="5000"/>
                </a:schemeClr>
              </a:solidFill>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358043003"/>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change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CHANGE</a:t>
            </a:r>
            <a:r>
              <a:rPr lang="en-IN" sz="2000" dirty="0">
                <a:solidFill>
                  <a:schemeClr val="tx1">
                    <a:lumMod val="95000"/>
                    <a:lumOff val="5000"/>
                  </a:schemeClr>
                </a:solidFill>
                <a:latin typeface="Liberation Mono"/>
                <a:cs typeface="Arial" panose="020B0604020202020204" pitchFamily="34" charset="0"/>
              </a:rPr>
              <a:t> [COLUMN] old_col_name new_col_name column_definition [ FIRST | AFTER col_name ] </a:t>
            </a:r>
          </a:p>
        </p:txBody>
      </p:sp>
    </p:spTree>
    <p:extLst>
      <p:ext uri="{BB962C8B-B14F-4D97-AF65-F5344CB8AC3E}">
        <p14:creationId xmlns:p14="http://schemas.microsoft.com/office/powerpoint/2010/main" val="2251912452"/>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6" name="Rectangle 5">
              <a:extLst>
                <a:ext uri="{FF2B5EF4-FFF2-40B4-BE49-F238E27FC236}">
                  <a16:creationId xmlns:a16="http://schemas.microsoft.com/office/drawing/2014/main" id="{8B249A37-C674-4753-9382-30BB58C8EBB6}"/>
                </a:ext>
              </a:extLst>
            </p:cNvPr>
            <p:cNvSpPr/>
            <p:nvPr/>
          </p:nvSpPr>
          <p:spPr>
            <a:xfrm>
              <a:off x="5848817" y="5038279"/>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49014361"/>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241045" y="5191964"/>
            <a:ext cx="8717865"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users</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ID userID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login</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userID UID</a:t>
            </a:r>
            <a:r>
              <a:rPr lang="en-US" dirty="0">
                <a:solidFill>
                  <a:schemeClr val="tx1">
                    <a:lumMod val="95000"/>
                    <a:lumOff val="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FB128184-D43F-43F2-8DD6-75DFE1D4ED10}"/>
              </a:ext>
            </a:extLst>
          </p:cNvPr>
          <p:cNvSpPr/>
          <p:nvPr/>
        </p:nvSpPr>
        <p:spPr>
          <a:xfrm>
            <a:off x="330463" y="76470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17780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pPr marL="17780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17780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976CFD7-B211-4D0A-B1CC-410271A611C7}"/>
              </a:ext>
            </a:extLst>
          </p:cNvPr>
          <p:cNvSpPr/>
          <p:nvPr/>
        </p:nvSpPr>
        <p:spPr>
          <a:xfrm>
            <a:off x="5087887" y="764704"/>
            <a:ext cx="67736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pPr marL="952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pPr marL="9525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fk_userID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9525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8" name="Rectangle 7">
            <a:extLst>
              <a:ext uri="{FF2B5EF4-FFF2-40B4-BE49-F238E27FC236}">
                <a16:creationId xmlns:a16="http://schemas.microsoft.com/office/drawing/2014/main" id="{924AE722-0A8B-4956-A504-93003B78D7A5}"/>
              </a:ext>
            </a:extLst>
          </p:cNvPr>
          <p:cNvSpPr/>
          <p:nvPr/>
        </p:nvSpPr>
        <p:spPr>
          <a:xfrm>
            <a:off x="241044" y="3018364"/>
            <a:ext cx="1170991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'rajan', 'ranaj123', 'rajan447.gmail.com');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'raj', 'raj', 'raj.gmail.com');</a:t>
            </a:r>
          </a:p>
          <a:p>
            <a:pPr marL="285750" indent="-285750">
              <a:buFont typeface="Arial" panose="020B0604020202020204" pitchFamily="34" charset="0"/>
              <a:buChar char="•"/>
            </a:pPr>
            <a:endParaRPr lang="en-IN"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NULL, curdate(), curtime());</a:t>
            </a:r>
          </a:p>
        </p:txBody>
      </p:sp>
      <p:sp>
        <p:nvSpPr>
          <p:cNvPr id="2" name="Rectangle 1">
            <a:extLst>
              <a:ext uri="{FF2B5EF4-FFF2-40B4-BE49-F238E27FC236}">
                <a16:creationId xmlns:a16="http://schemas.microsoft.com/office/drawing/2014/main" id="{D9F57E22-E103-4ABA-A332-F34C7B179A0D}"/>
              </a:ext>
            </a:extLst>
          </p:cNvPr>
          <p:cNvSpPr/>
          <p:nvPr/>
        </p:nvSpPr>
        <p:spPr>
          <a:xfrm>
            <a:off x="241045" y="6011996"/>
            <a:ext cx="11586197"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NULL, curdate(), curtime());</a:t>
            </a:r>
            <a:endParaRPr lang="en-IN" dirty="0">
              <a:latin typeface="Liberation Mono"/>
            </a:endParaRPr>
          </a:p>
        </p:txBody>
      </p:sp>
    </p:spTree>
    <p:extLst>
      <p:ext uri="{BB962C8B-B14F-4D97-AF65-F5344CB8AC3E}">
        <p14:creationId xmlns:p14="http://schemas.microsoft.com/office/powerpoint/2010/main" val="1778596459"/>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column </a:t>
            </a:r>
          </a:p>
        </p:txBody>
      </p:sp>
      <p:sp>
        <p:nvSpPr>
          <p:cNvPr id="5" name="Rectangle 4">
            <a:extLst>
              <a:ext uri="{FF2B5EF4-FFF2-40B4-BE49-F238E27FC236}">
                <a16:creationId xmlns:a16="http://schemas.microsoft.com/office/drawing/2014/main" id="{ADDDADCE-6DDD-4496-8C2B-4D014B6C4DB3}"/>
              </a:ext>
            </a:extLst>
          </p:cNvPr>
          <p:cNvSpPr/>
          <p:nvPr/>
        </p:nvSpPr>
        <p:spPr>
          <a:xfrm>
            <a:off x="191812" y="3895888"/>
            <a:ext cx="10008644" cy="113877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t>
            </a:r>
            <a:r>
              <a:rPr lang="en-IN" sz="2000" i="1" dirty="0">
                <a:solidFill>
                  <a:schemeClr val="tx1">
                    <a:lumMod val="95000"/>
                    <a:lumOff val="5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tx1">
                    <a:lumMod val="95000"/>
                    <a:lumOff val="5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 . .]</a:t>
            </a:r>
          </a:p>
          <a:p>
            <a:endParaRPr lang="en-IN" sz="800" dirty="0">
              <a:solidFill>
                <a:schemeClr val="tx1">
                  <a:lumMod val="95000"/>
                  <a:lumOff val="5000"/>
                </a:schemeClr>
              </a:solidFill>
              <a:latin typeface="Liberation Mono"/>
              <a:cs typeface="Arial" panose="020B0604020202020204" pitchFamily="34" charset="0"/>
            </a:endParaRPr>
          </a:p>
          <a:p>
            <a:r>
              <a:rPr lang="en-IN" sz="2000" i="1" dirty="0">
                <a:solidFill>
                  <a:schemeClr val="accent4">
                    <a:lumMod val="50000"/>
                  </a:schemeClr>
                </a:solidFill>
                <a:latin typeface="Liberation Mono"/>
                <a:cs typeface="Arial" panose="020B0604020202020204" pitchFamily="34" charset="0"/>
              </a:rPr>
              <a:t>alter_specification</a:t>
            </a:r>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[COLUMN] </a:t>
            </a:r>
            <a:r>
              <a:rPr lang="en-IN" sz="2000" i="1" dirty="0">
                <a:solidFill>
                  <a:schemeClr val="tx1">
                    <a:lumMod val="95000"/>
                    <a:lumOff val="5000"/>
                  </a:schemeClr>
                </a:solidFill>
                <a:latin typeface="Liberation Mono"/>
                <a:cs typeface="Arial" panose="020B0604020202020204" pitchFamily="34" charset="0"/>
              </a:rPr>
              <a:t>col_name</a:t>
            </a:r>
          </a:p>
        </p:txBody>
      </p:sp>
    </p:spTree>
    <p:extLst>
      <p:ext uri="{BB962C8B-B14F-4D97-AF65-F5344CB8AC3E}">
        <p14:creationId xmlns:p14="http://schemas.microsoft.com/office/powerpoint/2010/main" val="111771862"/>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column</a:t>
            </a:r>
            <a:endParaRPr lang="en-IN" sz="3200" i="1" dirty="0">
              <a:solidFill>
                <a:srgbClr val="FF9900"/>
              </a:solidFill>
              <a:latin typeface="Arial" pitchFamily="34" charset="0"/>
              <a:cs typeface="Arial" pitchFamily="34" charset="0"/>
            </a:endParaRPr>
          </a:p>
        </p:txBody>
      </p:sp>
      <p:sp>
        <p:nvSpPr>
          <p:cNvPr id="17" name="Rectangle 16">
            <a:extLst>
              <a:ext uri="{FF2B5EF4-FFF2-40B4-BE49-F238E27FC236}">
                <a16:creationId xmlns:a16="http://schemas.microsoft.com/office/drawing/2014/main" id="{67252642-683F-4838-92AA-6D492EB23B05}"/>
              </a:ext>
            </a:extLst>
          </p:cNvPr>
          <p:cNvSpPr/>
          <p:nvPr/>
        </p:nvSpPr>
        <p:spPr>
          <a:xfrm>
            <a:off x="5735961" y="1182247"/>
            <a:ext cx="5472607"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pPr marL="450850"/>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p>
        </p:txBody>
      </p:sp>
      <p:sp>
        <p:nvSpPr>
          <p:cNvPr id="7" name="Rectangle 6">
            <a:extLst>
              <a:ext uri="{FF2B5EF4-FFF2-40B4-BE49-F238E27FC236}">
                <a16:creationId xmlns:a16="http://schemas.microsoft.com/office/drawing/2014/main" id="{3D46B735-BFDA-47BE-A6C4-A64E4224796A}"/>
              </a:ext>
            </a:extLst>
          </p:cNvPr>
          <p:cNvSpPr/>
          <p:nvPr/>
        </p:nvSpPr>
        <p:spPr>
          <a:xfrm>
            <a:off x="335361" y="1182247"/>
            <a:ext cx="4464027"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model_year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a:t>
            </a:r>
            <a:r>
              <a:rPr lang="en-IN" dirty="0" err="1">
                <a:latin typeface="Liberation Mono"/>
                <a:cs typeface="Arial" panose="020B0604020202020204" pitchFamily="34" charset="0"/>
              </a:rPr>
              <a:t>model_color</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vehicleCondition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a:t>
            </a:r>
          </a:p>
        </p:txBody>
      </p:sp>
      <p:pic>
        <p:nvPicPr>
          <p:cNvPr id="8" name="Picture 7">
            <a:extLst>
              <a:ext uri="{FF2B5EF4-FFF2-40B4-BE49-F238E27FC236}">
                <a16:creationId xmlns:a16="http://schemas.microsoft.com/office/drawing/2014/main" id="{07FB3DA7-537D-4E5C-8DC8-7D3B69816BF9}"/>
              </a:ext>
            </a:extLst>
          </p:cNvPr>
          <p:cNvPicPr>
            <a:picLocks noChangeAspect="1"/>
          </p:cNvPicPr>
          <p:nvPr/>
        </p:nvPicPr>
        <p:blipFill>
          <a:blip r:embed="rId2" cstate="print"/>
          <a:stretch>
            <a:fillRect/>
          </a:stretch>
        </p:blipFill>
        <p:spPr>
          <a:xfrm>
            <a:off x="119337" y="3591470"/>
            <a:ext cx="5390953" cy="1811246"/>
          </a:xfrm>
          <a:prstGeom prst="rect">
            <a:avLst/>
          </a:prstGeom>
        </p:spPr>
      </p:pic>
      <p:pic>
        <p:nvPicPr>
          <p:cNvPr id="11" name="Picture 10">
            <a:extLst>
              <a:ext uri="{FF2B5EF4-FFF2-40B4-BE49-F238E27FC236}">
                <a16:creationId xmlns:a16="http://schemas.microsoft.com/office/drawing/2014/main" id="{DF9BB43D-53AF-4E3C-A9EE-435CAD677AD1}"/>
              </a:ext>
            </a:extLst>
          </p:cNvPr>
          <p:cNvPicPr>
            <a:picLocks noChangeAspect="1"/>
          </p:cNvPicPr>
          <p:nvPr/>
        </p:nvPicPr>
        <p:blipFill>
          <a:blip r:embed="rId3" cstate="print"/>
          <a:stretch>
            <a:fillRect/>
          </a:stretch>
        </p:blipFill>
        <p:spPr>
          <a:xfrm>
            <a:off x="5864526" y="3600118"/>
            <a:ext cx="5293038" cy="1250266"/>
          </a:xfrm>
          <a:prstGeom prst="rect">
            <a:avLst/>
          </a:prstGeom>
        </p:spPr>
      </p:pic>
    </p:spTree>
    <p:extLst>
      <p:ext uri="{BB962C8B-B14F-4D97-AF65-F5344CB8AC3E}">
        <p14:creationId xmlns:p14="http://schemas.microsoft.com/office/powerpoint/2010/main" val="1089384854"/>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623393" y="1159584"/>
            <a:ext cx="4104456"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619440" y="3308791"/>
            <a:ext cx="4715422"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sp>
        <p:nvSpPr>
          <p:cNvPr id="10" name="Rectangle 9">
            <a:extLst>
              <a:ext uri="{FF2B5EF4-FFF2-40B4-BE49-F238E27FC236}">
                <a16:creationId xmlns:a16="http://schemas.microsoft.com/office/drawing/2014/main" id="{E7AB57DD-572C-454A-903F-80485BB73574}"/>
              </a:ext>
            </a:extLst>
          </p:cNvPr>
          <p:cNvSpPr/>
          <p:nvPr/>
        </p:nvSpPr>
        <p:spPr>
          <a:xfrm>
            <a:off x="619440" y="2912947"/>
            <a:ext cx="3018775"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Add new columns to a table</a:t>
            </a:r>
          </a:p>
        </p:txBody>
      </p:sp>
      <p:sp>
        <p:nvSpPr>
          <p:cNvPr id="12" name="Rectangle 11">
            <a:extLst>
              <a:ext uri="{FF2B5EF4-FFF2-40B4-BE49-F238E27FC236}">
                <a16:creationId xmlns:a16="http://schemas.microsoft.com/office/drawing/2014/main" id="{68F718D7-3FDC-412A-B390-B6F4313E9964}"/>
              </a:ext>
            </a:extLst>
          </p:cNvPr>
          <p:cNvSpPr/>
          <p:nvPr/>
        </p:nvSpPr>
        <p:spPr>
          <a:xfrm>
            <a:off x="619440" y="5098251"/>
            <a:ext cx="4752528"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13" name="Rectangle 12">
            <a:extLst>
              <a:ext uri="{FF2B5EF4-FFF2-40B4-BE49-F238E27FC236}">
                <a16:creationId xmlns:a16="http://schemas.microsoft.com/office/drawing/2014/main" id="{0B858F24-67F2-4A2C-B740-4926683E8242}"/>
              </a:ext>
            </a:extLst>
          </p:cNvPr>
          <p:cNvSpPr/>
          <p:nvPr/>
        </p:nvSpPr>
        <p:spPr>
          <a:xfrm>
            <a:off x="623394" y="763314"/>
            <a:ext cx="153118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Sample table</a:t>
            </a:r>
          </a:p>
        </p:txBody>
      </p:sp>
      <p:sp>
        <p:nvSpPr>
          <p:cNvPr id="14" name="Rectangle 13">
            <a:extLst>
              <a:ext uri="{FF2B5EF4-FFF2-40B4-BE49-F238E27FC236}">
                <a16:creationId xmlns:a16="http://schemas.microsoft.com/office/drawing/2014/main" id="{EF103474-AC0F-485B-9462-F6E5F7ADE9A4}"/>
              </a:ext>
            </a:extLst>
          </p:cNvPr>
          <p:cNvSpPr/>
          <p:nvPr/>
        </p:nvSpPr>
        <p:spPr>
          <a:xfrm>
            <a:off x="619441" y="4676228"/>
            <a:ext cx="178766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Modify columns</a:t>
            </a:r>
          </a:p>
        </p:txBody>
      </p:sp>
      <p:sp>
        <p:nvSpPr>
          <p:cNvPr id="15" name="Rectangle 14">
            <a:extLst>
              <a:ext uri="{FF2B5EF4-FFF2-40B4-BE49-F238E27FC236}">
                <a16:creationId xmlns:a16="http://schemas.microsoft.com/office/drawing/2014/main" id="{F68E6F47-849A-46C3-B711-548DAEDCBE91}"/>
              </a:ext>
            </a:extLst>
          </p:cNvPr>
          <p:cNvSpPr/>
          <p:nvPr/>
        </p:nvSpPr>
        <p:spPr>
          <a:xfrm>
            <a:off x="6095999" y="1173624"/>
            <a:ext cx="5472607"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16" name="Rectangle 15">
            <a:extLst>
              <a:ext uri="{FF2B5EF4-FFF2-40B4-BE49-F238E27FC236}">
                <a16:creationId xmlns:a16="http://schemas.microsoft.com/office/drawing/2014/main" id="{C803E911-9FE2-49CA-A177-DA73490D2E15}"/>
              </a:ext>
            </a:extLst>
          </p:cNvPr>
          <p:cNvSpPr/>
          <p:nvPr/>
        </p:nvSpPr>
        <p:spPr>
          <a:xfrm>
            <a:off x="6105775" y="766075"/>
            <a:ext cx="198002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Rename columns</a:t>
            </a:r>
          </a:p>
        </p:txBody>
      </p:sp>
      <p:sp>
        <p:nvSpPr>
          <p:cNvPr id="17" name="Rectangle 16">
            <a:extLst>
              <a:ext uri="{FF2B5EF4-FFF2-40B4-BE49-F238E27FC236}">
                <a16:creationId xmlns:a16="http://schemas.microsoft.com/office/drawing/2014/main" id="{67252642-683F-4838-92AA-6D492EB23B05}"/>
              </a:ext>
            </a:extLst>
          </p:cNvPr>
          <p:cNvSpPr/>
          <p:nvPr/>
        </p:nvSpPr>
        <p:spPr>
          <a:xfrm>
            <a:off x="6093914" y="3307561"/>
            <a:ext cx="5472607"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r>
              <a:rPr lang="en-US" dirty="0">
                <a:solidFill>
                  <a:schemeClr val="tx1">
                    <a:lumMod val="95000"/>
                    <a:lumOff val="5000"/>
                  </a:schemeClr>
                </a:solidFill>
                <a:latin typeface="Liberation Mono"/>
                <a:cs typeface="Arial" panose="020B0604020202020204" pitchFamily="34" charset="0"/>
              </a:rPr>
              <a:t>;</a:t>
            </a:r>
            <a:endParaRPr lang="en-IN" dirty="0">
              <a:latin typeface="Liberation Mono"/>
            </a:endParaRPr>
          </a:p>
        </p:txBody>
      </p:sp>
      <p:sp>
        <p:nvSpPr>
          <p:cNvPr id="18" name="Rectangle 17">
            <a:extLst>
              <a:ext uri="{FF2B5EF4-FFF2-40B4-BE49-F238E27FC236}">
                <a16:creationId xmlns:a16="http://schemas.microsoft.com/office/drawing/2014/main" id="{93FD1A32-1F80-4437-B196-5E645FC50866}"/>
              </a:ext>
            </a:extLst>
          </p:cNvPr>
          <p:cNvSpPr/>
          <p:nvPr/>
        </p:nvSpPr>
        <p:spPr>
          <a:xfrm>
            <a:off x="6093914" y="2885539"/>
            <a:ext cx="177067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DROP columns</a:t>
            </a:r>
          </a:p>
        </p:txBody>
      </p:sp>
    </p:spTree>
    <p:extLst>
      <p:ext uri="{BB962C8B-B14F-4D97-AF65-F5344CB8AC3E}">
        <p14:creationId xmlns:p14="http://schemas.microsoft.com/office/powerpoint/2010/main" val="1933892823"/>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table</a:t>
            </a:r>
          </a:p>
        </p:txBody>
      </p:sp>
      <p:sp>
        <p:nvSpPr>
          <p:cNvPr id="5" name="Rectangle 4">
            <a:extLst>
              <a:ext uri="{FF2B5EF4-FFF2-40B4-BE49-F238E27FC236}">
                <a16:creationId xmlns:a16="http://schemas.microsoft.com/office/drawing/2014/main" id="{E0DC8811-0AD4-4043-9E28-DCEE6961F011}"/>
              </a:ext>
            </a:extLst>
          </p:cNvPr>
          <p:cNvSpPr/>
          <p:nvPr/>
        </p:nvSpPr>
        <p:spPr>
          <a:xfrm>
            <a:off x="406574" y="3356992"/>
            <a:ext cx="1116124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(undone), while DROP and TRUNCATE operations cannot be rolled back (DDL statements  are auto committed).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TRIGGERS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INDEX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will not drops any VIEW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try to drop a PARENT/MASTER TABLE, it will not get dropped.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57611450"/>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table</a:t>
            </a:r>
          </a:p>
        </p:txBody>
      </p:sp>
      <p:sp>
        <p:nvSpPr>
          <p:cNvPr id="7" name="Rectangle 6">
            <a:extLst>
              <a:ext uri="{FF2B5EF4-FFF2-40B4-BE49-F238E27FC236}">
                <a16:creationId xmlns:a16="http://schemas.microsoft.com/office/drawing/2014/main" id="{A512CCD7-0B69-4894-BD26-C25B2AE7207B}"/>
              </a:ext>
            </a:extLst>
          </p:cNvPr>
          <p:cNvSpPr/>
          <p:nvPr/>
        </p:nvSpPr>
        <p:spPr>
          <a:xfrm>
            <a:off x="208484" y="1419237"/>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[TEMPORARY] TABLE [IF EXISTS] </a:t>
            </a:r>
            <a:r>
              <a:rPr lang="en-IN" sz="2000" dirty="0">
                <a:solidFill>
                  <a:schemeClr val="tx1">
                    <a:lumMod val="95000"/>
                    <a:lumOff val="5000"/>
                  </a:schemeClr>
                </a:solidFill>
                <a:latin typeface="Liberation Mono"/>
                <a:cs typeface="Arial" panose="020B0604020202020204" pitchFamily="34" charset="0"/>
              </a:rPr>
              <a:t>tbl_name [, tbl_name] ...</a:t>
            </a:r>
            <a:endParaRPr lang="en-US" sz="2000" dirty="0">
              <a:solidFill>
                <a:schemeClr val="tx1">
                  <a:lumMod val="95000"/>
                  <a:lumOff val="5000"/>
                </a:schemeClr>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BDB371A-6717-4095-8EA3-B38830E723E1}"/>
              </a:ext>
            </a:extLst>
          </p:cNvPr>
          <p:cNvSpPr/>
          <p:nvPr/>
        </p:nvSpPr>
        <p:spPr>
          <a:xfrm>
            <a:off x="208484" y="2204864"/>
            <a:ext cx="1165391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All table data and the table definition are removed/dropped.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it is desired to delete only the records but to leave the table definition for future use, then the </a:t>
            </a:r>
            <a:r>
              <a:rPr lang="en-US" b="1" i="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command should be used instead of </a:t>
            </a:r>
            <a:r>
              <a:rPr lang="en-US" b="1" i="1" dirty="0">
                <a:latin typeface="Arial" panose="020B0604020202020204" pitchFamily="34" charset="0"/>
                <a:cs typeface="Arial" panose="020B0604020202020204" pitchFamily="34" charset="0"/>
              </a:rPr>
              <a:t>DROP TABLE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86428B25-F35A-4167-BD6E-227051F91E2B}"/>
              </a:ext>
            </a:extLst>
          </p:cNvPr>
          <p:cNvSpPr/>
          <p:nvPr/>
        </p:nvSpPr>
        <p:spPr>
          <a:xfrm>
            <a:off x="329600" y="4077348"/>
            <a:ext cx="5333558" cy="129586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login;</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users;</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login, users;</a:t>
            </a:r>
          </a:p>
        </p:txBody>
      </p:sp>
    </p:spTree>
    <p:extLst>
      <p:ext uri="{BB962C8B-B14F-4D97-AF65-F5344CB8AC3E}">
        <p14:creationId xmlns:p14="http://schemas.microsoft.com/office/powerpoint/2010/main" val="1809772379"/>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using different engines</a:t>
            </a:r>
          </a:p>
        </p:txBody>
      </p:sp>
    </p:spTree>
    <p:extLst>
      <p:ext uri="{BB962C8B-B14F-4D97-AF65-F5344CB8AC3E}">
        <p14:creationId xmlns:p14="http://schemas.microsoft.com/office/powerpoint/2010/main" val="1998323597"/>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memory engine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0F3F62D-4DCA-478D-A65A-34FA1D0488CD}"/>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memory;</a:t>
            </a:r>
          </a:p>
        </p:txBody>
      </p:sp>
      <p:sp>
        <p:nvSpPr>
          <p:cNvPr id="9" name="TextBox 8">
            <a:extLst>
              <a:ext uri="{FF2B5EF4-FFF2-40B4-BE49-F238E27FC236}">
                <a16:creationId xmlns:a16="http://schemas.microsoft.com/office/drawing/2014/main" id="{A3121744-74F9-4F8A-881D-2AFB67498824}"/>
              </a:ext>
            </a:extLst>
          </p:cNvPr>
          <p:cNvSpPr txBox="1"/>
          <p:nvPr/>
        </p:nvSpPr>
        <p:spPr>
          <a:xfrm>
            <a:off x="479376" y="1329730"/>
            <a:ext cx="11233248" cy="4296689"/>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MEMORY </a:t>
            </a:r>
            <a:r>
              <a:rPr lang="en-US" sz="2000" b="0" i="0" dirty="0">
                <a:solidFill>
                  <a:srgbClr val="555555"/>
                </a:solidFill>
                <a:effectLst/>
                <a:latin typeface="Liberation Mono"/>
              </a:rPr>
              <a:t>storage engine </a:t>
            </a:r>
            <a:r>
              <a:rPr lang="en-IN" sz="2000" dirty="0">
                <a:solidFill>
                  <a:schemeClr val="bg2">
                    <a:lumMod val="25000"/>
                  </a:schemeClr>
                </a:solidFill>
                <a:latin typeface="Liberation Mono"/>
              </a:rPr>
              <a:t>tables are visible to another client/user.</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is stored and rows will be removed, after </a:t>
            </a:r>
            <a:r>
              <a:rPr lang="en-US" sz="2000" dirty="0">
                <a:solidFill>
                  <a:schemeClr val="bg2">
                    <a:lumMod val="25000"/>
                  </a:schemeClr>
                </a:solidFill>
                <a:latin typeface="Liberation Mono"/>
              </a:rPr>
              <a:t>re-starting mysql server (MySQL80) from Services.</a:t>
            </a:r>
          </a:p>
          <a:p>
            <a:pPr marL="342900" indent="-342900" algn="just">
              <a:buFont typeface="Arial" panose="020B0604020202020204" pitchFamily="34" charset="0"/>
              <a:buChar char="•"/>
            </a:pPr>
            <a:r>
              <a:rPr lang="en-US" sz="2000" dirty="0">
                <a:solidFill>
                  <a:schemeClr val="bg2">
                    <a:lumMod val="25000"/>
                  </a:schemeClr>
                </a:solidFill>
                <a:latin typeface="Liberation Mono"/>
              </a:rPr>
              <a:t>Provides in-memory tables, formerly known as HEAP.</a:t>
            </a:r>
          </a:p>
          <a:p>
            <a:pPr marL="342900" indent="-342900" algn="just">
              <a:buFont typeface="Arial" panose="020B0604020202020204" pitchFamily="34" charset="0"/>
              <a:buChar char="•"/>
            </a:pPr>
            <a:r>
              <a:rPr lang="en-US" sz="2000" dirty="0">
                <a:solidFill>
                  <a:schemeClr val="bg2">
                    <a:lumMod val="25000"/>
                  </a:schemeClr>
                </a:solidFill>
                <a:latin typeface="Liberation Mono"/>
              </a:rPr>
              <a:t>It sores all data in RAM for faster access than storing data on disks.</a:t>
            </a:r>
          </a:p>
          <a:p>
            <a:pPr marL="342900" indent="-342900" algn="just">
              <a:buFont typeface="Arial" panose="020B0604020202020204" pitchFamily="34" charset="0"/>
              <a:buChar char="•"/>
            </a:pPr>
            <a:r>
              <a:rPr lang="en-US" sz="2000" dirty="0">
                <a:solidFill>
                  <a:schemeClr val="bg2">
                    <a:lumMod val="25000"/>
                  </a:schemeClr>
                </a:solidFill>
                <a:latin typeface="Liberation Mono"/>
              </a:rPr>
              <a:t>Operations involving non-critical data such as session management or caching.</a:t>
            </a:r>
          </a:p>
          <a:p>
            <a:pPr marL="342900" indent="-342900" algn="just">
              <a:buFont typeface="Arial" panose="020B0604020202020204" pitchFamily="34" charset="0"/>
              <a:buChar char="•"/>
            </a:pPr>
            <a:endParaRPr lang="en-US" sz="2000" dirty="0">
              <a:solidFill>
                <a:schemeClr val="bg2">
                  <a:lumMod val="25000"/>
                </a:schemeClr>
              </a:solidFill>
              <a:latin typeface="Liberation Mono"/>
            </a:endParaRPr>
          </a:p>
          <a:p>
            <a:pPr algn="just"/>
            <a:endParaRPr lang="en-IN" sz="800" dirty="0">
              <a:solidFill>
                <a:srgbClr val="4BACC6"/>
              </a:solidFill>
              <a:latin typeface="Liberation Mono"/>
            </a:endParaRPr>
          </a:p>
          <a:p>
            <a:pPr algn="just">
              <a:lnSpc>
                <a:spcPct val="150000"/>
              </a:lnSpc>
            </a:pPr>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000000"/>
                </a:solidFill>
                <a:effectLst/>
                <a:latin typeface="Liberation Mono"/>
              </a:rPr>
              <a:t> </a:t>
            </a:r>
            <a:r>
              <a:rPr lang="en-US" b="0" i="0" dirty="0">
                <a:solidFill>
                  <a:srgbClr val="C00000"/>
                </a:solidFill>
                <a:effectLst/>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MEMORY</a:t>
            </a:r>
            <a:r>
              <a:rPr lang="en-US" b="0" i="0" dirty="0">
                <a:effectLst/>
                <a:latin typeface="Liberation Mono"/>
              </a:rPr>
              <a:t>;</a:t>
            </a:r>
            <a:r>
              <a:rPr lang="en-US" b="0" i="0" dirty="0">
                <a:solidFill>
                  <a:srgbClr val="999999"/>
                </a:solidFill>
                <a:effectLst/>
                <a:latin typeface="Liberation Mono"/>
              </a:rPr>
              <a:t> </a:t>
            </a:r>
          </a:p>
          <a:p>
            <a:pPr marL="285750" indent="-285750" algn="just">
              <a:lnSpc>
                <a:spcPct val="150000"/>
              </a:lnSpc>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285750" indent="-285750" algn="just">
              <a:lnSpc>
                <a:spcPct val="150000"/>
              </a:lnSpc>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algn="just">
              <a:lnSpc>
                <a:spcPct val="150000"/>
              </a:lnSpc>
            </a:pPr>
            <a:r>
              <a:rPr lang="en-US" b="0" i="0" dirty="0">
                <a:solidFill>
                  <a:srgbClr val="00B050"/>
                </a:solidFill>
                <a:effectLst/>
                <a:latin typeface="Liberation Mono"/>
              </a:rPr>
              <a:t>      </a:t>
            </a:r>
            <a:r>
              <a:rPr lang="en-US" sz="2400" dirty="0">
                <a:solidFill>
                  <a:srgbClr val="669900"/>
                </a:solidFill>
                <a:latin typeface="Liberation Mono"/>
              </a:rPr>
              <a:t>re-start mysql server.</a:t>
            </a:r>
            <a:endParaRPr lang="en-IN" sz="2400" dirty="0">
              <a:solidFill>
                <a:srgbClr val="669900"/>
              </a:solidFill>
              <a:latin typeface="Liberation Mono"/>
            </a:endParaRPr>
          </a:p>
          <a:p>
            <a:pPr marL="285750" indent="-285750" algn="just">
              <a:lnSpc>
                <a:spcPct val="150000"/>
              </a:lnSpc>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Tree>
    <p:extLst>
      <p:ext uri="{BB962C8B-B14F-4D97-AF65-F5344CB8AC3E}">
        <p14:creationId xmlns:p14="http://schemas.microsoft.com/office/powerpoint/2010/main" val="848555043"/>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E15A2F8E-F83D-4F0E-A506-08A8364AA746}"/>
              </a:ext>
            </a:extLst>
          </p:cNvPr>
          <p:cNvSpPr txBox="1"/>
          <p:nvPr/>
        </p:nvSpPr>
        <p:spPr>
          <a:xfrm>
            <a:off x="335360" y="1040368"/>
            <a:ext cx="11521280" cy="449353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CSV</a:t>
            </a:r>
            <a:r>
              <a:rPr lang="en-IN" sz="2000" dirty="0">
                <a:solidFill>
                  <a:schemeClr val="bg2">
                    <a:lumMod val="25000"/>
                  </a:schemeClr>
                </a:solidFill>
                <a:latin typeface="Liberation Mono"/>
              </a:rPr>
              <a:t> </a:t>
            </a:r>
            <a:r>
              <a:rPr lang="en-US" sz="2000" b="0" i="0" dirty="0">
                <a:solidFill>
                  <a:srgbClr val="555555"/>
                </a:solidFill>
                <a:effectLst/>
                <a:latin typeface="Open Sans" panose="020B0606030504020204" pitchFamily="34" charset="0"/>
              </a:rPr>
              <a:t>storage engine </a:t>
            </a:r>
            <a:r>
              <a:rPr lang="en-IN" sz="2000" dirty="0">
                <a:solidFill>
                  <a:schemeClr val="bg2">
                    <a:lumMod val="25000"/>
                  </a:schemeClr>
                </a:solidFill>
                <a:latin typeface="Liberation Mono"/>
              </a:rPr>
              <a:t>tables are visible to another client.</a:t>
            </a:r>
          </a:p>
          <a:p>
            <a:pPr marL="342900" indent="-342900" algn="just">
              <a:buFont typeface="Arial" panose="020B0604020202020204" pitchFamily="34" charset="0"/>
              <a:buChar char="•"/>
            </a:pPr>
            <a:r>
              <a:rPr lang="en-US" sz="2000" dirty="0">
                <a:solidFill>
                  <a:schemeClr val="bg2">
                    <a:lumMod val="25000"/>
                  </a:schemeClr>
                </a:solidFill>
                <a:latin typeface="Liberation Mono"/>
              </a:rPr>
              <a:t>The CSV storage engine stores data in text/csv files using comma-separated values format.</a:t>
            </a:r>
          </a:p>
          <a:p>
            <a:pPr marL="342900" indent="-342900" algn="just">
              <a:buFont typeface="Arial" panose="020B0604020202020204" pitchFamily="34" charset="0"/>
              <a:buChar char="•"/>
            </a:pPr>
            <a:r>
              <a:rPr lang="en-IN" sz="2000" dirty="0">
                <a:solidFill>
                  <a:schemeClr val="bg2">
                    <a:lumMod val="25000"/>
                  </a:schemeClr>
                </a:solidFill>
                <a:latin typeface="Liberation Mono"/>
              </a:rPr>
              <a:t>The storage engine for the table doesn't support nullable (NULL)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AUTO_INCREMENT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PRIMARY KEY and UNIQUE KEY constraints.</a:t>
            </a:r>
          </a:p>
          <a:p>
            <a:pPr marL="342900" indent="-342900" algn="just">
              <a:buFont typeface="Arial" panose="020B0604020202020204" pitchFamily="34" charset="0"/>
              <a:buChar char="•"/>
            </a:pPr>
            <a:r>
              <a:rPr lang="en-US" sz="2000" dirty="0">
                <a:solidFill>
                  <a:schemeClr val="bg2">
                    <a:lumMod val="25000"/>
                  </a:schemeClr>
                </a:solidFill>
                <a:latin typeface="Liberation Mono"/>
              </a:rPr>
              <a:t>CHECK constraint with NOT NULL is allowed.</a:t>
            </a:r>
          </a:p>
          <a:p>
            <a:pPr algn="just"/>
            <a:endParaRPr lang="en-IN" sz="2000" dirty="0">
              <a:solidFill>
                <a:srgbClr val="4BACC6"/>
              </a:solidFill>
              <a:latin typeface="Liberation Mono"/>
            </a:endParaRPr>
          </a:p>
          <a:p>
            <a:pPr algn="just"/>
            <a:r>
              <a:rPr lang="en-IN" dirty="0">
                <a:solidFill>
                  <a:srgbClr val="FF0000"/>
                </a:solidFill>
                <a:latin typeface="Liberation Mono"/>
              </a:rPr>
              <a:t>e.g. </a:t>
            </a:r>
            <a:r>
              <a:rPr lang="en-US" dirty="0">
                <a:solidFill>
                  <a:srgbClr val="0077AA"/>
                </a:solidFill>
                <a:latin typeface="Liberation Mono"/>
              </a:rPr>
              <a:t>CREATE TABLE </a:t>
            </a:r>
            <a:r>
              <a:rPr lang="en-IN" dirty="0">
                <a:latin typeface="Liberation Mono"/>
              </a:rPr>
              <a:t>x</a:t>
            </a:r>
            <a:r>
              <a:rPr lang="en-US" dirty="0">
                <a:latin typeface="Liberation Mono"/>
              </a:rPr>
              <a:t>(</a:t>
            </a:r>
          </a:p>
          <a:p>
            <a:pPr algn="just"/>
            <a:r>
              <a:rPr lang="en-US" dirty="0">
                <a:solidFill>
                  <a:srgbClr val="999999"/>
                </a:solidFill>
                <a:latin typeface="Liberation Mono"/>
              </a:rPr>
              <a:t>          </a:t>
            </a:r>
            <a:r>
              <a:rPr lang="en-US" dirty="0">
                <a:solidFill>
                  <a:schemeClr val="bg2">
                    <a:lumMod val="25000"/>
                  </a:schemeClr>
                </a:solidFill>
                <a:latin typeface="Liberation Mono"/>
              </a:rPr>
              <a:t>ID</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ename</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p>
          <a:p>
            <a:pPr algn="just"/>
            <a:r>
              <a:rPr lang="en-US" dirty="0">
                <a:solidFill>
                  <a:srgbClr val="0077AA"/>
                </a:solidFill>
                <a:latin typeface="Liberation Mono"/>
              </a:rPr>
              <a:t>          </a:t>
            </a:r>
            <a:r>
              <a:rPr lang="en-US" dirty="0">
                <a:solidFill>
                  <a:schemeClr val="bg2">
                    <a:lumMod val="25000"/>
                  </a:schemeClr>
                </a:solidFill>
                <a:latin typeface="Liberation Mono"/>
              </a:rPr>
              <a:t>job</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sal</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 </a:t>
            </a:r>
            <a:r>
              <a:rPr lang="en-US" dirty="0">
                <a:solidFill>
                  <a:srgbClr val="C00000"/>
                </a:solidFill>
                <a:latin typeface="Liberation Mono"/>
              </a:rPr>
              <a:t>ENGINE</a:t>
            </a:r>
            <a:r>
              <a:rPr lang="en-US" dirty="0">
                <a:solidFill>
                  <a:srgbClr val="0077AA"/>
                </a:solidFill>
                <a:latin typeface="Liberation Mono"/>
              </a:rPr>
              <a:t> </a:t>
            </a:r>
            <a:r>
              <a:rPr lang="en-US" dirty="0">
                <a:solidFill>
                  <a:srgbClr val="A67F59"/>
                </a:solidFill>
                <a:latin typeface="Liberation Mono"/>
              </a:rPr>
              <a:t>=</a:t>
            </a:r>
            <a:r>
              <a:rPr lang="en-US" dirty="0">
                <a:solidFill>
                  <a:srgbClr val="0077AA"/>
                </a:solidFill>
                <a:latin typeface="Liberation Mono"/>
              </a:rPr>
              <a:t> </a:t>
            </a:r>
            <a:r>
              <a:rPr lang="en-US" dirty="0">
                <a:solidFill>
                  <a:srgbClr val="C00000"/>
                </a:solidFill>
                <a:latin typeface="Liberation Mono"/>
              </a:rPr>
              <a:t>CSV</a:t>
            </a:r>
            <a:r>
              <a:rPr lang="en-US" dirty="0">
                <a:latin typeface="Liberation Mono"/>
              </a:rPr>
              <a:t>;</a:t>
            </a:r>
          </a:p>
          <a:p>
            <a:pPr algn="just"/>
            <a:endParaRPr lang="en-US" sz="800" dirty="0">
              <a:latin typeface="Liberation Mono"/>
            </a:endParaRP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IN" dirty="0">
                <a:latin typeface="Liberation Mono"/>
              </a:rPr>
              <a:t>x</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'manager'</a:t>
            </a:r>
            <a:r>
              <a:rPr lang="en-IN" dirty="0">
                <a:latin typeface="Liberation Mono"/>
              </a:rPr>
              <a:t>, </a:t>
            </a:r>
            <a:r>
              <a:rPr lang="en-IN" dirty="0">
                <a:solidFill>
                  <a:srgbClr val="990055"/>
                </a:solidFill>
                <a:latin typeface="Liberation Mono"/>
              </a:rPr>
              <a:t>3400</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x; </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csv engine</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D58DF7E-1C6A-B49E-6B30-28FB92B55F6E}"/>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csv;</a:t>
            </a:r>
          </a:p>
        </p:txBody>
      </p:sp>
      <p:sp>
        <p:nvSpPr>
          <p:cNvPr id="7" name="TextBox 6">
            <a:extLst>
              <a:ext uri="{FF2B5EF4-FFF2-40B4-BE49-F238E27FC236}">
                <a16:creationId xmlns:a16="http://schemas.microsoft.com/office/drawing/2014/main" id="{6395E92B-16FC-EE51-6724-3F9D119206F4}"/>
              </a:ext>
            </a:extLst>
          </p:cNvPr>
          <p:cNvSpPr txBox="1"/>
          <p:nvPr/>
        </p:nvSpPr>
        <p:spPr>
          <a:xfrm>
            <a:off x="263352" y="5561364"/>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1194 (HY000): Table 'x' is marked as crashed and should be repaired.</a:t>
            </a:r>
          </a:p>
          <a:p>
            <a:pPr marL="285750" indent="-285750">
              <a:buFont typeface="Arial" panose="020B0604020202020204" pitchFamily="34" charset="0"/>
              <a:buChar char="•"/>
            </a:pPr>
            <a:r>
              <a:rPr lang="en-IN" dirty="0">
                <a:latin typeface="Liberation Mono"/>
              </a:rPr>
              <a:t>mysql&gt; </a:t>
            </a:r>
            <a:r>
              <a:rPr lang="en-IN" dirty="0">
                <a:solidFill>
                  <a:srgbClr val="0077AA"/>
                </a:solidFill>
                <a:latin typeface="Liberation Mono"/>
              </a:rPr>
              <a:t>REPAIR</a:t>
            </a:r>
            <a:r>
              <a:rPr lang="en-IN" dirty="0">
                <a:latin typeface="Liberation Mono"/>
              </a:rPr>
              <a:t> </a:t>
            </a:r>
            <a:r>
              <a:rPr lang="en-IN" dirty="0">
                <a:solidFill>
                  <a:srgbClr val="0077AA"/>
                </a:solidFill>
                <a:latin typeface="Liberation Mono"/>
              </a:rPr>
              <a:t>TABLE</a:t>
            </a:r>
            <a:r>
              <a:rPr lang="en-IN" dirty="0">
                <a:latin typeface="Liberation Mono"/>
              </a:rPr>
              <a:t> x;</a:t>
            </a:r>
          </a:p>
        </p:txBody>
      </p:sp>
    </p:spTree>
    <p:extLst>
      <p:ext uri="{BB962C8B-B14F-4D97-AF65-F5344CB8AC3E}">
        <p14:creationId xmlns:p14="http://schemas.microsoft.com/office/powerpoint/2010/main" val="527099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A3121744-74F9-4F8A-881D-2AFB67498824}"/>
              </a:ext>
            </a:extLst>
          </p:cNvPr>
          <p:cNvSpPr txBox="1"/>
          <p:nvPr/>
        </p:nvSpPr>
        <p:spPr>
          <a:xfrm>
            <a:off x="335360" y="1328400"/>
            <a:ext cx="11449272" cy="3016210"/>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BLACKHOLE</a:t>
            </a:r>
            <a:r>
              <a:rPr lang="en-IN" sz="2000" dirty="0">
                <a:solidFill>
                  <a:schemeClr val="bg2">
                    <a:lumMod val="25000"/>
                  </a:schemeClr>
                </a:solidFill>
                <a:latin typeface="Liberation Mono"/>
              </a:rPr>
              <a:t> tables are visible to another client.</a:t>
            </a:r>
          </a:p>
          <a:p>
            <a:pPr marL="342900" indent="-342900" algn="just">
              <a:buFont typeface="Arial" panose="020B0604020202020204" pitchFamily="34" charset="0"/>
              <a:buChar char="•"/>
            </a:pPr>
            <a:r>
              <a:rPr lang="en-US" sz="2000" b="0" i="0" dirty="0">
                <a:solidFill>
                  <a:srgbClr val="555555"/>
                </a:solidFill>
                <a:effectLst/>
                <a:latin typeface="Open Sans" panose="020B0606030504020204" pitchFamily="34" charset="0"/>
              </a:rPr>
              <a:t>storage engine acts as a “</a:t>
            </a:r>
            <a:r>
              <a:rPr lang="en-US" sz="2000" b="0" i="0" dirty="0">
                <a:solidFill>
                  <a:srgbClr val="555555"/>
                </a:solidFill>
                <a:effectLst/>
                <a:latin typeface="inherit"/>
              </a:rPr>
              <a:t>black hole</a:t>
            </a:r>
            <a:r>
              <a:rPr lang="en-US" sz="2000" b="0" i="0" dirty="0">
                <a:solidFill>
                  <a:srgbClr val="555555"/>
                </a:solidFill>
                <a:effectLst/>
                <a:latin typeface="Open Sans" panose="020B0606030504020204" pitchFamily="34" charset="0"/>
              </a:rPr>
              <a:t>” that accepts data but throws it away and does not store it.</a:t>
            </a:r>
          </a:p>
          <a:p>
            <a:pPr marL="342900" indent="-342900" algn="just">
              <a:buFont typeface="Arial" panose="020B0604020202020204" pitchFamily="34" charset="0"/>
              <a:buChar char="•"/>
            </a:pPr>
            <a:r>
              <a:rPr lang="en-US" sz="2000" dirty="0">
                <a:solidFill>
                  <a:srgbClr val="555555"/>
                </a:solidFill>
                <a:latin typeface="Open Sans" panose="020B0606030504020204" pitchFamily="34" charset="0"/>
              </a:rPr>
              <a:t>Triggers can be written on this type of tables</a:t>
            </a:r>
            <a:endParaRPr lang="en-IN" sz="2000" dirty="0">
              <a:solidFill>
                <a:schemeClr val="bg2">
                  <a:lumMod val="25000"/>
                </a:schemeClr>
              </a:solidFill>
              <a:latin typeface="Liberation Mono"/>
            </a:endParaRP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dirty="0">
                <a:solidFill>
                  <a:srgbClr val="000000"/>
                </a:solidFill>
                <a:latin typeface="Liberation Mono"/>
              </a:rPr>
              <a:t>c1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PRIMARY KEY AUTO_INCREMENT</a:t>
            </a:r>
            <a:r>
              <a:rPr lang="en-US" dirty="0">
                <a:solidFill>
                  <a:srgbClr val="000000"/>
                </a:solidFill>
                <a:latin typeface="Liberation Mono"/>
              </a:rPr>
              <a:t>, c2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UNIQUE</a:t>
            </a:r>
            <a:r>
              <a:rPr lang="en-US" dirty="0">
                <a:solidFill>
                  <a:srgbClr val="000000"/>
                </a:solidFill>
                <a:latin typeface="Liberation Mono"/>
              </a:rPr>
              <a:t>, c3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solidFill>
                  <a:srgbClr val="000000"/>
                </a:solidFill>
                <a:latin typeface="Liberation Mono"/>
              </a:rPr>
              <a:t>, c4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CHECK</a:t>
            </a:r>
            <a:r>
              <a:rPr lang="en-US" dirty="0">
                <a:solidFill>
                  <a:srgbClr val="000000"/>
                </a:solidFill>
                <a:latin typeface="Liberation Mono"/>
              </a:rPr>
              <a:t>(c4 &gt;= </a:t>
            </a:r>
            <a:r>
              <a:rPr lang="en-US" dirty="0">
                <a:solidFill>
                  <a:srgbClr val="990055"/>
                </a:solidFill>
                <a:latin typeface="Liberation Mono"/>
              </a:rPr>
              <a:t>100</a:t>
            </a:r>
            <a:r>
              <a:rPr lang="en-US" dirty="0">
                <a:solidFill>
                  <a:srgbClr val="000000"/>
                </a:solidFill>
                <a:latin typeface="Liberation Mono"/>
              </a:rPr>
              <a:t>)</a:t>
            </a:r>
            <a:r>
              <a:rPr lang="en-US" b="0" i="0" dirty="0">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BLACKHOLE</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US" b="0" i="0" dirty="0">
                <a:effectLst/>
                <a:latin typeface="Liberation Mono"/>
              </a:rPr>
              <a:t>(</a:t>
            </a:r>
            <a:r>
              <a:rPr lang="en-US" b="0" i="0" dirty="0">
                <a:solidFill>
                  <a:srgbClr val="000000"/>
                </a:solidFill>
                <a:effectLst/>
                <a:latin typeface="Liberation Mono"/>
              </a:rPr>
              <a:t>c2, c3, c4</a:t>
            </a:r>
            <a:r>
              <a:rPr lang="en-US" b="0" i="0" dirty="0">
                <a:effectLst/>
                <a:latin typeface="Liberation Mono"/>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100</a:t>
            </a:r>
            <a:r>
              <a:rPr lang="en-IN" dirty="0">
                <a:latin typeface="Liberation Mono"/>
              </a:rPr>
              <a:t>, </a:t>
            </a:r>
            <a:r>
              <a:rPr lang="en-IN" dirty="0">
                <a:solidFill>
                  <a:srgbClr val="990055"/>
                </a:solidFill>
                <a:latin typeface="Liberation Mono"/>
              </a:rPr>
              <a:t>200</a:t>
            </a:r>
            <a:r>
              <a:rPr lang="en-IN" dirty="0">
                <a:latin typeface="Liberation Mono"/>
              </a:rPr>
              <a:t>,</a:t>
            </a:r>
            <a:r>
              <a:rPr lang="en-IN" dirty="0">
                <a:solidFill>
                  <a:srgbClr val="990055"/>
                </a:solidFill>
                <a:latin typeface="Liberation Mono"/>
              </a:rPr>
              <a:t> 300</a:t>
            </a:r>
            <a:r>
              <a:rPr lang="en-IN" dirty="0">
                <a:solidFill>
                  <a:schemeClr val="bg1">
                    <a:lumMod val="50000"/>
                  </a:schemeClr>
                </a:solidFill>
                <a:latin typeface="Liberation Mono"/>
              </a:rPr>
              <a:t>)</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blackhole engine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0D9E0D2-2256-4A83-9F9A-B2391AF9337C}"/>
              </a:ext>
            </a:extLst>
          </p:cNvPr>
          <p:cNvSpPr/>
          <p:nvPr/>
        </p:nvSpPr>
        <p:spPr>
          <a:xfrm>
            <a:off x="190800" y="4350003"/>
            <a:ext cx="115938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0077AA"/>
                </a:solidFill>
                <a:latin typeface="Segoe UI Semilight" panose="020B0402040204020203" pitchFamily="34" charset="0"/>
                <a:cs typeface="Segoe UI Semilight" panose="020B0402040204020203" pitchFamily="34" charset="0"/>
              </a:rPr>
              <a:t>BEFRE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temp </a:t>
            </a:r>
            <a:r>
              <a:rPr lang="en-IN" dirty="0">
                <a:solidFill>
                  <a:srgbClr val="0077AA"/>
                </a:solidFill>
                <a:latin typeface="Segoe UI Semilight" panose="020B0402040204020203" pitchFamily="34" charset="0"/>
                <a:cs typeface="Segoe UI Semilight" panose="020B0402040204020203" pitchFamily="34" charset="0"/>
              </a:rPr>
              <a:t>FOR EACH ROW</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temp1 VALUES (NEW.c1, NEW.c2);</a:t>
            </a:r>
          </a:p>
          <a:p>
            <a:pPr marL="261938"/>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F3C84355-3D57-331F-E0FD-DA30F0A2EF67}"/>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blackhole;</a:t>
            </a:r>
          </a:p>
        </p:txBody>
      </p:sp>
    </p:spTree>
    <p:extLst>
      <p:ext uri="{BB962C8B-B14F-4D97-AF65-F5344CB8AC3E}">
        <p14:creationId xmlns:p14="http://schemas.microsoft.com/office/powerpoint/2010/main" val="57674641"/>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15FA0200-A67B-4772-81A8-66C5B1C3C747}"/>
              </a:ext>
            </a:extLst>
          </p:cNvPr>
          <p:cNvSpPr txBox="1"/>
          <p:nvPr/>
        </p:nvSpPr>
        <p:spPr>
          <a:xfrm>
            <a:off x="191344" y="1328400"/>
            <a:ext cx="11737304" cy="252376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TEMPORARY </a:t>
            </a:r>
            <a:r>
              <a:rPr lang="en-IN" sz="2000" dirty="0">
                <a:solidFill>
                  <a:schemeClr val="bg2">
                    <a:lumMod val="25000"/>
                  </a:schemeClr>
                </a:solidFill>
                <a:latin typeface="Liberation Mono"/>
              </a:rPr>
              <a:t>tables are not visible to another client.</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and rows is removed, after exit.</a:t>
            </a: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IN" dirty="0">
                <a:solidFill>
                  <a:srgbClr val="C00000"/>
                </a:solidFill>
                <a:latin typeface="Liberation Mono"/>
              </a:rPr>
              <a:t>TEMPORARY</a:t>
            </a:r>
            <a:r>
              <a:rPr lang="en-IN" dirty="0">
                <a:solidFill>
                  <a:srgbClr val="0077AA"/>
                </a:solidFill>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171450" indent="-171450" algn="just">
              <a:buFont typeface="Arial" panose="020B0604020202020204" pitchFamily="34" charset="0"/>
              <a:buChar char="•"/>
            </a:pPr>
            <a:r>
              <a:rPr lang="en-IN" sz="800" dirty="0">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marL="171450" indent="-171450" algn="just">
              <a:buFont typeface="Arial" panose="020B0604020202020204" pitchFamily="34" charset="0"/>
              <a:buChar char="•"/>
            </a:pPr>
            <a:endParaRPr lang="en-IN" sz="800" dirty="0">
              <a:latin typeface="Liberation Mono"/>
            </a:endParaRPr>
          </a:p>
          <a:p>
            <a:pPr marL="285750" indent="-285750" algn="just">
              <a:buFont typeface="Arial" panose="020B0604020202020204" pitchFamily="34" charset="0"/>
              <a:buChar char="•"/>
            </a:pPr>
            <a:r>
              <a:rPr lang="en-IN" dirty="0">
                <a:solidFill>
                  <a:srgbClr val="0077AA"/>
                </a:solidFill>
                <a:latin typeface="Liberation Mono"/>
              </a:rPr>
              <a:t>  EXIT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2600013"/>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3D3E5039-293F-3F84-BE51-BBD61955F6EE}"/>
              </a:ext>
            </a:extLst>
          </p:cNvPr>
          <p:cNvSpPr txBox="1">
            <a:spLocks/>
          </p:cNvSpPr>
          <p:nvPr/>
        </p:nvSpPr>
        <p:spPr>
          <a:xfrm>
            <a:off x="1676400" y="2442592"/>
            <a:ext cx="8839200" cy="914400"/>
          </a:xfrm>
          <a:prstGeom prst="rect">
            <a:avLst/>
          </a:prstGeom>
        </p:spPr>
        <p:txBody>
          <a:bodyPr>
            <a:normAutofit/>
          </a:bodyPr>
          <a:lstStyle/>
          <a:p>
            <a:pPr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table partitioning</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7C90558D-337E-23BD-3400-2588FADF22E3}"/>
              </a:ext>
            </a:extLst>
          </p:cNvPr>
          <p:cNvSpPr txBox="1"/>
          <p:nvPr/>
        </p:nvSpPr>
        <p:spPr>
          <a:xfrm>
            <a:off x="3455470" y="3334688"/>
            <a:ext cx="5281059" cy="400110"/>
          </a:xfrm>
          <a:prstGeom prst="rect">
            <a:avLst/>
          </a:prstGeom>
          <a:noFill/>
        </p:spPr>
        <p:txBody>
          <a:bodyPr wrap="square">
            <a:spAutoFit/>
          </a:bodyPr>
          <a:lstStyle/>
          <a:p>
            <a:r>
              <a:rPr lang="en-US" sz="2000" b="0" i="0" dirty="0">
                <a:solidFill>
                  <a:srgbClr val="202124"/>
                </a:solidFill>
                <a:effectLst/>
                <a:latin typeface="Palatino Linotype" panose="02040502050505030304" pitchFamily="18" charset="0"/>
              </a:rPr>
              <a:t>Partitioning </a:t>
            </a:r>
            <a:r>
              <a:rPr lang="en-US" sz="2000" b="0" i="0" dirty="0">
                <a:solidFill>
                  <a:srgbClr val="040C28"/>
                </a:solidFill>
                <a:effectLst/>
                <a:latin typeface="Palatino Linotype" panose="02040502050505030304" pitchFamily="18" charset="0"/>
              </a:rPr>
              <a:t>separates data into logical units</a:t>
            </a:r>
            <a:r>
              <a:rPr lang="en-US" sz="2000" b="0" i="0" dirty="0">
                <a:solidFill>
                  <a:srgbClr val="202124"/>
                </a:solidFill>
                <a:effectLst/>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4157948557"/>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
        <p:nvSpPr>
          <p:cNvPr id="8" name="TextBox 7">
            <a:extLst>
              <a:ext uri="{FF2B5EF4-FFF2-40B4-BE49-F238E27FC236}">
                <a16:creationId xmlns:a16="http://schemas.microsoft.com/office/drawing/2014/main" id="{161F3EA3-9F30-4056-913A-089FFBC7C6B3}"/>
              </a:ext>
            </a:extLst>
          </p:cNvPr>
          <p:cNvSpPr txBox="1"/>
          <p:nvPr/>
        </p:nvSpPr>
        <p:spPr>
          <a:xfrm>
            <a:off x="407368" y="332656"/>
            <a:ext cx="11377264" cy="1354217"/>
          </a:xfrm>
          <a:prstGeom prst="rect">
            <a:avLst/>
          </a:prstGeom>
          <a:noFill/>
        </p:spPr>
        <p:txBody>
          <a:bodyPr wrap="square">
            <a:spAutoFit/>
          </a:bodyPr>
          <a:lstStyle/>
          <a:p>
            <a:pPr algn="l" fontAlgn="base"/>
            <a:r>
              <a:rPr lang="en-US" sz="2000" b="0" i="0" dirty="0">
                <a:solidFill>
                  <a:srgbClr val="337AB7"/>
                </a:solidFill>
                <a:effectLst/>
                <a:latin typeface="Segoe UI" panose="020B0502040204020203" pitchFamily="34" charset="0"/>
              </a:rPr>
              <a:t>What is a database table partitioning?</a:t>
            </a:r>
          </a:p>
          <a:p>
            <a:pPr algn="l" fontAlgn="base"/>
            <a:endParaRPr lang="en-US" sz="800" dirty="0">
              <a:solidFill>
                <a:schemeClr val="tx1">
                  <a:lumMod val="75000"/>
                  <a:lumOff val="25000"/>
                </a:schemeClr>
              </a:solidFill>
              <a:latin typeface="Segoe UI" panose="020B0502040204020203" pitchFamily="34" charset="0"/>
            </a:endParaRPr>
          </a:p>
          <a:p>
            <a:pPr algn="l" fontAlgn="base"/>
            <a:r>
              <a:rPr lang="en-US" b="0" i="0" dirty="0">
                <a:solidFill>
                  <a:schemeClr val="tx1">
                    <a:lumMod val="75000"/>
                    <a:lumOff val="25000"/>
                  </a:schemeClr>
                </a:solidFill>
                <a:effectLst/>
                <a:latin typeface="Segoe UI" panose="020B0502040204020203" pitchFamily="34" charset="0"/>
              </a:rPr>
              <a:t>Partitioning is the database process where very large tables are divided into multiple smaller parts. By splitting a large table into smaller, individual tables. The main of goal of partitioning is to aid in maintenance of large tables and to reduce the overall response time to read and load data for particular SQL operations.</a:t>
            </a:r>
          </a:p>
        </p:txBody>
      </p:sp>
      <p:grpSp>
        <p:nvGrpSpPr>
          <p:cNvPr id="5" name="Group 4">
            <a:extLst>
              <a:ext uri="{FF2B5EF4-FFF2-40B4-BE49-F238E27FC236}">
                <a16:creationId xmlns:a16="http://schemas.microsoft.com/office/drawing/2014/main" id="{CA0C6D47-24BA-4E75-96F4-745B28CC860D}"/>
              </a:ext>
            </a:extLst>
          </p:cNvPr>
          <p:cNvGrpSpPr/>
          <p:nvPr/>
        </p:nvGrpSpPr>
        <p:grpSpPr>
          <a:xfrm>
            <a:off x="407368" y="1772816"/>
            <a:ext cx="11429765" cy="2931399"/>
            <a:chOff x="407368" y="2276872"/>
            <a:chExt cx="11429765" cy="2931399"/>
          </a:xfrm>
        </p:grpSpPr>
        <p:sp>
          <p:nvSpPr>
            <p:cNvPr id="11" name="TextBox 10">
              <a:extLst>
                <a:ext uri="{FF2B5EF4-FFF2-40B4-BE49-F238E27FC236}">
                  <a16:creationId xmlns:a16="http://schemas.microsoft.com/office/drawing/2014/main" id="{E89319EA-68BD-4147-93AF-AEE7FCC1779D}"/>
                </a:ext>
              </a:extLst>
            </p:cNvPr>
            <p:cNvSpPr txBox="1"/>
            <p:nvPr/>
          </p:nvSpPr>
          <p:spPr>
            <a:xfrm>
              <a:off x="407368" y="2276872"/>
              <a:ext cx="5112568" cy="400110"/>
            </a:xfrm>
            <a:prstGeom prst="rect">
              <a:avLst/>
            </a:prstGeom>
            <a:noFill/>
          </p:spPr>
          <p:txBody>
            <a:bodyPr wrap="square">
              <a:spAutoFit/>
            </a:bodyPr>
            <a:lstStyle/>
            <a:p>
              <a:pPr algn="l" fontAlgn="base"/>
              <a:r>
                <a:rPr lang="en-IN" sz="2000" b="0" i="0" dirty="0">
                  <a:solidFill>
                    <a:srgbClr val="337AB7"/>
                  </a:solidFill>
                  <a:effectLst/>
                  <a:latin typeface="Segoe UI" panose="020B0502040204020203" pitchFamily="34" charset="0"/>
                </a:rPr>
                <a:t>Vertical Partitioning</a:t>
              </a:r>
            </a:p>
          </p:txBody>
        </p:sp>
        <p:pic>
          <p:nvPicPr>
            <p:cNvPr id="1026" name="Picture 2" descr="Vertical table partitioning">
              <a:extLst>
                <a:ext uri="{FF2B5EF4-FFF2-40B4-BE49-F238E27FC236}">
                  <a16:creationId xmlns:a16="http://schemas.microsoft.com/office/drawing/2014/main" id="{847250D6-0D1B-457B-B9BE-7B608A0F88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7368" y="2712135"/>
              <a:ext cx="5112568" cy="249613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B217F1A-167D-41CD-B5A1-42076834D082}"/>
                </a:ext>
              </a:extLst>
            </p:cNvPr>
            <p:cNvSpPr txBox="1"/>
            <p:nvPr/>
          </p:nvSpPr>
          <p:spPr>
            <a:xfrm>
              <a:off x="5917132" y="2276872"/>
              <a:ext cx="5867500" cy="400110"/>
            </a:xfrm>
            <a:prstGeom prst="rect">
              <a:avLst/>
            </a:prstGeom>
            <a:noFill/>
          </p:spPr>
          <p:txBody>
            <a:bodyPr wrap="square">
              <a:spAutoFit/>
            </a:bodyPr>
            <a:lstStyle/>
            <a:p>
              <a:pPr fontAlgn="base"/>
              <a:r>
                <a:rPr lang="en-IN" sz="2000" b="0" i="0" dirty="0">
                  <a:solidFill>
                    <a:srgbClr val="337AB7"/>
                  </a:solidFill>
                  <a:effectLst/>
                  <a:latin typeface="Segoe UI" panose="020B0502040204020203" pitchFamily="34" charset="0"/>
                </a:rPr>
                <a:t>Horizontal Partitioning</a:t>
              </a:r>
            </a:p>
          </p:txBody>
        </p:sp>
        <p:pic>
          <p:nvPicPr>
            <p:cNvPr id="1028" name="Picture 4" descr="Horizontal table partitioning">
              <a:extLst>
                <a:ext uri="{FF2B5EF4-FFF2-40B4-BE49-F238E27FC236}">
                  <a16:creationId xmlns:a16="http://schemas.microsoft.com/office/drawing/2014/main" id="{FFD774D8-43F7-4A04-9812-F0EB8290728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17133" y="2712134"/>
              <a:ext cx="5920000" cy="237304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6">
            <a:extLst>
              <a:ext uri="{FF2B5EF4-FFF2-40B4-BE49-F238E27FC236}">
                <a16:creationId xmlns:a16="http://schemas.microsoft.com/office/drawing/2014/main" id="{95407D94-0B6A-4400-813D-3DB45EAA449F}"/>
              </a:ext>
            </a:extLst>
          </p:cNvPr>
          <p:cNvGrpSpPr/>
          <p:nvPr/>
        </p:nvGrpSpPr>
        <p:grpSpPr>
          <a:xfrm>
            <a:off x="119336" y="4869160"/>
            <a:ext cx="5112569" cy="1655925"/>
            <a:chOff x="208769" y="4869160"/>
            <a:chExt cx="5112569" cy="1655925"/>
          </a:xfrm>
        </p:grpSpPr>
        <p:sp>
          <p:nvSpPr>
            <p:cNvPr id="15" name="TextBox 14">
              <a:extLst>
                <a:ext uri="{FF2B5EF4-FFF2-40B4-BE49-F238E27FC236}">
                  <a16:creationId xmlns:a16="http://schemas.microsoft.com/office/drawing/2014/main" id="{CC788CB7-2CE7-4BA2-8A21-02C9FFE070F6}"/>
                </a:ext>
              </a:extLst>
            </p:cNvPr>
            <p:cNvSpPr txBox="1"/>
            <p:nvPr/>
          </p:nvSpPr>
          <p:spPr>
            <a:xfrm>
              <a:off x="208769" y="4869160"/>
              <a:ext cx="5112569" cy="707886"/>
            </a:xfrm>
            <a:prstGeom prst="rect">
              <a:avLst/>
            </a:prstGeom>
            <a:noFill/>
          </p:spPr>
          <p:txBody>
            <a:bodyPr wrap="square">
              <a:spAutoFit/>
            </a:bodyPr>
            <a:lstStyle/>
            <a:p>
              <a:pPr algn="just"/>
              <a:r>
                <a:rPr lang="en-US" sz="2000" b="0" i="0" dirty="0">
                  <a:solidFill>
                    <a:srgbClr val="333333"/>
                  </a:solidFill>
                  <a:effectLst/>
                  <a:latin typeface="Inter-Regular"/>
                </a:rPr>
                <a:t>MySQL has mainly six types of partitioning, which are given below:</a:t>
              </a:r>
            </a:p>
          </p:txBody>
        </p:sp>
        <p:grpSp>
          <p:nvGrpSpPr>
            <p:cNvPr id="17" name="Group 16">
              <a:extLst>
                <a:ext uri="{FF2B5EF4-FFF2-40B4-BE49-F238E27FC236}">
                  <a16:creationId xmlns:a16="http://schemas.microsoft.com/office/drawing/2014/main" id="{FB3D5D9D-791C-445B-979C-399D98C4AF58}"/>
                </a:ext>
              </a:extLst>
            </p:cNvPr>
            <p:cNvGrpSpPr/>
            <p:nvPr/>
          </p:nvGrpSpPr>
          <p:grpSpPr>
            <a:xfrm>
              <a:off x="208769" y="5601755"/>
              <a:ext cx="5112569" cy="923330"/>
              <a:chOff x="354868" y="5353489"/>
              <a:chExt cx="5112569" cy="923330"/>
            </a:xfrm>
          </p:grpSpPr>
          <p:sp>
            <p:nvSpPr>
              <p:cNvPr id="18" name="TextBox 17">
                <a:extLst>
                  <a:ext uri="{FF2B5EF4-FFF2-40B4-BE49-F238E27FC236}">
                    <a16:creationId xmlns:a16="http://schemas.microsoft.com/office/drawing/2014/main" id="{BFAAFCD1-FD7F-4B33-AE63-ED05C474E5D6}"/>
                  </a:ext>
                </a:extLst>
              </p:cNvPr>
              <p:cNvSpPr txBox="1"/>
              <p:nvPr/>
            </p:nvSpPr>
            <p:spPr>
              <a:xfrm>
                <a:off x="354868" y="5353489"/>
                <a:ext cx="264478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RANGE Partitioning</a:t>
                </a:r>
              </a:p>
              <a:p>
                <a:pPr marL="285750" indent="-285750" algn="just">
                  <a:buFont typeface="Arial" panose="020B0604020202020204" pitchFamily="34" charset="0"/>
                  <a:buChar char="•"/>
                </a:pPr>
                <a:r>
                  <a:rPr lang="en-US" b="0" i="0" dirty="0">
                    <a:solidFill>
                      <a:srgbClr val="000000"/>
                    </a:solidFill>
                    <a:effectLst/>
                    <a:latin typeface="Inter-Regular"/>
                  </a:rPr>
                  <a:t>LIST Partitioning</a:t>
                </a:r>
              </a:p>
              <a:p>
                <a:pPr marL="285750" indent="-285750" algn="just">
                  <a:buFont typeface="Arial" panose="020B0604020202020204" pitchFamily="34" charset="0"/>
                  <a:buChar char="•"/>
                </a:pPr>
                <a:r>
                  <a:rPr lang="en-US" b="0" i="0" dirty="0">
                    <a:solidFill>
                      <a:srgbClr val="000000"/>
                    </a:solidFill>
                    <a:effectLst/>
                    <a:latin typeface="Inter-Regular"/>
                  </a:rPr>
                  <a:t>COLUMNS Partitioning</a:t>
                </a:r>
              </a:p>
            </p:txBody>
          </p:sp>
          <p:sp>
            <p:nvSpPr>
              <p:cNvPr id="20" name="TextBox 19">
                <a:extLst>
                  <a:ext uri="{FF2B5EF4-FFF2-40B4-BE49-F238E27FC236}">
                    <a16:creationId xmlns:a16="http://schemas.microsoft.com/office/drawing/2014/main" id="{5B78A70D-888E-434C-9276-F6D5171A3854}"/>
                  </a:ext>
                </a:extLst>
              </p:cNvPr>
              <p:cNvSpPr txBox="1"/>
              <p:nvPr/>
            </p:nvSpPr>
            <p:spPr>
              <a:xfrm>
                <a:off x="3118129" y="5353489"/>
                <a:ext cx="234930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HASH Partitioning</a:t>
                </a:r>
              </a:p>
              <a:p>
                <a:pPr marL="285750" indent="-285750" algn="just">
                  <a:buFont typeface="Arial" panose="020B0604020202020204" pitchFamily="34" charset="0"/>
                  <a:buChar char="•"/>
                </a:pPr>
                <a:r>
                  <a:rPr lang="en-US" b="0" i="0" dirty="0">
                    <a:solidFill>
                      <a:srgbClr val="000000"/>
                    </a:solidFill>
                    <a:effectLst/>
                    <a:latin typeface="Inter-Regular"/>
                  </a:rPr>
                  <a:t>KEY Partitioning</a:t>
                </a:r>
              </a:p>
              <a:p>
                <a:pPr marL="285750" indent="-285750" algn="just">
                  <a:buFont typeface="Arial" panose="020B0604020202020204" pitchFamily="34" charset="0"/>
                  <a:buChar char="•"/>
                </a:pPr>
                <a:r>
                  <a:rPr lang="en-US" b="0" i="0" dirty="0">
                    <a:solidFill>
                      <a:srgbClr val="000000"/>
                    </a:solidFill>
                    <a:effectLst/>
                    <a:latin typeface="Inter-Regular"/>
                  </a:rPr>
                  <a:t>Subpartitioning</a:t>
                </a:r>
              </a:p>
            </p:txBody>
          </p:sp>
        </p:grpSp>
      </p:grpSp>
      <p:grpSp>
        <p:nvGrpSpPr>
          <p:cNvPr id="9" name="Group 8">
            <a:extLst>
              <a:ext uri="{FF2B5EF4-FFF2-40B4-BE49-F238E27FC236}">
                <a16:creationId xmlns:a16="http://schemas.microsoft.com/office/drawing/2014/main" id="{E9C8EF2A-4C32-49B5-AECF-ABD7897DB6DA}"/>
              </a:ext>
            </a:extLst>
          </p:cNvPr>
          <p:cNvGrpSpPr/>
          <p:nvPr/>
        </p:nvGrpSpPr>
        <p:grpSpPr>
          <a:xfrm>
            <a:off x="5519936" y="4353686"/>
            <a:ext cx="4248742" cy="2027641"/>
            <a:chOff x="5519936" y="4353686"/>
            <a:chExt cx="4248742" cy="2027641"/>
          </a:xfrm>
        </p:grpSpPr>
        <p:pic>
          <p:nvPicPr>
            <p:cNvPr id="4" name="Picture 3">
              <a:extLst>
                <a:ext uri="{FF2B5EF4-FFF2-40B4-BE49-F238E27FC236}">
                  <a16:creationId xmlns:a16="http://schemas.microsoft.com/office/drawing/2014/main" id="{C5CF60D6-FF06-4954-9014-2D6B7BFE0721}"/>
                </a:ext>
              </a:extLst>
            </p:cNvPr>
            <p:cNvPicPr>
              <a:picLocks noChangeAspect="1"/>
            </p:cNvPicPr>
            <p:nvPr/>
          </p:nvPicPr>
          <p:blipFill>
            <a:blip r:embed="rId4"/>
            <a:stretch>
              <a:fillRect/>
            </a:stretch>
          </p:blipFill>
          <p:spPr>
            <a:xfrm>
              <a:off x="5519936" y="4353686"/>
              <a:ext cx="2808312" cy="2027641"/>
            </a:xfrm>
            <a:prstGeom prst="rect">
              <a:avLst/>
            </a:prstGeom>
          </p:spPr>
        </p:pic>
        <p:sp>
          <p:nvSpPr>
            <p:cNvPr id="19" name="TextBox 18">
              <a:extLst>
                <a:ext uri="{FF2B5EF4-FFF2-40B4-BE49-F238E27FC236}">
                  <a16:creationId xmlns:a16="http://schemas.microsoft.com/office/drawing/2014/main" id="{4889DF01-7208-4AC9-AFDD-B1BC8271FB1D}"/>
                </a:ext>
              </a:extLst>
            </p:cNvPr>
            <p:cNvSpPr txBox="1"/>
            <p:nvPr/>
          </p:nvSpPr>
          <p:spPr>
            <a:xfrm>
              <a:off x="7464152" y="5017765"/>
              <a:ext cx="2304526" cy="523220"/>
            </a:xfrm>
            <a:prstGeom prst="rect">
              <a:avLst/>
            </a:prstGeom>
            <a:noFill/>
          </p:spPr>
          <p:txBody>
            <a:bodyPr wrap="square">
              <a:spAutoFit/>
            </a:bodyPr>
            <a:lstStyle/>
            <a:p>
              <a:r>
                <a:rPr lang="en-IN" sz="2800" dirty="0">
                  <a:solidFill>
                    <a:srgbClr val="5E4C34"/>
                  </a:solidFill>
                </a:rPr>
                <a:t>partition skew</a:t>
              </a:r>
            </a:p>
          </p:txBody>
        </p:sp>
      </p:grpSp>
    </p:spTree>
    <p:extLst>
      <p:ext uri="{BB962C8B-B14F-4D97-AF65-F5344CB8AC3E}">
        <p14:creationId xmlns:p14="http://schemas.microsoft.com/office/powerpoint/2010/main" val="1849018383"/>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5014E16-5655-429C-9174-2E9E5FC398F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63352" y="319973"/>
            <a:ext cx="9289032" cy="6555063"/>
          </a:xfrm>
          <a:prstGeom prst="rect">
            <a:avLst/>
          </a:prstGeom>
        </p:spPr>
      </p:pic>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Tree>
    <p:extLst>
      <p:ext uri="{BB962C8B-B14F-4D97-AF65-F5344CB8AC3E}">
        <p14:creationId xmlns:p14="http://schemas.microsoft.com/office/powerpoint/2010/main" val="1120644068"/>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AC8403EB-4ABA-DC05-D5AC-FE24BC8235A5}"/>
              </a:ext>
            </a:extLst>
          </p:cNvPr>
          <p:cNvGrpSpPr/>
          <p:nvPr/>
        </p:nvGrpSpPr>
        <p:grpSpPr>
          <a:xfrm>
            <a:off x="558574" y="555523"/>
            <a:ext cx="11082042" cy="2513437"/>
            <a:chOff x="558574" y="400592"/>
            <a:chExt cx="11082042" cy="2513437"/>
          </a:xfrm>
        </p:grpSpPr>
        <p:sp>
          <p:nvSpPr>
            <p:cNvPr id="8" name="TextBox 7">
              <a:extLst>
                <a:ext uri="{FF2B5EF4-FFF2-40B4-BE49-F238E27FC236}">
                  <a16:creationId xmlns:a16="http://schemas.microsoft.com/office/drawing/2014/main" id="{B029DC77-6B8A-04D2-5E40-4E87C995179D}"/>
                </a:ext>
              </a:extLst>
            </p:cNvPr>
            <p:cNvSpPr txBox="1"/>
            <p:nvPr/>
          </p:nvSpPr>
          <p:spPr>
            <a:xfrm>
              <a:off x="558574" y="1159703"/>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MAXVALUE</a:t>
              </a:r>
            </a:p>
            <a:p>
              <a:r>
                <a:rPr lang="en-IN" dirty="0">
                  <a:latin typeface="Liberation Mono"/>
                </a:rPr>
                <a:t>   )</a:t>
              </a:r>
            </a:p>
          </p:txBody>
        </p:sp>
        <p:sp>
          <p:nvSpPr>
            <p:cNvPr id="2" name="TextBox 1">
              <a:extLst>
                <a:ext uri="{FF2B5EF4-FFF2-40B4-BE49-F238E27FC236}">
                  <a16:creationId xmlns:a16="http://schemas.microsoft.com/office/drawing/2014/main" id="{E484428E-EFB3-52AD-4F3E-918AB029BD78}"/>
                </a:ext>
              </a:extLst>
            </p:cNvPr>
            <p:cNvSpPr txBox="1"/>
            <p:nvPr/>
          </p:nvSpPr>
          <p:spPr>
            <a:xfrm>
              <a:off x="572011" y="400592"/>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10" name="Group 9">
            <a:extLst>
              <a:ext uri="{FF2B5EF4-FFF2-40B4-BE49-F238E27FC236}">
                <a16:creationId xmlns:a16="http://schemas.microsoft.com/office/drawing/2014/main" id="{51B6FE83-B008-D43F-90D2-4C4E663638C9}"/>
              </a:ext>
            </a:extLst>
          </p:cNvPr>
          <p:cNvGrpSpPr/>
          <p:nvPr/>
        </p:nvGrpSpPr>
        <p:grpSpPr>
          <a:xfrm>
            <a:off x="558574" y="3573016"/>
            <a:ext cx="11082042" cy="2517237"/>
            <a:chOff x="558574" y="3573016"/>
            <a:chExt cx="11082042" cy="2517237"/>
          </a:xfrm>
        </p:grpSpPr>
        <p:sp>
          <p:nvSpPr>
            <p:cNvPr id="6" name="TextBox 5">
              <a:extLst>
                <a:ext uri="{FF2B5EF4-FFF2-40B4-BE49-F238E27FC236}">
                  <a16:creationId xmlns:a16="http://schemas.microsoft.com/office/drawing/2014/main" id="{BA611957-2E22-DF3E-51A5-1492958341A2}"/>
                </a:ext>
              </a:extLst>
            </p:cNvPr>
            <p:cNvSpPr txBox="1"/>
            <p:nvPr/>
          </p:nvSpPr>
          <p:spPr>
            <a:xfrm>
              <a:off x="558574" y="4335927"/>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p>
          </p:txBody>
        </p:sp>
        <p:sp>
          <p:nvSpPr>
            <p:cNvPr id="7" name="TextBox 6">
              <a:extLst>
                <a:ext uri="{FF2B5EF4-FFF2-40B4-BE49-F238E27FC236}">
                  <a16:creationId xmlns:a16="http://schemas.microsoft.com/office/drawing/2014/main" id="{02930E98-F669-0108-A11E-FAEE7A91FA24}"/>
                </a:ext>
              </a:extLst>
            </p:cNvPr>
            <p:cNvSpPr txBox="1"/>
            <p:nvPr/>
          </p:nvSpPr>
          <p:spPr>
            <a:xfrm>
              <a:off x="558574" y="3573016"/>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partitioning by range / list</a:t>
            </a:r>
          </a:p>
        </p:txBody>
      </p:sp>
    </p:spTree>
    <p:extLst>
      <p:ext uri="{BB962C8B-B14F-4D97-AF65-F5344CB8AC3E}">
        <p14:creationId xmlns:p14="http://schemas.microsoft.com/office/powerpoint/2010/main" val="3774080860"/>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241B634-1630-48B2-831A-F5EB1724F226}"/>
              </a:ext>
            </a:extLst>
          </p:cNvPr>
          <p:cNvSpPr txBox="1"/>
          <p:nvPr/>
        </p:nvSpPr>
        <p:spPr>
          <a:xfrm>
            <a:off x="407368" y="692696"/>
            <a:ext cx="5256584"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employee (</a:t>
            </a:r>
          </a:p>
          <a:p>
            <a:r>
              <a:rPr lang="en-IN" dirty="0">
                <a:latin typeface="Liberation Mono"/>
              </a:rPr>
              <a:t>            empno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ename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salary </a:t>
            </a:r>
            <a:r>
              <a:rPr lang="en-IN" dirty="0">
                <a:solidFill>
                  <a:srgbClr val="834689"/>
                </a:solidFill>
                <a:latin typeface="Liberation Mono"/>
                <a:cs typeface="Arial" panose="020B0604020202020204" pitchFamily="34" charset="0"/>
              </a:rPr>
              <a:t>INT</a:t>
            </a: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(salary)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0077AA"/>
                </a:solidFill>
                <a:latin typeface="Liberation Mono"/>
              </a:rPr>
              <a:t>MAXVALUE</a:t>
            </a:r>
          </a:p>
          <a:p>
            <a:r>
              <a:rPr lang="en-IN" dirty="0">
                <a:latin typeface="Liberation Mono"/>
              </a:rPr>
              <a:t>       );</a:t>
            </a:r>
          </a:p>
        </p:txBody>
      </p:sp>
      <p:sp>
        <p:nvSpPr>
          <p:cNvPr id="10" name="TextBox 9">
            <a:extLst>
              <a:ext uri="{FF2B5EF4-FFF2-40B4-BE49-F238E27FC236}">
                <a16:creationId xmlns:a16="http://schemas.microsoft.com/office/drawing/2014/main" id="{BF2D0824-5F5C-40A0-B19B-48394F0ED588}"/>
              </a:ext>
            </a:extLst>
          </p:cNvPr>
          <p:cNvSpPr txBox="1"/>
          <p:nvPr/>
        </p:nvSpPr>
        <p:spPr>
          <a:xfrm>
            <a:off x="407368"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7" name="TextBox 16">
            <a:extLst>
              <a:ext uri="{FF2B5EF4-FFF2-40B4-BE49-F238E27FC236}">
                <a16:creationId xmlns:a16="http://schemas.microsoft.com/office/drawing/2014/main" id="{9715DA39-DED8-415F-95B4-15DB9E15D812}"/>
              </a:ext>
            </a:extLst>
          </p:cNvPr>
          <p:cNvSpPr txBox="1"/>
          <p:nvPr/>
        </p:nvSpPr>
        <p:spPr>
          <a:xfrm>
            <a:off x="191344" y="4293096"/>
            <a:ext cx="6624736" cy="224676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 INTO </a:t>
            </a:r>
            <a:r>
              <a:rPr lang="en-US" dirty="0">
                <a:latin typeface="Liberation Mono"/>
              </a:rPr>
              <a:t>employee</a:t>
            </a:r>
            <a:r>
              <a:rPr lang="en-US" dirty="0">
                <a:solidFill>
                  <a:srgbClr val="0077AA"/>
                </a:solidFill>
                <a:latin typeface="Liberation Mono"/>
              </a:rPr>
              <a:t> PARTITION</a:t>
            </a:r>
            <a:r>
              <a:rPr lang="en-US" dirty="0">
                <a:latin typeface="Liberation Mono"/>
              </a:rPr>
              <a:t>(</a:t>
            </a:r>
            <a:r>
              <a:rPr lang="en-US" dirty="0">
                <a:solidFill>
                  <a:srgbClr val="816105"/>
                </a:solidFill>
                <a:latin typeface="Liberation Mono"/>
              </a:rPr>
              <a:t>p0</a:t>
            </a:r>
            <a:r>
              <a:rPr lang="en-US" dirty="0">
                <a:latin typeface="Liberation Mono"/>
              </a:rPr>
              <a:t>)</a:t>
            </a:r>
            <a:r>
              <a:rPr lang="en-US" dirty="0">
                <a:solidFill>
                  <a:srgbClr val="0077AA"/>
                </a:solidFill>
                <a:latin typeface="Liberation Mono"/>
              </a:rPr>
              <a:t> VALUES</a:t>
            </a:r>
            <a:r>
              <a:rPr lang="en-US" dirty="0">
                <a:latin typeface="Liberation Mono"/>
              </a:rPr>
              <a:t>(</a:t>
            </a:r>
            <a:r>
              <a:rPr lang="en-US" dirty="0">
                <a:solidFill>
                  <a:srgbClr val="990055"/>
                </a:solidFill>
                <a:latin typeface="Liberation Mono"/>
              </a:rPr>
              <a:t>1</a:t>
            </a:r>
            <a:r>
              <a:rPr lang="en-US" dirty="0">
                <a:latin typeface="Liberation Mono"/>
              </a:rPr>
              <a:t>,</a:t>
            </a:r>
            <a:r>
              <a:rPr lang="en-IN" dirty="0">
                <a:solidFill>
                  <a:srgbClr val="669900"/>
                </a:solidFill>
                <a:latin typeface="Liberation Mono"/>
              </a:rPr>
              <a:t> 'saleel'</a:t>
            </a:r>
            <a:r>
              <a:rPr lang="en-US" dirty="0">
                <a:latin typeface="Liberation Mono"/>
              </a:rPr>
              <a:t>, </a:t>
            </a:r>
            <a:r>
              <a:rPr lang="en-US" dirty="0">
                <a:solidFill>
                  <a:srgbClr val="990055"/>
                </a:solidFill>
                <a:latin typeface="Liberation Mono"/>
              </a:rPr>
              <a:t>1500</a:t>
            </a:r>
            <a:r>
              <a:rPr lang="en-US"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employee </a:t>
            </a:r>
            <a:r>
              <a:rPr lang="en-IN" dirty="0">
                <a:solidFill>
                  <a:srgbClr val="0077AA"/>
                </a:solidFill>
                <a:latin typeface="Liberation Mono"/>
              </a:rPr>
              <a:t>PARTITION</a:t>
            </a:r>
            <a:r>
              <a:rPr lang="en-IN" dirty="0">
                <a:latin typeface="Liberation Mono"/>
              </a:rPr>
              <a:t>(</a:t>
            </a:r>
            <a:r>
              <a:rPr lang="en-IN" dirty="0">
                <a:solidFill>
                  <a:srgbClr val="816105"/>
                </a:solidFill>
                <a:latin typeface="Liberation Mono"/>
              </a:rPr>
              <a:t>p0</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1500</a:t>
            </a:r>
            <a:r>
              <a:rPr lang="en-US" dirty="0">
                <a:latin typeface="Liberation Mono"/>
              </a:rPr>
              <a:t>;</a:t>
            </a:r>
            <a:endParaRPr lang="en-IN" dirty="0">
              <a:solidFill>
                <a:srgbClr val="990055"/>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0077AA"/>
                </a:solidFill>
                <a:latin typeface="Liberation Mono"/>
              </a:rPr>
              <a:t>WHERE</a:t>
            </a:r>
            <a:r>
              <a:rPr lang="en-US" dirty="0">
                <a:latin typeface="Liberation Mono"/>
              </a:rPr>
              <a:t> empno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C00000"/>
                </a:solidFill>
                <a:latin typeface="Liberation Mono"/>
              </a:rPr>
              <a:t>// Invalid statement</a:t>
            </a:r>
            <a:endParaRPr lang="en-IN" dirty="0">
              <a:solidFill>
                <a:srgbClr val="C00000"/>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DELETE</a:t>
            </a:r>
            <a:r>
              <a:rPr lang="en-US" dirty="0">
                <a:latin typeface="Liberation Mono"/>
              </a:rPr>
              <a:t> </a:t>
            </a:r>
            <a:r>
              <a:rPr lang="en-US" dirty="0">
                <a:solidFill>
                  <a:srgbClr val="0077AA"/>
                </a:solidFill>
                <a:latin typeface="Liberation Mono"/>
              </a:rPr>
              <a:t>FROM</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IN" dirty="0">
                <a:solidFill>
                  <a:srgbClr val="816105"/>
                </a:solidFill>
                <a:latin typeface="Liberation Mono"/>
              </a:rPr>
              <a:t>p0</a:t>
            </a:r>
            <a:r>
              <a:rPr lang="en-US" dirty="0">
                <a:latin typeface="Liberation Mono"/>
              </a:rPr>
              <a:t>);</a:t>
            </a:r>
          </a:p>
        </p:txBody>
      </p:sp>
      <p:sp>
        <p:nvSpPr>
          <p:cNvPr id="9" name="TextBox 8">
            <a:extLst>
              <a:ext uri="{FF2B5EF4-FFF2-40B4-BE49-F238E27FC236}">
                <a16:creationId xmlns:a16="http://schemas.microsoft.com/office/drawing/2014/main" id="{E256F044-67FA-0D16-F305-EB68C592F85F}"/>
              </a:ext>
            </a:extLst>
          </p:cNvPr>
          <p:cNvSpPr txBox="1"/>
          <p:nvPr/>
        </p:nvSpPr>
        <p:spPr>
          <a:xfrm>
            <a:off x="6999645"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2" name="TextBox 11">
            <a:extLst>
              <a:ext uri="{FF2B5EF4-FFF2-40B4-BE49-F238E27FC236}">
                <a16:creationId xmlns:a16="http://schemas.microsoft.com/office/drawing/2014/main" id="{E4A102E5-168E-1C84-81FF-28D0A00D386A}"/>
              </a:ext>
            </a:extLst>
          </p:cNvPr>
          <p:cNvSpPr txBox="1"/>
          <p:nvPr/>
        </p:nvSpPr>
        <p:spPr>
          <a:xfrm>
            <a:off x="6528050" y="692696"/>
            <a:ext cx="5440147" cy="5355312"/>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bookings (</a:t>
            </a:r>
          </a:p>
          <a:p>
            <a:pPr marL="534988"/>
            <a:r>
              <a:rPr lang="en-IN" dirty="0">
                <a:latin typeface="Liberation Mono"/>
              </a:rPr>
              <a:t>  booking_id </a:t>
            </a:r>
            <a:r>
              <a:rPr lang="en-IN" dirty="0">
                <a:solidFill>
                  <a:srgbClr val="834689"/>
                </a:solidFill>
                <a:latin typeface="Liberation Mono"/>
                <a:cs typeface="Arial" panose="020B0604020202020204" pitchFamily="34" charset="0"/>
              </a:rPr>
              <a:t>INT</a:t>
            </a:r>
            <a:r>
              <a:rPr lang="en-IN" dirty="0">
                <a:latin typeface="Liberation Mono"/>
              </a:rPr>
              <a:t>,</a:t>
            </a:r>
          </a:p>
          <a:p>
            <a:pPr marL="534988"/>
            <a:r>
              <a:rPr lang="en-IN" dirty="0">
                <a:latin typeface="Liberation Mono"/>
              </a:rPr>
              <a:t>  guest_name </a:t>
            </a:r>
            <a:r>
              <a:rPr lang="en-IN" dirty="0">
                <a:solidFill>
                  <a:srgbClr val="834689"/>
                </a:solidFill>
                <a:latin typeface="Liberation Mono"/>
                <a:cs typeface="Arial" panose="020B0604020202020204" pitchFamily="34" charset="0"/>
              </a:rPr>
              <a:t>VARCHAR</a:t>
            </a:r>
            <a:r>
              <a:rPr lang="en-IN" dirty="0">
                <a:latin typeface="Liberation Mono"/>
              </a:rPr>
              <a:t>(100),</a:t>
            </a:r>
          </a:p>
          <a:p>
            <a:pPr marL="534988"/>
            <a:r>
              <a:rPr lang="en-IN" dirty="0">
                <a:latin typeface="Liberation Mono"/>
              </a:rPr>
              <a:t>  checkin_date </a:t>
            </a:r>
            <a:r>
              <a:rPr lang="en-IN" dirty="0">
                <a:solidFill>
                  <a:srgbClr val="834689"/>
                </a:solidFill>
                <a:latin typeface="Liberation Mono"/>
                <a:cs typeface="Arial" panose="020B0604020202020204" pitchFamily="34" charset="0"/>
              </a:rPr>
              <a:t>DATE</a:t>
            </a:r>
          </a:p>
          <a:p>
            <a:pPr marL="447675"/>
            <a:r>
              <a:rPr lang="en-IN" dirty="0">
                <a:latin typeface="Liberation Mono"/>
              </a:rPr>
              <a:t>)</a:t>
            </a:r>
          </a:p>
          <a:p>
            <a:pPr marL="447675"/>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a:t>
            </a:r>
            <a:r>
              <a:rPr lang="en-IN" dirty="0">
                <a:solidFill>
                  <a:schemeClr val="accent1">
                    <a:lumMod val="75000"/>
                  </a:schemeClr>
                </a:solidFill>
                <a:latin typeface="Liberation Mono"/>
              </a:rPr>
              <a:t>MONTH</a:t>
            </a:r>
            <a:r>
              <a:rPr lang="en-IN" dirty="0">
                <a:latin typeface="Liberation Mono"/>
              </a:rPr>
              <a:t>(checkin_date)) (</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January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February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3</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March</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April</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5</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June</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7</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July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8</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August</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9</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September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10</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October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11</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November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December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13</a:t>
            </a:r>
            <a:r>
              <a:rPr lang="en-IN" dirty="0">
                <a:latin typeface="Liberation Mono"/>
              </a:rPr>
              <a:t>)</a:t>
            </a:r>
          </a:p>
          <a:p>
            <a:pPr marL="447675"/>
            <a:r>
              <a:rPr lang="en-IN" dirty="0">
                <a:latin typeface="Liberation Mono"/>
              </a:rPr>
              <a:t>);</a:t>
            </a:r>
          </a:p>
        </p:txBody>
      </p:sp>
    </p:spTree>
    <p:extLst>
      <p:ext uri="{BB962C8B-B14F-4D97-AF65-F5344CB8AC3E}">
        <p14:creationId xmlns:p14="http://schemas.microsoft.com/office/powerpoint/2010/main" val="392515320"/>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D0AAA-0B8C-DE8B-36BD-FC77B3BBFDE0}"/>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603C89DF-2025-510E-5A3B-3AA573B2AB32}"/>
              </a:ext>
            </a:extLst>
          </p:cNvPr>
          <p:cNvSpPr txBox="1"/>
          <p:nvPr/>
        </p:nvSpPr>
        <p:spPr>
          <a:xfrm>
            <a:off x="407368" y="188640"/>
            <a:ext cx="3312368" cy="430887"/>
          </a:xfrm>
          <a:prstGeom prst="rect">
            <a:avLst/>
          </a:prstGeom>
          <a:noFill/>
        </p:spPr>
        <p:txBody>
          <a:bodyPr wrap="square">
            <a:spAutoFit/>
          </a:bodyPr>
          <a:lstStyle/>
          <a:p>
            <a:pPr algn="just"/>
            <a:r>
              <a:rPr lang="en-US" sz="2200" dirty="0">
                <a:solidFill>
                  <a:srgbClr val="C00000"/>
                </a:solidFill>
                <a:latin typeface="Inter-Regular"/>
              </a:rPr>
              <a:t>LIST Partitioning</a:t>
            </a:r>
          </a:p>
        </p:txBody>
      </p:sp>
      <p:sp>
        <p:nvSpPr>
          <p:cNvPr id="13" name="TextBox 12">
            <a:extLst>
              <a:ext uri="{FF2B5EF4-FFF2-40B4-BE49-F238E27FC236}">
                <a16:creationId xmlns:a16="http://schemas.microsoft.com/office/drawing/2014/main" id="{34700612-4E36-9906-D600-91B6E5B5BC06}"/>
              </a:ext>
            </a:extLst>
          </p:cNvPr>
          <p:cNvSpPr txBox="1"/>
          <p:nvPr/>
        </p:nvSpPr>
        <p:spPr>
          <a:xfrm>
            <a:off x="407368" y="836712"/>
            <a:ext cx="4824536"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item (</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itemDesc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storeID </a:t>
            </a:r>
            <a:r>
              <a:rPr lang="en-IN" dirty="0">
                <a:solidFill>
                  <a:srgbClr val="834689"/>
                </a:solidFill>
                <a:latin typeface="Liberation Mono"/>
                <a:cs typeface="Arial" panose="020B0604020202020204" pitchFamily="34" charset="0"/>
              </a:rPr>
              <a:t>INT</a:t>
            </a:r>
            <a:endParaRPr lang="en-IN" dirty="0">
              <a:latin typeface="Liberation Mono"/>
            </a:endParaRP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(storeID)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a:t>
            </a:r>
            <a:r>
              <a:rPr lang="en-US" dirty="0">
                <a:latin typeface="Liberation Mono"/>
                <a:cs typeface="Segoe UI" panose="020B0502040204020203" pitchFamily="34" charset="0"/>
              </a:rPr>
              <a:t>, </a:t>
            </a:r>
            <a:r>
              <a:rPr lang="en-US" dirty="0">
                <a:solidFill>
                  <a:srgbClr val="990055"/>
                </a:solidFill>
                <a:latin typeface="Liberation Mono"/>
              </a:rPr>
              <a:t>3</a:t>
            </a:r>
            <a:r>
              <a:rPr lang="en-US" dirty="0">
                <a:latin typeface="Liberation Mono"/>
                <a:cs typeface="Segoe UI" panose="020B0502040204020203" pitchFamily="34" charset="0"/>
              </a:rPr>
              <a:t>, </a:t>
            </a:r>
            <a:r>
              <a:rPr lang="en-US" dirty="0">
                <a:solidFill>
                  <a:srgbClr val="990055"/>
                </a:solidFill>
                <a:latin typeface="Liberation Mono"/>
              </a:rPr>
              <a:t>5</a:t>
            </a:r>
            <a:r>
              <a:rPr lang="en-US" dirty="0">
                <a:latin typeface="Liberation Mono"/>
                <a:cs typeface="Segoe UI" panose="020B0502040204020203" pitchFamily="34" charset="0"/>
              </a:rPr>
              <a:t>, </a:t>
            </a:r>
            <a:r>
              <a:rPr lang="en-US" dirty="0">
                <a:solidFill>
                  <a:srgbClr val="990055"/>
                </a:solidFill>
                <a:latin typeface="Liberation Mono"/>
              </a:rPr>
              <a:t>7</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2</a:t>
            </a:r>
            <a:r>
              <a:rPr lang="en-US" dirty="0">
                <a:latin typeface="Liberation Mono"/>
                <a:cs typeface="Segoe UI" panose="020B0502040204020203" pitchFamily="34" charset="0"/>
              </a:rPr>
              <a:t>, </a:t>
            </a:r>
            <a:r>
              <a:rPr lang="en-US" dirty="0">
                <a:solidFill>
                  <a:srgbClr val="990055"/>
                </a:solidFill>
                <a:latin typeface="Liberation Mono"/>
              </a:rPr>
              <a:t>4</a:t>
            </a:r>
            <a:r>
              <a:rPr lang="en-US" dirty="0">
                <a:latin typeface="Liberation Mono"/>
                <a:cs typeface="Segoe UI" panose="020B0502040204020203" pitchFamily="34" charset="0"/>
              </a:rPr>
              <a:t>, </a:t>
            </a:r>
            <a:r>
              <a:rPr lang="en-US" dirty="0">
                <a:solidFill>
                  <a:srgbClr val="990055"/>
                </a:solidFill>
                <a:latin typeface="Liberation Mono"/>
              </a:rPr>
              <a:t>6</a:t>
            </a:r>
            <a:r>
              <a:rPr lang="en-US" dirty="0">
                <a:latin typeface="Liberation Mono"/>
                <a:cs typeface="Segoe UI" panose="020B0502040204020203" pitchFamily="34" charset="0"/>
              </a:rPr>
              <a:t>, </a:t>
            </a:r>
            <a:r>
              <a:rPr lang="en-US" dirty="0">
                <a:solidFill>
                  <a:srgbClr val="990055"/>
                </a:solidFill>
                <a:latin typeface="Liberation Mono"/>
              </a:rPr>
              <a:t>8</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10</a:t>
            </a:r>
            <a:r>
              <a:rPr lang="en-US" dirty="0">
                <a:latin typeface="Liberation Mono"/>
                <a:cs typeface="Segoe UI" panose="020B0502040204020203" pitchFamily="34" charset="0"/>
              </a:rPr>
              <a:t>, </a:t>
            </a:r>
            <a:r>
              <a:rPr lang="en-US" dirty="0">
                <a:solidFill>
                  <a:srgbClr val="990055"/>
                </a:solidFill>
                <a:latin typeface="Liberation Mono"/>
              </a:rPr>
              <a:t>12</a:t>
            </a:r>
            <a:r>
              <a:rPr lang="en-US" dirty="0">
                <a:latin typeface="Liberation Mono"/>
                <a:cs typeface="Segoe UI" panose="020B0502040204020203" pitchFamily="34" charset="0"/>
              </a:rPr>
              <a:t>, </a:t>
            </a:r>
            <a:r>
              <a:rPr lang="en-US" dirty="0">
                <a:solidFill>
                  <a:srgbClr val="990055"/>
                </a:solidFill>
                <a:latin typeface="Liberation Mono"/>
              </a:rPr>
              <a:t>14</a:t>
            </a:r>
            <a:r>
              <a:rPr lang="en-US" dirty="0">
                <a:latin typeface="Liberation Mono"/>
                <a:cs typeface="Segoe UI" panose="020B0502040204020203" pitchFamily="34" charset="0"/>
              </a:rPr>
              <a:t>, </a:t>
            </a:r>
            <a:r>
              <a:rPr lang="en-US" dirty="0">
                <a:solidFill>
                  <a:srgbClr val="990055"/>
                </a:solidFill>
                <a:latin typeface="Liberation Mono"/>
              </a:rPr>
              <a:t>16</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 IN</a:t>
            </a:r>
            <a:r>
              <a:rPr lang="en-IN" dirty="0">
                <a:latin typeface="Liberation Mono"/>
              </a:rPr>
              <a:t>(</a:t>
            </a:r>
            <a:r>
              <a:rPr lang="en-US" dirty="0">
                <a:solidFill>
                  <a:srgbClr val="990055"/>
                </a:solidFill>
                <a:latin typeface="Liberation Mono"/>
              </a:rPr>
              <a:t>11</a:t>
            </a:r>
            <a:r>
              <a:rPr lang="en-US" dirty="0">
                <a:latin typeface="Liberation Mono"/>
                <a:cs typeface="Segoe UI" panose="020B0502040204020203" pitchFamily="34" charset="0"/>
              </a:rPr>
              <a:t>, </a:t>
            </a:r>
            <a:r>
              <a:rPr lang="en-US" dirty="0">
                <a:solidFill>
                  <a:srgbClr val="990055"/>
                </a:solidFill>
                <a:latin typeface="Liberation Mono"/>
              </a:rPr>
              <a:t>13</a:t>
            </a:r>
            <a:r>
              <a:rPr lang="en-US" dirty="0">
                <a:latin typeface="Liberation Mono"/>
                <a:cs typeface="Segoe UI" panose="020B0502040204020203" pitchFamily="34" charset="0"/>
              </a:rPr>
              <a:t>, </a:t>
            </a:r>
            <a:r>
              <a:rPr lang="en-US" dirty="0">
                <a:solidFill>
                  <a:srgbClr val="990055"/>
                </a:solidFill>
                <a:latin typeface="Liberation Mono"/>
              </a:rPr>
              <a:t>15</a:t>
            </a:r>
            <a:r>
              <a:rPr lang="en-US" dirty="0">
                <a:latin typeface="Liberation Mono"/>
                <a:cs typeface="Segoe UI" panose="020B0502040204020203" pitchFamily="34" charset="0"/>
              </a:rPr>
              <a:t>, </a:t>
            </a:r>
            <a:r>
              <a:rPr lang="en-US" dirty="0">
                <a:solidFill>
                  <a:srgbClr val="990055"/>
                </a:solidFill>
                <a:latin typeface="Liberation Mono"/>
              </a:rPr>
              <a:t>17</a:t>
            </a:r>
            <a:r>
              <a:rPr lang="en-IN" dirty="0">
                <a:latin typeface="Liberation Mono"/>
              </a:rPr>
              <a:t>)</a:t>
            </a:r>
          </a:p>
          <a:p>
            <a:r>
              <a:rPr lang="en-IN" dirty="0">
                <a:latin typeface="Liberation Mono"/>
              </a:rPr>
              <a:t>       );</a:t>
            </a:r>
          </a:p>
        </p:txBody>
      </p:sp>
      <p:graphicFrame>
        <p:nvGraphicFramePr>
          <p:cNvPr id="15" name="Table 15">
            <a:extLst>
              <a:ext uri="{FF2B5EF4-FFF2-40B4-BE49-F238E27FC236}">
                <a16:creationId xmlns:a16="http://schemas.microsoft.com/office/drawing/2014/main" id="{CE7B2F4F-3FD4-ADA3-AA92-C75EB8499B6A}"/>
              </a:ext>
            </a:extLst>
          </p:cNvPr>
          <p:cNvGraphicFramePr>
            <a:graphicFrameLocks noGrp="1"/>
          </p:cNvGraphicFramePr>
          <p:nvPr/>
        </p:nvGraphicFramePr>
        <p:xfrm>
          <a:off x="7176120" y="408156"/>
          <a:ext cx="4416514" cy="1854200"/>
        </p:xfrm>
        <a:graphic>
          <a:graphicData uri="http://schemas.openxmlformats.org/drawingml/2006/table">
            <a:tbl>
              <a:tblPr firstRow="1" bandRow="1">
                <a:tableStyleId>{5940675A-B579-460E-94D1-54222C63F5DA}</a:tableStyleId>
              </a:tblPr>
              <a:tblGrid>
                <a:gridCol w="2040250">
                  <a:extLst>
                    <a:ext uri="{9D8B030D-6E8A-4147-A177-3AD203B41FA5}">
                      <a16:colId xmlns:a16="http://schemas.microsoft.com/office/drawing/2014/main" val="3149757144"/>
                    </a:ext>
                  </a:extLst>
                </a:gridCol>
                <a:gridCol w="2376264">
                  <a:extLst>
                    <a:ext uri="{9D8B030D-6E8A-4147-A177-3AD203B41FA5}">
                      <a16:colId xmlns:a16="http://schemas.microsoft.com/office/drawing/2014/main" val="1706414821"/>
                    </a:ext>
                  </a:extLst>
                </a:gridCol>
              </a:tblGrid>
              <a:tr h="370840">
                <a:tc>
                  <a:txBody>
                    <a:bodyPr/>
                    <a:lstStyle/>
                    <a:p>
                      <a:pPr algn="ctr"/>
                      <a:r>
                        <a:rPr lang="en-US" sz="1600" b="1" dirty="0">
                          <a:latin typeface="Segoe UI" panose="020B0502040204020203" pitchFamily="34" charset="0"/>
                          <a:cs typeface="Segoe UI" panose="020B0502040204020203" pitchFamily="34" charset="0"/>
                        </a:rPr>
                        <a:t>Warehouse</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tc>
                  <a:txBody>
                    <a:bodyPr/>
                    <a:lstStyle/>
                    <a:p>
                      <a:pPr algn="ctr"/>
                      <a:r>
                        <a:rPr lang="en-US" sz="1600" b="1" dirty="0">
                          <a:latin typeface="Segoe UI" panose="020B0502040204020203" pitchFamily="34" charset="0"/>
                          <a:cs typeface="Segoe UI" panose="020B0502040204020203" pitchFamily="34" charset="0"/>
                        </a:rPr>
                        <a:t>storeID</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extLst>
                  <a:ext uri="{0D108BD9-81ED-4DB2-BD59-A6C34878D82A}">
                    <a16:rowId xmlns:a16="http://schemas.microsoft.com/office/drawing/2014/main" val="144985821"/>
                  </a:ext>
                </a:extLst>
              </a:tr>
              <a:tr h="370840">
                <a:tc>
                  <a:txBody>
                    <a:bodyPr/>
                    <a:lstStyle/>
                    <a:p>
                      <a:r>
                        <a:rPr lang="en-IN" sz="1600" dirty="0">
                          <a:latin typeface="Segoe UI" panose="020B0502040204020203" pitchFamily="34" charset="0"/>
                          <a:cs typeface="Segoe UI" panose="020B0502040204020203" pitchFamily="34" charset="0"/>
                        </a:rPr>
                        <a:t>AC Warehouse</a:t>
                      </a:r>
                    </a:p>
                  </a:txBody>
                  <a:tcPr/>
                </a:tc>
                <a:tc>
                  <a:txBody>
                    <a:bodyPr/>
                    <a:lstStyle/>
                    <a:p>
                      <a:r>
                        <a:rPr lang="en-US" sz="1600" dirty="0">
                          <a:latin typeface="Segoe UI" panose="020B0502040204020203" pitchFamily="34" charset="0"/>
                          <a:cs typeface="Segoe UI" panose="020B0502040204020203" pitchFamily="34" charset="0"/>
                        </a:rPr>
                        <a:t>1, 3, 5, 7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594595867"/>
                  </a:ext>
                </a:extLst>
              </a:tr>
              <a:tr h="370840">
                <a:tc>
                  <a:txBody>
                    <a:bodyPr/>
                    <a:lstStyle/>
                    <a:p>
                      <a:r>
                        <a:rPr lang="en-IN" sz="1600" dirty="0">
                          <a:latin typeface="Segoe UI" panose="020B0502040204020203" pitchFamily="34" charset="0"/>
                          <a:cs typeface="Segoe UI" panose="020B0502040204020203" pitchFamily="34" charset="0"/>
                        </a:rPr>
                        <a:t>National</a:t>
                      </a:r>
                    </a:p>
                  </a:txBody>
                  <a:tcPr/>
                </a:tc>
                <a:tc>
                  <a:txBody>
                    <a:bodyPr/>
                    <a:lstStyle/>
                    <a:p>
                      <a:r>
                        <a:rPr lang="en-US" sz="1600" dirty="0">
                          <a:latin typeface="Segoe UI" panose="020B0502040204020203" pitchFamily="34" charset="0"/>
                          <a:cs typeface="Segoe UI" panose="020B0502040204020203" pitchFamily="34" charset="0"/>
                        </a:rPr>
                        <a:t>2, 4, 6, 8</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785209384"/>
                  </a:ext>
                </a:extLst>
              </a:tr>
              <a:tr h="370840">
                <a:tc>
                  <a:txBody>
                    <a:bodyPr/>
                    <a:lstStyle/>
                    <a:p>
                      <a:r>
                        <a:rPr lang="en-IN" sz="1600" dirty="0">
                          <a:latin typeface="Segoe UI" panose="020B0502040204020203" pitchFamily="34" charset="0"/>
                          <a:cs typeface="Segoe UI" panose="020B0502040204020203" pitchFamily="34" charset="0"/>
                        </a:rPr>
                        <a:t>Global</a:t>
                      </a:r>
                    </a:p>
                  </a:txBody>
                  <a:tcPr/>
                </a:tc>
                <a:tc>
                  <a:txBody>
                    <a:bodyPr/>
                    <a:lstStyle/>
                    <a:p>
                      <a:r>
                        <a:rPr lang="en-US" sz="1600" dirty="0">
                          <a:latin typeface="Segoe UI" panose="020B0502040204020203" pitchFamily="34" charset="0"/>
                          <a:cs typeface="Segoe UI" panose="020B0502040204020203" pitchFamily="34" charset="0"/>
                        </a:rPr>
                        <a:t>10, 12, 14, 16</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3373456418"/>
                  </a:ext>
                </a:extLst>
              </a:tr>
              <a:tr h="370840">
                <a:tc>
                  <a:txBody>
                    <a:bodyPr/>
                    <a:lstStyle/>
                    <a:p>
                      <a:r>
                        <a:rPr lang="en-IN" sz="1600" dirty="0">
                          <a:latin typeface="Segoe UI" panose="020B0502040204020203" pitchFamily="34" charset="0"/>
                          <a:cs typeface="Segoe UI" panose="020B0502040204020203" pitchFamily="34" charset="0"/>
                        </a:rPr>
                        <a:t>Migrant System</a:t>
                      </a:r>
                    </a:p>
                  </a:txBody>
                  <a:tcPr/>
                </a:tc>
                <a:tc>
                  <a:txBody>
                    <a:bodyPr/>
                    <a:lstStyle/>
                    <a:p>
                      <a:r>
                        <a:rPr lang="en-US" sz="1600" dirty="0">
                          <a:latin typeface="Segoe UI" panose="020B0502040204020203" pitchFamily="34" charset="0"/>
                          <a:cs typeface="Segoe UI" panose="020B0502040204020203" pitchFamily="34" charset="0"/>
                        </a:rPr>
                        <a:t>11, 13, 15, 17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889783200"/>
                  </a:ext>
                </a:extLst>
              </a:tr>
            </a:tbl>
          </a:graphicData>
        </a:graphic>
      </p:graphicFrame>
      <p:cxnSp>
        <p:nvCxnSpPr>
          <p:cNvPr id="11" name="Connector: Elbow 10">
            <a:extLst>
              <a:ext uri="{FF2B5EF4-FFF2-40B4-BE49-F238E27FC236}">
                <a16:creationId xmlns:a16="http://schemas.microsoft.com/office/drawing/2014/main" id="{9A46808A-64F2-F366-E6B9-077033270773}"/>
              </a:ext>
            </a:extLst>
          </p:cNvPr>
          <p:cNvCxnSpPr>
            <a:cxnSpLocks/>
          </p:cNvCxnSpPr>
          <p:nvPr/>
        </p:nvCxnSpPr>
        <p:spPr>
          <a:xfrm flipV="1">
            <a:off x="4511824" y="2276872"/>
            <a:ext cx="5472608" cy="648072"/>
          </a:xfrm>
          <a:prstGeom prst="bentConnector3">
            <a:avLst>
              <a:gd name="adj1" fmla="val 99987"/>
            </a:avLst>
          </a:prstGeom>
          <a:ln w="38100">
            <a:solidFill>
              <a:srgbClr val="B212AA"/>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A72E3A7-1A42-F7F3-E677-F67C7083EB07}"/>
              </a:ext>
            </a:extLst>
          </p:cNvPr>
          <p:cNvSpPr txBox="1"/>
          <p:nvPr/>
        </p:nvSpPr>
        <p:spPr>
          <a:xfrm>
            <a:off x="5688632" y="3573016"/>
            <a:ext cx="6096000" cy="3139321"/>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customers (</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(50),</a:t>
            </a:r>
          </a:p>
          <a:p>
            <a:r>
              <a:rPr lang="en-IN" dirty="0">
                <a:latin typeface="Liberation Mono"/>
              </a:rPr>
              <a:t>    region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p>
          <a:p>
            <a:r>
              <a:rPr lang="en-IN" dirty="0">
                <a:solidFill>
                  <a:srgbClr val="0077AA"/>
                </a:solidFill>
                <a:latin typeface="Liberation Mono"/>
              </a:rPr>
              <a:t> PARTITION B</a:t>
            </a:r>
            <a:r>
              <a:rPr lang="en-IN" dirty="0">
                <a:latin typeface="Liberation Mono"/>
              </a:rPr>
              <a:t>Y </a:t>
            </a:r>
            <a:r>
              <a:rPr lang="en-IN" dirty="0">
                <a:solidFill>
                  <a:srgbClr val="FD8603"/>
                </a:solidFill>
                <a:latin typeface="Liberation Mono"/>
              </a:rPr>
              <a:t>LIST</a:t>
            </a:r>
            <a:r>
              <a:rPr lang="en-IN" dirty="0">
                <a:latin typeface="Liberation Mono"/>
              </a:rPr>
              <a:t> COLUMNS(region)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east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'East'</a:t>
            </a:r>
            <a:r>
              <a:rPr lang="en-IN" dirty="0">
                <a:latin typeface="Liberation Mono"/>
              </a:rPr>
              <a:t>, </a:t>
            </a:r>
            <a:r>
              <a:rPr lang="en-IN" dirty="0">
                <a:solidFill>
                  <a:srgbClr val="00B050"/>
                </a:solidFill>
                <a:latin typeface="Liberation Mono"/>
              </a:rPr>
              <a:t>'Northeast'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west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'West'</a:t>
            </a:r>
            <a:r>
              <a:rPr lang="en-IN" dirty="0">
                <a:latin typeface="Liberation Mono"/>
              </a:rPr>
              <a:t>, </a:t>
            </a:r>
            <a:r>
              <a:rPr lang="en-IN" dirty="0">
                <a:solidFill>
                  <a:srgbClr val="00B050"/>
                </a:solidFill>
                <a:latin typeface="Liberation Mono"/>
              </a:rPr>
              <a:t>'Southwest'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central</a:t>
            </a:r>
            <a:r>
              <a:rPr lang="en-IN" dirty="0">
                <a:latin typeface="Liberation Mono"/>
              </a:rPr>
              <a:t> </a:t>
            </a:r>
            <a:r>
              <a:rPr lang="en-IN" dirty="0">
                <a:solidFill>
                  <a:srgbClr val="0077AA"/>
                </a:solidFill>
                <a:latin typeface="Liberation Mono"/>
              </a:rPr>
              <a:t>VALUES IN</a:t>
            </a:r>
            <a:r>
              <a:rPr lang="en-IN" dirty="0">
                <a:latin typeface="Liberation Mono"/>
              </a:rPr>
              <a:t> (</a:t>
            </a:r>
            <a:r>
              <a:rPr lang="en-IN" dirty="0">
                <a:solidFill>
                  <a:srgbClr val="00B050"/>
                </a:solidFill>
                <a:latin typeface="Liberation Mono"/>
              </a:rPr>
              <a:t>'Central'</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other</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'North'</a:t>
            </a:r>
            <a:r>
              <a:rPr lang="en-IN" dirty="0">
                <a:latin typeface="Liberation Mono"/>
              </a:rPr>
              <a:t>, </a:t>
            </a:r>
            <a:r>
              <a:rPr lang="en-IN" dirty="0">
                <a:solidFill>
                  <a:srgbClr val="00B050"/>
                </a:solidFill>
                <a:latin typeface="Liberation Mono"/>
              </a:rPr>
              <a:t>'South'</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362275413"/>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partitioning by range / list</a:t>
            </a:r>
          </a:p>
        </p:txBody>
      </p:sp>
      <p:grpSp>
        <p:nvGrpSpPr>
          <p:cNvPr id="11" name="Group 10">
            <a:extLst>
              <a:ext uri="{FF2B5EF4-FFF2-40B4-BE49-F238E27FC236}">
                <a16:creationId xmlns:a16="http://schemas.microsoft.com/office/drawing/2014/main" id="{6169AB95-10F0-2F9A-7BE1-E7C905E4E91A}"/>
              </a:ext>
            </a:extLst>
          </p:cNvPr>
          <p:cNvGrpSpPr/>
          <p:nvPr/>
        </p:nvGrpSpPr>
        <p:grpSpPr>
          <a:xfrm>
            <a:off x="388321" y="1268760"/>
            <a:ext cx="11250957" cy="2907228"/>
            <a:chOff x="388321" y="1439293"/>
            <a:chExt cx="11250957" cy="2907228"/>
          </a:xfrm>
        </p:grpSpPr>
        <p:grpSp>
          <p:nvGrpSpPr>
            <p:cNvPr id="6" name="Group 5">
              <a:extLst>
                <a:ext uri="{FF2B5EF4-FFF2-40B4-BE49-F238E27FC236}">
                  <a16:creationId xmlns:a16="http://schemas.microsoft.com/office/drawing/2014/main" id="{15BA4D43-1571-1E86-696D-240612D6BDF4}"/>
                </a:ext>
              </a:extLst>
            </p:cNvPr>
            <p:cNvGrpSpPr/>
            <p:nvPr/>
          </p:nvGrpSpPr>
          <p:grpSpPr>
            <a:xfrm>
              <a:off x="388321" y="1439293"/>
              <a:ext cx="11250957" cy="1612958"/>
              <a:chOff x="388321" y="1056424"/>
              <a:chExt cx="11250957" cy="1612958"/>
            </a:xfrm>
          </p:grpSpPr>
          <p:sp>
            <p:nvSpPr>
              <p:cNvPr id="4" name="TextBox 3">
                <a:extLst>
                  <a:ext uri="{FF2B5EF4-FFF2-40B4-BE49-F238E27FC236}">
                    <a16:creationId xmlns:a16="http://schemas.microsoft.com/office/drawing/2014/main" id="{26E0DAE2-106D-3C0A-9B4A-54B1818507B7}"/>
                  </a:ext>
                </a:extLst>
              </p:cNvPr>
              <p:cNvSpPr txBox="1"/>
              <p:nvPr/>
            </p:nvSpPr>
            <p:spPr>
              <a:xfrm>
                <a:off x="406030" y="1746052"/>
                <a:ext cx="11233248" cy="923330"/>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a:t>
                </a:r>
                <a:r>
                  <a:rPr lang="en-IN" dirty="0">
                    <a:solidFill>
                      <a:srgbClr val="990055"/>
                    </a:solidFill>
                    <a:latin typeface="Liberation Mono"/>
                  </a:rPr>
                  <a:t>130</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IN" dirty="0">
                    <a:latin typeface="Liberation Mono"/>
                  </a:rPr>
                  <a:t>MAXVALUE can only be used in last partition definition</a:t>
                </a:r>
              </a:p>
            </p:txBody>
          </p:sp>
          <p:sp>
            <p:nvSpPr>
              <p:cNvPr id="13" name="TextBox 12">
                <a:extLst>
                  <a:ext uri="{FF2B5EF4-FFF2-40B4-BE49-F238E27FC236}">
                    <a16:creationId xmlns:a16="http://schemas.microsoft.com/office/drawing/2014/main" id="{492F4AAB-E13E-A2EE-A2AA-DFC8FA5E1EC3}"/>
                  </a:ext>
                </a:extLst>
              </p:cNvPr>
              <p:cNvSpPr txBox="1"/>
              <p:nvPr/>
            </p:nvSpPr>
            <p:spPr>
              <a:xfrm>
                <a:off x="388321" y="1056424"/>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5" name="Group 4">
              <a:extLst>
                <a:ext uri="{FF2B5EF4-FFF2-40B4-BE49-F238E27FC236}">
                  <a16:creationId xmlns:a16="http://schemas.microsoft.com/office/drawing/2014/main" id="{4C90B56E-6BC8-B70D-0DEB-4FBD58F2749E}"/>
                </a:ext>
              </a:extLst>
            </p:cNvPr>
            <p:cNvGrpSpPr/>
            <p:nvPr/>
          </p:nvGrpSpPr>
          <p:grpSpPr>
            <a:xfrm>
              <a:off x="388321" y="3356992"/>
              <a:ext cx="11215700" cy="989529"/>
              <a:chOff x="406030" y="3645024"/>
              <a:chExt cx="11215700" cy="989529"/>
            </a:xfrm>
          </p:grpSpPr>
          <p:sp>
            <p:nvSpPr>
              <p:cNvPr id="12" name="TextBox 11">
                <a:extLst>
                  <a:ext uri="{FF2B5EF4-FFF2-40B4-BE49-F238E27FC236}">
                    <a16:creationId xmlns:a16="http://schemas.microsoft.com/office/drawing/2014/main" id="{C111E813-CACC-1BE8-2F87-D29E5620C8E1}"/>
                  </a:ext>
                </a:extLst>
              </p:cNvPr>
              <p:cNvSpPr txBox="1"/>
              <p:nvPr/>
            </p:nvSpPr>
            <p:spPr>
              <a:xfrm>
                <a:off x="407368" y="4265221"/>
                <a:ext cx="11214362" cy="369332"/>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10</a:t>
                </a:r>
                <a:r>
                  <a:rPr lang="en-IN" dirty="0">
                    <a:latin typeface="Liberation Mono"/>
                  </a:rPr>
                  <a:t>,</a:t>
                </a:r>
                <a:r>
                  <a:rPr lang="en-IN" dirty="0">
                    <a:solidFill>
                      <a:srgbClr val="990055"/>
                    </a:solidFill>
                    <a:latin typeface="Liberation Mono"/>
                  </a:rPr>
                  <a:t> 11</a:t>
                </a:r>
                <a:r>
                  <a:rPr lang="en-IN" dirty="0">
                    <a:latin typeface="Liberation Mono"/>
                  </a:rPr>
                  <a:t>));</a:t>
                </a:r>
              </a:p>
            </p:txBody>
          </p:sp>
          <p:sp>
            <p:nvSpPr>
              <p:cNvPr id="14" name="TextBox 13">
                <a:extLst>
                  <a:ext uri="{FF2B5EF4-FFF2-40B4-BE49-F238E27FC236}">
                    <a16:creationId xmlns:a16="http://schemas.microsoft.com/office/drawing/2014/main" id="{A3EAF739-5D59-FC6A-312C-6DCE90CB7A4F}"/>
                  </a:ext>
                </a:extLst>
              </p:cNvPr>
              <p:cNvSpPr txBox="1"/>
              <p:nvPr/>
            </p:nvSpPr>
            <p:spPr>
              <a:xfrm>
                <a:off x="406030" y="3645024"/>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grpSp>
      <p:sp>
        <p:nvSpPr>
          <p:cNvPr id="8" name="TextBox 7">
            <a:extLst>
              <a:ext uri="{FF2B5EF4-FFF2-40B4-BE49-F238E27FC236}">
                <a16:creationId xmlns:a16="http://schemas.microsoft.com/office/drawing/2014/main" id="{E6A17201-B90C-EABA-CBC0-00CCD51EA474}"/>
              </a:ext>
            </a:extLst>
          </p:cNvPr>
          <p:cNvSpPr txBox="1"/>
          <p:nvPr/>
        </p:nvSpPr>
        <p:spPr>
          <a:xfrm>
            <a:off x="380151" y="683404"/>
            <a:ext cx="2330373" cy="461665"/>
          </a:xfrm>
          <a:prstGeom prst="rect">
            <a:avLst/>
          </a:prstGeom>
          <a:noFill/>
        </p:spPr>
        <p:txBody>
          <a:bodyPr wrap="square">
            <a:spAutoFit/>
          </a:bodyPr>
          <a:lstStyle/>
          <a:p>
            <a:r>
              <a:rPr lang="en-US" sz="2400" b="0" i="0" dirty="0">
                <a:effectLst/>
                <a:latin typeface="Inter-Regular"/>
              </a:rPr>
              <a:t>Alter Partitioning</a:t>
            </a:r>
            <a:endParaRPr lang="en-IN" sz="2400" dirty="0"/>
          </a:p>
        </p:txBody>
      </p:sp>
      <p:grpSp>
        <p:nvGrpSpPr>
          <p:cNvPr id="15" name="Group 14">
            <a:extLst>
              <a:ext uri="{FF2B5EF4-FFF2-40B4-BE49-F238E27FC236}">
                <a16:creationId xmlns:a16="http://schemas.microsoft.com/office/drawing/2014/main" id="{E18CF20F-9F49-A271-0FB1-849FE4C24342}"/>
              </a:ext>
            </a:extLst>
          </p:cNvPr>
          <p:cNvGrpSpPr/>
          <p:nvPr/>
        </p:nvGrpSpPr>
        <p:grpSpPr>
          <a:xfrm>
            <a:off x="380151" y="5093618"/>
            <a:ext cx="6094378" cy="1008970"/>
            <a:chOff x="380151" y="5093618"/>
            <a:chExt cx="6094378" cy="1008970"/>
          </a:xfrm>
        </p:grpSpPr>
        <p:sp>
          <p:nvSpPr>
            <p:cNvPr id="3" name="TextBox 2">
              <a:extLst>
                <a:ext uri="{FF2B5EF4-FFF2-40B4-BE49-F238E27FC236}">
                  <a16:creationId xmlns:a16="http://schemas.microsoft.com/office/drawing/2014/main" id="{4DF6B0FC-45FD-D329-0B2B-9A6C0EA8C3CD}"/>
                </a:ext>
              </a:extLst>
            </p:cNvPr>
            <p:cNvSpPr txBox="1"/>
            <p:nvPr/>
          </p:nvSpPr>
          <p:spPr>
            <a:xfrm>
              <a:off x="380151" y="5733256"/>
              <a:ext cx="6094378" cy="369332"/>
            </a:xfrm>
            <a:prstGeom prst="rect">
              <a:avLst/>
            </a:prstGeom>
            <a:noFill/>
          </p:spPr>
          <p:txBody>
            <a:bodyPr wrap="square">
              <a:spAutoFit/>
            </a:bodyPr>
            <a:lstStyle/>
            <a:p>
              <a:r>
                <a:rPr lang="en-IN" dirty="0"/>
                <a:t> </a:t>
              </a: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p3</a:t>
              </a:r>
              <a:r>
                <a:rPr lang="en-IN" dirty="0"/>
                <a:t>;</a:t>
              </a:r>
            </a:p>
          </p:txBody>
        </p:sp>
        <p:sp>
          <p:nvSpPr>
            <p:cNvPr id="10" name="TextBox 9">
              <a:extLst>
                <a:ext uri="{FF2B5EF4-FFF2-40B4-BE49-F238E27FC236}">
                  <a16:creationId xmlns:a16="http://schemas.microsoft.com/office/drawing/2014/main" id="{8488D214-D19C-5406-27C3-FD21C9A8BB7F}"/>
                </a:ext>
              </a:extLst>
            </p:cNvPr>
            <p:cNvSpPr txBox="1"/>
            <p:nvPr/>
          </p:nvSpPr>
          <p:spPr>
            <a:xfrm>
              <a:off x="380151" y="5093618"/>
              <a:ext cx="2547497" cy="461665"/>
            </a:xfrm>
            <a:prstGeom prst="rect">
              <a:avLst/>
            </a:prstGeom>
            <a:noFill/>
          </p:spPr>
          <p:txBody>
            <a:bodyPr wrap="square">
              <a:spAutoFit/>
            </a:bodyPr>
            <a:lstStyle/>
            <a:p>
              <a:r>
                <a:rPr lang="en-US" sz="2400" b="0" i="0" dirty="0">
                  <a:effectLst/>
                  <a:latin typeface="Inter-Regular"/>
                </a:rPr>
                <a:t>DROP Partitioning</a:t>
              </a:r>
              <a:endParaRPr lang="en-IN" sz="2400" dirty="0"/>
            </a:p>
          </p:txBody>
        </p:sp>
      </p:grpSp>
    </p:spTree>
    <p:extLst>
      <p:ext uri="{BB962C8B-B14F-4D97-AF65-F5344CB8AC3E}">
        <p14:creationId xmlns:p14="http://schemas.microsoft.com/office/powerpoint/2010/main" val="720891417"/>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5" y="2578244"/>
            <a:ext cx="8838049" cy="850756"/>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temporary table</a:t>
            </a:r>
          </a:p>
        </p:txBody>
      </p:sp>
      <p:sp>
        <p:nvSpPr>
          <p:cNvPr id="3" name="TextBox 2">
            <a:extLst>
              <a:ext uri="{FF2B5EF4-FFF2-40B4-BE49-F238E27FC236}">
                <a16:creationId xmlns:a16="http://schemas.microsoft.com/office/drawing/2014/main" id="{F7839439-872E-1551-6A2B-A414E3A9AC07}"/>
              </a:ext>
            </a:extLst>
          </p:cNvPr>
          <p:cNvSpPr txBox="1"/>
          <p:nvPr/>
        </p:nvSpPr>
        <p:spPr>
          <a:xfrm>
            <a:off x="263352" y="4941168"/>
            <a:ext cx="11593288" cy="156966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possible to create, alter, drop, and write (Insert, Update, and Delete rows) to TEMPORARY tables.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all constraints (PRIMARY KEY, UNIQUE, DEFAULT, etc.).</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create generated column in temporary table. </a:t>
            </a:r>
          </a:p>
        </p:txBody>
      </p:sp>
    </p:spTree>
    <p:extLst>
      <p:ext uri="{BB962C8B-B14F-4D97-AF65-F5344CB8AC3E}">
        <p14:creationId xmlns:p14="http://schemas.microsoft.com/office/powerpoint/2010/main" val="439364539"/>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grpSp>
        <p:nvGrpSpPr>
          <p:cNvPr id="6" name="Group 5">
            <a:extLst>
              <a:ext uri="{FF2B5EF4-FFF2-40B4-BE49-F238E27FC236}">
                <a16:creationId xmlns:a16="http://schemas.microsoft.com/office/drawing/2014/main" id="{11A8D217-5263-46B5-BDA0-6524AA5A0ED6}"/>
              </a:ext>
            </a:extLst>
          </p:cNvPr>
          <p:cNvGrpSpPr/>
          <p:nvPr/>
        </p:nvGrpSpPr>
        <p:grpSpPr>
          <a:xfrm>
            <a:off x="262558" y="869754"/>
            <a:ext cx="11665296" cy="5664882"/>
            <a:chOff x="262558" y="869754"/>
            <a:chExt cx="11665296" cy="5664882"/>
          </a:xfrm>
        </p:grpSpPr>
        <p:sp>
          <p:nvSpPr>
            <p:cNvPr id="7" name="Rectangle 6">
              <a:extLst>
                <a:ext uri="{FF2B5EF4-FFF2-40B4-BE49-F238E27FC236}">
                  <a16:creationId xmlns:a16="http://schemas.microsoft.com/office/drawing/2014/main" id="{619C5836-1EA1-43B3-A165-AEDF87719791}"/>
                </a:ext>
              </a:extLst>
            </p:cNvPr>
            <p:cNvSpPr/>
            <p:nvPr/>
          </p:nvSpPr>
          <p:spPr>
            <a:xfrm>
              <a:off x="262558" y="869754"/>
              <a:ext cx="11665296" cy="520142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keyword when creating a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A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visible only to the current session, and is dropped automatically when the session is closed. </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the same name as the original can be useful when you want to try some statements that modify the contents of the table, without changing the original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permanent (original) table becomes hidden (inaccessible) to the client who creates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same name as the original.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issue a DROP TABLE statement,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removed and the original table reappears, it is possible, only when then original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and temporary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are same.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original table also reappears if you rename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a:t>
              </a:r>
            </a:p>
            <a:p>
              <a:pPr marL="285750" indent="-285750">
                <a:buFont typeface="Arial" panose="020B0604020202020204" pitchFamily="34" charset="0"/>
                <a:buChar char="•"/>
              </a:pPr>
              <a:endParaRPr lang="en-IN" sz="200" dirty="0">
                <a:latin typeface="Arial" panose="020B0604020202020204" pitchFamily="34" charset="0"/>
                <a:cs typeface="Arial" panose="020B0604020202020204" pitchFamily="34" charset="0"/>
              </a:endParaRPr>
            </a:p>
            <a:p>
              <a:r>
                <a:rPr lang="en-IN" dirty="0">
                  <a:solidFill>
                    <a:srgbClr val="FF0000"/>
                  </a:solidFill>
                  <a:latin typeface="Arial" panose="020B0604020202020204" pitchFamily="34" charset="0"/>
                  <a:cs typeface="Arial" panose="020B0604020202020204" pitchFamily="34" charset="0"/>
                </a:rPr>
                <a:t>      e.g. </a:t>
              </a:r>
              <a:r>
                <a:rPr lang="en-IN"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ALTER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TABLE</a:t>
              </a:r>
              <a:r>
                <a:rPr lang="en-US" dirty="0">
                  <a:latin typeface="Arial" panose="020B0604020202020204" pitchFamily="34" charset="0"/>
                  <a:cs typeface="Arial" panose="020B0604020202020204" pitchFamily="34" charset="0"/>
                </a:rPr>
                <a:t> </a:t>
              </a:r>
              <a:r>
                <a:rPr lang="en-US" b="1" dirty="0">
                  <a:latin typeface="Arial" panose="020B0604020202020204" pitchFamily="34" charset="0"/>
                  <a:cs typeface="Arial" panose="020B0604020202020204" pitchFamily="34" charset="0"/>
                </a:rPr>
                <a:t>dept</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RENAME</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TO</a:t>
              </a:r>
              <a:r>
                <a:rPr lang="en-US" dirty="0">
                  <a:latin typeface="Arial" panose="020B0604020202020204" pitchFamily="34" charset="0"/>
                  <a:cs typeface="Arial" panose="020B0604020202020204" pitchFamily="34" charset="0"/>
                </a:rPr>
                <a:t> d; </a:t>
              </a:r>
              <a:endParaRPr lang="en-IN" dirty="0">
                <a:latin typeface="Arial" panose="020B0604020202020204" pitchFamily="34" charset="0"/>
                <a:cs typeface="Arial" panose="020B0604020202020204" pitchFamily="34" charset="0"/>
              </a:endParaRPr>
            </a:p>
          </p:txBody>
        </p:sp>
        <p:grpSp>
          <p:nvGrpSpPr>
            <p:cNvPr id="8" name="Group 7">
              <a:extLst>
                <a:ext uri="{FF2B5EF4-FFF2-40B4-BE49-F238E27FC236}">
                  <a16:creationId xmlns:a16="http://schemas.microsoft.com/office/drawing/2014/main" id="{A77F58EF-B26D-4238-A79A-FE7DE4172978}"/>
                </a:ext>
              </a:extLst>
            </p:cNvPr>
            <p:cNvGrpSpPr/>
            <p:nvPr/>
          </p:nvGrpSpPr>
          <p:grpSpPr>
            <a:xfrm>
              <a:off x="1342678" y="5969900"/>
              <a:ext cx="2391675" cy="564736"/>
              <a:chOff x="1342678" y="5969900"/>
              <a:chExt cx="2391675" cy="564736"/>
            </a:xfrm>
          </p:grpSpPr>
          <p:cxnSp>
            <p:nvCxnSpPr>
              <p:cNvPr id="9" name="Connector: Elbow 8">
                <a:extLst>
                  <a:ext uri="{FF2B5EF4-FFF2-40B4-BE49-F238E27FC236}">
                    <a16:creationId xmlns:a16="http://schemas.microsoft.com/office/drawing/2014/main" id="{AF45D4D7-C5F2-4D34-B492-4F5F1688AED7}"/>
                  </a:ext>
                </a:extLst>
              </p:cNvPr>
              <p:cNvCxnSpPr>
                <a:cxnSpLocks/>
              </p:cNvCxnSpPr>
              <p:nvPr/>
            </p:nvCxnSpPr>
            <p:spPr>
              <a:xfrm rot="5400000">
                <a:off x="2260449" y="5988234"/>
                <a:ext cx="324699" cy="288032"/>
              </a:xfrm>
              <a:prstGeom prst="bentConnector3">
                <a:avLst>
                  <a:gd name="adj1" fmla="val 50000"/>
                </a:avLst>
              </a:prstGeom>
              <a:ln w="28575">
                <a:solidFill>
                  <a:srgbClr val="FE121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78222A3-2056-4898-BD8D-C4BAAFD57152}"/>
                  </a:ext>
                </a:extLst>
              </p:cNvPr>
              <p:cNvSpPr txBox="1"/>
              <p:nvPr/>
            </p:nvSpPr>
            <p:spPr>
              <a:xfrm>
                <a:off x="1342678" y="6165304"/>
                <a:ext cx="2391675" cy="369332"/>
              </a:xfrm>
              <a:prstGeom prst="rect">
                <a:avLst/>
              </a:prstGeom>
              <a:noFill/>
            </p:spPr>
            <p:txBody>
              <a:bodyPr wrap="square">
                <a:spAutoFit/>
              </a:bodyPr>
              <a:lstStyle/>
              <a:p>
                <a:r>
                  <a:rPr lang="en-US" dirty="0">
                    <a:solidFill>
                      <a:srgbClr val="0077AA"/>
                    </a:solidFill>
                    <a:latin typeface="Liberation Mono"/>
                  </a:rPr>
                  <a:t>Temporary table_name</a:t>
                </a:r>
                <a:endParaRPr lang="en-IN" dirty="0">
                  <a:solidFill>
                    <a:srgbClr val="0077AA"/>
                  </a:solidFill>
                  <a:latin typeface="Liberation Mono"/>
                </a:endParaRPr>
              </a:p>
            </p:txBody>
          </p:sp>
        </p:grpSp>
      </p:grpSp>
    </p:spTree>
    <p:extLst>
      <p:ext uri="{BB962C8B-B14F-4D97-AF65-F5344CB8AC3E}">
        <p14:creationId xmlns:p14="http://schemas.microsoft.com/office/powerpoint/2010/main" val="1665857367"/>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C9367697-6A3C-41D3-90A7-34D56D35944E}"/>
              </a:ext>
            </a:extLst>
          </p:cNvPr>
          <p:cNvSpPr/>
          <p:nvPr/>
        </p:nvSpPr>
        <p:spPr>
          <a:xfrm>
            <a:off x="407368" y="908720"/>
            <a:ext cx="11449272" cy="5201424"/>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 TABLE</a:t>
            </a:r>
            <a:r>
              <a:rPr lang="en-IN" dirty="0">
                <a:latin typeface="Liberation Mono"/>
                <a:cs typeface="Arial" panose="020B0604020202020204" pitchFamily="34" charset="0"/>
              </a:rPr>
              <a:t> student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 ;</a:t>
            </a:r>
          </a:p>
          <a:p>
            <a:endParaRPr lang="en-IN" sz="800" dirty="0">
              <a:solidFill>
                <a:srgbClr val="0077AA"/>
              </a:solidFill>
              <a:latin typeface="Liberation Mono"/>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city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 DEFAULT </a:t>
            </a:r>
            <a:r>
              <a:rPr lang="en-IN" dirty="0">
                <a:solidFill>
                  <a:srgbClr val="669900"/>
                </a:solidFill>
                <a:latin typeface="Liberation Mono"/>
              </a:rPr>
              <a:t>'PUNE'</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comm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ALWAYS</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p>
        </p:txBody>
      </p:sp>
      <p:cxnSp>
        <p:nvCxnSpPr>
          <p:cNvPr id="9" name="Straight Connector 8">
            <a:extLst>
              <a:ext uri="{FF2B5EF4-FFF2-40B4-BE49-F238E27FC236}">
                <a16:creationId xmlns:a16="http://schemas.microsoft.com/office/drawing/2014/main" id="{13CC4D98-0B3B-48D2-8497-8CF668FB52B5}"/>
              </a:ext>
            </a:extLst>
          </p:cNvPr>
          <p:cNvCxnSpPr/>
          <p:nvPr/>
        </p:nvCxnSpPr>
        <p:spPr>
          <a:xfrm>
            <a:off x="335360" y="6110144"/>
            <a:ext cx="11233248"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0789338"/>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551384" y="918558"/>
            <a:ext cx="1003983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Use CREATE TABLE ... LIKE to create an empty table based on the definition of another table.</a:t>
            </a:r>
          </a:p>
        </p:txBody>
      </p:sp>
      <p:sp>
        <p:nvSpPr>
          <p:cNvPr id="7" name="Rectangle 6"/>
          <p:cNvSpPr/>
          <p:nvPr/>
        </p:nvSpPr>
        <p:spPr>
          <a:xfrm>
            <a:off x="551385" y="1529510"/>
            <a:ext cx="8838049" cy="400110"/>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2"/>
                </a:solidFill>
                <a:latin typeface="Liberation Mono"/>
              </a:rPr>
              <a:t>new_tbl </a:t>
            </a:r>
            <a:r>
              <a:rPr lang="en-IN" sz="2000" dirty="0">
                <a:solidFill>
                  <a:srgbClr val="0077AA"/>
                </a:solidFill>
                <a:latin typeface="Liberation Mono"/>
              </a:rPr>
              <a:t>LIKE </a:t>
            </a:r>
            <a:r>
              <a:rPr lang="en-IN" sz="2000" dirty="0">
                <a:solidFill>
                  <a:schemeClr val="tx2"/>
                </a:solidFill>
                <a:latin typeface="Liberation Mono"/>
              </a:rPr>
              <a:t>orig_tbl;</a:t>
            </a:r>
            <a:endParaRPr lang="en-US" sz="2000" dirty="0">
              <a:solidFill>
                <a:schemeClr val="tx2"/>
              </a:solidFill>
              <a:latin typeface="Liberation Mono"/>
            </a:endParaRPr>
          </a:p>
        </p:txBody>
      </p:sp>
      <p:sp>
        <p:nvSpPr>
          <p:cNvPr id="8" name="Rectangle 7"/>
          <p:cNvSpPr/>
          <p:nvPr/>
        </p:nvSpPr>
        <p:spPr>
          <a:xfrm>
            <a:off x="551384" y="2333205"/>
            <a:ext cx="899043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tempEmployee </a:t>
            </a:r>
            <a:r>
              <a:rPr lang="en-IN" dirty="0">
                <a:solidFill>
                  <a:srgbClr val="0077AA"/>
                </a:solidFill>
                <a:latin typeface="Liberation Mono"/>
                <a:ea typeface="Times New Roman" panose="02020603050405020304" pitchFamily="18" charset="0"/>
              </a:rPr>
              <a:t>LIKE</a:t>
            </a:r>
            <a:r>
              <a:rPr lang="en-IN" dirty="0">
                <a:latin typeface="Liberation Mono"/>
                <a:cs typeface="Arial" panose="020B0604020202020204" pitchFamily="34" charset="0"/>
              </a:rPr>
              <a:t> employee;</a:t>
            </a:r>
          </a:p>
        </p:txBody>
      </p:sp>
      <p:sp>
        <p:nvSpPr>
          <p:cNvPr id="9" name="Rectangle 8"/>
          <p:cNvSpPr/>
          <p:nvPr/>
        </p:nvSpPr>
        <p:spPr>
          <a:xfrm>
            <a:off x="551384" y="2974935"/>
            <a:ext cx="11233248" cy="212365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
        <p:nvSpPr>
          <p:cNvPr id="10" name="TextBox 9">
            <a:extLst>
              <a:ext uri="{FF2B5EF4-FFF2-40B4-BE49-F238E27FC236}">
                <a16:creationId xmlns:a16="http://schemas.microsoft.com/office/drawing/2014/main" id="{0F4BD333-2A5D-44C2-B61F-77FA71E7559A}"/>
              </a:ext>
            </a:extLst>
          </p:cNvPr>
          <p:cNvSpPr txBox="1"/>
          <p:nvPr/>
        </p:nvSpPr>
        <p:spPr>
          <a:xfrm>
            <a:off x="551384" y="5570110"/>
            <a:ext cx="9766055" cy="369332"/>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TEMPORARY</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t>
            </a:r>
            <a:r>
              <a:rPr lang="en-US" b="0" i="1" dirty="0">
                <a:solidFill>
                  <a:srgbClr val="000000"/>
                </a:solidFill>
                <a:effectLst/>
                <a:latin typeface="Liberation Mono"/>
              </a:rPr>
              <a:t>new_tbl</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0" i="1" dirty="0">
                <a:solidFill>
                  <a:srgbClr val="000000"/>
                </a:solidFill>
                <a:effectLst/>
                <a:latin typeface="Liberation Mono"/>
              </a:rPr>
              <a:t>orig_tbl</a:t>
            </a:r>
            <a:r>
              <a:rPr lang="en-US" b="0" i="0" dirty="0">
                <a:solidFill>
                  <a:srgbClr val="000000"/>
                </a:solidFill>
                <a:effectLst/>
                <a:latin typeface="Liberation Mono"/>
              </a:rPr>
              <a:t> </a:t>
            </a:r>
            <a:r>
              <a:rPr lang="en-US" b="0" i="0" dirty="0">
                <a:solidFill>
                  <a:srgbClr val="0077AA"/>
                </a:solidFill>
                <a:effectLst/>
                <a:latin typeface="Liberation Mono"/>
              </a:rPr>
              <a:t>LIMIT</a:t>
            </a:r>
            <a:r>
              <a:rPr lang="en-US" b="0" i="0" dirty="0">
                <a:solidFill>
                  <a:srgbClr val="000000"/>
                </a:solidFill>
                <a:effectLst/>
                <a:latin typeface="Liberation Mono"/>
              </a:rPr>
              <a:t> </a:t>
            </a:r>
            <a:r>
              <a:rPr lang="en-US" b="0" i="0" dirty="0">
                <a:solidFill>
                  <a:srgbClr val="990055"/>
                </a:solidFill>
                <a:effectLst/>
                <a:latin typeface="Liberation Mono"/>
              </a:rPr>
              <a:t>0</a:t>
            </a:r>
            <a:r>
              <a:rPr lang="en-US" b="0" i="0" dirty="0">
                <a:solidFill>
                  <a:srgbClr val="999999"/>
                </a:solidFill>
                <a:effectLst/>
                <a:latin typeface="Liberation Mono"/>
              </a:rPr>
              <a:t>;</a:t>
            </a:r>
            <a:endParaRPr lang="en-IN" dirty="0"/>
          </a:p>
        </p:txBody>
      </p:sp>
    </p:spTree>
    <p:extLst>
      <p:ext uri="{BB962C8B-B14F-4D97-AF65-F5344CB8AC3E}">
        <p14:creationId xmlns:p14="http://schemas.microsoft.com/office/powerpoint/2010/main" val="1529979772"/>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a:solidFill>
                  <a:srgbClr val="DC525C"/>
                </a:solidFill>
                <a:latin typeface="Segoe UI Light" panose="020B0502040204020203" pitchFamily="34" charset="0"/>
                <a:cs typeface="Segoe UI Light" panose="020B0502040204020203" pitchFamily="34" charset="0"/>
              </a:rPr>
              <a:t>continue with SELECT </a:t>
            </a:r>
            <a:r>
              <a:rPr lang="en-US" sz="4800" dirty="0">
                <a:solidFill>
                  <a:srgbClr val="DC525C"/>
                </a:solidFill>
                <a:latin typeface="Segoe UI Light" panose="020B0502040204020203" pitchFamily="34" charset="0"/>
                <a:cs typeface="Segoe UI Light" panose="020B0502040204020203" pitchFamily="34" charset="0"/>
              </a:rPr>
              <a:t>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
        <p:nvSpPr>
          <p:cNvPr id="5" name="TextBox 4">
            <a:extLst>
              <a:ext uri="{FF2B5EF4-FFF2-40B4-BE49-F238E27FC236}">
                <a16:creationId xmlns:a16="http://schemas.microsoft.com/office/drawing/2014/main" id="{43A3ED3C-4680-D5A7-B2B5-180067D7BFA1}"/>
              </a:ext>
            </a:extLst>
          </p:cNvPr>
          <p:cNvSpPr txBox="1"/>
          <p:nvPr/>
        </p:nvSpPr>
        <p:spPr>
          <a:xfrm>
            <a:off x="263352" y="5733256"/>
            <a:ext cx="5658130"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The asterisk symbol “ * ” can be used in the </a:t>
            </a:r>
            <a:r>
              <a:rPr lang="en-IN" dirty="0">
                <a:solidFill>
                  <a:srgbClr val="006C86"/>
                </a:solidFill>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clause to denote “all attributes.” </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71191125"/>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627924000"/>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653562861"/>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rows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extLst>
              <p:ext uri="{D42A27DB-BD31-4B8C-83A1-F6EECF244321}">
                <p14:modId xmlns:p14="http://schemas.microsoft.com/office/powerpoint/2010/main" val="3520014800"/>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469328289"/>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extLst>
              <p:ext uri="{D42A27DB-BD31-4B8C-83A1-F6EECF244321}">
                <p14:modId xmlns:p14="http://schemas.microsoft.com/office/powerpoint/2010/main" val="2230219169"/>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2310191773"/>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215364185"/>
              </p:ext>
            </p:extLst>
          </p:nvPr>
        </p:nvGraphicFramePr>
        <p:xfrm>
          <a:off x="406800" y="3430800"/>
          <a:ext cx="7129359" cy="2518914"/>
        </p:xfrm>
        <a:graphic>
          <a:graphicData uri="http://schemas.openxmlformats.org/drawingml/2006/table">
            <a:tbl>
              <a:tblPr>
                <a:tableStyleId>{BC89EF96-8CEA-46FF-86C4-4CE0E7609802}</a:tableStyleId>
              </a:tblPr>
              <a:tblGrid>
                <a:gridCol w="1156111">
                  <a:extLst>
                    <a:ext uri="{9D8B030D-6E8A-4147-A177-3AD203B41FA5}">
                      <a16:colId xmlns:a16="http://schemas.microsoft.com/office/drawing/2014/main" val="20000"/>
                    </a:ext>
                  </a:extLst>
                </a:gridCol>
                <a:gridCol w="1128940">
                  <a:extLst>
                    <a:ext uri="{9D8B030D-6E8A-4147-A177-3AD203B41FA5}">
                      <a16:colId xmlns:a16="http://schemas.microsoft.com/office/drawing/2014/main" val="20001"/>
                    </a:ext>
                  </a:extLst>
                </a:gridCol>
                <a:gridCol w="1279628">
                  <a:extLst>
                    <a:ext uri="{9D8B030D-6E8A-4147-A177-3AD203B41FA5}">
                      <a16:colId xmlns:a16="http://schemas.microsoft.com/office/drawing/2014/main" val="20002"/>
                    </a:ext>
                  </a:extLst>
                </a:gridCol>
                <a:gridCol w="1736639">
                  <a:extLst>
                    <a:ext uri="{9D8B030D-6E8A-4147-A177-3AD203B41FA5}">
                      <a16:colId xmlns:a16="http://schemas.microsoft.com/office/drawing/2014/main" val="20003"/>
                    </a:ext>
                  </a:extLst>
                </a:gridCol>
                <a:gridCol w="1828041">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579749986"/>
              </p:ext>
            </p:extLst>
          </p:nvPr>
        </p:nvGraphicFramePr>
        <p:xfrm>
          <a:off x="7728917" y="3430833"/>
          <a:ext cx="4199730" cy="1761227"/>
        </p:xfrm>
        <a:graphic>
          <a:graphicData uri="http://schemas.openxmlformats.org/drawingml/2006/table">
            <a:tbl>
              <a:tblPr>
                <a:tableStyleId>{BC89EF96-8CEA-46FF-86C4-4CE0E7609802}</a:tableStyleId>
              </a:tblPr>
              <a:tblGrid>
                <a:gridCol w="1436749">
                  <a:extLst>
                    <a:ext uri="{9D8B030D-6E8A-4147-A177-3AD203B41FA5}">
                      <a16:colId xmlns:a16="http://schemas.microsoft.com/office/drawing/2014/main" val="20000"/>
                    </a:ext>
                  </a:extLst>
                </a:gridCol>
                <a:gridCol w="1466838">
                  <a:extLst>
                    <a:ext uri="{9D8B030D-6E8A-4147-A177-3AD203B41FA5}">
                      <a16:colId xmlns:a16="http://schemas.microsoft.com/office/drawing/2014/main" val="20001"/>
                    </a:ext>
                  </a:extLst>
                </a:gridCol>
                <a:gridCol w="1296143">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spTree>
    <p:extLst>
      <p:ext uri="{BB962C8B-B14F-4D97-AF65-F5344CB8AC3E}">
        <p14:creationId xmlns:p14="http://schemas.microsoft.com/office/powerpoint/2010/main" val="3665872458"/>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9037188"/>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0021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521280"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a:t>
            </a:r>
          </a:p>
          <a:p>
            <a:pPr marL="363538" algn="l"/>
            <a:r>
              <a:rPr lang="en-IN" dirty="0">
                <a:latin typeface="Arial" panose="020B0604020202020204" pitchFamily="34" charset="0"/>
                <a:cs typeface="Arial" panose="020B0604020202020204" pitchFamily="34" charset="0"/>
              </a:rPr>
              <a:t>user requirements) </a:t>
            </a:r>
          </a:p>
        </p:txBody>
      </p:sp>
      <p:grpSp>
        <p:nvGrpSpPr>
          <p:cNvPr id="29" name="Group 28">
            <a:extLst>
              <a:ext uri="{FF2B5EF4-FFF2-40B4-BE49-F238E27FC236}">
                <a16:creationId xmlns:a16="http://schemas.microsoft.com/office/drawing/2014/main" id="{6C14F585-A7E4-0449-34F3-2EA6D862C2E1}"/>
              </a:ext>
            </a:extLst>
          </p:cNvPr>
          <p:cNvGrpSpPr/>
          <p:nvPr/>
        </p:nvGrpSpPr>
        <p:grpSpPr>
          <a:xfrm>
            <a:off x="5303912" y="1866186"/>
            <a:ext cx="6770083" cy="3403664"/>
            <a:chOff x="5303912" y="1866186"/>
            <a:chExt cx="6770083" cy="3403664"/>
          </a:xfrm>
        </p:grpSpPr>
        <p:sp>
          <p:nvSpPr>
            <p:cNvPr id="8" name="TextBox 7">
              <a:extLst>
                <a:ext uri="{FF2B5EF4-FFF2-40B4-BE49-F238E27FC236}">
                  <a16:creationId xmlns:a16="http://schemas.microsoft.com/office/drawing/2014/main" id="{E3E36E76-491D-2C22-0D84-6314A4910B4F}"/>
                </a:ext>
              </a:extLst>
            </p:cNvPr>
            <p:cNvSpPr txBox="1"/>
            <p:nvPr/>
          </p:nvSpPr>
          <p:spPr>
            <a:xfrm>
              <a:off x="7248128" y="1866186"/>
              <a:ext cx="4825867" cy="1200329"/>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When you write a SELECT query, the list of columns or expressions you mention after the SELECT keyword is called the SELECT-LIST (also referred to as FIELD-LIST).</a:t>
              </a:r>
            </a:p>
          </p:txBody>
        </p:sp>
        <p:cxnSp>
          <p:nvCxnSpPr>
            <p:cNvPr id="10" name="Connector: Elbow 9">
              <a:extLst>
                <a:ext uri="{FF2B5EF4-FFF2-40B4-BE49-F238E27FC236}">
                  <a16:creationId xmlns:a16="http://schemas.microsoft.com/office/drawing/2014/main" id="{285466F7-6267-E465-9BC8-2C79429CD7F0}"/>
                </a:ext>
              </a:extLst>
            </p:cNvPr>
            <p:cNvCxnSpPr>
              <a:cxnSpLocks/>
            </p:cNvCxnSpPr>
            <p:nvPr/>
          </p:nvCxnSpPr>
          <p:spPr>
            <a:xfrm>
              <a:off x="5303912" y="1938059"/>
              <a:ext cx="1898006" cy="528292"/>
            </a:xfrm>
            <a:prstGeom prst="bentConnector3">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FF73C22A-3E20-D991-B766-D90761BE2D57}"/>
                </a:ext>
              </a:extLst>
            </p:cNvPr>
            <p:cNvCxnSpPr>
              <a:cxnSpLocks/>
              <a:stCxn id="13" idx="3"/>
            </p:cNvCxnSpPr>
            <p:nvPr/>
          </p:nvCxnSpPr>
          <p:spPr>
            <a:xfrm flipV="1">
              <a:off x="5552124" y="3129231"/>
              <a:ext cx="3496204" cy="2140619"/>
            </a:xfrm>
            <a:prstGeom prst="bentConnector3">
              <a:avLst>
                <a:gd name="adj1" fmla="val 100129"/>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23424744"/>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821CB-3A9C-BBCC-0547-1189A0027DB4}"/>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3CB068EC-0D75-E584-3127-B35EA4ABE092}"/>
              </a:ext>
            </a:extLst>
          </p:cNvPr>
          <p:cNvGrpSpPr/>
          <p:nvPr/>
        </p:nvGrpSpPr>
        <p:grpSpPr>
          <a:xfrm>
            <a:off x="1271463" y="559052"/>
            <a:ext cx="6552728" cy="1574045"/>
            <a:chOff x="2209801" y="1265224"/>
            <a:chExt cx="6478487" cy="1574045"/>
          </a:xfrm>
        </p:grpSpPr>
        <p:sp>
          <p:nvSpPr>
            <p:cNvPr id="3" name="Rectangle 2">
              <a:extLst>
                <a:ext uri="{FF2B5EF4-FFF2-40B4-BE49-F238E27FC236}">
                  <a16:creationId xmlns:a16="http://schemas.microsoft.com/office/drawing/2014/main" id="{094D8682-7E6E-B365-C209-9E1B49C2F85B}"/>
                </a:ext>
              </a:extLst>
            </p:cNvPr>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a:extLst>
                <a:ext uri="{FF2B5EF4-FFF2-40B4-BE49-F238E27FC236}">
                  <a16:creationId xmlns:a16="http://schemas.microsoft.com/office/drawing/2014/main" id="{9A12DDF7-F49B-8E9B-D839-729587390373}"/>
                </a:ext>
              </a:extLst>
            </p:cNvPr>
            <p:cNvSpPr/>
            <p:nvPr/>
          </p:nvSpPr>
          <p:spPr>
            <a:xfrm>
              <a:off x="2209801" y="1265224"/>
              <a:ext cx="6456717"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SELECT *** (SELECT all columns)</a:t>
              </a:r>
              <a:endParaRPr lang="en-IN" sz="2400" dirty="0">
                <a:solidFill>
                  <a:srgbClr val="FFFF00"/>
                </a:solidFill>
                <a:latin typeface="Arial" panose="020B0604020202020204" pitchFamily="34" charset="0"/>
                <a:cs typeface="Arial" panose="020B0604020202020204" pitchFamily="34" charset="0"/>
              </a:endParaRPr>
            </a:p>
          </p:txBody>
        </p:sp>
        <p:sp>
          <p:nvSpPr>
            <p:cNvPr id="20" name="Left Brace 19">
              <a:extLst>
                <a:ext uri="{FF2B5EF4-FFF2-40B4-BE49-F238E27FC236}">
                  <a16:creationId xmlns:a16="http://schemas.microsoft.com/office/drawing/2014/main" id="{4B8F2609-5908-ED91-1734-9FD12A76687C}"/>
                </a:ext>
              </a:extLst>
            </p:cNvPr>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a:extLst>
                <a:ext uri="{FF2B5EF4-FFF2-40B4-BE49-F238E27FC236}">
                  <a16:creationId xmlns:a16="http://schemas.microsoft.com/office/drawing/2014/main" id="{36CFBF8D-1488-F1EC-7B5F-7612E793C008}"/>
                </a:ext>
              </a:extLst>
            </p:cNvPr>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a:extLst>
              <a:ext uri="{FF2B5EF4-FFF2-40B4-BE49-F238E27FC236}">
                <a16:creationId xmlns:a16="http://schemas.microsoft.com/office/drawing/2014/main" id="{299602D6-DF61-8A99-9D1B-53C42CCF5DD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select statement </a:t>
            </a:r>
          </a:p>
        </p:txBody>
      </p:sp>
      <p:grpSp>
        <p:nvGrpSpPr>
          <p:cNvPr id="5" name="Group 4">
            <a:extLst>
              <a:ext uri="{FF2B5EF4-FFF2-40B4-BE49-F238E27FC236}">
                <a16:creationId xmlns:a16="http://schemas.microsoft.com/office/drawing/2014/main" id="{69C9B479-74B4-9657-E38D-F9C5F2959A40}"/>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B3D180E2-7F74-4863-D67B-65C29C76BDDA}"/>
                </a:ext>
              </a:extLst>
            </p:cNvPr>
            <p:cNvGrpSpPr/>
            <p:nvPr/>
          </p:nvGrpSpPr>
          <p:grpSpPr>
            <a:xfrm>
              <a:off x="1271464" y="3789040"/>
              <a:ext cx="8305800" cy="1490463"/>
              <a:chOff x="2209800" y="3660939"/>
              <a:chExt cx="8305800" cy="1490463"/>
            </a:xfrm>
          </p:grpSpPr>
          <p:sp>
            <p:nvSpPr>
              <p:cNvPr id="6" name="Rectangle 5">
                <a:extLst>
                  <a:ext uri="{FF2B5EF4-FFF2-40B4-BE49-F238E27FC236}">
                    <a16:creationId xmlns:a16="http://schemas.microsoft.com/office/drawing/2014/main" id="{05EDED4D-80C6-FF73-FCD2-1C96E9A161E2}"/>
                  </a:ext>
                </a:extLst>
              </p:cNvPr>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a:extLst>
                  <a:ext uri="{FF2B5EF4-FFF2-40B4-BE49-F238E27FC236}">
                    <a16:creationId xmlns:a16="http://schemas.microsoft.com/office/drawing/2014/main" id="{F985FB7C-C548-481E-84C9-04765C606AFA}"/>
                  </a:ext>
                </a:extLst>
              </p:cNvPr>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a:extLst>
                  <a:ext uri="{FF2B5EF4-FFF2-40B4-BE49-F238E27FC236}">
                    <a16:creationId xmlns:a16="http://schemas.microsoft.com/office/drawing/2014/main" id="{7E0B2F77-A19D-8125-6556-AE457D45A159}"/>
                  </a:ext>
                </a:extLst>
              </p:cNvPr>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403A87DD-1D71-18CE-18DC-29E73818CF92}"/>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CB44E257-EB2B-7CF1-BFFB-8F73AD54BBF5}"/>
              </a:ext>
            </a:extLst>
          </p:cNvPr>
          <p:cNvSpPr txBox="1"/>
          <p:nvPr/>
        </p:nvSpPr>
        <p:spPr>
          <a:xfrm>
            <a:off x="288345" y="2247496"/>
            <a:ext cx="4248472"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sz="2000" dirty="0">
                <a:solidFill>
                  <a:srgbClr val="A67F59"/>
                </a:solidFill>
                <a:latin typeface="Arial" panose="020B0604020202020204" pitchFamily="34" charset="0"/>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employees;</a:t>
            </a:r>
          </a:p>
        </p:txBody>
      </p:sp>
      <p:sp>
        <p:nvSpPr>
          <p:cNvPr id="22" name="TextBox 21">
            <a:extLst>
              <a:ext uri="{FF2B5EF4-FFF2-40B4-BE49-F238E27FC236}">
                <a16:creationId xmlns:a16="http://schemas.microsoft.com/office/drawing/2014/main" id="{FC6F9A36-3EE1-B582-EBE9-1982C99B288B}"/>
              </a:ext>
            </a:extLst>
          </p:cNvPr>
          <p:cNvSpPr txBox="1"/>
          <p:nvPr/>
        </p:nvSpPr>
        <p:spPr>
          <a:xfrm>
            <a:off x="335360" y="5517232"/>
            <a:ext cx="11521280"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emp_id, emp_name, salary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employees;</a:t>
            </a:r>
            <a:r>
              <a:rPr lang="en-IN"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75832A97-2BED-6D8D-7C99-ADEC808772BB}"/>
              </a:ext>
            </a:extLst>
          </p:cNvPr>
          <p:cNvSpPr txBox="1"/>
          <p:nvPr/>
        </p:nvSpPr>
        <p:spPr>
          <a:xfrm>
            <a:off x="4655840" y="2228091"/>
            <a:ext cx="7426992" cy="104644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Fetches unnecessary columns → wastes bandwidth and memory.</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Breaks code if schema changes (e.g., new columns added).</a:t>
            </a:r>
          </a:p>
        </p:txBody>
      </p:sp>
    </p:spTree>
    <p:extLst>
      <p:ext uri="{BB962C8B-B14F-4D97-AF65-F5344CB8AC3E}">
        <p14:creationId xmlns:p14="http://schemas.microsoft.com/office/powerpoint/2010/main" val="3416671139"/>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alias</a:t>
            </a:r>
          </a:p>
        </p:txBody>
      </p:sp>
      <p:sp>
        <p:nvSpPr>
          <p:cNvPr id="3" name="Rectangle 2"/>
          <p:cNvSpPr/>
          <p:nvPr/>
        </p:nvSpPr>
        <p:spPr>
          <a:xfrm>
            <a:off x="253749" y="116632"/>
            <a:ext cx="8685669"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 ' 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p:txBody>
      </p:sp>
      <p:sp>
        <p:nvSpPr>
          <p:cNvPr id="4" name="Rectangle 3"/>
          <p:cNvSpPr/>
          <p:nvPr/>
        </p:nvSpPr>
        <p:spPr>
          <a:xfrm>
            <a:off x="251226" y="3276600"/>
            <a:ext cx="11305255" cy="738664"/>
          </a:xfrm>
          <a:prstGeom prst="rect">
            <a:avLst/>
          </a:prstGeom>
          <a:solidFill>
            <a:schemeClr val="bg1"/>
          </a:solidFill>
        </p:spPr>
        <p:txBody>
          <a:bodyPr wrap="square">
            <a:spAutoFit/>
          </a:bodyPr>
          <a:lstStyle/>
          <a:p>
            <a:r>
              <a:rPr lang="en-IN" sz="2000" dirty="0">
                <a:latin typeface="Palatino Linotype" panose="02040502050505030304" pitchFamily="18" charset="0"/>
                <a:cs typeface="Arial" panose="020B0604020202020204" pitchFamily="34" charset="0"/>
              </a:rPr>
              <a:t>A programmer can use an alias to temporarily assign another name to a </a:t>
            </a:r>
            <a:r>
              <a:rPr lang="en-IN" sz="2000" b="1" dirty="0">
                <a:latin typeface="Palatino Linotype" panose="02040502050505030304" pitchFamily="18" charset="0"/>
                <a:cs typeface="Arial" panose="020B0604020202020204" pitchFamily="34" charset="0"/>
              </a:rPr>
              <a:t>column</a:t>
            </a:r>
            <a:r>
              <a:rPr lang="en-IN" sz="2000" dirty="0">
                <a:latin typeface="Palatino Linotype" panose="02040502050505030304" pitchFamily="18" charset="0"/>
                <a:cs typeface="Arial" panose="020B0604020202020204" pitchFamily="34" charset="0"/>
              </a:rPr>
              <a:t> or </a:t>
            </a:r>
            <a:r>
              <a:rPr lang="en-IN" sz="2000" b="1" dirty="0">
                <a:latin typeface="Palatino Linotype" panose="02040502050505030304" pitchFamily="18" charset="0"/>
                <a:cs typeface="Arial" panose="020B0604020202020204" pitchFamily="34" charset="0"/>
              </a:rPr>
              <a:t>table</a:t>
            </a:r>
            <a:r>
              <a:rPr lang="en-IN" sz="2000" dirty="0">
                <a:latin typeface="Palatino Linotype" panose="02040502050505030304" pitchFamily="18" charset="0"/>
                <a:cs typeface="Arial" panose="020B0604020202020204" pitchFamily="34" charset="0"/>
              </a:rPr>
              <a:t> for the duration of a </a:t>
            </a:r>
            <a:r>
              <a:rPr lang="en-IN" sz="2200" b="1" i="1" dirty="0">
                <a:latin typeface="Palatino Linotype" panose="02040502050505030304" pitchFamily="18" charset="0"/>
                <a:cs typeface="Arial" panose="020B0604020202020204" pitchFamily="34" charset="0"/>
              </a:rPr>
              <a:t>SELECT</a:t>
            </a:r>
            <a:r>
              <a:rPr lang="en-IN" sz="2000" dirty="0">
                <a:latin typeface="Palatino Linotype" panose="02040502050505030304" pitchFamily="18" charset="0"/>
                <a:cs typeface="Arial" panose="020B0604020202020204" pitchFamily="34" charset="0"/>
              </a:rPr>
              <a:t> query</a:t>
            </a:r>
            <a:r>
              <a:rPr lang="en-IN" sz="2000" b="1" dirty="0">
                <a:latin typeface="Palatino Linotype" panose="02040502050505030304" pitchFamily="18" charset="0"/>
                <a:cs typeface="Arial" panose="020B0604020202020204" pitchFamily="34" charset="0"/>
              </a:rPr>
              <a:t>.</a:t>
            </a:r>
            <a:r>
              <a:rPr lang="en-IN" sz="2000" b="1" dirty="0">
                <a:solidFill>
                  <a:srgbClr val="FF0000"/>
                </a:solidFill>
                <a:latin typeface="Palatino Linotype" panose="02040502050505030304" pitchFamily="18" charset="0"/>
                <a:cs typeface="Arial" panose="020B0604020202020204" pitchFamily="34" charset="0"/>
              </a:rPr>
              <a:t> </a:t>
            </a:r>
          </a:p>
        </p:txBody>
      </p:sp>
      <p:sp>
        <p:nvSpPr>
          <p:cNvPr id="5" name="Rectangle 4">
            <a:extLst>
              <a:ext uri="{FF2B5EF4-FFF2-40B4-BE49-F238E27FC236}">
                <a16:creationId xmlns:a16="http://schemas.microsoft.com/office/drawing/2014/main" id="{000DFE5E-7E26-4CF6-9CFD-29B830664D09}"/>
              </a:ext>
            </a:extLst>
          </p:cNvPr>
          <p:cNvSpPr/>
          <p:nvPr/>
        </p:nvSpPr>
        <p:spPr>
          <a:xfrm>
            <a:off x="263352" y="4400525"/>
            <a:ext cx="11665296" cy="1692771"/>
          </a:xfrm>
          <a:prstGeom prst="rect">
            <a:avLst/>
          </a:prstGeom>
        </p:spPr>
        <p:txBody>
          <a:bodyPr wrap="square">
            <a:spAutoFit/>
          </a:bodyPr>
          <a:lstStyle/>
          <a:p>
            <a:r>
              <a:rPr lang="en-IN" dirty="0">
                <a:latin typeface="Palatino Linotype" panose="02040502050505030304" pitchFamily="18" charset="0"/>
                <a:cs typeface="Segoe UI Light" panose="020B0502040204020203" pitchFamily="34" charset="0"/>
              </a:rPr>
              <a:t>In the selection-list, a quoted column alias can be specified using identifier</a:t>
            </a:r>
            <a:r>
              <a:rPr lang="en-IN" b="1" i="1"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or string quote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or</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characters.</a:t>
            </a:r>
          </a:p>
          <a:p>
            <a:endParaRPr lang="en-IN" dirty="0">
              <a:solidFill>
                <a:srgbClr val="FF0000"/>
              </a:solidFill>
              <a:latin typeface="Arial" panose="020B0604020202020204" pitchFamily="34" charset="0"/>
              <a:cs typeface="Arial" panose="020B0604020202020204" pitchFamily="34" charset="0"/>
            </a:endParaRPr>
          </a:p>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Assigning an alias_name does not actually rename the column or table.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use alias in an expression.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67677198"/>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alias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1" y="809510"/>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US"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2</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IN"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N</a:t>
            </a:r>
            <a:r>
              <a:rPr lang="en-US" sz="2000" dirty="0">
                <a:solidFill>
                  <a:srgbClr val="0077AA"/>
                </a:solidFill>
                <a:latin typeface="Liberation Mono"/>
              </a:rPr>
              <a:t> FROM </a:t>
            </a:r>
            <a:r>
              <a:rPr lang="en-US" sz="2000" b="1" i="1" dirty="0">
                <a:solidFill>
                  <a:srgbClr val="0077AA"/>
                </a:solidFill>
                <a:latin typeface="Liberation Mono"/>
              </a:rPr>
              <a:t>r</a:t>
            </a:r>
            <a:r>
              <a:rPr lang="en-US" sz="2000" dirty="0">
                <a:solidFill>
                  <a:srgbClr val="0077AA"/>
                </a:solidFill>
                <a:latin typeface="Liberation Mono"/>
              </a:rPr>
              <a:t> [ [</a:t>
            </a:r>
            <a:r>
              <a:rPr lang="en-US" sz="2000" dirty="0">
                <a:latin typeface="Liberation Mono"/>
              </a:rPr>
              <a:t>AS</a:t>
            </a:r>
            <a:r>
              <a:rPr lang="en-US" sz="2000" i="1"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p>
        </p:txBody>
      </p:sp>
      <p:sp>
        <p:nvSpPr>
          <p:cNvPr id="4" name="Rectangle 3"/>
          <p:cNvSpPr/>
          <p:nvPr/>
        </p:nvSpPr>
        <p:spPr>
          <a:xfrm>
            <a:off x="263353" y="5445500"/>
            <a:ext cx="11665295" cy="1295868"/>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empno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ea typeface="Times New Roman" panose="02020603050405020304" pitchFamily="18" charset="0"/>
                <a:cs typeface="Arial" panose="020B0604020202020204" pitchFamily="34" charset="0"/>
              </a:rPr>
              <a:t>EmployeeID</a:t>
            </a:r>
            <a:r>
              <a:rPr lang="en-US" dirty="0">
                <a:latin typeface="Liberation Mono"/>
                <a:ea typeface="Times New Roman" panose="02020603050405020304" pitchFamily="18" charset="0"/>
                <a:cs typeface="Arial" panose="020B0604020202020204" pitchFamily="34" charset="0"/>
              </a:rPr>
              <a:t>,</a:t>
            </a:r>
            <a:r>
              <a:rPr lang="en-US"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cs typeface="Arial" panose="020B0604020202020204" pitchFamily="34" charset="0"/>
              </a:rPr>
              <a:t>EmployeeName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ID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'Employee ID'</a:t>
            </a:r>
            <a:r>
              <a:rPr lang="en-US" dirty="0">
                <a:latin typeface="Liberation Mono"/>
                <a:cs typeface="Arial" panose="020B0604020202020204" pitchFamily="34" charset="0"/>
              </a:rPr>
              <a:t>, </a:t>
            </a:r>
            <a:r>
              <a:rPr lang="en-IN" dirty="0">
                <a:latin typeface="Liberation Mono"/>
                <a:cs typeface="Arial" panose="020B0604020202020204" pitchFamily="34" charset="0"/>
              </a:rPr>
              <a:t>ename</a:t>
            </a:r>
            <a:r>
              <a:rPr lang="en-US" dirty="0">
                <a:latin typeface="Liberation Mono"/>
                <a:cs typeface="Arial" panose="020B0604020202020204" pitchFamily="34" charset="0"/>
              </a:rPr>
              <a:t> </a:t>
            </a:r>
            <a:r>
              <a:rPr lang="en-US" i="1" dirty="0">
                <a:solidFill>
                  <a:schemeClr val="bg1">
                    <a:lumMod val="50000"/>
                  </a:schemeClr>
                </a:solidFill>
                <a:latin typeface="Liberation Mono"/>
              </a:rPr>
              <a:t>"Employee Name"</a:t>
            </a:r>
            <a:r>
              <a:rPr lang="en-US" dirty="0">
                <a:solidFill>
                  <a:srgbClr val="669900"/>
                </a:solidFill>
                <a:latin typeface="Liberation Mono"/>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 </a:t>
            </a:r>
            <a:r>
              <a:rPr lang="en-US" i="1" dirty="0">
                <a:solidFill>
                  <a:schemeClr val="bg1">
                    <a:lumMod val="50000"/>
                  </a:schemeClr>
                </a:solidFill>
                <a:latin typeface="Liberation Mono"/>
                <a:cs typeface="Arial" pitchFamily="34" charset="0"/>
              </a:rPr>
              <a:t>employee</a:t>
            </a:r>
            <a:r>
              <a:rPr lang="en-US" dirty="0">
                <a:latin typeface="Liberation Mono"/>
                <a:cs typeface="Arial" pitchFamily="34" charset="0"/>
              </a:rPr>
              <a:t>;</a:t>
            </a:r>
            <a:endParaRPr lang="en-IN" dirty="0">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0482E5A6-2665-45F7-AAD5-1BEA8FE5A19F}"/>
              </a:ext>
            </a:extLst>
          </p:cNvPr>
          <p:cNvSpPr/>
          <p:nvPr/>
        </p:nvSpPr>
        <p:spPr>
          <a:xfrm>
            <a:off x="263352" y="2089879"/>
            <a:ext cx="11665296" cy="313932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select_expr can be given an alias using </a:t>
            </a:r>
            <a:r>
              <a:rPr lang="en-IN" b="1" dirty="0">
                <a:solidFill>
                  <a:srgbClr val="0077AA"/>
                </a:solidFill>
                <a:latin typeface="Arial" panose="020B0604020202020204" pitchFamily="34" charset="0"/>
                <a:cs typeface="Arial" panose="020B0604020202020204" pitchFamily="34" charset="0"/>
              </a:rPr>
              <a:t>AS</a:t>
            </a:r>
            <a:r>
              <a:rPr lang="en-IN" b="1" dirty="0">
                <a:latin typeface="Arial" panose="020B0604020202020204" pitchFamily="34" charset="0"/>
                <a:cs typeface="Arial" panose="020B0604020202020204" pitchFamily="34" charset="0"/>
              </a:rPr>
              <a:t> alias_name</a:t>
            </a:r>
            <a:r>
              <a:rPr lang="en-IN" dirty="0">
                <a:latin typeface="Arial" panose="020B0604020202020204" pitchFamily="34" charset="0"/>
                <a:cs typeface="Arial" panose="020B0604020202020204" pitchFamily="34" charset="0"/>
              </a:rPr>
              <a:t>. The alias is used as the expression's column name and can be used in </a:t>
            </a:r>
            <a:r>
              <a:rPr lang="en-IN" b="1" dirty="0">
                <a:latin typeface="Arial" panose="020B0604020202020204" pitchFamily="34" charset="0"/>
                <a:cs typeface="Arial" panose="020B0604020202020204" pitchFamily="34" charset="0"/>
              </a:rPr>
              <a:t>GROUP BY, HAVING, </a:t>
            </a:r>
            <a:r>
              <a:rPr lang="en-IN" dirty="0">
                <a:latin typeface="Arial" panose="020B0604020202020204" pitchFamily="34" charset="0"/>
                <a:cs typeface="Arial" panose="020B0604020202020204" pitchFamily="34" charset="0"/>
              </a:rPr>
              <a:t>or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solidFill>
                  <a:srgbClr val="0077AA"/>
                </a:solidFill>
                <a:latin typeface="Arial" panose="020B0604020202020204" pitchFamily="34" charset="0"/>
                <a:cs typeface="Arial" panose="020B0604020202020204" pitchFamily="34" charset="0"/>
              </a:rPr>
              <a:t>AS</a:t>
            </a:r>
            <a:r>
              <a:rPr lang="en-IN" dirty="0">
                <a:latin typeface="Arial" panose="020B0604020202020204" pitchFamily="34" charset="0"/>
                <a:cs typeface="Arial" panose="020B0604020202020204" pitchFamily="34" charset="0"/>
              </a:rPr>
              <a:t> keyword is optional when aliasing a select_expr with an identifier.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Standard SQL </a:t>
            </a:r>
            <a:r>
              <a:rPr lang="en-IN" b="1" dirty="0">
                <a:latin typeface="Arial" pitchFamily="34" charset="0"/>
                <a:cs typeface="Arial" pitchFamily="34" charset="0"/>
              </a:rPr>
              <a:t>disallows</a:t>
            </a:r>
            <a:r>
              <a:rPr lang="en-IN" dirty="0">
                <a:latin typeface="Arial" pitchFamily="34" charset="0"/>
                <a:cs typeface="Arial" pitchFamily="34" charset="0"/>
              </a:rPr>
              <a:t> references to column aliases in a </a:t>
            </a:r>
            <a:r>
              <a:rPr lang="en-IN" b="1" i="1" dirty="0">
                <a:latin typeface="Arial" pitchFamily="34" charset="0"/>
                <a:cs typeface="Arial" pitchFamily="34" charset="0"/>
              </a:rPr>
              <a:t>WHERE</a:t>
            </a:r>
            <a:r>
              <a:rPr lang="en-IN" b="1" dirty="0">
                <a:latin typeface="Arial" pitchFamily="34" charset="0"/>
                <a:cs typeface="Arial" pitchFamily="34" charset="0"/>
              </a:rPr>
              <a:t> </a:t>
            </a:r>
            <a:r>
              <a:rPr lang="en-IN" dirty="0">
                <a:latin typeface="Arial" pitchFamily="34" charset="0"/>
                <a:cs typeface="Arial" pitchFamily="34" charset="0"/>
              </a:rPr>
              <a:t>clause.</a:t>
            </a:r>
          </a:p>
          <a:p>
            <a:pPr marL="285750" indent="-285750">
              <a:buFont typeface="Arial" panose="020B0604020202020204" pitchFamily="34" charset="0"/>
              <a:buChar char="•"/>
            </a:pPr>
            <a:endParaRPr lang="en-IN" sz="800" dirty="0">
              <a:latin typeface="Arial" pitchFamily="34" charset="0"/>
              <a:cs typeface="Arial" pitchFamily="34" charset="0"/>
            </a:endParaRPr>
          </a:p>
          <a:p>
            <a:pPr marL="285750" indent="-285750">
              <a:buFont typeface="Arial" panose="020B0604020202020204" pitchFamily="34" charset="0"/>
              <a:buChar char="•"/>
            </a:pPr>
            <a:r>
              <a:rPr lang="en-IN" dirty="0">
                <a:latin typeface="Arial" pitchFamily="34" charset="0"/>
                <a:cs typeface="Arial" pitchFamily="34" charset="0"/>
              </a:rPr>
              <a:t>A table reference can be aliased using </a:t>
            </a:r>
            <a:r>
              <a:rPr lang="en-IN" b="1" dirty="0">
                <a:latin typeface="Arial" pitchFamily="34" charset="0"/>
                <a:cs typeface="Arial" pitchFamily="34" charset="0"/>
              </a:rPr>
              <a:t>tbl_name alias_name </a:t>
            </a:r>
            <a:r>
              <a:rPr lang="en-IN" dirty="0">
                <a:latin typeface="Arial" pitchFamily="34" charset="0"/>
                <a:cs typeface="Arial" pitchFamily="34" charset="0"/>
              </a:rPr>
              <a:t>or</a:t>
            </a:r>
            <a:r>
              <a:rPr lang="en-IN" b="1" dirty="0">
                <a:latin typeface="Arial" pitchFamily="34" charset="0"/>
                <a:cs typeface="Arial" pitchFamily="34" charset="0"/>
              </a:rPr>
              <a:t> tbl_name </a:t>
            </a:r>
            <a:r>
              <a:rPr lang="en-IN" b="1" dirty="0">
                <a:solidFill>
                  <a:srgbClr val="0077AA"/>
                </a:solidFill>
                <a:latin typeface="Arial" panose="020B0604020202020204" pitchFamily="34" charset="0"/>
                <a:cs typeface="Arial" panose="020B0604020202020204" pitchFamily="34" charset="0"/>
              </a:rPr>
              <a:t>AS</a:t>
            </a:r>
            <a:r>
              <a:rPr lang="en-IN" b="1" dirty="0">
                <a:latin typeface="Arial" pitchFamily="34" charset="0"/>
                <a:cs typeface="Arial" pitchFamily="34" charset="0"/>
              </a:rPr>
              <a:t> alias_name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column alias contains spaces, </a:t>
            </a:r>
            <a:r>
              <a:rPr lang="en-IN" b="1" dirty="0">
                <a:latin typeface="Arial" panose="020B0604020202020204" pitchFamily="34" charset="0"/>
                <a:cs typeface="Arial" panose="020B0604020202020204" pitchFamily="34" charset="0"/>
              </a:rPr>
              <a:t>put it in quotes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itchFamily="34" charset="0"/>
              <a:cs typeface="Arial"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Alias name is </a:t>
            </a:r>
            <a:r>
              <a:rPr lang="en-IN" b="1" dirty="0">
                <a:latin typeface="Arial" panose="020B0604020202020204" pitchFamily="34" charset="0"/>
                <a:cs typeface="Arial" panose="020B0604020202020204" pitchFamily="34" charset="0"/>
              </a:rPr>
              <a:t>max 256 characters</a:t>
            </a:r>
            <a:r>
              <a:rPr lang="en-IN" dirty="0">
                <a:latin typeface="Arial" panose="020B0604020202020204" pitchFamily="34" charset="0"/>
                <a:cs typeface="Arial" panose="020B0604020202020204" pitchFamily="34" charset="0"/>
              </a:rPr>
              <a:t>.</a:t>
            </a:r>
          </a:p>
        </p:txBody>
      </p:sp>
      <p:grpSp>
        <p:nvGrpSpPr>
          <p:cNvPr id="11" name="Group 10">
            <a:extLst>
              <a:ext uri="{FF2B5EF4-FFF2-40B4-BE49-F238E27FC236}">
                <a16:creationId xmlns:a16="http://schemas.microsoft.com/office/drawing/2014/main" id="{D8C160C6-62DD-113C-B684-E2CA10655ED6}"/>
              </a:ext>
            </a:extLst>
          </p:cNvPr>
          <p:cNvGrpSpPr/>
          <p:nvPr/>
        </p:nvGrpSpPr>
        <p:grpSpPr>
          <a:xfrm>
            <a:off x="370694" y="1178292"/>
            <a:ext cx="3709082" cy="635359"/>
            <a:chOff x="370694" y="1137457"/>
            <a:chExt cx="3709082" cy="635359"/>
          </a:xfrm>
        </p:grpSpPr>
        <p:sp>
          <p:nvSpPr>
            <p:cNvPr id="6" name="TextBox 5">
              <a:extLst>
                <a:ext uri="{FF2B5EF4-FFF2-40B4-BE49-F238E27FC236}">
                  <a16:creationId xmlns:a16="http://schemas.microsoft.com/office/drawing/2014/main" id="{B5A3A703-CABC-B1DC-B142-47E97C6F12E5}"/>
                </a:ext>
              </a:extLst>
            </p:cNvPr>
            <p:cNvSpPr txBox="1"/>
            <p:nvPr/>
          </p:nvSpPr>
          <p:spPr>
            <a:xfrm>
              <a:off x="370694" y="1311151"/>
              <a:ext cx="3709082" cy="461665"/>
            </a:xfrm>
            <a:prstGeom prst="rect">
              <a:avLst/>
            </a:prstGeom>
            <a:noFill/>
          </p:spPr>
          <p:txBody>
            <a:bodyPr wrap="square">
              <a:spAutoFit/>
            </a:bodyPr>
            <a:lstStyle/>
            <a:p>
              <a:r>
                <a:rPr lang="en-IN" sz="2400" dirty="0"/>
                <a:t>column-name as new-name</a:t>
              </a:r>
            </a:p>
          </p:txBody>
        </p:sp>
        <p:cxnSp>
          <p:nvCxnSpPr>
            <p:cNvPr id="8" name="Straight Arrow Connector 7">
              <a:extLst>
                <a:ext uri="{FF2B5EF4-FFF2-40B4-BE49-F238E27FC236}">
                  <a16:creationId xmlns:a16="http://schemas.microsoft.com/office/drawing/2014/main" id="{5B91EFA8-641C-4728-A199-CE2389A45C61}"/>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F502E96-20F3-9FCD-FC13-99BB908F982C}"/>
                </a:ext>
              </a:extLst>
            </p:cNvPr>
            <p:cNvCxnSpPr>
              <a:cxnSpLocks/>
            </p:cNvCxnSpPr>
            <p:nvPr/>
          </p:nvCxnSpPr>
          <p:spPr>
            <a:xfrm>
              <a:off x="2783632"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C244A650-CAC7-831D-C9F4-15D4DBBB3E33}"/>
              </a:ext>
            </a:extLst>
          </p:cNvPr>
          <p:cNvGrpSpPr/>
          <p:nvPr/>
        </p:nvGrpSpPr>
        <p:grpSpPr>
          <a:xfrm>
            <a:off x="6312024" y="1178292"/>
            <a:ext cx="3456383" cy="635359"/>
            <a:chOff x="370694" y="1137457"/>
            <a:chExt cx="3456383" cy="635359"/>
          </a:xfrm>
        </p:grpSpPr>
        <p:sp>
          <p:nvSpPr>
            <p:cNvPr id="14" name="TextBox 13">
              <a:extLst>
                <a:ext uri="{FF2B5EF4-FFF2-40B4-BE49-F238E27FC236}">
                  <a16:creationId xmlns:a16="http://schemas.microsoft.com/office/drawing/2014/main" id="{D3D5057F-E8DE-0C0A-AF53-87B8881C5C0C}"/>
                </a:ext>
              </a:extLst>
            </p:cNvPr>
            <p:cNvSpPr txBox="1"/>
            <p:nvPr/>
          </p:nvSpPr>
          <p:spPr>
            <a:xfrm>
              <a:off x="370694" y="1311151"/>
              <a:ext cx="3456383" cy="461665"/>
            </a:xfrm>
            <a:prstGeom prst="rect">
              <a:avLst/>
            </a:prstGeom>
            <a:noFill/>
          </p:spPr>
          <p:txBody>
            <a:bodyPr wrap="square">
              <a:spAutoFit/>
            </a:bodyPr>
            <a:lstStyle/>
            <a:p>
              <a:r>
                <a:rPr lang="en-IN" sz="2400" dirty="0"/>
                <a:t>table-name as new-name</a:t>
              </a:r>
            </a:p>
          </p:txBody>
        </p:sp>
        <p:cxnSp>
          <p:nvCxnSpPr>
            <p:cNvPr id="15" name="Straight Arrow Connector 14">
              <a:extLst>
                <a:ext uri="{FF2B5EF4-FFF2-40B4-BE49-F238E27FC236}">
                  <a16:creationId xmlns:a16="http://schemas.microsoft.com/office/drawing/2014/main" id="{AE78FC0C-8F4D-9FE3-723E-95E8AA57011C}"/>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8D82CFE1-F808-D950-5148-DE672CB42CCE}"/>
                </a:ext>
              </a:extLst>
            </p:cNvPr>
            <p:cNvCxnSpPr>
              <a:cxnSpLocks/>
            </p:cNvCxnSpPr>
            <p:nvPr/>
          </p:nvCxnSpPr>
          <p:spPr>
            <a:xfrm>
              <a:off x="2549270"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9994516"/>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comparison functions and operator</a:t>
            </a:r>
          </a:p>
        </p:txBody>
      </p:sp>
      <p:sp>
        <p:nvSpPr>
          <p:cNvPr id="6" name="TextBox 5">
            <a:extLst>
              <a:ext uri="{FF2B5EF4-FFF2-40B4-BE49-F238E27FC236}">
                <a16:creationId xmlns:a16="http://schemas.microsoft.com/office/drawing/2014/main" id="{DE74D872-5D80-4AE7-9BD3-E60EBC947116}"/>
              </a:ext>
            </a:extLst>
          </p:cNvPr>
          <p:cNvSpPr txBox="1"/>
          <p:nvPr/>
        </p:nvSpPr>
        <p:spPr>
          <a:xfrm>
            <a:off x="1676400" y="3253843"/>
            <a:ext cx="8839200" cy="400110"/>
          </a:xfrm>
          <a:prstGeom prst="rect">
            <a:avLst/>
          </a:prstGeom>
          <a:noFill/>
        </p:spPr>
        <p:txBody>
          <a:bodyPr wrap="square">
            <a:spAutoFit/>
          </a:bodyPr>
          <a:lstStyle>
            <a:defPPr>
              <a:defRPr lang="en-US"/>
            </a:defPPr>
          </a:lstStyle>
          <a:p>
            <a:r>
              <a:rPr lang="en-IN" sz="2000" dirty="0">
                <a:latin typeface="Palatino Linotype" panose="02040502050505030304" pitchFamily="18" charset="0"/>
              </a:rPr>
              <a:t>Comparison operations result in a value of 1</a:t>
            </a:r>
            <a:r>
              <a:rPr lang="en-IN" sz="2000" b="1" dirty="0">
                <a:latin typeface="Palatino Linotype" panose="02040502050505030304" pitchFamily="18" charset="0"/>
              </a:rPr>
              <a:t> (TRUE), </a:t>
            </a:r>
            <a:r>
              <a:rPr lang="en-IN" sz="2000" dirty="0">
                <a:latin typeface="Palatino Linotype" panose="02040502050505030304" pitchFamily="18" charset="0"/>
              </a:rPr>
              <a:t>0</a:t>
            </a:r>
            <a:r>
              <a:rPr lang="en-IN" sz="2000" b="1" dirty="0">
                <a:latin typeface="Palatino Linotype" panose="02040502050505030304" pitchFamily="18" charset="0"/>
              </a:rPr>
              <a:t> (FALSE)</a:t>
            </a:r>
            <a:r>
              <a:rPr lang="en-IN" sz="2000" dirty="0">
                <a:latin typeface="Palatino Linotype" panose="02040502050505030304" pitchFamily="18" charset="0"/>
              </a:rPr>
              <a:t>, or </a:t>
            </a:r>
            <a:r>
              <a:rPr lang="en-IN" sz="2000" b="1" dirty="0">
                <a:latin typeface="Palatino Linotype" panose="02040502050505030304" pitchFamily="18" charset="0"/>
              </a:rPr>
              <a:t>NULL</a:t>
            </a:r>
            <a:r>
              <a:rPr lang="en-IN" sz="2000" dirty="0">
                <a:latin typeface="Palatino Linotype" panose="02040502050505030304" pitchFamily="18" charset="0"/>
              </a:rPr>
              <a:t>.</a:t>
            </a:r>
          </a:p>
        </p:txBody>
      </p:sp>
      <p:sp>
        <p:nvSpPr>
          <p:cNvPr id="7" name="Rectangle 6">
            <a:extLst>
              <a:ext uri="{FF2B5EF4-FFF2-40B4-BE49-F238E27FC236}">
                <a16:creationId xmlns:a16="http://schemas.microsoft.com/office/drawing/2014/main" id="{96F8F7F4-FAAF-436E-8006-0F6E16C323C0}"/>
              </a:ext>
            </a:extLst>
          </p:cNvPr>
          <p:cNvSpPr/>
          <p:nvPr/>
        </p:nvSpPr>
        <p:spPr>
          <a:xfrm>
            <a:off x="351779" y="3861048"/>
            <a:ext cx="11488442" cy="2739211"/>
          </a:xfrm>
          <a:prstGeom prst="rect">
            <a:avLst/>
          </a:prstGeom>
          <a:solidFill>
            <a:schemeClr val="bg1"/>
          </a:solidFill>
        </p:spPr>
        <p:txBody>
          <a:bodyPr wrap="square">
            <a:spAutoFit/>
          </a:bodyPr>
          <a:lstStyle/>
          <a:p>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on the right hand side may be a literal value, another variable storing a value, or any legal expression that yields a scalar value, including the result of a query (provided that this value is a scalar value). You can perform multiple assignments in the same SET statement. You can perform multiple assignments in the same statement.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Unlike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the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operator is never interpreted as a comparison operator. This means you can use := in any valid SQL statement (not just in SET statements) to assign a value to a variable.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54197338"/>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 functions and operator</a:t>
            </a:r>
          </a:p>
        </p:txBody>
      </p:sp>
      <p:sp>
        <p:nvSpPr>
          <p:cNvPr id="5" name="TextBox 4">
            <a:extLst>
              <a:ext uri="{FF2B5EF4-FFF2-40B4-BE49-F238E27FC236}">
                <a16:creationId xmlns:a16="http://schemas.microsoft.com/office/drawing/2014/main" id="{B763D180-19B5-4CEB-8745-D08554B70567}"/>
              </a:ext>
            </a:extLst>
          </p:cNvPr>
          <p:cNvSpPr txBox="1"/>
          <p:nvPr/>
        </p:nvSpPr>
        <p:spPr>
          <a:xfrm>
            <a:off x="191344" y="692696"/>
            <a:ext cx="6192688" cy="6001643"/>
          </a:xfrm>
          <a:prstGeom prst="rect">
            <a:avLst/>
          </a:prstGeom>
          <a:noFill/>
        </p:spPr>
        <p:txBody>
          <a:bodyPr wrap="square">
            <a:spAutoFit/>
          </a:bodyPr>
          <a:lstStyle/>
          <a:p>
            <a:pPr marL="457200" indent="-457200">
              <a:buFont typeface="+mj-lt"/>
              <a:buAutoNum type="arabicPeriod"/>
            </a:pPr>
            <a:r>
              <a:rPr lang="en-IN" sz="2200" b="1" i="1" dirty="0">
                <a:solidFill>
                  <a:schemeClr val="accent6">
                    <a:lumMod val="75000"/>
                  </a:schemeClr>
                </a:solidFill>
                <a:latin typeface="Liberation Mono"/>
              </a:rPr>
              <a:t>arithmetic_operators: </a:t>
            </a:r>
          </a:p>
          <a:p>
            <a:pPr marL="450850"/>
            <a:r>
              <a:rPr lang="en-IN" sz="2000" dirty="0">
                <a:solidFill>
                  <a:srgbClr val="A67F59"/>
                </a:solidFill>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 </a:t>
            </a:r>
            <a:r>
              <a:rPr lang="en-IN" sz="2000" dirty="0">
                <a:solidFill>
                  <a:schemeClr val="bg1">
                    <a:lumMod val="65000"/>
                  </a:schemeClr>
                </a:solidFill>
                <a:latin typeface="Liberation Mono"/>
              </a:rPr>
              <a:t>| </a:t>
            </a:r>
            <a:r>
              <a:rPr lang="en-IN" sz="2000" dirty="0">
                <a:solidFill>
                  <a:srgbClr val="A67F59"/>
                </a:solidFill>
                <a:latin typeface="Liberation Mono"/>
              </a:rPr>
              <a:t>DIV</a:t>
            </a:r>
            <a:r>
              <a:rPr lang="en-IN" sz="2000" dirty="0">
                <a:solidFill>
                  <a:schemeClr val="bg1">
                    <a:lumMod val="65000"/>
                  </a:schemeClr>
                </a:solidFill>
                <a:latin typeface="Liberation Mono"/>
              </a:rPr>
              <a:t> | </a:t>
            </a:r>
            <a:r>
              <a:rPr lang="en-IN" sz="2000" dirty="0">
                <a:solidFill>
                  <a:srgbClr val="A67F59"/>
                </a:solidFill>
                <a:latin typeface="Liberation Mono"/>
              </a:rPr>
              <a:t>%</a:t>
            </a:r>
            <a:r>
              <a:rPr lang="en-IN" sz="2000" dirty="0">
                <a:solidFill>
                  <a:schemeClr val="bg1">
                    <a:lumMod val="65000"/>
                  </a:schemeClr>
                </a:solidFill>
                <a:latin typeface="Liberation Mono"/>
              </a:rPr>
              <a:t> |</a:t>
            </a:r>
            <a:r>
              <a:rPr lang="en-IN" sz="2000" dirty="0">
                <a:solidFill>
                  <a:srgbClr val="A67F59"/>
                </a:solidFill>
                <a:latin typeface="Liberation Mono"/>
              </a:rPr>
              <a:t>MOD</a:t>
            </a:r>
            <a:r>
              <a:rPr lang="en-IN" sz="2000" dirty="0">
                <a:solidFill>
                  <a:schemeClr val="bg1">
                    <a:lumMod val="65000"/>
                  </a:schemeClr>
                </a:solidFill>
                <a:latin typeface="Liberation Mono"/>
              </a:rPr>
              <a:t> | </a:t>
            </a:r>
            <a:r>
              <a:rPr lang="en-IN" sz="2000" dirty="0">
                <a:solidFill>
                  <a:srgbClr val="A67F59"/>
                </a:solidFill>
                <a:latin typeface="Liberation Mono"/>
              </a:rPr>
              <a:t>- </a:t>
            </a:r>
            <a:r>
              <a:rPr lang="en-IN" sz="2000" dirty="0">
                <a:solidFill>
                  <a:schemeClr val="bg1">
                    <a:lumMod val="65000"/>
                  </a:schemeClr>
                </a:solidFill>
                <a:latin typeface="Liberation Mono"/>
              </a:rPr>
              <a:t>|</a:t>
            </a:r>
            <a:r>
              <a:rPr lang="en-IN" sz="2000" dirty="0">
                <a:solidFill>
                  <a:srgbClr val="A67F59"/>
                </a:solidFill>
                <a:latin typeface="Liberation Mono"/>
              </a:rPr>
              <a:t> +</a:t>
            </a:r>
          </a:p>
          <a:p>
            <a:endParaRPr lang="en-IN" sz="800" dirty="0">
              <a:solidFill>
                <a:schemeClr val="accent6">
                  <a:lumMod val="75000"/>
                </a:schemeClr>
              </a:solidFill>
              <a:latin typeface="Liberation Mono"/>
            </a:endParaRPr>
          </a:p>
          <a:p>
            <a:pPr marL="457200" indent="-457200">
              <a:buFont typeface="+mj-lt"/>
              <a:buAutoNum type="arabicPeriod" startAt="2"/>
            </a:pPr>
            <a:r>
              <a:rPr lang="en-IN" sz="2200" b="1" i="1" dirty="0">
                <a:solidFill>
                  <a:schemeClr val="accent6">
                    <a:lumMod val="75000"/>
                  </a:schemeClr>
                </a:solidFill>
                <a:latin typeface="Liberation Mono"/>
              </a:rPr>
              <a:t>comparison_operator: </a:t>
            </a:r>
          </a:p>
          <a:p>
            <a:pPr marL="531813"/>
            <a:r>
              <a:rPr lang="en-IN" sz="2000" dirty="0">
                <a:solidFill>
                  <a:srgbClr val="A67F59"/>
                </a:solidFill>
                <a:latin typeface="Liberation Mono"/>
              </a:rPr>
              <a:t>= </a:t>
            </a:r>
            <a:r>
              <a:rPr lang="en-IN" sz="2000" b="0" i="0" dirty="0">
                <a:solidFill>
                  <a:schemeClr val="bg1">
                    <a:lumMod val="65000"/>
                  </a:schemeClr>
                </a:solidFill>
                <a:effectLst/>
                <a:latin typeface="Liberation Mono"/>
              </a:rPr>
              <a:t>| </a:t>
            </a:r>
            <a:r>
              <a:rPr lang="en-IN" sz="2000" dirty="0">
                <a:solidFill>
                  <a:srgbClr val="A67F59"/>
                </a:solidFill>
                <a:latin typeface="Liberation Mono"/>
              </a:rPr>
              <a:t>&lt;=&gt;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a:t>
            </a:r>
            <a:r>
              <a:rPr lang="en-IN" sz="2000" dirty="0">
                <a:solidFill>
                  <a:srgbClr val="A67F59"/>
                </a:solidFill>
                <a:latin typeface="Liberation Mono"/>
              </a:rPr>
              <a:t> &lt;=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&lt; </a:t>
            </a:r>
            <a:r>
              <a:rPr lang="en-IN" sz="2000" dirty="0">
                <a:solidFill>
                  <a:schemeClr val="bg1">
                    <a:lumMod val="65000"/>
                  </a:schemeClr>
                </a:solidFill>
                <a:latin typeface="Liberation Mono"/>
              </a:rPr>
              <a:t>| </a:t>
            </a:r>
            <a:r>
              <a:rPr lang="en-IN" sz="2000" dirty="0">
                <a:solidFill>
                  <a:srgbClr val="A67F59"/>
                </a:solidFill>
                <a:latin typeface="Liberation Mono"/>
              </a:rPr>
              <a:t>&lt;&gt;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p>
          <a:p>
            <a:endParaRPr lang="en-US" sz="800" dirty="0">
              <a:solidFill>
                <a:schemeClr val="accent6">
                  <a:lumMod val="75000"/>
                </a:schemeClr>
              </a:solidFill>
              <a:effectLst/>
              <a:latin typeface="Liberation Mono"/>
            </a:endParaRPr>
          </a:p>
          <a:p>
            <a:pPr marL="450850" indent="-450850">
              <a:buFont typeface="+mj-lt"/>
              <a:buAutoNum type="arabicPeriod" startAt="3"/>
            </a:pPr>
            <a:r>
              <a:rPr lang="en-US" sz="2200" b="1" i="1" dirty="0">
                <a:solidFill>
                  <a:schemeClr val="accent6">
                    <a:lumMod val="75000"/>
                  </a:schemeClr>
                </a:solidFill>
                <a:latin typeface="Liberation Mono"/>
              </a:rPr>
              <a:t>boolean_ predicate:</a:t>
            </a:r>
          </a:p>
          <a:p>
            <a:pPr marL="531813"/>
            <a:r>
              <a:rPr lang="en-US" sz="2000" b="0" i="0" dirty="0">
                <a:solidFill>
                  <a:srgbClr val="A67F59"/>
                </a:solidFill>
                <a:effectLst/>
                <a:latin typeface="Liberation Mono"/>
              </a:rPr>
              <a:t>IS</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i="1" dirty="0">
                <a:solidFill>
                  <a:schemeClr val="accent4">
                    <a:lumMod val="50000"/>
                  </a:schemeClr>
                </a:solidFill>
                <a:latin typeface="Liberation Mono"/>
                <a:cs typeface="Arial" panose="020B0604020202020204" pitchFamily="34" charset="0"/>
              </a:rPr>
              <a:t>NULL</a:t>
            </a:r>
            <a:r>
              <a:rPr lang="en-US" sz="2000" b="0" i="0" dirty="0">
                <a:solidFill>
                  <a:srgbClr val="000000"/>
                </a:solidFill>
                <a:effectLst/>
                <a:latin typeface="Liberation Mono"/>
              </a:rPr>
              <a:t>  </a:t>
            </a:r>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dirty="0">
                <a:solidFill>
                  <a:srgbClr val="A67F59"/>
                </a:solidFill>
                <a:latin typeface="Liberation Mono"/>
              </a:rPr>
              <a:t>IS</a:t>
            </a:r>
            <a:r>
              <a:rPr lang="en-US" sz="2000" b="0" i="0" dirty="0">
                <a:solidFill>
                  <a:srgbClr val="000000"/>
                </a:solidFill>
                <a:effectLst/>
                <a:latin typeface="Liberation Mono"/>
              </a:rPr>
              <a:t> </a:t>
            </a:r>
            <a:r>
              <a:rPr lang="en-US" sz="2000" dirty="0">
                <a:solidFill>
                  <a:srgbClr val="999999"/>
                </a:solidFill>
                <a:latin typeface="Liberation Mono"/>
              </a:rPr>
              <a:t>[</a:t>
            </a:r>
            <a:r>
              <a:rPr lang="en-US" sz="2000" dirty="0">
                <a:solidFill>
                  <a:srgbClr val="A67F59"/>
                </a:solidFill>
                <a:latin typeface="Liberation Mono"/>
              </a:rPr>
              <a:t>BOOLEAN</a:t>
            </a:r>
            <a:r>
              <a:rPr lang="en-US" sz="2000" dirty="0">
                <a:solidFill>
                  <a:srgbClr val="999999"/>
                </a:solidFill>
                <a:latin typeface="Liberation Mono"/>
              </a:rPr>
              <a:t>]</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A67F59"/>
                </a:solidFill>
                <a:effectLst/>
                <a:latin typeface="Liberation Mono"/>
              </a:rPr>
              <a:t>&lt;=&gt;</a:t>
            </a:r>
            <a:r>
              <a:rPr lang="en-US" sz="2000" b="0" i="0" dirty="0">
                <a:solidFill>
                  <a:srgbClr val="000000"/>
                </a:solidFill>
                <a:effectLst/>
                <a:latin typeface="Liberation Mono"/>
              </a:rPr>
              <a:t> </a:t>
            </a:r>
            <a:r>
              <a:rPr lang="en-US" sz="2000" b="0" i="1" dirty="0">
                <a:solidFill>
                  <a:srgbClr val="000000"/>
                </a:solidFill>
                <a:effectLst/>
                <a:latin typeface="Liberation Mono"/>
              </a:rPr>
              <a:t>null</a:t>
            </a:r>
            <a:endParaRPr lang="en-IN" sz="2000" dirty="0"/>
          </a:p>
          <a:p>
            <a:endParaRPr lang="en-US" sz="800" dirty="0">
              <a:solidFill>
                <a:schemeClr val="accent6">
                  <a:lumMod val="75000"/>
                </a:schemeClr>
              </a:solidFill>
              <a:effectLst/>
              <a:latin typeface="Liberation Mono"/>
            </a:endParaRPr>
          </a:p>
          <a:p>
            <a:pPr marL="457200" indent="-457200">
              <a:buFont typeface="+mj-lt"/>
              <a:buAutoNum type="arabicPeriod" startAt="4"/>
            </a:pPr>
            <a:r>
              <a:rPr lang="en-US" sz="2200" b="1" i="1" dirty="0">
                <a:solidFill>
                  <a:schemeClr val="accent6">
                    <a:lumMod val="75000"/>
                  </a:schemeClr>
                </a:solidFill>
                <a:effectLst/>
                <a:latin typeface="Liberation Mono"/>
              </a:rPr>
              <a:t>predicate</a:t>
            </a:r>
            <a:r>
              <a:rPr lang="en-US" sz="2200" b="1" i="0" dirty="0">
                <a:solidFill>
                  <a:schemeClr val="accent6">
                    <a:lumMod val="75000"/>
                  </a:schemeClr>
                </a:solidFill>
                <a:effectLst/>
                <a:latin typeface="Liberation Mono"/>
              </a:rPr>
              <a:t>: </a:t>
            </a:r>
          </a:p>
          <a:p>
            <a:pPr marL="531813"/>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LIKE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77AA"/>
                </a:solidFill>
                <a:effectLst/>
                <a:latin typeface="Liberation Mono"/>
              </a:rPr>
              <a:t>ESCAPE</a:t>
            </a:r>
            <a:r>
              <a:rPr lang="en-US" sz="2000" b="0" i="0" dirty="0">
                <a:solidFill>
                  <a:srgbClr val="000000"/>
                </a:solidFill>
                <a:effectLst/>
                <a:latin typeface="Liberation Mono"/>
              </a:rPr>
              <a:t> </a:t>
            </a:r>
            <a:r>
              <a:rPr lang="en-US" sz="2000" b="0" i="1" dirty="0">
                <a:solidFill>
                  <a:srgbClr val="000000"/>
                </a:solidFill>
                <a:effectLst/>
                <a:latin typeface="Liberation Mono"/>
              </a:rPr>
              <a:t>char</a:t>
            </a:r>
            <a:r>
              <a:rPr lang="en-US" sz="2000" b="0" i="0" dirty="0">
                <a:solidFill>
                  <a:srgbClr val="999999"/>
                </a:solidFill>
                <a:effectLst/>
                <a:latin typeface="Liberation Mono"/>
              </a:rPr>
              <a:t>]</a:t>
            </a:r>
            <a:r>
              <a:rPr lang="en-US" sz="2000" dirty="0">
                <a:solidFill>
                  <a:srgbClr val="999999"/>
                </a:solidFill>
                <a:latin typeface="Liberation Mono"/>
              </a:rPr>
              <a:t> </a:t>
            </a:r>
            <a:r>
              <a:rPr lang="en-US" sz="2000" b="0" i="0" dirty="0">
                <a:solidFill>
                  <a:srgbClr val="000000"/>
                </a:solidFill>
                <a:effectLst/>
                <a:latin typeface="Liberation Mono"/>
              </a:rPr>
              <a:t> </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 </a:t>
            </a:r>
            <a:r>
              <a:rPr lang="en-US" sz="2000" dirty="0">
                <a:solidFill>
                  <a:srgbClr val="999999"/>
                </a:solidFill>
                <a:latin typeface="Liberation Mono"/>
              </a:rPr>
              <a:t>(</a:t>
            </a:r>
            <a:r>
              <a:rPr lang="en-US" sz="2000" b="0" i="1" dirty="0">
                <a:solidFill>
                  <a:srgbClr val="000000"/>
                </a:solidFill>
                <a:effectLst/>
                <a:latin typeface="Liberation Mono"/>
              </a:rPr>
              <a:t>expr1, expr2, . . .</a:t>
            </a:r>
            <a:r>
              <a:rPr lang="en-US" sz="2000" b="0" i="0" dirty="0">
                <a:solidFill>
                  <a:srgbClr val="999999"/>
                </a:solidFill>
                <a:effectLst/>
                <a:latin typeface="Liberation Mono"/>
              </a:rPr>
              <a:t> )</a:t>
            </a:r>
            <a:endParaRPr lang="en-US" sz="2000" dirty="0">
              <a:solidFill>
                <a:srgbClr val="000000"/>
              </a:solidFill>
              <a:latin typeface="Liberation Mono"/>
            </a:endParaRPr>
          </a:p>
          <a:p>
            <a:pPr marL="723900"/>
            <a:r>
              <a:rPr lang="en-US" sz="2000" dirty="0">
                <a:solidFill>
                  <a:schemeClr val="bg1">
                    <a:lumMod val="65000"/>
                  </a:schemeClr>
                </a:solidFill>
                <a:latin typeface="Liberation Mono"/>
              </a:rPr>
              <a:t>|</a:t>
            </a:r>
            <a:r>
              <a:rPr lang="en-US" sz="2000" b="0" i="0" dirty="0">
                <a:solidFill>
                  <a:srgbClr val="A67F59"/>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1" dirty="0">
                <a:solidFill>
                  <a:srgbClr val="000000"/>
                </a:solidFill>
                <a:effectLst/>
                <a:latin typeface="Liberation Mono"/>
              </a:rPr>
              <a:t>subquery</a:t>
            </a:r>
            <a:r>
              <a:rPr lang="en-US" sz="2000" b="0" i="0" dirty="0">
                <a:solidFill>
                  <a:srgbClr val="999999"/>
                </a:solidFill>
                <a:effectLst/>
                <a:latin typeface="Liberation Mono"/>
              </a:rPr>
              <a:t>)</a:t>
            </a:r>
            <a:endParaRPr lang="en-US" sz="2000" b="0" i="0" dirty="0">
              <a:solidFill>
                <a:srgbClr val="000000"/>
              </a:solidFill>
              <a:effectLst/>
              <a:latin typeface="Liberation Mono"/>
            </a:endParaRP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BETWEEN</a:t>
            </a:r>
            <a:r>
              <a:rPr lang="en-US" sz="2000" b="0" i="0" dirty="0">
                <a:solidFill>
                  <a:srgbClr val="000000"/>
                </a:solidFill>
                <a:effectLst/>
                <a:latin typeface="Liberation Mono"/>
              </a:rPr>
              <a:t> </a:t>
            </a:r>
            <a:r>
              <a:rPr lang="en-US" sz="2000" b="0" i="1" dirty="0">
                <a:solidFill>
                  <a:srgbClr val="000000"/>
                </a:solidFill>
                <a:effectLst/>
                <a:latin typeface="Liberation Mono"/>
              </a:rPr>
              <a:t>expr1 </a:t>
            </a:r>
            <a:r>
              <a:rPr lang="en-US" sz="2000" dirty="0">
                <a:solidFill>
                  <a:srgbClr val="0077AA"/>
                </a:solidFill>
                <a:latin typeface="Liberation Mono"/>
              </a:rPr>
              <a:t>AND</a:t>
            </a:r>
            <a:r>
              <a:rPr lang="en-US" sz="2000" b="0" i="1" dirty="0">
                <a:solidFill>
                  <a:srgbClr val="000000"/>
                </a:solidFill>
                <a:effectLst/>
                <a:latin typeface="Liberation Mono"/>
              </a:rPr>
              <a:t> expr2</a:t>
            </a:r>
          </a:p>
          <a:p>
            <a:pPr indent="12700"/>
            <a:endParaRPr lang="en-US" sz="800" b="0" i="0" dirty="0">
              <a:solidFill>
                <a:srgbClr val="999999"/>
              </a:solidFill>
              <a:effectLst/>
              <a:latin typeface="Liberation Mono"/>
            </a:endParaRPr>
          </a:p>
          <a:p>
            <a:pPr marL="450850" indent="-450850">
              <a:buFont typeface="+mj-lt"/>
              <a:buAutoNum type="arabicPeriod" startAt="5"/>
            </a:pPr>
            <a:r>
              <a:rPr lang="en-IN" sz="2200" b="1" i="1" dirty="0">
                <a:solidFill>
                  <a:schemeClr val="accent6">
                    <a:lumMod val="75000"/>
                  </a:schemeClr>
                </a:solidFill>
                <a:latin typeface="Liberation Mono"/>
              </a:rPr>
              <a:t>logical_operators</a:t>
            </a:r>
          </a:p>
          <a:p>
            <a:pPr marL="536575"/>
            <a:r>
              <a:rPr lang="en-IN" sz="2000" dirty="0">
                <a:latin typeface="Liberation Mono"/>
              </a:rPr>
              <a:t>{</a:t>
            </a:r>
            <a:r>
              <a:rPr lang="en-IN" sz="2000" dirty="0">
                <a:solidFill>
                  <a:srgbClr val="A67F59"/>
                </a:solidFill>
                <a:latin typeface="Liberation Mono"/>
              </a:rPr>
              <a:t> AND</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&amp;&amp;</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effectLst/>
                <a:latin typeface="Liberation Mono"/>
              </a:rPr>
              <a:t>{</a:t>
            </a:r>
            <a:r>
              <a:rPr lang="en-IN" sz="2000" b="0" i="0" dirty="0">
                <a:solidFill>
                  <a:schemeClr val="bg1">
                    <a:lumMod val="65000"/>
                  </a:schemeClr>
                </a:solidFill>
                <a:effectLst/>
                <a:latin typeface="Liberation Mono"/>
              </a:rPr>
              <a:t>  </a:t>
            </a:r>
            <a:r>
              <a:rPr lang="en-IN" sz="2000" dirty="0">
                <a:solidFill>
                  <a:srgbClr val="A67F59"/>
                </a:solidFill>
                <a:latin typeface="Liberation Mono"/>
              </a:rPr>
              <a:t>OR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t>
            </a:r>
            <a:r>
              <a:rPr lang="en-IN" sz="2000" dirty="0">
                <a:solidFill>
                  <a:schemeClr val="bg1">
                    <a:lumMod val="65000"/>
                  </a:schemeClr>
                </a:solidFill>
                <a:latin typeface="Liberation Mono"/>
              </a:rPr>
              <a:t> </a:t>
            </a:r>
            <a:r>
              <a:rPr lang="en-IN" sz="2000" dirty="0">
                <a:latin typeface="Liberation Mono"/>
              </a:rPr>
              <a:t>}</a:t>
            </a:r>
          </a:p>
          <a:p>
            <a:endParaRPr lang="en-IN" sz="800" dirty="0">
              <a:solidFill>
                <a:schemeClr val="accent6">
                  <a:lumMod val="75000"/>
                </a:schemeClr>
              </a:solidFill>
              <a:latin typeface="Liberation Mono"/>
            </a:endParaRPr>
          </a:p>
          <a:p>
            <a:pPr marL="457200" indent="-457200">
              <a:buFont typeface="+mj-lt"/>
              <a:buAutoNum type="arabicPeriod" startAt="6"/>
            </a:pPr>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p:txBody>
      </p:sp>
      <p:sp>
        <p:nvSpPr>
          <p:cNvPr id="7" name="TextBox 6">
            <a:extLst>
              <a:ext uri="{FF2B5EF4-FFF2-40B4-BE49-F238E27FC236}">
                <a16:creationId xmlns:a16="http://schemas.microsoft.com/office/drawing/2014/main" id="{A08381A2-7F69-4019-8ED4-5714712285C5}"/>
              </a:ext>
            </a:extLst>
          </p:cNvPr>
          <p:cNvSpPr txBox="1"/>
          <p:nvPr/>
        </p:nvSpPr>
        <p:spPr>
          <a:xfrm>
            <a:off x="5519936" y="602104"/>
            <a:ext cx="6480720" cy="738664"/>
          </a:xfrm>
          <a:prstGeom prst="rect">
            <a:avLst/>
          </a:prstGeom>
          <a:noFill/>
        </p:spPr>
        <p:txBody>
          <a:bodyPr wrap="square">
            <a:spAutoFit/>
          </a:bodyPr>
          <a:lstStyle/>
          <a:p>
            <a:r>
              <a:rPr lang="en-IN" sz="2100" dirty="0">
                <a:solidFill>
                  <a:srgbClr val="0099FF"/>
                </a:solidFill>
                <a:latin typeface="Arial" panose="020B0604020202020204" pitchFamily="34" charset="0"/>
                <a:cs typeface="Arial" panose="020B0604020202020204" pitchFamily="34" charset="0"/>
              </a:rPr>
              <a:t>operand meaning</a:t>
            </a:r>
            <a:r>
              <a:rPr lang="en-IN" sz="2100" dirty="0">
                <a:latin typeface="Arial" panose="020B0604020202020204" pitchFamily="34" charset="0"/>
                <a:cs typeface="Arial" panose="020B0604020202020204" pitchFamily="34" charset="0"/>
              </a:rPr>
              <a:t>: the quantity on which an operation is to be done.</a:t>
            </a:r>
          </a:p>
        </p:txBody>
      </p:sp>
      <p:sp>
        <p:nvSpPr>
          <p:cNvPr id="11" name="TextBox 10">
            <a:extLst>
              <a:ext uri="{FF2B5EF4-FFF2-40B4-BE49-F238E27FC236}">
                <a16:creationId xmlns:a16="http://schemas.microsoft.com/office/drawing/2014/main" id="{FDF9ED3F-3F2E-4705-BBE7-E6F2CC96854B}"/>
              </a:ext>
            </a:extLst>
          </p:cNvPr>
          <p:cNvSpPr txBox="1"/>
          <p:nvPr/>
        </p:nvSpPr>
        <p:spPr>
          <a:xfrm>
            <a:off x="6744072" y="1412776"/>
            <a:ext cx="5040560" cy="3046988"/>
          </a:xfrm>
          <a:prstGeom prst="rect">
            <a:avLst/>
          </a:prstGeom>
          <a:noFill/>
        </p:spPr>
        <p:txBody>
          <a:bodyPr wrap="square">
            <a:spAutoFit/>
          </a:bodyPr>
          <a:lstStyle/>
          <a:p>
            <a:r>
              <a:rPr lang="en-IN" sz="2200" dirty="0">
                <a:solidFill>
                  <a:srgbClr val="FF0000"/>
                </a:solidFill>
                <a:latin typeface="Liberation Mono"/>
              </a:rPr>
              <a:t>e.g.</a:t>
            </a:r>
          </a:p>
          <a:p>
            <a:endParaRPr lang="en-IN" sz="400" dirty="0">
              <a:solidFill>
                <a:srgbClr val="FF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 </a:t>
            </a:r>
            <a:r>
              <a:rPr lang="en-IN" sz="2200" dirty="0">
                <a:solidFill>
                  <a:srgbClr val="A67F59"/>
                </a:solidFill>
                <a:latin typeface="Liberation Mono"/>
              </a:rPr>
              <a:t>IS</a:t>
            </a:r>
            <a:r>
              <a:rPr lang="en-US" sz="2200" b="0" i="0" dirty="0">
                <a:solidFill>
                  <a:srgbClr val="999999"/>
                </a:solidFill>
                <a:effectLst/>
                <a:latin typeface="Liberation Mono"/>
              </a:rPr>
              <a:t> [</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IN" sz="2200" i="1" dirty="0">
                <a:solidFill>
                  <a:srgbClr val="000000"/>
                </a:solidFill>
                <a:latin typeface="Liberation Mono"/>
              </a:rPr>
              <a:t> </a:t>
            </a:r>
            <a:r>
              <a:rPr lang="en-IN" sz="2200" i="1" dirty="0">
                <a:solidFill>
                  <a:schemeClr val="accent4">
                    <a:lumMod val="50000"/>
                  </a:schemeClr>
                </a:solidFill>
                <a:latin typeface="Liberation Mono"/>
                <a:cs typeface="Arial" panose="020B0604020202020204" pitchFamily="34" charset="0"/>
              </a:rPr>
              <a:t>NULL</a:t>
            </a:r>
          </a:p>
          <a:p>
            <a:pPr marL="457200" indent="-457200">
              <a:buFont typeface="+mj-lt"/>
              <a:buAutoNum type="arabicPeriod"/>
            </a:pPr>
            <a:endParaRPr lang="en-IN" sz="600" i="1" dirty="0">
              <a:solidFill>
                <a:srgbClr val="990055"/>
              </a:solidFill>
              <a:latin typeface="Liberation Mono"/>
            </a:endParaRPr>
          </a:p>
          <a:p>
            <a:pPr marL="457200" indent="-457200">
              <a:buFont typeface="+mj-lt"/>
              <a:buAutoNum type="arabicPeriod"/>
            </a:pPr>
            <a:r>
              <a:rPr lang="en-IN" sz="2200" i="1" dirty="0">
                <a:solidFill>
                  <a:srgbClr val="000000"/>
                </a:solidFill>
                <a:latin typeface="Liberation Mono"/>
              </a:rPr>
              <a:t>operand</a:t>
            </a:r>
            <a:r>
              <a:rPr lang="en-IN" sz="2200" i="1" dirty="0">
                <a:solidFill>
                  <a:srgbClr val="990055"/>
                </a:solidFill>
                <a:latin typeface="Liberation Mono"/>
              </a:rPr>
              <a:t> </a:t>
            </a:r>
            <a:r>
              <a:rPr lang="en-US" sz="2200" b="0" i="0" dirty="0">
                <a:solidFill>
                  <a:srgbClr val="999999"/>
                </a:solidFill>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 </a:t>
            </a:r>
            <a:r>
              <a:rPr lang="en-US" sz="2200" dirty="0">
                <a:solidFill>
                  <a:srgbClr val="0077AA"/>
                </a:solidFill>
                <a:latin typeface="Liberation Mono"/>
              </a:rPr>
              <a:t>LIKE </a:t>
            </a:r>
            <a:r>
              <a:rPr lang="en-US" sz="2200" dirty="0">
                <a:solidFill>
                  <a:srgbClr val="669900"/>
                </a:solidFill>
                <a:latin typeface="Liberation Mono"/>
              </a:rPr>
              <a:t>'pattern'</a:t>
            </a:r>
          </a:p>
          <a:p>
            <a:pPr marL="457200" indent="-457200">
              <a:buFont typeface="+mj-lt"/>
              <a:buAutoNum type="arabicPeriod"/>
            </a:pPr>
            <a:endParaRPr lang="en-IN" sz="600" dirty="0">
              <a:solidFill>
                <a:srgbClr val="669900"/>
              </a:solidFill>
              <a:latin typeface="Liberation Mono"/>
            </a:endParaRPr>
          </a:p>
          <a:p>
            <a:pPr marL="457200" indent="-457200">
              <a:buFont typeface="+mj-lt"/>
              <a:buAutoNum type="arabicPeriod"/>
            </a:pPr>
            <a:r>
              <a:rPr lang="en-IN" sz="2200" b="0" i="1" dirty="0">
                <a:solidFill>
                  <a:srgbClr val="000000"/>
                </a:solidFill>
                <a:effectLst/>
                <a:latin typeface="Liberation Mono"/>
              </a:rPr>
              <a:t>expr</a:t>
            </a:r>
            <a:r>
              <a:rPr lang="en-IN" sz="2200" b="0" i="0" dirty="0">
                <a:solidFill>
                  <a:srgbClr val="000000"/>
                </a:solidFill>
                <a:effectLst/>
                <a:latin typeface="Liberation Mono"/>
              </a:rPr>
              <a:t> </a:t>
            </a:r>
            <a:r>
              <a:rPr lang="en-IN" sz="2200" dirty="0">
                <a:solidFill>
                  <a:srgbClr val="A67F59"/>
                </a:solidFill>
                <a:latin typeface="Liberation Mono"/>
              </a:rPr>
              <a:t>AND</a:t>
            </a:r>
            <a:r>
              <a:rPr lang="en-IN" sz="2200" b="0" i="0" dirty="0">
                <a:solidFill>
                  <a:srgbClr val="000000"/>
                </a:solidFill>
                <a:effectLst/>
                <a:latin typeface="Liberation Mono"/>
              </a:rPr>
              <a:t> </a:t>
            </a:r>
            <a:r>
              <a:rPr lang="en-IN" sz="2200" b="0" i="1" dirty="0">
                <a:solidFill>
                  <a:srgbClr val="000000"/>
                </a:solidFill>
                <a:effectLst/>
                <a:latin typeface="Liberation Mono"/>
              </a:rPr>
              <a:t>expr</a:t>
            </a:r>
          </a:p>
          <a:p>
            <a:pPr marL="457200" indent="-457200">
              <a:buFont typeface="+mj-lt"/>
              <a:buAutoNum type="arabicPeriod"/>
            </a:pPr>
            <a:endParaRPr lang="en-IN" sz="600" b="0" i="1" dirty="0">
              <a:solidFill>
                <a:srgbClr val="000000"/>
              </a:solidFill>
              <a:effectLst/>
              <a:latin typeface="Liberation Mono"/>
            </a:endParaRPr>
          </a:p>
          <a:p>
            <a:pPr marL="457200" indent="-457200">
              <a:buFont typeface="+mj-lt"/>
              <a:buAutoNum type="arabicPeriod"/>
            </a:pPr>
            <a:r>
              <a:rPr lang="en-IN" sz="2200" i="1" dirty="0">
                <a:solidFill>
                  <a:srgbClr val="000000"/>
                </a:solidFill>
                <a:latin typeface="Liberation Mono"/>
              </a:rPr>
              <a:t>Operand := 1001</a:t>
            </a:r>
          </a:p>
        </p:txBody>
      </p:sp>
      <p:sp>
        <p:nvSpPr>
          <p:cNvPr id="8" name="TextBox 7">
            <a:extLst>
              <a:ext uri="{FF2B5EF4-FFF2-40B4-BE49-F238E27FC236}">
                <a16:creationId xmlns:a16="http://schemas.microsoft.com/office/drawing/2014/main" id="{EB14A369-DDE1-4AD9-907B-15B7B2FACC2C}"/>
              </a:ext>
            </a:extLst>
          </p:cNvPr>
          <p:cNvSpPr txBox="1"/>
          <p:nvPr/>
        </p:nvSpPr>
        <p:spPr>
          <a:xfrm>
            <a:off x="6744072" y="4643280"/>
            <a:ext cx="5040560"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DIV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3 .8333</a:t>
            </a:r>
            <a:endParaRPr lang="en-IN" dirty="0">
              <a:latin typeface="Liberation Mono"/>
            </a:endParaRPr>
          </a:p>
        </p:txBody>
      </p:sp>
      <p:sp>
        <p:nvSpPr>
          <p:cNvPr id="10" name="Rectangle 9">
            <a:extLst>
              <a:ext uri="{FF2B5EF4-FFF2-40B4-BE49-F238E27FC236}">
                <a16:creationId xmlns:a16="http://schemas.microsoft.com/office/drawing/2014/main" id="{0703D2A1-4BEC-48A2-BCBA-A01711AD7BEC}"/>
              </a:ext>
            </a:extLst>
          </p:cNvPr>
          <p:cNvSpPr/>
          <p:nvPr/>
        </p:nvSpPr>
        <p:spPr>
          <a:xfrm>
            <a:off x="6745064" y="5517232"/>
            <a:ext cx="5327600"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A67F59"/>
                </a:solidFill>
                <a:latin typeface="Liberation Mono"/>
              </a:rPr>
              <a:t>NOT</a:t>
            </a:r>
            <a:r>
              <a:rPr lang="en-IN" b="1" dirty="0">
                <a:latin typeface="Liberation Mono"/>
                <a:ea typeface="Calibri" panose="020F0502020204030204" pitchFamily="34" charset="0"/>
                <a:cs typeface="Times New Roman" panose="02020603050405020304" pitchFamily="18" charset="0"/>
              </a:rPr>
              <a:t>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AND</a:t>
            </a:r>
            <a:r>
              <a:rPr lang="en-IN" b="1" dirty="0">
                <a:latin typeface="Liberation Mono"/>
                <a:ea typeface="Calibri" panose="020F0502020204030204" pitchFamily="34" charset="0"/>
                <a:cs typeface="Times New Roman" panose="02020603050405020304" pitchFamily="18" charset="0"/>
              </a:rPr>
              <a:t> and </a:t>
            </a:r>
            <a:r>
              <a:rPr lang="en-IN" dirty="0">
                <a:solidFill>
                  <a:srgbClr val="A67F59"/>
                </a:solidFill>
                <a:latin typeface="Liberation Mono"/>
              </a:rPr>
              <a:t>AND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OR</a:t>
            </a:r>
          </a:p>
        </p:txBody>
      </p:sp>
    </p:spTree>
    <p:extLst>
      <p:ext uri="{BB962C8B-B14F-4D97-AF65-F5344CB8AC3E}">
        <p14:creationId xmlns:p14="http://schemas.microsoft.com/office/powerpoint/2010/main" val="3079814393"/>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expressions</a:t>
            </a:r>
          </a:p>
        </p:txBody>
      </p:sp>
      <p:sp>
        <p:nvSpPr>
          <p:cNvPr id="5" name="TextBox 4">
            <a:extLst>
              <a:ext uri="{FF2B5EF4-FFF2-40B4-BE49-F238E27FC236}">
                <a16:creationId xmlns:a16="http://schemas.microsoft.com/office/drawing/2014/main" id="{DE28079E-8839-464A-9518-397B5BBE074B}"/>
              </a:ext>
            </a:extLst>
          </p:cNvPr>
          <p:cNvSpPr txBox="1"/>
          <p:nvPr/>
        </p:nvSpPr>
        <p:spPr>
          <a:xfrm>
            <a:off x="335360" y="44624"/>
            <a:ext cx="2736304" cy="967957"/>
          </a:xfrm>
          <a:prstGeom prst="rect">
            <a:avLst/>
          </a:prstGeom>
          <a:noFill/>
        </p:spPr>
        <p:txBody>
          <a:bodyPr wrap="square">
            <a:spAutoFit/>
          </a:bodyPr>
          <a:lstStyle/>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r>
              <a:rPr lang="en-IN" sz="2000" b="0" i="0" dirty="0">
                <a:solidFill>
                  <a:srgbClr val="4A4A4A"/>
                </a:solidFill>
                <a:effectLst/>
                <a:latin typeface="Liberation Mono"/>
              </a:rPr>
              <a:t>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p>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r>
              <a:rPr lang="en-IN" sz="2000" b="0" i="0" dirty="0">
                <a:solidFill>
                  <a:srgbClr val="4A4A4A"/>
                </a:solidFill>
                <a:effectLst/>
                <a:latin typeface="Liberation Mono"/>
              </a:rPr>
              <a:t>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p>
        </p:txBody>
      </p:sp>
      <p:sp>
        <p:nvSpPr>
          <p:cNvPr id="6" name="TextBox 5">
            <a:extLst>
              <a:ext uri="{FF2B5EF4-FFF2-40B4-BE49-F238E27FC236}">
                <a16:creationId xmlns:a16="http://schemas.microsoft.com/office/drawing/2014/main" id="{2D9EB8A6-0062-401F-A4B8-7471EE2B6EBD}"/>
              </a:ext>
            </a:extLst>
          </p:cNvPr>
          <p:cNvSpPr txBox="1"/>
          <p:nvPr/>
        </p:nvSpPr>
        <p:spPr>
          <a:xfrm>
            <a:off x="335360" y="1502724"/>
            <a:ext cx="11377264"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CONCAT</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39AE0A"/>
                </a:solidFill>
                <a:latin typeface="Liberation Mono"/>
              </a:rPr>
              <a:t>"saleel"</a:t>
            </a:r>
            <a:r>
              <a:rPr lang="en-IN" dirty="0">
                <a:latin typeface="Liberation Mono"/>
              </a:rPr>
              <a:t>);</a:t>
            </a:r>
          </a:p>
        </p:txBody>
      </p:sp>
      <p:sp>
        <p:nvSpPr>
          <p:cNvPr id="4" name="Rectangle 3">
            <a:extLst>
              <a:ext uri="{FF2B5EF4-FFF2-40B4-BE49-F238E27FC236}">
                <a16:creationId xmlns:a16="http://schemas.microsoft.com/office/drawing/2014/main" id="{725DE18C-C15C-D2B2-FCFC-F1949F8BEFF9}"/>
              </a:ext>
            </a:extLst>
          </p:cNvPr>
          <p:cNvSpPr/>
          <p:nvPr/>
        </p:nvSpPr>
        <p:spPr>
          <a:xfrm>
            <a:off x="335360" y="3286125"/>
            <a:ext cx="11377264" cy="163121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"Strings are automatically converted to numbers (</a:t>
            </a:r>
            <a:r>
              <a:rPr lang="en-US" sz="2000" dirty="0"/>
              <a:t>this behavior is known as </a:t>
            </a:r>
            <a:r>
              <a:rPr lang="en-US" sz="2000" b="1" dirty="0"/>
              <a:t>implicit type conversion (type coercion)</a:t>
            </a:r>
            <a:r>
              <a:rPr lang="en-US" sz="2000" dirty="0"/>
              <a:t> in MySQL.</a:t>
            </a:r>
            <a:r>
              <a:rPr lang="en-US" sz="2000" dirty="0">
                <a:latin typeface="Palatino Linotype" panose="02040502050505030304" pitchFamily="18" charset="0"/>
                <a:cs typeface="Segoe UI Light" panose="020B0502040204020203" pitchFamily="34" charset="0"/>
              </a:rPr>
              <a:t>)." </a:t>
            </a:r>
          </a:p>
          <a:p>
            <a:pPr algn="just"/>
            <a:endParaRPr lang="en-US" sz="2000" dirty="0">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starts with a number, MySQL extracts the number and uses it.</a:t>
            </a: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does not start with a number, MySQL converts it to 0.</a:t>
            </a:r>
          </a:p>
        </p:txBody>
      </p:sp>
    </p:spTree>
    <p:extLst>
      <p:ext uri="{BB962C8B-B14F-4D97-AF65-F5344CB8AC3E}">
        <p14:creationId xmlns:p14="http://schemas.microsoft.com/office/powerpoint/2010/main" val="3490093090"/>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expressions</a:t>
            </a:r>
            <a:endParaRPr lang="en-IN" sz="3200" i="1" dirty="0">
              <a:solidFill>
                <a:srgbClr val="FF9900"/>
              </a:solidFill>
              <a:latin typeface="Arial" pitchFamily="34" charset="0"/>
              <a:cs typeface="Arial" pitchFamily="34" charset="0"/>
            </a:endParaRPr>
          </a:p>
        </p:txBody>
      </p:sp>
      <p:sp>
        <p:nvSpPr>
          <p:cNvPr id="12" name="Rectangle 11"/>
          <p:cNvSpPr/>
          <p:nvPr/>
        </p:nvSpPr>
        <p:spPr>
          <a:xfrm>
            <a:off x="279826" y="558336"/>
            <a:ext cx="4592038"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Column </a:t>
            </a:r>
            <a:r>
              <a:rPr lang="en-US" sz="2000" dirty="0">
                <a:solidFill>
                  <a:srgbClr val="FFFF00"/>
                </a:solidFill>
                <a:latin typeface="Arial" panose="020B0604020202020204" pitchFamily="34" charset="0"/>
                <a:cs typeface="Arial" panose="020B0604020202020204" pitchFamily="34" charset="0"/>
              </a:rPr>
              <a:t>EXPRESSIONS</a:t>
            </a:r>
            <a:endParaRPr lang="en-IN" sz="2000" dirty="0">
              <a:solidFill>
                <a:srgbClr val="FFFF00"/>
              </a:solidFill>
              <a:latin typeface="Arial" panose="020B0604020202020204" pitchFamily="34" charset="0"/>
              <a:cs typeface="Arial" panose="020B0604020202020204" pitchFamily="34" charset="0"/>
            </a:endParaRPr>
          </a:p>
        </p:txBody>
      </p:sp>
      <p:sp>
        <p:nvSpPr>
          <p:cNvPr id="9" name="Rectangle 8"/>
          <p:cNvSpPr/>
          <p:nvPr/>
        </p:nvSpPr>
        <p:spPr>
          <a:xfrm>
            <a:off x="263352" y="1084674"/>
            <a:ext cx="8839200"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2</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3</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4</a:t>
            </a:r>
            <a:r>
              <a:rPr lang="en-US" sz="2000" dirty="0">
                <a:solidFill>
                  <a:srgbClr val="000000"/>
                </a:solidFill>
                <a:latin typeface="Liberation Mono"/>
              </a:rPr>
              <a:t>,</a:t>
            </a:r>
            <a:r>
              <a:rPr lang="en-US" sz="2000" dirty="0">
                <a:solidFill>
                  <a:srgbClr val="0077AA"/>
                </a:solidFill>
                <a:latin typeface="Liberation Mono"/>
              </a:rPr>
              <a:t> expressions</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FROM </a:t>
            </a:r>
            <a:r>
              <a:rPr lang="en-US" sz="2000" b="1" i="1" dirty="0">
                <a:solidFill>
                  <a:srgbClr val="0077AA"/>
                </a:solidFill>
                <a:latin typeface="Liberation Mono"/>
              </a:rPr>
              <a:t>r</a:t>
            </a:r>
          </a:p>
        </p:txBody>
      </p:sp>
      <p:grpSp>
        <p:nvGrpSpPr>
          <p:cNvPr id="15" name="Group 14">
            <a:extLst>
              <a:ext uri="{FF2B5EF4-FFF2-40B4-BE49-F238E27FC236}">
                <a16:creationId xmlns:a16="http://schemas.microsoft.com/office/drawing/2014/main" id="{C15293BE-0276-E572-67F3-D7DE94D13ABB}"/>
              </a:ext>
            </a:extLst>
          </p:cNvPr>
          <p:cNvGrpSpPr/>
          <p:nvPr/>
        </p:nvGrpSpPr>
        <p:grpSpPr>
          <a:xfrm>
            <a:off x="263352" y="1628800"/>
            <a:ext cx="5118122" cy="5035353"/>
            <a:chOff x="263352" y="1987398"/>
            <a:chExt cx="5118122" cy="5035353"/>
          </a:xfrm>
        </p:grpSpPr>
        <p:sp>
          <p:nvSpPr>
            <p:cNvPr id="6" name="Rectangle 5"/>
            <p:cNvSpPr/>
            <p:nvPr/>
          </p:nvSpPr>
          <p:spPr>
            <a:xfrm>
              <a:off x="263352" y="1987398"/>
              <a:ext cx="2340000"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IN" dirty="0">
                  <a:solidFill>
                    <a:srgbClr val="669900"/>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'a1'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p:txBody>
        </p:sp>
        <p:sp>
          <p:nvSpPr>
            <p:cNvPr id="7" name="Rectangle 6">
              <a:extLst>
                <a:ext uri="{FF2B5EF4-FFF2-40B4-BE49-F238E27FC236}">
                  <a16:creationId xmlns:a16="http://schemas.microsoft.com/office/drawing/2014/main" id="{3F2F3E05-346E-4EE1-A38F-3ACA0D6CD670}"/>
                </a:ext>
              </a:extLst>
            </p:cNvPr>
            <p:cNvSpPr/>
            <p:nvPr/>
          </p:nvSpPr>
          <p:spPr>
            <a:xfrm>
              <a:off x="2639616" y="1987398"/>
              <a:ext cx="2741858"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2435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t>
              </a:r>
              <a:r>
                <a:rPr lang="en-US" dirty="0">
                  <a:solidFill>
                    <a:srgbClr val="669900"/>
                  </a:solidFill>
                  <a:latin typeface="Liberation Mono"/>
                </a:rPr>
                <a:t>2435Saleel</a:t>
              </a:r>
              <a:r>
                <a:rPr lang="en-IN" dirty="0">
                  <a:solidFill>
                    <a:srgbClr val="669900"/>
                  </a:solidFill>
                  <a:latin typeface="Liberation Mono"/>
                </a:rPr>
                <a:t>'</a:t>
              </a:r>
              <a:r>
                <a:rPr lang="en-US" dirty="0">
                  <a:solidFill>
                    <a:srgbClr val="990055"/>
                  </a:solidFill>
                  <a:latin typeface="Liberation Mono"/>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A67F59"/>
                  </a:solidFill>
                  <a:latin typeface="Liberation Mono"/>
                </a:rPr>
                <a:t>&lt;=&gt;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'20'</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15</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p:txBody>
        </p:sp>
      </p:grpSp>
      <p:grpSp>
        <p:nvGrpSpPr>
          <p:cNvPr id="3" name="Group 2">
            <a:extLst>
              <a:ext uri="{FF2B5EF4-FFF2-40B4-BE49-F238E27FC236}">
                <a16:creationId xmlns:a16="http://schemas.microsoft.com/office/drawing/2014/main" id="{DD5AD7AF-DE6C-40AC-A337-1859BE9BD26C}"/>
              </a:ext>
            </a:extLst>
          </p:cNvPr>
          <p:cNvGrpSpPr/>
          <p:nvPr/>
        </p:nvGrpSpPr>
        <p:grpSpPr>
          <a:xfrm>
            <a:off x="6113672" y="4501265"/>
            <a:ext cx="5814975" cy="2096087"/>
            <a:chOff x="5673867" y="4727466"/>
            <a:chExt cx="6254781" cy="2096087"/>
          </a:xfrm>
        </p:grpSpPr>
        <p:sp>
          <p:nvSpPr>
            <p:cNvPr id="8" name="Rectangle 7">
              <a:extLst>
                <a:ext uri="{FF2B5EF4-FFF2-40B4-BE49-F238E27FC236}">
                  <a16:creationId xmlns:a16="http://schemas.microsoft.com/office/drawing/2014/main" id="{3D3A9E5F-89E5-4D5B-9731-CEE159F2D1E1}"/>
                </a:ext>
              </a:extLst>
            </p:cNvPr>
            <p:cNvSpPr/>
            <p:nvPr/>
          </p:nvSpPr>
          <p:spPr>
            <a:xfrm>
              <a:off x="5791994" y="5455401"/>
              <a:ext cx="2339999"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p:txBody>
        </p:sp>
        <p:sp>
          <p:nvSpPr>
            <p:cNvPr id="11" name="Rectangle 10">
              <a:extLst>
                <a:ext uri="{FF2B5EF4-FFF2-40B4-BE49-F238E27FC236}">
                  <a16:creationId xmlns:a16="http://schemas.microsoft.com/office/drawing/2014/main" id="{72E65894-4C6B-4DD8-B64F-5C8A4310B67C}"/>
                </a:ext>
              </a:extLst>
            </p:cNvPr>
            <p:cNvSpPr/>
            <p:nvPr/>
          </p:nvSpPr>
          <p:spPr>
            <a:xfrm>
              <a:off x="5673867" y="4727466"/>
              <a:ext cx="6254781"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sz="1800" dirty="0">
                  <a:solidFill>
                    <a:srgbClr val="006C86"/>
                  </a:solidFill>
                  <a:latin typeface="Arial" panose="020B0604020202020204" pitchFamily="34" charset="0"/>
                  <a:cs typeface="Arial" panose="020B0604020202020204" pitchFamily="34" charset="0"/>
                </a:rPr>
                <a:t>If any expression evaluated with NULL, returns NULL.</a:t>
              </a:r>
            </a:p>
          </p:txBody>
        </p:sp>
        <p:sp>
          <p:nvSpPr>
            <p:cNvPr id="13" name="TextBox 12">
              <a:extLst>
                <a:ext uri="{FF2B5EF4-FFF2-40B4-BE49-F238E27FC236}">
                  <a16:creationId xmlns:a16="http://schemas.microsoft.com/office/drawing/2014/main" id="{8DD54FC9-E94A-4D24-B544-38FB59B0CF34}"/>
                </a:ext>
              </a:extLst>
            </p:cNvPr>
            <p:cNvSpPr txBox="1"/>
            <p:nvPr/>
          </p:nvSpPr>
          <p:spPr>
            <a:xfrm>
              <a:off x="8365756" y="5527685"/>
              <a:ext cx="2516715" cy="1295868"/>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endParaRPr lang="en-IN" dirty="0">
                <a:latin typeface="Liberation Mono"/>
              </a:endParaRPr>
            </a:p>
          </p:txBody>
        </p:sp>
      </p:grpSp>
      <p:sp>
        <p:nvSpPr>
          <p:cNvPr id="2" name="TextBox 9">
            <a:extLst>
              <a:ext uri="{FF2B5EF4-FFF2-40B4-BE49-F238E27FC236}">
                <a16:creationId xmlns:a16="http://schemas.microsoft.com/office/drawing/2014/main" id="{BF021BEA-1BAC-4B1F-A667-E14543C77BBD}"/>
              </a:ext>
            </a:extLst>
          </p:cNvPr>
          <p:cNvSpPr txBox="1"/>
          <p:nvPr/>
        </p:nvSpPr>
        <p:spPr>
          <a:xfrm>
            <a:off x="6137818" y="991745"/>
            <a:ext cx="5514325" cy="337335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itchFamily="34" charset="0"/>
              </a:rPr>
              <a:t> </a:t>
            </a:r>
            <a:r>
              <a:rPr lang="en-US" dirty="0">
                <a:solidFill>
                  <a:srgbClr val="669900"/>
                </a:solidFill>
                <a:latin typeface="Liberation Mono"/>
              </a:rPr>
              <a:t>'123abc'</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solidFill>
                  <a:srgbClr val="669900"/>
                </a:solidFill>
                <a:latin typeface="Liberation Mono"/>
              </a:rPr>
              <a:t> 'abc123'</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a:t>
            </a:r>
            <a:endParaRPr lang="en-US" dirty="0">
              <a:solidFill>
                <a:srgbClr val="0077AA"/>
              </a:solidFill>
              <a:latin typeface="Liberation Mono"/>
              <a:ea typeface="Times New Roman" panose="02020603050405020304" pitchFamily="18" charset="0"/>
            </a:endParaRP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sal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1000</a:t>
            </a:r>
            <a:r>
              <a:rPr lang="en-US" dirty="0">
                <a:latin typeface="Liberation Mono"/>
                <a:ea typeface="Times New Roman" panose="02020603050405020304" pitchFamily="18" charset="0"/>
              </a:rPr>
              <a:t> </a:t>
            </a:r>
            <a:r>
              <a:rPr lang="en-US" dirty="0">
                <a:latin typeface="Liberation Mono"/>
              </a:rPr>
              <a:t>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'New Salary'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comm</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IN" dirty="0">
                <a:solidFill>
                  <a:srgbClr val="DD4A68"/>
                </a:solidFill>
                <a:latin typeface="Liberation Mono"/>
              </a:rPr>
              <a:t>IFNULL</a:t>
            </a:r>
            <a:r>
              <a:rPr lang="en-US"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comm, </a:t>
            </a:r>
            <a:r>
              <a:rPr lang="en-US" dirty="0">
                <a:solidFill>
                  <a:srgbClr val="990055"/>
                </a:solidFill>
                <a:latin typeface="Liberation Mono"/>
              </a:rPr>
              <a:t>0</a:t>
            </a:r>
            <a:r>
              <a:rPr lang="en-US" dirty="0">
                <a:solidFill>
                  <a:schemeClr val="tx1">
                    <a:lumMod val="65000"/>
                    <a:lumOff val="3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ename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'smith'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c1, c1 </a:t>
            </a:r>
            <a:r>
              <a:rPr lang="en-US" dirty="0">
                <a:solidFill>
                  <a:srgbClr val="A67F59"/>
                </a:solidFill>
                <a:latin typeface="Liberation Mono"/>
              </a:rPr>
              <a:t>/ </a:t>
            </a:r>
            <a:r>
              <a:rPr lang="en-US" dirty="0">
                <a:latin typeface="Liberation Mono"/>
                <a:cs typeface="Arial" pitchFamily="34" charset="0"/>
              </a:rPr>
              <a:t>1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itchFamily="34" charset="0"/>
              </a:rPr>
              <a:t> numberString; </a:t>
            </a:r>
          </a:p>
        </p:txBody>
      </p:sp>
    </p:spTree>
    <p:extLst>
      <p:ext uri="{BB962C8B-B14F-4D97-AF65-F5344CB8AC3E}">
        <p14:creationId xmlns:p14="http://schemas.microsoft.com/office/powerpoint/2010/main" val="1256742152"/>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coalesce()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899756" y="3091444"/>
            <a:ext cx="4392488" cy="400110"/>
          </a:xfrm>
          <a:prstGeom prst="rect">
            <a:avLst/>
          </a:prstGeom>
        </p:spPr>
        <p:txBody>
          <a:bodyPr wrap="square">
            <a:spAutoFit/>
          </a:bodyPr>
          <a:lstStyle/>
          <a:p>
            <a:pPr fontAlgn="base"/>
            <a:r>
              <a:rPr lang="en-IN" sz="2000" dirty="0">
                <a:effectLst/>
                <a:latin typeface="Palatino Linotype" panose="02040502050505030304" pitchFamily="18" charset="0"/>
              </a:rPr>
              <a:t>Return the first non-NULL argument</a:t>
            </a:r>
          </a:p>
        </p:txBody>
      </p:sp>
    </p:spTree>
    <p:extLst>
      <p:ext uri="{BB962C8B-B14F-4D97-AF65-F5344CB8AC3E}">
        <p14:creationId xmlns:p14="http://schemas.microsoft.com/office/powerpoint/2010/main" val="3458472863"/>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coalesce()</a:t>
            </a:r>
          </a:p>
        </p:txBody>
      </p:sp>
      <p:sp>
        <p:nvSpPr>
          <p:cNvPr id="7" name="TextBox 6">
            <a:extLst>
              <a:ext uri="{FF2B5EF4-FFF2-40B4-BE49-F238E27FC236}">
                <a16:creationId xmlns:a16="http://schemas.microsoft.com/office/drawing/2014/main" id="{9C789681-1BBD-4587-933C-B754C55573C1}"/>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8" name="TextBox 7">
            <a:extLst>
              <a:ext uri="{FF2B5EF4-FFF2-40B4-BE49-F238E27FC236}">
                <a16:creationId xmlns:a16="http://schemas.microsoft.com/office/drawing/2014/main" id="{E70BC1AA-765C-4BAB-8F5F-78A9237D4D8D}"/>
              </a:ext>
            </a:extLst>
          </p:cNvPr>
          <p:cNvSpPr txBox="1"/>
          <p:nvPr/>
        </p:nvSpPr>
        <p:spPr>
          <a:xfrm>
            <a:off x="314822" y="1449318"/>
            <a:ext cx="1139780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primaryphone, bphone, cphone, hphone, </a:t>
            </a:r>
            <a:r>
              <a:rPr lang="en-IN" dirty="0">
                <a:solidFill>
                  <a:srgbClr val="0077AA"/>
                </a:solidFill>
                <a:latin typeface="Liberation Mono"/>
              </a:rPr>
              <a:t>IFNULL</a:t>
            </a:r>
            <a:r>
              <a:rPr lang="en-IN" dirty="0">
                <a:solidFill>
                  <a:schemeClr val="tx1">
                    <a:lumMod val="65000"/>
                    <a:lumOff val="35000"/>
                  </a:schemeClr>
                </a:solidFill>
                <a:latin typeface="Liberation Mono"/>
              </a:rPr>
              <a:t>(</a:t>
            </a:r>
            <a:r>
              <a:rPr lang="en-IN" dirty="0">
                <a:solidFill>
                  <a:srgbClr val="0077AA"/>
                </a:solidFill>
                <a:latin typeface="Liberation Mono"/>
              </a:rPr>
              <a:t>COALESCE</a:t>
            </a:r>
            <a:r>
              <a:rPr lang="en-IN" dirty="0">
                <a:solidFill>
                  <a:schemeClr val="tx1">
                    <a:lumMod val="65000"/>
                    <a:lumOff val="35000"/>
                  </a:schemeClr>
                </a:solidFill>
                <a:latin typeface="Liberation Mono"/>
              </a:rPr>
              <a:t>(</a:t>
            </a:r>
            <a:r>
              <a:rPr lang="en-IN" dirty="0">
                <a:latin typeface="Liberation Mono"/>
              </a:rPr>
              <a:t>bphone, cphone, hphone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'Contact customer care'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'Active Phone' </a:t>
            </a:r>
            <a:r>
              <a:rPr lang="en-IN" dirty="0">
                <a:latin typeface="Liberation Mono"/>
              </a:rPr>
              <a:t>FROM coalesce;</a:t>
            </a:r>
          </a:p>
        </p:txBody>
      </p:sp>
    </p:spTree>
    <p:extLst>
      <p:ext uri="{BB962C8B-B14F-4D97-AF65-F5344CB8AC3E}">
        <p14:creationId xmlns:p14="http://schemas.microsoft.com/office/powerpoint/2010/main" val="238756874"/>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between ... and ...</a:t>
            </a:r>
          </a:p>
        </p:txBody>
      </p:sp>
      <p:sp>
        <p:nvSpPr>
          <p:cNvPr id="12" name="Rectangle 11"/>
          <p:cNvSpPr/>
          <p:nvPr/>
        </p:nvSpPr>
        <p:spPr>
          <a:xfrm>
            <a:off x="570541" y="1725169"/>
            <a:ext cx="4165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BETWEEN ... AND ...</a:t>
            </a:r>
          </a:p>
        </p:txBody>
      </p:sp>
      <p:sp>
        <p:nvSpPr>
          <p:cNvPr id="6" name="Rectangle 5"/>
          <p:cNvSpPr/>
          <p:nvPr/>
        </p:nvSpPr>
        <p:spPr>
          <a:xfrm>
            <a:off x="483455" y="747767"/>
            <a:ext cx="7058768" cy="461665"/>
          </a:xfrm>
          <a:prstGeom prst="rect">
            <a:avLst/>
          </a:prstGeom>
        </p:spPr>
        <p:txBody>
          <a:bodyPr wrap="square">
            <a:spAutoFit/>
          </a:bodyPr>
          <a:lstStyle/>
          <a:p>
            <a:r>
              <a:rPr lang="en-IN" sz="2400" dirty="0"/>
              <a:t>Check whether a value is within a range of values</a:t>
            </a:r>
          </a:p>
        </p:txBody>
      </p:sp>
      <p:pic>
        <p:nvPicPr>
          <p:cNvPr id="4" name="Picture 3"/>
          <p:cNvPicPr>
            <a:picLocks noChangeAspect="1"/>
          </p:cNvPicPr>
          <p:nvPr/>
        </p:nvPicPr>
        <p:blipFill>
          <a:blip r:embed="rId2" cstate="print"/>
          <a:stretch>
            <a:fillRect/>
          </a:stretch>
        </p:blipFill>
        <p:spPr>
          <a:xfrm>
            <a:off x="549400" y="3247875"/>
            <a:ext cx="7553315" cy="341607"/>
          </a:xfrm>
          <a:prstGeom prst="rect">
            <a:avLst/>
          </a:prstGeom>
        </p:spPr>
      </p:pic>
      <p:pic>
        <p:nvPicPr>
          <p:cNvPr id="7" name="Picture 6"/>
          <p:cNvPicPr>
            <a:picLocks noChangeAspect="1"/>
          </p:cNvPicPr>
          <p:nvPr/>
        </p:nvPicPr>
        <p:blipFill>
          <a:blip r:embed="rId3" cstate="print"/>
          <a:stretch>
            <a:fillRect/>
          </a:stretch>
        </p:blipFill>
        <p:spPr>
          <a:xfrm>
            <a:off x="551384" y="4065140"/>
            <a:ext cx="7568497" cy="371972"/>
          </a:xfrm>
          <a:prstGeom prst="rect">
            <a:avLst/>
          </a:prstGeom>
        </p:spPr>
      </p:pic>
      <p:sp>
        <p:nvSpPr>
          <p:cNvPr id="2" name="Rectangle 1"/>
          <p:cNvSpPr/>
          <p:nvPr/>
        </p:nvSpPr>
        <p:spPr>
          <a:xfrm>
            <a:off x="551384" y="2415717"/>
            <a:ext cx="9987877" cy="400110"/>
          </a:xfrm>
          <a:prstGeom prst="rect">
            <a:avLst/>
          </a:prstGeom>
          <a:solidFill>
            <a:schemeClr val="bg1">
              <a:lumMod val="95000"/>
            </a:schemeClr>
          </a:solidFill>
        </p:spPr>
        <p:txBody>
          <a:bodyPr wrap="square">
            <a:spAutoFit/>
          </a:bodyPr>
          <a:lstStyle/>
          <a:p>
            <a:r>
              <a:rPr lang="en-IN" sz="2000" dirty="0">
                <a:solidFill>
                  <a:srgbClr val="006C86"/>
                </a:solidFill>
                <a:latin typeface="Arial" panose="020B0604020202020204" pitchFamily="34" charset="0"/>
                <a:cs typeface="Arial" panose="020B0604020202020204" pitchFamily="34" charset="0"/>
              </a:rPr>
              <a:t>All three expressions: expr, begin_expr, and end_expr must have the same data type.</a:t>
            </a:r>
          </a:p>
        </p:txBody>
      </p:sp>
      <p:sp>
        <p:nvSpPr>
          <p:cNvPr id="5" name="Rectangle 4"/>
          <p:cNvSpPr/>
          <p:nvPr/>
        </p:nvSpPr>
        <p:spPr>
          <a:xfrm>
            <a:off x="707731" y="-52075"/>
            <a:ext cx="9987877"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 </a:t>
            </a:r>
          </a:p>
          <a:p>
            <a:endParaRPr lang="en-IN" sz="800" dirty="0">
              <a:solidFill>
                <a:srgbClr val="FF0000"/>
              </a:solidFill>
              <a:latin typeface="Arial" panose="020B0604020202020204" pitchFamily="34" charset="0"/>
              <a:cs typeface="Arial" panose="020B0604020202020204" pitchFamily="34" charset="0"/>
            </a:endParaRPr>
          </a:p>
          <a:p>
            <a:r>
              <a:rPr lang="en-IN" sz="20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
        <p:nvSpPr>
          <p:cNvPr id="9" name="Rectangle 8">
            <a:extLst>
              <a:ext uri="{FF2B5EF4-FFF2-40B4-BE49-F238E27FC236}">
                <a16:creationId xmlns:a16="http://schemas.microsoft.com/office/drawing/2014/main" id="{0C57555C-CA0F-4B13-A738-7810E4B0C418}"/>
              </a:ext>
            </a:extLst>
          </p:cNvPr>
          <p:cNvSpPr/>
          <p:nvPr/>
        </p:nvSpPr>
        <p:spPr>
          <a:xfrm>
            <a:off x="407369" y="5015498"/>
            <a:ext cx="11521279" cy="86177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8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Tree>
    <p:extLst>
      <p:ext uri="{BB962C8B-B14F-4D97-AF65-F5344CB8AC3E}">
        <p14:creationId xmlns:p14="http://schemas.microsoft.com/office/powerpoint/2010/main" val="1641846914"/>
      </p:ext>
    </p:extLst>
  </p:cSld>
  <p:clrMapOvr>
    <a:masterClrMapping/>
  </p:clrMapOvr>
  <p:transition/>
</p:sld>
</file>

<file path=ppt/slides/slide3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is</a:t>
            </a:r>
          </a:p>
        </p:txBody>
      </p:sp>
      <p:sp>
        <p:nvSpPr>
          <p:cNvPr id="12" name="Rectangle 11"/>
          <p:cNvSpPr/>
          <p:nvPr/>
        </p:nvSpPr>
        <p:spPr>
          <a:xfrm>
            <a:off x="1625534" y="1428690"/>
            <a:ext cx="20320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IS</a:t>
            </a:r>
          </a:p>
        </p:txBody>
      </p:sp>
      <p:sp>
        <p:nvSpPr>
          <p:cNvPr id="6" name="Rectangle 5"/>
          <p:cNvSpPr/>
          <p:nvPr/>
        </p:nvSpPr>
        <p:spPr>
          <a:xfrm>
            <a:off x="1625534" y="762001"/>
            <a:ext cx="8802980" cy="646331"/>
          </a:xfrm>
          <a:prstGeom prst="rect">
            <a:avLst/>
          </a:prstGeom>
        </p:spPr>
        <p:txBody>
          <a:bodyPr wrap="square">
            <a:spAutoFit/>
          </a:bodyPr>
          <a:lstStyle/>
          <a:p>
            <a:r>
              <a:rPr lang="en-IN" dirty="0"/>
              <a:t>Tests a value against a boolean value, where boolean_value can be TRUE, FALSE, or UNKNOWN.</a:t>
            </a:r>
          </a:p>
        </p:txBody>
      </p:sp>
      <p:pic>
        <p:nvPicPr>
          <p:cNvPr id="5" name="Picture 4"/>
          <p:cNvPicPr>
            <a:picLocks noChangeAspect="1"/>
          </p:cNvPicPr>
          <p:nvPr/>
        </p:nvPicPr>
        <p:blipFill>
          <a:blip r:embed="rId3" cstate="print"/>
          <a:stretch>
            <a:fillRect/>
          </a:stretch>
        </p:blipFill>
        <p:spPr>
          <a:xfrm>
            <a:off x="1975077" y="2027574"/>
            <a:ext cx="6108791" cy="507678"/>
          </a:xfrm>
          <a:prstGeom prst="rect">
            <a:avLst/>
          </a:prstGeom>
        </p:spPr>
      </p:pic>
      <p:pic>
        <p:nvPicPr>
          <p:cNvPr id="8" name="Picture 7"/>
          <p:cNvPicPr>
            <a:picLocks noChangeAspect="1"/>
          </p:cNvPicPr>
          <p:nvPr/>
        </p:nvPicPr>
        <p:blipFill>
          <a:blip r:embed="rId4" cstate="print"/>
          <a:stretch>
            <a:fillRect/>
          </a:stretch>
        </p:blipFill>
        <p:spPr>
          <a:xfrm>
            <a:off x="1975077" y="2708831"/>
            <a:ext cx="5875762" cy="357873"/>
          </a:xfrm>
          <a:prstGeom prst="rect">
            <a:avLst/>
          </a:prstGeom>
        </p:spPr>
      </p:pic>
      <p:pic>
        <p:nvPicPr>
          <p:cNvPr id="9" name="Picture 8"/>
          <p:cNvPicPr>
            <a:picLocks noChangeAspect="1"/>
          </p:cNvPicPr>
          <p:nvPr/>
        </p:nvPicPr>
        <p:blipFill>
          <a:blip r:embed="rId5" cstate="print"/>
          <a:stretch>
            <a:fillRect/>
          </a:stretch>
        </p:blipFill>
        <p:spPr>
          <a:xfrm>
            <a:off x="1984602" y="3232150"/>
            <a:ext cx="5867441" cy="416131"/>
          </a:xfrm>
          <a:prstGeom prst="rect">
            <a:avLst/>
          </a:prstGeom>
        </p:spPr>
      </p:pic>
      <p:pic>
        <p:nvPicPr>
          <p:cNvPr id="10" name="Picture 9"/>
          <p:cNvPicPr>
            <a:picLocks noChangeAspect="1"/>
          </p:cNvPicPr>
          <p:nvPr/>
        </p:nvPicPr>
        <p:blipFill>
          <a:blip r:embed="rId6" cstate="print"/>
          <a:stretch>
            <a:fillRect/>
          </a:stretch>
        </p:blipFill>
        <p:spPr>
          <a:xfrm>
            <a:off x="1970314" y="3765890"/>
            <a:ext cx="6117115" cy="424452"/>
          </a:xfrm>
          <a:prstGeom prst="rect">
            <a:avLst/>
          </a:prstGeom>
        </p:spPr>
      </p:pic>
      <p:pic>
        <p:nvPicPr>
          <p:cNvPr id="11" name="Picture 10"/>
          <p:cNvPicPr>
            <a:picLocks noChangeAspect="1"/>
          </p:cNvPicPr>
          <p:nvPr/>
        </p:nvPicPr>
        <p:blipFill>
          <a:blip r:embed="rId7" cstate="print"/>
          <a:stretch>
            <a:fillRect/>
          </a:stretch>
        </p:blipFill>
        <p:spPr>
          <a:xfrm>
            <a:off x="1984601" y="4334392"/>
            <a:ext cx="6541573" cy="416131"/>
          </a:xfrm>
          <a:prstGeom prst="rect">
            <a:avLst/>
          </a:prstGeom>
        </p:spPr>
      </p:pic>
      <p:pic>
        <p:nvPicPr>
          <p:cNvPr id="13" name="Picture 12"/>
          <p:cNvPicPr>
            <a:picLocks noChangeAspect="1"/>
          </p:cNvPicPr>
          <p:nvPr/>
        </p:nvPicPr>
        <p:blipFill>
          <a:blip r:embed="rId8" cstate="print"/>
          <a:stretch>
            <a:fillRect/>
          </a:stretch>
        </p:blipFill>
        <p:spPr>
          <a:xfrm>
            <a:off x="1997301" y="4924388"/>
            <a:ext cx="6524926" cy="399485"/>
          </a:xfrm>
          <a:prstGeom prst="rect">
            <a:avLst/>
          </a:prstGeom>
        </p:spPr>
      </p:pic>
      <p:pic>
        <p:nvPicPr>
          <p:cNvPr id="14" name="Picture 13"/>
          <p:cNvPicPr>
            <a:picLocks noChangeAspect="1"/>
          </p:cNvPicPr>
          <p:nvPr/>
        </p:nvPicPr>
        <p:blipFill>
          <a:blip r:embed="rId9" cstate="print"/>
          <a:stretch>
            <a:fillRect/>
          </a:stretch>
        </p:blipFill>
        <p:spPr>
          <a:xfrm>
            <a:off x="1984602" y="5459593"/>
            <a:ext cx="7165761" cy="407807"/>
          </a:xfrm>
          <a:prstGeom prst="rect">
            <a:avLst/>
          </a:prstGeom>
        </p:spPr>
      </p:pic>
    </p:spTree>
    <p:extLst>
      <p:ext uri="{BB962C8B-B14F-4D97-AF65-F5344CB8AC3E}">
        <p14:creationId xmlns:p14="http://schemas.microsoft.com/office/powerpoint/2010/main" val="2086150829"/>
      </p:ext>
    </p:extLst>
  </p:cSld>
  <p:clrMapOvr>
    <a:masterClrMapping/>
  </p:clrMapOvr>
  <p:transition/>
</p:sld>
</file>

<file path=ppt/slides/slide3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identifiers</a:t>
            </a:r>
          </a:p>
        </p:txBody>
      </p:sp>
      <p:sp>
        <p:nvSpPr>
          <p:cNvPr id="5" name="Rectangle 4">
            <a:extLst>
              <a:ext uri="{FF2B5EF4-FFF2-40B4-BE49-F238E27FC236}">
                <a16:creationId xmlns:a16="http://schemas.microsoft.com/office/drawing/2014/main" id="{106E4B1C-6655-401A-9D56-98441DE8FD48}"/>
              </a:ext>
            </a:extLst>
          </p:cNvPr>
          <p:cNvSpPr/>
          <p:nvPr/>
        </p:nvSpPr>
        <p:spPr>
          <a:xfrm>
            <a:off x="479376" y="3276601"/>
            <a:ext cx="11161240" cy="1015663"/>
          </a:xfrm>
          <a:prstGeom prst="rect">
            <a:avLst/>
          </a:prstGeom>
          <a:noFill/>
        </p:spPr>
        <p:txBody>
          <a:bodyPr wrap="square">
            <a:spAutoFit/>
          </a:bodyPr>
          <a:lstStyle/>
          <a:p>
            <a:r>
              <a:rPr lang="en-US" sz="2000" dirty="0">
                <a:latin typeface="Palatino Linotype" panose="02040502050505030304" pitchFamily="18" charset="0"/>
                <a:cs typeface="Segoe UI Light" panose="020B0502040204020203" pitchFamily="34" charset="0"/>
              </a:rPr>
              <a:t>Certain objects within MySQL, including database, table, index, column, alias, view, stored procedure, stored functions, triggers, partition, tablespace, and other object names are known as </a:t>
            </a:r>
            <a:r>
              <a:rPr lang="en-US" sz="2000" b="1" dirty="0">
                <a:latin typeface="Palatino Linotype" panose="02040502050505030304" pitchFamily="18" charset="0"/>
                <a:cs typeface="Segoe UI Light" panose="020B0502040204020203" pitchFamily="34" charset="0"/>
              </a:rPr>
              <a:t>identifiers</a:t>
            </a:r>
            <a:r>
              <a:rPr lang="en-US" sz="2000" dirty="0">
                <a:latin typeface="Palatino Linotype" panose="02040502050505030304" pitchFamily="18" charset="0"/>
                <a:cs typeface="Segoe UI Light" panose="020B0502040204020203" pitchFamily="34" charset="0"/>
              </a:rPr>
              <a:t>.</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BAB65EE9-B380-F2EB-9633-990F74B8DCBE}"/>
              </a:ext>
            </a:extLst>
          </p:cNvPr>
          <p:cNvSpPr txBox="1"/>
          <p:nvPr/>
        </p:nvSpPr>
        <p:spPr>
          <a:xfrm>
            <a:off x="479376" y="229613"/>
            <a:ext cx="11161240" cy="1692771"/>
          </a:xfrm>
          <a:prstGeom prst="rect">
            <a:avLst/>
          </a:prstGeom>
          <a:noFill/>
        </p:spPr>
        <p:txBody>
          <a:bodyPr wrap="square">
            <a:spAutoFit/>
          </a:bodyPr>
          <a:lstStyle/>
          <a:p>
            <a:r>
              <a:rPr lang="en-IN" sz="24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In SQL, the same name can be used for two (or more) attributes as long as the attributes are in different relations. If this is the case, and a multi-table query refers to two or more attributes with the same name, we must </a:t>
            </a:r>
            <a:r>
              <a:rPr lang="en-IN" b="1" i="1" dirty="0">
                <a:latin typeface="Arial" panose="020B0604020202020204" pitchFamily="34" charset="0"/>
                <a:cs typeface="Arial" panose="020B0604020202020204" pitchFamily="34" charset="0"/>
              </a:rPr>
              <a:t>qualify</a:t>
            </a:r>
            <a:r>
              <a:rPr lang="en-IN" dirty="0">
                <a:latin typeface="Arial" panose="020B0604020202020204" pitchFamily="34" charset="0"/>
                <a:cs typeface="Arial" panose="020B0604020202020204" pitchFamily="34" charset="0"/>
              </a:rPr>
              <a:t> the attribute name with the relation name to prevent ambiguity. This is done by prefixing the relation name to the attribute name and separating the two by a period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59124334"/>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identifiers</a:t>
            </a:r>
            <a:endParaRPr lang="en-IN" sz="3200" i="1" dirty="0">
              <a:solidFill>
                <a:srgbClr val="FF9900"/>
              </a:solidFill>
              <a:latin typeface="Arial" pitchFamily="34" charset="0"/>
              <a:cs typeface="Arial" pitchFamily="34" charset="0"/>
            </a:endParaRPr>
          </a:p>
        </p:txBody>
      </p:sp>
      <p:sp>
        <p:nvSpPr>
          <p:cNvPr id="3" name="Rectangle 2"/>
          <p:cNvSpPr/>
          <p:nvPr/>
        </p:nvSpPr>
        <p:spPr>
          <a:xfrm>
            <a:off x="408404" y="1916832"/>
            <a:ext cx="11521279" cy="2308324"/>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table within the default database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column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col_name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tbl_name.col_name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db_name.tbl_name.col_name.</a:t>
            </a:r>
          </a:p>
        </p:txBody>
      </p:sp>
      <p:sp>
        <p:nvSpPr>
          <p:cNvPr id="5" name="Rectangle 4">
            <a:extLst>
              <a:ext uri="{FF2B5EF4-FFF2-40B4-BE49-F238E27FC236}">
                <a16:creationId xmlns:a16="http://schemas.microsoft.com/office/drawing/2014/main" id="{3494CF1C-35F3-4164-A9A6-77F0466D27BC}"/>
              </a:ext>
            </a:extLst>
          </p:cNvPr>
          <p:cNvSpPr/>
          <p:nvPr/>
        </p:nvSpPr>
        <p:spPr>
          <a:xfrm>
            <a:off x="407369" y="4725145"/>
            <a:ext cx="11521279" cy="153888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need not specify a </a:t>
            </a:r>
            <a:r>
              <a:rPr lang="en-IN" b="1"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db_name.tbl_name</a:t>
            </a:r>
            <a:r>
              <a:rPr lang="en-IN" dirty="0">
                <a:latin typeface="Arial" panose="020B0604020202020204" pitchFamily="34" charset="0"/>
                <a:cs typeface="Arial" panose="020B0604020202020204" pitchFamily="34" charset="0"/>
              </a:rPr>
              <a:t> prefix for a column reference unless the reference would be ambiguous.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identifier quote character is the backtick (`)</a:t>
            </a:r>
          </a:p>
        </p:txBody>
      </p:sp>
      <p:sp>
        <p:nvSpPr>
          <p:cNvPr id="7" name="Rectangle 6">
            <a:extLst>
              <a:ext uri="{FF2B5EF4-FFF2-40B4-BE49-F238E27FC236}">
                <a16:creationId xmlns:a16="http://schemas.microsoft.com/office/drawing/2014/main" id="{E32E8F92-EAA8-4ACA-B576-53F18E7D261F}"/>
              </a:ext>
            </a:extLst>
          </p:cNvPr>
          <p:cNvSpPr/>
          <p:nvPr/>
        </p:nvSpPr>
        <p:spPr>
          <a:xfrm>
            <a:off x="335360" y="594825"/>
            <a:ext cx="11521279" cy="1107996"/>
          </a:xfrm>
          <a:prstGeom prst="rect">
            <a:avLst/>
          </a:prstGeom>
          <a:noFill/>
        </p:spPr>
        <p:txBody>
          <a:bodyPr wrap="square">
            <a:spAutoFit/>
          </a:bodyPr>
          <a:lstStyle/>
          <a:p>
            <a:r>
              <a:rPr lang="en-IN" sz="2200" dirty="0">
                <a:latin typeface="Segoe UI Light" panose="020B0502040204020203" pitchFamily="34" charset="0"/>
                <a:cs typeface="Segoe UI Light" panose="020B0502040204020203" pitchFamily="34" charset="0"/>
              </a:rPr>
              <a:t>The maximum length for each type of </a:t>
            </a:r>
            <a:r>
              <a:rPr lang="en-US" sz="2200" dirty="0">
                <a:latin typeface="Segoe UI Light" panose="020B0502040204020203" pitchFamily="34" charset="0"/>
                <a:cs typeface="Segoe UI Light" panose="020B0502040204020203" pitchFamily="34" charset="0"/>
              </a:rPr>
              <a:t>identifiers</a:t>
            </a:r>
            <a:r>
              <a:rPr lang="en-IN" sz="2200" dirty="0">
                <a:latin typeface="Segoe UI Light" panose="020B0502040204020203" pitchFamily="34" charset="0"/>
                <a:cs typeface="Segoe UI Light" panose="020B0502040204020203" pitchFamily="34" charset="0"/>
              </a:rPr>
              <a:t> like (</a:t>
            </a:r>
            <a:r>
              <a:rPr lang="en-IN" sz="2200" b="1" dirty="0">
                <a:latin typeface="Segoe UI Light" panose="020B0502040204020203" pitchFamily="34" charset="0"/>
                <a:cs typeface="Segoe UI Light" panose="020B0502040204020203" pitchFamily="34" charset="0"/>
              </a:rPr>
              <a:t>Database, Table, Column, Index, Constraint, View, Stored Program, Compound Statement Label, User-Defined Variable, Tablespace</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64</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 whereas for </a:t>
            </a:r>
            <a:r>
              <a:rPr lang="en-IN" sz="2200" b="1" dirty="0">
                <a:latin typeface="Segoe UI Light" panose="020B0502040204020203" pitchFamily="34" charset="0"/>
                <a:cs typeface="Segoe UI Light" panose="020B0502040204020203" pitchFamily="34" charset="0"/>
              </a:rPr>
              <a:t>Alias</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256</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a:t>
            </a:r>
          </a:p>
        </p:txBody>
      </p:sp>
    </p:spTree>
    <p:extLst>
      <p:ext uri="{BB962C8B-B14F-4D97-AF65-F5344CB8AC3E}">
        <p14:creationId xmlns:p14="http://schemas.microsoft.com/office/powerpoint/2010/main" val="558393389"/>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87464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null-to-null comparisons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0399"/>
            <a:ext cx="6858048" cy="2554545"/>
          </a:xfrm>
          <a:prstGeom prst="rect">
            <a:avLst/>
          </a:prstGeom>
        </p:spPr>
        <p:txBody>
          <a:bodyPr wrap="square">
            <a:spAutoFit/>
          </a:bodyPr>
          <a:lstStyle/>
          <a:p>
            <a:pPr marL="342900" indent="-342900">
              <a:buFont typeface="Arial" pitchFamily="34" charset="0"/>
              <a:buChar char="•"/>
            </a:pPr>
            <a:r>
              <a:rPr lang="en-US" sz="2000" dirty="0">
                <a:solidFill>
                  <a:srgbClr val="006C86"/>
                </a:solidFill>
              </a:rPr>
              <a:t>NULL value does not occupy space in memory.</a:t>
            </a:r>
          </a:p>
          <a:p>
            <a:pPr marL="342900" indent="-342900">
              <a:buFont typeface="Arial" pitchFamily="34" charset="0"/>
              <a:buChar char="•"/>
            </a:pPr>
            <a:r>
              <a:rPr lang="en-US" sz="2000" dirty="0">
                <a:solidFill>
                  <a:srgbClr val="006C86"/>
                </a:solidFill>
              </a:rPr>
              <a:t>NULL value is independent of data type.</a:t>
            </a:r>
          </a:p>
          <a:p>
            <a:pPr marL="342900" indent="-342900">
              <a:buFont typeface="Arial" pitchFamily="34" charset="0"/>
              <a:buChar char="•"/>
            </a:pPr>
            <a:r>
              <a:rPr lang="en-US" sz="2000" dirty="0">
                <a:solidFill>
                  <a:srgbClr val="006C86"/>
                </a:solidFill>
              </a:rPr>
              <a:t>NULL can be written in any </a:t>
            </a:r>
            <a:r>
              <a:rPr lang="en-US" sz="2000" dirty="0" err="1">
                <a:solidFill>
                  <a:srgbClr val="006C86"/>
                </a:solidFill>
              </a:rPr>
              <a:t>lettercase</a:t>
            </a:r>
            <a:r>
              <a:rPr lang="en-US" sz="2000" dirty="0">
                <a:solidFill>
                  <a:srgbClr val="006C86"/>
                </a:solidFill>
              </a:rPr>
              <a:t>.</a:t>
            </a:r>
          </a:p>
          <a:p>
            <a:pPr marL="342900" indent="-342900">
              <a:buFont typeface="Arial" pitchFamily="34" charset="0"/>
              <a:buChar char="•"/>
            </a:pPr>
            <a:r>
              <a:rPr lang="en-US" sz="2000" dirty="0">
                <a:solidFill>
                  <a:srgbClr val="006C86"/>
                </a:solidFill>
              </a:rPr>
              <a:t>NULL represents a missing or unknown value. </a:t>
            </a:r>
          </a:p>
          <a:p>
            <a:pPr marL="342900" indent="-342900">
              <a:buFont typeface="Arial" pitchFamily="34" charset="0"/>
              <a:buChar char="•"/>
            </a:pPr>
            <a:r>
              <a:rPr lang="en-US" sz="2000" dirty="0">
                <a:solidFill>
                  <a:srgbClr val="006C86"/>
                </a:solidFill>
              </a:rPr>
              <a:t>It is not a number (0) or an empty string ("")</a:t>
            </a:r>
          </a:p>
          <a:p>
            <a:pPr marL="342900" indent="-342900">
              <a:buFont typeface="Arial" pitchFamily="34" charset="0"/>
              <a:buChar char="•"/>
            </a:pPr>
            <a:r>
              <a:rPr lang="en-US" sz="2000" dirty="0">
                <a:solidFill>
                  <a:srgbClr val="006C86"/>
                </a:solidFill>
              </a:rPr>
              <a:t>A missing / unknown value cannot be compared as equal or not-equal</a:t>
            </a:r>
          </a:p>
          <a:p>
            <a:pPr marL="342900" indent="-342900">
              <a:buFont typeface="Arial" pitchFamily="34" charset="0"/>
              <a:buChar char="•"/>
            </a:pPr>
            <a:r>
              <a:rPr lang="en-US" sz="2000" dirty="0">
                <a:solidFill>
                  <a:srgbClr val="006C86"/>
                </a:solidFill>
              </a:rPr>
              <a:t>SQL uses three-valued logic: TRUE, FALSE and UNKNOWN. </a:t>
            </a:r>
            <a:endParaRPr lang="en-IN" sz="2000" dirty="0">
              <a:solidFill>
                <a:srgbClr val="006C86"/>
              </a:solidFill>
            </a:endParaRPr>
          </a:p>
        </p:txBody>
      </p:sp>
      <p:sp>
        <p:nvSpPr>
          <p:cNvPr id="5" name="TextBox 4">
            <a:extLst>
              <a:ext uri="{FF2B5EF4-FFF2-40B4-BE49-F238E27FC236}">
                <a16:creationId xmlns:a16="http://schemas.microsoft.com/office/drawing/2014/main" id="{C976A225-097B-180E-824B-59D7C38A0005}"/>
              </a:ext>
            </a:extLst>
          </p:cNvPr>
          <p:cNvSpPr txBox="1"/>
          <p:nvPr/>
        </p:nvSpPr>
        <p:spPr>
          <a:xfrm>
            <a:off x="479376" y="4149080"/>
            <a:ext cx="11377264"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NULL</a:t>
            </a:r>
            <a:r>
              <a:rPr lang="en-IN" dirty="0">
                <a:latin typeface="Liberation Mono"/>
              </a:rPr>
              <a:t>;  </a:t>
            </a:r>
            <a:r>
              <a:rPr lang="en-IN" dirty="0">
                <a:solidFill>
                  <a:srgbClr val="39AE0A"/>
                </a:solidFill>
                <a:latin typeface="Liberation Mono"/>
              </a:rPr>
              <a:t>// Output will be NULL and 1</a:t>
            </a:r>
          </a:p>
          <a:p>
            <a:pPr marL="285750" indent="-285750">
              <a:buFont typeface="Arial" panose="020B0604020202020204" pitchFamily="34" charset="0"/>
              <a:buChar char="•"/>
            </a:pPr>
            <a:endParaRPr lang="en-IN" sz="800" dirty="0">
              <a:solidFill>
                <a:srgbClr val="39AE0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rgbClr val="39AE0A"/>
                </a:solidFill>
                <a:latin typeface="Liberation Mono"/>
              </a:rPr>
              <a:t>// Output will be NULL and 0</a:t>
            </a:r>
          </a:p>
        </p:txBody>
      </p:sp>
      <p:sp>
        <p:nvSpPr>
          <p:cNvPr id="6" name="TextBox 5">
            <a:extLst>
              <a:ext uri="{FF2B5EF4-FFF2-40B4-BE49-F238E27FC236}">
                <a16:creationId xmlns:a16="http://schemas.microsoft.com/office/drawing/2014/main" id="{D7A97025-796C-64BA-9F13-3254FDA76840}"/>
              </a:ext>
            </a:extLst>
          </p:cNvPr>
          <p:cNvSpPr txBox="1"/>
          <p:nvPr/>
        </p:nvSpPr>
        <p:spPr>
          <a:xfrm>
            <a:off x="479376" y="5301208"/>
            <a:ext cx="432048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sp>
        <p:nvSpPr>
          <p:cNvPr id="9" name="TextBox 8">
            <a:extLst>
              <a:ext uri="{FF2B5EF4-FFF2-40B4-BE49-F238E27FC236}">
                <a16:creationId xmlns:a16="http://schemas.microsoft.com/office/drawing/2014/main" id="{07102989-C6B5-7CEE-DB39-A7436D69CB04}"/>
              </a:ext>
            </a:extLst>
          </p:cNvPr>
          <p:cNvSpPr txBox="1"/>
          <p:nvPr/>
        </p:nvSpPr>
        <p:spPr>
          <a:xfrm>
            <a:off x="4295800" y="5278561"/>
            <a:ext cx="4680520" cy="1200329"/>
          </a:xfrm>
          <a:prstGeom prst="rect">
            <a:avLst/>
          </a:prstGeom>
          <a:noFill/>
        </p:spPr>
        <p:txBody>
          <a:bodyPr wrap="square" rtlCol="0">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5">
                    <a:lumMod val="75000"/>
                  </a:schemeClr>
                </a:solidFill>
                <a:latin typeface="Liberation Mono"/>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p:txBody>
      </p:sp>
    </p:spTree>
    <p:extLst>
      <p:ext uri="{BB962C8B-B14F-4D97-AF65-F5344CB8AC3E}">
        <p14:creationId xmlns:p14="http://schemas.microsoft.com/office/powerpoint/2010/main" val="518904722"/>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null value</a:t>
            </a:r>
          </a:p>
        </p:txBody>
      </p:sp>
      <p:sp>
        <p:nvSpPr>
          <p:cNvPr id="7" name="Rectangle 6"/>
          <p:cNvSpPr/>
          <p:nvPr/>
        </p:nvSpPr>
        <p:spPr>
          <a:xfrm>
            <a:off x="263352" y="622301"/>
            <a:ext cx="11593288" cy="400110"/>
          </a:xfrm>
          <a:prstGeom prst="rect">
            <a:avLst/>
          </a:prstGeom>
          <a:noFill/>
        </p:spPr>
        <p:txBody>
          <a:bodyPr wrap="square">
            <a:spAutoFit/>
          </a:bodyPr>
          <a:lstStyle/>
          <a:p>
            <a:r>
              <a:rPr lang="en-IN" dirty="0">
                <a:solidFill>
                  <a:srgbClr val="222222"/>
                </a:solidFill>
                <a:latin typeface="arial" panose="020B0604020202020204" pitchFamily="34" charset="0"/>
              </a:rPr>
              <a:t>The</a:t>
            </a:r>
            <a:r>
              <a:rPr lang="en-IN" b="1" dirty="0">
                <a:solidFill>
                  <a:srgbClr val="222222"/>
                </a:solidFill>
                <a:latin typeface="arial" panose="020B0604020202020204" pitchFamily="34" charset="0"/>
              </a:rPr>
              <a:t> NULL </a:t>
            </a:r>
            <a:r>
              <a:rPr lang="en-IN" dirty="0">
                <a:solidFill>
                  <a:srgbClr val="222222"/>
                </a:solidFill>
                <a:latin typeface="arial" panose="020B0604020202020204" pitchFamily="34" charset="0"/>
              </a:rPr>
              <a:t>(absence of a value)</a:t>
            </a:r>
            <a:r>
              <a:rPr lang="en-IN" b="1" dirty="0">
                <a:solidFill>
                  <a:srgbClr val="222222"/>
                </a:solidFill>
                <a:latin typeface="arial" panose="020B0604020202020204" pitchFamily="34" charset="0"/>
              </a:rPr>
              <a:t> value </a:t>
            </a:r>
            <a:r>
              <a:rPr lang="en-IN" dirty="0">
                <a:solidFill>
                  <a:srgbClr val="222222"/>
                </a:solidFill>
                <a:latin typeface="arial" panose="020B0604020202020204" pitchFamily="34" charset="0"/>
              </a:rPr>
              <a:t>is special. It means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NO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or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sz="2000" b="1" dirty="0">
                <a:solidFill>
                  <a:srgbClr val="222222"/>
                </a:solidFill>
                <a:latin typeface="arial" panose="020B0604020202020204" pitchFamily="34" charset="0"/>
              </a:rPr>
              <a:t>".</a:t>
            </a:r>
            <a:endParaRPr lang="en-IN" sz="2000" dirty="0">
              <a:solidFill>
                <a:srgbClr val="222222"/>
              </a:solidFill>
              <a:latin typeface="arial" panose="020B0604020202020204" pitchFamily="34" charset="0"/>
            </a:endParaRPr>
          </a:p>
        </p:txBody>
      </p:sp>
      <p:grpSp>
        <p:nvGrpSpPr>
          <p:cNvPr id="3" name="Group 2">
            <a:extLst>
              <a:ext uri="{FF2B5EF4-FFF2-40B4-BE49-F238E27FC236}">
                <a16:creationId xmlns:a16="http://schemas.microsoft.com/office/drawing/2014/main" id="{21BDB1A3-9F7D-4DFB-8C5A-383AABE838BE}"/>
              </a:ext>
            </a:extLst>
          </p:cNvPr>
          <p:cNvGrpSpPr/>
          <p:nvPr/>
        </p:nvGrpSpPr>
        <p:grpSpPr>
          <a:xfrm>
            <a:off x="263352" y="4293096"/>
            <a:ext cx="8495194" cy="584200"/>
            <a:chOff x="1676182" y="4191000"/>
            <a:chExt cx="8495194" cy="584200"/>
          </a:xfrm>
        </p:grpSpPr>
        <p:pic>
          <p:nvPicPr>
            <p:cNvPr id="2" name="Picture 1"/>
            <p:cNvPicPr>
              <a:picLocks noChangeAspect="1"/>
            </p:cNvPicPr>
            <p:nvPr/>
          </p:nvPicPr>
          <p:blipFill>
            <a:blip r:embed="rId2" cstate="print"/>
            <a:stretch>
              <a:fillRect/>
            </a:stretch>
          </p:blipFill>
          <p:spPr>
            <a:xfrm>
              <a:off x="1676182" y="4191000"/>
              <a:ext cx="8457100" cy="584200"/>
            </a:xfrm>
            <a:prstGeom prst="rect">
              <a:avLst/>
            </a:prstGeom>
          </p:spPr>
        </p:pic>
        <p:sp>
          <p:nvSpPr>
            <p:cNvPr id="8" name="Rectangle 7"/>
            <p:cNvSpPr/>
            <p:nvPr/>
          </p:nvSpPr>
          <p:spPr>
            <a:xfrm>
              <a:off x="6819012" y="4209258"/>
              <a:ext cx="3352364"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3E5C472D-9567-43E9-B509-3A1EC250690F}"/>
              </a:ext>
            </a:extLst>
          </p:cNvPr>
          <p:cNvSpPr/>
          <p:nvPr/>
        </p:nvSpPr>
        <p:spPr>
          <a:xfrm>
            <a:off x="119337" y="1189327"/>
            <a:ext cx="11953327" cy="206210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You cannot be compared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the way you compere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to each other. </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If you attempt to use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with the usual arithmetic comparison operators, the result is </a:t>
            </a:r>
            <a:r>
              <a:rPr lang="en-IN" b="1" dirty="0">
                <a:solidFill>
                  <a:srgbClr val="222222"/>
                </a:solidFill>
                <a:latin typeface="arial" panose="020B0604020202020204" pitchFamily="34" charset="0"/>
              </a:rPr>
              <a:t>NULL </a:t>
            </a:r>
            <a:r>
              <a:rPr lang="en-IN" dirty="0">
                <a:solidFill>
                  <a:srgbClr val="222222"/>
                </a:solidFill>
                <a:latin typeface="arial" panose="020B0604020202020204" pitchFamily="34" charset="0"/>
              </a:rPr>
              <a:t>(</a:t>
            </a:r>
            <a:r>
              <a:rPr lang="en-IN" i="1" dirty="0">
                <a:solidFill>
                  <a:srgbClr val="222222"/>
                </a:solidFill>
                <a:latin typeface="arial" panose="020B0604020202020204" pitchFamily="34" charset="0"/>
              </a:rPr>
              <a:t>undefined</a:t>
            </a:r>
            <a:r>
              <a:rPr lang="en-IN" dirty="0">
                <a:solidFill>
                  <a:srgbClr val="222222"/>
                </a:solidFill>
                <a:latin typeface="arial" panose="020B0604020202020204" pitchFamily="34" charset="0"/>
              </a:rPr>
              <a:t>).</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Instead of using =, &lt;&gt;, or != to test for equality or inequality with </a:t>
            </a:r>
            <a:r>
              <a:rPr lang="en-IN" b="1" dirty="0">
                <a:solidFill>
                  <a:srgbClr val="222222"/>
                </a:solidFill>
                <a:latin typeface="arial" panose="020B0604020202020204" pitchFamily="34" charset="0"/>
              </a:rPr>
              <a:t>NULL</a:t>
            </a:r>
            <a:r>
              <a:rPr lang="en-IN" i="1" dirty="0">
                <a:solidFill>
                  <a:srgbClr val="222222"/>
                </a:solidFill>
                <a:latin typeface="arial" panose="020B0604020202020204" pitchFamily="34" charset="0"/>
              </a:rPr>
              <a:t> values, use </a:t>
            </a:r>
            <a:r>
              <a:rPr lang="en-IN" b="1" i="1" dirty="0">
                <a:solidFill>
                  <a:srgbClr val="222222"/>
                </a:solidFill>
                <a:latin typeface="arial" panose="020B0604020202020204" pitchFamily="34" charset="0"/>
              </a:rPr>
              <a:t>IS NULL</a:t>
            </a:r>
            <a:r>
              <a:rPr lang="en-IN" i="1" dirty="0">
                <a:solidFill>
                  <a:srgbClr val="222222"/>
                </a:solidFill>
                <a:latin typeface="arial" panose="020B0604020202020204" pitchFamily="34" charset="0"/>
              </a:rPr>
              <a:t> or </a:t>
            </a:r>
            <a:r>
              <a:rPr lang="en-IN" b="1" i="1" dirty="0">
                <a:solidFill>
                  <a:srgbClr val="222222"/>
                </a:solidFill>
                <a:latin typeface="arial" panose="020B0604020202020204" pitchFamily="34" charset="0"/>
              </a:rPr>
              <a:t>IS NOT NULL</a:t>
            </a:r>
          </a:p>
          <a:p>
            <a:pPr marL="285750" indent="-285750">
              <a:buFont typeface="Arial" panose="020B0604020202020204" pitchFamily="34" charset="0"/>
              <a:buChar char="•"/>
            </a:pPr>
            <a:endParaRPr lang="en-IN" sz="800" b="1" i="1"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MySQL specific </a:t>
            </a:r>
            <a:r>
              <a:rPr lang="en-IN" b="1" dirty="0">
                <a:solidFill>
                  <a:schemeClr val="accent6">
                    <a:lumMod val="50000"/>
                  </a:schemeClr>
                </a:solidFill>
                <a:latin typeface="arial" panose="020B0604020202020204" pitchFamily="34" charset="0"/>
              </a:rPr>
              <a:t>&lt;=&gt;</a:t>
            </a:r>
            <a:r>
              <a:rPr lang="en-IN" dirty="0">
                <a:solidFill>
                  <a:srgbClr val="222222"/>
                </a:solidFill>
                <a:latin typeface="arial" panose="020B0604020202020204" pitchFamily="34" charset="0"/>
              </a:rPr>
              <a:t> comparison operator is used for NULL-to-NULL comparisons.</a:t>
            </a:r>
          </a:p>
        </p:txBody>
      </p:sp>
      <p:cxnSp>
        <p:nvCxnSpPr>
          <p:cNvPr id="6" name="Straight Connector 5">
            <a:extLst>
              <a:ext uri="{FF2B5EF4-FFF2-40B4-BE49-F238E27FC236}">
                <a16:creationId xmlns:a16="http://schemas.microsoft.com/office/drawing/2014/main" id="{6F18E359-E157-4B89-BD1A-03C55C8F70E8}"/>
              </a:ext>
            </a:extLst>
          </p:cNvPr>
          <p:cNvCxnSpPr/>
          <p:nvPr/>
        </p:nvCxnSpPr>
        <p:spPr>
          <a:xfrm flipV="1">
            <a:off x="263352" y="3429000"/>
            <a:ext cx="11449272" cy="117177"/>
          </a:xfrm>
          <a:prstGeom prst="line">
            <a:avLst/>
          </a:prstGeom>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9B91911-2077-A304-DD1C-EE2937A8CD2F}"/>
              </a:ext>
            </a:extLst>
          </p:cNvPr>
          <p:cNvSpPr txBox="1"/>
          <p:nvPr/>
        </p:nvSpPr>
        <p:spPr>
          <a:xfrm>
            <a:off x="263352" y="5190291"/>
            <a:ext cx="1180931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US" sz="800" dirty="0">
              <a:solidFill>
                <a:schemeClr val="accent4">
                  <a:lumMod val="50000"/>
                </a:schemeClr>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The result of (FALSE AND UNKNOWN) is FALSE, whereas the result of (FALSE OR UNKNOWN) is UNKNOWN.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2003300"/>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control flow functions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89551423"/>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ifnull</a:t>
            </a:r>
          </a:p>
        </p:txBody>
      </p:sp>
      <p:sp>
        <p:nvSpPr>
          <p:cNvPr id="12" name="Rectangle 11"/>
          <p:cNvSpPr/>
          <p:nvPr/>
        </p:nvSpPr>
        <p:spPr>
          <a:xfrm>
            <a:off x="439483" y="822326"/>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IFNULL function</a:t>
            </a:r>
          </a:p>
        </p:txBody>
      </p:sp>
      <p:sp>
        <p:nvSpPr>
          <p:cNvPr id="2" name="Rectangle 1"/>
          <p:cNvSpPr/>
          <p:nvPr/>
        </p:nvSpPr>
        <p:spPr>
          <a:xfrm>
            <a:off x="407368" y="1527756"/>
            <a:ext cx="11017223" cy="677108"/>
          </a:xfrm>
          <a:prstGeom prst="rect">
            <a:avLst/>
          </a:prstGeom>
        </p:spPr>
        <p:txBody>
          <a:bodyPr wrap="square">
            <a:spAutoFit/>
          </a:bodyPr>
          <a:lstStyle/>
          <a:p>
            <a:r>
              <a:rPr lang="en-IN" b="1" dirty="0">
                <a:solidFill>
                  <a:srgbClr val="222222"/>
                </a:solidFill>
                <a:latin typeface="arial" panose="020B0604020202020204" pitchFamily="34" charset="0"/>
              </a:rPr>
              <a:t>MySQL IFNULL</a:t>
            </a:r>
            <a:r>
              <a:rPr lang="en-IN" dirty="0">
                <a:solidFill>
                  <a:srgbClr val="222222"/>
                </a:solidFill>
                <a:latin typeface="arial" panose="020B0604020202020204" pitchFamily="34" charset="0"/>
              </a:rPr>
              <a:t>() takes two expressions, if the first expression is not NULL, it returns the first expression. Otherwise, it returns the second expression, </a:t>
            </a:r>
            <a:r>
              <a:rPr lang="en-IN" sz="2000" b="1" dirty="0">
                <a:solidFill>
                  <a:srgbClr val="222222"/>
                </a:solidFill>
                <a:latin typeface="arial" panose="020B0604020202020204" pitchFamily="34" charset="0"/>
              </a:rPr>
              <a:t>it returns either numeric or string value.</a:t>
            </a:r>
          </a:p>
        </p:txBody>
      </p:sp>
      <p:sp>
        <p:nvSpPr>
          <p:cNvPr id="3" name="Rectangle 1"/>
          <p:cNvSpPr>
            <a:spLocks noChangeArrowheads="1"/>
          </p:cNvSpPr>
          <p:nvPr/>
        </p:nvSpPr>
        <p:spPr bwMode="auto">
          <a:xfrm>
            <a:off x="439483" y="2600900"/>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fontAlgn="t">
              <a:spcBef>
                <a:spcPct val="0"/>
              </a:spcBef>
              <a:spcAft>
                <a:spcPct val="0"/>
              </a:spcAft>
            </a:pPr>
            <a:r>
              <a:rPr lang="en-US" sz="2000" dirty="0">
                <a:solidFill>
                  <a:srgbClr val="DD4A68"/>
                </a:solidFill>
                <a:latin typeface="Liberation Mono"/>
              </a:rPr>
              <a:t>IFNULL</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expression1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expression2</a:t>
            </a:r>
            <a:r>
              <a:rPr lang="en-US" sz="2000" dirty="0">
                <a:solidFill>
                  <a:schemeClr val="tx1">
                    <a:lumMod val="85000"/>
                    <a:lumOff val="15000"/>
                  </a:schemeClr>
                </a:solidFill>
                <a:latin typeface="Liberation Mono"/>
              </a:rPr>
              <a:t>) </a:t>
            </a:r>
          </a:p>
        </p:txBody>
      </p:sp>
      <p:sp>
        <p:nvSpPr>
          <p:cNvPr id="8" name="Rectangle 7"/>
          <p:cNvSpPr/>
          <p:nvPr/>
        </p:nvSpPr>
        <p:spPr>
          <a:xfrm>
            <a:off x="375792" y="3568224"/>
            <a:ext cx="8839200" cy="2169825"/>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669900"/>
                </a:solidFill>
                <a:latin typeface="Liberation Mono"/>
              </a:rPr>
              <a:t>'Yes'</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comm, </a:t>
            </a:r>
            <a:r>
              <a:rPr lang="en-IN" dirty="0">
                <a:solidFill>
                  <a:srgbClr val="DD4A68"/>
                </a:solidFill>
                <a:latin typeface="Liberation Mono"/>
              </a:rPr>
              <a:t>IFNULL</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comm </a:t>
            </a:r>
            <a:r>
              <a:rPr lang="en-IN" dirty="0">
                <a:solidFill>
                  <a:srgbClr val="A67F59"/>
                </a:solidFill>
                <a:latin typeface="Liberation Mono"/>
              </a:rPr>
              <a:t>+</a:t>
            </a:r>
            <a:r>
              <a:rPr lang="en-IN" dirty="0">
                <a:latin typeface="Liberation Mono"/>
                <a:ea typeface="Times New Roman" panose="02020603050405020304" pitchFamily="18" charset="0"/>
              </a:rPr>
              <a:t> comm</a:t>
            </a:r>
            <a:r>
              <a:rPr lang="en-IN" dirty="0">
                <a:solidFill>
                  <a:srgbClr val="A67F59"/>
                </a:solidFill>
                <a:latin typeface="Liberation Mono"/>
              </a:rPr>
              <a:t>*</a:t>
            </a:r>
            <a:r>
              <a:rPr lang="en-IN" dirty="0">
                <a:solidFill>
                  <a:srgbClr val="990055"/>
                </a:solidFill>
                <a:latin typeface="Liberation Mono"/>
              </a:rPr>
              <a:t>.25</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itchFamily="34" charset="0"/>
              </a:rPr>
              <a:t> emp;</a:t>
            </a:r>
          </a:p>
        </p:txBody>
      </p:sp>
    </p:spTree>
    <p:extLst>
      <p:ext uri="{BB962C8B-B14F-4D97-AF65-F5344CB8AC3E}">
        <p14:creationId xmlns:p14="http://schemas.microsoft.com/office/powerpoint/2010/main" val="1733901836"/>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a:t>
            </a:r>
          </a:p>
        </p:txBody>
      </p:sp>
      <p:sp>
        <p:nvSpPr>
          <p:cNvPr id="12" name="Rectangle 11"/>
          <p:cNvSpPr/>
          <p:nvPr/>
        </p:nvSpPr>
        <p:spPr>
          <a:xfrm>
            <a:off x="439483" y="833043"/>
            <a:ext cx="1498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 function</a:t>
            </a:r>
          </a:p>
        </p:txBody>
      </p:sp>
      <p:sp>
        <p:nvSpPr>
          <p:cNvPr id="2" name="Rectangle 1"/>
          <p:cNvSpPr/>
          <p:nvPr/>
        </p:nvSpPr>
        <p:spPr>
          <a:xfrm>
            <a:off x="427492" y="1504725"/>
            <a:ext cx="11201133" cy="646331"/>
          </a:xfrm>
          <a:prstGeom prst="rect">
            <a:avLst/>
          </a:prstGeom>
        </p:spPr>
        <p:txBody>
          <a:bodyPr wrap="square">
            <a:spAutoFit/>
          </a:bodyPr>
          <a:lstStyle/>
          <a:p>
            <a:r>
              <a:rPr lang="en-US" dirty="0">
                <a:solidFill>
                  <a:srgbClr val="222222"/>
                </a:solidFill>
                <a:latin typeface="arial" panose="020B0604020202020204" pitchFamily="34" charset="0"/>
              </a:rPr>
              <a:t>If </a:t>
            </a:r>
            <a:r>
              <a:rPr lang="en-US" b="1" dirty="0">
                <a:solidFill>
                  <a:srgbClr val="222222"/>
                </a:solidFill>
                <a:latin typeface="arial" panose="020B0604020202020204" pitchFamily="34" charset="0"/>
              </a:rPr>
              <a:t>expr1 is TRUE or expr1 &lt;&gt; 0 or expr1 &lt;&gt; NULL</a:t>
            </a:r>
            <a:r>
              <a:rPr lang="en-US" dirty="0">
                <a:solidFill>
                  <a:srgbClr val="222222"/>
                </a:solidFill>
                <a:latin typeface="arial" panose="020B0604020202020204" pitchFamily="34" charset="0"/>
              </a:rPr>
              <a:t>, then IF() returns expr2, otherwise it returns expr3, </a:t>
            </a:r>
            <a:r>
              <a:rPr lang="en-IN" b="1" dirty="0">
                <a:solidFill>
                  <a:srgbClr val="222222"/>
                </a:solidFill>
                <a:latin typeface="arial" panose="020B0604020202020204" pitchFamily="34" charset="0"/>
              </a:rPr>
              <a:t>it returns either numeric or string value.</a:t>
            </a:r>
          </a:p>
        </p:txBody>
      </p:sp>
      <p:sp>
        <p:nvSpPr>
          <p:cNvPr id="8" name="Rectangle 7"/>
          <p:cNvSpPr/>
          <p:nvPr/>
        </p:nvSpPr>
        <p:spPr>
          <a:xfrm>
            <a:off x="551383" y="2852936"/>
            <a:ext cx="11201132" cy="3323987"/>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DD4A68"/>
                </a:solidFill>
                <a:latin typeface="Liberation Mono"/>
              </a:rPr>
              <a:t>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&gt;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cs typeface="Arial" panose="020B0604020202020204" pitchFamily="34" charset="0"/>
              </a:rPr>
              <a:t>;</a:t>
            </a:r>
          </a:p>
          <a:p>
            <a:pPr marL="342900" indent="-342900">
              <a:buFont typeface="Arial" panose="020B0604020202020204" pitchFamily="34" charset="0"/>
              <a:buChar char="•"/>
            </a:pPr>
            <a:endParaRPr lang="en-US" sz="800" dirty="0">
              <a:solidFill>
                <a:srgbClr val="990055"/>
              </a:solidFill>
              <a:latin typeface="Liberation Mono"/>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'Ok'</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'Not Bad'</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A67F59"/>
                </a:solidFill>
                <a:latin typeface="Liberation Mono"/>
              </a:rPr>
              <a:t>AND</a:t>
            </a:r>
            <a:r>
              <a:rPr lang="en-US" dirty="0">
                <a:latin typeface="Liberation Mono"/>
                <a:ea typeface="Times New Roman" panose="02020603050405020304" pitchFamily="18" charset="0"/>
                <a:cs typeface="Arial" panose="020B0604020202020204" pitchFamily="34" charset="0"/>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comm,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comm </a:t>
            </a:r>
            <a:r>
              <a:rPr lang="en-US" dirty="0">
                <a:solidFill>
                  <a:schemeClr val="accent5">
                    <a:lumMod val="75000"/>
                  </a:schemeClr>
                </a:solidFill>
                <a:latin typeface="Liberation Mono"/>
              </a:rPr>
              <a:t>IS NULL </a:t>
            </a:r>
            <a:r>
              <a:rPr lang="en-US" dirty="0">
                <a:latin typeface="Liberation Mono"/>
                <a:ea typeface="Times New Roman" panose="02020603050405020304" pitchFamily="18" charset="0"/>
                <a:cs typeface="Arial" panose="020B0604020202020204" pitchFamily="34" charset="0"/>
              </a:rPr>
              <a:t>&amp;&amp;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deptno,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10</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'Sales'</a:t>
            </a:r>
            <a:r>
              <a:rPr lang="en-IN" dirty="0">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20</a:t>
            </a:r>
            <a:r>
              <a:rPr lang="en-IN" dirty="0">
                <a:latin typeface="Liberation Mono"/>
                <a:ea typeface="Times New Roman" panose="02020603050405020304" pitchFamily="18" charset="0"/>
                <a:cs typeface="Arial" panose="020B0604020202020204" pitchFamily="34" charset="0"/>
              </a:rPr>
              <a:t> , </a:t>
            </a:r>
            <a:r>
              <a:rPr lang="en-IN" dirty="0">
                <a:solidFill>
                  <a:srgbClr val="669900"/>
                </a:solidFill>
                <a:latin typeface="Liberation Mono"/>
              </a:rPr>
              <a:t>'Purchase'</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'N/A'</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a:t>
            </a:r>
            <a:r>
              <a:rPr lang="en-IN" dirty="0">
                <a:latin typeface="Liberation Mono"/>
                <a:cs typeface="Arial" pitchFamily="34" charset="0"/>
              </a:rPr>
              <a:t>emp;</a:t>
            </a:r>
          </a:p>
          <a:p>
            <a:pPr marL="342900" indent="-342900">
              <a:buFont typeface="Arial" panose="020B0604020202020204" pitchFamily="34" charset="0"/>
              <a:buChar char="•"/>
            </a:pPr>
            <a:endParaRPr lang="en-IN"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productid, productname, unitprice, unitsinstock, reorderlevel, </a:t>
            </a:r>
            <a:r>
              <a:rPr lang="en-IN" dirty="0">
                <a:solidFill>
                  <a:srgbClr val="DD4A68"/>
                </a:solidFill>
                <a:latin typeface="Liberation Mono"/>
              </a:rPr>
              <a:t>IF</a:t>
            </a:r>
            <a:r>
              <a:rPr lang="en-IN" dirty="0">
                <a:latin typeface="Liberation Mono"/>
              </a:rPr>
              <a:t>(unitsinstock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reorderlevel, </a:t>
            </a:r>
            <a:r>
              <a:rPr lang="en-IN" dirty="0">
                <a:solidFill>
                  <a:srgbClr val="669900"/>
                </a:solidFill>
                <a:latin typeface="Liberation Mono"/>
              </a:rPr>
              <a:t>'Stock is less'</a:t>
            </a:r>
            <a:r>
              <a:rPr lang="en-IN" dirty="0">
                <a:latin typeface="Liberation Mono"/>
              </a:rPr>
              <a:t>, </a:t>
            </a:r>
            <a:r>
              <a:rPr lang="en-IN" dirty="0">
                <a:solidFill>
                  <a:srgbClr val="669900"/>
                </a:solidFill>
                <a:latin typeface="Liberation Mono"/>
              </a:rPr>
              <a:t>'Good Stock'</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'Stock Report' </a:t>
            </a:r>
            <a:r>
              <a:rPr lang="en-IN" dirty="0">
                <a:solidFill>
                  <a:srgbClr val="0077AA"/>
                </a:solidFill>
                <a:latin typeface="Liberation Mono"/>
                <a:cs typeface="Arial" panose="020B0604020202020204" pitchFamily="34" charset="0"/>
              </a:rPr>
              <a:t>FROM</a:t>
            </a:r>
            <a:r>
              <a:rPr lang="en-IN" dirty="0">
                <a:latin typeface="Liberation Mono"/>
              </a:rPr>
              <a:t> products;</a:t>
            </a:r>
          </a:p>
          <a:p>
            <a:endParaRPr lang="en-IN" sz="800" dirty="0">
              <a:latin typeface="Liberation Mono"/>
              <a:cs typeface="Arial"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itchFamily="34" charset="0"/>
              </a:rPr>
              <a:t> hiredate, </a:t>
            </a:r>
            <a:r>
              <a:rPr lang="en-IN" dirty="0">
                <a:solidFill>
                  <a:srgbClr val="DD4A68"/>
                </a:solidFill>
                <a:latin typeface="Liberation Mono"/>
              </a:rPr>
              <a:t>IF</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A67F59"/>
                </a:solidFill>
                <a:latin typeface="Liberation Mono"/>
              </a:rPr>
              <a:t>AND</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100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 </a:t>
            </a:r>
            <a:r>
              <a:rPr lang="en-US" dirty="0">
                <a:solidFill>
                  <a:srgbClr val="A67F59"/>
                </a:solidFill>
                <a:latin typeface="Liberation Mono"/>
              </a:rPr>
              <a:t>OR</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a:t>
            </a:r>
            <a:r>
              <a:rPr lang="en-US" dirty="0">
                <a:solidFill>
                  <a:schemeClr val="bg1">
                    <a:lumMod val="50000"/>
                  </a:schemeClr>
                </a:solidFill>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669900"/>
                </a:solidFill>
                <a:latin typeface="Liberation Mono"/>
              </a:rPr>
              <a:t>'Leap Year’</a:t>
            </a:r>
            <a:r>
              <a:rPr lang="en-US" dirty="0">
                <a:latin typeface="Liberation Mono"/>
                <a:cs typeface="Arial" pitchFamily="34" charset="0"/>
              </a:rPr>
              <a:t>, </a:t>
            </a:r>
            <a:r>
              <a:rPr lang="en-US" dirty="0">
                <a:solidFill>
                  <a:srgbClr val="669900"/>
                </a:solidFill>
                <a:latin typeface="Liberation Mono"/>
              </a:rPr>
              <a:t>'Not A Leap Year'</a:t>
            </a:r>
            <a:r>
              <a:rPr lang="en-US" dirty="0">
                <a:latin typeface="Liberation Mono"/>
                <a:cs typeface="Arial"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itchFamily="34" charset="0"/>
              </a:rPr>
              <a:t> emp;</a:t>
            </a:r>
            <a:endParaRPr lang="en-IN" dirty="0">
              <a:latin typeface="Liberation Mono"/>
              <a:cs typeface="Arial" pitchFamily="34" charset="0"/>
            </a:endParaRPr>
          </a:p>
        </p:txBody>
      </p:sp>
      <p:sp>
        <p:nvSpPr>
          <p:cNvPr id="4" name="TextBox 3">
            <a:extLst>
              <a:ext uri="{FF2B5EF4-FFF2-40B4-BE49-F238E27FC236}">
                <a16:creationId xmlns:a16="http://schemas.microsoft.com/office/drawing/2014/main" id="{AB9600D9-25A2-0CE5-173E-D9895B19BF39}"/>
              </a:ext>
            </a:extLst>
          </p:cNvPr>
          <p:cNvSpPr txBox="1"/>
          <p:nvPr/>
        </p:nvSpPr>
        <p:spPr>
          <a:xfrm>
            <a:off x="7536160" y="2086497"/>
            <a:ext cx="4536504" cy="1200329"/>
          </a:xfrm>
          <a:prstGeom prst="rect">
            <a:avLst/>
          </a:prstGeom>
          <a:solidFill>
            <a:schemeClr val="accent3">
              <a:lumMod val="20000"/>
              <a:lumOff val="80000"/>
            </a:schemeClr>
          </a:solidFill>
        </p:spPr>
        <p:txBody>
          <a:bodyPr wrap="square">
            <a:spAutoFit/>
          </a:bodyPr>
          <a:lstStyle/>
          <a:p>
            <a:r>
              <a:rPr lang="en-IN" b="1" dirty="0">
                <a:latin typeface="Liberation Mono"/>
              </a:rPr>
              <a:t>A year is a leap year if:</a:t>
            </a:r>
          </a:p>
          <a:p>
            <a:pPr marL="285750" indent="-285750">
              <a:buFont typeface="Arial" panose="020B0604020202020204" pitchFamily="34" charset="0"/>
              <a:buChar char="•"/>
            </a:pPr>
            <a:r>
              <a:rPr lang="en-IN" dirty="0">
                <a:latin typeface="Liberation Mono"/>
              </a:rPr>
              <a:t>Divisible by </a:t>
            </a:r>
            <a:r>
              <a:rPr lang="en-IN" b="1" dirty="0">
                <a:latin typeface="Liberation Mono"/>
              </a:rPr>
              <a:t>400</a:t>
            </a:r>
            <a:r>
              <a:rPr lang="en-IN" dirty="0">
                <a:latin typeface="Liberation Mono"/>
              </a:rPr>
              <a:t> → leap year</a:t>
            </a:r>
          </a:p>
          <a:p>
            <a:pPr marL="285750" indent="-285750">
              <a:buFont typeface="Arial" panose="020B0604020202020204" pitchFamily="34" charset="0"/>
              <a:buChar char="•"/>
            </a:pPr>
            <a:r>
              <a:rPr lang="en-IN" dirty="0">
                <a:latin typeface="Liberation Mono"/>
              </a:rPr>
              <a:t>Divisible by </a:t>
            </a:r>
            <a:r>
              <a:rPr lang="en-IN" b="1" dirty="0">
                <a:latin typeface="Liberation Mono"/>
              </a:rPr>
              <a:t>4</a:t>
            </a:r>
            <a:r>
              <a:rPr lang="en-IN" dirty="0">
                <a:latin typeface="Liberation Mono"/>
              </a:rPr>
              <a:t> but </a:t>
            </a:r>
            <a:r>
              <a:rPr lang="en-IN" b="1" dirty="0">
                <a:latin typeface="Liberation Mono"/>
              </a:rPr>
              <a:t>not by 100</a:t>
            </a:r>
            <a:r>
              <a:rPr lang="en-IN" dirty="0">
                <a:latin typeface="Liberation Mono"/>
              </a:rPr>
              <a:t> → leap year</a:t>
            </a:r>
          </a:p>
          <a:p>
            <a:pPr marL="285750" indent="-285750">
              <a:buFont typeface="Arial" panose="020B0604020202020204" pitchFamily="34" charset="0"/>
              <a:buChar char="•"/>
            </a:pPr>
            <a:r>
              <a:rPr lang="en-IN" dirty="0">
                <a:latin typeface="Liberation Mono"/>
              </a:rPr>
              <a:t>Otherwise →  </a:t>
            </a:r>
            <a:r>
              <a:rPr lang="en-IN" b="1" dirty="0">
                <a:latin typeface="Liberation Mono"/>
              </a:rPr>
              <a:t>not a leap year</a:t>
            </a:r>
          </a:p>
        </p:txBody>
      </p:sp>
      <p:sp>
        <p:nvSpPr>
          <p:cNvPr id="6" name="TextBox 5">
            <a:extLst>
              <a:ext uri="{FF2B5EF4-FFF2-40B4-BE49-F238E27FC236}">
                <a16:creationId xmlns:a16="http://schemas.microsoft.com/office/drawing/2014/main" id="{B3D63BEA-71D7-CA5E-65A5-38F4F07705FA}"/>
              </a:ext>
            </a:extLst>
          </p:cNvPr>
          <p:cNvSpPr txBox="1"/>
          <p:nvPr/>
        </p:nvSpPr>
        <p:spPr>
          <a:xfrm>
            <a:off x="427492" y="2317330"/>
            <a:ext cx="6094378" cy="369332"/>
          </a:xfrm>
          <a:prstGeom prst="rect">
            <a:avLst/>
          </a:prstGeom>
          <a:noFill/>
        </p:spPr>
        <p:txBody>
          <a:bodyPr wrap="square">
            <a:spAutoFit/>
          </a:bodyPr>
          <a:lstStyle/>
          <a:p>
            <a:r>
              <a:rPr lang="en-IN" sz="1800" dirty="0">
                <a:solidFill>
                  <a:srgbClr val="B80000"/>
                </a:solidFill>
              </a:rPr>
              <a:t>IF</a:t>
            </a:r>
            <a:r>
              <a:rPr lang="en-IN" sz="1800" dirty="0"/>
              <a:t>(</a:t>
            </a:r>
            <a:r>
              <a:rPr lang="en-IN" sz="1800" i="1" dirty="0"/>
              <a:t>condition, value_if_true, value_if_false</a:t>
            </a:r>
            <a:r>
              <a:rPr lang="en-IN" sz="1800" dirty="0"/>
              <a:t>)</a:t>
            </a:r>
          </a:p>
        </p:txBody>
      </p:sp>
    </p:spTree>
    <p:extLst>
      <p:ext uri="{BB962C8B-B14F-4D97-AF65-F5344CB8AC3E}">
        <p14:creationId xmlns:p14="http://schemas.microsoft.com/office/powerpoint/2010/main" val="3271572254"/>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Rectangle 11"/>
          <p:cNvSpPr/>
          <p:nvPr/>
        </p:nvSpPr>
        <p:spPr>
          <a:xfrm>
            <a:off x="431766" y="833043"/>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NULLIF function</a:t>
            </a:r>
          </a:p>
        </p:txBody>
      </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sp>
        <p:nvSpPr>
          <p:cNvPr id="2" name="Rectangle 1"/>
          <p:cNvSpPr/>
          <p:nvPr/>
        </p:nvSpPr>
        <p:spPr>
          <a:xfrm>
            <a:off x="431766" y="1659399"/>
            <a:ext cx="8890067" cy="369332"/>
          </a:xfrm>
          <a:prstGeom prst="rect">
            <a:avLst/>
          </a:prstGeom>
        </p:spPr>
        <p:txBody>
          <a:bodyPr wrap="square">
            <a:spAutoFit/>
          </a:bodyPr>
          <a:lstStyle/>
          <a:p>
            <a:r>
              <a:rPr lang="en-IN" dirty="0">
                <a:solidFill>
                  <a:srgbClr val="222222"/>
                </a:solidFill>
                <a:latin typeface="arial" panose="020B0604020202020204" pitchFamily="34" charset="0"/>
              </a:rPr>
              <a:t>Returns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if expr1 = expr2 is true, otherwise returns expr1.</a:t>
            </a:r>
            <a:endParaRPr lang="en-IN" b="1" dirty="0">
              <a:solidFill>
                <a:srgbClr val="222222"/>
              </a:solidFill>
              <a:latin typeface="arial" panose="020B0604020202020204" pitchFamily="34" charset="0"/>
            </a:endParaRPr>
          </a:p>
        </p:txBody>
      </p:sp>
      <p:sp>
        <p:nvSpPr>
          <p:cNvPr id="3" name="Rectangle 1"/>
          <p:cNvSpPr>
            <a:spLocks noChangeArrowheads="1"/>
          </p:cNvSpPr>
          <p:nvPr/>
        </p:nvSpPr>
        <p:spPr bwMode="auto">
          <a:xfrm>
            <a:off x="497981" y="2307776"/>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sp>
        <p:nvSpPr>
          <p:cNvPr id="8" name="Rectangle 7"/>
          <p:cNvSpPr/>
          <p:nvPr/>
        </p:nvSpPr>
        <p:spPr>
          <a:xfrm>
            <a:off x="497981" y="3103354"/>
            <a:ext cx="8839200"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15764811"/>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2A1A7-59EF-3083-6FB3-D9B001F42E04}"/>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B0695AD2-00FF-EE68-FC4A-84EFFA544921}"/>
              </a:ext>
            </a:extLst>
          </p:cNvPr>
          <p:cNvSpPr txBox="1"/>
          <p:nvPr/>
        </p:nvSpPr>
        <p:spPr>
          <a:xfrm>
            <a:off x="119336" y="5157192"/>
            <a:ext cx="11953327"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NULL</a:t>
            </a:r>
            <a:r>
              <a:rPr lang="en-US" dirty="0">
                <a:latin typeface="Liberation Mono"/>
              </a:rPr>
              <a:t>;</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NOT NULL</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0E423761-F829-20BD-B773-9E5AA0CAE199}"/>
              </a:ext>
            </a:extLst>
          </p:cNvPr>
          <p:cNvSpPr/>
          <p:nvPr/>
        </p:nvSpPr>
        <p:spPr>
          <a:xfrm>
            <a:off x="108000" y="908720"/>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914C24A9-6237-D0BB-2000-97B9F74F12FD}"/>
              </a:ext>
            </a:extLst>
          </p:cNvPr>
          <p:cNvGraphicFramePr>
            <a:graphicFrameLocks noGrp="1"/>
          </p:cNvGraphicFramePr>
          <p:nvPr>
            <p:extLst>
              <p:ext uri="{D42A27DB-BD31-4B8C-83A1-F6EECF244321}">
                <p14:modId xmlns:p14="http://schemas.microsoft.com/office/powerpoint/2010/main" val="3078042922"/>
              </p:ext>
            </p:extLst>
          </p:nvPr>
        </p:nvGraphicFramePr>
        <p:xfrm>
          <a:off x="119336" y="1884894"/>
          <a:ext cx="5904656" cy="2987040"/>
        </p:xfrm>
        <a:graphic>
          <a:graphicData uri="http://schemas.openxmlformats.org/drawingml/2006/table">
            <a:tbl>
              <a:tblPr firstRow="1" bandRow="1">
                <a:tableStyleId>{5940675A-B579-460E-94D1-54222C63F5DA}</a:tableStyleId>
              </a:tblPr>
              <a:tblGrid>
                <a:gridCol w="792088">
                  <a:extLst>
                    <a:ext uri="{9D8B030D-6E8A-4147-A177-3AD203B41FA5}">
                      <a16:colId xmlns:a16="http://schemas.microsoft.com/office/drawing/2014/main" val="1762808890"/>
                    </a:ext>
                  </a:extLst>
                </a:gridCol>
                <a:gridCol w="864096">
                  <a:extLst>
                    <a:ext uri="{9D8B030D-6E8A-4147-A177-3AD203B41FA5}">
                      <a16:colId xmlns:a16="http://schemas.microsoft.com/office/drawing/2014/main" val="3768112670"/>
                    </a:ext>
                  </a:extLst>
                </a:gridCol>
                <a:gridCol w="1440160">
                  <a:extLst>
                    <a:ext uri="{9D8B030D-6E8A-4147-A177-3AD203B41FA5}">
                      <a16:colId xmlns:a16="http://schemas.microsoft.com/office/drawing/2014/main" val="3956774166"/>
                    </a:ext>
                  </a:extLst>
                </a:gridCol>
                <a:gridCol w="1784838">
                  <a:extLst>
                    <a:ext uri="{9D8B030D-6E8A-4147-A177-3AD203B41FA5}">
                      <a16:colId xmlns:a16="http://schemas.microsoft.com/office/drawing/2014/main" val="2047579740"/>
                    </a:ext>
                  </a:extLst>
                </a:gridCol>
                <a:gridCol w="1023474">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601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1986-05-30</a:t>
                      </a:r>
                    </a:p>
                  </a:txBody>
                  <a:tcPr/>
                </a:tc>
                <a:tc>
                  <a:txBody>
                    <a:bodyPr/>
                    <a:lstStyle/>
                    <a:p>
                      <a:pPr algn="ctr"/>
                      <a:r>
                        <a:rPr lang="en-IN" sz="1800" b="0" dirty="0">
                          <a:latin typeface="Arial" panose="020B0604020202020204" pitchFamily="34" charset="0"/>
                          <a:cs typeface="Arial" panose="020B0604020202020204" pitchFamily="34" charset="0"/>
                        </a:rPr>
                        <a:t>1986-06-02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1986-06-20</a:t>
                      </a: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dirty="0">
                          <a:solidFill>
                            <a:schemeClr val="tx1"/>
                          </a:solidFill>
                          <a:latin typeface="Arial" panose="020B0604020202020204" pitchFamily="34" charset="0"/>
                          <a:ea typeface="+mn-ea"/>
                          <a:cs typeface="Arial" panose="020B0604020202020204" pitchFamily="34" charset="0"/>
                        </a:rPr>
                        <a:t>634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1987-02-24</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1800" b="0" dirty="0">
                          <a:latin typeface="Arial" panose="020B0604020202020204" pitchFamily="34" charset="0"/>
                          <a:cs typeface="Arial" panose="020B0604020202020204" pitchFamily="34" charset="0"/>
                        </a:rPr>
                        <a:t>635</a:t>
                      </a:r>
                      <a:endParaRPr lang="en-IN" sz="18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E9B298B3-1FA2-7B1D-3BE5-368A2AB66266}"/>
              </a:ext>
            </a:extLst>
          </p:cNvPr>
          <p:cNvSpPr txBox="1"/>
          <p:nvPr/>
        </p:nvSpPr>
        <p:spPr>
          <a:xfrm>
            <a:off x="119336" y="1412776"/>
            <a:ext cx="211800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3" name="TextBox 2">
            <a:extLst>
              <a:ext uri="{FF2B5EF4-FFF2-40B4-BE49-F238E27FC236}">
                <a16:creationId xmlns:a16="http://schemas.microsoft.com/office/drawing/2014/main" id="{52415E4F-FD35-8D66-5DA7-3786D32A2416}"/>
              </a:ext>
            </a:extLst>
          </p:cNvPr>
          <p:cNvSpPr txBox="1"/>
          <p:nvPr/>
        </p:nvSpPr>
        <p:spPr>
          <a:xfrm>
            <a:off x="9930896"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48130F5-FCBB-B99B-EA67-00A19C71E296}"/>
              </a:ext>
            </a:extLst>
          </p:cNvPr>
          <p:cNvSpPr/>
          <p:nvPr/>
        </p:nvSpPr>
        <p:spPr>
          <a:xfrm>
            <a:off x="1776536"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9" name="Table 8">
            <a:extLst>
              <a:ext uri="{FF2B5EF4-FFF2-40B4-BE49-F238E27FC236}">
                <a16:creationId xmlns:a16="http://schemas.microsoft.com/office/drawing/2014/main" id="{3CA28C34-DAC1-104B-7B83-89297DEDD80D}"/>
              </a:ext>
            </a:extLst>
          </p:cNvPr>
          <p:cNvGraphicFramePr>
            <a:graphicFrameLocks noGrp="1"/>
          </p:cNvGraphicFramePr>
          <p:nvPr>
            <p:extLst>
              <p:ext uri="{D42A27DB-BD31-4B8C-83A1-F6EECF244321}">
                <p14:modId xmlns:p14="http://schemas.microsoft.com/office/powerpoint/2010/main" val="438096436"/>
              </p:ext>
            </p:extLst>
          </p:nvPr>
        </p:nvGraphicFramePr>
        <p:xfrm>
          <a:off x="6168007" y="1884894"/>
          <a:ext cx="5904657" cy="2987040"/>
        </p:xfrm>
        <a:graphic>
          <a:graphicData uri="http://schemas.openxmlformats.org/drawingml/2006/table">
            <a:tbl>
              <a:tblPr firstRow="1" bandRow="1">
                <a:tableStyleId>{5940675A-B579-460E-94D1-54222C63F5DA}</a:tableStyleId>
              </a:tblPr>
              <a:tblGrid>
                <a:gridCol w="801880">
                  <a:extLst>
                    <a:ext uri="{9D8B030D-6E8A-4147-A177-3AD203B41FA5}">
                      <a16:colId xmlns:a16="http://schemas.microsoft.com/office/drawing/2014/main" val="1762808890"/>
                    </a:ext>
                  </a:extLst>
                </a:gridCol>
                <a:gridCol w="874681">
                  <a:extLst>
                    <a:ext uri="{9D8B030D-6E8A-4147-A177-3AD203B41FA5}">
                      <a16:colId xmlns:a16="http://schemas.microsoft.com/office/drawing/2014/main" val="3768112670"/>
                    </a:ext>
                  </a:extLst>
                </a:gridCol>
                <a:gridCol w="1457964">
                  <a:extLst>
                    <a:ext uri="{9D8B030D-6E8A-4147-A177-3AD203B41FA5}">
                      <a16:colId xmlns:a16="http://schemas.microsoft.com/office/drawing/2014/main" val="3956774166"/>
                    </a:ext>
                  </a:extLst>
                </a:gridCol>
                <a:gridCol w="1734005">
                  <a:extLst>
                    <a:ext uri="{9D8B030D-6E8A-4147-A177-3AD203B41FA5}">
                      <a16:colId xmlns:a16="http://schemas.microsoft.com/office/drawing/2014/main" val="2047579740"/>
                    </a:ext>
                  </a:extLst>
                </a:gridCol>
                <a:gridCol w="1036127">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a:latin typeface="Arial" panose="020B0604020202020204" pitchFamily="34" charset="0"/>
                          <a:cs typeface="Arial" panose="020B0604020202020204" pitchFamily="34" charset="0"/>
                        </a:rPr>
                        <a:t>606</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608</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632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635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14" name="TextBox 13">
            <a:extLst>
              <a:ext uri="{FF2B5EF4-FFF2-40B4-BE49-F238E27FC236}">
                <a16:creationId xmlns:a16="http://schemas.microsoft.com/office/drawing/2014/main" id="{5ADFD5FA-8250-5DDE-AEFE-98F2456180E4}"/>
              </a:ext>
            </a:extLst>
          </p:cNvPr>
          <p:cNvSpPr txBox="1"/>
          <p:nvPr/>
        </p:nvSpPr>
        <p:spPr>
          <a:xfrm>
            <a:off x="6168007" y="1412776"/>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C20116-47A9-7DDA-2A56-C2F97785F3E7}"/>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shipped and actualShipDate must be same.</a:t>
            </a:r>
          </a:p>
        </p:txBody>
      </p:sp>
      <p:sp>
        <p:nvSpPr>
          <p:cNvPr id="7" name="TextBox 6">
            <a:extLst>
              <a:ext uri="{FF2B5EF4-FFF2-40B4-BE49-F238E27FC236}">
                <a16:creationId xmlns:a16="http://schemas.microsoft.com/office/drawing/2014/main" id="{B040CA0F-A362-88BF-8804-B3C779784B74}"/>
              </a:ext>
            </a:extLst>
          </p:cNvPr>
          <p:cNvSpPr txBox="1"/>
          <p:nvPr/>
        </p:nvSpPr>
        <p:spPr>
          <a:xfrm>
            <a:off x="132134" y="6171674"/>
            <a:ext cx="61089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ord </a:t>
            </a:r>
            <a:r>
              <a:rPr lang="en-IN" dirty="0">
                <a:solidFill>
                  <a:srgbClr val="0077AA"/>
                </a:solidFill>
                <a:latin typeface="Liberation Mono"/>
                <a:cs typeface="Arial" panose="020B0604020202020204" pitchFamily="34" charset="0"/>
              </a:rPr>
              <a:t>WHERE</a:t>
            </a:r>
            <a:r>
              <a:rPr lang="en-IN" dirty="0">
                <a:latin typeface="Liberation Mono"/>
              </a:rPr>
              <a:t> shipdate </a:t>
            </a:r>
            <a:r>
              <a:rPr lang="en-IN" dirty="0">
                <a:solidFill>
                  <a:srgbClr val="A67F59"/>
                </a:solidFill>
                <a:latin typeface="Liberation Mono"/>
              </a:rPr>
              <a:t>=</a:t>
            </a:r>
            <a:r>
              <a:rPr lang="en-IN" dirty="0">
                <a:latin typeface="Liberation Mono"/>
              </a:rPr>
              <a:t> actualshipdate;</a:t>
            </a:r>
          </a:p>
        </p:txBody>
      </p:sp>
    </p:spTree>
    <p:extLst>
      <p:ext uri="{BB962C8B-B14F-4D97-AF65-F5344CB8AC3E}">
        <p14:creationId xmlns:p14="http://schemas.microsoft.com/office/powerpoint/2010/main" val="3197743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3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DB68D-6A78-DF10-E97F-EC5BACFC02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ABC53F-C773-D9D3-A9FE-753D4D3D7F6F}"/>
              </a:ext>
            </a:extLst>
          </p:cNvPr>
          <p:cNvSpPr/>
          <p:nvPr/>
        </p:nvSpPr>
        <p:spPr>
          <a:xfrm>
            <a:off x="108000" y="580618"/>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274452FA-F1C1-3C15-5D2E-309E8ABD64DF}"/>
              </a:ext>
            </a:extLst>
          </p:cNvPr>
          <p:cNvGraphicFramePr>
            <a:graphicFrameLocks noGrp="1"/>
          </p:cNvGraphicFramePr>
          <p:nvPr>
            <p:extLst>
              <p:ext uri="{D42A27DB-BD31-4B8C-83A1-F6EECF244321}">
                <p14:modId xmlns:p14="http://schemas.microsoft.com/office/powerpoint/2010/main" val="877843989"/>
              </p:ext>
            </p:extLst>
          </p:nvPr>
        </p:nvGraphicFramePr>
        <p:xfrm>
          <a:off x="191345" y="1524854"/>
          <a:ext cx="7632846" cy="268224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1003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vrusha@hotmail.com</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vrushali@hotmail.com</a:t>
                      </a:r>
                    </a:p>
                  </a:txBody>
                  <a:tcPr anchor="ctr"/>
                </a:tc>
                <a:extLst>
                  <a:ext uri="{0D108BD9-81ED-4DB2-BD59-A6C34878D82A}">
                    <a16:rowId xmlns:a16="http://schemas.microsoft.com/office/drawing/2014/main" val="309004075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1013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2124A0C-9441-FCD2-D9B7-8ECAB5F7363C}"/>
              </a:ext>
            </a:extLst>
          </p:cNvPr>
          <p:cNvSpPr txBox="1"/>
          <p:nvPr/>
        </p:nvSpPr>
        <p:spPr>
          <a:xfrm>
            <a:off x="191344" y="1052736"/>
            <a:ext cx="2118000" cy="400110"/>
          </a:xfrm>
          <a:prstGeom prst="rect">
            <a:avLst/>
          </a:prstGeom>
          <a:noFill/>
        </p:spPr>
        <p:txBody>
          <a:bodyPr wrap="square">
            <a:spAutoFit/>
          </a:bodyPr>
          <a:lstStyle/>
          <a:p>
            <a:r>
              <a:rPr lang="en-IN" sz="2000" b="1" dirty="0">
                <a:latin typeface="Liberation Mono"/>
              </a:rPr>
              <a:t>Table:- student</a:t>
            </a:r>
            <a:endParaRPr lang="en-IN" sz="2000" b="1" dirty="0"/>
          </a:p>
        </p:txBody>
      </p:sp>
      <p:sp>
        <p:nvSpPr>
          <p:cNvPr id="10" name="TextBox 9">
            <a:extLst>
              <a:ext uri="{FF2B5EF4-FFF2-40B4-BE49-F238E27FC236}">
                <a16:creationId xmlns:a16="http://schemas.microsoft.com/office/drawing/2014/main" id="{7A47B1FE-7BCB-82B0-73A5-47719998EF38}"/>
              </a:ext>
            </a:extLst>
          </p:cNvPr>
          <p:cNvSpPr txBox="1"/>
          <p:nvPr/>
        </p:nvSpPr>
        <p:spPr>
          <a:xfrm>
            <a:off x="7847266" y="1452846"/>
            <a:ext cx="4367809"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NOT NULL</a:t>
            </a:r>
            <a:r>
              <a:rPr lang="en-IN" dirty="0">
                <a:latin typeface="Liberation Mono"/>
              </a:rPr>
              <a:t>;</a:t>
            </a:r>
          </a:p>
        </p:txBody>
      </p:sp>
      <p:sp>
        <p:nvSpPr>
          <p:cNvPr id="3" name="TextBox 2">
            <a:extLst>
              <a:ext uri="{FF2B5EF4-FFF2-40B4-BE49-F238E27FC236}">
                <a16:creationId xmlns:a16="http://schemas.microsoft.com/office/drawing/2014/main" id="{8B2DF8DB-3EE5-AB9D-79FF-74D53A06A8DD}"/>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A32E02D6-6181-64B3-25C6-142CB22C0D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5" name="Table 4">
            <a:extLst>
              <a:ext uri="{FF2B5EF4-FFF2-40B4-BE49-F238E27FC236}">
                <a16:creationId xmlns:a16="http://schemas.microsoft.com/office/drawing/2014/main" id="{B81E32A4-CE52-2248-DB49-CC3CBA15AB3C}"/>
              </a:ext>
            </a:extLst>
          </p:cNvPr>
          <p:cNvGraphicFramePr>
            <a:graphicFrameLocks noGrp="1"/>
          </p:cNvGraphicFramePr>
          <p:nvPr>
            <p:extLst>
              <p:ext uri="{D42A27DB-BD31-4B8C-83A1-F6EECF244321}">
                <p14:modId xmlns:p14="http://schemas.microsoft.com/office/powerpoint/2010/main" val="2841481761"/>
              </p:ext>
            </p:extLst>
          </p:nvPr>
        </p:nvGraphicFramePr>
        <p:xfrm>
          <a:off x="191345" y="4779600"/>
          <a:ext cx="7632846" cy="188976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92D05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nchor="ctr"/>
                </a:tc>
                <a:extLst>
                  <a:ext uri="{0D108BD9-81ED-4DB2-BD59-A6C34878D82A}">
                    <a16:rowId xmlns:a16="http://schemas.microsoft.com/office/drawing/2014/main" val="3090040753"/>
                  </a:ext>
                </a:extLst>
              </a:tr>
            </a:tbl>
          </a:graphicData>
        </a:graphic>
      </p:graphicFrame>
      <p:sp>
        <p:nvSpPr>
          <p:cNvPr id="6" name="TextBox 5">
            <a:extLst>
              <a:ext uri="{FF2B5EF4-FFF2-40B4-BE49-F238E27FC236}">
                <a16:creationId xmlns:a16="http://schemas.microsoft.com/office/drawing/2014/main" id="{5D32B6A5-4295-AB04-7AA8-80F9ADF52CB6}"/>
              </a:ext>
            </a:extLst>
          </p:cNvPr>
          <p:cNvSpPr txBox="1"/>
          <p:nvPr/>
        </p:nvSpPr>
        <p:spPr>
          <a:xfrm>
            <a:off x="191344" y="4307482"/>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6006473-17D7-52F8-1F0E-67B8D86F0B82}"/>
              </a:ext>
            </a:extLst>
          </p:cNvPr>
          <p:cNvSpPr txBox="1"/>
          <p:nvPr/>
        </p:nvSpPr>
        <p:spPr>
          <a:xfrm>
            <a:off x="7847266" y="5025950"/>
            <a:ext cx="434473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emailID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userName;</a:t>
            </a:r>
          </a:p>
        </p:txBody>
      </p:sp>
      <p:sp>
        <p:nvSpPr>
          <p:cNvPr id="13" name="TextBox 12">
            <a:extLst>
              <a:ext uri="{FF2B5EF4-FFF2-40B4-BE49-F238E27FC236}">
                <a16:creationId xmlns:a16="http://schemas.microsoft.com/office/drawing/2014/main" id="{EA324699-3273-9A3C-BAE3-A283F766063E}"/>
              </a:ext>
            </a:extLst>
          </p:cNvPr>
          <p:cNvSpPr txBox="1"/>
          <p:nvPr/>
        </p:nvSpPr>
        <p:spPr>
          <a:xfrm>
            <a:off x="8040215" y="4516669"/>
            <a:ext cx="3960439" cy="400110"/>
          </a:xfrm>
          <a:prstGeom prst="rect">
            <a:avLst/>
          </a:prstGeom>
          <a:solidFill>
            <a:schemeClr val="accent4">
              <a:lumMod val="20000"/>
              <a:lumOff val="80000"/>
            </a:schemeClr>
          </a:solidFill>
        </p:spPr>
        <p:txBody>
          <a:bodyPr wrap="square">
            <a:spAutoFit/>
          </a:bodyPr>
          <a:lstStyle/>
          <a:p>
            <a:pPr algn="ctr"/>
            <a:r>
              <a:rPr lang="en-IN" sz="2000" b="1" dirty="0">
                <a:latin typeface="Liberation Mono"/>
              </a:rPr>
              <a:t>see difference</a:t>
            </a:r>
            <a:endParaRPr lang="en-IN" sz="2000" b="1" dirty="0"/>
          </a:p>
        </p:txBody>
      </p:sp>
      <p:sp>
        <p:nvSpPr>
          <p:cNvPr id="7" name="Rectangle 6">
            <a:extLst>
              <a:ext uri="{FF2B5EF4-FFF2-40B4-BE49-F238E27FC236}">
                <a16:creationId xmlns:a16="http://schemas.microsoft.com/office/drawing/2014/main" id="{FBF2EA72-2F7A-FC5C-037A-91D6C29A96C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email and userName must be same.</a:t>
            </a:r>
          </a:p>
        </p:txBody>
      </p:sp>
    </p:spTree>
    <p:extLst>
      <p:ext uri="{BB962C8B-B14F-4D97-AF65-F5344CB8AC3E}">
        <p14:creationId xmlns:p14="http://schemas.microsoft.com/office/powerpoint/2010/main" val="184955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3" grpId="0" animBg="1"/>
    </p:bldLst>
  </p:timing>
</p:sld>
</file>

<file path=ppt/slides/slide3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786980"/>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3" name="Rectangle 1"/>
          <p:cNvSpPr>
            <a:spLocks noChangeArrowheads="1"/>
          </p:cNvSpPr>
          <p:nvPr/>
        </p:nvSpPr>
        <p:spPr bwMode="auto">
          <a:xfrm>
            <a:off x="437668" y="2343141"/>
            <a:ext cx="11205981" cy="461616"/>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chemeClr val="tx1">
                    <a:lumMod val="85000"/>
                    <a:lumOff val="15000"/>
                  </a:schemeClr>
                </a:solidFill>
                <a:latin typeface="Liberation Mono"/>
              </a:rPr>
              <a:t>value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8" name="Rectangle 7"/>
          <p:cNvSpPr/>
          <p:nvPr/>
        </p:nvSpPr>
        <p:spPr>
          <a:xfrm>
            <a:off x="431764" y="3212976"/>
            <a:ext cx="11568891"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'Accounts'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20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deptno,</a:t>
            </a:r>
            <a:r>
              <a:rPr lang="en-IN" dirty="0">
                <a:solidFill>
                  <a:srgbClr val="FF0000"/>
                </a:solidFill>
                <a:latin typeface="Liberation Mono"/>
                <a:cs typeface="Arial" panose="020B0604020202020204" pitchFamily="34" charset="0"/>
              </a:rPr>
              <a:t> </a:t>
            </a:r>
            <a:r>
              <a:rPr lang="en-IN" dirty="0">
                <a:solidFill>
                  <a:srgbClr val="DB7BC9"/>
                </a:solidFill>
                <a:latin typeface="Liberation Mono"/>
              </a:rPr>
              <a:t>CASE</a:t>
            </a:r>
            <a:r>
              <a:rPr lang="en-IN" dirty="0">
                <a:solidFill>
                  <a:srgbClr val="FF0000"/>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FF0000"/>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'Accounts' </a:t>
            </a:r>
            <a:r>
              <a:rPr lang="en-IN" dirty="0">
                <a:solidFill>
                  <a:srgbClr val="DB7BC9"/>
                </a:solidFill>
                <a:latin typeface="Liberation Mono"/>
              </a:rPr>
              <a:t>ELSE</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FF0000"/>
                </a:solidFill>
                <a:latin typeface="Liberation Mono"/>
                <a:ea typeface="Times New Roman" panose="02020603050405020304" pitchFamily="18" charset="0"/>
              </a:rPr>
              <a:t>  </a:t>
            </a:r>
            <a:r>
              <a:rPr lang="en-IN" i="1" dirty="0">
                <a:solidFill>
                  <a:schemeClr val="bg1">
                    <a:lumMod val="50000"/>
                  </a:schemeClr>
                </a:solidFill>
                <a:latin typeface="Liberation Mono"/>
              </a:rPr>
              <a:t>CASE</a:t>
            </a:r>
            <a:r>
              <a:rPr lang="en-IN" dirty="0">
                <a:solidFill>
                  <a:srgbClr val="FF0000"/>
                </a:solidFill>
                <a:latin typeface="Liberation Mono"/>
                <a:ea typeface="Times New Roman" panose="02020603050405020304" pitchFamily="18"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00B050"/>
                </a:solidFill>
                <a:latin typeface="Liberation Mono"/>
                <a:cs typeface="Arial" panose="020B0604020202020204" pitchFamily="34" charset="0"/>
              </a:rPr>
              <a:t># error</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amount </a:t>
            </a:r>
            <a:r>
              <a:rPr lang="en-IN" dirty="0">
                <a:solidFill>
                  <a:srgbClr val="0077AA"/>
                </a:solidFill>
                <a:latin typeface="Liberation Mono"/>
              </a:rPr>
              <a:t>FROM</a:t>
            </a:r>
            <a:r>
              <a:rPr lang="en-IN" dirty="0">
                <a:latin typeface="Liberation Mono"/>
              </a:rPr>
              <a:t> transactions;</a:t>
            </a:r>
          </a:p>
        </p:txBody>
      </p:sp>
      <p:sp>
        <p:nvSpPr>
          <p:cNvPr id="7" name="Rectangle 6"/>
          <p:cNvSpPr/>
          <p:nvPr/>
        </p:nvSpPr>
        <p:spPr>
          <a:xfrm>
            <a:off x="431765" y="1486525"/>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0" name="TextBox 9">
            <a:extLst>
              <a:ext uri="{FF2B5EF4-FFF2-40B4-BE49-F238E27FC236}">
                <a16:creationId xmlns:a16="http://schemas.microsoft.com/office/drawing/2014/main" id="{16B2FFD4-7EA4-4A9F-A69C-69220A97FD7B}"/>
              </a:ext>
            </a:extLst>
          </p:cNvPr>
          <p:cNvSpPr txBox="1"/>
          <p:nvPr/>
        </p:nvSpPr>
        <p:spPr>
          <a:xfrm>
            <a:off x="431764" y="5157192"/>
            <a:ext cx="11205981"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0</a:t>
            </a:r>
            <a:endParaRPr lang="en-IN" dirty="0">
              <a:solidFill>
                <a:srgbClr val="00B050"/>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NULL</a:t>
            </a:r>
            <a:endParaRPr lang="en-IN" dirty="0">
              <a:latin typeface="Liberation Mono"/>
            </a:endParaRPr>
          </a:p>
        </p:txBody>
      </p:sp>
    </p:spTree>
    <p:extLst>
      <p:ext uri="{BB962C8B-B14F-4D97-AF65-F5344CB8AC3E}">
        <p14:creationId xmlns:p14="http://schemas.microsoft.com/office/powerpoint/2010/main" val="640994360"/>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282924"/>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1" name="TextBox 10">
            <a:extLst>
              <a:ext uri="{FF2B5EF4-FFF2-40B4-BE49-F238E27FC236}">
                <a16:creationId xmlns:a16="http://schemas.microsoft.com/office/drawing/2014/main" id="{566E6AC5-00CE-45D4-8561-E99564A1E36A}"/>
              </a:ext>
            </a:extLst>
          </p:cNvPr>
          <p:cNvSpPr txBox="1"/>
          <p:nvPr/>
        </p:nvSpPr>
        <p:spPr>
          <a:xfrm>
            <a:off x="263352" y="3232715"/>
            <a:ext cx="11737303" cy="2000548"/>
          </a:xfrm>
          <a:prstGeom prst="rect">
            <a:avLst/>
          </a:prstGeom>
          <a:noFill/>
        </p:spPr>
        <p:txBody>
          <a:bodyPr wrap="square">
            <a:spAutoFit/>
          </a:bodyPr>
          <a:lstStyle/>
          <a:p>
            <a:pPr marL="171450" indent="-1714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'Sales'</a:t>
            </a:r>
            <a:r>
              <a:rPr lang="en-IN" dirty="0">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20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'Purchase'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companyName,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'USA'</a:t>
            </a:r>
            <a:r>
              <a:rPr lang="en-IN" dirty="0">
                <a:latin typeface="Liberation Mono"/>
              </a:rPr>
              <a:t>, </a:t>
            </a:r>
            <a:r>
              <a:rPr lang="en-IN" dirty="0">
                <a:solidFill>
                  <a:srgbClr val="669900"/>
                </a:solidFill>
                <a:latin typeface="Liberation Mono"/>
              </a:rPr>
              <a:t>'Canada'</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'North America' </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'Brazil'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'South America'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'Japan'</a:t>
            </a:r>
            <a:r>
              <a:rPr lang="en-IN" dirty="0">
                <a:latin typeface="Liberation Mono"/>
              </a:rPr>
              <a:t>,</a:t>
            </a:r>
            <a:r>
              <a:rPr lang="en-IN" dirty="0">
                <a:solidFill>
                  <a:srgbClr val="8BCD43"/>
                </a:solidFill>
                <a:latin typeface="Liberation Mono"/>
              </a:rPr>
              <a:t> </a:t>
            </a:r>
            <a:r>
              <a:rPr lang="en-IN" dirty="0">
                <a:solidFill>
                  <a:srgbClr val="669900"/>
                </a:solidFill>
                <a:latin typeface="Liberation Mono"/>
              </a:rPr>
              <a:t>'Singapore'</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'Asia'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'Europe'</a:t>
            </a:r>
            <a:r>
              <a:rPr lang="en-IN" dirty="0">
                <a:latin typeface="Liberation Mono"/>
              </a:rPr>
              <a:t> </a:t>
            </a:r>
            <a:r>
              <a:rPr lang="en-IN" dirty="0">
                <a:solidFill>
                  <a:srgbClr val="DB7BC9"/>
                </a:solidFill>
                <a:latin typeface="Liberation Mono"/>
              </a:rPr>
              <a:t>END</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a:t>
            </a:r>
            <a:r>
              <a:rPr lang="en-IN" i="1" dirty="0">
                <a:solidFill>
                  <a:schemeClr val="bg1">
                    <a:lumMod val="50000"/>
                  </a:schemeClr>
                </a:solidFill>
                <a:latin typeface="Liberation Mono"/>
              </a:rPr>
              <a:t>Continent </a:t>
            </a:r>
            <a:r>
              <a:rPr lang="en-IN" dirty="0">
                <a:solidFill>
                  <a:srgbClr val="0077AA"/>
                </a:solidFill>
                <a:latin typeface="Liberation Mono"/>
              </a:rPr>
              <a:t>FROM</a:t>
            </a:r>
            <a:r>
              <a:rPr lang="en-IN" dirty="0">
                <a:latin typeface="Liberation Mono"/>
              </a:rPr>
              <a:t> suppliers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companyName;</a:t>
            </a:r>
          </a:p>
          <a:p>
            <a:endParaRPr lang="en-IN" sz="8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hiredate,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669900"/>
                </a:solidFill>
                <a:latin typeface="Liberation Mono"/>
              </a:rPr>
              <a:t>'LEAP YEAR'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a:t>
            </a:r>
            <a:endParaRPr lang="en-IN" dirty="0">
              <a:latin typeface="Liberation Mono"/>
            </a:endParaRPr>
          </a:p>
        </p:txBody>
      </p:sp>
      <p:sp>
        <p:nvSpPr>
          <p:cNvPr id="13" name="Rectangle 1">
            <a:extLst>
              <a:ext uri="{FF2B5EF4-FFF2-40B4-BE49-F238E27FC236}">
                <a16:creationId xmlns:a16="http://schemas.microsoft.com/office/drawing/2014/main" id="{B843A51E-C394-4C55-A56C-2994E0421A3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
        <p:nvSpPr>
          <p:cNvPr id="14" name="Rectangle 13">
            <a:extLst>
              <a:ext uri="{FF2B5EF4-FFF2-40B4-BE49-F238E27FC236}">
                <a16:creationId xmlns:a16="http://schemas.microsoft.com/office/drawing/2014/main" id="{6DE727BB-D93B-4B4E-AE32-CB124C985F6E}"/>
              </a:ext>
            </a:extLst>
          </p:cNvPr>
          <p:cNvSpPr/>
          <p:nvPr/>
        </p:nvSpPr>
        <p:spPr>
          <a:xfrm>
            <a:off x="431765" y="982469"/>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Tree>
    <p:extLst>
      <p:ext uri="{BB962C8B-B14F-4D97-AF65-F5344CB8AC3E}">
        <p14:creationId xmlns:p14="http://schemas.microsoft.com/office/powerpoint/2010/main" val="3174307378"/>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grpSp>
        <p:nvGrpSpPr>
          <p:cNvPr id="4" name="Group 3">
            <a:extLst>
              <a:ext uri="{FF2B5EF4-FFF2-40B4-BE49-F238E27FC236}">
                <a16:creationId xmlns:a16="http://schemas.microsoft.com/office/drawing/2014/main" id="{FBB71B1E-C689-4E04-BCE6-87968790C9E9}"/>
              </a:ext>
            </a:extLst>
          </p:cNvPr>
          <p:cNvGrpSpPr/>
          <p:nvPr/>
        </p:nvGrpSpPr>
        <p:grpSpPr>
          <a:xfrm>
            <a:off x="229908" y="2998810"/>
            <a:ext cx="11783320" cy="3454526"/>
            <a:chOff x="229908" y="2780928"/>
            <a:chExt cx="11783320" cy="3454526"/>
          </a:xfrm>
        </p:grpSpPr>
        <p:sp>
          <p:nvSpPr>
            <p:cNvPr id="9" name="TextBox 8">
              <a:extLst>
                <a:ext uri="{FF2B5EF4-FFF2-40B4-BE49-F238E27FC236}">
                  <a16:creationId xmlns:a16="http://schemas.microsoft.com/office/drawing/2014/main" id="{6B695BF1-E433-4BCA-B291-BB9B3CBDB21B}"/>
                </a:ext>
              </a:extLst>
            </p:cNvPr>
            <p:cNvSpPr txBox="1"/>
            <p:nvPr/>
          </p:nvSpPr>
          <p:spPr>
            <a:xfrm>
              <a:off x="229909" y="2780928"/>
              <a:ext cx="5669944" cy="1754326"/>
            </a:xfrm>
            <a:prstGeom prst="rect">
              <a:avLst/>
            </a:prstGeom>
            <a:noFill/>
          </p:spPr>
          <p:txBody>
            <a:bodyPr wrap="square">
              <a:spAutoFit/>
            </a:bodyPr>
            <a:lstStyle/>
            <a:p>
              <a:r>
                <a:rPr lang="en-US" b="1" i="0" dirty="0">
                  <a:solidFill>
                    <a:srgbClr val="2658E6"/>
                  </a:solidFill>
                  <a:effectLst/>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Count</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r>
                <a:rPr lang="en-US" dirty="0">
                  <a:solidFill>
                    <a:srgbClr val="333333"/>
                  </a:solidFill>
                  <a:latin typeface="Courier New" panose="02070309020205020404" pitchFamily="49" charset="0"/>
                  <a:cs typeface="Courier New" panose="02070309020205020404" pitchFamily="49" charset="0"/>
                </a:rPr>
                <a:t>custID</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p>
            <a:p>
              <a:pPr marL="273050"/>
              <a:r>
                <a:rPr lang="en-US" b="1" i="0" dirty="0">
                  <a:solidFill>
                    <a:srgbClr val="333333"/>
                  </a:solidFill>
                  <a:effectLst/>
                  <a:latin typeface="Courier New" panose="02070309020205020404" pitchFamily="49" charset="0"/>
                  <a:cs typeface="Courier New" panose="02070309020205020404" pitchFamily="49" charset="0"/>
                </a:rPr>
                <a:t>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r>
                <a:rPr lang="en-US" b="0" i="0" dirty="0">
                  <a:solidFill>
                    <a:srgbClr val="333333"/>
                  </a:solidFill>
                  <a:effectLst/>
                  <a:latin typeface="Courier New" panose="02070309020205020404" pitchFamily="49" charset="0"/>
                  <a:cs typeface="Courier New" panose="02070309020205020404" pitchFamily="49" charset="0"/>
                </a:rPr>
                <a:t> orderCount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1</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'One-time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2</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'Repeated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3</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'Frequent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IN" dirty="0">
                  <a:solidFill>
                    <a:srgbClr val="DB7BC9"/>
                  </a:solidFill>
                  <a:latin typeface="Courier New" panose="02070309020205020404" pitchFamily="49" charset="0"/>
                  <a:cs typeface="Courier New" panose="02070309020205020404" pitchFamily="49" charset="0"/>
                </a:rPr>
                <a:t>ELSE</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'Loyal Customer'</a:t>
              </a:r>
              <a:r>
                <a:rPr lang="en-US" b="0" i="0" dirty="0">
                  <a:solidFill>
                    <a:srgbClr val="333333"/>
                  </a:solidFill>
                  <a:effectLst/>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US" b="0" i="0" dirty="0">
                  <a:solidFill>
                    <a:srgbClr val="333333"/>
                  </a:solidFill>
                  <a:effectLst/>
                  <a:latin typeface="Courier New" panose="02070309020205020404" pitchFamily="49" charset="0"/>
                  <a:cs typeface="Courier New" panose="02070309020205020404" pitchFamily="49" charset="0"/>
                </a:rPr>
                <a:t> customerType</a:t>
              </a:r>
              <a:endParaRPr lang="en-IN" dirty="0">
                <a:latin typeface="Courier New" panose="02070309020205020404" pitchFamily="49" charset="0"/>
                <a:cs typeface="Courier New" panose="02070309020205020404" pitchFamily="49" charset="0"/>
              </a:endParaRPr>
            </a:p>
          </p:txBody>
        </p:sp>
        <p:sp>
          <p:nvSpPr>
            <p:cNvPr id="10" name="TextBox 9">
              <a:extLst>
                <a:ext uri="{FF2B5EF4-FFF2-40B4-BE49-F238E27FC236}">
                  <a16:creationId xmlns:a16="http://schemas.microsoft.com/office/drawing/2014/main" id="{3664712D-F969-4DB9-AA4D-B9415FA53AF0}"/>
                </a:ext>
              </a:extLst>
            </p:cNvPr>
            <p:cNvSpPr txBox="1"/>
            <p:nvPr/>
          </p:nvSpPr>
          <p:spPr>
            <a:xfrm>
              <a:off x="6493291" y="2996952"/>
              <a:ext cx="5519937" cy="923330"/>
            </a:xfrm>
            <a:prstGeom prst="rect">
              <a:avLst/>
            </a:prstGeom>
            <a:noFill/>
          </p:spPr>
          <p:txBody>
            <a:bodyPr wrap="square">
              <a:spAutoFit/>
            </a:bodyPr>
            <a:lstStyle/>
            <a:p>
              <a:pPr marL="273050" indent="-273050"/>
              <a:r>
                <a:rPr lang="en-US" b="1" dirty="0">
                  <a:solidFill>
                    <a:srgbClr val="2658E6"/>
                  </a:solidFill>
                  <a:latin typeface="Courier New" panose="02070309020205020404" pitchFamily="49" charset="0"/>
                </a:rPr>
                <a:t>*</a:t>
              </a:r>
              <a:r>
                <a:rPr lang="en-US" b="1" i="0" dirty="0">
                  <a:solidFill>
                    <a:srgbClr val="333333"/>
                  </a:solidFill>
                  <a:effectLst/>
                  <a:latin typeface="Courier New" panose="02070309020205020404" pitchFamily="49" charset="0"/>
                </a:rPr>
                <a:t> ORDER</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BY</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FIELD</a:t>
              </a:r>
              <a:r>
                <a:rPr lang="en-US" b="0" i="0" dirty="0">
                  <a:solidFill>
                    <a:srgbClr val="333333"/>
                  </a:solidFill>
                  <a:effectLst/>
                  <a:latin typeface="Courier New" panose="02070309020205020404" pitchFamily="49" charset="0"/>
                </a:rPr>
                <a:t>(</a:t>
              </a:r>
              <a:r>
                <a:rPr lang="en-US" dirty="0">
                  <a:solidFill>
                    <a:srgbClr val="333333"/>
                  </a:solidFill>
                  <a:latin typeface="Courier New" panose="02070309020205020404" pitchFamily="49" charset="0"/>
                </a:rPr>
                <a:t>status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'In Process'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'On Hold'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'Cancelled'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'Resolved'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'Disputed'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'Shipped'</a:t>
              </a:r>
              <a:r>
                <a:rPr lang="en-US" b="0" i="0" dirty="0">
                  <a:solidFill>
                    <a:schemeClr val="bg1">
                      <a:lumMod val="50000"/>
                    </a:schemeClr>
                  </a:solidFill>
                  <a:effectLst/>
                  <a:latin typeface="Courier New" panose="02070309020205020404" pitchFamily="49" charset="0"/>
                </a:rPr>
                <a:t>)</a:t>
              </a:r>
              <a:r>
                <a:rPr lang="en-US" b="0" i="0" dirty="0">
                  <a:solidFill>
                    <a:srgbClr val="333333"/>
                  </a:solidFill>
                  <a:effectLst/>
                  <a:latin typeface="Courier New" panose="02070309020205020404" pitchFamily="49" charset="0"/>
                </a:rPr>
                <a:t>;</a:t>
              </a:r>
              <a:endParaRPr lang="en-IN" dirty="0"/>
            </a:p>
          </p:txBody>
        </p:sp>
        <p:sp>
          <p:nvSpPr>
            <p:cNvPr id="3" name="TextBox 2">
              <a:extLst>
                <a:ext uri="{FF2B5EF4-FFF2-40B4-BE49-F238E27FC236}">
                  <a16:creationId xmlns:a16="http://schemas.microsoft.com/office/drawing/2014/main" id="{7F21C730-A534-4121-9137-1C5B92043DB6}"/>
                </a:ext>
              </a:extLst>
            </p:cNvPr>
            <p:cNvSpPr txBox="1"/>
            <p:nvPr/>
          </p:nvSpPr>
          <p:spPr>
            <a:xfrm>
              <a:off x="229908" y="4758126"/>
              <a:ext cx="5468802" cy="1477328"/>
            </a:xfrm>
            <a:prstGeom prst="rect">
              <a:avLst/>
            </a:prstGeom>
            <a:noFill/>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'Debit'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1</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'Credit'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2</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'Total'</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END</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transactionType</a:t>
              </a:r>
              <a:r>
                <a:rPr lang="en-US" b="1" i="0" dirty="0">
                  <a:solidFill>
                    <a:srgbClr val="333333"/>
                  </a:solidFill>
                  <a:effectLst/>
                  <a:latin typeface="Courier New" panose="02070309020205020404" pitchFamily="49" charset="0"/>
                  <a:cs typeface="Courier New" panose="02070309020205020404" pitchFamily="49" charset="0"/>
                </a:rPr>
                <a:t>;</a:t>
              </a:r>
              <a:endParaRPr lang="en-IN" dirty="0">
                <a:latin typeface="Courier New" panose="02070309020205020404" pitchFamily="49" charset="0"/>
                <a:cs typeface="Courier New" panose="02070309020205020404" pitchFamily="49" charset="0"/>
              </a:endParaRPr>
            </a:p>
          </p:txBody>
        </p:sp>
        <p:sp>
          <p:nvSpPr>
            <p:cNvPr id="2" name="Rectangle 1">
              <a:extLst>
                <a:ext uri="{FF2B5EF4-FFF2-40B4-BE49-F238E27FC236}">
                  <a16:creationId xmlns:a16="http://schemas.microsoft.com/office/drawing/2014/main" id="{70798494-B9FF-49BB-8E27-7863E32EF917}"/>
                </a:ext>
              </a:extLst>
            </p:cNvPr>
            <p:cNvSpPr/>
            <p:nvPr/>
          </p:nvSpPr>
          <p:spPr>
            <a:xfrm>
              <a:off x="6493291" y="4344311"/>
              <a:ext cx="5341166" cy="1754326"/>
            </a:xfrm>
            <a:prstGeom prst="rect">
              <a:avLst/>
            </a:prstGeom>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 </a:t>
              </a:r>
              <a:r>
                <a:rPr lang="en-IN" b="1" dirty="0">
                  <a:solidFill>
                    <a:srgbClr val="333333"/>
                  </a:solidFill>
                  <a:latin typeface="Courier New" panose="02070309020205020404" pitchFamily="49" charset="0"/>
                  <a:cs typeface="Courier New" panose="02070309020205020404" pitchFamily="49" charset="0"/>
                </a:rPr>
                <a:t>ORDER BY </a:t>
              </a:r>
              <a:r>
                <a:rPr lang="en-IN" dirty="0">
                  <a:solidFill>
                    <a:srgbClr val="DB7BC9"/>
                  </a:solidFill>
                  <a:latin typeface="Courier New" panose="02070309020205020404" pitchFamily="49" charset="0"/>
                  <a:cs typeface="Courier New" panose="02070309020205020404" pitchFamily="49" charset="0"/>
                </a:rPr>
                <a:t>CASE</a:t>
              </a:r>
              <a:r>
                <a:rPr lang="en-IN" b="1" dirty="0">
                  <a:solidFill>
                    <a:srgbClr val="333333"/>
                  </a:solidFill>
                  <a:latin typeface="Courier New" panose="02070309020205020404" pitchFamily="49" charset="0"/>
                  <a:cs typeface="Courier New" panose="02070309020205020404" pitchFamily="49" charset="0"/>
                </a:rPr>
                <a:t> </a:t>
              </a:r>
              <a:r>
                <a:rPr lang="en-IN" dirty="0">
                  <a:solidFill>
                    <a:srgbClr val="333333"/>
                  </a:solidFill>
                  <a:latin typeface="Courier New" panose="02070309020205020404" pitchFamily="49" charset="0"/>
                  <a:cs typeface="Courier New" panose="02070309020205020404" pitchFamily="49" charset="0"/>
                </a:rPr>
                <a:t>status</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'active'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1</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'approved'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2</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'rejected'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'submitted'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4</a:t>
              </a:r>
            </a:p>
            <a:p>
              <a:pPr marL="273050"/>
              <a:r>
                <a:rPr lang="en-IN" dirty="0">
                  <a:solidFill>
                    <a:srgbClr val="DB7BC9"/>
                  </a:solidFill>
                  <a:latin typeface="Courier New" panose="02070309020205020404" pitchFamily="49" charset="0"/>
                  <a:cs typeface="Courier New" panose="02070309020205020404" pitchFamily="49" charset="0"/>
                </a:rPr>
                <a:t>ELSE</a:t>
              </a:r>
              <a:r>
                <a:rPr lang="en-IN" dirty="0">
                  <a:latin typeface="Courier New" panose="02070309020205020404" pitchFamily="49" charset="0"/>
                  <a:cs typeface="Courier New" panose="02070309020205020404" pitchFamily="49" charset="0"/>
                </a:rPr>
                <a:t> </a:t>
              </a:r>
              <a:r>
                <a:rPr lang="en-IN" dirty="0">
                  <a:solidFill>
                    <a:srgbClr val="DD1144"/>
                  </a:solidFill>
                  <a:latin typeface="Courier New" panose="02070309020205020404" pitchFamily="49" charset="0"/>
                  <a:cs typeface="Courier New" panose="02070309020205020404" pitchFamily="49" charset="0"/>
                </a:rPr>
                <a:t>5</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IN" b="1" dirty="0">
                  <a:solidFill>
                    <a:srgbClr val="333333"/>
                  </a:solidFill>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statusType</a:t>
              </a:r>
              <a:endParaRPr lang="en-IN" b="1" dirty="0">
                <a:solidFill>
                  <a:srgbClr val="333333"/>
                </a:solidFill>
                <a:latin typeface="Courier New" panose="02070309020205020404" pitchFamily="49" charset="0"/>
                <a:cs typeface="Courier New" panose="02070309020205020404" pitchFamily="49" charset="0"/>
              </a:endParaRPr>
            </a:p>
          </p:txBody>
        </p:sp>
      </p:grpSp>
      <p:sp>
        <p:nvSpPr>
          <p:cNvPr id="5" name="Rectangle 1">
            <a:extLst>
              <a:ext uri="{FF2B5EF4-FFF2-40B4-BE49-F238E27FC236}">
                <a16:creationId xmlns:a16="http://schemas.microsoft.com/office/drawing/2014/main" id="{D1B29C5E-4CF9-7591-B770-4FC0FAF0CDF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092956502"/>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2" name="TextBox 11">
            <a:extLst>
              <a:ext uri="{FF2B5EF4-FFF2-40B4-BE49-F238E27FC236}">
                <a16:creationId xmlns:a16="http://schemas.microsoft.com/office/drawing/2014/main" id="{E81A9CA1-3B56-411C-9FCC-DC337EC500D4}"/>
              </a:ext>
            </a:extLst>
          </p:cNvPr>
          <p:cNvSpPr txBox="1"/>
          <p:nvPr/>
        </p:nvSpPr>
        <p:spPr>
          <a:xfrm>
            <a:off x="431764" y="3239105"/>
            <a:ext cx="1070479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cnum, 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8BCD43"/>
                </a:solidFill>
                <a:latin typeface="Liberation Mono"/>
              </a:rPr>
              <a:t>'</a:t>
            </a:r>
            <a:r>
              <a:rPr lang="en-IN" dirty="0">
                <a:solidFill>
                  <a:srgbClr val="669900"/>
                </a:solidFill>
                <a:latin typeface="Liberation Mono"/>
              </a:rPr>
              <a:t>one-time-custome</a:t>
            </a:r>
            <a:r>
              <a:rPr lang="en-IN" dirty="0">
                <a:solidFill>
                  <a:srgbClr val="8BCD43"/>
                </a:solidFill>
                <a:latin typeface="Liberation Mono"/>
              </a:rPr>
              <a:t>r'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'repeated-customer</a:t>
            </a:r>
            <a:r>
              <a:rPr lang="en-IN" dirty="0">
                <a:solidFill>
                  <a:srgbClr val="8BCD43"/>
                </a:solidFill>
                <a:latin typeface="Liberation Mono"/>
              </a:rPr>
              <a:t>'</a:t>
            </a:r>
            <a:endParaRPr lang="en-IN" dirty="0">
              <a:solidFill>
                <a:srgbClr val="669900"/>
              </a:solidFill>
              <a:latin typeface="Liberation Mono"/>
            </a:endParaRP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'frequent-customer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'loyal-customer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"Customer Report" </a:t>
            </a:r>
          </a:p>
          <a:p>
            <a:pPr marL="273050"/>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cnum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2" name="Rectangle 1">
            <a:extLst>
              <a:ext uri="{FF2B5EF4-FFF2-40B4-BE49-F238E27FC236}">
                <a16:creationId xmlns:a16="http://schemas.microsoft.com/office/drawing/2014/main" id="{D838231F-6BCD-F85A-C59D-715044658EC2}"/>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435264523"/>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4117BB2C-FFB1-4E46-AAA8-BD0BB8F6D8D1}"/>
              </a:ext>
            </a:extLst>
          </p:cNvPr>
          <p:cNvSpPr txBox="1"/>
          <p:nvPr/>
        </p:nvSpPr>
        <p:spPr>
          <a:xfrm>
            <a:off x="17877" y="32136"/>
            <a:ext cx="609372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DATEDIFF</a:t>
            </a:r>
            <a:r>
              <a:rPr lang="en-IN" dirty="0">
                <a:solidFill>
                  <a:schemeClr val="bg1">
                    <a:lumMod val="65000"/>
                  </a:schemeClr>
                </a:solidFill>
                <a:latin typeface="Liberation Mono"/>
              </a:rPr>
              <a:t>(</a:t>
            </a:r>
            <a:r>
              <a:rPr lang="en-IN" dirty="0">
                <a:solidFill>
                  <a:srgbClr val="3F6971"/>
                </a:solidFill>
                <a:latin typeface="Liberation Mono"/>
              </a:rPr>
              <a:t>CURDATE</a:t>
            </a:r>
            <a:r>
              <a:rPr lang="en-IN" dirty="0">
                <a:solidFill>
                  <a:schemeClr val="bg1">
                    <a:lumMod val="65000"/>
                  </a:schemeClr>
                </a:solidFill>
                <a:latin typeface="Liberation Mono"/>
              </a:rPr>
              <a:t>()</a:t>
            </a:r>
            <a:r>
              <a:rPr lang="en-IN" dirty="0">
                <a:latin typeface="Liberation Mono"/>
              </a:rPr>
              <a:t>, hiredate</a:t>
            </a:r>
            <a:r>
              <a:rPr lang="en-IN" dirty="0">
                <a:solidFill>
                  <a:schemeClr val="bg1">
                    <a:lumMod val="65000"/>
                  </a:schemeClr>
                </a:solidFill>
                <a:latin typeface="Liberation Mono"/>
              </a:rPr>
              <a:t>)</a:t>
            </a:r>
            <a:r>
              <a:rPr lang="en-IN" dirty="0">
                <a:latin typeface="Liberation Mono"/>
              </a:rPr>
              <a:t> / 365.25</a:t>
            </a:r>
          </a:p>
        </p:txBody>
      </p:sp>
    </p:spTree>
    <p:extLst>
      <p:ext uri="{BB962C8B-B14F-4D97-AF65-F5344CB8AC3E}">
        <p14:creationId xmlns:p14="http://schemas.microsoft.com/office/powerpoint/2010/main" val="4056843844"/>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C645075-6B22-433F-9CDF-EFDF6754175B}"/>
              </a:ext>
            </a:extLst>
          </p:cNvPr>
          <p:cNvSpPr/>
          <p:nvPr/>
        </p:nvSpPr>
        <p:spPr>
          <a:xfrm>
            <a:off x="361539" y="832104"/>
            <a:ext cx="10991045" cy="830997"/>
          </a:xfrm>
          <a:prstGeom prst="rect">
            <a:avLst/>
          </a:prstGeom>
        </p:spPr>
        <p:txBody>
          <a:bodyPr wrap="square">
            <a:spAutoFit/>
          </a:bodyPr>
          <a:lstStyle/>
          <a:p>
            <a:r>
              <a:rPr lang="en-IN" sz="2000" dirty="0">
                <a:solidFill>
                  <a:srgbClr val="222222"/>
                </a:solidFill>
                <a:latin typeface="arial" panose="020B0604020202020204" pitchFamily="34" charset="0"/>
              </a:rPr>
              <a:t>In MySQL, the </a:t>
            </a:r>
            <a:r>
              <a:rPr lang="en-IN" sz="2400" b="1" dirty="0">
                <a:solidFill>
                  <a:srgbClr val="365860"/>
                </a:solidFill>
                <a:latin typeface="arial" panose="020B0604020202020204" pitchFamily="34" charset="0"/>
              </a:rPr>
              <a:t>NOW()</a:t>
            </a:r>
            <a:r>
              <a:rPr lang="en-IN" sz="2000" dirty="0">
                <a:solidFill>
                  <a:srgbClr val="222222"/>
                </a:solidFill>
                <a:latin typeface="arial" panose="020B0604020202020204" pitchFamily="34" charset="0"/>
              </a:rPr>
              <a:t> function returns a default value for a </a:t>
            </a:r>
            <a:r>
              <a:rPr lang="en-IN" sz="2000" b="1" dirty="0">
                <a:solidFill>
                  <a:srgbClr val="222222"/>
                </a:solidFill>
                <a:latin typeface="arial" panose="020B0604020202020204" pitchFamily="34" charset="0"/>
              </a:rPr>
              <a:t>DATETIME</a:t>
            </a:r>
            <a:r>
              <a:rPr lang="en-IN" sz="2000" dirty="0">
                <a:solidFill>
                  <a:srgbClr val="222222"/>
                </a:solidFill>
                <a:latin typeface="arial" panose="020B0604020202020204" pitchFamily="34" charset="0"/>
              </a:rPr>
              <a:t>.</a:t>
            </a:r>
          </a:p>
          <a:p>
            <a:r>
              <a:rPr lang="en-IN" sz="2000" dirty="0"/>
              <a:t>MySQL inserts the current </a:t>
            </a:r>
            <a:r>
              <a:rPr lang="en-IN" sz="2400" b="1" dirty="0">
                <a:solidFill>
                  <a:srgbClr val="222222"/>
                </a:solidFill>
                <a:latin typeface="arial" panose="020B0604020202020204" pitchFamily="34" charset="0"/>
              </a:rPr>
              <a:t>date and time </a:t>
            </a:r>
            <a:r>
              <a:rPr lang="en-IN" sz="2000" dirty="0"/>
              <a:t>into the column whose default value is NOW().</a:t>
            </a:r>
          </a:p>
        </p:txBody>
      </p:sp>
      <p:sp>
        <p:nvSpPr>
          <p:cNvPr id="11" name="Rectangle 10">
            <a:extLst>
              <a:ext uri="{FF2B5EF4-FFF2-40B4-BE49-F238E27FC236}">
                <a16:creationId xmlns:a16="http://schemas.microsoft.com/office/drawing/2014/main" id="{961CCC7D-CA0A-477F-BF37-26C1C3D74B94}"/>
              </a:ext>
            </a:extLst>
          </p:cNvPr>
          <p:cNvSpPr/>
          <p:nvPr/>
        </p:nvSpPr>
        <p:spPr>
          <a:xfrm>
            <a:off x="335361" y="2165955"/>
            <a:ext cx="11017224"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CURDATE()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current date in 'YYYY-MM-DD'. </a:t>
            </a:r>
            <a:r>
              <a:rPr lang="en-IN" sz="2400" b="1" dirty="0">
                <a:solidFill>
                  <a:srgbClr val="222222"/>
                </a:solidFill>
                <a:latin typeface="Arial" panose="020B0604020202020204" pitchFamily="34" charset="0"/>
                <a:cs typeface="Arial" panose="020B0604020202020204" pitchFamily="34" charset="0"/>
              </a:rPr>
              <a:t>CURRENT_DATE()</a:t>
            </a:r>
            <a:r>
              <a:rPr lang="en-IN" dirty="0">
                <a:latin typeface="Arial" panose="020B0604020202020204" pitchFamily="34" charset="0"/>
                <a:cs typeface="Arial" panose="020B0604020202020204" pitchFamily="34" charset="0"/>
              </a:rPr>
              <a:t> and </a:t>
            </a:r>
            <a:r>
              <a:rPr lang="en-IN" sz="2400" b="1" dirty="0">
                <a:solidFill>
                  <a:srgbClr val="222222"/>
                </a:solidFill>
                <a:latin typeface="Arial" panose="020B0604020202020204" pitchFamily="34" charset="0"/>
                <a:cs typeface="Arial" panose="020B0604020202020204" pitchFamily="34" charset="0"/>
              </a:rPr>
              <a:t>CURRENT_DATE </a:t>
            </a:r>
            <a:r>
              <a:rPr lang="en-IN" dirty="0">
                <a:latin typeface="Arial" panose="020B0604020202020204" pitchFamily="34" charset="0"/>
                <a:cs typeface="Arial" panose="020B0604020202020204" pitchFamily="34" charset="0"/>
              </a:rPr>
              <a:t>are the </a:t>
            </a:r>
            <a:r>
              <a:rPr lang="en-IN" b="1" dirty="0">
                <a:solidFill>
                  <a:schemeClr val="accent5">
                    <a:lumMod val="50000"/>
                  </a:schemeClr>
                </a:solidFill>
                <a:latin typeface="Arial" panose="020B0604020202020204" pitchFamily="34" charset="0"/>
                <a:cs typeface="Arial" panose="020B0604020202020204" pitchFamily="34" charset="0"/>
              </a:rPr>
              <a:t>synonym of CURDATE().</a:t>
            </a:r>
          </a:p>
        </p:txBody>
      </p:sp>
      <p:sp>
        <p:nvSpPr>
          <p:cNvPr id="12" name="Rectangle 11">
            <a:extLst>
              <a:ext uri="{FF2B5EF4-FFF2-40B4-BE49-F238E27FC236}">
                <a16:creationId xmlns:a16="http://schemas.microsoft.com/office/drawing/2014/main" id="{7673DD00-0940-4D85-BBE3-FD3FACDF5E16}"/>
              </a:ext>
            </a:extLst>
          </p:cNvPr>
          <p:cNvSpPr/>
          <p:nvPr/>
        </p:nvSpPr>
        <p:spPr>
          <a:xfrm>
            <a:off x="372875" y="3534107"/>
            <a:ext cx="10979709"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CURTIME()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value of current time in 'HH:MM:SS'. </a:t>
            </a:r>
            <a:r>
              <a:rPr lang="en-IN" sz="2400" b="1" dirty="0">
                <a:solidFill>
                  <a:srgbClr val="222222"/>
                </a:solidFill>
                <a:latin typeface="Arial" panose="020B0604020202020204" pitchFamily="34" charset="0"/>
                <a:cs typeface="Arial" panose="020B0604020202020204" pitchFamily="34" charset="0"/>
              </a:rPr>
              <a:t>CURRENT_TIME() </a:t>
            </a:r>
            <a:r>
              <a:rPr lang="en-IN" dirty="0">
                <a:latin typeface="Arial" panose="020B0604020202020204" pitchFamily="34" charset="0"/>
                <a:cs typeface="Arial" panose="020B0604020202020204" pitchFamily="34" charset="0"/>
              </a:rPr>
              <a:t>and </a:t>
            </a:r>
            <a:r>
              <a:rPr lang="en-IN" sz="2400" b="1" dirty="0">
                <a:solidFill>
                  <a:srgbClr val="222222"/>
                </a:solidFill>
                <a:latin typeface="Arial" panose="020B0604020202020204" pitchFamily="34" charset="0"/>
                <a:cs typeface="Arial" panose="020B0604020202020204" pitchFamily="34" charset="0"/>
              </a:rPr>
              <a:t>CURRENT_TIME</a:t>
            </a:r>
            <a:r>
              <a:rPr lang="en-IN" dirty="0">
                <a:latin typeface="Arial" panose="020B0604020202020204" pitchFamily="34" charset="0"/>
                <a:cs typeface="Arial" panose="020B0604020202020204" pitchFamily="34" charset="0"/>
              </a:rPr>
              <a:t> are the </a:t>
            </a:r>
            <a:r>
              <a:rPr lang="en-IN" b="1" dirty="0">
                <a:solidFill>
                  <a:schemeClr val="accent5">
                    <a:lumMod val="50000"/>
                  </a:schemeClr>
                </a:solidFill>
                <a:latin typeface="Arial" panose="020B0604020202020204" pitchFamily="34" charset="0"/>
                <a:cs typeface="Arial" panose="020B0604020202020204" pitchFamily="34" charset="0"/>
              </a:rPr>
              <a:t>synonym of CURTIME().</a:t>
            </a:r>
          </a:p>
        </p:txBody>
      </p:sp>
      <p:sp>
        <p:nvSpPr>
          <p:cNvPr id="14" name="Rectangle 13">
            <a:extLst>
              <a:ext uri="{FF2B5EF4-FFF2-40B4-BE49-F238E27FC236}">
                <a16:creationId xmlns:a16="http://schemas.microsoft.com/office/drawing/2014/main" id="{ED63938C-F487-42A1-A9C7-19557F724503}"/>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Tree>
    <p:extLst>
      <p:ext uri="{BB962C8B-B14F-4D97-AF65-F5344CB8AC3E}">
        <p14:creationId xmlns:p14="http://schemas.microsoft.com/office/powerpoint/2010/main" val="4025255439"/>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49EC6C6-89AB-46D0-9099-F48CF6A1136C}"/>
              </a:ext>
            </a:extLst>
          </p:cNvPr>
          <p:cNvSpPr/>
          <p:nvPr/>
        </p:nvSpPr>
        <p:spPr>
          <a:xfrm>
            <a:off x="769256" y="2132856"/>
            <a:ext cx="9898744"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SYSDATE</a:t>
            </a:r>
            <a:r>
              <a:rPr lang="en-IN" dirty="0">
                <a:solidFill>
                  <a:srgbClr val="3F6971"/>
                </a:solidFill>
                <a:latin typeface="Liberation Mono"/>
              </a:rPr>
              <a:t>()		</a:t>
            </a:r>
            <a:endParaRPr lang="en-IN" dirty="0">
              <a:solidFill>
                <a:srgbClr val="0077AA"/>
              </a:solidFill>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CURDATE()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CURTIME()</a:t>
            </a:r>
          </a:p>
        </p:txBody>
      </p:sp>
      <p:sp>
        <p:nvSpPr>
          <p:cNvPr id="6" name="Rectangle 5">
            <a:extLst>
              <a:ext uri="{FF2B5EF4-FFF2-40B4-BE49-F238E27FC236}">
                <a16:creationId xmlns:a16="http://schemas.microsoft.com/office/drawing/2014/main" id="{FACEA2A4-E385-40A5-9309-93A5B692056F}"/>
              </a:ext>
            </a:extLst>
          </p:cNvPr>
          <p:cNvSpPr/>
          <p:nvPr/>
        </p:nvSpPr>
        <p:spPr>
          <a:xfrm>
            <a:off x="769256" y="3933056"/>
            <a:ext cx="9898744" cy="1046440"/>
          </a:xfrm>
          <a:prstGeom prst="rect">
            <a:avLst/>
          </a:prstGeom>
        </p:spPr>
        <p:txBody>
          <a:bodyPr wrap="square">
            <a:spAutoFit/>
          </a:bodyPr>
          <a:lstStyle/>
          <a:p>
            <a:r>
              <a:rPr lang="en-IN" b="1" i="1" dirty="0">
                <a:latin typeface="Arial" panose="020B0604020202020204" pitchFamily="34" charset="0"/>
                <a:cs typeface="Arial" panose="020B0604020202020204" pitchFamily="34" charset="0"/>
              </a:rPr>
              <a:t>Result in something like this:</a:t>
            </a:r>
          </a:p>
          <a:p>
            <a:endParaRPr lang="en-IN" sz="800" b="1" i="1" dirty="0">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SYSDATE() 		    NOW()		         CURDATE()		    CURTIME()</a:t>
            </a:r>
          </a:p>
          <a:p>
            <a:r>
              <a:rPr lang="en-IN" dirty="0">
                <a:latin typeface="Arial" panose="020B0604020202020204" pitchFamily="34" charset="0"/>
                <a:cs typeface="Arial" panose="020B0604020202020204" pitchFamily="34" charset="0"/>
              </a:rPr>
              <a:t>2017-02-11 10:22:31	    2017-02-11 10:22:31 </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2017-02-11</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10:22:31</a:t>
            </a:r>
          </a:p>
        </p:txBody>
      </p:sp>
      <p:sp>
        <p:nvSpPr>
          <p:cNvPr id="7" name="Rectangle 6">
            <a:extLst>
              <a:ext uri="{FF2B5EF4-FFF2-40B4-BE49-F238E27FC236}">
                <a16:creationId xmlns:a16="http://schemas.microsoft.com/office/drawing/2014/main" id="{F91F6CB4-1269-4F04-9976-91FB5EA3ED8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
        <p:nvSpPr>
          <p:cNvPr id="8" name="Rectangle 7">
            <a:extLst>
              <a:ext uri="{FF2B5EF4-FFF2-40B4-BE49-F238E27FC236}">
                <a16:creationId xmlns:a16="http://schemas.microsoft.com/office/drawing/2014/main" id="{921680C5-CDBE-4D3C-8BFA-C041BA091413}"/>
              </a:ext>
            </a:extLst>
          </p:cNvPr>
          <p:cNvSpPr/>
          <p:nvPr/>
        </p:nvSpPr>
        <p:spPr>
          <a:xfrm>
            <a:off x="335360" y="703183"/>
            <a:ext cx="11305256" cy="1323439"/>
          </a:xfrm>
          <a:prstGeom prst="rect">
            <a:avLst/>
          </a:prstGeom>
        </p:spPr>
        <p:txBody>
          <a:bodyPr wrap="square">
            <a:spAutoFit/>
          </a:bodyPr>
          <a:lstStyle/>
          <a:p>
            <a:r>
              <a:rPr lang="en-US" sz="2000" dirty="0">
                <a:latin typeface="Arial" panose="020B0604020202020204" pitchFamily="34" charset="0"/>
                <a:cs typeface="Arial" panose="020B0604020202020204" pitchFamily="34" charset="0"/>
              </a:rPr>
              <a:t>NOW() returns a constant time that indicates the time at which the statement began to execute. (Within a stored function or trigger, NOW() returns the time at which the function or triggering statement began to execute.) This differs from the behavior for SYSDATE(), which returns the exact time at which it executes.</a:t>
            </a:r>
            <a:endParaRPr lang="en-IN" sz="2000"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4D514CF0-C534-45A2-89A5-B95B35022260}"/>
              </a:ext>
            </a:extLst>
          </p:cNvPr>
          <p:cNvSpPr txBox="1"/>
          <p:nvPr/>
        </p:nvSpPr>
        <p:spPr>
          <a:xfrm>
            <a:off x="769256" y="5517232"/>
            <a:ext cx="6096000" cy="646331"/>
          </a:xfrm>
          <a:prstGeom prst="rect">
            <a:avLst/>
          </a:prstGeom>
          <a:noFill/>
        </p:spPr>
        <p:txBody>
          <a:bodyPr wrap="square">
            <a:spAutoFit/>
          </a:bodyPr>
          <a:lstStyle/>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p>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endParaRPr lang="en-IN" dirty="0"/>
          </a:p>
        </p:txBody>
      </p:sp>
    </p:spTree>
    <p:extLst>
      <p:ext uri="{BB962C8B-B14F-4D97-AF65-F5344CB8AC3E}">
        <p14:creationId xmlns:p14="http://schemas.microsoft.com/office/powerpoint/2010/main" val="3515856926"/>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a:t>
            </a:r>
          </a:p>
        </p:txBody>
      </p:sp>
      <p:sp>
        <p:nvSpPr>
          <p:cNvPr id="5" name="Rectangle 4"/>
          <p:cNvSpPr/>
          <p:nvPr/>
        </p:nvSpPr>
        <p:spPr>
          <a:xfrm>
            <a:off x="335360" y="1365689"/>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DATE(</a:t>
            </a:r>
            <a:r>
              <a:rPr lang="en-IN" sz="2000" i="1" dirty="0">
                <a:solidFill>
                  <a:schemeClr val="tx2"/>
                </a:solidFill>
                <a:latin typeface="Liberation Mono"/>
              </a:rPr>
              <a:t>expr</a:t>
            </a:r>
            <a:r>
              <a:rPr lang="en-IN" sz="2000" dirty="0">
                <a:solidFill>
                  <a:srgbClr val="0077AA"/>
                </a:solidFill>
                <a:latin typeface="Liberation Mono"/>
              </a:rPr>
              <a:t>)</a:t>
            </a:r>
          </a:p>
        </p:txBody>
      </p:sp>
      <p:sp>
        <p:nvSpPr>
          <p:cNvPr id="6" name="Rectangle 5"/>
          <p:cNvSpPr/>
          <p:nvPr/>
        </p:nvSpPr>
        <p:spPr>
          <a:xfrm>
            <a:off x="335360" y="2179552"/>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"2017-06-15 09:34:21"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
        <p:nvSpPr>
          <p:cNvPr id="7" name="Rectangle 6"/>
          <p:cNvSpPr/>
          <p:nvPr/>
        </p:nvSpPr>
        <p:spPr>
          <a:xfrm>
            <a:off x="335360" y="703183"/>
            <a:ext cx="11305256"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DATE() function extracts the date value from a date or datetime expression.</a:t>
            </a:r>
          </a:p>
        </p:txBody>
      </p:sp>
      <p:sp>
        <p:nvSpPr>
          <p:cNvPr id="2" name="Rectangle 1"/>
          <p:cNvSpPr/>
          <p:nvPr/>
        </p:nvSpPr>
        <p:spPr>
          <a:xfrm>
            <a:off x="335360" y="3621749"/>
            <a:ext cx="6858000"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Returns NULL if expression is not a date or a datetime value.</a:t>
            </a:r>
          </a:p>
        </p:txBody>
      </p:sp>
      <p:sp>
        <p:nvSpPr>
          <p:cNvPr id="8" name="TextBox 7">
            <a:extLst>
              <a:ext uri="{FF2B5EF4-FFF2-40B4-BE49-F238E27FC236}">
                <a16:creationId xmlns:a16="http://schemas.microsoft.com/office/drawing/2014/main" id="{9F4C97C8-4CE1-4DC7-B3A0-76CCAB086AE5}"/>
              </a:ext>
            </a:extLst>
          </p:cNvPr>
          <p:cNvSpPr txBox="1"/>
          <p:nvPr/>
        </p:nvSpPr>
        <p:spPr>
          <a:xfrm>
            <a:off x="191344" y="4892146"/>
            <a:ext cx="1180345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latin typeface="Liberation Mono"/>
              </a:rPr>
              <a:t>, 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3F6971"/>
                </a:solidFill>
                <a:latin typeface="Liberation Mono"/>
              </a:rPr>
              <a:t>DAY</a:t>
            </a:r>
            <a:r>
              <a:rPr lang="en-IN" dirty="0">
                <a:latin typeface="Liberation Mono"/>
              </a:rPr>
              <a:t>, 'TODO'</a:t>
            </a:r>
            <a:r>
              <a:rPr lang="en-IN" dirty="0">
                <a:solidFill>
                  <a:schemeClr val="bg1">
                    <a:lumMod val="50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3213815813"/>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graphicFrame>
        <p:nvGraphicFramePr>
          <p:cNvPr id="10" name="Table 9"/>
          <p:cNvGraphicFramePr>
            <a:graphicFrameLocks noGrp="1"/>
          </p:cNvGraphicFramePr>
          <p:nvPr>
            <p:extLst>
              <p:ext uri="{D42A27DB-BD31-4B8C-83A1-F6EECF244321}">
                <p14:modId xmlns:p14="http://schemas.microsoft.com/office/powerpoint/2010/main" val="279259967"/>
              </p:ext>
            </p:extLst>
          </p:nvPr>
        </p:nvGraphicFramePr>
        <p:xfrm>
          <a:off x="191344" y="2687913"/>
          <a:ext cx="11803627" cy="3981447"/>
        </p:xfrm>
        <a:graphic>
          <a:graphicData uri="http://schemas.openxmlformats.org/drawingml/2006/table">
            <a:tbl>
              <a:tblPr firstRow="1" bandRow="1">
                <a:tableStyleId>{7E9639D4-E3E2-4D34-9284-5A2195B3D0D7}</a:tableStyleId>
              </a:tblPr>
              <a:tblGrid>
                <a:gridCol w="2674800">
                  <a:extLst>
                    <a:ext uri="{9D8B030D-6E8A-4147-A177-3AD203B41FA5}">
                      <a16:colId xmlns:a16="http://schemas.microsoft.com/office/drawing/2014/main" val="20000"/>
                    </a:ext>
                  </a:extLst>
                </a:gridCol>
                <a:gridCol w="2674800">
                  <a:extLst>
                    <a:ext uri="{9D8B030D-6E8A-4147-A177-3AD203B41FA5}">
                      <a16:colId xmlns:a16="http://schemas.microsoft.com/office/drawing/2014/main" val="20001"/>
                    </a:ext>
                  </a:extLst>
                </a:gridCol>
                <a:gridCol w="2674027">
                  <a:extLst>
                    <a:ext uri="{9D8B030D-6E8A-4147-A177-3AD203B41FA5}">
                      <a16:colId xmlns:a16="http://schemas.microsoft.com/office/drawing/2014/main" val="2321018969"/>
                    </a:ext>
                  </a:extLst>
                </a:gridCol>
                <a:gridCol w="3780000">
                  <a:extLst>
                    <a:ext uri="{9D8B030D-6E8A-4147-A177-3AD203B41FA5}">
                      <a16:colId xmlns:a16="http://schemas.microsoft.com/office/drawing/2014/main" val="1840882102"/>
                    </a:ext>
                  </a:extLst>
                </a:gridCol>
              </a:tblGrid>
              <a:tr h="442383">
                <a:tc>
                  <a:txBody>
                    <a:bodyPr/>
                    <a:lstStyle/>
                    <a:p>
                      <a:pPr algn="ct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algn="ct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SECONDS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1'</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MINUTES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3:34'</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HOURS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HOURS:MINUTES:SECONDS'</a:t>
                      </a:r>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DAYS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a:solidFill>
                            <a:srgbClr val="298AE5"/>
                          </a:solidFill>
                          <a:latin typeface="Liberation Mono"/>
                          <a:ea typeface="+mn-ea"/>
                          <a:cs typeface="Arial" panose="020B0604020202020204" pitchFamily="34" charset="0"/>
                        </a:rPr>
                        <a:t>HOUR_MINUTE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'3:34'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WEEKS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HOUR_SECOND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'HOURS:MINUTES:SECONDS'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MONTHS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MINUTE_SECOND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'MINUTES:SECONDS'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'27:34'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QUARTERS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YEAR_MONTH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'YEARS-MONTHS'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YEARS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7" name="Rectangle 6"/>
          <p:cNvSpPr/>
          <p:nvPr/>
        </p:nvSpPr>
        <p:spPr>
          <a:xfrm>
            <a:off x="576000" y="1918800"/>
            <a:ext cx="871945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1</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3</a:t>
            </a:r>
            <a:r>
              <a:rPr kumimoji="0" lang="en-IN" sz="1800" kern="1200" dirty="0">
                <a:solidFill>
                  <a:schemeClr val="tx1"/>
                </a:solidFill>
                <a:effectLst/>
                <a:latin typeface="Liberation Mono"/>
                <a:ea typeface="+mn-ea"/>
                <a:cs typeface="Arial" panose="020B0604020202020204" pitchFamily="34" charset="0"/>
              </a:rPr>
              <a:t>'</a:t>
            </a:r>
            <a:r>
              <a:rPr lang="en-IN" dirty="0">
                <a:latin typeface="Liberation Mono"/>
                <a:ea typeface="Times New Roman" panose="02020603050405020304" pitchFamily="18" charset="0"/>
              </a:rPr>
              <a:t> </a:t>
            </a:r>
            <a:r>
              <a:rPr lang="en-IN" dirty="0">
                <a:solidFill>
                  <a:srgbClr val="0077AA"/>
                </a:solidFill>
                <a:latin typeface="Liberation Mono"/>
              </a:rPr>
              <a:t>YEAR_MONTH</a:t>
            </a:r>
            <a:r>
              <a:rPr lang="en-IN"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47A2FF4F-6530-1B9A-FFDC-239CE3347BA6}"/>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853737152"/>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562D3-3625-2BEA-2267-863A6D0ADB4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5EF079D-43D5-5E3A-3CAC-8E439DBDF8B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a:extLst>
              <a:ext uri="{FF2B5EF4-FFF2-40B4-BE49-F238E27FC236}">
                <a16:creationId xmlns:a16="http://schemas.microsoft.com/office/drawing/2014/main" id="{9C502C85-66FF-7B9F-46B7-BA47BB369A4F}"/>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TODO</a:t>
            </a:r>
          </a:p>
        </p:txBody>
      </p:sp>
      <p:sp>
        <p:nvSpPr>
          <p:cNvPr id="3" name="TextBox 5">
            <a:extLst>
              <a:ext uri="{FF2B5EF4-FFF2-40B4-BE49-F238E27FC236}">
                <a16:creationId xmlns:a16="http://schemas.microsoft.com/office/drawing/2014/main" id="{CFD21CDB-69B6-6C4E-D6C6-DA568AA0768F}"/>
              </a:ext>
            </a:extLst>
          </p:cNvPr>
          <p:cNvSpPr txBox="1"/>
          <p:nvPr/>
        </p:nvSpPr>
        <p:spPr>
          <a:xfrm>
            <a:off x="299356" y="2129849"/>
            <a:ext cx="11593288" cy="461151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Delivery + Return Window</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Subscription with Grace Period</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Loan Repayment</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Event Planning</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Software License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Hospital Follow-up</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Online Course Access</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Job Offer Validity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Restaurant Reservation</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Insurance Policy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a:t>
            </a:r>
          </a:p>
        </p:txBody>
      </p:sp>
      <p:sp>
        <p:nvSpPr>
          <p:cNvPr id="5" name="Rectangle 4">
            <a:extLst>
              <a:ext uri="{FF2B5EF4-FFF2-40B4-BE49-F238E27FC236}">
                <a16:creationId xmlns:a16="http://schemas.microsoft.com/office/drawing/2014/main" id="{5E59A024-167A-AA4B-1062-33C67E26B64B}"/>
              </a:ext>
            </a:extLst>
          </p:cNvPr>
          <p:cNvSpPr/>
          <p:nvPr/>
        </p:nvSpPr>
        <p:spPr>
          <a:xfrm>
            <a:off x="515380" y="1340009"/>
            <a:ext cx="11377264"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3136241672"/>
      </p:ext>
    </p:extLst>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68DFE629-318B-4C84-ABD7-4690009D32C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14" name="Rectangle 13">
            <a:extLst>
              <a:ext uri="{FF2B5EF4-FFF2-40B4-BE49-F238E27FC236}">
                <a16:creationId xmlns:a16="http://schemas.microsoft.com/office/drawing/2014/main" id="{3FC2ED74-D684-44D1-BE57-590DD1DE7F86}"/>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sp>
        <p:nvSpPr>
          <p:cNvPr id="15" name="Rectangle 14">
            <a:extLst>
              <a:ext uri="{FF2B5EF4-FFF2-40B4-BE49-F238E27FC236}">
                <a16:creationId xmlns:a16="http://schemas.microsoft.com/office/drawing/2014/main" id="{06ABC480-5E40-426D-AD47-469B64C5A2FB}"/>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
        <p:nvSpPr>
          <p:cNvPr id="16" name="Rectangle 15">
            <a:extLst>
              <a:ext uri="{FF2B5EF4-FFF2-40B4-BE49-F238E27FC236}">
                <a16:creationId xmlns:a16="http://schemas.microsoft.com/office/drawing/2014/main" id="{EF7AB26D-01F5-4DB9-A2B1-43A41179F059}"/>
              </a:ext>
            </a:extLst>
          </p:cNvPr>
          <p:cNvSpPr/>
          <p:nvPr/>
        </p:nvSpPr>
        <p:spPr>
          <a:xfrm>
            <a:off x="191344" y="2199635"/>
            <a:ext cx="11665295"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3 </a:t>
            </a:r>
            <a:r>
              <a:rPr lang="en-IN" dirty="0">
                <a:solidFill>
                  <a:srgbClr val="3F6971"/>
                </a:solidFill>
                <a:latin typeface="Liberation Mono"/>
              </a:rPr>
              <a:t>DAY</a:t>
            </a:r>
            <a:r>
              <a:rPr lang="en-IN" dirty="0">
                <a:latin typeface="Liberation Mono"/>
              </a:rPr>
              <a:t>, 'TODO'</a:t>
            </a:r>
            <a:r>
              <a:rPr lang="en-IN" dirty="0">
                <a:solidFill>
                  <a:schemeClr val="tx1">
                    <a:lumMod val="65000"/>
                    <a:lumOff val="35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269557940"/>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adddate()</a:t>
            </a:r>
          </a:p>
        </p:txBody>
      </p:sp>
      <p:sp>
        <p:nvSpPr>
          <p:cNvPr id="5" name="Rectangle 4"/>
          <p:cNvSpPr/>
          <p:nvPr/>
        </p:nvSpPr>
        <p:spPr>
          <a:xfrm>
            <a:off x="575477" y="1188460"/>
            <a:ext cx="86759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a:t>
            </a:r>
            <a:r>
              <a:rPr lang="en-IN" sz="2000" dirty="0">
                <a:solidFill>
                  <a:srgbClr val="0077AA"/>
                </a:solidFill>
                <a:latin typeface="Liberation Mono"/>
              </a:rPr>
              <a:t>   DATE_ADD (</a:t>
            </a:r>
            <a:r>
              <a:rPr lang="en-IN" sz="2000" dirty="0">
                <a:solidFill>
                  <a:schemeClr val="tx2"/>
                </a:solidFill>
                <a:latin typeface="Liberation Mono"/>
              </a:rPr>
              <a:t>date,</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6" name="Rectangle 5"/>
          <p:cNvSpPr/>
          <p:nvPr/>
        </p:nvSpPr>
        <p:spPr>
          <a:xfrm>
            <a:off x="551384" y="479396"/>
            <a:ext cx="8719457"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ADDDATE()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DATE_ADD()</a:t>
            </a:r>
          </a:p>
        </p:txBody>
      </p:sp>
      <p:graphicFrame>
        <p:nvGraphicFramePr>
          <p:cNvPr id="11" name="Table 10"/>
          <p:cNvGraphicFramePr>
            <a:graphicFrameLocks noGrp="1"/>
          </p:cNvGraphicFramePr>
          <p:nvPr>
            <p:extLst>
              <p:ext uri="{D42A27DB-BD31-4B8C-83A1-F6EECF244321}">
                <p14:modId xmlns:p14="http://schemas.microsoft.com/office/powerpoint/2010/main" val="3370491021"/>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8" name="Rectangle 7"/>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0077AA"/>
                </a:solidFill>
                <a:latin typeface="Liberation Mono"/>
              </a:rPr>
              <a:t>ADDDATE</a:t>
            </a:r>
            <a:r>
              <a:rPr lang="en-IN" dirty="0">
                <a:solidFill>
                  <a:schemeClr val="tx1">
                    <a:lumMod val="65000"/>
                    <a:lumOff val="3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293435412"/>
      </p:ext>
    </p:extLst>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subdate()</a:t>
            </a:r>
          </a:p>
        </p:txBody>
      </p:sp>
      <p:sp>
        <p:nvSpPr>
          <p:cNvPr id="5" name="Rectangle 4"/>
          <p:cNvSpPr/>
          <p:nvPr/>
        </p:nvSpPr>
        <p:spPr>
          <a:xfrm>
            <a:off x="575477" y="1197271"/>
            <a:ext cx="87521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 </a:t>
            </a:r>
            <a:r>
              <a:rPr lang="en-IN" sz="2000" dirty="0">
                <a:solidFill>
                  <a:srgbClr val="0077AA"/>
                </a:solidFill>
                <a:latin typeface="Liberation Mono"/>
              </a:rPr>
              <a:t> DATE_SUB (</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9" name="Rectangle 8"/>
          <p:cNvSpPr/>
          <p:nvPr/>
        </p:nvSpPr>
        <p:spPr>
          <a:xfrm>
            <a:off x="575477" y="477214"/>
            <a:ext cx="8675941"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SUBDATE()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DATE_SUB()</a:t>
            </a:r>
          </a:p>
        </p:txBody>
      </p:sp>
      <p:graphicFrame>
        <p:nvGraphicFramePr>
          <p:cNvPr id="8" name="Table 7">
            <a:extLst>
              <a:ext uri="{FF2B5EF4-FFF2-40B4-BE49-F238E27FC236}">
                <a16:creationId xmlns:a16="http://schemas.microsoft.com/office/drawing/2014/main" id="{7169A58C-6CAF-4763-8406-A07BB4A59B45}"/>
              </a:ext>
            </a:extLst>
          </p:cNvPr>
          <p:cNvGraphicFramePr>
            <a:graphicFrameLocks noGrp="1"/>
          </p:cNvGraphicFramePr>
          <p:nvPr>
            <p:extLst>
              <p:ext uri="{D42A27DB-BD31-4B8C-83A1-F6EECF244321}">
                <p14:modId xmlns:p14="http://schemas.microsoft.com/office/powerpoint/2010/main" val="3455937706"/>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10" name="Rectangle 9">
            <a:extLst>
              <a:ext uri="{FF2B5EF4-FFF2-40B4-BE49-F238E27FC236}">
                <a16:creationId xmlns:a16="http://schemas.microsoft.com/office/drawing/2014/main" id="{63A8F96C-4C5C-473C-A817-AAE8583E27A5}"/>
              </a:ext>
            </a:extLst>
          </p:cNvPr>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sz="1800" dirty="0">
                <a:solidFill>
                  <a:srgbClr val="0077AA"/>
                </a:solidFill>
                <a:latin typeface="Liberation Mono"/>
              </a:rPr>
              <a:t>SUBDATE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sz="1800" dirty="0">
                <a:solidFill>
                  <a:srgbClr val="0077AA"/>
                </a:solidFill>
                <a:latin typeface="Liberation Mono"/>
              </a:rPr>
              <a:t>SUBDATE</a:t>
            </a:r>
            <a:r>
              <a:rPr lang="en-IN" dirty="0">
                <a:solidFill>
                  <a:schemeClr val="tx1">
                    <a:lumMod val="65000"/>
                    <a:lumOff val="35000"/>
                  </a:schemeClr>
                </a:solidFill>
                <a:latin typeface="Liberation Mono"/>
              </a:rPr>
              <a:t>(</a:t>
            </a:r>
            <a:r>
              <a:rPr lang="en-IN" dirty="0">
                <a:solidFill>
                  <a:srgbClr val="3F6971"/>
                </a:solidFill>
                <a:latin typeface="Liberation Mono"/>
              </a:rPr>
              <a:t>NOW()</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765853210"/>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ADDTIME(</a:t>
            </a:r>
            <a:r>
              <a:rPr lang="en-IN" sz="2000" i="1" dirty="0">
                <a:solidFill>
                  <a:schemeClr val="tx2"/>
                </a:solidFill>
                <a:latin typeface="Liberation Mono"/>
              </a:rPr>
              <a:t>expr1</a:t>
            </a:r>
            <a:r>
              <a:rPr lang="en-IN" sz="2000" dirty="0">
                <a:solidFill>
                  <a:schemeClr val="tx2"/>
                </a:solidFill>
                <a:latin typeface="Liberation Mono"/>
              </a:rPr>
              <a:t>,</a:t>
            </a:r>
            <a:r>
              <a:rPr lang="en-IN" sz="2000" dirty="0">
                <a:solidFill>
                  <a:srgbClr val="0077AA"/>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829" y="2172926"/>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2:10:5'</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5360" y="702000"/>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ADDTIME() adds expr2 to expr1 and returns the result. expr1 is a time or datetime expression, and expr2 is a time expression.</a:t>
            </a:r>
          </a:p>
        </p:txBody>
      </p:sp>
      <p:sp>
        <p:nvSpPr>
          <p:cNvPr id="9" name="TextBox 8">
            <a:extLst>
              <a:ext uri="{FF2B5EF4-FFF2-40B4-BE49-F238E27FC236}">
                <a16:creationId xmlns:a16="http://schemas.microsoft.com/office/drawing/2014/main" id="{03FDAC6C-9880-4289-B199-BF3C606D6743}"/>
              </a:ext>
            </a:extLst>
          </p:cNvPr>
          <p:cNvSpPr txBox="1"/>
          <p:nvPr/>
        </p:nvSpPr>
        <p:spPr>
          <a:xfrm>
            <a:off x="392829" y="3045788"/>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Adding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198625924"/>
      </p:ext>
    </p:extLst>
  </p:cSld>
  <p:clrMapOvr>
    <a:masterClrMapping/>
  </p:clrMapOvr>
  <p:transition/>
</p:sld>
</file>

<file path=ppt/slides/slide3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SUBTIME(</a:t>
            </a:r>
            <a:r>
              <a:rPr lang="en-IN" sz="2000" i="1" dirty="0">
                <a:solidFill>
                  <a:schemeClr val="tx2"/>
                </a:solidFill>
                <a:latin typeface="Liberation Mono"/>
              </a:rPr>
              <a:t>expr1</a:t>
            </a:r>
            <a:r>
              <a:rPr lang="en-IN" sz="2000" dirty="0">
                <a:solidFill>
                  <a:schemeClr val="tx2"/>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400" y="2194992"/>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4800" y="702000"/>
            <a:ext cx="11305256"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SUBTIME() returns expr1 − expr2 expressed as a value in the same format as expr1. expr1 is a time or datetime expression, and expr2 is a time expression.</a:t>
            </a:r>
          </a:p>
        </p:txBody>
      </p:sp>
      <p:sp>
        <p:nvSpPr>
          <p:cNvPr id="10" name="TextBox 9">
            <a:extLst>
              <a:ext uri="{FF2B5EF4-FFF2-40B4-BE49-F238E27FC236}">
                <a16:creationId xmlns:a16="http://schemas.microsoft.com/office/drawing/2014/main" id="{F430896B-B6B6-4D5D-9BC0-493A89A1A875}"/>
              </a:ext>
            </a:extLst>
          </p:cNvPr>
          <p:cNvSpPr txBox="1"/>
          <p:nvPr/>
        </p:nvSpPr>
        <p:spPr>
          <a:xfrm>
            <a:off x="392400" y="3118949"/>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Subtract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3149576464"/>
      </p:ext>
    </p:extLst>
  </p:cSld>
  <p:clrMapOvr>
    <a:masterClrMapping/>
  </p:clrMapOvr>
  <p:transition/>
</p:sld>
</file>

<file path=ppt/slides/slide3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extract</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EXTRACT(</a:t>
            </a:r>
            <a:r>
              <a:rPr lang="en-IN" sz="2000" i="1" dirty="0">
                <a:solidFill>
                  <a:schemeClr val="tx2"/>
                </a:solidFill>
                <a:latin typeface="Liberation Mono"/>
              </a:rPr>
              <a:t>unit</a:t>
            </a:r>
            <a:r>
              <a:rPr lang="en-IN" sz="2000" dirty="0">
                <a:solidFill>
                  <a:srgbClr val="0077AA"/>
                </a:solidFill>
                <a:latin typeface="Liberation Mono"/>
              </a:rPr>
              <a:t> FROM </a:t>
            </a:r>
            <a:r>
              <a:rPr lang="en-IN" sz="2000" i="1" dirty="0">
                <a:solidFill>
                  <a:schemeClr val="tx2"/>
                </a:solidFill>
                <a:latin typeface="Liberation Mono"/>
              </a:rPr>
              <a:t>date</a:t>
            </a:r>
            <a:r>
              <a:rPr lang="en-IN" sz="2000" dirty="0">
                <a:solidFill>
                  <a:srgbClr val="0077AA"/>
                </a:solidFill>
                <a:latin typeface="Liberation Mono"/>
              </a:rPr>
              <a:t>)</a:t>
            </a:r>
          </a:p>
        </p:txBody>
      </p:sp>
      <p:sp>
        <p:nvSpPr>
          <p:cNvPr id="6" name="Rectangle 5"/>
          <p:cNvSpPr/>
          <p:nvPr/>
        </p:nvSpPr>
        <p:spPr>
          <a:xfrm>
            <a:off x="335360" y="4293096"/>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YEAR_MONTH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endParaRPr lang="en-IN" dirty="0">
              <a:solidFill>
                <a:schemeClr val="bg1">
                  <a:lumMod val="65000"/>
                </a:schemeClr>
              </a:solidFill>
              <a:latin typeface="Liberation Mono"/>
              <a:ea typeface="Times New Roman" panose="02020603050405020304" pitchFamily="18" charset="0"/>
            </a:endParaRPr>
          </a:p>
        </p:txBody>
      </p:sp>
      <p:sp>
        <p:nvSpPr>
          <p:cNvPr id="7" name="Rectangle 6"/>
          <p:cNvSpPr/>
          <p:nvPr/>
        </p:nvSpPr>
        <p:spPr>
          <a:xfrm>
            <a:off x="335360" y="703183"/>
            <a:ext cx="11521280"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EXTRACT() function is used to return a single part of a date/time, such as year, month, day, hour, minute, etc.</a:t>
            </a:r>
          </a:p>
        </p:txBody>
      </p:sp>
      <p:graphicFrame>
        <p:nvGraphicFramePr>
          <p:cNvPr id="2" name="Table 1"/>
          <p:cNvGraphicFramePr>
            <a:graphicFrameLocks noGrp="1"/>
          </p:cNvGraphicFramePr>
          <p:nvPr>
            <p:extLst>
              <p:ext uri="{D42A27DB-BD31-4B8C-83A1-F6EECF244321}">
                <p14:modId xmlns:p14="http://schemas.microsoft.com/office/powerpoint/2010/main" val="1275568819"/>
              </p:ext>
            </p:extLst>
          </p:nvPr>
        </p:nvGraphicFramePr>
        <p:xfrm>
          <a:off x="335360" y="2348880"/>
          <a:ext cx="10153128" cy="1879600"/>
        </p:xfrm>
        <a:graphic>
          <a:graphicData uri="http://schemas.openxmlformats.org/drawingml/2006/table">
            <a:tbl>
              <a:tblPr firstRow="1" bandRow="1">
                <a:tableStyleId>{7E9639D4-E3E2-4D34-9284-5A2195B3D0D7}</a:tableStyleId>
              </a:tblPr>
              <a:tblGrid>
                <a:gridCol w="3139180">
                  <a:extLst>
                    <a:ext uri="{9D8B030D-6E8A-4147-A177-3AD203B41FA5}">
                      <a16:colId xmlns:a16="http://schemas.microsoft.com/office/drawing/2014/main" val="20000"/>
                    </a:ext>
                  </a:extLst>
                </a:gridCol>
                <a:gridCol w="2400550">
                  <a:extLst>
                    <a:ext uri="{9D8B030D-6E8A-4147-A177-3AD203B41FA5}">
                      <a16:colId xmlns:a16="http://schemas.microsoft.com/office/drawing/2014/main" val="20001"/>
                    </a:ext>
                  </a:extLst>
                </a:gridCol>
                <a:gridCol w="2123563">
                  <a:extLst>
                    <a:ext uri="{9D8B030D-6E8A-4147-A177-3AD203B41FA5}">
                      <a16:colId xmlns:a16="http://schemas.microsoft.com/office/drawing/2014/main" val="20002"/>
                    </a:ext>
                  </a:extLst>
                </a:gridCol>
                <a:gridCol w="1569590">
                  <a:extLst>
                    <a:ext uri="{9D8B030D-6E8A-4147-A177-3AD203B41FA5}">
                      <a16:colId xmlns:a16="http://schemas.microsoft.com/office/drawing/2014/main" val="20003"/>
                    </a:ext>
                  </a:extLst>
                </a:gridCol>
                <a:gridCol w="920245">
                  <a:extLst>
                    <a:ext uri="{9D8B030D-6E8A-4147-A177-3AD203B41FA5}">
                      <a16:colId xmlns:a16="http://schemas.microsoft.com/office/drawing/2014/main" val="20004"/>
                    </a:ext>
                  </a:extLst>
                </a:gridCol>
              </a:tblGrid>
              <a:tr h="370840">
                <a:tc gridSpan="5">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latin typeface="Liberation Mono"/>
                          <a:cs typeface="Arial" panose="020B0604020202020204" pitchFamily="34" charset="0"/>
                        </a:rPr>
                        <a:t>MICROSECOND</a:t>
                      </a:r>
                    </a:p>
                  </a:txBody>
                  <a:tcPr/>
                </a:tc>
                <a:tc>
                  <a:txBody>
                    <a:bodyPr/>
                    <a:lstStyle/>
                    <a:p>
                      <a:r>
                        <a:rPr lang="en-IN" sz="1800" dirty="0">
                          <a:latin typeface="Liberation Mono"/>
                          <a:cs typeface="Arial" panose="020B0604020202020204" pitchFamily="34" charset="0"/>
                        </a:rPr>
                        <a:t>SECOND</a:t>
                      </a:r>
                    </a:p>
                  </a:txBody>
                  <a:tcPr/>
                </a:tc>
                <a:tc>
                  <a:txBody>
                    <a:bodyPr/>
                    <a:lstStyle/>
                    <a:p>
                      <a:r>
                        <a:rPr lang="en-IN" sz="1800" dirty="0">
                          <a:latin typeface="Liberation Mono"/>
                          <a:cs typeface="Arial" panose="020B0604020202020204" pitchFamily="34" charset="0"/>
                        </a:rPr>
                        <a:t>MINUTE</a:t>
                      </a:r>
                    </a:p>
                  </a:txBody>
                  <a:tcPr/>
                </a:tc>
                <a:tc>
                  <a:txBody>
                    <a:bodyPr/>
                    <a:lstStyle/>
                    <a:p>
                      <a:r>
                        <a:rPr lang="en-IN" sz="1800" dirty="0">
                          <a:latin typeface="Liberation Mono"/>
                          <a:cs typeface="Arial" panose="020B0604020202020204" pitchFamily="34" charset="0"/>
                        </a:rPr>
                        <a:t>HOUR</a:t>
                      </a:r>
                    </a:p>
                  </a:txBody>
                  <a:tcPr/>
                </a:tc>
                <a:tc>
                  <a:txBody>
                    <a:bodyPr/>
                    <a:lstStyle/>
                    <a:p>
                      <a:r>
                        <a:rPr lang="en-IN" sz="1800" dirty="0">
                          <a:latin typeface="Liberation Mono"/>
                          <a:cs typeface="Arial" panose="020B0604020202020204" pitchFamily="34" charset="0"/>
                        </a:rPr>
                        <a:t>DAY</a:t>
                      </a:r>
                    </a:p>
                  </a:txBody>
                  <a:tcPr/>
                </a:tc>
                <a:extLst>
                  <a:ext uri="{0D108BD9-81ED-4DB2-BD59-A6C34878D82A}">
                    <a16:rowId xmlns:a16="http://schemas.microsoft.com/office/drawing/2014/main" val="10001"/>
                  </a:ext>
                </a:extLst>
              </a:tr>
              <a:tr h="370840">
                <a:tc>
                  <a:txBody>
                    <a:bodyPr/>
                    <a:lstStyle/>
                    <a:p>
                      <a:r>
                        <a:rPr lang="en-IN" sz="1800" dirty="0">
                          <a:latin typeface="Liberation Mono"/>
                          <a:cs typeface="Arial" panose="020B0604020202020204" pitchFamily="34" charset="0"/>
                        </a:rPr>
                        <a:t>WEEK</a:t>
                      </a:r>
                    </a:p>
                  </a:txBody>
                  <a:tcPr/>
                </a:tc>
                <a:tc>
                  <a:txBody>
                    <a:bodyPr/>
                    <a:lstStyle/>
                    <a:p>
                      <a:r>
                        <a:rPr lang="en-IN" sz="1800" dirty="0">
                          <a:latin typeface="Liberation Mono"/>
                          <a:cs typeface="Arial" panose="020B0604020202020204" pitchFamily="34" charset="0"/>
                        </a:rPr>
                        <a:t>MONTH</a:t>
                      </a:r>
                    </a:p>
                  </a:txBody>
                  <a:tcPr/>
                </a:tc>
                <a:tc>
                  <a:txBody>
                    <a:bodyPr/>
                    <a:lstStyle/>
                    <a:p>
                      <a:r>
                        <a:rPr lang="en-IN" sz="1800" dirty="0">
                          <a:latin typeface="Liberation Mono"/>
                          <a:cs typeface="Arial" panose="020B0604020202020204" pitchFamily="34" charset="0"/>
                        </a:rPr>
                        <a:t>QUARTER</a:t>
                      </a:r>
                    </a:p>
                  </a:txBody>
                  <a:tcPr/>
                </a:tc>
                <a:tc>
                  <a:txBody>
                    <a:bodyPr/>
                    <a:lstStyle/>
                    <a:p>
                      <a:r>
                        <a:rPr lang="en-IN" sz="1800" dirty="0">
                          <a:latin typeface="Liberation Mono"/>
                          <a:cs typeface="Arial" panose="020B0604020202020204" pitchFamily="34" charset="0"/>
                        </a:rPr>
                        <a:t>YEAR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2"/>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MINUTE_SECOND</a:t>
                      </a:r>
                    </a:p>
                  </a:txBody>
                  <a:tcPr/>
                </a:tc>
                <a:tc>
                  <a:txBody>
                    <a:bodyPr/>
                    <a:lstStyle/>
                    <a:p>
                      <a:r>
                        <a:rPr lang="en-IN" sz="1800" dirty="0">
                          <a:latin typeface="Liberation Mono"/>
                          <a:cs typeface="Arial" panose="020B0604020202020204" pitchFamily="34" charset="0"/>
                        </a:rPr>
                        <a:t>HOUR_SECOND</a:t>
                      </a:r>
                    </a:p>
                  </a:txBody>
                  <a:tcPr/>
                </a:tc>
                <a:tc>
                  <a:txBody>
                    <a:bodyPr/>
                    <a:lstStyle/>
                    <a:p>
                      <a:r>
                        <a:rPr lang="en-IN" sz="1800" dirty="0">
                          <a:latin typeface="Liberation Mono"/>
                          <a:cs typeface="Arial" panose="020B0604020202020204" pitchFamily="34" charset="0"/>
                        </a:rPr>
                        <a:t>DAY_SECOND</a:t>
                      </a:r>
                    </a:p>
                  </a:txBody>
                  <a:tcPr/>
                </a:tc>
                <a:tc>
                  <a:txBody>
                    <a:bodyPr/>
                    <a:lstStyle/>
                    <a:p>
                      <a:r>
                        <a:rPr lang="en-IN" sz="1800" dirty="0">
                          <a:latin typeface="Liberation Mono"/>
                          <a:cs typeface="Arial" panose="020B0604020202020204" pitchFamily="34" charset="0"/>
                        </a:rPr>
                        <a:t>DAY_HOUR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3"/>
                  </a:ext>
                </a:extLst>
              </a:tr>
              <a:tr h="370840">
                <a:tc>
                  <a:txBody>
                    <a:bodyPr/>
                    <a:lstStyle/>
                    <a:p>
                      <a:r>
                        <a:rPr lang="en-IN" sz="1800" dirty="0">
                          <a:latin typeface="Liberation Mono"/>
                          <a:cs typeface="Arial" panose="020B0604020202020204" pitchFamily="34" charset="0"/>
                        </a:rPr>
                        <a:t>HOUR_MINUTE</a:t>
                      </a:r>
                    </a:p>
                  </a:txBody>
                  <a:tcPr/>
                </a:tc>
                <a:tc>
                  <a:txBody>
                    <a:bodyPr/>
                    <a:lstStyle/>
                    <a:p>
                      <a:r>
                        <a:rPr lang="en-IN" sz="1800" dirty="0">
                          <a:latin typeface="Liberation Mono"/>
                          <a:cs typeface="Arial" panose="020B0604020202020204" pitchFamily="34" charset="0"/>
                        </a:rPr>
                        <a:t>DAY_MINUTE</a:t>
                      </a:r>
                    </a:p>
                  </a:txBody>
                  <a:tcPr/>
                </a:tc>
                <a:tc>
                  <a:txBody>
                    <a:bodyPr/>
                    <a:lstStyle/>
                    <a:p>
                      <a:r>
                        <a:rPr lang="en-IN" sz="1800" dirty="0">
                          <a:latin typeface="Liberation Mono"/>
                          <a:cs typeface="Arial" panose="020B0604020202020204" pitchFamily="34" charset="0"/>
                        </a:rPr>
                        <a:t>YEAR_MONTH</a:t>
                      </a:r>
                    </a:p>
                  </a:txBody>
                  <a:tcPr/>
                </a:tc>
                <a:tc>
                  <a:txBody>
                    <a:bodyPr/>
                    <a:lstStyle/>
                    <a:p>
                      <a:endParaRPr lang="en-IN" sz="1800" dirty="0">
                        <a:latin typeface="Liberation Mono"/>
                        <a:cs typeface="Arial" panose="020B0604020202020204" pitchFamily="34" charset="0"/>
                      </a:endParaRP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4"/>
                  </a:ext>
                </a:extLst>
              </a:tr>
            </a:tbl>
          </a:graphicData>
        </a:graphic>
      </p:graphicFrame>
      <p:sp>
        <p:nvSpPr>
          <p:cNvPr id="8" name="Rectangle 7">
            <a:extLst>
              <a:ext uri="{FF2B5EF4-FFF2-40B4-BE49-F238E27FC236}">
                <a16:creationId xmlns:a16="http://schemas.microsoft.com/office/drawing/2014/main" id="{94A6A4DD-469A-42BD-A50E-670D61A52E2C}"/>
              </a:ext>
            </a:extLst>
          </p:cNvPr>
          <p:cNvSpPr/>
          <p:nvPr/>
        </p:nvSpPr>
        <p:spPr>
          <a:xfrm>
            <a:off x="335360" y="5301208"/>
            <a:ext cx="6858000" cy="135421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must no space between extract function and ().</a:t>
            </a:r>
          </a:p>
          <a:p>
            <a:r>
              <a:rPr lang="en-IN" sz="1800" dirty="0">
                <a:solidFill>
                  <a:srgbClr val="FF0000"/>
                </a:solidFill>
                <a:latin typeface="Arial" panose="020B0604020202020204" pitchFamily="34" charset="0"/>
                <a:cs typeface="Arial" panose="020B0604020202020204" pitchFamily="34" charset="0"/>
              </a:rPr>
              <a:t>e.g.</a:t>
            </a:r>
          </a:p>
          <a:p>
            <a:r>
              <a:rPr lang="en-IN" dirty="0">
                <a:solidFill>
                  <a:srgbClr val="FF0000"/>
                </a:solidFill>
                <a:latin typeface="Arial" panose="020B0604020202020204" pitchFamily="34" charset="0"/>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rgbClr val="0077AA"/>
                </a:solidFill>
                <a:latin typeface="Liberation Mono"/>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sz="2000" dirty="0">
                <a:solidFill>
                  <a:srgbClr val="FF0000"/>
                </a:solidFill>
                <a:latin typeface="Liberation Mono"/>
                <a:ea typeface="Times New Roman" panose="02020603050405020304" pitchFamily="18" charset="0"/>
              </a:rPr>
              <a:t># error</a:t>
            </a:r>
            <a:endParaRPr lang="en-IN" dirty="0">
              <a:solidFill>
                <a:srgbClr val="FF0000"/>
              </a:solidFill>
              <a:latin typeface="Liberation Mono"/>
              <a:ea typeface="Times New Roman" panose="02020603050405020304" pitchFamily="18" charset="0"/>
            </a:endParaRPr>
          </a:p>
        </p:txBody>
      </p:sp>
    </p:spTree>
    <p:extLst>
      <p:ext uri="{BB962C8B-B14F-4D97-AF65-F5344CB8AC3E}">
        <p14:creationId xmlns:p14="http://schemas.microsoft.com/office/powerpoint/2010/main" val="2580197117"/>
      </p:ext>
    </p:extLst>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period_diff()</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PERIOD_DIFF(</a:t>
            </a:r>
            <a:r>
              <a:rPr lang="en-IN" sz="2000" i="1" dirty="0">
                <a:latin typeface="Liberation Mono"/>
              </a:rPr>
              <a:t>Period1, Period2</a:t>
            </a:r>
            <a:r>
              <a:rPr lang="en-IN" sz="2000" dirty="0">
                <a:solidFill>
                  <a:srgbClr val="0077AA"/>
                </a:solidFill>
                <a:latin typeface="Liberation Mono"/>
              </a:rPr>
              <a:t>);</a:t>
            </a:r>
          </a:p>
        </p:txBody>
      </p:sp>
      <p:sp>
        <p:nvSpPr>
          <p:cNvPr id="6" name="Rectangle 5"/>
          <p:cNvSpPr/>
          <p:nvPr/>
        </p:nvSpPr>
        <p:spPr>
          <a:xfrm>
            <a:off x="191344" y="2759586"/>
            <a:ext cx="12000656"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201701, 201601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0077AA"/>
                </a:solidFill>
                <a:latin typeface="Liberation Mono"/>
              </a:rPr>
              <a:t>EXTRACT</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NOW()</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hiredate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AS</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p:txBody>
      </p:sp>
      <p:sp>
        <p:nvSpPr>
          <p:cNvPr id="7" name="Rectangle 6"/>
          <p:cNvSpPr/>
          <p:nvPr/>
        </p:nvSpPr>
        <p:spPr>
          <a:xfrm>
            <a:off x="335360" y="703183"/>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MySQL PERIOD_DIFF() returns the difference between two periods. Periods should be in the same format i.e. YYYYMM or YYMM.</a:t>
            </a:r>
          </a:p>
        </p:txBody>
      </p:sp>
    </p:spTree>
    <p:extLst>
      <p:ext uri="{BB962C8B-B14F-4D97-AF65-F5344CB8AC3E}">
        <p14:creationId xmlns:p14="http://schemas.microsoft.com/office/powerpoint/2010/main" val="3686502013"/>
      </p:ext>
    </p:extLst>
  </p:cSld>
  <p:clrMapOvr>
    <a:masterClrMapping/>
  </p:clrMapOvr>
  <p:transition/>
</p:sld>
</file>

<file path=ppt/slides/slide3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graphicFrame>
        <p:nvGraphicFramePr>
          <p:cNvPr id="6" name="Table 5"/>
          <p:cNvGraphicFramePr>
            <a:graphicFrameLocks noGrp="1"/>
          </p:cNvGraphicFramePr>
          <p:nvPr>
            <p:extLst>
              <p:ext uri="{D42A27DB-BD31-4B8C-83A1-F6EECF244321}">
                <p14:modId xmlns:p14="http://schemas.microsoft.com/office/powerpoint/2010/main" val="3535496194"/>
              </p:ext>
            </p:extLst>
          </p:nvPr>
        </p:nvGraphicFramePr>
        <p:xfrm>
          <a:off x="407368" y="814600"/>
          <a:ext cx="11377264" cy="4682487"/>
        </p:xfrm>
        <a:graphic>
          <a:graphicData uri="http://schemas.openxmlformats.org/drawingml/2006/table">
            <a:tbl>
              <a:tblPr firstRow="1" bandRow="1">
                <a:tableStyleId>{7E9639D4-E3E2-4D34-9284-5A2195B3D0D7}</a:tableStyleId>
              </a:tblPr>
              <a:tblGrid>
                <a:gridCol w="2376264">
                  <a:extLst>
                    <a:ext uri="{9D8B030D-6E8A-4147-A177-3AD203B41FA5}">
                      <a16:colId xmlns:a16="http://schemas.microsoft.com/office/drawing/2014/main" val="20000"/>
                    </a:ext>
                  </a:extLst>
                </a:gridCol>
                <a:gridCol w="9001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Arial" panose="020B0604020202020204" pitchFamily="34" charset="0"/>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DAY(</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DAY() is a </a:t>
                      </a:r>
                      <a:r>
                        <a:rPr lang="en-IN" sz="1800" b="1" dirty="0">
                          <a:effectLst/>
                          <a:latin typeface="Liberation Mono"/>
                          <a:cs typeface="Arial" panose="020B0604020202020204" pitchFamily="34" charset="0"/>
                        </a:rPr>
                        <a:t>synonym for DAYOFMONTH().</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DAYNAME(</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name of the weekday for date.</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DAYOFMONTH(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month for date, in the range 1 to 31</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DAYOFWEEK(</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(1 = Sunday, 2 = Monday, …, 7 = Saturday).</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DAYOFYEAR(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year for date, in the range 1 to 366</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LAST_DAY(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Takes a date or datetime value and returns the corresponding value for the last day of the month. Returns NULL if the argument is invalid.</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month for date, in the range 1 to 12 for January to December</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0077AA"/>
                          </a:solidFill>
                          <a:latin typeface="Liberation Mono"/>
                          <a:ea typeface="+mn-ea"/>
                          <a:cs typeface="+mn-cs"/>
                        </a:rPr>
                        <a:t>MONTHNAME(</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full name of the month for date.</a:t>
                      </a:r>
                    </a:p>
                  </a:txBody>
                  <a:tcPr marL="76200" marR="76200" marT="76200" marB="76200"/>
                </a:tc>
                <a:extLst>
                  <a:ext uri="{0D108BD9-81ED-4DB2-BD59-A6C34878D82A}">
                    <a16:rowId xmlns:a16="http://schemas.microsoft.com/office/drawing/2014/main" val="10008"/>
                  </a:ext>
                </a:extLst>
              </a:tr>
              <a:tr h="442383">
                <a:tc>
                  <a:txBody>
                    <a:bodyPr/>
                    <a:lstStyle/>
                    <a:p>
                      <a:pPr fontAlgn="t"/>
                      <a:r>
                        <a:rPr kumimoji="0" lang="en-US" sz="1800" kern="1200" dirty="0">
                          <a:solidFill>
                            <a:srgbClr val="0077AA"/>
                          </a:solidFill>
                          <a:latin typeface="Liberation Mono"/>
                          <a:ea typeface="+mn-ea"/>
                          <a:cs typeface="+mn-cs"/>
                        </a:rPr>
                        <a:t>YEAR(</a:t>
                      </a:r>
                      <a:r>
                        <a:rPr kumimoji="0" lang="en-IN" sz="1800" i="1" kern="1200" dirty="0">
                          <a:solidFill>
                            <a:schemeClr val="tx2"/>
                          </a:solidFill>
                          <a:latin typeface="Liberation Mono"/>
                          <a:ea typeface="+mn-ea"/>
                          <a:cs typeface="+mn-cs"/>
                        </a:rPr>
                        <a:t>date</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year in 4 digit</a:t>
                      </a:r>
                    </a:p>
                  </a:txBody>
                  <a:tcPr marL="76200" marR="76200" marT="76200" marB="76200"/>
                </a:tc>
                <a:extLst>
                  <a:ext uri="{0D108BD9-81ED-4DB2-BD59-A6C34878D82A}">
                    <a16:rowId xmlns:a16="http://schemas.microsoft.com/office/drawing/2014/main" val="4177861595"/>
                  </a:ext>
                </a:extLst>
              </a:tr>
            </a:tbl>
          </a:graphicData>
        </a:graphic>
      </p:graphicFrame>
      <p:sp>
        <p:nvSpPr>
          <p:cNvPr id="7" name="Rectangle 6"/>
          <p:cNvSpPr/>
          <p:nvPr/>
        </p:nvSpPr>
        <p:spPr>
          <a:xfrm>
            <a:off x="407368" y="5817458"/>
            <a:ext cx="11377264" cy="70788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171450" indent="-1714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bg1">
                    <a:lumMod val="6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Tree>
    <p:extLst>
      <p:ext uri="{BB962C8B-B14F-4D97-AF65-F5344CB8AC3E}">
        <p14:creationId xmlns:p14="http://schemas.microsoft.com/office/powerpoint/2010/main" val="2270596306"/>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961830338"/>
              </p:ext>
            </p:extLst>
          </p:nvPr>
        </p:nvGraphicFramePr>
        <p:xfrm>
          <a:off x="406800" y="813600"/>
          <a:ext cx="11376000" cy="3981447"/>
        </p:xfrm>
        <a:graphic>
          <a:graphicData uri="http://schemas.openxmlformats.org/drawingml/2006/table">
            <a:tbl>
              <a:tblPr firstRow="1" bandRow="1">
                <a:tableStyleId>{7E9639D4-E3E2-4D34-9284-5A2195B3D0D7}</a:tableStyleId>
              </a:tblPr>
              <a:tblGrid>
                <a:gridCol w="2844000">
                  <a:extLst>
                    <a:ext uri="{9D8B030D-6E8A-4147-A177-3AD203B41FA5}">
                      <a16:colId xmlns:a16="http://schemas.microsoft.com/office/drawing/2014/main" val="20000"/>
                    </a:ext>
                  </a:extLst>
                </a:gridCol>
                <a:gridCol w="8532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WEEKDAY(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(0 = Monday, 1 = Tuesday, … 6 = Sunday).</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WEEKOFYEAR(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calendar week of the date as a number in the range from 1 to 53.</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QUARTER(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quarter of the year for date, in the range 1 to 4.</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HOUR(</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hour for time. The range of the return value is 0 to 23 for time-of-day values.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MINUTE(</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minute for time, in the range 0 to 59.</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SECOND(</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second for time, in the range 0 to 59.</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DATEDIFF(</a:t>
                      </a:r>
                      <a:r>
                        <a:rPr kumimoji="0" lang="en-IN" sz="1800" i="1" kern="1200" dirty="0">
                          <a:solidFill>
                            <a:schemeClr val="tx2"/>
                          </a:solidFill>
                          <a:latin typeface="Liberation Mono"/>
                          <a:ea typeface="+mn-ea"/>
                          <a:cs typeface="+mn-cs"/>
                        </a:rPr>
                        <a:t>expr1, expr2</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b="0" i="0" kern="1200" dirty="0">
                          <a:solidFill>
                            <a:schemeClr val="tx1"/>
                          </a:solidFill>
                          <a:effectLst/>
                          <a:latin typeface="Liberation Mono"/>
                          <a:ea typeface="+mn-ea"/>
                          <a:cs typeface="+mn-cs"/>
                        </a:rPr>
                        <a:t>Returns the number of days between two dates or datetimes.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US" sz="1800" kern="1200" dirty="0">
                          <a:solidFill>
                            <a:srgbClr val="0077AA"/>
                          </a:solidFill>
                          <a:latin typeface="Liberation Mono"/>
                          <a:ea typeface="+mn-ea"/>
                          <a:cs typeface="+mn-cs"/>
                        </a:rPr>
                        <a:t>STR_TO_DATE(</a:t>
                      </a:r>
                      <a:r>
                        <a:rPr kumimoji="0" lang="en-US" sz="1800" i="1" kern="1200" dirty="0">
                          <a:solidFill>
                            <a:schemeClr val="tx2"/>
                          </a:solidFill>
                          <a:latin typeface="Liberation Mono"/>
                          <a:ea typeface="+mn-ea"/>
                          <a:cs typeface="+mn-cs"/>
                        </a:rPr>
                        <a:t>str, format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Convert a string to a date.</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816672619"/>
                  </a:ext>
                </a:extLst>
              </a:tr>
            </a:tbl>
          </a:graphicData>
        </a:graphic>
      </p:graphicFrame>
      <p:sp>
        <p:nvSpPr>
          <p:cNvPr id="5" name="Rectangle 4"/>
          <p:cNvSpPr/>
          <p:nvPr/>
        </p:nvSpPr>
        <p:spPr>
          <a:xfrm>
            <a:off x="392822" y="4941168"/>
            <a:ext cx="11389978" cy="172354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17</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4</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A67F59"/>
                </a:solidFill>
                <a:latin typeface="Liberation Mono"/>
              </a:rPr>
              <a:t>AND</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A67F59"/>
                </a:solidFill>
                <a:latin typeface="Liberation Mono"/>
              </a:rPr>
              <a:t>OR</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 </a:t>
            </a:r>
            <a:r>
              <a:rPr lang="en-US" dirty="0">
                <a:solidFill>
                  <a:srgbClr val="990055"/>
                </a:solidFill>
                <a:latin typeface="Liberation Mono"/>
              </a:rPr>
              <a:t>400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 </a:t>
            </a:r>
            <a:r>
              <a:rPr lang="en-US" dirty="0">
                <a:solidFill>
                  <a:srgbClr val="0077AA"/>
                </a:solidFill>
                <a:latin typeface="Liberation Mono"/>
              </a:rPr>
              <a:t>FROM</a:t>
            </a:r>
            <a:r>
              <a:rPr lang="en-US" dirty="0">
                <a:latin typeface="Liberation Mono"/>
                <a:ea typeface="Times New Roman" panose="02020603050405020304" pitchFamily="18" charset="0"/>
              </a:rPr>
              <a:t> emp</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STR_TO_DATE</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'24/05/2022', '%d/%m/%Y'</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
        <p:nvSpPr>
          <p:cNvPr id="2" name="Rectangle 1">
            <a:extLst>
              <a:ext uri="{FF2B5EF4-FFF2-40B4-BE49-F238E27FC236}">
                <a16:creationId xmlns:a16="http://schemas.microsoft.com/office/drawing/2014/main" id="{9FD868F8-4FEC-4274-895E-1A1F66EA88F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spTree>
    <p:extLst>
      <p:ext uri="{BB962C8B-B14F-4D97-AF65-F5344CB8AC3E}">
        <p14:creationId xmlns:p14="http://schemas.microsoft.com/office/powerpoint/2010/main" val="2238145823"/>
      </p:ext>
    </p:extLst>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a:t>
            </a:r>
            <a:r>
              <a:rPr lang="en-US" sz="4800" dirty="0">
                <a:solidFill>
                  <a:srgbClr val="DC525C"/>
                </a:solidFill>
                <a:latin typeface="Segoe UI Light" panose="020B0502040204020203" pitchFamily="34" charset="0"/>
                <a:cs typeface="Segoe UI Light" panose="020B0502040204020203" pitchFamily="34" charset="0"/>
              </a:rPr>
              <a:t>formats</a:t>
            </a:r>
          </a:p>
        </p:txBody>
      </p:sp>
    </p:spTree>
    <p:extLst>
      <p:ext uri="{BB962C8B-B14F-4D97-AF65-F5344CB8AC3E}">
        <p14:creationId xmlns:p14="http://schemas.microsoft.com/office/powerpoint/2010/main" val="1734541318"/>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335360" y="5301208"/>
            <a:ext cx="11448704" cy="110799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'%a'</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460147456"/>
              </p:ext>
            </p:extLst>
          </p:nvPr>
        </p:nvGraphicFramePr>
        <p:xfrm>
          <a:off x="406800" y="612000"/>
          <a:ext cx="11377264" cy="4423830"/>
        </p:xfrm>
        <a:graphic>
          <a:graphicData uri="http://schemas.openxmlformats.org/drawingml/2006/table">
            <a:tbl>
              <a:tblPr firstRow="1" bandRow="1">
                <a:tableStyleId>{7E9639D4-E3E2-4D34-9284-5A2195B3D0D7}</a:tableStyleId>
              </a:tblPr>
              <a:tblGrid>
                <a:gridCol w="1765437">
                  <a:extLst>
                    <a:ext uri="{9D8B030D-6E8A-4147-A177-3AD203B41FA5}">
                      <a16:colId xmlns:a16="http://schemas.microsoft.com/office/drawing/2014/main" val="20000"/>
                    </a:ext>
                  </a:extLst>
                </a:gridCol>
                <a:gridCol w="961182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%a</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Abbreviated weekday name (Sun-Sat)</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%b</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Abbreviated month name (Jan-Dec)</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%c</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Month, numeric (1-12)</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with English suffix (0th, 1st, 2nd, 3rd, �)</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(01-31)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%e</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%f</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Microseconds (000000-999999)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279567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083606017"/>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1">
                  <a:extLst>
                    <a:ext uri="{9D8B030D-6E8A-4147-A177-3AD203B41FA5}">
                      <a16:colId xmlns:a16="http://schemas.microsoft.com/office/drawing/2014/main" val="20000"/>
                    </a:ext>
                  </a:extLst>
                </a:gridCol>
                <a:gridCol w="9610759">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Minutes, numeric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lvl="0">
                        <a:spcAft>
                          <a:spcPts val="0"/>
                        </a:spcAft>
                      </a:pPr>
                      <a:r>
                        <a:rPr kumimoji="0" lang="en-US" sz="1800" kern="1200" dirty="0">
                          <a:solidFill>
                            <a:srgbClr val="0077AA"/>
                          </a:solidFill>
                          <a:latin typeface="Liberation Mono"/>
                          <a:ea typeface="+mn-ea"/>
                          <a:cs typeface="+mn-cs"/>
                        </a:rPr>
                        <a:t>%j</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year (001-366)</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lvl="0">
                        <a:spcAft>
                          <a:spcPts val="0"/>
                        </a:spcAft>
                      </a:pPr>
                      <a:r>
                        <a:rPr kumimoji="0" lang="en-US" sz="1800" kern="1200" dirty="0">
                          <a:solidFill>
                            <a:srgbClr val="0077AA"/>
                          </a:solidFill>
                          <a:latin typeface="Liberation Mono"/>
                          <a:ea typeface="+mn-ea"/>
                          <a:cs typeface="+mn-cs"/>
                        </a:rPr>
                        <a:t>%k</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lvl="0">
                        <a:spcAft>
                          <a:spcPts val="0"/>
                        </a:spcAft>
                      </a:pPr>
                      <a:r>
                        <a:rPr kumimoji="0" lang="en-US" sz="1800" kern="1200" dirty="0">
                          <a:solidFill>
                            <a:srgbClr val="0077AA"/>
                          </a:solidFill>
                          <a:latin typeface="Liberation Mono"/>
                          <a:ea typeface="+mn-ea"/>
                          <a:cs typeface="+mn-cs"/>
                        </a:rPr>
                        <a:t>%l</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name (January-December)</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numeric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lvl="0">
                        <a:spcAft>
                          <a:spcPts val="0"/>
                        </a:spcAft>
                      </a:pPr>
                      <a:r>
                        <a:rPr kumimoji="0" lang="en-US" sz="1800" kern="1200" dirty="0">
                          <a:solidFill>
                            <a:srgbClr val="0077AA"/>
                          </a:solidFill>
                          <a:latin typeface="Liberation Mono"/>
                          <a:ea typeface="+mn-ea"/>
                          <a:cs typeface="+mn-cs"/>
                        </a:rPr>
                        <a:t>%p</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lvl="0">
                        <a:spcAft>
                          <a:spcPts val="0"/>
                        </a:spcAft>
                      </a:pPr>
                      <a:r>
                        <a:rPr kumimoji="0" lang="en-US" sz="1800" kern="1200" dirty="0">
                          <a:solidFill>
                            <a:srgbClr val="0077AA"/>
                          </a:solidFill>
                          <a:latin typeface="Liberation Mono"/>
                          <a:ea typeface="+mn-ea"/>
                          <a:cs typeface="+mn-cs"/>
                        </a:rPr>
                        <a:t>%r</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Time, 12-hour (hh:mm:ss followed by 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9588045-A0B8-41DE-A4F7-D55200991D4F}"/>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'%j'</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3015653"/>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2439824453"/>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3">
                  <a:extLst>
                    <a:ext uri="{9D8B030D-6E8A-4147-A177-3AD203B41FA5}">
                      <a16:colId xmlns:a16="http://schemas.microsoft.com/office/drawing/2014/main" val="20000"/>
                    </a:ext>
                  </a:extLst>
                </a:gridCol>
                <a:gridCol w="961075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lvl="0">
                        <a:spcAft>
                          <a:spcPts val="0"/>
                        </a:spcAft>
                      </a:pPr>
                      <a:r>
                        <a:rPr kumimoji="0" lang="en-US" sz="1800" kern="1200" dirty="0">
                          <a:solidFill>
                            <a:srgbClr val="0077AA"/>
                          </a:solidFill>
                          <a:latin typeface="Liberation Mono"/>
                          <a:ea typeface="+mn-ea"/>
                          <a:cs typeface="+mn-cs"/>
                        </a:rPr>
                        <a:t>%T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a:solidFill>
                            <a:schemeClr val="tx1"/>
                          </a:solidFill>
                          <a:effectLst/>
                          <a:latin typeface="Liberation Mono"/>
                          <a:ea typeface="Times New Roman" panose="02020603050405020304" pitchFamily="18" charset="0"/>
                          <a:cs typeface="+mn-cs"/>
                        </a:rPr>
                        <a:t>Time, 24-hour (hh:mm:ss)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lvl="0">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Sunday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Monday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Sunday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Monday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Weekday name (Sunday-Saturday)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the week (0=Sunday, 6=Saturday)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Sunday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Monday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four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two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22A35575-51FB-4BEF-94F2-958D4A5461E0}"/>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'%Y'</a:t>
            </a:r>
            <a:r>
              <a:rPr lang="en-IN" dirty="0">
                <a:solidFill>
                  <a:schemeClr val="tx1">
                    <a:lumMod val="65000"/>
                    <a:lumOff val="35000"/>
                  </a:schemeClr>
                </a:solidFill>
                <a:latin typeface="Liberation Mono"/>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401153533"/>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63352" y="3284984"/>
            <a:ext cx="11448704" cy="830997"/>
          </a:xfrm>
          <a:prstGeom prst="rect">
            <a:avLst/>
          </a:prstGeom>
        </p:spPr>
        <p:txBody>
          <a:bodyPr wrap="square">
            <a:spAutoFit/>
          </a:bodyPr>
          <a:lstStyle/>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2" name="Table 1">
            <a:extLst>
              <a:ext uri="{FF2B5EF4-FFF2-40B4-BE49-F238E27FC236}">
                <a16:creationId xmlns:a16="http://schemas.microsoft.com/office/drawing/2014/main" id="{D8047349-D0F5-5EF4-1351-F950D14D9B58}"/>
              </a:ext>
            </a:extLst>
          </p:cNvPr>
          <p:cNvGraphicFramePr>
            <a:graphicFrameLocks noGrp="1"/>
          </p:cNvGraphicFramePr>
          <p:nvPr/>
        </p:nvGraphicFramePr>
        <p:xfrm>
          <a:off x="695400" y="1196752"/>
          <a:ext cx="1512168" cy="74168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2246443360"/>
                    </a:ext>
                  </a:extLst>
                </a:gridCol>
              </a:tblGrid>
              <a:tr h="370840">
                <a:tc>
                  <a:txBody>
                    <a:bodyPr/>
                    <a:lstStyle/>
                    <a:p>
                      <a:r>
                        <a:rPr lang="en-US" dirty="0">
                          <a:latin typeface="Arial" panose="020B0604020202020204" pitchFamily="34" charset="0"/>
                          <a:cs typeface="Arial" panose="020B0604020202020204" pitchFamily="34" charset="0"/>
                        </a:rPr>
                        <a:t>curdate()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2680460669"/>
                  </a:ext>
                </a:extLst>
              </a:tr>
              <a:tr h="370840">
                <a:tc>
                  <a:txBody>
                    <a:bodyPr/>
                    <a:lstStyle/>
                    <a:p>
                      <a:r>
                        <a:rPr lang="en-IN" dirty="0">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graphicFrame>
        <p:nvGraphicFramePr>
          <p:cNvPr id="3" name="Table 2">
            <a:extLst>
              <a:ext uri="{FF2B5EF4-FFF2-40B4-BE49-F238E27FC236}">
                <a16:creationId xmlns:a16="http://schemas.microsoft.com/office/drawing/2014/main" id="{E90DE515-0511-F517-01CD-1B4DFD5F4C4F}"/>
              </a:ext>
            </a:extLst>
          </p:cNvPr>
          <p:cNvGraphicFramePr>
            <a:graphicFrameLocks noGrp="1"/>
          </p:cNvGraphicFramePr>
          <p:nvPr>
            <p:extLst>
              <p:ext uri="{D42A27DB-BD31-4B8C-83A1-F6EECF244321}">
                <p14:modId xmlns:p14="http://schemas.microsoft.com/office/powerpoint/2010/main" val="62448692"/>
              </p:ext>
            </p:extLst>
          </p:nvPr>
        </p:nvGraphicFramePr>
        <p:xfrm>
          <a:off x="2999656" y="1196752"/>
          <a:ext cx="2880320" cy="741680"/>
        </p:xfrm>
        <a:graphic>
          <a:graphicData uri="http://schemas.openxmlformats.org/drawingml/2006/table">
            <a:tbl>
              <a:tblPr firstRow="1" bandRow="1">
                <a:tableStyleId>{5940675A-B579-460E-94D1-54222C63F5DA}</a:tableStyleId>
              </a:tblPr>
              <a:tblGrid>
                <a:gridCol w="1440160">
                  <a:extLst>
                    <a:ext uri="{9D8B030D-6E8A-4147-A177-3AD203B41FA5}">
                      <a16:colId xmlns:a16="http://schemas.microsoft.com/office/drawing/2014/main" val="2246443360"/>
                    </a:ext>
                  </a:extLst>
                </a:gridCol>
                <a:gridCol w="1440160">
                  <a:extLst>
                    <a:ext uri="{9D8B030D-6E8A-4147-A177-3AD203B41FA5}">
                      <a16:colId xmlns:a16="http://schemas.microsoft.com/office/drawing/2014/main" val="2721581543"/>
                    </a:ext>
                  </a:extLst>
                </a:gridCol>
              </a:tblGrid>
              <a:tr h="370840">
                <a:tc>
                  <a:txBody>
                    <a:bodyPr/>
                    <a:lstStyle/>
                    <a:p>
                      <a:r>
                        <a:rPr lang="en-US" b="1" dirty="0">
                          <a:latin typeface="Arial" panose="020B0604020202020204" pitchFamily="34" charset="0"/>
                          <a:cs typeface="Arial" panose="020B0604020202020204" pitchFamily="34" charset="0"/>
                        </a:rPr>
                        <a:t>First Date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r>
                        <a:rPr lang="en-US" b="1" dirty="0">
                          <a:latin typeface="Arial" panose="020B0604020202020204" pitchFamily="34" charset="0"/>
                          <a:cs typeface="Arial" panose="020B0604020202020204" pitchFamily="34" charset="0"/>
                        </a:rPr>
                        <a:t>Last Date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268046066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2025-06-01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sp>
        <p:nvSpPr>
          <p:cNvPr id="4" name="TextBox 3">
            <a:extLst>
              <a:ext uri="{FF2B5EF4-FFF2-40B4-BE49-F238E27FC236}">
                <a16:creationId xmlns:a16="http://schemas.microsoft.com/office/drawing/2014/main" id="{109111FD-2DA0-D40F-D099-DA3F3AC12D46}"/>
              </a:ext>
            </a:extLst>
          </p:cNvPr>
          <p:cNvSpPr txBox="1"/>
          <p:nvPr/>
        </p:nvSpPr>
        <p:spPr>
          <a:xfrm>
            <a:off x="2999656"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6" name="TextBox 5">
            <a:extLst>
              <a:ext uri="{FF2B5EF4-FFF2-40B4-BE49-F238E27FC236}">
                <a16:creationId xmlns:a16="http://schemas.microsoft.com/office/drawing/2014/main" id="{1E80233A-8BD2-96AF-E14B-5F5EFB250621}"/>
              </a:ext>
            </a:extLst>
          </p:cNvPr>
          <p:cNvSpPr txBox="1"/>
          <p:nvPr/>
        </p:nvSpPr>
        <p:spPr>
          <a:xfrm>
            <a:off x="695400" y="777015"/>
            <a:ext cx="1008112" cy="400110"/>
          </a:xfrm>
          <a:prstGeom prst="rect">
            <a:avLst/>
          </a:prstGeom>
          <a:noFill/>
        </p:spPr>
        <p:txBody>
          <a:bodyPr wrap="square">
            <a:spAutoFit/>
          </a:bodyPr>
          <a:lstStyle/>
          <a:p>
            <a:r>
              <a:rPr lang="en-IN" sz="2000" b="1" dirty="0">
                <a:latin typeface="Liberation Mono"/>
              </a:rPr>
              <a:t>Input</a:t>
            </a:r>
            <a:endParaRPr lang="en-IN" sz="2000" b="1" dirty="0"/>
          </a:p>
        </p:txBody>
      </p:sp>
      <p:sp>
        <p:nvSpPr>
          <p:cNvPr id="5" name="Rectangle 4">
            <a:extLst>
              <a:ext uri="{FF2B5EF4-FFF2-40B4-BE49-F238E27FC236}">
                <a16:creationId xmlns:a16="http://schemas.microsoft.com/office/drawing/2014/main" id="{3F93E5D5-6261-2B73-4289-05F9D74097F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49B7F708-03E8-60FF-B80F-55080CF27C24}"/>
              </a:ext>
            </a:extLst>
          </p:cNvPr>
          <p:cNvSpPr/>
          <p:nvPr/>
        </p:nvSpPr>
        <p:spPr>
          <a:xfrm>
            <a:off x="25175" y="44624"/>
            <a:ext cx="5782793"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Print the </a:t>
            </a:r>
            <a:r>
              <a:rPr lang="en-IN" sz="2000" b="1" dirty="0">
                <a:solidFill>
                  <a:schemeClr val="accent2">
                    <a:lumMod val="50000"/>
                  </a:schemeClr>
                </a:solidFill>
                <a:latin typeface="Arial" panose="020B0604020202020204" pitchFamily="34" charset="0"/>
                <a:cs typeface="Arial" panose="020B0604020202020204" pitchFamily="34" charset="0"/>
              </a:rPr>
              <a:t>first</a:t>
            </a:r>
            <a:r>
              <a:rPr lang="en-IN" sz="2000" dirty="0">
                <a:solidFill>
                  <a:schemeClr val="accent2">
                    <a:lumMod val="50000"/>
                  </a:schemeClr>
                </a:solidFill>
                <a:latin typeface="Arial" panose="020B0604020202020204" pitchFamily="34" charset="0"/>
                <a:cs typeface="Arial" panose="020B0604020202020204" pitchFamily="34" charset="0"/>
              </a:rPr>
              <a:t> and the </a:t>
            </a:r>
            <a:r>
              <a:rPr lang="en-IN" sz="2000" b="1" dirty="0">
                <a:solidFill>
                  <a:schemeClr val="accent2">
                    <a:lumMod val="50000"/>
                  </a:schemeClr>
                </a:solidFill>
                <a:latin typeface="Arial" panose="020B0604020202020204" pitchFamily="34" charset="0"/>
                <a:cs typeface="Arial" panose="020B0604020202020204" pitchFamily="34" charset="0"/>
              </a:rPr>
              <a:t>last</a:t>
            </a:r>
            <a:r>
              <a:rPr lang="en-IN" sz="2000" dirty="0">
                <a:solidFill>
                  <a:schemeClr val="accent2">
                    <a:lumMod val="50000"/>
                  </a:schemeClr>
                </a:solidFill>
                <a:latin typeface="Arial" panose="020B0604020202020204" pitchFamily="34" charset="0"/>
                <a:cs typeface="Arial" panose="020B0604020202020204" pitchFamily="34" charset="0"/>
              </a:rPr>
              <a:t> day of every month.</a:t>
            </a:r>
          </a:p>
        </p:txBody>
      </p:sp>
    </p:spTree>
    <p:extLst>
      <p:ext uri="{BB962C8B-B14F-4D97-AF65-F5344CB8AC3E}">
        <p14:creationId xmlns:p14="http://schemas.microsoft.com/office/powerpoint/2010/main" val="4169562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string functions</a:t>
            </a:r>
          </a:p>
        </p:txBody>
      </p:sp>
      <p:sp>
        <p:nvSpPr>
          <p:cNvPr id="3" name="TextBox 3">
            <a:extLst>
              <a:ext uri="{FF2B5EF4-FFF2-40B4-BE49-F238E27FC236}">
                <a16:creationId xmlns:a16="http://schemas.microsoft.com/office/drawing/2014/main" id="{61ADFAAD-618F-F94D-2C62-90FCDA663FC4}"/>
              </a:ext>
            </a:extLst>
          </p:cNvPr>
          <p:cNvSpPr txBox="1"/>
          <p:nvPr/>
        </p:nvSpPr>
        <p:spPr>
          <a:xfrm>
            <a:off x="227348" y="404664"/>
            <a:ext cx="11737304"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CREATE</a:t>
            </a:r>
            <a:r>
              <a:rPr lang="en-IN" dirty="0">
                <a:latin typeface="Liberation Mono"/>
              </a:rPr>
              <a:t> </a:t>
            </a:r>
            <a:r>
              <a:rPr lang="en-IN" dirty="0">
                <a:solidFill>
                  <a:srgbClr val="0077AA"/>
                </a:solidFill>
                <a:latin typeface="Liberation Mono"/>
                <a:cs typeface="Times New Roman" panose="02020603050405020304" pitchFamily="18" charset="0"/>
              </a:rPr>
              <a:t>TABLE</a:t>
            </a:r>
            <a:r>
              <a:rPr lang="en-IN" dirty="0">
                <a:latin typeface="Liberation Mono"/>
              </a:rPr>
              <a:t> hobbies(</a:t>
            </a:r>
          </a:p>
          <a:p>
            <a:r>
              <a:rPr lang="en-IN" dirty="0">
                <a:latin typeface="Liberation Mono"/>
              </a:rPr>
              <a:t>         hobbyid </a:t>
            </a:r>
            <a:r>
              <a:rPr lang="en-IN" dirty="0">
                <a:solidFill>
                  <a:srgbClr val="834689"/>
                </a:solidFill>
                <a:latin typeface="Liberation Mono"/>
                <a:cs typeface="Arial" panose="020B0604020202020204" pitchFamily="34" charset="0"/>
              </a:rPr>
              <a:t>ENUM</a:t>
            </a:r>
            <a:r>
              <a:rPr lang="en-IN" dirty="0">
                <a:latin typeface="Liberation Mono"/>
              </a:rPr>
              <a:t>(</a:t>
            </a:r>
            <a:r>
              <a:rPr lang="en-IN" dirty="0">
                <a:solidFill>
                  <a:srgbClr val="00B050"/>
                </a:solidFill>
                <a:latin typeface="Liberation Mono"/>
              </a:rPr>
              <a:t>'1'</a:t>
            </a:r>
            <a:r>
              <a:rPr lang="en-IN" dirty="0">
                <a:latin typeface="Liberation Mono"/>
              </a:rPr>
              <a:t>,</a:t>
            </a:r>
            <a:r>
              <a:rPr lang="en-IN" dirty="0">
                <a:solidFill>
                  <a:srgbClr val="00B050"/>
                </a:solidFill>
                <a:latin typeface="Liberation Mono"/>
              </a:rPr>
              <a:t>'2'</a:t>
            </a:r>
            <a:r>
              <a:rPr lang="en-IN" dirty="0">
                <a:latin typeface="Liberation Mono"/>
              </a:rPr>
              <a:t>,</a:t>
            </a:r>
            <a:r>
              <a:rPr lang="en-IN">
                <a:solidFill>
                  <a:srgbClr val="00B050"/>
                </a:solidFill>
                <a:latin typeface="Liberation Mono"/>
              </a:rPr>
              <a:t>'3'</a:t>
            </a:r>
            <a:r>
              <a:rPr lang="en-IN">
                <a:latin typeface="Liberation Mono"/>
              </a:rPr>
              <a:t>,</a:t>
            </a:r>
            <a:r>
              <a:rPr lang="en-IN">
                <a:solidFill>
                  <a:srgbClr val="00B050"/>
                </a:solidFill>
                <a:latin typeface="Liberation Mono"/>
              </a:rPr>
              <a:t>'4</a:t>
            </a:r>
            <a:r>
              <a:rPr lang="en-IN" dirty="0">
                <a:solidFill>
                  <a:srgbClr val="00B050"/>
                </a:solidFill>
                <a:latin typeface="Liberation Mono"/>
              </a:rPr>
              <a:t>'</a:t>
            </a:r>
            <a:r>
              <a:rPr lang="en-IN" dirty="0">
                <a:latin typeface="Liberation Mono"/>
              </a:rPr>
              <a:t>),</a:t>
            </a:r>
          </a:p>
          <a:p>
            <a:r>
              <a:rPr lang="en-IN" dirty="0">
                <a:latin typeface="Liberation Mono"/>
              </a:rPr>
              <a:t>         hobbyName </a:t>
            </a:r>
            <a:r>
              <a:rPr lang="en-IN" dirty="0">
                <a:solidFill>
                  <a:srgbClr val="834689"/>
                </a:solidFill>
                <a:latin typeface="Liberation Mono"/>
                <a:cs typeface="Arial" panose="020B0604020202020204" pitchFamily="34" charset="0"/>
              </a:rPr>
              <a:t>VARCHAR</a:t>
            </a:r>
            <a:r>
              <a:rPr lang="en-IN" dirty="0">
                <a:latin typeface="Liberation Mono"/>
              </a:rPr>
              <a:t>(20)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r>
              <a:rPr lang="en-IN" dirty="0">
                <a:solidFill>
                  <a:srgbClr val="DD4A68"/>
                </a:solidFill>
                <a:latin typeface="Liberation Mono"/>
              </a:rPr>
              <a:t>ELT</a:t>
            </a:r>
            <a:r>
              <a:rPr lang="en-IN" dirty="0">
                <a:latin typeface="Liberation Mono"/>
              </a:rPr>
              <a:t>(hobbyid, </a:t>
            </a:r>
            <a:r>
              <a:rPr lang="en-IN" dirty="0">
                <a:solidFill>
                  <a:srgbClr val="00B050"/>
                </a:solidFill>
                <a:latin typeface="Liberation Mono"/>
              </a:rPr>
              <a:t>'Windsurfing'</a:t>
            </a:r>
            <a:r>
              <a:rPr lang="en-IN" dirty="0">
                <a:latin typeface="Liberation Mono"/>
              </a:rPr>
              <a:t>, </a:t>
            </a:r>
            <a:r>
              <a:rPr lang="en-IN" dirty="0">
                <a:solidFill>
                  <a:srgbClr val="00B050"/>
                </a:solidFill>
                <a:latin typeface="Liberation Mono"/>
              </a:rPr>
              <a:t>'Fishing'</a:t>
            </a:r>
            <a:r>
              <a:rPr lang="en-IN" dirty="0">
                <a:latin typeface="Liberation Mono"/>
              </a:rPr>
              <a:t>, </a:t>
            </a:r>
            <a:r>
              <a:rPr lang="en-IN" dirty="0">
                <a:solidFill>
                  <a:srgbClr val="00B050"/>
                </a:solidFill>
                <a:latin typeface="Liberation Mono"/>
              </a:rPr>
              <a:t>'Swimming'</a:t>
            </a:r>
            <a:r>
              <a:rPr lang="en-IN" dirty="0">
                <a:latin typeface="Liberation Mono"/>
              </a:rPr>
              <a:t>, </a:t>
            </a:r>
            <a:r>
              <a:rPr lang="en-IN" dirty="0">
                <a:solidFill>
                  <a:srgbClr val="00B050"/>
                </a:solidFill>
                <a:latin typeface="Liberation Mono"/>
              </a:rPr>
              <a:t>'Shopping'</a:t>
            </a:r>
            <a:r>
              <a:rPr lang="en-IN" dirty="0">
                <a:latin typeface="Liberation Mono"/>
              </a:rPr>
              <a:t>))</a:t>
            </a:r>
          </a:p>
          <a:p>
            <a:r>
              <a:rPr lang="en-IN" dirty="0">
                <a:latin typeface="Liberation Mono"/>
              </a:rPr>
              <a:t>      );</a:t>
            </a:r>
          </a:p>
        </p:txBody>
      </p:sp>
    </p:spTree>
    <p:extLst>
      <p:ext uri="{BB962C8B-B14F-4D97-AF65-F5344CB8AC3E}">
        <p14:creationId xmlns:p14="http://schemas.microsoft.com/office/powerpoint/2010/main" val="3689396500"/>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168196752"/>
              </p:ext>
            </p:extLst>
          </p:nvPr>
        </p:nvGraphicFramePr>
        <p:xfrm>
          <a:off x="262800" y="612000"/>
          <a:ext cx="11737304" cy="5258223"/>
        </p:xfrm>
        <a:graphic>
          <a:graphicData uri="http://schemas.openxmlformats.org/drawingml/2006/table">
            <a:tbl>
              <a:tblPr firstRow="1" bandRow="1">
                <a:tableStyleId>{7E9639D4-E3E2-4D34-9284-5A2195B3D0D7}</a:tableStyleId>
              </a:tblPr>
              <a:tblGrid>
                <a:gridCol w="2749500">
                  <a:extLst>
                    <a:ext uri="{9D8B030D-6E8A-4147-A177-3AD203B41FA5}">
                      <a16:colId xmlns:a16="http://schemas.microsoft.com/office/drawing/2014/main" val="20000"/>
                    </a:ext>
                  </a:extLst>
                </a:gridCol>
                <a:gridCol w="8987804">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iberation Mono"/>
                          <a:ea typeface="+mn-ea"/>
                          <a:cs typeface="+mn-cs"/>
                        </a:rPr>
                        <a:t>  ASCII(</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algn="l">
                        <a:spcAft>
                          <a:spcPts val="0"/>
                        </a:spcAft>
                      </a:pPr>
                      <a:r>
                        <a:rPr kumimoji="0" lang="en-IN" sz="1800" kern="1200" dirty="0">
                          <a:solidFill>
                            <a:schemeClr val="tx1"/>
                          </a:solidFill>
                          <a:effectLst/>
                          <a:latin typeface="Liberation Mono"/>
                          <a:ea typeface="Times New Roman" panose="02020603050405020304" pitchFamily="18" charset="0"/>
                          <a:cs typeface="+mn-cs"/>
                        </a:rPr>
                        <a:t>Returns the numeric value of the leftmost character of the string str. Returns 0 if str is the empty string. Returns NULL if str is NULL.</a:t>
                      </a:r>
                    </a:p>
                    <a:p>
                      <a:pPr algn="l">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r>
                        <a:rPr kumimoji="0" lang="en-IN" sz="1800" b="0" kern="1200" dirty="0">
                          <a:solidFill>
                            <a:schemeClr val="tx1"/>
                          </a:solidFill>
                          <a:effectLst/>
                          <a:latin typeface="Liberation Mono"/>
                          <a:ea typeface="Times New Roman" panose="02020603050405020304" pitchFamily="18" charset="0"/>
                          <a:cs typeface="+mn-cs"/>
                        </a:rPr>
                        <a:t> </a:t>
                      </a:r>
                    </a:p>
                    <a:p>
                      <a:pPr marL="285750" indent="-285750" algn="l">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ASCII</a:t>
                      </a:r>
                      <a:r>
                        <a:rPr kumimoji="0" lang="en-IN" sz="1800" b="0" kern="1200" dirty="0">
                          <a:solidFill>
                            <a:schemeClr val="tx1"/>
                          </a:solidFill>
                          <a:effectLst/>
                          <a:latin typeface="Liberation Mono"/>
                          <a:ea typeface="Times New Roman" panose="02020603050405020304" pitchFamily="18" charset="0"/>
                          <a:cs typeface="+mn-cs"/>
                        </a:rPr>
                        <a:t>(ename) </a:t>
                      </a:r>
                      <a:r>
                        <a:rPr kumimoji="0" lang="en-IN" sz="1800" b="0" kern="1200" dirty="0">
                          <a:solidFill>
                            <a:srgbClr val="0077AA"/>
                          </a:solidFill>
                          <a:latin typeface="Liberation Mono"/>
                          <a:ea typeface="Times New Roman" panose="02020603050405020304" pitchFamily="18" charset="0"/>
                          <a:cs typeface="+mn-cs"/>
                        </a:rPr>
                        <a:t>FROM</a:t>
                      </a:r>
                      <a:r>
                        <a:rPr kumimoji="0" lang="en-IN" sz="1800" b="0" kern="1200" dirty="0">
                          <a:solidFill>
                            <a:schemeClr val="tx1"/>
                          </a:solidFill>
                          <a:effectLst/>
                          <a:latin typeface="Liberation Mono"/>
                          <a:ea typeface="Times New Roman" panose="02020603050405020304" pitchFamily="18" charset="0"/>
                          <a:cs typeface="+mn-cs"/>
                        </a:rPr>
                        <a:t> emp;</a:t>
                      </a: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IN" sz="1800" kern="1200" dirty="0">
                          <a:solidFill>
                            <a:srgbClr val="0077AA"/>
                          </a:solidFill>
                          <a:latin typeface="Liberation Mono"/>
                          <a:ea typeface="+mn-ea"/>
                          <a:cs typeface="+mn-cs"/>
                        </a:rPr>
                        <a:t>  CHAR(</a:t>
                      </a:r>
                      <a:r>
                        <a:rPr kumimoji="0" lang="en-IN" sz="1800" i="1" kern="1200" dirty="0">
                          <a:solidFill>
                            <a:schemeClr val="tx1"/>
                          </a:solidFill>
                          <a:latin typeface="Liberation Mono"/>
                          <a:ea typeface="+mn-ea"/>
                          <a:cs typeface="+mn-cs"/>
                        </a:rPr>
                        <a:t>N</a:t>
                      </a:r>
                      <a:r>
                        <a:rPr kumimoji="0" lang="en-IN" sz="1800" kern="1200" dirty="0">
                          <a:solidFill>
                            <a:schemeClr val="tx1"/>
                          </a:solidFill>
                          <a:latin typeface="Liberation Mono"/>
                          <a:ea typeface="+mn-ea"/>
                          <a:cs typeface="+mn-cs"/>
                        </a:rPr>
                        <a:t>, ,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Times New Roman" panose="02020603050405020304" pitchFamily="18" charset="0"/>
                          <a:cs typeface="+mn-cs"/>
                        </a:rPr>
                        <a:t>CHAR() interprets each argument N as an integer and returns a string consisting of the characters given by the code values of those integers. </a:t>
                      </a:r>
                      <a:r>
                        <a:rPr kumimoji="0" lang="en-IN" sz="1800" b="1" kern="1200" dirty="0">
                          <a:solidFill>
                            <a:schemeClr val="tx1"/>
                          </a:solidFill>
                          <a:effectLst/>
                          <a:latin typeface="Liberation Mono"/>
                          <a:ea typeface="Times New Roman" panose="02020603050405020304" pitchFamily="18" charset="0"/>
                          <a:cs typeface="+mn-cs"/>
                        </a:rPr>
                        <a:t>NULL values are skipped</a:t>
                      </a:r>
                      <a:r>
                        <a:rPr kumimoji="0" lang="en-IN" sz="1800" kern="1200" dirty="0">
                          <a:solidFill>
                            <a:schemeClr val="tx1"/>
                          </a:solidFill>
                          <a:effectLst/>
                          <a:latin typeface="Liberation Mono"/>
                          <a:ea typeface="Times New Roman" panose="02020603050405020304" pitchFamily="18" charset="0"/>
                          <a:cs typeface="+mn-cs"/>
                        </a:rPr>
                        <a:t>.</a:t>
                      </a:r>
                    </a:p>
                    <a:p>
                      <a:pPr>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2000" b="1" kern="1200" dirty="0">
                          <a:solidFill>
                            <a:schemeClr val="tx1"/>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CAST</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AS</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2"/>
                  </a:ext>
                </a:extLst>
              </a:tr>
              <a:tr h="442383">
                <a:tc>
                  <a:txBody>
                    <a:bodyPr/>
                    <a:lstStyle/>
                    <a:p>
                      <a:pPr marL="0" lvl="0" indent="0">
                        <a:spcAft>
                          <a:spcPts val="0"/>
                        </a:spcAft>
                      </a:pPr>
                      <a:r>
                        <a:rPr kumimoji="0" lang="en-IN" sz="1800" kern="1200" dirty="0">
                          <a:solidFill>
                            <a:srgbClr val="0077AA"/>
                          </a:solidFill>
                          <a:latin typeface="Liberation Mono"/>
                          <a:ea typeface="+mn-ea"/>
                          <a:cs typeface="+mn-cs"/>
                        </a:rPr>
                        <a:t>  CONCAT(</a:t>
                      </a:r>
                      <a:r>
                        <a:rPr kumimoji="0" lang="en-IN" sz="1800" i="1" kern="1200" dirty="0">
                          <a:solidFill>
                            <a:schemeClr val="tx1"/>
                          </a:solidFill>
                          <a:latin typeface="Liberation Mono"/>
                          <a:ea typeface="+mn-ea"/>
                          <a:cs typeface="+mn-cs"/>
                        </a:rPr>
                        <a:t>str1, str2</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mn-ea"/>
                          <a:cs typeface="+mn-cs"/>
                        </a:rPr>
                        <a:t>Returns the string that results from concatenating the arguments. CONCAT() </a:t>
                      </a:r>
                      <a:r>
                        <a:rPr kumimoji="0" lang="en-IN" sz="1800" b="1" kern="1200" dirty="0">
                          <a:solidFill>
                            <a:srgbClr val="C00000"/>
                          </a:solidFill>
                          <a:effectLst/>
                          <a:latin typeface="Liberation Mono"/>
                          <a:ea typeface="+mn-ea"/>
                          <a:cs typeface="+mn-cs"/>
                        </a:rPr>
                        <a:t>returns NULL if any argument is NULL</a:t>
                      </a:r>
                      <a:r>
                        <a:rPr kumimoji="0" lang="en-IN" sz="1800" kern="1200" dirty="0">
                          <a:solidFill>
                            <a:srgbClr val="C00000"/>
                          </a:solidFill>
                          <a:effectLst/>
                          <a:latin typeface="Liberation Mono"/>
                          <a:ea typeface="+mn-ea"/>
                          <a:cs typeface="+mn-cs"/>
                        </a:rPr>
                        <a:t>.</a:t>
                      </a:r>
                    </a:p>
                    <a:p>
                      <a:pPr>
                        <a:spcAft>
                          <a:spcPts val="0"/>
                        </a:spcAft>
                      </a:pPr>
                      <a:r>
                        <a:rPr kumimoji="0" lang="en-IN" sz="1800" b="0" kern="1200" dirty="0">
                          <a:solidFill>
                            <a:srgbClr val="FF0000"/>
                          </a:solidFill>
                          <a:effectLst/>
                          <a:latin typeface="Liberation Mono"/>
                          <a:ea typeface="+mn-ea"/>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mn-ea"/>
                          <a:cs typeface="+mn-cs"/>
                        </a:rPr>
                        <a:t>SELECT</a:t>
                      </a:r>
                      <a:r>
                        <a:rPr kumimoji="0" lang="en-IN" sz="1800" b="0" kern="1200" dirty="0">
                          <a:solidFill>
                            <a:srgbClr val="365860"/>
                          </a:solidFill>
                          <a:effectLst/>
                          <a:latin typeface="Liberation Mono"/>
                          <a:ea typeface="+mn-ea"/>
                          <a:cs typeface="+mn-cs"/>
                        </a:rPr>
                        <a:t> </a:t>
                      </a:r>
                      <a:r>
                        <a:rPr lang="en-IN" sz="1800" kern="1200" dirty="0">
                          <a:solidFill>
                            <a:srgbClr val="DD4A68"/>
                          </a:solidFill>
                          <a:latin typeface="Liberation Mono"/>
                          <a:ea typeface="+mn-ea"/>
                          <a:cs typeface="+mn-cs"/>
                        </a:rPr>
                        <a:t>CONCAT</a:t>
                      </a:r>
                      <a:r>
                        <a:rPr kumimoji="0" lang="en-IN" sz="1800" b="0" kern="1200" dirty="0">
                          <a:solidFill>
                            <a:schemeClr val="tx1">
                              <a:lumMod val="65000"/>
                              <a:lumOff val="35000"/>
                            </a:schemeClr>
                          </a:solidFill>
                          <a:effectLst/>
                          <a:latin typeface="Liberation Mono"/>
                          <a:ea typeface="+mn-ea"/>
                          <a:cs typeface="+mn-cs"/>
                        </a:rPr>
                        <a:t>(</a:t>
                      </a:r>
                      <a:r>
                        <a:rPr lang="en-IN" sz="1800" kern="1200" dirty="0">
                          <a:solidFill>
                            <a:srgbClr val="669900"/>
                          </a:solidFill>
                          <a:latin typeface="Liberation Mono"/>
                          <a:ea typeface="+mn-ea"/>
                          <a:cs typeface="+mn-cs"/>
                        </a:rPr>
                        <a:t>'Mr. ' </a:t>
                      </a:r>
                      <a:r>
                        <a:rPr kumimoji="0" lang="en-IN" sz="1800" b="0" kern="1200" dirty="0">
                          <a:solidFill>
                            <a:schemeClr val="tx1"/>
                          </a:solidFill>
                          <a:effectLst/>
                          <a:latin typeface="Liberation Mono"/>
                          <a:ea typeface="+mn-ea"/>
                          <a:cs typeface="+mn-cs"/>
                        </a:rPr>
                        <a:t>, ename</a:t>
                      </a:r>
                      <a:r>
                        <a:rPr kumimoji="0" lang="en-IN" sz="1800" b="0" kern="1200" dirty="0">
                          <a:solidFill>
                            <a:schemeClr val="tx1">
                              <a:lumMod val="65000"/>
                              <a:lumOff val="35000"/>
                            </a:schemeClr>
                          </a:solidFill>
                          <a:effectLst/>
                          <a:latin typeface="Liberation Mono"/>
                          <a:ea typeface="+mn-ea"/>
                          <a:cs typeface="+mn-cs"/>
                        </a:rPr>
                        <a:t>)</a:t>
                      </a:r>
                      <a:r>
                        <a:rPr kumimoji="0" lang="en-IN" sz="1800" b="0" kern="1200" dirty="0">
                          <a:solidFill>
                            <a:srgbClr val="365860"/>
                          </a:solidFill>
                          <a:effectLst/>
                          <a:latin typeface="Liberation Mono"/>
                          <a:ea typeface="+mn-ea"/>
                          <a:cs typeface="+mn-cs"/>
                        </a:rPr>
                        <a:t> </a:t>
                      </a:r>
                      <a:r>
                        <a:rPr kumimoji="0" lang="en-IN" sz="1800" b="0" kern="1200" dirty="0">
                          <a:solidFill>
                            <a:srgbClr val="0077AA"/>
                          </a:solidFill>
                          <a:latin typeface="Liberation Mono"/>
                          <a:ea typeface="+mn-ea"/>
                          <a:cs typeface="+mn-cs"/>
                        </a:rPr>
                        <a:t>FROM</a:t>
                      </a:r>
                      <a:r>
                        <a:rPr kumimoji="0" lang="en-IN" sz="1800" b="0" kern="1200" dirty="0">
                          <a:solidFill>
                            <a:srgbClr val="365860"/>
                          </a:solidFill>
                          <a:effectLst/>
                          <a:latin typeface="Liberation Mono"/>
                          <a:ea typeface="+mn-ea"/>
                          <a:cs typeface="+mn-cs"/>
                        </a:rPr>
                        <a:t> </a:t>
                      </a:r>
                      <a:r>
                        <a:rPr kumimoji="0" lang="en-IN" sz="1800" b="0" kern="1200" dirty="0">
                          <a:solidFill>
                            <a:schemeClr val="tx1"/>
                          </a:solidFill>
                          <a:effectLst/>
                          <a:latin typeface="Liberation Mono"/>
                          <a:ea typeface="+mn-ea"/>
                          <a:cs typeface="+mn-cs"/>
                        </a:rPr>
                        <a:t>emp;</a:t>
                      </a:r>
                    </a:p>
                    <a:p>
                      <a:pPr marL="285750" indent="-285750">
                        <a:spcAft>
                          <a:spcPts val="0"/>
                        </a:spcAft>
                        <a:buFont typeface="Arial" panose="020B0604020202020204" pitchFamily="34" charset="0"/>
                        <a:buChar char="•"/>
                      </a:pPr>
                      <a:r>
                        <a:rPr kumimoji="0" lang="en-US" sz="1800" b="0" kern="1200" dirty="0">
                          <a:solidFill>
                            <a:srgbClr val="0077AA"/>
                          </a:solidFill>
                          <a:latin typeface="Liberation Mono"/>
                          <a:ea typeface="+mn-ea"/>
                          <a:cs typeface="+mn-cs"/>
                        </a:rPr>
                        <a:t>SELECT</a:t>
                      </a:r>
                      <a:r>
                        <a:rPr kumimoji="0" lang="en-US" b="0" i="0" kern="1200" dirty="0">
                          <a:solidFill>
                            <a:schemeClr val="tx1"/>
                          </a:solidFill>
                          <a:effectLst/>
                          <a:latin typeface="Liberation Mono"/>
                          <a:ea typeface="+mn-ea"/>
                          <a:cs typeface="+mn-cs"/>
                        </a:rPr>
                        <a:t> </a:t>
                      </a:r>
                      <a:r>
                        <a:rPr lang="en-US" sz="1800" kern="1200" dirty="0">
                          <a:solidFill>
                            <a:srgbClr val="DD4A68"/>
                          </a:solidFill>
                          <a:latin typeface="Liberation Mono"/>
                          <a:ea typeface="+mn-ea"/>
                          <a:cs typeface="+mn-cs"/>
                        </a:rPr>
                        <a:t>CONCAT</a:t>
                      </a:r>
                      <a:r>
                        <a:rPr kumimoji="0" lang="en-US" b="0" i="0" kern="1200" dirty="0">
                          <a:solidFill>
                            <a:schemeClr val="tx1">
                              <a:lumMod val="65000"/>
                              <a:lumOff val="35000"/>
                            </a:schemeClr>
                          </a:solidFill>
                          <a:effectLst/>
                          <a:latin typeface="Liberation Mono"/>
                          <a:ea typeface="+mn-ea"/>
                          <a:cs typeface="+mn-cs"/>
                        </a:rPr>
                        <a:t>(</a:t>
                      </a:r>
                      <a:r>
                        <a:rPr kumimoji="0" lang="en-US" sz="1800" kern="1200" dirty="0">
                          <a:solidFill>
                            <a:srgbClr val="669900"/>
                          </a:solidFill>
                          <a:latin typeface="Liberation Mono"/>
                          <a:ea typeface="+mn-ea"/>
                          <a:cs typeface="+mn-cs"/>
                        </a:rPr>
                        <a:t>'My'</a:t>
                      </a:r>
                      <a:r>
                        <a:rPr kumimoji="0" lang="en-US" b="0" i="0" kern="1200" dirty="0">
                          <a:solidFill>
                            <a:schemeClr val="tx1"/>
                          </a:solidFill>
                          <a:effectLst/>
                          <a:latin typeface="Liberation Mono"/>
                          <a:ea typeface="+mn-ea"/>
                          <a:cs typeface="+mn-cs"/>
                        </a:rPr>
                        <a:t>, </a:t>
                      </a:r>
                      <a:r>
                        <a:rPr lang="en-US" sz="1800" kern="1200" dirty="0">
                          <a:solidFill>
                            <a:schemeClr val="accent4">
                              <a:lumMod val="50000"/>
                            </a:schemeClr>
                          </a:solidFill>
                          <a:latin typeface="Liberation Mono"/>
                          <a:ea typeface="+mn-ea"/>
                          <a:cs typeface="Arial" panose="020B0604020202020204" pitchFamily="34" charset="0"/>
                        </a:rPr>
                        <a:t>NULL</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'SQL'</a:t>
                      </a:r>
                      <a:r>
                        <a:rPr kumimoji="0" lang="en-US" b="0" i="0" kern="1200" dirty="0">
                          <a:solidFill>
                            <a:schemeClr val="tx1">
                              <a:lumMod val="65000"/>
                              <a:lumOff val="35000"/>
                            </a:schemeClr>
                          </a:solidFill>
                          <a:effectLst/>
                          <a:latin typeface="Liberation Mono"/>
                          <a:ea typeface="+mn-ea"/>
                          <a:cs typeface="+mn-cs"/>
                        </a:rPr>
                        <a:t>)</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#output will be NULL</a:t>
                      </a:r>
                      <a:endParaRPr kumimoji="0" lang="en-IN" sz="1800" kern="1200" dirty="0">
                        <a:solidFill>
                          <a:srgbClr val="669900"/>
                        </a:solidFill>
                        <a:latin typeface="Liberation Mono"/>
                        <a:ea typeface="+mn-ea"/>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ELT(</a:t>
                      </a:r>
                      <a:r>
                        <a:rPr kumimoji="0" lang="en-IN" sz="1800" i="1" kern="1200" dirty="0">
                          <a:solidFill>
                            <a:schemeClr val="tx1"/>
                          </a:solidFill>
                          <a:latin typeface="Liberation Mono"/>
                          <a:ea typeface="+mn-ea"/>
                          <a:cs typeface="+mn-cs"/>
                        </a:rPr>
                        <a:t>N, str1, str2, str3,</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mn-ea"/>
                          <a:cs typeface="+mn-cs"/>
                        </a:rPr>
                        <a:t>ELT() returns the Nth element of the list of strings: str1 if N = 1, str2 if N = 2, and so on. Returns NULL if N is less than 1 or greater than the number of arguments.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hiredate, </a:t>
                      </a:r>
                      <a:r>
                        <a:rPr lang="en-IN" sz="1800" kern="1200" dirty="0">
                          <a:solidFill>
                            <a:srgbClr val="DD4A68"/>
                          </a:solidFill>
                          <a:latin typeface="Liberation Mono"/>
                          <a:ea typeface="+mn-ea"/>
                          <a:cs typeface="+mn-cs"/>
                        </a:rPr>
                        <a:t>ELT</a:t>
                      </a:r>
                      <a:r>
                        <a:rPr kumimoji="0" lang="en-IN" sz="1800" b="0" kern="1200" dirty="0">
                          <a:solidFill>
                            <a:srgbClr val="365860"/>
                          </a:solidFill>
                          <a:effectLst/>
                          <a:latin typeface="Liberation Mono"/>
                          <a:ea typeface="+mn-ea"/>
                          <a:cs typeface="+mn-cs"/>
                        </a:rPr>
                        <a:t>(</a:t>
                      </a:r>
                      <a:r>
                        <a:rPr lang="en-IN" sz="1800" kern="1200" dirty="0">
                          <a:solidFill>
                            <a:srgbClr val="3F6971"/>
                          </a:solidFill>
                          <a:latin typeface="Liberation Mono"/>
                          <a:ea typeface="+mn-ea"/>
                          <a:cs typeface="+mn-cs"/>
                        </a:rPr>
                        <a:t>MONTH</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hiredate</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 R1 </a:t>
                      </a:r>
                      <a:r>
                        <a:rPr kumimoji="0" lang="en-IN" sz="1800" kern="1200" dirty="0">
                          <a:solidFill>
                            <a:srgbClr val="0077AA"/>
                          </a:solidFill>
                          <a:latin typeface="Liberation Mono"/>
                          <a:ea typeface="+mn-ea"/>
                          <a:cs typeface="+mn-cs"/>
                        </a:rPr>
                        <a:t>FROM</a:t>
                      </a:r>
                      <a:r>
                        <a:rPr kumimoji="0" lang="en-IN" sz="1800" b="0" kern="1200" dirty="0">
                          <a:solidFill>
                            <a:schemeClr val="tx1"/>
                          </a:solidFill>
                          <a:effectLst/>
                          <a:latin typeface="Liberation Mono"/>
                          <a:ea typeface="+mn-ea"/>
                          <a:cs typeface="+mn-cs"/>
                        </a:rPr>
                        <a:t> emp;</a:t>
                      </a:r>
                    </a:p>
                  </a:txBody>
                  <a:tcPr marL="68580" marR="68580" marT="0" marB="0" anchor="ctr"/>
                </a:tc>
                <a:extLst>
                  <a:ext uri="{0D108BD9-81ED-4DB2-BD59-A6C34878D82A}">
                    <a16:rowId xmlns:a16="http://schemas.microsoft.com/office/drawing/2014/main" val="1246386345"/>
                  </a:ext>
                </a:extLst>
              </a:tr>
            </a:tbl>
          </a:graphicData>
        </a:graphic>
      </p:graphicFrame>
      <p:sp>
        <p:nvSpPr>
          <p:cNvPr id="6" name="Rectangle 5"/>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3" name="TextBox 2">
            <a:extLst>
              <a:ext uri="{FF2B5EF4-FFF2-40B4-BE49-F238E27FC236}">
                <a16:creationId xmlns:a16="http://schemas.microsoft.com/office/drawing/2014/main" id="{E80E5048-42F7-F0FA-637C-C3A736698091}"/>
              </a:ext>
            </a:extLst>
          </p:cNvPr>
          <p:cNvSpPr txBox="1"/>
          <p:nvPr/>
        </p:nvSpPr>
        <p:spPr>
          <a:xfrm>
            <a:off x="275214" y="5887000"/>
            <a:ext cx="11724889" cy="98488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Name, rnk, </a:t>
            </a:r>
            <a:r>
              <a:rPr lang="en-IN" dirty="0">
                <a:solidFill>
                  <a:srgbClr val="DD4A68"/>
                </a:solidFill>
                <a:latin typeface="Liberation Mono"/>
              </a:rPr>
              <a:t>ELT</a:t>
            </a:r>
            <a:r>
              <a:rPr lang="en-IN" dirty="0">
                <a:latin typeface="Liberation Mono"/>
              </a:rPr>
              <a:t>(rnk,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'C'</a:t>
            </a:r>
            <a:r>
              <a:rPr lang="en-IN" dirty="0">
                <a:latin typeface="Liberation Mono"/>
              </a:rPr>
              <a:t>, </a:t>
            </a:r>
            <a:r>
              <a:rPr lang="en-IN" dirty="0">
                <a:solidFill>
                  <a:srgbClr val="00B050"/>
                </a:solidFill>
                <a:latin typeface="Liberation Mono"/>
              </a:rPr>
              <a:t>'D'</a:t>
            </a:r>
            <a:r>
              <a:rPr lang="en-IN" dirty="0">
                <a:latin typeface="Liberation Mono"/>
              </a:rPr>
              <a:t>) </a:t>
            </a:r>
            <a:r>
              <a:rPr lang="en-IN" i="1" dirty="0">
                <a:solidFill>
                  <a:schemeClr val="bg1">
                    <a:lumMod val="50000"/>
                  </a:schemeClr>
                </a:solidFill>
                <a:latin typeface="Liberation Mono"/>
              </a:rPr>
              <a:t>grade</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student;</a:t>
            </a:r>
          </a:p>
          <a:p>
            <a:pPr marL="285750" indent="-285750">
              <a:buFont typeface="Arial" panose="020B0604020202020204" pitchFamily="34" charset="0"/>
              <a:buChar char="•"/>
            </a:pPr>
            <a:endParaRPr lang="en-IN" sz="2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bankName, accountNumber, riskStatus,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riskStatus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'No risk'</a:t>
            </a:r>
            <a:r>
              <a:rPr lang="en-US" dirty="0">
                <a:latin typeface="Liberation Mono"/>
              </a:rPr>
              <a:t> </a:t>
            </a:r>
            <a:r>
              <a:rPr lang="en-US" dirty="0">
                <a:solidFill>
                  <a:srgbClr val="DB7BC9"/>
                </a:solidFill>
                <a:latin typeface="Liberation Mono"/>
              </a:rPr>
              <a:t>ELSE</a:t>
            </a:r>
            <a:r>
              <a:rPr lang="en-US" dirty="0">
                <a:latin typeface="Liberation Mono"/>
              </a:rPr>
              <a:t> </a:t>
            </a:r>
            <a:r>
              <a:rPr lang="en-IN" dirty="0">
                <a:solidFill>
                  <a:srgbClr val="DD4A68"/>
                </a:solidFill>
                <a:latin typeface="Liberation Mono"/>
              </a:rPr>
              <a:t>ELT</a:t>
            </a:r>
            <a:r>
              <a:rPr lang="en-US" dirty="0">
                <a:latin typeface="Liberation Mono"/>
              </a:rPr>
              <a:t>(riskStatus, </a:t>
            </a:r>
            <a:r>
              <a:rPr lang="en-US" dirty="0">
                <a:solidFill>
                  <a:srgbClr val="00B050"/>
                </a:solidFill>
                <a:latin typeface="Liberation Mono"/>
              </a:rPr>
              <a:t>'Low'</a:t>
            </a:r>
            <a:r>
              <a:rPr lang="en-US" dirty="0">
                <a:latin typeface="Liberation Mono"/>
              </a:rPr>
              <a:t>, </a:t>
            </a:r>
            <a:r>
              <a:rPr lang="en-US" dirty="0">
                <a:solidFill>
                  <a:srgbClr val="00B050"/>
                </a:solidFill>
                <a:latin typeface="Liberation Mono"/>
              </a:rPr>
              <a:t>'Moderate'</a:t>
            </a:r>
            <a:r>
              <a:rPr lang="en-US" dirty="0">
                <a:latin typeface="Liberation Mono"/>
              </a:rPr>
              <a:t>, </a:t>
            </a:r>
            <a:r>
              <a:rPr lang="en-US" dirty="0">
                <a:solidFill>
                  <a:srgbClr val="00B050"/>
                </a:solidFill>
                <a:latin typeface="Liberation Mono"/>
              </a:rPr>
              <a:t>'High'</a:t>
            </a:r>
            <a:r>
              <a:rPr lang="en-US" dirty="0">
                <a:latin typeface="Liberation Mono"/>
              </a:rPr>
              <a:t>, </a:t>
            </a:r>
            <a:r>
              <a:rPr lang="en-US" dirty="0">
                <a:solidFill>
                  <a:srgbClr val="00B050"/>
                </a:solidFill>
                <a:latin typeface="Liberation Mono"/>
              </a:rPr>
              <a:t>'Critical'</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riskStatus</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bankLoan;</a:t>
            </a:r>
            <a:endParaRPr lang="en-IN" dirty="0">
              <a:latin typeface="Liberation Mono"/>
            </a:endParaRPr>
          </a:p>
        </p:txBody>
      </p:sp>
    </p:spTree>
    <p:extLst>
      <p:ext uri="{BB962C8B-B14F-4D97-AF65-F5344CB8AC3E}">
        <p14:creationId xmlns:p14="http://schemas.microsoft.com/office/powerpoint/2010/main" val="4035298888"/>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48640033"/>
              </p:ext>
            </p:extLst>
          </p:nvPr>
        </p:nvGraphicFramePr>
        <p:xfrm>
          <a:off x="263352" y="612000"/>
          <a:ext cx="11593288" cy="3751578"/>
        </p:xfrm>
        <a:graphic>
          <a:graphicData uri="http://schemas.openxmlformats.org/drawingml/2006/table">
            <a:tbl>
              <a:tblPr firstRow="1" bandRow="1">
                <a:tableStyleId>{7E9639D4-E3E2-4D34-9284-5A2195B3D0D7}</a:tableStyleId>
              </a:tblPr>
              <a:tblGrid>
                <a:gridCol w="2608490">
                  <a:extLst>
                    <a:ext uri="{9D8B030D-6E8A-4147-A177-3AD203B41FA5}">
                      <a16:colId xmlns:a16="http://schemas.microsoft.com/office/drawing/2014/main" val="20000"/>
                    </a:ext>
                  </a:extLst>
                </a:gridCol>
                <a:gridCol w="898479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STRCMP(</a:t>
                      </a:r>
                      <a:r>
                        <a:rPr kumimoji="0" lang="en-IN" sz="1800" i="1" kern="1200" dirty="0">
                          <a:solidFill>
                            <a:schemeClr val="tx2"/>
                          </a:solidFill>
                          <a:latin typeface="Liberation Mono"/>
                          <a:ea typeface="+mn-ea"/>
                          <a:cs typeface="+mn-cs"/>
                        </a:rPr>
                        <a:t>expr1</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expr2</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STRCMP() returns 0 if the strings are the same, -1 if the first argument is smaller than the second according to the current sort order, and 1 otherwise.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LCASE(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lower case string. LCASE()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b="0" kern="1200" dirty="0">
                          <a:solidFill>
                            <a:srgbClr val="0077AA"/>
                          </a:solidFill>
                          <a:latin typeface="Liberation Mono"/>
                          <a:ea typeface="+mn-ea"/>
                          <a:cs typeface="+mn-cs"/>
                        </a:rPr>
                        <a:t>LOWER()</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3850319852"/>
                  </a:ext>
                </a:extLst>
              </a:tr>
              <a:tr h="442383">
                <a:tc>
                  <a:txBody>
                    <a:bodyPr/>
                    <a:lstStyle/>
                    <a:p>
                      <a:r>
                        <a:rPr kumimoji="0" lang="en-US" sz="1800" kern="1200" dirty="0">
                          <a:solidFill>
                            <a:srgbClr val="0077AA"/>
                          </a:solidFill>
                          <a:latin typeface="Liberation Mono"/>
                          <a:ea typeface="+mn-ea"/>
                          <a:cs typeface="+mn-cs"/>
                        </a:rPr>
                        <a:t>  UCASE(</a:t>
                      </a:r>
                      <a:r>
                        <a:rPr kumimoji="0" lang="en-US" sz="1800" i="1" kern="1200" dirty="0">
                          <a:solidFill>
                            <a:schemeClr val="tx2"/>
                          </a:solidFill>
                          <a:latin typeface="Liberation Mono"/>
                          <a:ea typeface="+mn-ea"/>
                          <a:cs typeface="+mn-cs"/>
                        </a:rPr>
                        <a:t>str</a:t>
                      </a:r>
                      <a:r>
                        <a:rPr kumimoji="0" lang="en-US"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upper case string. </a:t>
                      </a:r>
                      <a:r>
                        <a:rPr kumimoji="0" lang="en-US" sz="1800" kern="1200" dirty="0">
                          <a:solidFill>
                            <a:schemeClr val="tx1"/>
                          </a:solidFill>
                          <a:effectLst/>
                          <a:latin typeface="Liberation Mono"/>
                          <a:ea typeface="Times New Roman" panose="02020603050405020304" pitchFamily="18" charset="0"/>
                          <a:cs typeface="+mn-cs"/>
                        </a:rPr>
                        <a:t>UCASE() </a:t>
                      </a:r>
                      <a:r>
                        <a:rPr kumimoji="0" lang="en-US" sz="1800" b="1" kern="1200" dirty="0">
                          <a:solidFill>
                            <a:schemeClr val="tx1"/>
                          </a:solidFill>
                          <a:effectLst/>
                          <a:latin typeface="Liberation Mono"/>
                          <a:ea typeface="Times New Roman" panose="02020603050405020304" pitchFamily="18" charset="0"/>
                          <a:cs typeface="+mn-cs"/>
                        </a:rPr>
                        <a:t>is a synonym for </a:t>
                      </a:r>
                      <a:r>
                        <a:rPr kumimoji="0" lang="en-US" sz="1800" kern="1200" dirty="0">
                          <a:solidFill>
                            <a:srgbClr val="0077AA"/>
                          </a:solidFill>
                          <a:latin typeface="Liberation Mono"/>
                          <a:ea typeface="+mn-ea"/>
                          <a:cs typeface="+mn-cs"/>
                        </a:rPr>
                        <a:t>UPPER().</a:t>
                      </a:r>
                      <a:endParaRPr kumimoji="0" lang="en-IN" sz="1800" kern="1200" dirty="0">
                        <a:solidFill>
                          <a:srgbClr val="0077AA"/>
                        </a:solidFill>
                        <a:latin typeface="Liberation Mono"/>
                        <a:ea typeface="+mn-ea"/>
                        <a:cs typeface="+mn-cs"/>
                      </a:endParaRPr>
                    </a:p>
                  </a:txBody>
                  <a:tcPr marL="68580" marR="68580" marT="0" marB="0" anchor="ctr"/>
                </a:tc>
                <a:extLst>
                  <a:ext uri="{0D108BD9-81ED-4DB2-BD59-A6C34878D82A}">
                    <a16:rowId xmlns:a16="http://schemas.microsoft.com/office/drawing/2014/main" val="131284331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LENGTH(</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length of the string.</a:t>
                      </a:r>
                    </a:p>
                  </a:txBody>
                  <a:tcPr marL="68580" marR="68580" marT="0" marB="0" anchor="ctr"/>
                </a:tc>
                <a:extLst>
                  <a:ext uri="{0D108BD9-81ED-4DB2-BD59-A6C34878D82A}">
                    <a16:rowId xmlns:a16="http://schemas.microsoft.com/office/drawing/2014/main" val="40497633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left-padded with the string padstr to a length of len characters.</a:t>
                      </a:r>
                    </a:p>
                  </a:txBody>
                  <a:tcPr marL="68580" marR="68580" marT="0" marB="0" anchor="ctr"/>
                </a:tc>
                <a:extLst>
                  <a:ext uri="{0D108BD9-81ED-4DB2-BD59-A6C34878D82A}">
                    <a16:rowId xmlns:a16="http://schemas.microsoft.com/office/drawing/2014/main" val="9437851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right-padded with the string padstr to a length of len characters.</a:t>
                      </a:r>
                    </a:p>
                  </a:txBody>
                  <a:tcPr marL="68580" marR="68580" marT="0" marB="0" anchor="ctr"/>
                </a:tc>
                <a:extLst>
                  <a:ext uri="{0D108BD9-81ED-4DB2-BD59-A6C34878D82A}">
                    <a16:rowId xmlns:a16="http://schemas.microsoft.com/office/drawing/2014/main" val="257978394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REPEAT(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count</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a string consisting of the string str repeated count times. If count is less than 1, returns an empty string. Returns NULL if str or count are NULL.</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19333525"/>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636C5366-1A25-4A7C-8FA6-A5D38F3F5218}"/>
              </a:ext>
            </a:extLst>
          </p:cNvPr>
          <p:cNvSpPr txBox="1"/>
          <p:nvPr/>
        </p:nvSpPr>
        <p:spPr>
          <a:xfrm>
            <a:off x="263352" y="4437112"/>
            <a:ext cx="11593288" cy="249299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00B050"/>
                </a:solidFill>
                <a:latin typeface="Liberation Mono"/>
              </a:rPr>
              <a:t>'#'</a:t>
            </a:r>
            <a:r>
              <a:rPr lang="en-US" dirty="0">
                <a:latin typeface="Liberation Mono"/>
              </a:rPr>
              <a:t>), bookName, Type, Cost </a:t>
            </a:r>
            <a:r>
              <a:rPr lang="en-US" dirty="0">
                <a:solidFill>
                  <a:srgbClr val="0077AA"/>
                </a:solidFill>
                <a:latin typeface="Liberation Mono"/>
                <a:cs typeface="Times New Roman" panose="02020603050405020304" pitchFamily="18" charset="0"/>
              </a:rPr>
              <a:t>FROM</a:t>
            </a:r>
            <a:r>
              <a:rPr lang="en-US" dirty="0">
                <a:latin typeface="Liberation Mono"/>
              </a:rPr>
              <a:t> books;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(prodid, </a:t>
            </a:r>
            <a:r>
              <a:rPr lang="en-US" dirty="0">
                <a:solidFill>
                  <a:srgbClr val="990055"/>
                </a:solidFill>
                <a:latin typeface="Liberation Mono"/>
              </a:rPr>
              <a:t>9</a:t>
            </a:r>
            <a:r>
              <a:rPr lang="en-US" dirty="0">
                <a:latin typeface="Liberation Mono"/>
              </a:rPr>
              <a:t>, </a:t>
            </a:r>
            <a:r>
              <a:rPr lang="en-US" dirty="0">
                <a:solidFill>
                  <a:srgbClr val="00B050"/>
                </a:solidFill>
                <a:latin typeface="Liberation Mono"/>
              </a:rPr>
              <a:t>'x'</a:t>
            </a:r>
            <a:r>
              <a:rPr lang="en-US" dirty="0">
                <a:latin typeface="Liberation Mono"/>
              </a:rPr>
              <a:t>), Descrip, Price </a:t>
            </a:r>
            <a:r>
              <a:rPr lang="en-US" dirty="0">
                <a:solidFill>
                  <a:srgbClr val="0077AA"/>
                </a:solidFill>
                <a:latin typeface="Liberation Mono"/>
                <a:cs typeface="Times New Roman" panose="02020603050405020304" pitchFamily="18" charset="0"/>
              </a:rPr>
              <a:t>FROM</a:t>
            </a:r>
            <a:r>
              <a:rPr lang="en-US" dirty="0">
                <a:latin typeface="Liberation Mono"/>
              </a:rPr>
              <a:t> product;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latin typeface="Liberation Mono"/>
              </a:rPr>
              <a:t>('TKT',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990055"/>
                </a:solidFill>
                <a:latin typeface="Liberation Mono"/>
              </a:rPr>
              <a:t>0</a:t>
            </a:r>
            <a:r>
              <a:rPr lang="en-US" dirty="0">
                <a:latin typeface="Liberation Mono"/>
              </a:rPr>
              <a:t>)) </a:t>
            </a:r>
            <a:r>
              <a:rPr lang="en-US" i="1" dirty="0">
                <a:solidFill>
                  <a:schemeClr val="bg1">
                    <a:lumMod val="50000"/>
                  </a:schemeClr>
                </a:solidFill>
                <a:latin typeface="Liberation Mono"/>
              </a:rPr>
              <a:t>'Ticket ID' </a:t>
            </a:r>
            <a:r>
              <a:rPr lang="en-US" dirty="0">
                <a:solidFill>
                  <a:srgbClr val="0077AA"/>
                </a:solidFill>
                <a:latin typeface="Liberation Mono"/>
                <a:cs typeface="Times New Roman" panose="02020603050405020304" pitchFamily="18" charset="0"/>
              </a:rPr>
              <a:t>FROM</a:t>
            </a:r>
            <a:r>
              <a:rPr lang="en-US" dirty="0">
                <a:latin typeface="Liberation Mono"/>
              </a:rPr>
              <a:t> hall_ticket;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BINARY</a:t>
            </a:r>
            <a:r>
              <a:rPr lang="en-US" dirty="0">
                <a:latin typeface="Liberation Mono"/>
              </a:rPr>
              <a:t> ename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latin typeface="Liberation Mono"/>
              </a:rPr>
              <a:t>(ename);</a:t>
            </a:r>
          </a:p>
          <a:p>
            <a:pPr marL="285750" indent="-285750">
              <a:buFont typeface="Arial" panose="020B0604020202020204" pitchFamily="34" charset="0"/>
              <a:buChar char="•"/>
            </a:pPr>
            <a:endParaRPr lang="en-US"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'In Process'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'(I)'</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'Delivered'</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'(D)'</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'TODO'</a:t>
            </a:r>
            <a:r>
              <a:rPr lang="en-US" dirty="0">
                <a:latin typeface="Liberation Mono"/>
              </a:rPr>
              <a:t> </a:t>
            </a:r>
            <a:r>
              <a:rPr lang="en-US" dirty="0">
                <a:solidFill>
                  <a:srgbClr val="DB7BC9"/>
                </a:solidFill>
                <a:latin typeface="Liberation Mono"/>
              </a:rPr>
              <a:t>END</a:t>
            </a:r>
            <a:r>
              <a:rPr lang="en-US" dirty="0">
                <a:latin typeface="Liberation Mono"/>
              </a:rPr>
              <a:t> ordid, orderDate, custID, Status, Total </a:t>
            </a:r>
            <a:r>
              <a:rPr lang="en-US" dirty="0">
                <a:solidFill>
                  <a:srgbClr val="0077AA"/>
                </a:solidFill>
                <a:latin typeface="Liberation Mono"/>
                <a:cs typeface="Times New Roman" panose="02020603050405020304" pitchFamily="18" charset="0"/>
              </a:rPr>
              <a:t>FROM</a:t>
            </a:r>
            <a:r>
              <a:rPr lang="en-US" dirty="0">
                <a:latin typeface="Liberation Mono"/>
              </a:rPr>
              <a:t> ord;</a:t>
            </a:r>
          </a:p>
        </p:txBody>
      </p:sp>
    </p:spTree>
    <p:extLst>
      <p:ext uri="{BB962C8B-B14F-4D97-AF65-F5344CB8AC3E}">
        <p14:creationId xmlns:p14="http://schemas.microsoft.com/office/powerpoint/2010/main" val="981062780"/>
      </p:ext>
    </p:extLst>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EE94AB1-8741-8033-FE4E-976011201129}"/>
              </a:ext>
            </a:extLst>
          </p:cNvPr>
          <p:cNvSpPr txBox="1"/>
          <p:nvPr/>
        </p:nvSpPr>
        <p:spPr>
          <a:xfrm>
            <a:off x="259142" y="4869160"/>
            <a:ext cx="11736000" cy="1261884"/>
          </a:xfrm>
          <a:prstGeom prst="rect">
            <a:avLst/>
          </a:prstGeom>
          <a:noFill/>
        </p:spPr>
        <p:txBody>
          <a:bodyPr wrap="square">
            <a:spAutoFit/>
          </a:bodyPr>
          <a:lstStyle/>
          <a:p>
            <a:r>
              <a:rPr kumimoji="0" lang="en-US" sz="1800" kern="1200" dirty="0">
                <a:solidFill>
                  <a:srgbClr val="0077AA"/>
                </a:solidFill>
                <a:latin typeface="Liberation Mono"/>
                <a:ea typeface="+mn-ea"/>
                <a:cs typeface="+mn-cs"/>
              </a:rPr>
              <a:t>FIND_IN_SET</a:t>
            </a:r>
            <a:r>
              <a:rPr lang="en-US" dirty="0">
                <a:solidFill>
                  <a:srgbClr val="0077AA"/>
                </a:solidFill>
                <a:latin typeface="Liberation Mono"/>
              </a:rPr>
              <a:t>:- </a:t>
            </a:r>
            <a:r>
              <a:rPr lang="en-US" dirty="0">
                <a:latin typeface="Liberation Mono"/>
              </a:rPr>
              <a:t> This function of MySQL is used to find the position of a string within a comma-separated list of strings.</a:t>
            </a:r>
            <a:endParaRPr kumimoji="0" lang="en-US" sz="1800" kern="1200" dirty="0">
              <a:latin typeface="Liberation Mono"/>
              <a:ea typeface="+mn-ea"/>
              <a:cs typeface="+mn-cs"/>
            </a:endParaRPr>
          </a:p>
          <a:p>
            <a:pPr algn="l"/>
            <a:endParaRPr lang="en-US" sz="400" b="0" i="0" dirty="0">
              <a:solidFill>
                <a:srgbClr val="000000"/>
              </a:solidFill>
              <a:effectLst/>
              <a:latin typeface="Liberation Mono"/>
            </a:endParaRP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is not found in </a:t>
            </a:r>
            <a:r>
              <a:rPr lang="en-US" b="0" i="1" dirty="0">
                <a:solidFill>
                  <a:srgbClr val="000000"/>
                </a:solidFill>
                <a:effectLst/>
                <a:latin typeface="Liberation Mono"/>
              </a:rPr>
              <a:t>string_list</a:t>
            </a:r>
            <a:r>
              <a:rPr lang="en-US" b="0" i="0" dirty="0">
                <a:solidFill>
                  <a:srgbClr val="000000"/>
                </a:solidFill>
                <a:effectLst/>
                <a:latin typeface="Liberation Mono"/>
              </a:rPr>
              <a:t>, this function returns 0</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or </a:t>
            </a:r>
            <a:r>
              <a:rPr lang="en-US" b="0" i="1" dirty="0">
                <a:solidFill>
                  <a:srgbClr val="000000"/>
                </a:solidFill>
                <a:effectLst/>
                <a:latin typeface="Liberation Mono"/>
              </a:rPr>
              <a:t>string_list</a:t>
            </a:r>
            <a:r>
              <a:rPr lang="en-US" b="0" i="0" dirty="0">
                <a:solidFill>
                  <a:srgbClr val="000000"/>
                </a:solidFill>
                <a:effectLst/>
                <a:latin typeface="Liberation Mono"/>
              </a:rPr>
              <a:t> is NULL, this function returns NULL</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string_list</a:t>
            </a:r>
            <a:r>
              <a:rPr lang="en-US" b="0" i="0" dirty="0">
                <a:solidFill>
                  <a:srgbClr val="000000"/>
                </a:solidFill>
                <a:effectLst/>
                <a:latin typeface="Liberation Mono"/>
              </a:rPr>
              <a:t> is an empty string (""), this function returns 0</a:t>
            </a:r>
          </a:p>
        </p:txBody>
      </p:sp>
      <p:graphicFrame>
        <p:nvGraphicFramePr>
          <p:cNvPr id="4" name="Table 3"/>
          <p:cNvGraphicFramePr>
            <a:graphicFrameLocks noGrp="1"/>
          </p:cNvGraphicFramePr>
          <p:nvPr>
            <p:extLst>
              <p:ext uri="{D42A27DB-BD31-4B8C-83A1-F6EECF244321}">
                <p14:modId xmlns:p14="http://schemas.microsoft.com/office/powerpoint/2010/main" val="1281043904"/>
              </p:ext>
            </p:extLst>
          </p:nvPr>
        </p:nvGraphicFramePr>
        <p:xfrm>
          <a:off x="263352" y="612000"/>
          <a:ext cx="11665296" cy="4193961"/>
        </p:xfrm>
        <a:graphic>
          <a:graphicData uri="http://schemas.openxmlformats.org/drawingml/2006/table">
            <a:tbl>
              <a:tblPr firstRow="1" bandRow="1">
                <a:tableStyleId>{7E9639D4-E3E2-4D34-9284-5A2195B3D0D7}</a:tableStyleId>
              </a:tblPr>
              <a:tblGrid>
                <a:gridCol w="2880310">
                  <a:extLst>
                    <a:ext uri="{9D8B030D-6E8A-4147-A177-3AD203B41FA5}">
                      <a16:colId xmlns:a16="http://schemas.microsoft.com/office/drawing/2014/main" val="20000"/>
                    </a:ext>
                  </a:extLst>
                </a:gridCol>
                <a:gridCol w="878498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LEFT(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leftmost len characters from the string str, or NULL if any argument is NULL.</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RIGHT(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rightmost len characters from the string str, or NULL if any argument is NULL.</a:t>
                      </a: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space characters removed.</a:t>
                      </a: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trailing space characters removed.</a:t>
                      </a: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and trailing space characters removed.</a:t>
                      </a: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rgbClr val="0077AA"/>
                          </a:solidFill>
                          <a:latin typeface="Liberation Mono"/>
                          <a:ea typeface="+mn-ea"/>
                          <a:cs typeface="+mn-cs"/>
                        </a:rPr>
                        <a:t>  </a:t>
                      </a:r>
                      <a:r>
                        <a:rPr kumimoji="0" lang="en-IN" sz="1800" kern="1200" dirty="0">
                          <a:solidFill>
                            <a:srgbClr val="0077AA"/>
                          </a:solidFill>
                          <a:latin typeface="Liberation Mono"/>
                          <a:ea typeface="+mn-ea"/>
                          <a:cs typeface="+mn-cs"/>
                        </a:rPr>
                        <a:t>BINARY </a:t>
                      </a:r>
                      <a:r>
                        <a:rPr kumimoji="0" lang="en-IN" sz="1800" i="1" kern="1200" dirty="0">
                          <a:solidFill>
                            <a:schemeClr val="tx2"/>
                          </a:solidFill>
                          <a:latin typeface="Liberation Mono"/>
                          <a:ea typeface="+mn-ea"/>
                          <a:cs typeface="+mn-cs"/>
                        </a:rPr>
                        <a:t>value</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Convert a value to a binary string.</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INSTR(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substr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that will be searched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substr,</a:t>
                      </a:r>
                      <a:r>
                        <a:rPr kumimoji="0" lang="en-US" b="0" i="0" kern="1200" dirty="0">
                          <a:solidFill>
                            <a:schemeClr val="tx1"/>
                          </a:solidFill>
                          <a:effectLst/>
                          <a:latin typeface="Liberation Mono"/>
                          <a:ea typeface="+mn-ea"/>
                          <a:cs typeface="+mn-cs"/>
                        </a:rPr>
                        <a:t> The string to search for in string1. If string2 is not found, this function returns 0</a:t>
                      </a: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to search for</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i="1" kern="1200" dirty="0">
                          <a:solidFill>
                            <a:schemeClr val="tx2"/>
                          </a:solidFill>
                          <a:latin typeface="Liberation Mono"/>
                          <a:ea typeface="+mn-ea"/>
                          <a:cs typeface="+mn-cs"/>
                        </a:rPr>
                        <a:t>string_list,</a:t>
                      </a:r>
                      <a:r>
                        <a:rPr kumimoji="0" lang="en-US" b="0" i="0" kern="1200" dirty="0">
                          <a:solidFill>
                            <a:schemeClr val="tx1"/>
                          </a:solidFill>
                          <a:effectLst/>
                          <a:latin typeface="Liberation Mono"/>
                          <a:ea typeface="+mn-ea"/>
                          <a:cs typeface="+mn-cs"/>
                        </a:rPr>
                        <a:t> The list of string values to be searched (separated by commas)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5DA27EB5-7BE0-D71D-E6B0-513087A03922}"/>
              </a:ext>
            </a:extLst>
          </p:cNvPr>
          <p:cNvSpPr txBox="1"/>
          <p:nvPr/>
        </p:nvSpPr>
        <p:spPr>
          <a:xfrm>
            <a:off x="259142" y="6165304"/>
            <a:ext cx="11665295"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a:t>
            </a:r>
            <a:r>
              <a:rPr lang="en-US" dirty="0">
                <a:solidFill>
                  <a:srgbClr val="DD4A68"/>
                </a:solidFill>
                <a:latin typeface="Liberation Mono"/>
              </a:rPr>
              <a:t>BINARY</a:t>
            </a:r>
            <a:r>
              <a:rPr lang="en-US" dirty="0">
                <a:latin typeface="Liberation Mono"/>
              </a:rPr>
              <a:t> ename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p:txBody>
      </p:sp>
    </p:spTree>
    <p:extLst>
      <p:ext uri="{BB962C8B-B14F-4D97-AF65-F5344CB8AC3E}">
        <p14:creationId xmlns:p14="http://schemas.microsoft.com/office/powerpoint/2010/main" val="214379081"/>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C90CE-649F-30C6-0A64-6797475DF292}"/>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11B2637D-A5CA-30EA-3CB6-1BC632ACB083}"/>
              </a:ext>
            </a:extLst>
          </p:cNvPr>
          <p:cNvGraphicFramePr>
            <a:graphicFrameLocks noGrp="1"/>
          </p:cNvGraphicFramePr>
          <p:nvPr>
            <p:extLst>
              <p:ext uri="{D42A27DB-BD31-4B8C-83A1-F6EECF244321}">
                <p14:modId xmlns:p14="http://schemas.microsoft.com/office/powerpoint/2010/main" val="1870842038"/>
              </p:ext>
            </p:extLst>
          </p:nvPr>
        </p:nvGraphicFramePr>
        <p:xfrm>
          <a:off x="263352" y="612000"/>
          <a:ext cx="11665296" cy="4362024"/>
        </p:xfrm>
        <a:graphic>
          <a:graphicData uri="http://schemas.openxmlformats.org/drawingml/2006/table">
            <a:tbl>
              <a:tblPr firstRow="1" bandRow="1">
                <a:tableStyleId>{7E9639D4-E3E2-4D34-9284-5A2195B3D0D7}</a:tableStyleId>
              </a:tblPr>
              <a:tblGrid>
                <a:gridCol w="5112568">
                  <a:extLst>
                    <a:ext uri="{9D8B030D-6E8A-4147-A177-3AD203B41FA5}">
                      <a16:colId xmlns:a16="http://schemas.microsoft.com/office/drawing/2014/main" val="20000"/>
                    </a:ext>
                  </a:extLst>
                </a:gridCol>
                <a:gridCol w="655272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CONCAT_WS(</a:t>
                      </a:r>
                      <a:r>
                        <a:rPr kumimoji="0" lang="en-IN" sz="1800" i="1" kern="1200" dirty="0">
                          <a:solidFill>
                            <a:schemeClr val="tx2"/>
                          </a:solidFill>
                          <a:latin typeface="Liberation Mono"/>
                          <a:ea typeface="+mn-ea"/>
                          <a:cs typeface="+mn-cs"/>
                        </a:rPr>
                        <a:t>separator</a:t>
                      </a:r>
                      <a:r>
                        <a:rPr lang="en-IN" dirty="0"/>
                        <a:t>, </a:t>
                      </a:r>
                      <a:r>
                        <a:rPr kumimoji="0" lang="en-IN" sz="1800" i="1" kern="1200" dirty="0">
                          <a:solidFill>
                            <a:schemeClr val="tx2"/>
                          </a:solidFill>
                          <a:latin typeface="Liberation Mono"/>
                          <a:ea typeface="+mn-ea"/>
                          <a:cs typeface="+mn-cs"/>
                        </a:rPr>
                        <a:t>string1</a:t>
                      </a:r>
                      <a:r>
                        <a:rPr lang="en-IN" dirty="0"/>
                        <a:t>, </a:t>
                      </a:r>
                      <a:r>
                        <a:rPr kumimoji="0" lang="en-IN" sz="1800" i="1" kern="1200" dirty="0">
                          <a:solidFill>
                            <a:schemeClr val="tx2"/>
                          </a:solidFill>
                          <a:latin typeface="Liberation Mono"/>
                          <a:ea typeface="+mn-ea"/>
                          <a:cs typeface="+mn-cs"/>
                        </a:rPr>
                        <a:t>string2</a:t>
                      </a:r>
                      <a:r>
                        <a:rPr lang="en-IN" dirty="0"/>
                        <a:t>, </a:t>
                      </a:r>
                      <a:r>
                        <a:rPr kumimoji="0" lang="en-IN" sz="1800" i="1" kern="1200" dirty="0">
                          <a:solidFill>
                            <a:schemeClr val="tx2"/>
                          </a:solidFill>
                          <a:latin typeface="Liberation Mono"/>
                          <a:ea typeface="+mn-ea"/>
                          <a:cs typeface="+mn-cs"/>
                        </a:rPr>
                        <a:t>string3</a:t>
                      </a:r>
                      <a:r>
                        <a:rPr lang="en-IN" dirty="0"/>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lvl="0" indent="-285750">
                        <a:buFont typeface="Arial" panose="020B0604020202020204" pitchFamily="34" charset="0"/>
                        <a:buChar char="•"/>
                      </a:pPr>
                      <a:r>
                        <a:rPr lang="en-IN" b="0" dirty="0"/>
                        <a:t>separator → Character/string placed between each value. </a:t>
                      </a:r>
                    </a:p>
                    <a:p>
                      <a:pPr marL="285750" lvl="0" indent="-285750">
                        <a:buFont typeface="Arial" panose="020B0604020202020204" pitchFamily="34" charset="0"/>
                        <a:buChar char="•"/>
                      </a:pPr>
                      <a:r>
                        <a:rPr lang="en-IN" b="0" dirty="0"/>
                        <a:t>string1, string2, ... → Values that you want to concatenate. </a:t>
                      </a:r>
                    </a:p>
                    <a:p>
                      <a:pPr marL="285750" lvl="0" indent="-285750">
                        <a:buFont typeface="Arial" panose="020B0604020202020204" pitchFamily="34" charset="0"/>
                        <a:buChar char="•"/>
                      </a:pPr>
                      <a:r>
                        <a:rPr kumimoji="0" lang="en-IN" b="0" kern="1200" dirty="0">
                          <a:solidFill>
                            <a:schemeClr val="tx1"/>
                          </a:solidFill>
                          <a:latin typeface="+mn-lt"/>
                          <a:ea typeface="+mn-ea"/>
                          <a:cs typeface="+mn-cs"/>
                        </a:rPr>
                        <a:t>NULL</a:t>
                      </a:r>
                      <a:r>
                        <a:rPr lang="en-IN" b="0" dirty="0"/>
                        <a:t> values are skipped by </a:t>
                      </a:r>
                      <a:r>
                        <a:rPr kumimoji="0" lang="en-IN" b="0" kern="1200" dirty="0">
                          <a:solidFill>
                            <a:schemeClr val="tx1"/>
                          </a:solidFill>
                          <a:latin typeface="+mn-lt"/>
                          <a:ea typeface="+mn-ea"/>
                          <a:cs typeface="+mn-cs"/>
                        </a:rPr>
                        <a:t>CONCAT_WS()</a:t>
                      </a:r>
                      <a:r>
                        <a:rPr lang="en-IN" b="0" dirty="0"/>
                        <a:t>.</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REGEXP_REPLACE</a:t>
                      </a:r>
                      <a:r>
                        <a:rPr lang="en-IN" dirty="0">
                          <a:latin typeface="Liberation Mono"/>
                        </a:rPr>
                        <a:t>(</a:t>
                      </a:r>
                      <a:r>
                        <a:rPr lang="en-IN" i="1" dirty="0">
                          <a:latin typeface="Liberation Mono"/>
                        </a:rPr>
                        <a:t>expr</a:t>
                      </a:r>
                      <a:r>
                        <a:rPr lang="en-IN" dirty="0">
                          <a:latin typeface="Liberation Mono"/>
                        </a:rPr>
                        <a:t>, </a:t>
                      </a:r>
                      <a:r>
                        <a:rPr lang="en-IN" i="1" dirty="0">
                          <a:latin typeface="Liberation Mono"/>
                        </a:rPr>
                        <a:t>pattern</a:t>
                      </a:r>
                      <a:r>
                        <a:rPr lang="en-IN" dirty="0">
                          <a:latin typeface="Liberation Mono"/>
                        </a:rPr>
                        <a:t>, </a:t>
                      </a:r>
                      <a:r>
                        <a:rPr lang="en-IN" i="1" dirty="0">
                          <a:latin typeface="Liberation Mono"/>
                        </a:rPr>
                        <a:t>replacement</a:t>
                      </a:r>
                      <a:r>
                        <a:rPr lang="en-IN" dirty="0">
                          <a:latin typeface="Liberation Mono"/>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i="1" kern="1200" dirty="0">
                        <a:solidFill>
                          <a:schemeClr val="tx2"/>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a:extLst>
              <a:ext uri="{FF2B5EF4-FFF2-40B4-BE49-F238E27FC236}">
                <a16:creationId xmlns:a16="http://schemas.microsoft.com/office/drawing/2014/main" id="{3ADD164D-EEAD-5BD6-5EEB-1C0BB73F910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CBBD1052-36E9-C078-53E4-58FE3ABF1626}"/>
              </a:ext>
            </a:extLst>
          </p:cNvPr>
          <p:cNvSpPr txBox="1"/>
          <p:nvPr/>
        </p:nvSpPr>
        <p:spPr>
          <a:xfrm>
            <a:off x="267563" y="5170779"/>
            <a:ext cx="11656874" cy="369332"/>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a:t>
            </a:r>
            <a:r>
              <a:rPr lang="en-US" sz="1800" dirty="0">
                <a:latin typeface="Liberation Mono"/>
              </a:rPr>
              <a:t> patientId,   </a:t>
            </a:r>
            <a:r>
              <a:rPr lang="en-US" dirty="0">
                <a:solidFill>
                  <a:srgbClr val="DD4A68"/>
                </a:solidFill>
                <a:latin typeface="Liberation Mono"/>
              </a:rPr>
              <a:t>CONCAT_WS</a:t>
            </a:r>
            <a:r>
              <a:rPr lang="en-US" sz="1800" dirty="0">
                <a:latin typeface="Liberation Mono"/>
              </a:rPr>
              <a:t>(' ', firstName, middleName, lastName) AS </a:t>
            </a:r>
            <a:r>
              <a:rPr lang="en-US" sz="1800" dirty="0">
                <a:solidFill>
                  <a:srgbClr val="00B050"/>
                </a:solidFill>
                <a:latin typeface="Liberation Mono"/>
              </a:rPr>
              <a:t>'Full </a:t>
            </a:r>
            <a:r>
              <a:rPr lang="en-US" dirty="0">
                <a:solidFill>
                  <a:srgbClr val="00B050"/>
                </a:solidFill>
                <a:latin typeface="Liberation Mono"/>
              </a:rPr>
              <a:t>Name'</a:t>
            </a:r>
            <a:r>
              <a:rPr lang="en-US" dirty="0">
                <a:solidFill>
                  <a:srgbClr val="0077AA"/>
                </a:solidFill>
                <a:latin typeface="Liberation Mono"/>
                <a:cs typeface="Times New Roman" panose="02020603050405020304" pitchFamily="18" charset="0"/>
              </a:rPr>
              <a:t> FROM</a:t>
            </a:r>
            <a:r>
              <a:rPr lang="en-US" sz="1800" dirty="0">
                <a:latin typeface="Liberation Mono"/>
              </a:rPr>
              <a:t> patient;</a:t>
            </a:r>
          </a:p>
        </p:txBody>
      </p:sp>
    </p:spTree>
    <p:extLst>
      <p:ext uri="{BB962C8B-B14F-4D97-AF65-F5344CB8AC3E}">
        <p14:creationId xmlns:p14="http://schemas.microsoft.com/office/powerpoint/2010/main" val="3723617222"/>
      </p:ext>
    </p:extLst>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2E84B-9C4F-0122-A4A5-880DDD72DD5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0E4317-B914-1114-8675-6B1190BBB5B3}"/>
              </a:ext>
            </a:extLst>
          </p:cNvPr>
          <p:cNvGraphicFramePr>
            <a:graphicFrameLocks noGrp="1"/>
          </p:cNvGraphicFramePr>
          <p:nvPr>
            <p:extLst>
              <p:ext uri="{D42A27DB-BD31-4B8C-83A1-F6EECF244321}">
                <p14:modId xmlns:p14="http://schemas.microsoft.com/office/powerpoint/2010/main" val="3418098782"/>
              </p:ext>
            </p:extLst>
          </p:nvPr>
        </p:nvGraphicFramePr>
        <p:xfrm>
          <a:off x="119336" y="1532062"/>
          <a:ext cx="5559817" cy="4348480"/>
        </p:xfrm>
        <a:graphic>
          <a:graphicData uri="http://schemas.openxmlformats.org/drawingml/2006/table">
            <a:tbl>
              <a:tblPr firstRow="1" bandRow="1">
                <a:tableStyleId>{5940675A-B579-460E-94D1-54222C63F5DA}</a:tableStyleId>
              </a:tblPr>
              <a:tblGrid>
                <a:gridCol w="972968">
                  <a:extLst>
                    <a:ext uri="{9D8B030D-6E8A-4147-A177-3AD203B41FA5}">
                      <a16:colId xmlns:a16="http://schemas.microsoft.com/office/drawing/2014/main" val="928063234"/>
                    </a:ext>
                  </a:extLst>
                </a:gridCol>
                <a:gridCol w="45868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37122D05-82AD-76A3-9480-B7872FC6ED58}"/>
              </a:ext>
            </a:extLst>
          </p:cNvPr>
          <p:cNvSpPr txBox="1"/>
          <p:nvPr/>
        </p:nvSpPr>
        <p:spPr>
          <a:xfrm rot="20285913">
            <a:off x="4684536" y="568628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0BB25D7-ADA4-B5A9-A022-91340C5C021F}"/>
              </a:ext>
            </a:extLst>
          </p:cNvPr>
          <p:cNvSpPr txBox="1"/>
          <p:nvPr/>
        </p:nvSpPr>
        <p:spPr>
          <a:xfrm>
            <a:off x="407367" y="1052736"/>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0E0F3B82-6C1A-90DD-7D39-E4C0877556BA}"/>
              </a:ext>
            </a:extLst>
          </p:cNvPr>
          <p:cNvSpPr txBox="1"/>
          <p:nvPr/>
        </p:nvSpPr>
        <p:spPr>
          <a:xfrm>
            <a:off x="5807968" y="1052736"/>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43C91355-944A-D781-814B-39420DCF683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0745965D-50EF-6615-1415-9FED98E9CF4F}"/>
              </a:ext>
            </a:extLst>
          </p:cNvPr>
          <p:cNvGraphicFramePr>
            <a:graphicFrameLocks noGrp="1"/>
          </p:cNvGraphicFramePr>
          <p:nvPr>
            <p:extLst>
              <p:ext uri="{D42A27DB-BD31-4B8C-83A1-F6EECF244321}">
                <p14:modId xmlns:p14="http://schemas.microsoft.com/office/powerpoint/2010/main" val="98453321"/>
              </p:ext>
            </p:extLst>
          </p:nvPr>
        </p:nvGraphicFramePr>
        <p:xfrm>
          <a:off x="5807968" y="1532062"/>
          <a:ext cx="6314400"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4032448">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Position</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0</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517A5D6F-1906-F756-885F-0A31575CB54B}"/>
              </a:ext>
            </a:extLst>
          </p:cNvPr>
          <p:cNvSpPr txBox="1"/>
          <p:nvPr/>
        </p:nvSpPr>
        <p:spPr>
          <a:xfrm>
            <a:off x="284398" y="6228020"/>
            <a:ext cx="11716258" cy="369332"/>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members, </a:t>
            </a:r>
            <a:r>
              <a:rPr lang="en-US" dirty="0">
                <a:solidFill>
                  <a:srgbClr val="DD4A68"/>
                </a:solidFill>
                <a:latin typeface="Liberation Mono"/>
              </a:rPr>
              <a:t>FIND_IN_SET</a:t>
            </a:r>
            <a:r>
              <a:rPr lang="en-US" dirty="0">
                <a:latin typeface="Liberation Mono"/>
              </a:rPr>
              <a:t>(</a:t>
            </a:r>
            <a:r>
              <a:rPr lang="en-US" dirty="0">
                <a:solidFill>
                  <a:srgbClr val="00B050"/>
                </a:solidFill>
                <a:latin typeface="Liberation Mono"/>
              </a:rPr>
              <a:t>'Boy'</a:t>
            </a:r>
            <a:r>
              <a:rPr lang="en-US" dirty="0">
                <a:latin typeface="Liberation Mono"/>
              </a:rPr>
              <a:t>, </a:t>
            </a:r>
            <a:r>
              <a:rPr lang="en-US" dirty="0">
                <a:solidFill>
                  <a:srgbClr val="DD4A68"/>
                </a:solidFill>
                <a:latin typeface="Liberation Mono"/>
              </a:rPr>
              <a:t>REPLACE</a:t>
            </a:r>
            <a:r>
              <a:rPr lang="en-US" dirty="0">
                <a:latin typeface="Liberation Mono"/>
              </a:rPr>
              <a:t>(members, ' ', '' )) </a:t>
            </a:r>
            <a:r>
              <a:rPr lang="en-US" i="1" dirty="0">
                <a:solidFill>
                  <a:schemeClr val="bg1">
                    <a:lumMod val="50000"/>
                  </a:schemeClr>
                </a:solidFill>
                <a:latin typeface="Liberation Mono"/>
              </a:rPr>
              <a:t>Position</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teams;</a:t>
            </a:r>
            <a:endParaRPr lang="en-IN" dirty="0">
              <a:latin typeface="Liberation Mono"/>
            </a:endParaRPr>
          </a:p>
        </p:txBody>
      </p:sp>
      <p:sp>
        <p:nvSpPr>
          <p:cNvPr id="6" name="TextBox 5">
            <a:extLst>
              <a:ext uri="{FF2B5EF4-FFF2-40B4-BE49-F238E27FC236}">
                <a16:creationId xmlns:a16="http://schemas.microsoft.com/office/drawing/2014/main" id="{D64F16F7-7D45-F2DF-909A-B541CCED4023}"/>
              </a:ext>
            </a:extLst>
          </p:cNvPr>
          <p:cNvSpPr txBox="1"/>
          <p:nvPr/>
        </p:nvSpPr>
        <p:spPr>
          <a:xfrm>
            <a:off x="119336" y="630729"/>
            <a:ext cx="6094378"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p:txBody>
      </p:sp>
      <p:sp>
        <p:nvSpPr>
          <p:cNvPr id="5" name="Rectangle 4">
            <a:extLst>
              <a:ext uri="{FF2B5EF4-FFF2-40B4-BE49-F238E27FC236}">
                <a16:creationId xmlns:a16="http://schemas.microsoft.com/office/drawing/2014/main" id="{B10D16B1-CC5D-0589-1072-085894CB14F2}"/>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Find the position of the given name.</a:t>
            </a:r>
          </a:p>
        </p:txBody>
      </p:sp>
    </p:spTree>
    <p:extLst>
      <p:ext uri="{BB962C8B-B14F-4D97-AF65-F5344CB8AC3E}">
        <p14:creationId xmlns:p14="http://schemas.microsoft.com/office/powerpoint/2010/main" val="2971240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150578189"/>
              </p:ext>
            </p:extLst>
          </p:nvPr>
        </p:nvGraphicFramePr>
        <p:xfrm>
          <a:off x="263352" y="612000"/>
          <a:ext cx="11665296" cy="3521709"/>
        </p:xfrm>
        <a:graphic>
          <a:graphicData uri="http://schemas.openxmlformats.org/drawingml/2006/table">
            <a:tbl>
              <a:tblPr firstRow="1" bandRow="1">
                <a:tableStyleId>{7E9639D4-E3E2-4D34-9284-5A2195B3D0D7}</a:tableStyleId>
              </a:tblPr>
              <a:tblGrid>
                <a:gridCol w="3135049">
                  <a:extLst>
                    <a:ext uri="{9D8B030D-6E8A-4147-A177-3AD203B41FA5}">
                      <a16:colId xmlns:a16="http://schemas.microsoft.com/office/drawing/2014/main" val="20000"/>
                    </a:ext>
                  </a:extLst>
                </a:gridCol>
                <a:gridCol w="8530247">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REPLACE(</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from_str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to_str</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all occurrences of the string from_str replaced by the string to_str. REPLACE() performs a case-sensitive match when searching for from_str.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kern="1200" dirty="0">
                          <a:solidFill>
                            <a:srgbClr val="0077AA"/>
                          </a:solidFill>
                          <a:latin typeface="Liberation Mono"/>
                          <a:ea typeface="Times New Roman" panose="02020603050405020304" pitchFamily="18" charset="0"/>
                          <a:cs typeface="+mn-cs"/>
                        </a:rPr>
                        <a:t>REPLACE</a:t>
                      </a:r>
                      <a:r>
                        <a:rPr kumimoji="0" lang="en-IN" sz="1800" b="0" kern="1200" dirty="0">
                          <a:solidFill>
                            <a:srgbClr val="365860"/>
                          </a:solidFill>
                          <a:effectLst/>
                          <a:latin typeface="Liberation Mono"/>
                          <a:ea typeface="+mn-ea"/>
                          <a:cs typeface="+mn-cs"/>
                        </a:rPr>
                        <a:t>(</a:t>
                      </a:r>
                      <a:r>
                        <a:rPr lang="en-IN" sz="1800" kern="1200" dirty="0">
                          <a:solidFill>
                            <a:srgbClr val="669900"/>
                          </a:solidFill>
                          <a:latin typeface="Liberation Mono"/>
                          <a:ea typeface="+mn-ea"/>
                          <a:cs typeface="+mn-cs"/>
                        </a:rPr>
                        <a:t>'Hello'</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'l'</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'x'</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REVERSE(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the order of the characters reversed.</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SUBSTR(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effectLst/>
                          <a:latin typeface="Liberation Mono"/>
                          <a:ea typeface="Times New Roman" panose="02020603050405020304" pitchFamily="18" charset="0"/>
                          <a:cs typeface="+mn-cs"/>
                        </a:rPr>
                        <a:t>SUBSTR() is a synonym for SUBSTRING().</a:t>
                      </a:r>
                      <a:endParaRPr kumimoji="0" lang="en-IN" sz="1800" b="1" kern="1200" dirty="0">
                        <a:solidFill>
                          <a:schemeClr val="tx1"/>
                        </a:solidFill>
                        <a:effectLst/>
                        <a:latin typeface="Liberation Mono"/>
                        <a:ea typeface="Times New Roman" panose="020206030504050203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6</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-4, 4</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endParaRPr kumimoji="0" lang="en-IN" sz="1800" b="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MID(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latin typeface="Liberation Mono"/>
                          <a:ea typeface="Times New Roman" panose="02020603050405020304" pitchFamily="18" charset="0"/>
                          <a:cs typeface="+mn-cs"/>
                        </a:rPr>
                        <a:t>MID function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kern="1200" dirty="0">
                          <a:solidFill>
                            <a:srgbClr val="0077AA"/>
                          </a:solidFill>
                          <a:latin typeface="Liberation Mono"/>
                          <a:ea typeface="+mn-ea"/>
                          <a:cs typeface="+mn-cs"/>
                        </a:rPr>
                        <a:t>SUBSTRING</a:t>
                      </a:r>
                      <a:r>
                        <a:rPr kumimoji="0" lang="en-IN" sz="1800" b="1"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6"/>
                  </a:ext>
                </a:extLst>
              </a:tr>
            </a:tbl>
          </a:graphicData>
        </a:graphic>
      </p:graphicFrame>
      <p:sp>
        <p:nvSpPr>
          <p:cNvPr id="2" name="Rectangle 1">
            <a:extLst>
              <a:ext uri="{FF2B5EF4-FFF2-40B4-BE49-F238E27FC236}">
                <a16:creationId xmlns:a16="http://schemas.microsoft.com/office/drawing/2014/main" id="{5A2E6590-11F4-413D-B803-7C7FD2539C3B}"/>
              </a:ext>
            </a:extLst>
          </p:cNvPr>
          <p:cNvSpPr/>
          <p:nvPr/>
        </p:nvSpPr>
        <p:spPr>
          <a:xfrm>
            <a:off x="263352" y="4293096"/>
            <a:ext cx="11665296" cy="184665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latin typeface="Liberation Mono"/>
              </a:rPr>
              <a:t>(</a:t>
            </a:r>
            <a:r>
              <a:rPr lang="en-IN" dirty="0">
                <a:solidFill>
                  <a:srgbClr val="DD4A68"/>
                </a:solidFill>
                <a:latin typeface="Liberation Mono"/>
              </a:rPr>
              <a:t>ISNULL</a:t>
            </a:r>
            <a:r>
              <a:rPr lang="en-IN" dirty="0">
                <a:latin typeface="Liberation Mono"/>
              </a:rPr>
              <a:t>(phone),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latin typeface="Liberation Mono"/>
              </a:rPr>
              <a:t>(</a:t>
            </a:r>
            <a:r>
              <a:rPr lang="en-IN" dirty="0">
                <a:solidFill>
                  <a:srgbClr val="DD4A68"/>
                </a:solidFill>
                <a:latin typeface="Liberation Mono"/>
              </a:rPr>
              <a:t>LEFT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phone,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ISNULL</a:t>
            </a:r>
            <a:r>
              <a:rPr lang="en-US" dirty="0">
                <a:solidFill>
                  <a:schemeClr val="tx1">
                    <a:lumMod val="65000"/>
                    <a:lumOff val="35000"/>
                  </a:schemeClr>
                </a:solidFill>
                <a:latin typeface="Liberation Mono"/>
              </a:rPr>
              <a:t>(</a:t>
            </a:r>
            <a:r>
              <a:rPr lang="en-US" dirty="0">
                <a:latin typeface="Liberation Mono"/>
              </a:rPr>
              <a:t>phone</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REPEAT</a:t>
            </a:r>
            <a:r>
              <a:rPr lang="en-US" dirty="0">
                <a:latin typeface="Liberation Mono"/>
              </a:rPr>
              <a:t>(</a:t>
            </a:r>
            <a:r>
              <a:rPr lang="en-IN" dirty="0">
                <a:solidFill>
                  <a:srgbClr val="669900"/>
                </a:solidFill>
                <a:latin typeface="Liberation Mono"/>
              </a:rPr>
              <a:t>'*'</a:t>
            </a:r>
            <a:r>
              <a:rPr lang="en-US" dirty="0">
                <a:latin typeface="Liberation Mono"/>
              </a:rPr>
              <a:t>,</a:t>
            </a:r>
            <a:r>
              <a:rPr lang="en-US" dirty="0">
                <a:solidFill>
                  <a:srgbClr val="990055"/>
                </a:solidFill>
                <a:latin typeface="Liberation Mono"/>
              </a:rPr>
              <a:t>10</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RPAD</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tx1">
                    <a:lumMod val="65000"/>
                    <a:lumOff val="35000"/>
                  </a:schemeClr>
                </a:solidFill>
                <a:latin typeface="Liberation Mono"/>
              </a:rPr>
              <a:t>(</a:t>
            </a:r>
            <a:r>
              <a:rPr lang="en-US" dirty="0">
                <a:latin typeface="Liberation Mono"/>
              </a:rPr>
              <a:t>phone, </a:t>
            </a:r>
            <a:r>
              <a:rPr lang="en-US" dirty="0">
                <a:solidFill>
                  <a:srgbClr val="990055"/>
                </a:solidFill>
                <a:latin typeface="Liberation Mono"/>
              </a:rPr>
              <a:t>4</a:t>
            </a:r>
            <a:r>
              <a:rPr lang="en-US" dirty="0">
                <a:solidFill>
                  <a:schemeClr val="tx1">
                    <a:lumMod val="65000"/>
                    <a:lumOff val="35000"/>
                  </a:schemeClr>
                </a:solidFill>
                <a:latin typeface="Liberation Mono"/>
              </a:rPr>
              <a: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a:t>
            </a:r>
            <a:r>
              <a:rPr lang="en-US" dirty="0">
                <a:solidFill>
                  <a:srgbClr val="00B050"/>
                </a:solidFill>
                <a:latin typeface="Liberation Mono"/>
              </a:rPr>
              <a:t>"Weak User"</a:t>
            </a:r>
            <a:r>
              <a:rPr lang="en-US" dirty="0">
                <a:latin typeface="Liberation Mono"/>
              </a:rPr>
              <a:t>, `user name`)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rPr>
              <a:t> emp </a:t>
            </a:r>
            <a:r>
              <a:rPr lang="en-US" dirty="0">
                <a:solidFill>
                  <a:srgbClr val="0077AA"/>
                </a:solidFill>
                <a:latin typeface="Liberation Mono"/>
                <a:cs typeface="Times New Roman" panose="02020603050405020304" pitchFamily="18" charset="0"/>
              </a:rPr>
              <a:t>SET</a:t>
            </a:r>
            <a:r>
              <a:rPr lang="en-US" dirty="0">
                <a:latin typeface="Liberation Mono"/>
              </a:rPr>
              <a:t> job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REPLACE</a:t>
            </a:r>
            <a:r>
              <a:rPr lang="en-US" dirty="0">
                <a:latin typeface="Liberation Mono"/>
              </a:rPr>
              <a:t>(job, job, </a:t>
            </a:r>
            <a:r>
              <a:rPr lang="en-US" dirty="0">
                <a:solidFill>
                  <a:srgbClr val="DD4A68"/>
                </a:solidFill>
                <a:latin typeface="Liberation Mono"/>
              </a:rPr>
              <a:t>LOWER</a:t>
            </a:r>
            <a:r>
              <a:rPr lang="en-US" dirty="0">
                <a:latin typeface="Liberation Mono"/>
              </a:rPr>
              <a:t>(job));</a:t>
            </a:r>
          </a:p>
        </p:txBody>
      </p:sp>
      <p:sp>
        <p:nvSpPr>
          <p:cNvPr id="3" name="TextBox 2">
            <a:extLst>
              <a:ext uri="{FF2B5EF4-FFF2-40B4-BE49-F238E27FC236}">
                <a16:creationId xmlns:a16="http://schemas.microsoft.com/office/drawing/2014/main" id="{65EC2FB3-26F2-E223-3044-5C848572E8B6}"/>
              </a:ext>
            </a:extLst>
          </p:cNvPr>
          <p:cNvSpPr txBox="1"/>
          <p:nvPr/>
        </p:nvSpPr>
        <p:spPr>
          <a:xfrm>
            <a:off x="263352" y="116632"/>
            <a:ext cx="7128792" cy="369332"/>
          </a:xfrm>
          <a:prstGeom prst="rect">
            <a:avLst/>
          </a:prstGeom>
          <a:noFill/>
        </p:spPr>
        <p:txBody>
          <a:bodyPr wrap="square">
            <a:spAutoFit/>
          </a:bodyPr>
          <a:lstStyle/>
          <a:p>
            <a:r>
              <a:rPr lang="en-IN" dirty="0">
                <a:solidFill>
                  <a:srgbClr val="0077AA"/>
                </a:solidFill>
                <a:latin typeface="Liberation Mono"/>
              </a:rPr>
              <a:t>SUBSTRING_INDEX</a:t>
            </a:r>
            <a:r>
              <a:rPr lang="en-IN" dirty="0">
                <a:latin typeface="Liberation Mono"/>
              </a:rPr>
              <a:t>(</a:t>
            </a:r>
            <a:r>
              <a:rPr lang="en-IN" i="1" dirty="0">
                <a:solidFill>
                  <a:schemeClr val="tx2"/>
                </a:solidFill>
                <a:latin typeface="Liberation Mono"/>
              </a:rPr>
              <a:t>str</a:t>
            </a:r>
            <a:r>
              <a:rPr lang="en-IN" dirty="0">
                <a:latin typeface="Liberation Mono"/>
              </a:rPr>
              <a:t>, </a:t>
            </a:r>
            <a:r>
              <a:rPr lang="en-IN" i="1" dirty="0">
                <a:solidFill>
                  <a:schemeClr val="tx2"/>
                </a:solidFill>
                <a:latin typeface="Liberation Mono"/>
              </a:rPr>
              <a:t>delimiter</a:t>
            </a:r>
            <a:r>
              <a:rPr lang="en-IN" dirty="0">
                <a:latin typeface="Liberation Mono"/>
              </a:rPr>
              <a:t>, </a:t>
            </a:r>
            <a:r>
              <a:rPr lang="en-IN" i="1" dirty="0">
                <a:solidFill>
                  <a:schemeClr val="tx2"/>
                </a:solidFill>
                <a:latin typeface="Liberation Mono"/>
              </a:rPr>
              <a:t>count</a:t>
            </a:r>
            <a:r>
              <a:rPr lang="en-IN" dirty="0">
                <a:latin typeface="Liberation Mono"/>
              </a:rPr>
              <a:t>) </a:t>
            </a:r>
            <a:r>
              <a:rPr lang="en-IN" b="1" dirty="0">
                <a:latin typeface="Liberation Mono"/>
              </a:rPr>
              <a:t>// count can be either </a:t>
            </a:r>
            <a:r>
              <a:rPr lang="en-IN" b="1" dirty="0"/>
              <a:t>+ve or -ve</a:t>
            </a:r>
            <a:endParaRPr lang="en-IN" b="1" dirty="0">
              <a:latin typeface="Liberation Mono"/>
            </a:endParaRPr>
          </a:p>
        </p:txBody>
      </p:sp>
    </p:spTree>
    <p:extLst>
      <p:ext uri="{BB962C8B-B14F-4D97-AF65-F5344CB8AC3E}">
        <p14:creationId xmlns:p14="http://schemas.microsoft.com/office/powerpoint/2010/main" val="1549864259"/>
      </p:ext>
    </p:extLst>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692696"/>
            <a:ext cx="11809312" cy="498598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sal,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sal</a:t>
            </a:r>
            <a:r>
              <a:rPr lang="en-IN" dirty="0">
                <a:solidFill>
                  <a:schemeClr val="accent4">
                    <a:lumMod val="50000"/>
                  </a:schemeClr>
                </a:solidFill>
                <a:latin typeface="Liberation Mono"/>
              </a:rPr>
              <a:t>/</a:t>
            </a:r>
            <a:r>
              <a:rPr lang="en-IN" dirty="0">
                <a:solidFill>
                  <a:srgbClr val="990055"/>
                </a:solidFill>
                <a:latin typeface="Liberation Mono"/>
              </a:rPr>
              <a:t>100</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solidFill>
                <a:schemeClr val="tx1">
                  <a:lumMod val="65000"/>
                  <a:lumOff val="35000"/>
                </a:schemeClr>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emailid,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LENGTH</a:t>
            </a:r>
            <a:r>
              <a:rPr lang="en-IN" dirty="0">
                <a:solidFill>
                  <a:schemeClr val="tx1">
                    <a:lumMod val="65000"/>
                    <a:lumOff val="35000"/>
                  </a:schemeClr>
                </a:solidFill>
                <a:latin typeface="Liberation Mono"/>
              </a:rPr>
              <a:t>(</a:t>
            </a:r>
            <a:r>
              <a:rPr lang="en-IN" dirty="0">
                <a:latin typeface="Liberation Mono"/>
              </a:rPr>
              <a:t>emailid</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65000"/>
                    <a:lumOff val="35000"/>
                  </a:schemeClr>
                </a:solidFill>
                <a:latin typeface="Liberation Mono"/>
              </a:rPr>
              <a:t> </a:t>
            </a:r>
            <a:r>
              <a:rPr lang="en-US" dirty="0">
                <a:latin typeface="Liberation Mono"/>
              </a:rPr>
              <a:t>pwd,</a:t>
            </a:r>
            <a:r>
              <a:rPr lang="en-US" dirty="0">
                <a:solidFill>
                  <a:schemeClr val="tx1">
                    <a:lumMod val="65000"/>
                    <a:lumOff val="35000"/>
                  </a:schemeClr>
                </a:solidFill>
                <a:latin typeface="Liberation Mono"/>
              </a:rPr>
              <a:t> </a:t>
            </a:r>
            <a:r>
              <a:rPr lang="en-US" dirty="0">
                <a:solidFill>
                  <a:srgbClr val="DD4A68"/>
                </a:solidFill>
                <a:latin typeface="Liberation Mono"/>
              </a:rPr>
              <a:t>REPEAT</a:t>
            </a:r>
            <a:r>
              <a:rPr lang="en-US" dirty="0">
                <a:solidFill>
                  <a:schemeClr val="tx1">
                    <a:lumMod val="65000"/>
                    <a:lumOff val="35000"/>
                  </a:schemeClr>
                </a:solidFill>
                <a:latin typeface="Liberation Mono"/>
              </a:rPr>
              <a:t>(</a:t>
            </a:r>
            <a:r>
              <a:rPr lang="en-US" dirty="0">
                <a:solidFill>
                  <a:srgbClr val="669900"/>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latin typeface="Liberation Mono"/>
              </a:rPr>
              <a:t>pwd</a:t>
            </a:r>
            <a:r>
              <a:rPr lang="en-US" dirty="0">
                <a:solidFill>
                  <a:schemeClr val="tx1">
                    <a:lumMod val="65000"/>
                    <a:lumOff val="35000"/>
                  </a:schemeClr>
                </a:solidFill>
                <a:latin typeface="Liberation Mono"/>
              </a:rPr>
              <a:t>)) </a:t>
            </a:r>
            <a:r>
              <a:rPr lang="en-US" i="1" dirty="0">
                <a:solidFill>
                  <a:schemeClr val="bg1">
                    <a:lumMod val="50000"/>
                  </a:schemeClr>
                </a:solidFill>
                <a:latin typeface="Liberation Mono"/>
              </a:rPr>
              <a:t>password</a:t>
            </a:r>
            <a:r>
              <a:rPr lang="en-US" dirty="0">
                <a:solidFill>
                  <a:schemeClr val="tx1">
                    <a:lumMod val="65000"/>
                    <a:lumOff val="35000"/>
                  </a:schemeClr>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chemeClr val="tx1">
                    <a:lumMod val="65000"/>
                    <a:lumOff val="35000"/>
                  </a:schemeClr>
                </a:solidFill>
                <a:latin typeface="Liberation Mono"/>
              </a:rPr>
              <a:t> </a:t>
            </a:r>
            <a:r>
              <a:rPr lang="en-US" dirty="0">
                <a:latin typeface="Liberation Mono"/>
              </a:rPr>
              <a:t>emp;</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c1,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REPEAT</a:t>
            </a:r>
            <a:r>
              <a:rPr lang="en-US" dirty="0">
                <a:solidFill>
                  <a:schemeClr val="bg1">
                    <a:lumMod val="50000"/>
                  </a:schemeClr>
                </a:solidFill>
                <a:latin typeface="Liberation Mono"/>
              </a:rPr>
              <a:t>(</a:t>
            </a:r>
            <a:r>
              <a:rPr lang="en-US" dirty="0">
                <a:latin typeface="Liberation Mono"/>
              </a:rPr>
              <a:t>'0', 10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bg1">
                    <a:lumMod val="50000"/>
                  </a:schemeClr>
                </a:solidFill>
                <a:latin typeface="Liberation Mono"/>
              </a:rPr>
              <a:t>(</a:t>
            </a:r>
            <a:r>
              <a:rPr lang="en-US" dirty="0">
                <a:latin typeface="Liberation Mono"/>
              </a:rPr>
              <a:t>c1</a:t>
            </a:r>
            <a:r>
              <a:rPr lang="en-US" dirty="0">
                <a:solidFill>
                  <a:schemeClr val="bg1">
                    <a:lumMod val="50000"/>
                  </a:schemeClr>
                </a:solidFill>
                <a:latin typeface="Liberation Mono"/>
              </a:rPr>
              <a:t>))</a:t>
            </a:r>
            <a:r>
              <a:rPr lang="en-US" dirty="0">
                <a:latin typeface="Liberation Mono"/>
              </a:rPr>
              <a:t> , c1 </a:t>
            </a:r>
            <a:r>
              <a:rPr lang="en-US" dirty="0">
                <a:solidFill>
                  <a:schemeClr val="bg1">
                    <a:lumMod val="50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leading_zeroes;</a:t>
            </a:r>
          </a:p>
          <a:p>
            <a:pPr marL="285750" indent="-285750">
              <a:buFont typeface="Arial" panose="020B0604020202020204" pitchFamily="34" charset="0"/>
              <a:buChar char="•"/>
            </a:pPr>
            <a:endParaRPr lang="en-IN"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solidFill>
                  <a:schemeClr val="tx1">
                    <a:lumMod val="65000"/>
                    <a:lumOff val="35000"/>
                  </a:schemeClr>
                </a:solidFill>
                <a:latin typeface="Liberation Mono"/>
              </a:rPr>
              <a:t>(</a:t>
            </a:r>
            <a:r>
              <a:rPr lang="en-IN" dirty="0">
                <a:solidFill>
                  <a:srgbClr val="DD4A68"/>
                </a:solidFill>
                <a:latin typeface="Liberation Mono"/>
              </a:rPr>
              <a:t>ISNULL</a:t>
            </a:r>
            <a:r>
              <a:rPr lang="en-IN" dirty="0">
                <a:solidFill>
                  <a:schemeClr val="tx1">
                    <a:lumMod val="65000"/>
                    <a:lumOff val="35000"/>
                  </a:schemeClr>
                </a:solidFill>
                <a:latin typeface="Liberation Mono"/>
              </a:rPr>
              <a:t>(</a:t>
            </a:r>
            <a:r>
              <a:rPr lang="en-IN" dirty="0">
                <a:latin typeface="Liberation Mono"/>
              </a:rPr>
              <a:t>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solidFill>
                  <a:schemeClr val="tx1">
                    <a:lumMod val="65000"/>
                    <a:lumOff val="35000"/>
                  </a:schemeClr>
                </a:solidFill>
                <a:latin typeface="Liberation Mono"/>
              </a:rPr>
              <a:t>(</a:t>
            </a:r>
            <a:r>
              <a:rPr lang="en-IN" dirty="0">
                <a:solidFill>
                  <a:srgbClr val="DD4A68"/>
                </a:solidFill>
                <a:latin typeface="Liberation Mono"/>
              </a:rPr>
              <a:t>LEFT</a:t>
            </a:r>
            <a:r>
              <a:rPr lang="en-IN" dirty="0">
                <a:solidFill>
                  <a:schemeClr val="tx1">
                    <a:lumMod val="65000"/>
                    <a:lumOff val="35000"/>
                  </a:schemeClr>
                </a:solidFill>
                <a:latin typeface="Liberation Mono"/>
              </a:rPr>
              <a: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pt-BR" dirty="0">
                <a:solidFill>
                  <a:srgbClr val="0077AA"/>
                </a:solidFill>
                <a:latin typeface="Liberation Mono"/>
                <a:cs typeface="Times New Roman" panose="02020603050405020304" pitchFamily="18" charset="0"/>
              </a:rPr>
              <a:t>SELECT</a:t>
            </a:r>
            <a:r>
              <a:rPr lang="pt-BR" dirty="0">
                <a:latin typeface="Liberation Mono"/>
              </a:rPr>
              <a:t> </a:t>
            </a:r>
            <a:r>
              <a:rPr lang="pt-BR" dirty="0">
                <a:solidFill>
                  <a:srgbClr val="990055"/>
                </a:solidFill>
                <a:latin typeface="Liberation Mono"/>
              </a:rPr>
              <a:t>9850884228</a:t>
            </a:r>
            <a:r>
              <a:rPr lang="pt-BR" dirty="0">
                <a:latin typeface="Liberation Mono"/>
              </a:rPr>
              <a:t>, </a:t>
            </a:r>
            <a:r>
              <a:rPr lang="pt-BR" dirty="0">
                <a:solidFill>
                  <a:srgbClr val="DD4A68"/>
                </a:solidFill>
                <a:latin typeface="Liberation Mono"/>
              </a:rPr>
              <a:t>LPAD</a:t>
            </a:r>
            <a:r>
              <a:rPr lang="pt-BR" dirty="0">
                <a:latin typeface="Liberation Mono"/>
              </a:rPr>
              <a:t>(</a:t>
            </a:r>
            <a:r>
              <a:rPr lang="pt-BR" dirty="0">
                <a:solidFill>
                  <a:srgbClr val="DD4A68"/>
                </a:solidFill>
                <a:latin typeface="Liberation Mono"/>
              </a:rPr>
              <a:t>SUBSTR</a:t>
            </a:r>
            <a:r>
              <a:rPr lang="pt-BR" dirty="0">
                <a:solidFill>
                  <a:schemeClr val="tx1">
                    <a:lumMod val="65000"/>
                    <a:lumOff val="35000"/>
                  </a:schemeClr>
                </a:solidFill>
                <a:latin typeface="Liberation Mono"/>
              </a:rPr>
              <a:t>(</a:t>
            </a:r>
            <a:r>
              <a:rPr lang="pt-BR" dirty="0">
                <a:solidFill>
                  <a:srgbClr val="990055"/>
                </a:solidFill>
                <a:latin typeface="Liberation Mono"/>
              </a:rPr>
              <a:t>9850884228, -4</a:t>
            </a:r>
            <a:r>
              <a:rPr lang="pt-BR" dirty="0">
                <a:solidFill>
                  <a:schemeClr val="tx1">
                    <a:lumMod val="65000"/>
                    <a:lumOff val="35000"/>
                  </a:schemeClr>
                </a:solidFill>
                <a:latin typeface="Liberation Mono"/>
              </a:rPr>
              <a:t>)</a:t>
            </a:r>
            <a:r>
              <a:rPr lang="pt-BR" dirty="0">
                <a:latin typeface="Liberation Mono"/>
              </a:rPr>
              <a:t>,</a:t>
            </a:r>
            <a:r>
              <a:rPr lang="pt-BR" dirty="0">
                <a:solidFill>
                  <a:srgbClr val="990055"/>
                </a:solidFill>
                <a:latin typeface="Liberation Mono"/>
              </a:rPr>
              <a:t>10</a:t>
            </a:r>
            <a:r>
              <a:rPr lang="pt-BR" dirty="0">
                <a:latin typeface="Liberation Mono"/>
              </a:rPr>
              <a:t>,</a:t>
            </a:r>
            <a:r>
              <a:rPr lang="pt-BR" dirty="0">
                <a:solidFill>
                  <a:srgbClr val="669900"/>
                </a:solidFill>
                <a:latin typeface="Liberation Mono"/>
              </a:rPr>
              <a:t>'*'</a:t>
            </a:r>
            <a:r>
              <a:rPr lang="pt-BR" dirty="0">
                <a:solidFill>
                  <a:schemeClr val="tx1">
                    <a:lumMod val="65000"/>
                    <a:lumOff val="35000"/>
                  </a:schemeClr>
                </a:solidFill>
                <a:latin typeface="Liberation Mono"/>
              </a:rPr>
              <a:t>)</a:t>
            </a:r>
            <a:r>
              <a:rPr lang="pt-BR" dirty="0">
                <a:latin typeface="Liberation Mono"/>
              </a:rPr>
              <a:t> </a:t>
            </a:r>
            <a:r>
              <a:rPr lang="pt-BR" i="1" dirty="0">
                <a:solidFill>
                  <a:schemeClr val="bg1">
                    <a:lumMod val="50000"/>
                  </a:schemeClr>
                </a:solidFill>
                <a:latin typeface="Liberation Mono"/>
              </a:rPr>
              <a:t>R1</a:t>
            </a:r>
            <a:r>
              <a:rPr lang="pt-BR" dirty="0">
                <a:latin typeface="Liberation Mono"/>
              </a:rPr>
              <a:t>;</a:t>
            </a:r>
            <a:endParaRPr lang="en-IN" dirty="0">
              <a:latin typeface="Liberation Mono"/>
            </a:endParaRP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solidFill>
                  <a:schemeClr val="tx1">
                    <a:lumMod val="65000"/>
                    <a:lumOff val="35000"/>
                  </a:schemeClr>
                </a:solidFill>
                <a:latin typeface="Liberation Mono"/>
              </a:rPr>
              <a:t>(</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,"Weak User", `user name`</a:t>
            </a:r>
            <a:r>
              <a:rPr lang="en-US" dirty="0">
                <a:solidFill>
                  <a:schemeClr val="tx1">
                    <a:lumMod val="65000"/>
                    <a:lumOff val="35000"/>
                  </a:schemeClr>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solidFill>
                  <a:schemeClr val="tx1">
                    <a:lumMod val="65000"/>
                    <a:lumOff val="35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DD4A68"/>
                </a:solidFill>
                <a:latin typeface="Liberation Mono"/>
              </a:rPr>
              <a:t>REPLACE</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latin typeface="Liberation Mono"/>
                <a:cs typeface="Times New Roman" panose="02020603050405020304" pitchFamily="18" charset="0"/>
              </a:rPr>
              <a:t>, </a:t>
            </a:r>
            <a:r>
              <a:rPr lang="en-US" dirty="0">
                <a:solidFill>
                  <a:srgbClr val="669900"/>
                </a:solidFill>
                <a:latin typeface="Liberation Mono"/>
              </a:rPr>
              <a:t>'e'</a:t>
            </a:r>
            <a:r>
              <a:rPr lang="en-US" dirty="0">
                <a:latin typeface="Liberation Mono"/>
                <a:cs typeface="Times New Roman" panose="02020603050405020304" pitchFamily="18" charset="0"/>
              </a:rPr>
              <a:t>, </a:t>
            </a:r>
            <a:r>
              <a:rPr lang="en-US" dirty="0">
                <a:latin typeface="Liberation Mono"/>
              </a:rPr>
              <a:t>"" </a:t>
            </a:r>
            <a:r>
              <a:rPr lang="en-US" dirty="0">
                <a:solidFill>
                  <a:schemeClr val="tx1">
                    <a:lumMod val="65000"/>
                    <a:lumOff val="35000"/>
                  </a:schemeClr>
                </a:solidFill>
                <a:latin typeface="Liberation Mono"/>
              </a:rPr>
              <a:t>))</a:t>
            </a:r>
            <a:r>
              <a:rPr lang="en-US" dirty="0">
                <a:latin typeface="Liberation Mono"/>
                <a:cs typeface="Times New Roman" panose="02020603050405020304" pitchFamily="18" charset="0"/>
              </a:rPr>
              <a:t>;</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empno, datePresent,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 ",", ""</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solidFill>
                  <a:schemeClr val="bg1">
                    <a:lumMod val="50000"/>
                  </a:schemeClr>
                </a:solidFill>
                <a:latin typeface="Liberation Mono"/>
                <a:cs typeface="Times New Roman" panose="02020603050405020304" pitchFamily="18" charset="0"/>
              </a:rPr>
              <a:t> </a:t>
            </a:r>
            <a:r>
              <a:rPr lang="en-US" dirty="0">
                <a:solidFill>
                  <a:srgbClr val="990055"/>
                </a:solidFill>
                <a:latin typeface="Liberation Mono"/>
              </a:rPr>
              <a:t>1 </a:t>
            </a:r>
            <a:r>
              <a:rPr lang="en-US" i="1" dirty="0">
                <a:solidFill>
                  <a:schemeClr val="bg1">
                    <a:lumMod val="50000"/>
                  </a:schemeClr>
                </a:solidFill>
                <a:latin typeface="Liberation Mono"/>
              </a:rPr>
              <a:t>"Days Present"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emp_attendance;</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numberString;</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Stringnumber;</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cs typeface="Times New Roman" panose="02020603050405020304" pitchFamily="18" charset="0"/>
              </a:rPr>
              <a:t> emp </a:t>
            </a:r>
            <a:r>
              <a:rPr lang="en-US" dirty="0">
                <a:solidFill>
                  <a:srgbClr val="0077AA"/>
                </a:solidFill>
                <a:latin typeface="Liberation Mono"/>
                <a:cs typeface="Times New Roman" panose="02020603050405020304" pitchFamily="18" charset="0"/>
              </a:rPr>
              <a:t>SET</a:t>
            </a:r>
            <a:r>
              <a:rPr lang="en-US" dirty="0">
                <a:latin typeface="Liberation Mono"/>
                <a:cs typeface="Times New Roman" panose="02020603050405020304" pitchFamily="18" charset="0"/>
              </a:rPr>
              <a:t> job := </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job, </a:t>
            </a:r>
            <a:r>
              <a:rPr lang="en-US" dirty="0">
                <a:solidFill>
                  <a:srgbClr val="669900"/>
                </a:solidFill>
                <a:latin typeface="Liberation Mono"/>
              </a:rPr>
              <a:t>'officers'</a:t>
            </a:r>
            <a:r>
              <a:rPr lang="en-US" dirty="0">
                <a:latin typeface="Liberation Mono"/>
                <a:cs typeface="Times New Roman" panose="02020603050405020304" pitchFamily="18" charset="0"/>
              </a:rPr>
              <a:t>, </a:t>
            </a:r>
            <a:r>
              <a:rPr lang="en-US" dirty="0">
                <a:solidFill>
                  <a:srgbClr val="669900"/>
                </a:solidFill>
                <a:latin typeface="Liberation Mono"/>
              </a:rPr>
              <a:t>'Officers'</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a:t>
            </a:r>
          </a:p>
        </p:txBody>
      </p:sp>
    </p:spTree>
    <p:extLst>
      <p:ext uri="{BB962C8B-B14F-4D97-AF65-F5344CB8AC3E}">
        <p14:creationId xmlns:p14="http://schemas.microsoft.com/office/powerpoint/2010/main" val="1706177096"/>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82BBB-A8D8-FD4E-80F8-5E1E4E08C8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AE1A5C7-40C5-E7FF-EE6B-656E91894AA8}"/>
              </a:ext>
            </a:extLst>
          </p:cNvPr>
          <p:cNvGraphicFramePr>
            <a:graphicFrameLocks noGrp="1"/>
          </p:cNvGraphicFramePr>
          <p:nvPr>
            <p:extLst>
              <p:ext uri="{D42A27DB-BD31-4B8C-83A1-F6EECF244321}">
                <p14:modId xmlns:p14="http://schemas.microsoft.com/office/powerpoint/2010/main" val="3882072230"/>
              </p:ext>
            </p:extLst>
          </p:nvPr>
        </p:nvGraphicFramePr>
        <p:xfrm>
          <a:off x="119336" y="1256341"/>
          <a:ext cx="5559817" cy="37541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40476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response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n,n,n,y,y,y,y,n,y,n,y,y,n,n,y,n,n,n,n,n,n,n,n,y,y,y,y,y,y,y,n,y,n,y,y,y,n,n,n,y,y,y,y,n,n,n,n,n,y</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y,n,n,y,y,y,y,n,y,n,y,y,n,n,y,n,n,y,n,y,n,y,n,y,y,y,y,y,y,y,n,y,n,y,y,y,n,n,n,y,y,y,y,y,y,y,n,y,n,y,n,y,n,n,n,y,y,y,n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y,y,y,y,y,y,y,n,y,y,y,y,n,y,y,y,y,y,n,y,y,y,y,y,y,y,y,y,y,y,n,y,y,y,y,y,n,y,y,y,y,y,y,y,n,y,n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n,n,n,y,y,n,n,n,y,n,y,y,n,n,y,n,y,n,n,y,n,y,n,y,y,n,y,n,y,y,n,y,n,y,n,y,n,n,n,y,y,n,n</a:t>
                      </a:r>
                    </a:p>
                  </a:txBody>
                  <a:tcPr anchor="ctr"/>
                </a:tc>
                <a:extLst>
                  <a:ext uri="{0D108BD9-81ED-4DB2-BD59-A6C34878D82A}">
                    <a16:rowId xmlns:a16="http://schemas.microsoft.com/office/drawing/2014/main" val="621527498"/>
                  </a:ext>
                </a:extLst>
              </a:tr>
            </a:tbl>
          </a:graphicData>
        </a:graphic>
      </p:graphicFrame>
      <p:sp>
        <p:nvSpPr>
          <p:cNvPr id="3" name="TextBox 2">
            <a:extLst>
              <a:ext uri="{FF2B5EF4-FFF2-40B4-BE49-F238E27FC236}">
                <a16:creationId xmlns:a16="http://schemas.microsoft.com/office/drawing/2014/main" id="{6700A094-1689-1CBD-7C9A-B89DF5081E8D}"/>
              </a:ext>
            </a:extLst>
          </p:cNvPr>
          <p:cNvSpPr txBox="1"/>
          <p:nvPr/>
        </p:nvSpPr>
        <p:spPr>
          <a:xfrm rot="19597909">
            <a:off x="5805234" y="426707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96B6349E-E67F-74D6-82CF-6A343888CB52}"/>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vote_response</a:t>
            </a:r>
          </a:p>
        </p:txBody>
      </p:sp>
      <p:sp>
        <p:nvSpPr>
          <p:cNvPr id="8" name="TextBox 7">
            <a:extLst>
              <a:ext uri="{FF2B5EF4-FFF2-40B4-BE49-F238E27FC236}">
                <a16:creationId xmlns:a16="http://schemas.microsoft.com/office/drawing/2014/main" id="{FA374358-2E4A-2AE1-412B-7BEF570B4890}"/>
              </a:ext>
            </a:extLst>
          </p:cNvPr>
          <p:cNvSpPr txBox="1"/>
          <p:nvPr/>
        </p:nvSpPr>
        <p:spPr>
          <a:xfrm>
            <a:off x="5807968"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6316A90-1279-FB62-0D6D-41D49425FC9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49B4B447-BB82-C092-A6F2-AB0BFA512F08}"/>
              </a:ext>
            </a:extLst>
          </p:cNvPr>
          <p:cNvGraphicFramePr>
            <a:graphicFrameLocks noGrp="1"/>
          </p:cNvGraphicFramePr>
          <p:nvPr>
            <p:extLst>
              <p:ext uri="{D42A27DB-BD31-4B8C-83A1-F6EECF244321}">
                <p14:modId xmlns:p14="http://schemas.microsoft.com/office/powerpoint/2010/main" val="2406233272"/>
              </p:ext>
            </p:extLst>
          </p:nvPr>
        </p:nvGraphicFramePr>
        <p:xfrm>
          <a:off x="5807968" y="1256341"/>
          <a:ext cx="6314400" cy="26619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3528392">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Yes Votes</a:t>
                      </a: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Total Votes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36</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19</a:t>
                      </a:r>
                    </a:p>
                  </a:txBody>
                  <a:tcPr anchor="ct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1002DDD6-A566-BD46-7E00-A95DF384757D}"/>
              </a:ext>
            </a:extLst>
          </p:cNvPr>
          <p:cNvSpPr txBox="1"/>
          <p:nvPr/>
        </p:nvSpPr>
        <p:spPr>
          <a:xfrm>
            <a:off x="284398" y="5374957"/>
            <a:ext cx="1150023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candidateID,  </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'Yes Votes'</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'Total Votes' </a:t>
            </a:r>
            <a:r>
              <a:rPr lang="en-IN" dirty="0">
                <a:solidFill>
                  <a:srgbClr val="0077AA"/>
                </a:solidFill>
                <a:latin typeface="Liberation Mono"/>
                <a:cs typeface="Times New Roman" panose="02020603050405020304" pitchFamily="18" charset="0"/>
              </a:rPr>
              <a:t>FROM</a:t>
            </a:r>
            <a:r>
              <a:rPr lang="en-IN" dirty="0">
                <a:latin typeface="Liberation Mono"/>
              </a:rPr>
              <a:t> vote_response;</a:t>
            </a:r>
          </a:p>
        </p:txBody>
      </p:sp>
      <p:sp>
        <p:nvSpPr>
          <p:cNvPr id="7" name="Rectangle 6">
            <a:extLst>
              <a:ext uri="{FF2B5EF4-FFF2-40B4-BE49-F238E27FC236}">
                <a16:creationId xmlns:a16="http://schemas.microsoft.com/office/drawing/2014/main" id="{4B689561-5EC4-051F-501B-F56E4A9BCE3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total </a:t>
            </a:r>
            <a:r>
              <a:rPr lang="en-IN" sz="2000" b="1" i="1" dirty="0">
                <a:solidFill>
                  <a:schemeClr val="accent2">
                    <a:lumMod val="50000"/>
                  </a:schemeClr>
                </a:solidFill>
                <a:latin typeface="Arial" panose="020B0604020202020204" pitchFamily="34" charset="0"/>
                <a:cs typeface="Arial" panose="020B0604020202020204" pitchFamily="34" charset="0"/>
              </a:rPr>
              <a:t>y</a:t>
            </a:r>
            <a:r>
              <a:rPr lang="en-IN" sz="2000" dirty="0">
                <a:solidFill>
                  <a:schemeClr val="accent2">
                    <a:lumMod val="50000"/>
                  </a:schemeClr>
                </a:solidFill>
                <a:latin typeface="Arial" panose="020B0604020202020204" pitchFamily="34" charset="0"/>
                <a:cs typeface="Arial" panose="020B0604020202020204" pitchFamily="34" charset="0"/>
              </a:rPr>
              <a:t> votes.</a:t>
            </a:r>
          </a:p>
        </p:txBody>
      </p:sp>
    </p:spTree>
    <p:extLst>
      <p:ext uri="{BB962C8B-B14F-4D97-AF65-F5344CB8AC3E}">
        <p14:creationId xmlns:p14="http://schemas.microsoft.com/office/powerpoint/2010/main" val="322831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F30ADF5-850F-43B9-80C3-AF6A8B30519E}"/>
              </a:ext>
            </a:extLst>
          </p:cNvPr>
          <p:cNvSpPr/>
          <p:nvPr/>
        </p:nvSpPr>
        <p:spPr>
          <a:xfrm>
            <a:off x="407368" y="908720"/>
            <a:ext cx="11377264" cy="236988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LOWER</a:t>
            </a:r>
            <a:r>
              <a:rPr lang="en-US" dirty="0">
                <a:solidFill>
                  <a:schemeClr val="bg1">
                    <a:lumMod val="50000"/>
                  </a:schemeClr>
                </a:solidFill>
                <a:latin typeface="Liberation Mono"/>
              </a:rPr>
              <a:t>(</a:t>
            </a:r>
            <a:r>
              <a:rPr lang="en-US" dirty="0">
                <a:latin typeface="Liberation Mono"/>
              </a:rPr>
              <a:t>ename</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UCASE</a:t>
            </a:r>
            <a:r>
              <a:rPr lang="en-US" dirty="0">
                <a:solidFill>
                  <a:schemeClr val="bg1">
                    <a:lumMod val="50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2</a:t>
            </a:r>
            <a:r>
              <a:rPr lang="en-US" dirty="0">
                <a:solidFill>
                  <a:schemeClr val="bg1">
                    <a:lumMod val="50000"/>
                  </a:schemeClr>
                </a:solidFill>
                <a:latin typeface="Liberation Mono"/>
              </a:rPr>
              <a:t>)))</a:t>
            </a:r>
            <a:r>
              <a:rPr lang="en-US" dirty="0">
                <a:latin typeface="Liberation Mono"/>
              </a:rPr>
              <a:t>;</a:t>
            </a:r>
            <a:endParaRPr lang="en-IN" dirty="0"/>
          </a:p>
        </p:txBody>
      </p:sp>
      <p:sp>
        <p:nvSpPr>
          <p:cNvPr id="2" name="TextBox 1">
            <a:extLst>
              <a:ext uri="{FF2B5EF4-FFF2-40B4-BE49-F238E27FC236}">
                <a16:creationId xmlns:a16="http://schemas.microsoft.com/office/drawing/2014/main" id="{3356C1A6-C4C2-44A1-9740-B9C180258723}"/>
              </a:ext>
            </a:extLst>
          </p:cNvPr>
          <p:cNvSpPr txBox="1"/>
          <p:nvPr/>
        </p:nvSpPr>
        <p:spPr>
          <a:xfrm>
            <a:off x="407369" y="3861048"/>
            <a:ext cx="11377263"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part1</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'State'</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part2</a:t>
            </a:r>
            <a:r>
              <a:rPr lang="en-IN" dirty="0">
                <a:latin typeface="Liberation Mono"/>
              </a:rPr>
              <a:t>, 	 </a:t>
            </a:r>
            <a:r>
              <a:rPr lang="en-IN" dirty="0">
                <a:solidFill>
                  <a:srgbClr val="669900"/>
                </a:solidFill>
                <a:latin typeface="Liberation Mono"/>
              </a:rPr>
              <a:t>-- 'Bank'</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 ', </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part3</a:t>
            </a:r>
            <a:r>
              <a:rPr lang="en-IN" dirty="0">
                <a:latin typeface="Liberation Mono"/>
              </a:rPr>
              <a:t>,	 </a:t>
            </a:r>
            <a:r>
              <a:rPr lang="en-IN" dirty="0">
                <a:solidFill>
                  <a:srgbClr val="669900"/>
                </a:solidFill>
                <a:latin typeface="Liberation Mono"/>
              </a:rPr>
              <a:t>-- 'of'</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part4</a:t>
            </a:r>
            <a:r>
              <a:rPr lang="en-IN" dirty="0">
                <a:latin typeface="Liberation Mono"/>
              </a:rPr>
              <a:t>;    			 </a:t>
            </a:r>
            <a:r>
              <a:rPr lang="en-IN" dirty="0">
                <a:solidFill>
                  <a:srgbClr val="669900"/>
                </a:solidFill>
                <a:latin typeface="Liberation Mono"/>
              </a:rPr>
              <a:t>-- 'India'</a:t>
            </a:r>
          </a:p>
        </p:txBody>
      </p:sp>
    </p:spTree>
    <p:extLst>
      <p:ext uri="{BB962C8B-B14F-4D97-AF65-F5344CB8AC3E}">
        <p14:creationId xmlns:p14="http://schemas.microsoft.com/office/powerpoint/2010/main" val="3400351906"/>
      </p:ext>
    </p:extLst>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D38C0-6FD4-9890-7F1C-EC65274A95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7BF162B-E906-D8A0-E4CA-B6FF8B8FF89D}"/>
              </a:ext>
            </a:extLst>
          </p:cNvPr>
          <p:cNvGraphicFramePr>
            <a:graphicFrameLocks noGrp="1"/>
          </p:cNvGraphicFramePr>
          <p:nvPr>
            <p:extLst>
              <p:ext uri="{D42A27DB-BD31-4B8C-83A1-F6EECF244321}">
                <p14:modId xmlns:p14="http://schemas.microsoft.com/office/powerpoint/2010/main" val="1117087512"/>
              </p:ext>
            </p:extLst>
          </p:nvPr>
        </p:nvGraphicFramePr>
        <p:xfrm>
          <a:off x="227776" y="1256341"/>
          <a:ext cx="4860112"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385200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025A5C6E-0897-2464-CA06-8509ACB36603}"/>
              </a:ext>
            </a:extLst>
          </p:cNvPr>
          <p:cNvSpPr txBox="1"/>
          <p:nvPr/>
        </p:nvSpPr>
        <p:spPr>
          <a:xfrm>
            <a:off x="4319258" y="564996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5A2A878E-4ABE-DDE6-3C5F-867444381176}"/>
              </a:ext>
            </a:extLst>
          </p:cNvPr>
          <p:cNvSpPr txBox="1"/>
          <p:nvPr/>
        </p:nvSpPr>
        <p:spPr>
          <a:xfrm>
            <a:off x="515807" y="777015"/>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80C77F49-C173-7C72-6EF3-6A21DF2F36AA}"/>
              </a:ext>
            </a:extLst>
          </p:cNvPr>
          <p:cNvSpPr txBox="1"/>
          <p:nvPr/>
        </p:nvSpPr>
        <p:spPr>
          <a:xfrm>
            <a:off x="5663952"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E869D077-ED8E-18BC-0EEF-D6AFF2286E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A1F0632B-E5E3-8044-66CC-64F93FB144BE}"/>
              </a:ext>
            </a:extLst>
          </p:cNvPr>
          <p:cNvGraphicFramePr>
            <a:graphicFrameLocks noGrp="1"/>
          </p:cNvGraphicFramePr>
          <p:nvPr>
            <p:extLst>
              <p:ext uri="{D42A27DB-BD31-4B8C-83A1-F6EECF244321}">
                <p14:modId xmlns:p14="http://schemas.microsoft.com/office/powerpoint/2010/main" val="2155010486"/>
              </p:ext>
            </p:extLst>
          </p:nvPr>
        </p:nvGraphicFramePr>
        <p:xfrm>
          <a:off x="5663952" y="1256341"/>
          <a:ext cx="6331041" cy="4617720"/>
        </p:xfrm>
        <a:graphic>
          <a:graphicData uri="http://schemas.openxmlformats.org/drawingml/2006/table">
            <a:tbl>
              <a:tblPr firstRow="1" bandRow="1">
                <a:tableStyleId>{5940675A-B579-460E-94D1-54222C63F5DA}</a:tableStyleId>
              </a:tblPr>
              <a:tblGrid>
                <a:gridCol w="1008000">
                  <a:extLst>
                    <a:ext uri="{9D8B030D-6E8A-4147-A177-3AD203B41FA5}">
                      <a16:colId xmlns:a16="http://schemas.microsoft.com/office/drawing/2014/main" val="928063234"/>
                    </a:ext>
                  </a:extLst>
                </a:gridCol>
                <a:gridCol w="3851294">
                  <a:extLst>
                    <a:ext uri="{9D8B030D-6E8A-4147-A177-3AD203B41FA5}">
                      <a16:colId xmlns:a16="http://schemas.microsoft.com/office/drawing/2014/main" val="790049539"/>
                    </a:ext>
                  </a:extLst>
                </a:gridCol>
                <a:gridCol w="1471747">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Total Members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3</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5</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2</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88719B21-4FE9-E4A1-4EB3-C802F2DF5A74}"/>
              </a:ext>
            </a:extLst>
          </p:cNvPr>
          <p:cNvSpPr txBox="1"/>
          <p:nvPr/>
        </p:nvSpPr>
        <p:spPr>
          <a:xfrm>
            <a:off x="284398" y="6165304"/>
            <a:ext cx="11716258" cy="369332"/>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TeamID, members, </a:t>
            </a:r>
            <a:r>
              <a:rPr lang="en-IN" dirty="0">
                <a:solidFill>
                  <a:srgbClr val="DD4A68"/>
                </a:solidFill>
                <a:latin typeface="Liberation Mono"/>
              </a:rPr>
              <a:t>LENGTH</a:t>
            </a:r>
            <a:r>
              <a:rPr lang="en-IN" dirty="0">
                <a:latin typeface="Liberation Mono"/>
              </a:rPr>
              <a:t>(members)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(members,",", ""))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`Total Members` </a:t>
            </a:r>
            <a:r>
              <a:rPr lang="en-IN" dirty="0">
                <a:solidFill>
                  <a:srgbClr val="0077AA"/>
                </a:solidFill>
                <a:latin typeface="Liberation Mono"/>
                <a:cs typeface="Times New Roman" panose="02020603050405020304" pitchFamily="18" charset="0"/>
              </a:rPr>
              <a:t>FROM</a:t>
            </a:r>
            <a:r>
              <a:rPr lang="en-IN" dirty="0">
                <a:latin typeface="Liberation Mono"/>
              </a:rPr>
              <a:t> teams;</a:t>
            </a:r>
          </a:p>
        </p:txBody>
      </p:sp>
      <p:sp>
        <p:nvSpPr>
          <p:cNvPr id="5" name="Rectangle 4">
            <a:extLst>
              <a:ext uri="{FF2B5EF4-FFF2-40B4-BE49-F238E27FC236}">
                <a16:creationId xmlns:a16="http://schemas.microsoft.com/office/drawing/2014/main" id="{356B4AC5-C127-7909-476C-1256A6BF260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elements in </a:t>
            </a:r>
            <a:r>
              <a:rPr lang="en-IN" sz="2000" b="1" dirty="0">
                <a:solidFill>
                  <a:schemeClr val="accent2">
                    <a:lumMod val="50000"/>
                  </a:schemeClr>
                </a:solidFill>
                <a:latin typeface="Arial" panose="020B0604020202020204" pitchFamily="34" charset="0"/>
                <a:cs typeface="Arial" panose="020B0604020202020204" pitchFamily="34" charset="0"/>
              </a:rPr>
              <a:t>enum</a:t>
            </a:r>
            <a:r>
              <a:rPr lang="en-IN" sz="2000" dirty="0">
                <a:solidFill>
                  <a:schemeClr val="accent2">
                    <a:lumMod val="50000"/>
                  </a:schemeClr>
                </a:solidFill>
                <a:latin typeface="Arial" panose="020B0604020202020204" pitchFamily="34" charset="0"/>
                <a:cs typeface="Arial" panose="020B0604020202020204" pitchFamily="34" charset="0"/>
              </a:rPr>
              <a:t> data-type</a:t>
            </a:r>
          </a:p>
        </p:txBody>
      </p:sp>
    </p:spTree>
    <p:extLst>
      <p:ext uri="{BB962C8B-B14F-4D97-AF65-F5344CB8AC3E}">
        <p14:creationId xmlns:p14="http://schemas.microsoft.com/office/powerpoint/2010/main" val="308328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406800" y="810578"/>
            <a:ext cx="1137600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IN" dirty="0">
                <a:solidFill>
                  <a:srgbClr val="0077AA"/>
                </a:solidFill>
                <a:latin typeface="Liberation Mono"/>
                <a:cs typeface="Times New Roman" panose="02020603050405020304" pitchFamily="18" charset="0"/>
              </a:rPr>
              <a:t>IN</a:t>
            </a:r>
            <a:r>
              <a:rPr lang="en-US" dirty="0">
                <a:latin typeface="Liberation Mono"/>
              </a:rPr>
              <a:t> </a:t>
            </a:r>
            <a:r>
              <a:rPr lang="en-US" dirty="0">
                <a:solidFill>
                  <a:schemeClr val="bg1">
                    <a:lumMod val="50000"/>
                  </a:schemeClr>
                </a:solidFill>
                <a:latin typeface="Liberation Mono"/>
              </a:rPr>
              <a:t>(</a:t>
            </a:r>
            <a:r>
              <a:rPr lang="en-US" dirty="0">
                <a:solidFill>
                  <a:srgbClr val="669900"/>
                </a:solidFill>
                <a:latin typeface="Liberation Mono"/>
              </a:rPr>
              <a:t>'a'</a:t>
            </a:r>
            <a:r>
              <a:rPr lang="en-US" dirty="0">
                <a:latin typeface="Liberation Mono"/>
              </a:rPr>
              <a:t>, </a:t>
            </a:r>
            <a:r>
              <a:rPr lang="en-US" dirty="0">
                <a:solidFill>
                  <a:srgbClr val="669900"/>
                </a:solidFill>
                <a:latin typeface="Liberation Mono"/>
              </a:rPr>
              <a:t>'e'</a:t>
            </a:r>
            <a:r>
              <a:rPr lang="en-US" dirty="0">
                <a:latin typeface="Liberation Mono"/>
              </a:rPr>
              <a:t>, </a:t>
            </a:r>
            <a:r>
              <a:rPr lang="en-US" dirty="0">
                <a:solidFill>
                  <a:srgbClr val="669900"/>
                </a:solidFill>
                <a:latin typeface="Liberation Mono"/>
              </a:rPr>
              <a:t>'o'</a:t>
            </a:r>
            <a:r>
              <a:rPr lang="en-US" dirty="0">
                <a:latin typeface="Liberation Mono"/>
              </a:rPr>
              <a:t>, </a:t>
            </a:r>
            <a:r>
              <a:rPr lang="en-US" dirty="0">
                <a:solidFill>
                  <a:srgbClr val="669900"/>
                </a:solidFill>
                <a:latin typeface="Liberation Mono"/>
              </a:rPr>
              <a:t>'i'</a:t>
            </a:r>
            <a:r>
              <a:rPr lang="en-US" dirty="0">
                <a:latin typeface="Liberation Mono"/>
              </a:rPr>
              <a:t>, </a:t>
            </a:r>
            <a:r>
              <a:rPr lang="en-US" dirty="0">
                <a:solidFill>
                  <a:srgbClr val="669900"/>
                </a:solidFill>
                <a:latin typeface="Liberation Mono"/>
              </a:rPr>
              <a:t>'u'</a:t>
            </a:r>
            <a:r>
              <a:rPr lang="en-US" dirty="0">
                <a:solidFill>
                  <a:schemeClr val="bg1">
                    <a:lumMod val="50000"/>
                  </a:schemeClr>
                </a:solidFill>
                <a:latin typeface="Liberation Mono"/>
              </a:rPr>
              <a:t>)</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a|e|i|o|u</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a|m</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//starts with</a:t>
            </a:r>
            <a:endParaRPr lang="en-IN" dirty="0">
              <a:solidFill>
                <a:srgbClr val="39AE0A"/>
              </a:solidFill>
              <a:latin typeface="Liberation Mono"/>
            </a:endParaRP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n|r</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//ends with</a:t>
            </a:r>
            <a:endParaRPr lang="en-IN" dirty="0">
              <a:solidFill>
                <a:srgbClr val="39AE0A"/>
              </a:solidFill>
              <a:latin typeface="Liberation Mono"/>
            </a:endParaRPr>
          </a:p>
        </p:txBody>
      </p:sp>
      <p:sp>
        <p:nvSpPr>
          <p:cNvPr id="4" name="TextBox 3">
            <a:extLst>
              <a:ext uri="{FF2B5EF4-FFF2-40B4-BE49-F238E27FC236}">
                <a16:creationId xmlns:a16="http://schemas.microsoft.com/office/drawing/2014/main" id="{A347D7FC-4A72-4387-820C-9DDB5A36F459}"/>
              </a:ext>
            </a:extLst>
          </p:cNvPr>
          <p:cNvSpPr txBox="1"/>
          <p:nvPr/>
        </p:nvSpPr>
        <p:spPr>
          <a:xfrm>
            <a:off x="406800" y="3861048"/>
            <a:ext cx="1137600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IN" dirty="0"/>
              <a:t> </a:t>
            </a:r>
            <a:r>
              <a:rPr lang="en-IN" dirty="0">
                <a:solidFill>
                  <a:srgbClr val="669900"/>
                </a:solidFill>
                <a:latin typeface="Liberation Mono"/>
              </a:rPr>
              <a:t>"abc,,abc,,,,,bc,,,,,,abc"</a:t>
            </a:r>
            <a:r>
              <a:rPr lang="en-IN" dirty="0">
                <a:latin typeface="Liberation Mono"/>
              </a:rPr>
              <a:t> ;  / </a:t>
            </a: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IN" dirty="0">
                <a:solidFill>
                  <a:srgbClr val="669900"/>
                </a:solidFill>
                <a:latin typeface="Liberation Mono"/>
              </a:rPr>
              <a:t>"abc,,abc,,,,,bc,,,,,,abc"</a:t>
            </a:r>
            <a:r>
              <a:rPr lang="en-US" dirty="0">
                <a:latin typeface="Liberation Mono"/>
              </a:rPr>
              <a:t>, ",", ".,"</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R1 ;</a:t>
            </a:r>
            <a:endParaRPr lang="en-IN" dirty="0">
              <a:solidFill>
                <a:srgbClr val="669900"/>
              </a:solidFill>
              <a:latin typeface="Liberation Mono"/>
            </a:endParaRPr>
          </a:p>
        </p:txBody>
      </p:sp>
    </p:spTree>
    <p:extLst>
      <p:ext uri="{BB962C8B-B14F-4D97-AF65-F5344CB8AC3E}">
        <p14:creationId xmlns:p14="http://schemas.microsoft.com/office/powerpoint/2010/main" val="1911715603"/>
      </p:ext>
    </p:extLst>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mathematical </a:t>
            </a:r>
            <a:r>
              <a:rPr lang="en-US" sz="4800" dirty="0">
                <a:solidFill>
                  <a:srgbClr val="DC525C"/>
                </a:solidFill>
                <a:latin typeface="Segoe UI Light" panose="020B0502040204020203" pitchFamily="34" charset="0"/>
                <a:cs typeface="Segoe UI Light" panose="020B0502040204020203" pitchFamily="34" charset="0"/>
              </a:rPr>
              <a:t>functions</a:t>
            </a:r>
          </a:p>
        </p:txBody>
      </p:sp>
    </p:spTree>
    <p:extLst>
      <p:ext uri="{BB962C8B-B14F-4D97-AF65-F5344CB8AC3E}">
        <p14:creationId xmlns:p14="http://schemas.microsoft.com/office/powerpoint/2010/main" val="2854163911"/>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908129610"/>
              </p:ext>
            </p:extLst>
          </p:nvPr>
        </p:nvGraphicFramePr>
        <p:xfrm>
          <a:off x="406800" y="813600"/>
          <a:ext cx="11376000" cy="5565561"/>
        </p:xfrm>
        <a:graphic>
          <a:graphicData uri="http://schemas.openxmlformats.org/drawingml/2006/table">
            <a:tbl>
              <a:tblPr firstRow="1" bandRow="1">
                <a:tableStyleId>{7E9639D4-E3E2-4D34-9284-5A2195B3D0D7}</a:tableStyleId>
              </a:tblPr>
              <a:tblGrid>
                <a:gridCol w="2850190">
                  <a:extLst>
                    <a:ext uri="{9D8B030D-6E8A-4147-A177-3AD203B41FA5}">
                      <a16:colId xmlns:a16="http://schemas.microsoft.com/office/drawing/2014/main" val="20000"/>
                    </a:ext>
                  </a:extLst>
                </a:gridCol>
                <a:gridCol w="852581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ABS(</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absolute value of X.</a:t>
                      </a:r>
                    </a:p>
                  </a:txBody>
                  <a:tcPr marL="68580" marR="68580" marT="0" marB="0" anchor="ctr"/>
                </a:tc>
                <a:extLst>
                  <a:ext uri="{0D108BD9-81ED-4DB2-BD59-A6C34878D82A}">
                    <a16:rowId xmlns:a16="http://schemas.microsoft.com/office/drawing/2014/main" val="1000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CEIL() is a synonym for CEILING().</a:t>
                      </a:r>
                    </a:p>
                  </a:txBody>
                  <a:tcPr marL="68580" marR="68580" marT="0" marB="0" anchor="ctr"/>
                </a:tc>
                <a:extLst>
                  <a:ext uri="{0D108BD9-81ED-4DB2-BD59-A6C34878D82A}">
                    <a16:rowId xmlns:a16="http://schemas.microsoft.com/office/drawing/2014/main" val="1000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CEILING(</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CEIL value.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FLOOR(</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FLOOR value.</a:t>
                      </a: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rgbClr val="0077AA"/>
                          </a:solidFill>
                          <a:latin typeface="Liberation Mono"/>
                          <a:ea typeface="+mn-ea"/>
                          <a:cs typeface="+mn-cs"/>
                        </a:rPr>
                        <a:t>  MOD(</a:t>
                      </a:r>
                      <a:r>
                        <a:rPr kumimoji="0" lang="pt-BR" sz="1800" kern="1200" dirty="0">
                          <a:solidFill>
                            <a:schemeClr val="tx2"/>
                          </a:solidFill>
                          <a:latin typeface="Liberation Mono"/>
                          <a:ea typeface="+mn-ea"/>
                          <a:cs typeface="+mn-cs"/>
                        </a:rPr>
                        <a:t>n</a:t>
                      </a:r>
                      <a:r>
                        <a:rPr kumimoji="0" lang="pt-BR" sz="1800" kern="1200" dirty="0">
                          <a:solidFill>
                            <a:schemeClr val="tx1"/>
                          </a:solidFill>
                          <a:latin typeface="Liberation Mono"/>
                          <a:ea typeface="+mn-ea"/>
                          <a:cs typeface="+mn-cs"/>
                        </a:rPr>
                        <a:t>,</a:t>
                      </a:r>
                      <a:r>
                        <a:rPr kumimoji="0" lang="pt-BR" sz="1800" kern="1200" dirty="0">
                          <a:solidFill>
                            <a:schemeClr val="tx2"/>
                          </a:solidFill>
                          <a:latin typeface="Liberation Mono"/>
                          <a:ea typeface="+mn-ea"/>
                          <a:cs typeface="+mn-cs"/>
                        </a:rPr>
                        <a:t> m</a:t>
                      </a:r>
                      <a:r>
                        <a:rPr kumimoji="0" lang="pt-BR" sz="1800" kern="1200" dirty="0">
                          <a:solidFill>
                            <a:srgbClr val="0077AA"/>
                          </a:solidFill>
                          <a:latin typeface="Liberation Mono"/>
                          <a:ea typeface="+mn-ea"/>
                          <a:cs typeface="+mn-cs"/>
                        </a:rPr>
                        <a:t>)</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 </a:t>
                      </a:r>
                      <a:r>
                        <a:rPr kumimoji="0" lang="pt-BR" sz="1800" kern="1200" dirty="0">
                          <a:solidFill>
                            <a:schemeClr val="tx2"/>
                          </a:solidFill>
                          <a:latin typeface="Liberation Mono"/>
                          <a:ea typeface="+mn-ea"/>
                          <a:cs typeface="+mn-cs"/>
                        </a:rPr>
                        <a:t>m</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MOD </a:t>
                      </a:r>
                      <a:r>
                        <a:rPr kumimoji="0" lang="pt-BR" sz="1800" kern="1200" dirty="0">
                          <a:solidFill>
                            <a:schemeClr val="tx2"/>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remainder of N divided by M. MOD(N,0) returns NULL.</a:t>
                      </a: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POWER(</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y</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This is a synonym for POW().</a:t>
                      </a:r>
                    </a:p>
                  </a:txBody>
                  <a:tcPr marL="68580" marR="68580" marT="0" marB="0" anchor="ctr"/>
                </a:tc>
                <a:extLst>
                  <a:ext uri="{0D108BD9-81ED-4DB2-BD59-A6C34878D82A}">
                    <a16:rowId xmlns:a16="http://schemas.microsoft.com/office/drawing/2014/main" val="1000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RAND()</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a random floating-point value</a:t>
                      </a:r>
                    </a:p>
                  </a:txBody>
                  <a:tcPr marL="68580" marR="68580" marT="0" marB="0" anchor="ctr"/>
                </a:tc>
                <a:extLst>
                  <a:ext uri="{0D108BD9-81ED-4DB2-BD59-A6C34878D82A}">
                    <a16:rowId xmlns:a16="http://schemas.microsoft.com/office/drawing/2014/main" val="8236575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Rounds the argument X to D decimal places. The rounding algorithm depends on the data type of X. D defaults to 0 if not specified. D can be negative to cause D digits left of the decimal point of the value X to become zero.</a:t>
                      </a:r>
                    </a:p>
                  </a:txBody>
                  <a:tcPr marL="68580" marR="68580" marT="0" marB="0" anchor="ctr"/>
                </a:tc>
                <a:extLst>
                  <a:ext uri="{0D108BD9-81ED-4DB2-BD59-A6C34878D82A}">
                    <a16:rowId xmlns:a16="http://schemas.microsoft.com/office/drawing/2014/main" val="24997977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TRUNCATE(</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number X, truncated to D decimal places. If D is 0, the result has no decimal point or fractional part. D can be negative to cause D digits left of the decimal point of the value X to become zero.</a:t>
                      </a:r>
                    </a:p>
                  </a:txBody>
                  <a:tcPr marL="68580" marR="68580" marT="0" marB="0" anchor="ctr"/>
                </a:tc>
                <a:extLst>
                  <a:ext uri="{0D108BD9-81ED-4DB2-BD59-A6C34878D82A}">
                    <a16:rowId xmlns:a16="http://schemas.microsoft.com/office/drawing/2014/main" val="842558293"/>
                  </a:ext>
                </a:extLst>
              </a:tr>
            </a:tbl>
          </a:graphicData>
        </a:graphic>
      </p:graphicFrame>
    </p:spTree>
    <p:extLst>
      <p:ext uri="{BB962C8B-B14F-4D97-AF65-F5344CB8AC3E}">
        <p14:creationId xmlns:p14="http://schemas.microsoft.com/office/powerpoint/2010/main" val="598073951"/>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3B9100F9-04E1-4F28-8242-1F74AA42824F}"/>
              </a:ext>
            </a:extLst>
          </p:cNvPr>
          <p:cNvSpPr/>
          <p:nvPr/>
        </p:nvSpPr>
        <p:spPr>
          <a:xfrm>
            <a:off x="371364" y="857308"/>
            <a:ext cx="11449272" cy="5019964"/>
          </a:xfrm>
          <a:prstGeom prst="rect">
            <a:avLst/>
          </a:prstGeom>
        </p:spPr>
        <p:txBody>
          <a:bodyPr wrap="square">
            <a:spAutoFit/>
          </a:bodyPr>
          <a:lstStyle/>
          <a:p>
            <a:r>
              <a:rPr lang="en-US" sz="2000" dirty="0">
                <a:solidFill>
                  <a:srgbClr val="FF0000"/>
                </a:solidFill>
                <a:latin typeface="Liberation Mono"/>
                <a:ea typeface="Times New Roman" panose="02020603050405020304" pitchFamily="18" charset="0"/>
                <a:cs typeface="Times New Roman" panose="02020603050405020304" pitchFamily="18" charset="0"/>
              </a:rPr>
              <a:t>e.g.</a:t>
            </a:r>
          </a:p>
          <a:p>
            <a:pPr marL="285750" indent="-285750">
              <a:buFont typeface="Arial" panose="020B0604020202020204" pitchFamily="34" charset="0"/>
              <a:buChar char="•"/>
            </a:pPr>
            <a:endParaRPr lang="en-US" sz="600" dirty="0">
              <a:solidFill>
                <a:schemeClr val="accent5">
                  <a:lumMod val="7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-1.23</a:t>
            </a:r>
            <a:r>
              <a:rPr lang="en-US" dirty="0">
                <a:latin typeface="Liberation Mono"/>
                <a:cs typeface="Arial" panose="020B0604020202020204" pitchFamily="34" charset="0"/>
              </a:rPr>
              <a:t>)</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-1.58</a:t>
            </a:r>
            <a:r>
              <a:rPr lang="en-US" dirty="0">
                <a:latin typeface="Liberation Mono"/>
                <a:cs typeface="Arial" panose="020B0604020202020204" pitchFamily="34" charset="0"/>
              </a:rPr>
              <a:t>)</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US" dirty="0">
                <a:latin typeface="Liberation Mono"/>
                <a:ea typeface="Times New Roman" panose="02020603050405020304" pitchFamily="18" charset="0"/>
              </a:rPr>
              <a:t>(</a:t>
            </a:r>
            <a:r>
              <a:rPr lang="en-US" dirty="0">
                <a:solidFill>
                  <a:srgbClr val="990055"/>
                </a:solidFill>
                <a:latin typeface="Liberation Mono"/>
              </a:rPr>
              <a:t>1</a:t>
            </a:r>
            <a:r>
              <a:rPr lang="en-US" dirty="0">
                <a:latin typeface="Liberation Mono"/>
                <a:ea typeface="Times New Roman" panose="02020603050405020304" pitchFamily="18" charset="0"/>
              </a:rPr>
              <a:t> + </a:t>
            </a:r>
            <a:r>
              <a:rPr lang="en-US" dirty="0">
                <a:solidFill>
                  <a:srgbClr val="DD4A68"/>
                </a:solidFill>
                <a:latin typeface="Liberation Mono"/>
              </a:rPr>
              <a:t>RAND()</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1 to 100</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20 to 75</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OTP</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a:t>
            </a:r>
            <a:r>
              <a:rPr lang="en-IN" dirty="0">
                <a:solidFill>
                  <a:srgbClr val="00B050"/>
                </a:solidFill>
                <a:latin typeface="Liberation Mono"/>
              </a:rPr>
              <a:t>6 digit</a:t>
            </a:r>
            <a:endParaRPr lang="en-US" dirty="0">
              <a:solidFill>
                <a:srgbClr val="00B050"/>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weight, </a:t>
            </a:r>
            <a:r>
              <a:rPr lang="en-IN" dirty="0">
                <a:solidFill>
                  <a:srgbClr val="DD4A68"/>
                </a:solidFill>
                <a:latin typeface="Liberation Mono"/>
              </a:rPr>
              <a:t>TRUNCATE</a:t>
            </a:r>
            <a:r>
              <a:rPr lang="en-IN" dirty="0">
                <a:latin typeface="Liberation Mono"/>
                <a:cs typeface="Arial" panose="020B0604020202020204" pitchFamily="34" charset="0"/>
              </a:rPr>
              <a:t>(weight, </a:t>
            </a:r>
            <a:r>
              <a:rPr lang="en-IN" dirty="0">
                <a:solidFill>
                  <a:srgbClr val="990055"/>
                </a:solidFill>
                <a:latin typeface="Liberation Mono"/>
              </a:rPr>
              <a:t>0</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  </a:t>
            </a:r>
            <a:r>
              <a:rPr lang="en-IN" dirty="0">
                <a:solidFill>
                  <a:srgbClr val="DD4A68"/>
                </a:solidFill>
                <a:latin typeface="Liberation Mono"/>
              </a:rPr>
              <a:t>MID</a:t>
            </a:r>
            <a:r>
              <a:rPr lang="en-IN" dirty="0">
                <a:latin typeface="Liberation Mono"/>
                <a:cs typeface="Arial" panose="020B0604020202020204" pitchFamily="34" charset="0"/>
              </a:rPr>
              <a:t>(weight, </a:t>
            </a:r>
            <a:r>
              <a:rPr lang="en-IN" dirty="0">
                <a:solidFill>
                  <a:srgbClr val="DD4A68"/>
                </a:solidFill>
                <a:latin typeface="Liberation Mono"/>
              </a:rPr>
              <a:t>INSTR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weight, ".")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mass_table;</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weight, </a:t>
            </a:r>
            <a:r>
              <a:rPr lang="en-US" dirty="0">
                <a:solidFill>
                  <a:srgbClr val="DD4A68"/>
                </a:solidFill>
                <a:latin typeface="Liberation Mono"/>
              </a:rPr>
              <a:t>TRUNCATE</a:t>
            </a:r>
            <a:r>
              <a:rPr lang="en-US" dirty="0">
                <a:latin typeface="Liberation Mono"/>
                <a:cs typeface="Arial" panose="020B0604020202020204" pitchFamily="34" charset="0"/>
              </a:rPr>
              <a:t>(weight, </a:t>
            </a:r>
            <a:r>
              <a:rPr lang="en-IN" dirty="0">
                <a:solidFill>
                  <a:srgbClr val="990055"/>
                </a:solidFill>
                <a:latin typeface="Liberation Mono"/>
              </a:rPr>
              <a:t>0</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RIGHT</a:t>
            </a:r>
            <a:r>
              <a:rPr lang="en-US" dirty="0">
                <a:latin typeface="Liberation Mono"/>
                <a:cs typeface="Arial" panose="020B0604020202020204" pitchFamily="34" charset="0"/>
              </a:rPr>
              <a:t>(</a:t>
            </a:r>
            <a:r>
              <a:rPr lang="en-US" dirty="0">
                <a:solidFill>
                  <a:srgbClr val="DD4A68"/>
                </a:solidFill>
                <a:latin typeface="Liberation Mono"/>
              </a:rPr>
              <a:t>MOD</a:t>
            </a:r>
            <a:r>
              <a:rPr lang="en-US" dirty="0">
                <a:latin typeface="Liberation Mono"/>
                <a:cs typeface="Arial" panose="020B0604020202020204" pitchFamily="34" charset="0"/>
              </a:rPr>
              <a:t>(weight ,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990055"/>
                </a:solidFill>
                <a:latin typeface="Liberation Mono"/>
              </a:rPr>
              <a:t>2</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mass_table;</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151865872"/>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BD68C-BFD0-357C-88AE-E29D3421901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9FD6031B-1379-0933-30D8-EE911A2E71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8" name="TextBox 7">
            <a:extLst>
              <a:ext uri="{FF2B5EF4-FFF2-40B4-BE49-F238E27FC236}">
                <a16:creationId xmlns:a16="http://schemas.microsoft.com/office/drawing/2014/main" id="{7CF2B484-5AF4-BB12-B0BB-1596D41CA21E}"/>
              </a:ext>
            </a:extLst>
          </p:cNvPr>
          <p:cNvSpPr txBox="1"/>
          <p:nvPr/>
        </p:nvSpPr>
        <p:spPr>
          <a:xfrm>
            <a:off x="407368" y="3279600"/>
            <a:ext cx="7128792" cy="2173031"/>
          </a:xfrm>
          <a:prstGeom prst="rect">
            <a:avLst/>
          </a:prstGeom>
          <a:noFill/>
        </p:spPr>
        <p:txBody>
          <a:bodyPr wrap="square">
            <a:spAutoFit/>
          </a:bodyPr>
          <a:lstStyle/>
          <a:p>
            <a:r>
              <a:rPr lang="en-US" sz="2100" b="1" dirty="0">
                <a:solidFill>
                  <a:srgbClr val="0070C0"/>
                </a:solidFill>
                <a:latin typeface="Liberation Mono"/>
                <a:ea typeface="Times New Roman" panose="02020603050405020304" pitchFamily="18" charset="0"/>
                <a:cs typeface="Times New Roman" panose="02020603050405020304" pitchFamily="18" charset="0"/>
              </a:rPr>
              <a:t>random numbers between</a:t>
            </a:r>
          </a:p>
          <a:p>
            <a:endParaRPr lang="en-US" sz="600" b="1" dirty="0">
              <a:solidFill>
                <a:srgbClr val="0070C0"/>
              </a:solidFill>
              <a:latin typeface="Liberation Mono"/>
              <a:ea typeface="Times New Roman" panose="02020603050405020304" pitchFamily="18" charset="0"/>
              <a:cs typeface="Times New Roman" panose="02020603050405020304" pitchFamily="18" charset="0"/>
            </a:endParaRP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100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IN" dirty="0">
                <a:latin typeface="Liberation Mono"/>
              </a:rPr>
              <a:t>);</a:t>
            </a: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14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14</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20 to 75 →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6 digit OPT number →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p>
        </p:txBody>
      </p:sp>
      <p:sp>
        <p:nvSpPr>
          <p:cNvPr id="3" name="TextBox 5">
            <a:extLst>
              <a:ext uri="{FF2B5EF4-FFF2-40B4-BE49-F238E27FC236}">
                <a16:creationId xmlns:a16="http://schemas.microsoft.com/office/drawing/2014/main" id="{CD1AC9FC-D275-6EDF-2EB4-521295BA02E1}"/>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
        <p:nvSpPr>
          <p:cNvPr id="4" name="TextBox 3">
            <a:extLst>
              <a:ext uri="{FF2B5EF4-FFF2-40B4-BE49-F238E27FC236}">
                <a16:creationId xmlns:a16="http://schemas.microsoft.com/office/drawing/2014/main" id="{FEB2020B-C259-EC4E-9649-07B08D362A2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Tree>
    <p:extLst>
      <p:ext uri="{BB962C8B-B14F-4D97-AF65-F5344CB8AC3E}">
        <p14:creationId xmlns:p14="http://schemas.microsoft.com/office/powerpoint/2010/main" val="2013061302"/>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447CB-2A1B-BBCD-C89A-A685E57A243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DDF7C0B-666B-B2E0-91B7-2685EFD5AEE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graphicFrame>
        <p:nvGraphicFramePr>
          <p:cNvPr id="4" name="Table 2">
            <a:extLst>
              <a:ext uri="{FF2B5EF4-FFF2-40B4-BE49-F238E27FC236}">
                <a16:creationId xmlns:a16="http://schemas.microsoft.com/office/drawing/2014/main" id="{CCE4AC53-DD02-26C1-23F0-4A5F2AA0F43D}"/>
              </a:ext>
            </a:extLst>
          </p:cNvPr>
          <p:cNvGraphicFramePr>
            <a:graphicFrameLocks noGrp="1"/>
          </p:cNvGraphicFramePr>
          <p:nvPr>
            <p:extLst>
              <p:ext uri="{D42A27DB-BD31-4B8C-83A1-F6EECF244321}">
                <p14:modId xmlns:p14="http://schemas.microsoft.com/office/powerpoint/2010/main" val="3163523689"/>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49D5777D-F817-DACB-AA87-04B71B242700}"/>
              </a:ext>
            </a:extLst>
          </p:cNvPr>
          <p:cNvSpPr txBox="1"/>
          <p:nvPr/>
        </p:nvSpPr>
        <p:spPr>
          <a:xfrm>
            <a:off x="1919536" y="3244914"/>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0D9DEF6B-DE70-6F38-6642-008C73F104FC}"/>
              </a:ext>
            </a:extLst>
          </p:cNvPr>
          <p:cNvSpPr txBox="1"/>
          <p:nvPr/>
        </p:nvSpPr>
        <p:spPr>
          <a:xfrm>
            <a:off x="191345" y="44624"/>
            <a:ext cx="2088232"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13" name="TextBox 12">
            <a:extLst>
              <a:ext uri="{FF2B5EF4-FFF2-40B4-BE49-F238E27FC236}">
                <a16:creationId xmlns:a16="http://schemas.microsoft.com/office/drawing/2014/main" id="{0E232348-E31B-FF05-5A3A-F9D592920B00}"/>
              </a:ext>
            </a:extLst>
          </p:cNvPr>
          <p:cNvSpPr txBox="1"/>
          <p:nvPr/>
        </p:nvSpPr>
        <p:spPr>
          <a:xfrm>
            <a:off x="5519936" y="5662989"/>
            <a:ext cx="604867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cnumbers;</a:t>
            </a:r>
          </a:p>
        </p:txBody>
      </p:sp>
      <p:sp>
        <p:nvSpPr>
          <p:cNvPr id="15" name="TextBox 14">
            <a:extLst>
              <a:ext uri="{FF2B5EF4-FFF2-40B4-BE49-F238E27FC236}">
                <a16:creationId xmlns:a16="http://schemas.microsoft.com/office/drawing/2014/main" id="{4376BD50-D2C7-E38B-2822-F3C702FFF945}"/>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TODO</a:t>
            </a:r>
            <a:endParaRPr lang="en-IN" dirty="0"/>
          </a:p>
        </p:txBody>
      </p:sp>
      <p:graphicFrame>
        <p:nvGraphicFramePr>
          <p:cNvPr id="3" name="Table 2">
            <a:extLst>
              <a:ext uri="{FF2B5EF4-FFF2-40B4-BE49-F238E27FC236}">
                <a16:creationId xmlns:a16="http://schemas.microsoft.com/office/drawing/2014/main" id="{6A44ECE7-9269-2879-0373-385422D96FFB}"/>
              </a:ext>
            </a:extLst>
          </p:cNvPr>
          <p:cNvGraphicFramePr>
            <a:graphicFrameLocks noGrp="1"/>
          </p:cNvGraphicFramePr>
          <p:nvPr>
            <p:extLst>
              <p:ext uri="{D42A27DB-BD31-4B8C-83A1-F6EECF244321}">
                <p14:modId xmlns:p14="http://schemas.microsoft.com/office/powerpoint/2010/main" val="2075411134"/>
              </p:ext>
            </p:extLst>
          </p:nvPr>
        </p:nvGraphicFramePr>
        <p:xfrm>
          <a:off x="3143672" y="476672"/>
          <a:ext cx="2160000"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720000">
                  <a:extLst>
                    <a:ext uri="{9D8B030D-6E8A-4147-A177-3AD203B41FA5}">
                      <a16:colId xmlns:a16="http://schemas.microsoft.com/office/drawing/2014/main" val="2965238667"/>
                    </a:ext>
                  </a:extLst>
                </a:gridCol>
                <a:gridCol w="720000">
                  <a:extLst>
                    <a:ext uri="{9D8B030D-6E8A-4147-A177-3AD203B41FA5}">
                      <a16:colId xmlns:a16="http://schemas.microsoft.com/office/drawing/2014/main" val="877024352"/>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R2</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10" name="TextBox 9">
            <a:extLst>
              <a:ext uri="{FF2B5EF4-FFF2-40B4-BE49-F238E27FC236}">
                <a16:creationId xmlns:a16="http://schemas.microsoft.com/office/drawing/2014/main" id="{6F3F6E3C-91A9-B404-71B0-ACC2F39DF292}"/>
              </a:ext>
            </a:extLst>
          </p:cNvPr>
          <p:cNvSpPr txBox="1"/>
          <p:nvPr/>
        </p:nvSpPr>
        <p:spPr>
          <a:xfrm>
            <a:off x="3143672" y="44624"/>
            <a:ext cx="2088232"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248583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05E626-08F2-E4D5-18F2-9ED271F002E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CAE64C3-679F-6DAB-04B1-A4453A96DCB3}"/>
              </a:ext>
            </a:extLst>
          </p:cNvPr>
          <p:cNvSpPr txBox="1"/>
          <p:nvPr/>
        </p:nvSpPr>
        <p:spPr>
          <a:xfrm>
            <a:off x="181355" y="5738565"/>
            <a:ext cx="11449272" cy="646331"/>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ELT</a:t>
            </a:r>
            <a:r>
              <a:rPr kumimoji="0" lang="en-IN" sz="1800" b="0" kern="1200" dirty="0">
                <a:solidFill>
                  <a:schemeClr val="tx1"/>
                </a:solidFill>
                <a:effectLst/>
                <a:latin typeface="Liberation Mono"/>
                <a:ea typeface="+mn-ea"/>
                <a:cs typeface="+mn-cs"/>
              </a:rPr>
              <a:t>(</a:t>
            </a:r>
            <a:r>
              <a:rPr kumimoji="0" lang="en-IN" sz="1800" kern="1200" dirty="0">
                <a:solidFill>
                  <a:srgbClr val="DD4A68"/>
                </a:solidFill>
                <a:latin typeface="Liberation Mono"/>
                <a:ea typeface="+mn-ea"/>
                <a:cs typeface="+mn-cs"/>
              </a:rPr>
              <a:t>FLOOR</a:t>
            </a:r>
            <a:r>
              <a:rPr kumimoji="0" lang="en-IN" sz="1800" b="0" kern="1200" dirty="0">
                <a:solidFill>
                  <a:schemeClr val="tx1"/>
                </a:solidFill>
                <a:effectLst/>
                <a:latin typeface="Liberation Mono"/>
                <a:ea typeface="+mn-ea"/>
                <a:cs typeface="+mn-cs"/>
              </a:rPr>
              <a:t>(</a:t>
            </a:r>
            <a:r>
              <a:rPr kumimoji="0" lang="en-IN" sz="1800" kern="1200" dirty="0">
                <a:solidFill>
                  <a:srgbClr val="990055"/>
                </a:solidFill>
                <a:latin typeface="Liberation Mono"/>
                <a:ea typeface="+mn-ea"/>
                <a:cs typeface="+mn-cs"/>
              </a:rPr>
              <a:t>1</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RAND</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990055"/>
                </a:solidFill>
                <a:latin typeface="Liberation Mono"/>
                <a:ea typeface="+mn-ea"/>
                <a:cs typeface="+mn-cs"/>
              </a:rPr>
              <a:t>14</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'Pending'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'Shipped'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'Delivered'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'Cancelled'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'Processing'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'In Transit'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'Out for Delivery'</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'Failed Attempt'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 to Origin'</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'Lost'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'Damaged'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'On Hold'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'Ready for Pickup'</a:t>
            </a:r>
            <a:r>
              <a:rPr kumimoji="0" lang="en-IN" sz="1800" b="0" kern="1200" dirty="0">
                <a:solidFill>
                  <a:schemeClr val="tx1"/>
                </a:solidFill>
                <a:effectLst/>
                <a:latin typeface="Liberation Mono"/>
                <a:ea typeface="+mn-ea"/>
                <a:cs typeface="+mn-cs"/>
              </a:rPr>
              <a:t>) </a:t>
            </a:r>
            <a:r>
              <a:rPr lang="en-IN" i="1" dirty="0">
                <a:solidFill>
                  <a:schemeClr val="bg1">
                    <a:lumMod val="50000"/>
                  </a:schemeClr>
                </a:solidFill>
                <a:latin typeface="Liberation Mono"/>
              </a:rPr>
              <a:t>Status</a:t>
            </a:r>
            <a:r>
              <a:rPr kumimoji="0" lang="en-IN" sz="1800" b="0" kern="1200" dirty="0">
                <a:solidFill>
                  <a:schemeClr val="tx1"/>
                </a:solidFill>
                <a:effectLst/>
                <a:latin typeface="Liberation Mono"/>
                <a:ea typeface="+mn-ea"/>
                <a:cs typeface="+mn-cs"/>
              </a:rPr>
              <a:t>;</a:t>
            </a:r>
          </a:p>
        </p:txBody>
      </p:sp>
      <p:sp>
        <p:nvSpPr>
          <p:cNvPr id="9" name="TextBox 8">
            <a:extLst>
              <a:ext uri="{FF2B5EF4-FFF2-40B4-BE49-F238E27FC236}">
                <a16:creationId xmlns:a16="http://schemas.microsoft.com/office/drawing/2014/main" id="{228C01F3-FAD3-0234-D79A-107889A257D7}"/>
              </a:ext>
            </a:extLst>
          </p:cNvPr>
          <p:cNvSpPr txBox="1"/>
          <p:nvPr/>
        </p:nvSpPr>
        <p:spPr>
          <a:xfrm>
            <a:off x="191344" y="3279755"/>
            <a:ext cx="11737304" cy="212365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65</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 </a:t>
            </a:r>
            <a:r>
              <a:rPr lang="en-IN" dirty="0">
                <a:solidFill>
                  <a:srgbClr val="990055"/>
                </a:solidFill>
                <a:latin typeface="Liberation Mono"/>
              </a:rPr>
              <a:t>97</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 </a:t>
            </a: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n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0</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digit (0–9)</a:t>
            </a:r>
          </a:p>
        </p:txBody>
      </p:sp>
      <p:sp>
        <p:nvSpPr>
          <p:cNvPr id="3" name="TextBox 2">
            <a:extLst>
              <a:ext uri="{FF2B5EF4-FFF2-40B4-BE49-F238E27FC236}">
                <a16:creationId xmlns:a16="http://schemas.microsoft.com/office/drawing/2014/main" id="{395D301C-00F0-9FAF-FDF9-016314227D7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
        <p:nvSpPr>
          <p:cNvPr id="4" name="Rectangle 3">
            <a:extLst>
              <a:ext uri="{FF2B5EF4-FFF2-40B4-BE49-F238E27FC236}">
                <a16:creationId xmlns:a16="http://schemas.microsoft.com/office/drawing/2014/main" id="{40B85F80-E519-A9D2-ADFF-220F68ED035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7" name="TextBox 5">
            <a:extLst>
              <a:ext uri="{FF2B5EF4-FFF2-40B4-BE49-F238E27FC236}">
                <a16:creationId xmlns:a16="http://schemas.microsoft.com/office/drawing/2014/main" id="{A2E5D838-977E-E413-2B94-5A0FC36DE0AB}"/>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Tree>
    <p:extLst>
      <p:ext uri="{BB962C8B-B14F-4D97-AF65-F5344CB8AC3E}">
        <p14:creationId xmlns:p14="http://schemas.microsoft.com/office/powerpoint/2010/main" val="3705463329"/>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65EBB09-1387-764E-5253-CC438BBF2D27}"/>
              </a:ext>
            </a:extLst>
          </p:cNvPr>
          <p:cNvSpPr txBox="1"/>
          <p:nvPr/>
        </p:nvSpPr>
        <p:spPr>
          <a:xfrm>
            <a:off x="292696" y="1700808"/>
            <a:ext cx="11491936" cy="830997"/>
          </a:xfrm>
          <a:prstGeom prst="rect">
            <a:avLst/>
          </a:prstGeom>
          <a:noFill/>
        </p:spPr>
        <p:txBody>
          <a:bodyPr wrap="square">
            <a:spAutoFit/>
          </a:bodyPr>
          <a:lstStyle/>
          <a:p>
            <a:r>
              <a:rPr lang="en-IN" sz="2400" b="1" i="1" dirty="0">
                <a:latin typeface="Liberation Mono"/>
              </a:rPr>
              <a:t>R</a:t>
            </a:r>
            <a:r>
              <a:rPr lang="en-IN" sz="2400" dirty="0">
                <a:latin typeface="Liberation Mono"/>
              </a:rPr>
              <a:t> = { userID INT PRIMARY KEY AUTO_INCREMENT, userName VARCHAR(20) NOT NULL, password VARCHAR(50) NOT NULL, passwordExpiry DATE NOT NULL }</a:t>
            </a:r>
          </a:p>
        </p:txBody>
      </p:sp>
      <p:sp>
        <p:nvSpPr>
          <p:cNvPr id="6" name="Rectangle 5">
            <a:extLst>
              <a:ext uri="{FF2B5EF4-FFF2-40B4-BE49-F238E27FC236}">
                <a16:creationId xmlns:a16="http://schemas.microsoft.com/office/drawing/2014/main" id="{2187BF48-D608-F5B0-762C-10E77D84ECA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reset password – using NodeJS, Express </a:t>
            </a:r>
          </a:p>
        </p:txBody>
      </p:sp>
      <p:sp>
        <p:nvSpPr>
          <p:cNvPr id="9" name="TextBox 8">
            <a:extLst>
              <a:ext uri="{FF2B5EF4-FFF2-40B4-BE49-F238E27FC236}">
                <a16:creationId xmlns:a16="http://schemas.microsoft.com/office/drawing/2014/main" id="{5A6A24ED-4B5B-BF87-AAD4-024197CEAB23}"/>
              </a:ext>
            </a:extLst>
          </p:cNvPr>
          <p:cNvSpPr txBox="1"/>
          <p:nvPr/>
        </p:nvSpPr>
        <p:spPr>
          <a:xfrm>
            <a:off x="292696" y="724634"/>
            <a:ext cx="5875312" cy="400110"/>
          </a:xfrm>
          <a:prstGeom prst="rect">
            <a:avLst/>
          </a:prstGeom>
          <a:solidFill>
            <a:schemeClr val="bg1">
              <a:lumMod val="95000"/>
            </a:schemeClr>
          </a:solidFill>
        </p:spPr>
        <p:txBody>
          <a:bodyPr wrap="square">
            <a:spAutoFit/>
          </a:bodyPr>
          <a:lstStyle/>
          <a:p>
            <a:pPr algn="ctr"/>
            <a:r>
              <a:rPr lang="en-US" sz="2000" dirty="0">
                <a:solidFill>
                  <a:srgbClr val="0070C0"/>
                </a:solidFill>
              </a:rPr>
              <a:t>User requests a password reset every after 10 minutes</a:t>
            </a:r>
            <a:endParaRPr lang="en-IN" sz="2000" dirty="0">
              <a:solidFill>
                <a:srgbClr val="0070C0"/>
              </a:solidFill>
            </a:endParaRPr>
          </a:p>
        </p:txBody>
      </p:sp>
      <p:sp>
        <p:nvSpPr>
          <p:cNvPr id="12" name="TextBox 11">
            <a:extLst>
              <a:ext uri="{FF2B5EF4-FFF2-40B4-BE49-F238E27FC236}">
                <a16:creationId xmlns:a16="http://schemas.microsoft.com/office/drawing/2014/main" id="{B8B7AC5B-C722-1BC1-8F02-D914F3C0E79C}"/>
              </a:ext>
            </a:extLst>
          </p:cNvPr>
          <p:cNvSpPr txBox="1"/>
          <p:nvPr/>
        </p:nvSpPr>
        <p:spPr>
          <a:xfrm>
            <a:off x="280692" y="3463171"/>
            <a:ext cx="11503940" cy="369332"/>
          </a:xfrm>
          <a:prstGeom prst="rect">
            <a:avLst/>
          </a:prstGeom>
          <a:noFill/>
        </p:spPr>
        <p:txBody>
          <a:bodyPr wrap="square">
            <a:spAutoFit/>
          </a:bodyPr>
          <a:lstStyle/>
          <a:p>
            <a:pPr marL="285750" indent="-285750">
              <a:buFont typeface="Arial" panose="020B0604020202020204" pitchFamily="34" charset="0"/>
              <a:buChar char="•"/>
            </a:pPr>
            <a:r>
              <a:rPr lang="en-US">
                <a:latin typeface="Arial" panose="020B0604020202020204" pitchFamily="34" charset="0"/>
                <a:cs typeface="Arial" panose="020B0604020202020204" pitchFamily="34" charset="0"/>
              </a:rPr>
              <a:t>Generate 10-character </a:t>
            </a:r>
            <a:r>
              <a:rPr lang="en-US" dirty="0">
                <a:latin typeface="Arial" panose="020B0604020202020204" pitchFamily="34" charset="0"/>
                <a:cs typeface="Arial" panose="020B0604020202020204" pitchFamily="34" charset="0"/>
              </a:rPr>
              <a:t>password and updating user record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23825444"/>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8D6EC-4E6F-01F3-8139-C6E6A2AAA1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219DD-7309-43B8-0EC4-AF0B7CC1E93C}"/>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JSON_OBJECT</a:t>
            </a:r>
          </a:p>
        </p:txBody>
      </p:sp>
      <p:sp>
        <p:nvSpPr>
          <p:cNvPr id="7" name="Rectangle 6">
            <a:extLst>
              <a:ext uri="{FF2B5EF4-FFF2-40B4-BE49-F238E27FC236}">
                <a16:creationId xmlns:a16="http://schemas.microsoft.com/office/drawing/2014/main" id="{24DC3AA6-100B-3245-5EB4-94B1D12933A6}"/>
              </a:ext>
            </a:extLst>
          </p:cNvPr>
          <p:cNvSpPr/>
          <p:nvPr/>
        </p:nvSpPr>
        <p:spPr>
          <a:xfrm>
            <a:off x="3244857" y="3212976"/>
            <a:ext cx="5544616" cy="369332"/>
          </a:xfrm>
          <a:prstGeom prst="rect">
            <a:avLst/>
          </a:prstGeom>
          <a:solidFill>
            <a:schemeClr val="bg1"/>
          </a:solidFill>
        </p:spPr>
        <p:txBody>
          <a:bodyPr wrap="square">
            <a:spAutoFit/>
          </a:bodyPr>
          <a:lstStyle/>
          <a:p>
            <a:r>
              <a:rPr lang="en-US" dirty="0">
                <a:latin typeface="Palatino Linotype" panose="02040502050505030304" pitchFamily="18" charset="0"/>
              </a:rPr>
              <a:t>It creates a JSON object from a list of key–value pairs</a:t>
            </a:r>
            <a:endParaRPr lang="en-IN" dirty="0">
              <a:latin typeface="Palatino Linotype" panose="02040502050505030304" pitchFamily="18" charset="0"/>
            </a:endParaRPr>
          </a:p>
        </p:txBody>
      </p:sp>
    </p:spTree>
    <p:extLst>
      <p:ext uri="{BB962C8B-B14F-4D97-AF65-F5344CB8AC3E}">
        <p14:creationId xmlns:p14="http://schemas.microsoft.com/office/powerpoint/2010/main" val="601007388"/>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116B1B8-9145-6ADB-7935-09C78A1223FB}"/>
              </a:ext>
            </a:extLst>
          </p:cNvPr>
          <p:cNvSpPr txBox="1"/>
          <p:nvPr/>
        </p:nvSpPr>
        <p:spPr>
          <a:xfrm>
            <a:off x="290449" y="980728"/>
            <a:ext cx="11566191" cy="400110"/>
          </a:xfrm>
          <a:prstGeom prst="rect">
            <a:avLst/>
          </a:prstGeom>
          <a:noFill/>
        </p:spPr>
        <p:txBody>
          <a:bodyPr wrap="square">
            <a:spAutoFit/>
          </a:bodyPr>
          <a:lstStyle/>
          <a:p>
            <a:r>
              <a:rPr lang="en-US" sz="2000" dirty="0">
                <a:solidFill>
                  <a:srgbClr val="DD4A68"/>
                </a:solidFill>
                <a:latin typeface="Liberation Mono"/>
              </a:rPr>
              <a:t>JSON_OBJECT</a:t>
            </a:r>
            <a:r>
              <a:rPr lang="en-IN" sz="2000" dirty="0">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r>
              <a:rPr lang="en-US" sz="2000" dirty="0">
                <a:solidFill>
                  <a:srgbClr val="DD4A68"/>
                </a:solidFill>
                <a:latin typeface="Liberation Mono"/>
              </a:rPr>
              <a:t>  </a:t>
            </a:r>
            <a:r>
              <a:rPr lang="en-US" sz="2000" b="1" dirty="0">
                <a:latin typeface="Liberation Mono"/>
              </a:rPr>
              <a:t>. . .</a:t>
            </a:r>
            <a:r>
              <a:rPr lang="en-US" sz="2000" dirty="0">
                <a:solidFill>
                  <a:srgbClr val="669900"/>
                </a:solidFill>
                <a:latin typeface="Liberation Mono"/>
              </a:rPr>
              <a:t> </a:t>
            </a:r>
            <a:r>
              <a:rPr lang="en-US" sz="2000" dirty="0">
                <a:latin typeface="Liberation Mono"/>
              </a:rPr>
              <a:t>)</a:t>
            </a:r>
            <a:endParaRPr lang="en-IN" sz="2000" dirty="0">
              <a:latin typeface="Liberation Mono"/>
            </a:endParaRPr>
          </a:p>
        </p:txBody>
      </p:sp>
      <p:sp>
        <p:nvSpPr>
          <p:cNvPr id="4" name="Rectangle 3">
            <a:extLst>
              <a:ext uri="{FF2B5EF4-FFF2-40B4-BE49-F238E27FC236}">
                <a16:creationId xmlns:a16="http://schemas.microsoft.com/office/drawing/2014/main" id="{15F887AA-4D64-B5DE-BA6D-5EAE4AAA518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select</a:t>
            </a:r>
          </a:p>
        </p:txBody>
      </p:sp>
      <p:sp>
        <p:nvSpPr>
          <p:cNvPr id="5" name="TextBox 4">
            <a:extLst>
              <a:ext uri="{FF2B5EF4-FFF2-40B4-BE49-F238E27FC236}">
                <a16:creationId xmlns:a16="http://schemas.microsoft.com/office/drawing/2014/main" id="{DBA9633C-0518-AC14-D034-B7F9A33C46B0}"/>
              </a:ext>
            </a:extLst>
          </p:cNvPr>
          <p:cNvSpPr txBox="1"/>
          <p:nvPr/>
        </p:nvSpPr>
        <p:spPr>
          <a:xfrm>
            <a:off x="290449" y="2020778"/>
            <a:ext cx="8397840" cy="400110"/>
          </a:xfrm>
          <a:prstGeom prst="rect">
            <a:avLst/>
          </a:prstGeom>
          <a:noFill/>
        </p:spPr>
        <p:txBody>
          <a:bodyPr wrap="square">
            <a:spAutoFit/>
          </a:bodyPr>
          <a:lstStyle/>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a:t>
            </a:r>
            <a:r>
              <a:rPr lang="en-IN" sz="2000" dirty="0">
                <a:latin typeface="Liberation Mono"/>
              </a:rPr>
              <a:t>value1</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latin typeface="Liberation Mono"/>
              </a:rPr>
              <a:t>value2</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8" name="TextBox 7">
            <a:extLst>
              <a:ext uri="{FF2B5EF4-FFF2-40B4-BE49-F238E27FC236}">
                <a16:creationId xmlns:a16="http://schemas.microsoft.com/office/drawing/2014/main" id="{848FE751-3A67-2333-C590-DF4883945DB6}"/>
              </a:ext>
            </a:extLst>
          </p:cNvPr>
          <p:cNvSpPr txBox="1"/>
          <p:nvPr/>
        </p:nvSpPr>
        <p:spPr>
          <a:xfrm>
            <a:off x="290448" y="1444714"/>
            <a:ext cx="528531" cy="400110"/>
          </a:xfrm>
          <a:prstGeom prst="rect">
            <a:avLst/>
          </a:prstGeom>
          <a:noFill/>
        </p:spPr>
        <p:txBody>
          <a:bodyPr wrap="square">
            <a:spAutoFit/>
          </a:bodyPr>
          <a:lstStyle/>
          <a:p>
            <a:r>
              <a:rPr lang="en-IN" sz="2000" dirty="0">
                <a:solidFill>
                  <a:srgbClr val="B212AA"/>
                </a:solidFill>
                <a:latin typeface="Liberation Mono"/>
              </a:rPr>
              <a:t>OR</a:t>
            </a:r>
            <a:endParaRPr lang="en-IN" sz="2000" dirty="0">
              <a:solidFill>
                <a:srgbClr val="B212AA"/>
              </a:solidFill>
            </a:endParaRPr>
          </a:p>
        </p:txBody>
      </p:sp>
      <p:sp>
        <p:nvSpPr>
          <p:cNvPr id="9" name="TextBox 8">
            <a:extLst>
              <a:ext uri="{FF2B5EF4-FFF2-40B4-BE49-F238E27FC236}">
                <a16:creationId xmlns:a16="http://schemas.microsoft.com/office/drawing/2014/main" id="{EAC14698-B146-AC5B-47DD-8B13B8536404}"/>
              </a:ext>
            </a:extLst>
          </p:cNvPr>
          <p:cNvSpPr txBox="1"/>
          <p:nvPr/>
        </p:nvSpPr>
        <p:spPr>
          <a:xfrm>
            <a:off x="191344" y="2789925"/>
            <a:ext cx="1180931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US"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a:t>
            </a:r>
            <a:r>
              <a:rPr lang="en-IN" dirty="0">
                <a:solidFill>
                  <a:srgbClr val="669900"/>
                </a:solidFill>
                <a:latin typeface="Liberation Mono"/>
              </a:rPr>
              <a:t> </a:t>
            </a:r>
            <a:r>
              <a:rPr lang="en-IN" dirty="0">
                <a:latin typeface="Liberation Mono"/>
              </a:rPr>
              <a:t>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JSON_ARRAY</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940673800"/>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FF129-DB65-6CF7-AC8A-9B6E3B6B99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9D41C1D-607E-F5D3-DD34-6E348E71C0B8}"/>
              </a:ext>
            </a:extLst>
          </p:cNvPr>
          <p:cNvSpPr txBox="1"/>
          <p:nvPr/>
        </p:nvSpPr>
        <p:spPr>
          <a:xfrm>
            <a:off x="290449" y="1444714"/>
            <a:ext cx="11566191" cy="707886"/>
          </a:xfrm>
          <a:prstGeom prst="rect">
            <a:avLst/>
          </a:prstGeom>
          <a:noFill/>
        </p:spPr>
        <p:txBody>
          <a:bodyPr wrap="square">
            <a:spAutoFit/>
          </a:bodyPr>
          <a:lstStyle/>
          <a:p>
            <a:r>
              <a:rPr lang="en-US" sz="2000" dirty="0">
                <a:solidFill>
                  <a:srgbClr val="0077AA"/>
                </a:solidFill>
                <a:latin typeface="Liberation Mono"/>
              </a:rPr>
              <a:t>INSERT</a:t>
            </a:r>
            <a:r>
              <a:rPr lang="en-US" sz="2000" dirty="0">
                <a:solidFill>
                  <a:schemeClr val="tx2"/>
                </a:solidFill>
                <a:latin typeface="Liberation Mono"/>
              </a:rPr>
              <a:t> [</a:t>
            </a:r>
            <a:r>
              <a:rPr lang="en-US" sz="2000" dirty="0">
                <a:solidFill>
                  <a:srgbClr val="0077AA"/>
                </a:solidFill>
                <a:latin typeface="Liberation Mono"/>
              </a:rPr>
              <a:t>INTO</a:t>
            </a:r>
            <a:r>
              <a:rPr lang="en-US" sz="2000" dirty="0">
                <a:solidFill>
                  <a:schemeClr val="tx2"/>
                </a:solidFill>
                <a:latin typeface="Liberation Mono"/>
              </a:rPr>
              <a:t>] </a:t>
            </a:r>
            <a:r>
              <a:rPr lang="en-IN" sz="2000" dirty="0">
                <a:latin typeface="Liberation Mono"/>
              </a:rPr>
              <a:t>tbl_name</a:t>
            </a:r>
            <a:r>
              <a:rPr lang="en-US" sz="2000" dirty="0">
                <a:solidFill>
                  <a:schemeClr val="tx2"/>
                </a:solidFill>
                <a:latin typeface="Liberation Mono"/>
              </a:rPr>
              <a:t> (</a:t>
            </a:r>
            <a:r>
              <a:rPr lang="en-US" sz="2000" i="1" dirty="0">
                <a:solidFill>
                  <a:schemeClr val="tx2"/>
                </a:solidFill>
                <a:latin typeface="Liberation Mono"/>
              </a:rPr>
              <a:t>json_column</a:t>
            </a:r>
            <a:r>
              <a:rPr lang="en-US" sz="2000" dirty="0">
                <a:solidFill>
                  <a:schemeClr val="tx2"/>
                </a:solidFill>
                <a:latin typeface="Liberation Mono"/>
              </a:rPr>
              <a:t>) </a:t>
            </a:r>
            <a:r>
              <a:rPr lang="en-US" sz="2000" dirty="0">
                <a:solidFill>
                  <a:srgbClr val="0077AA"/>
                </a:solidFill>
                <a:latin typeface="Liberation Mono"/>
              </a:rPr>
              <a:t>VALUES</a:t>
            </a:r>
            <a:r>
              <a:rPr lang="en-US" sz="2000" dirty="0">
                <a:solidFill>
                  <a:schemeClr val="tx2"/>
                </a:solidFill>
                <a:latin typeface="Liberation Mono"/>
              </a:rPr>
              <a:t> (</a:t>
            </a:r>
            <a:r>
              <a:rPr lang="en-US" sz="2000" dirty="0">
                <a:solidFill>
                  <a:srgbClr val="DD4A68"/>
                </a:solidFill>
                <a:latin typeface="Liberation Mono"/>
              </a:rPr>
              <a:t>JSON_OBJECT</a:t>
            </a:r>
            <a:r>
              <a:rPr lang="sv-SE" sz="2000" dirty="0">
                <a:solidFill>
                  <a:schemeClr val="tx2"/>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endParaRPr lang="en-IN" sz="2000" dirty="0">
              <a:latin typeface="Liberation Mono"/>
            </a:endParaRPr>
          </a:p>
        </p:txBody>
      </p:sp>
      <p:sp>
        <p:nvSpPr>
          <p:cNvPr id="4" name="Rectangle 3">
            <a:extLst>
              <a:ext uri="{FF2B5EF4-FFF2-40B4-BE49-F238E27FC236}">
                <a16:creationId xmlns:a16="http://schemas.microsoft.com/office/drawing/2014/main" id="{F158E595-167F-2EB3-9778-A1E0A08D58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insert</a:t>
            </a:r>
          </a:p>
        </p:txBody>
      </p:sp>
      <p:sp>
        <p:nvSpPr>
          <p:cNvPr id="11" name="Rectangle 10">
            <a:extLst>
              <a:ext uri="{FF2B5EF4-FFF2-40B4-BE49-F238E27FC236}">
                <a16:creationId xmlns:a16="http://schemas.microsoft.com/office/drawing/2014/main" id="{6BA28449-5D2F-C5C8-1243-9799BE1707AB}"/>
              </a:ext>
            </a:extLst>
          </p:cNvPr>
          <p:cNvSpPr/>
          <p:nvPr/>
        </p:nvSpPr>
        <p:spPr>
          <a:xfrm>
            <a:off x="263352" y="838201"/>
            <a:ext cx="1166529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p>
        </p:txBody>
      </p:sp>
      <p:sp>
        <p:nvSpPr>
          <p:cNvPr id="13" name="TextBox 12">
            <a:extLst>
              <a:ext uri="{FF2B5EF4-FFF2-40B4-BE49-F238E27FC236}">
                <a16:creationId xmlns:a16="http://schemas.microsoft.com/office/drawing/2014/main" id="{33A48B18-3337-B5C2-2D35-DC805F596D18}"/>
              </a:ext>
            </a:extLst>
          </p:cNvPr>
          <p:cNvSpPr txBox="1"/>
          <p:nvPr/>
        </p:nvSpPr>
        <p:spPr>
          <a:xfrm>
            <a:off x="305832" y="2967335"/>
            <a:ext cx="11406791"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669900"/>
                </a:solidFill>
                <a:latin typeface="Liberation Mono"/>
              </a:rPr>
              <a:t>"productName"</a:t>
            </a:r>
            <a:r>
              <a:rPr lang="en-IN" dirty="0">
                <a:latin typeface="Liberation Mono"/>
              </a:rPr>
              <a:t>, "Jam", </a:t>
            </a:r>
            <a:r>
              <a:rPr lang="en-IN" dirty="0">
                <a:solidFill>
                  <a:srgbClr val="669900"/>
                </a:solidFill>
                <a:latin typeface="Liberation Mono"/>
              </a:rPr>
              <a:t>"stock"</a:t>
            </a:r>
            <a:r>
              <a:rPr lang="en-IN" dirty="0">
                <a:latin typeface="Liberation Mono"/>
              </a:rPr>
              <a:t>, </a:t>
            </a:r>
            <a:r>
              <a:rPr lang="en-IN" dirty="0">
                <a:solidFill>
                  <a:srgbClr val="990055"/>
                </a:solidFill>
                <a:latin typeface="Liberation Mono"/>
              </a:rPr>
              <a:t>120</a:t>
            </a:r>
            <a:r>
              <a:rPr lang="en-IN" dirty="0">
                <a:latin typeface="Liberation Mono"/>
              </a:rPr>
              <a:t>, </a:t>
            </a:r>
            <a:r>
              <a:rPr lang="en-IN" dirty="0">
                <a:solidFill>
                  <a:srgbClr val="669900"/>
                </a:solidFill>
                <a:latin typeface="Liberation Mono"/>
              </a:rPr>
              <a:t>"rol"</a:t>
            </a:r>
            <a:r>
              <a:rPr lang="en-IN" dirty="0">
                <a:latin typeface="Liberation Mono"/>
              </a:rPr>
              <a:t>, </a:t>
            </a:r>
            <a:r>
              <a:rPr lang="en-IN" dirty="0">
                <a:solidFill>
                  <a:srgbClr val="990055"/>
                </a:solidFill>
                <a:latin typeface="Liberation Mono"/>
              </a:rPr>
              <a:t>24</a:t>
            </a:r>
            <a:r>
              <a:rPr lang="en-IN" dirty="0">
                <a:latin typeface="Liberation Mono"/>
              </a:rPr>
              <a:t>, </a:t>
            </a:r>
            <a:r>
              <a:rPr lang="en-IN" dirty="0">
                <a:solidFill>
                  <a:srgbClr val="669900"/>
                </a:solidFill>
                <a:latin typeface="Liberation Mono"/>
              </a:rPr>
              <a:t>"rate"</a:t>
            </a:r>
            <a:r>
              <a:rPr lang="en-IN" dirty="0">
                <a:latin typeface="Liberation Mono"/>
              </a:rPr>
              <a:t>, </a:t>
            </a:r>
            <a:r>
              <a:rPr lang="en-IN" dirty="0">
                <a:solidFill>
                  <a:srgbClr val="990055"/>
                </a:solidFill>
                <a:latin typeface="Liberation Mono"/>
              </a:rPr>
              <a:t>73</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 </a:t>
            </a:r>
            <a:r>
              <a:rPr lang="en-US" dirty="0">
                <a:solidFill>
                  <a:srgbClr val="0077AA"/>
                </a:solidFill>
                <a:latin typeface="Liberation Mono"/>
              </a:rPr>
              <a:t>VALUES</a:t>
            </a:r>
            <a:r>
              <a:rPr lang="en-US" dirty="0">
                <a:latin typeface="Liberation Mono"/>
              </a:rPr>
              <a:t>(default, </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"product_id"</a:t>
            </a:r>
            <a:r>
              <a:rPr lang="en-US" dirty="0">
                <a:latin typeface="Liberation Mono"/>
              </a:rPr>
              <a:t>, </a:t>
            </a:r>
            <a:r>
              <a:rPr lang="en-US" dirty="0">
                <a:solidFill>
                  <a:srgbClr val="990055"/>
                </a:solidFill>
                <a:latin typeface="Liberation Mono"/>
              </a:rPr>
              <a:t>1001</a:t>
            </a:r>
            <a:r>
              <a:rPr lang="en-US" dirty="0">
                <a:latin typeface="Liberation Mono"/>
              </a:rPr>
              <a:t>, </a:t>
            </a:r>
            <a:r>
              <a:rPr lang="en-US" dirty="0">
                <a:solidFill>
                  <a:srgbClr val="669900"/>
                </a:solidFill>
                <a:latin typeface="Liberation Mono"/>
              </a:rPr>
              <a:t>"productName"</a:t>
            </a:r>
            <a:r>
              <a:rPr lang="en-US" dirty="0">
                <a:latin typeface="Liberation Mono"/>
              </a:rPr>
              <a:t>, "shirt", </a:t>
            </a:r>
            <a:r>
              <a:rPr lang="en-US" dirty="0">
                <a:solidFill>
                  <a:srgbClr val="669900"/>
                </a:solidFill>
                <a:latin typeface="Liberation Mono"/>
              </a:rPr>
              <a:t>"stock", </a:t>
            </a:r>
            <a:r>
              <a:rPr lang="en-US" dirty="0">
                <a:solidFill>
                  <a:srgbClr val="990055"/>
                </a:solidFill>
                <a:latin typeface="Liberation Mono"/>
              </a:rPr>
              <a:t>120</a:t>
            </a:r>
            <a:r>
              <a:rPr lang="en-US" dirty="0">
                <a:latin typeface="Liberation Mono"/>
              </a:rPr>
              <a:t>, </a:t>
            </a:r>
            <a:r>
              <a:rPr lang="en-US" dirty="0">
                <a:solidFill>
                  <a:srgbClr val="669900"/>
                </a:solidFill>
                <a:latin typeface="Liberation Mono"/>
              </a:rPr>
              <a:t>"rol"</a:t>
            </a:r>
            <a:r>
              <a:rPr lang="en-US" dirty="0">
                <a:latin typeface="Liberation Mono"/>
              </a:rPr>
              <a:t>, </a:t>
            </a:r>
            <a:r>
              <a:rPr lang="en-US" dirty="0">
                <a:solidFill>
                  <a:srgbClr val="990055"/>
                </a:solidFill>
                <a:latin typeface="Liberation Mono"/>
              </a:rPr>
              <a:t>24</a:t>
            </a:r>
            <a:r>
              <a:rPr lang="en-US" dirty="0">
                <a:latin typeface="Liberation Mono"/>
              </a:rPr>
              <a:t>, </a:t>
            </a:r>
            <a:r>
              <a:rPr lang="en-US" dirty="0">
                <a:solidFill>
                  <a:srgbClr val="669900"/>
                </a:solidFill>
                <a:latin typeface="Liberation Mono"/>
              </a:rPr>
              <a:t>"rate"</a:t>
            </a:r>
            <a:r>
              <a:rPr lang="en-US" dirty="0">
                <a:latin typeface="Liberation Mono"/>
              </a:rPr>
              <a:t>, </a:t>
            </a:r>
            <a:r>
              <a:rPr lang="en-US" dirty="0">
                <a:solidFill>
                  <a:srgbClr val="990055"/>
                </a:solidFill>
                <a:latin typeface="Liberation Mono"/>
              </a:rPr>
              <a:t>73</a:t>
            </a:r>
            <a:r>
              <a:rPr lang="en-US" dirty="0">
                <a:latin typeface="Liberation Mono"/>
              </a:rPr>
              <a:t>, </a:t>
            </a:r>
            <a:r>
              <a:rPr lang="en-US" dirty="0">
                <a:solidFill>
                  <a:srgbClr val="669900"/>
                </a:solidFill>
                <a:latin typeface="Liberation Mono"/>
              </a:rPr>
              <a:t>"size"</a:t>
            </a:r>
            <a:r>
              <a:rPr lang="en-US" dirty="0">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669900"/>
                </a:solidFill>
                <a:latin typeface="Liberation Mono"/>
              </a:rPr>
              <a:t>'s'</a:t>
            </a:r>
            <a:r>
              <a:rPr lang="en-US" dirty="0">
                <a:latin typeface="Liberation Mono"/>
              </a:rPr>
              <a:t>, </a:t>
            </a:r>
            <a:r>
              <a:rPr lang="en-US" dirty="0">
                <a:solidFill>
                  <a:srgbClr val="669900"/>
                </a:solidFill>
                <a:latin typeface="Liberation Mono"/>
              </a:rPr>
              <a:t>'m'</a:t>
            </a:r>
            <a:r>
              <a:rPr lang="en-US" dirty="0">
                <a:latin typeface="Liberation Mono"/>
              </a:rPr>
              <a:t>, </a:t>
            </a:r>
            <a:r>
              <a:rPr lang="en-US" dirty="0">
                <a:solidFill>
                  <a:srgbClr val="669900"/>
                </a:solidFill>
                <a:latin typeface="Liberation Mono"/>
              </a:rPr>
              <a:t>'l'</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1002</a:t>
            </a:r>
            <a:r>
              <a:rPr lang="en-IN" dirty="0">
                <a:latin typeface="Liberation Mono"/>
              </a:rPr>
              <a:t>, </a:t>
            </a:r>
            <a:r>
              <a:rPr lang="en-US" dirty="0">
                <a:solidFill>
                  <a:srgbClr val="669900"/>
                </a:solidFill>
                <a:latin typeface="Liberation Mono"/>
              </a:rPr>
              <a:t>"productName"</a:t>
            </a:r>
            <a:r>
              <a:rPr lang="en-IN" dirty="0">
                <a:latin typeface="Liberation Mono"/>
              </a:rPr>
              <a:t>, "Bread", </a:t>
            </a:r>
            <a:r>
              <a:rPr lang="en-US" dirty="0">
                <a:solidFill>
                  <a:srgbClr val="669900"/>
                </a:solidFill>
                <a:latin typeface="Liberation Mono"/>
              </a:rPr>
              <a:t>"stock"</a:t>
            </a:r>
            <a:r>
              <a:rPr lang="en-IN" dirty="0">
                <a:latin typeface="Liberation Mono"/>
              </a:rPr>
              <a:t>, </a:t>
            </a:r>
            <a:r>
              <a:rPr lang="en-IN" dirty="0">
                <a:solidFill>
                  <a:srgbClr val="990055"/>
                </a:solidFill>
                <a:latin typeface="Liberation Mono"/>
              </a:rPr>
              <a:t>25</a:t>
            </a:r>
            <a:r>
              <a:rPr lang="en-IN" dirty="0">
                <a:latin typeface="Liberation Mono"/>
              </a:rPr>
              <a:t>, </a:t>
            </a:r>
            <a:r>
              <a:rPr lang="en-US" dirty="0">
                <a:solidFill>
                  <a:srgbClr val="669900"/>
                </a:solidFill>
                <a:latin typeface="Liberation Mono"/>
              </a:rPr>
              <a:t>"rol"</a:t>
            </a:r>
            <a:r>
              <a:rPr lang="en-IN" dirty="0">
                <a:latin typeface="Liberation Mono"/>
              </a:rPr>
              <a:t>, </a:t>
            </a:r>
            <a:r>
              <a:rPr lang="en-IN" dirty="0">
                <a:solidFill>
                  <a:srgbClr val="990055"/>
                </a:solidFill>
                <a:latin typeface="Liberation Mono"/>
              </a:rPr>
              <a:t>7</a:t>
            </a:r>
            <a:r>
              <a:rPr lang="en-IN" dirty="0">
                <a:latin typeface="Liberation Mono"/>
              </a:rPr>
              <a:t>, </a:t>
            </a:r>
            <a:r>
              <a:rPr lang="en-US" dirty="0">
                <a:solidFill>
                  <a:srgbClr val="669900"/>
                </a:solidFill>
                <a:latin typeface="Liberation Mono"/>
              </a:rPr>
              <a:t>"rate"</a:t>
            </a:r>
            <a:r>
              <a:rPr lang="en-IN" dirty="0">
                <a:latin typeface="Liberation Mono"/>
              </a:rPr>
              <a:t>, </a:t>
            </a:r>
            <a:r>
              <a:rPr lang="en-IN" dirty="0">
                <a:solidFill>
                  <a:srgbClr val="990055"/>
                </a:solidFill>
                <a:latin typeface="Liberation Mono"/>
              </a:rPr>
              <a:t>34</a:t>
            </a:r>
            <a:r>
              <a:rPr lang="en-IN" dirty="0">
                <a:latin typeface="Liberation Mono"/>
              </a:rPr>
              <a:t>, </a:t>
            </a:r>
            <a:r>
              <a:rPr lang="en-US" dirty="0">
                <a:solidFill>
                  <a:srgbClr val="669900"/>
                </a:solidFill>
                <a:latin typeface="Liberation Mono"/>
              </a:rPr>
              <a:t>"size"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'small'</a:t>
            </a:r>
            <a:r>
              <a:rPr lang="en-IN" dirty="0">
                <a:latin typeface="Liberation Mono"/>
              </a:rPr>
              <a:t>, </a:t>
            </a:r>
            <a:r>
              <a:rPr lang="en-IN" dirty="0">
                <a:solidFill>
                  <a:srgbClr val="669900"/>
                </a:solidFill>
                <a:latin typeface="Liberation Mono"/>
              </a:rPr>
              <a:t>'medium'</a:t>
            </a:r>
            <a:r>
              <a:rPr lang="en-IN" dirty="0">
                <a:latin typeface="Liberation Mono"/>
              </a:rPr>
              <a:t>, </a:t>
            </a:r>
            <a:r>
              <a:rPr lang="en-IN" dirty="0">
                <a:solidFill>
                  <a:srgbClr val="669900"/>
                </a:solidFill>
                <a:latin typeface="Liberation Mono"/>
              </a:rPr>
              <a:t>'large'</a:t>
            </a:r>
            <a:r>
              <a:rPr lang="en-IN" dirty="0">
                <a:latin typeface="Liberation Mono"/>
              </a:rPr>
              <a:t>), </a:t>
            </a:r>
            <a:r>
              <a:rPr lang="en-IN" dirty="0">
                <a:solidFill>
                  <a:srgbClr val="669900"/>
                </a:solidFill>
                <a:latin typeface="Liberation Mono"/>
              </a:rPr>
              <a:t>"type"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'white'</a:t>
            </a:r>
            <a:r>
              <a:rPr lang="en-IN" dirty="0">
                <a:latin typeface="Liberation Mono"/>
              </a:rPr>
              <a:t>, </a:t>
            </a:r>
            <a:r>
              <a:rPr lang="en-IN" dirty="0">
                <a:solidFill>
                  <a:srgbClr val="669900"/>
                </a:solidFill>
                <a:latin typeface="Liberation Mono"/>
              </a:rPr>
              <a:t>'brown'</a:t>
            </a:r>
            <a:r>
              <a:rPr lang="en-IN" dirty="0">
                <a:latin typeface="Liberation Mono"/>
              </a:rPr>
              <a:t>)));</a:t>
            </a:r>
          </a:p>
        </p:txBody>
      </p:sp>
    </p:spTree>
    <p:extLst>
      <p:ext uri="{BB962C8B-B14F-4D97-AF65-F5344CB8AC3E}">
        <p14:creationId xmlns:p14="http://schemas.microsoft.com/office/powerpoint/2010/main" val="1340986265"/>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68304-F6C1-8460-4D8D-4C8C632A7CB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4C13BED-CFAB-0FF5-9DB5-37197D1E9ACF}"/>
              </a:ext>
            </a:extLst>
          </p:cNvPr>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82975DCC-6BF8-637B-51EB-9074EDEC9ADB}"/>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3756DA10-660C-2446-EB36-76D7B99476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277246696"/>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table statement…</a:t>
            </a:r>
          </a:p>
        </p:txBody>
      </p:sp>
      <p:sp>
        <p:nvSpPr>
          <p:cNvPr id="7" name="Rectangle 6">
            <a:extLst>
              <a:ext uri="{FF2B5EF4-FFF2-40B4-BE49-F238E27FC236}">
                <a16:creationId xmlns:a16="http://schemas.microsoft.com/office/drawing/2014/main" id="{52CBB722-0E9D-4DA7-BBF2-5EF0553DF84B}"/>
              </a:ext>
            </a:extLst>
          </p:cNvPr>
          <p:cNvSpPr/>
          <p:nvPr/>
        </p:nvSpPr>
        <p:spPr>
          <a:xfrm>
            <a:off x="407368" y="3212976"/>
            <a:ext cx="11377264" cy="369332"/>
          </a:xfrm>
          <a:prstGeom prst="rect">
            <a:avLst/>
          </a:prstGeom>
          <a:solidFill>
            <a:schemeClr val="bg1"/>
          </a:solidFill>
        </p:spPr>
        <p:txBody>
          <a:bodyPr wrap="square">
            <a:spAutoFit/>
          </a:bodyPr>
          <a:lstStyle/>
          <a:p>
            <a:r>
              <a:rPr lang="en-US" dirty="0">
                <a:latin typeface="Palatino Linotype" panose="02040502050505030304" pitchFamily="18" charset="0"/>
              </a:rPr>
              <a:t>TABLE is a DML statement introduced in MySQL 8.0.19 which returns rows and columns of the named table.</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3F698407-852F-4997-B9F6-90C0FA990A15}"/>
              </a:ext>
            </a:extLst>
          </p:cNvPr>
          <p:cNvSpPr txBox="1"/>
          <p:nvPr/>
        </p:nvSpPr>
        <p:spPr>
          <a:xfrm>
            <a:off x="407368" y="260648"/>
            <a:ext cx="11219594" cy="138499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18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always displays all columns of the table.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does not support any WHERE clause.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TABLE </a:t>
            </a:r>
            <a:r>
              <a:rPr lang="en-IN">
                <a:latin typeface="Arial" panose="020B0604020202020204" pitchFamily="34" charset="0"/>
                <a:cs typeface="Arial" panose="020B0604020202020204" pitchFamily="34" charset="0"/>
              </a:rPr>
              <a:t>statement </a:t>
            </a:r>
            <a:r>
              <a:rPr lang="en-US">
                <a:latin typeface="Arial" panose="020B0604020202020204" pitchFamily="34" charset="0"/>
                <a:cs typeface="Arial" panose="020B0604020202020204" pitchFamily="34" charset="0"/>
              </a:rPr>
              <a:t>can </a:t>
            </a:r>
            <a:r>
              <a:rPr lang="en-US" dirty="0">
                <a:latin typeface="Arial" panose="020B0604020202020204" pitchFamily="34" charset="0"/>
                <a:cs typeface="Arial" panose="020B0604020202020204" pitchFamily="34" charset="0"/>
              </a:rPr>
              <a:t>be used with temporary tables.</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2424BF66-D31A-2D2A-EF6E-18349E8B33DE}"/>
              </a:ext>
            </a:extLst>
          </p:cNvPr>
          <p:cNvSpPr txBox="1"/>
          <p:nvPr/>
        </p:nvSpPr>
        <p:spPr>
          <a:xfrm>
            <a:off x="1055440" y="4843933"/>
            <a:ext cx="92170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p:txBody>
      </p:sp>
    </p:spTree>
    <p:extLst>
      <p:ext uri="{BB962C8B-B14F-4D97-AF65-F5344CB8AC3E}">
        <p14:creationId xmlns:p14="http://schemas.microsoft.com/office/powerpoint/2010/main" val="337628485"/>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D907C83-9545-4A1D-8508-2493CF6AA8A2}"/>
              </a:ext>
            </a:extLst>
          </p:cNvPr>
          <p:cNvSpPr/>
          <p:nvPr/>
        </p:nvSpPr>
        <p:spPr>
          <a:xfrm>
            <a:off x="263352" y="838203"/>
            <a:ext cx="11593288" cy="646331"/>
          </a:xfrm>
          <a:prstGeom prst="rect">
            <a:avLst/>
          </a:prstGeom>
        </p:spPr>
        <p:txBody>
          <a:bodyPr wrap="square">
            <a:spAutoFit/>
          </a:bodyPr>
          <a:lstStyle/>
          <a:p>
            <a:r>
              <a:rPr lang="en-IN" dirty="0"/>
              <a:t>The TABLE statement in some ways acts like SELECT.  </a:t>
            </a:r>
            <a:r>
              <a:rPr lang="en-US" dirty="0"/>
              <a:t>You can order and limit the number of rows produced by TABLE using ORDER BY and LIMIT clauses, respectively.</a:t>
            </a:r>
            <a:r>
              <a:rPr lang="en-IN" dirty="0">
                <a:latin typeface="Palatino Linotype" panose="02040502050505030304" pitchFamily="18" charset="0"/>
                <a:cs typeface="Arial" panose="020B0604020202020204" pitchFamily="34" charset="0"/>
              </a:rPr>
              <a:t> </a:t>
            </a:r>
          </a:p>
        </p:txBody>
      </p:sp>
      <p:sp>
        <p:nvSpPr>
          <p:cNvPr id="15" name="TextBox 14">
            <a:extLst>
              <a:ext uri="{FF2B5EF4-FFF2-40B4-BE49-F238E27FC236}">
                <a16:creationId xmlns:a16="http://schemas.microsoft.com/office/drawing/2014/main" id="{6F4447FB-410F-4B59-AAEB-FA3400C99B6A}"/>
              </a:ext>
            </a:extLst>
          </p:cNvPr>
          <p:cNvSpPr txBox="1"/>
          <p:nvPr/>
        </p:nvSpPr>
        <p:spPr>
          <a:xfrm>
            <a:off x="262234" y="1619508"/>
            <a:ext cx="8570071" cy="400110"/>
          </a:xfrm>
          <a:prstGeom prst="rect">
            <a:avLst/>
          </a:prstGeom>
          <a:noFill/>
        </p:spPr>
        <p:txBody>
          <a:bodyPr wrap="square">
            <a:spAutoFit/>
          </a:bodyPr>
          <a:lstStyle/>
          <a:p>
            <a:r>
              <a:rPr lang="en-US" sz="2000" dirty="0">
                <a:solidFill>
                  <a:srgbClr val="0077AA"/>
                </a:solidFill>
                <a:latin typeface="Liberation Mono"/>
              </a:rPr>
              <a:t>TABLE</a:t>
            </a:r>
            <a:r>
              <a:rPr lang="en-US" sz="2000" dirty="0">
                <a:solidFill>
                  <a:srgbClr val="000000"/>
                </a:solidFill>
                <a:latin typeface="Liberation Mono"/>
              </a:rPr>
              <a:t> </a:t>
            </a:r>
            <a:r>
              <a:rPr lang="en-IN" sz="2000" dirty="0">
                <a:solidFill>
                  <a:srgbClr val="000000"/>
                </a:solidFill>
                <a:latin typeface="Liberation Mono"/>
              </a:rPr>
              <a:t>tbl_name</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ORDER</a:t>
            </a:r>
            <a:r>
              <a:rPr lang="en-US" sz="2000" dirty="0">
                <a:solidFill>
                  <a:srgbClr val="000000"/>
                </a:solidFill>
                <a:latin typeface="Liberation Mono"/>
              </a:rPr>
              <a:t> </a:t>
            </a:r>
            <a:r>
              <a:rPr lang="en-US" sz="2000" dirty="0">
                <a:solidFill>
                  <a:srgbClr val="0077AA"/>
                </a:solidFill>
                <a:latin typeface="Liberation Mono"/>
              </a:rPr>
              <a:t>BY</a:t>
            </a:r>
            <a:r>
              <a:rPr lang="en-US" sz="2000" dirty="0">
                <a:solidFill>
                  <a:srgbClr val="000000"/>
                </a:solidFill>
                <a:latin typeface="Liberation Mono"/>
              </a:rPr>
              <a:t> </a:t>
            </a:r>
            <a:r>
              <a:rPr lang="en-IN" sz="2000" i="1" dirty="0">
                <a:solidFill>
                  <a:srgbClr val="000000"/>
                </a:solidFill>
                <a:latin typeface="Liberation Mono"/>
              </a:rPr>
              <a:t>col_name</a:t>
            </a:r>
            <a:r>
              <a:rPr lang="en-US" sz="2000" dirty="0">
                <a:latin typeface="Liberation Mono"/>
              </a:rPr>
              <a:t>] [</a:t>
            </a:r>
            <a:r>
              <a:rPr lang="en-US" sz="2000" dirty="0">
                <a:solidFill>
                  <a:srgbClr val="0077AA"/>
                </a:solidFill>
                <a:latin typeface="Liberation Mono"/>
              </a:rPr>
              <a:t>LIMIT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OFFSET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latin typeface="Liberation Mono"/>
              </a:rPr>
              <a:t>]]</a:t>
            </a:r>
            <a:endParaRPr lang="en-IN" sz="2000" dirty="0"/>
          </a:p>
        </p:txBody>
      </p:sp>
      <p:sp>
        <p:nvSpPr>
          <p:cNvPr id="17" name="Rectangle 16">
            <a:extLst>
              <a:ext uri="{FF2B5EF4-FFF2-40B4-BE49-F238E27FC236}">
                <a16:creationId xmlns:a16="http://schemas.microsoft.com/office/drawing/2014/main" id="{66B5B61F-E1E9-4705-9BE6-C35128CA7ADF}"/>
              </a:ext>
            </a:extLst>
          </p:cNvPr>
          <p:cNvSpPr/>
          <p:nvPr/>
        </p:nvSpPr>
        <p:spPr>
          <a:xfrm>
            <a:off x="262234" y="2564904"/>
            <a:ext cx="10031467" cy="1569660"/>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fr-FR" b="0" i="0" dirty="0">
                <a:solidFill>
                  <a:srgbClr val="0077AA"/>
                </a:solidFill>
                <a:effectLst/>
                <a:latin typeface="Liberation Mono"/>
              </a:rPr>
              <a:t>TABLE</a:t>
            </a:r>
            <a:r>
              <a:rPr lang="fr-FR" b="0" i="0" dirty="0">
                <a:solidFill>
                  <a:srgbClr val="000000"/>
                </a:solidFill>
                <a:effectLst/>
                <a:latin typeface="Liberation Mono"/>
              </a:rPr>
              <a:t> t1 </a:t>
            </a:r>
            <a:r>
              <a:rPr lang="fr-FR" dirty="0">
                <a:solidFill>
                  <a:schemeClr val="accent4">
                    <a:lumMod val="50000"/>
                  </a:schemeClr>
                </a:solidFill>
                <a:latin typeface="Liberation Mono"/>
              </a:rPr>
              <a:t>UNION</a:t>
            </a:r>
            <a:r>
              <a:rPr lang="fr-FR" b="0" i="0" dirty="0">
                <a:solidFill>
                  <a:srgbClr val="000000"/>
                </a:solidFill>
                <a:effectLst/>
                <a:latin typeface="Liberation Mono"/>
              </a:rPr>
              <a:t> </a:t>
            </a:r>
            <a:r>
              <a:rPr lang="fr-FR" b="0" i="0" dirty="0">
                <a:solidFill>
                  <a:srgbClr val="0077AA"/>
                </a:solidFill>
                <a:effectLst/>
                <a:latin typeface="Liberation Mono"/>
              </a:rPr>
              <a:t>TABLE</a:t>
            </a:r>
            <a:r>
              <a:rPr lang="fr-FR" b="0" i="0" dirty="0">
                <a:solidFill>
                  <a:srgbClr val="000000"/>
                </a:solidFill>
                <a:effectLst/>
                <a:latin typeface="Liberation Mono"/>
              </a:rPr>
              <a:t> t2</a:t>
            </a:r>
            <a:r>
              <a:rPr lang="fr-FR" b="0" i="0" dirty="0">
                <a:solidFill>
                  <a:srgbClr val="999999"/>
                </a:solidFill>
                <a:effectLst/>
                <a:latin typeface="Liberation Mono"/>
              </a:rPr>
              <a: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9E0D63F1-1483-4649-B471-675D9C02639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table statement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103517890"/>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57664" y="3950177"/>
            <a:ext cx="5715000" cy="2667019"/>
          </a:xfrm>
          <a:prstGeom prst="rect">
            <a:avLst/>
          </a:prstGeom>
        </p:spPr>
      </p:pic>
      <p:sp>
        <p:nvSpPr>
          <p:cNvPr id="2" name="Title 1"/>
          <p:cNvSpPr txBox="1">
            <a:spLocks/>
          </p:cNvSpPr>
          <p:nvPr/>
        </p:nvSpPr>
        <p:spPr>
          <a:xfrm>
            <a:off x="1676400" y="2775315"/>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syntax</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BC9A57F6-0585-44DD-9553-7045F037800F}"/>
              </a:ext>
            </a:extLst>
          </p:cNvPr>
          <p:cNvSpPr/>
          <p:nvPr/>
        </p:nvSpPr>
        <p:spPr>
          <a:xfrm>
            <a:off x="335360" y="3556163"/>
            <a:ext cx="11449271"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Calibri" panose="020F0502020204030204" pitchFamily="34" charset="0"/>
                <a:cs typeface="Segoe UI Light" panose="020B0502040204020203" pitchFamily="34" charset="0"/>
              </a:rPr>
              <a:t>SELECT is used to retrieve rows selected from one or more tables (</a:t>
            </a:r>
            <a:r>
              <a:rPr lang="en-IN" sz="2000" dirty="0">
                <a:solidFill>
                  <a:schemeClr val="bg2">
                    <a:lumMod val="50000"/>
                  </a:schemeClr>
                </a:solidFill>
                <a:latin typeface="Palatino Linotype" panose="02040502050505030304" pitchFamily="18" charset="0"/>
                <a:ea typeface="Calibri" panose="020F0502020204030204" pitchFamily="34" charset="0"/>
                <a:cs typeface="Segoe UI Light" panose="020B0502040204020203" pitchFamily="34" charset="0"/>
              </a:rPr>
              <a:t>using JOINS</a:t>
            </a:r>
            <a:r>
              <a:rPr lang="en-IN" sz="2000" dirty="0">
                <a:latin typeface="Palatino Linotype" panose="02040502050505030304" pitchFamily="18" charset="0"/>
                <a:ea typeface="Calibri" panose="020F0502020204030204" pitchFamily="34" charset="0"/>
                <a:cs typeface="Segoe UI Light" panose="020B0502040204020203" pitchFamily="34" charset="0"/>
              </a:rPr>
              <a:t>), and can include UNION statements and SUBQUERIES.</a:t>
            </a:r>
          </a:p>
        </p:txBody>
      </p:sp>
      <p:sp>
        <p:nvSpPr>
          <p:cNvPr id="8" name="TextBox 7">
            <a:extLst>
              <a:ext uri="{FF2B5EF4-FFF2-40B4-BE49-F238E27FC236}">
                <a16:creationId xmlns:a16="http://schemas.microsoft.com/office/drawing/2014/main" id="{406EE6C5-57FB-FA54-C0B1-B0A99A18A24C}"/>
              </a:ext>
            </a:extLst>
          </p:cNvPr>
          <p:cNvSpPr txBox="1"/>
          <p:nvPr/>
        </p:nvSpPr>
        <p:spPr>
          <a:xfrm>
            <a:off x="191344" y="332656"/>
            <a:ext cx="11809312" cy="227754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 is known as metacharacter (all columns)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print data in JSON format using built-in JSON functions like JSON_OBJECT(), JSON_ARRAYAGG(), and JSON_ARRAY().</a:t>
            </a:r>
            <a:r>
              <a:rPr lang="en-IN" dirty="0">
                <a:latin typeface="Arial" panose="020B0604020202020204" pitchFamily="34" charset="0"/>
                <a:cs typeface="Arial" panose="020B0604020202020204" pitchFamily="34" charset="0"/>
              </a:rPr>
              <a:t> </a:t>
            </a:r>
          </a:p>
          <a:p>
            <a:pPr marL="273050" algn="just"/>
            <a:r>
              <a:rPr lang="en-IN" dirty="0" err="1">
                <a:solidFill>
                  <a:srgbClr val="FF0000"/>
                </a:solidFill>
                <a:latin typeface="Arial" panose="020B0604020202020204" pitchFamily="34" charset="0"/>
                <a:cs typeface="Arial" panose="020B0604020202020204" pitchFamily="34" charset="0"/>
              </a:rPr>
              <a:t>e.g</a:t>
            </a:r>
            <a:endParaRPr lang="en-IN"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emp_json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pPr marL="285750" indent="-285750" algn="just">
              <a:buFont typeface="Arial" panose="020B0604020202020204" pitchFamily="34" charset="0"/>
              <a:buChar char="•"/>
            </a:pPr>
            <a:endParaRPr lang="en-IN" sz="600" dirty="0">
              <a:latin typeface="Liberation Mono"/>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JSON_ARRAYAGG</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a:t>
            </a:r>
            <a:r>
              <a:rPr lang="en-IN" dirty="0" err="1">
                <a:latin typeface="Liberation Mono"/>
                <a:cs typeface="Arial" panose="020B0604020202020204" pitchFamily="34" charset="0"/>
              </a:rPr>
              <a:t>emp_data</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p:txBody>
      </p:sp>
    </p:spTree>
    <p:extLst>
      <p:ext uri="{BB962C8B-B14F-4D97-AF65-F5344CB8AC3E}">
        <p14:creationId xmlns:p14="http://schemas.microsoft.com/office/powerpoint/2010/main" val="967305241"/>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190550" y="4905161"/>
            <a:ext cx="11809312" cy="1908215"/>
          </a:xfrm>
          <a:prstGeom prst="rect">
            <a:avLst/>
          </a:prstGeom>
          <a:solidFill>
            <a:schemeClr val="bg1"/>
          </a:solid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is</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specifies that all matching rows should be returned, including duplicates. </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 </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specifies removal of duplicate rows from the result set.</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DISTINCTROW</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is a synonym for </a:t>
            </a:r>
            <a:r>
              <a:rPr lang="en-IN" b="1" dirty="0">
                <a:latin typeface="Arial" panose="020B0604020202020204" pitchFamily="34" charset="0"/>
                <a:cs typeface="Arial" panose="020B0604020202020204" pitchFamily="34" charset="0"/>
              </a:rPr>
              <a:t>DISTINCT</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an error to specify both modifiers.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Whenever you use </a:t>
            </a:r>
            <a:r>
              <a:rPr lang="en-US" b="1" dirty="0">
                <a:latin typeface="Arial" panose="020B0604020202020204" pitchFamily="34" charset="0"/>
                <a:cs typeface="Arial" panose="020B0604020202020204" pitchFamily="34" charset="0"/>
              </a:rPr>
              <a:t>DISTINCT</a:t>
            </a:r>
            <a:r>
              <a:rPr lang="en-US" dirty="0">
                <a:latin typeface="Arial" panose="020B0604020202020204" pitchFamily="34" charset="0"/>
                <a:cs typeface="Arial" panose="020B0604020202020204" pitchFamily="34" charset="0"/>
              </a:rPr>
              <a:t>, sorting takes place in server.</a:t>
            </a:r>
            <a:endParaRPr lang="en-IN"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60D289BB-1439-4DB8-B315-C4DAAACB6F54}"/>
              </a:ext>
            </a:extLst>
          </p:cNvPr>
          <p:cNvSpPr/>
          <p:nvPr/>
        </p:nvSpPr>
        <p:spPr>
          <a:xfrm>
            <a:off x="47328" y="-27384"/>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0" name="Rectangle 9">
            <a:extLst>
              <a:ext uri="{FF2B5EF4-FFF2-40B4-BE49-F238E27FC236}">
                <a16:creationId xmlns:a16="http://schemas.microsoft.com/office/drawing/2014/main" id="{B80DA59F-F73A-40DE-B646-ACFB88C2CFDD}"/>
              </a:ext>
            </a:extLst>
          </p:cNvPr>
          <p:cNvSpPr/>
          <p:nvPr/>
        </p:nvSpPr>
        <p:spPr>
          <a:xfrm>
            <a:off x="262558" y="260648"/>
            <a:ext cx="11737304" cy="4629088"/>
          </a:xfrm>
          <a:prstGeom prst="rect">
            <a:avLst/>
          </a:prstGeom>
        </p:spPr>
        <p:txBody>
          <a:bodyPr wrap="square">
            <a:spAutoFit/>
          </a:bodyPr>
          <a:lstStyle/>
          <a:p>
            <a:r>
              <a:rPr lang="en-IN" sz="2000" dirty="0">
                <a:solidFill>
                  <a:schemeClr val="accent6">
                    <a:lumMod val="50000"/>
                  </a:schemeClr>
                </a:solidFill>
                <a:latin typeface="Liberation Mono"/>
                <a:cs typeface="Arial" panose="020B0604020202020204" pitchFamily="34" charset="0"/>
              </a:rPr>
              <a:t>                              </a:t>
            </a:r>
            <a:r>
              <a:rPr lang="en-IN" sz="2000" b="1" dirty="0">
                <a:solidFill>
                  <a:schemeClr val="accent4">
                    <a:lumMod val="50000"/>
                  </a:schemeClr>
                </a:solidFill>
                <a:latin typeface="Liberation Mono"/>
                <a:cs typeface="Arial" panose="020B0604020202020204" pitchFamily="34" charset="0"/>
              </a:rPr>
              <a:t>modifiers</a:t>
            </a:r>
            <a:endParaRPr lang="en-US" sz="2000" b="1" dirty="0">
              <a:solidFill>
                <a:schemeClr val="accent4">
                  <a:lumMod val="50000"/>
                </a:schemeClr>
              </a:solidFill>
              <a:latin typeface="Liberation Mono"/>
              <a:cs typeface="Arial" panose="020B0604020202020204" pitchFamily="34" charset="0"/>
            </a:endParaRPr>
          </a:p>
          <a:p>
            <a:r>
              <a:rPr lang="en-US" sz="2000" dirty="0">
                <a:solidFill>
                  <a:srgbClr val="0077AA"/>
                </a:solidFill>
                <a:latin typeface="Liberation Mono"/>
                <a:cs typeface="Arial" panose="020B0604020202020204" pitchFamily="34" charset="0"/>
              </a:rPr>
              <a:t>SELECT</a:t>
            </a:r>
            <a:r>
              <a:rPr lang="en-US" sz="2000" dirty="0">
                <a:solidFill>
                  <a:schemeClr val="tx1">
                    <a:lumMod val="95000"/>
                    <a:lumOff val="5000"/>
                  </a:schemeClr>
                </a:solidFill>
                <a:latin typeface="Liberation Mono"/>
                <a:cs typeface="Arial" panose="020B0604020202020204" pitchFamily="34" charset="0"/>
              </a:rPr>
              <a:t> [</a:t>
            </a:r>
            <a:r>
              <a:rPr lang="en-US" sz="2000" u="heavy" dirty="0">
                <a:solidFill>
                  <a:schemeClr val="tx1">
                    <a:lumMod val="95000"/>
                    <a:lumOff val="5000"/>
                  </a:schemeClr>
                </a:solidFill>
                <a:uFill>
                  <a:solidFill>
                    <a:srgbClr val="570528"/>
                  </a:solidFill>
                </a:uFill>
                <a:latin typeface="Liberation Mono"/>
                <a:cs typeface="Arial" panose="020B0604020202020204" pitchFamily="34" charset="0"/>
              </a:rPr>
              <a:t>ALL / DISTINCT / DISTINCTROW</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dirty="0">
                <a:solidFill>
                  <a:srgbClr val="A67F59"/>
                </a:solidFill>
                <a:latin typeface="Liberation Mono"/>
              </a:rPr>
              <a:t>*</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3</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expression1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expression2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endParaRPr lang="en-US" sz="800" dirty="0">
              <a:solidFill>
                <a:schemeClr val="tx1">
                  <a:lumMod val="95000"/>
                  <a:lumOff val="5000"/>
                </a:schemeClr>
              </a:solidFill>
              <a:latin typeface="Liberation Mono"/>
              <a:cs typeface="Arial" panose="020B0604020202020204" pitchFamily="34" charset="0"/>
            </a:endParaRPr>
          </a:p>
          <a:p>
            <a:pPr marL="342900" indent="-342900">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WHERE</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where_condition1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where_condition2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GROUP</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 WITH ROLLUP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HAVING</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having_condition1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having_condition2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ORDER</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 ASC | DESC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LIMIT</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tx1">
                    <a:lumMod val="95000"/>
                    <a:lumOff val="5000"/>
                  </a:schemeClr>
                </a:solidFill>
                <a:latin typeface="Liberation Mono"/>
                <a:cs typeface="Arial" panose="020B0604020202020204" pitchFamily="34" charset="0"/>
              </a:rPr>
              <a:t>OFFSET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FOR</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UPDATE</a:t>
            </a:r>
            <a:r>
              <a:rPr lang="en-US" sz="2000" dirty="0">
                <a:solidFill>
                  <a:schemeClr val="tx1">
                    <a:lumMod val="95000"/>
                    <a:lumOff val="5000"/>
                  </a:schemeClr>
                </a:solidFill>
                <a:latin typeface="Liberation Mono"/>
                <a:cs typeface="Arial" panose="020B0604020202020204" pitchFamily="34" charset="0"/>
              </a:rPr>
              <a:t> } ]</a:t>
            </a:r>
          </a:p>
          <a:p>
            <a:pPr marL="285750" indent="-285750">
              <a:lnSpc>
                <a:spcPct val="150000"/>
              </a:lnSpc>
              <a:buFont typeface="Arial" panose="020B0604020202020204" pitchFamily="34" charset="0"/>
              <a:buChar char="•"/>
            </a:pPr>
            <a:r>
              <a:rPr lang="en-US" sz="2000" b="0" dirty="0">
                <a:solidFill>
                  <a:srgbClr val="000000"/>
                </a:solidFill>
                <a:effectLst/>
                <a:latin typeface="Liberation Mono"/>
              </a:rPr>
              <a:t> [ </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OUTFILE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DUMPFILE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b="0" i="0" dirty="0">
                <a:solidFill>
                  <a:srgbClr val="000000"/>
                </a:solidFill>
                <a:effectLst/>
                <a:latin typeface="Liberation Mono"/>
              </a:rPr>
              <a:t> </a:t>
            </a:r>
            <a:r>
              <a:rPr lang="en-US" sz="2000" dirty="0">
                <a:solidFill>
                  <a:schemeClr val="tx1">
                    <a:lumMod val="95000"/>
                    <a:lumOff val="5000"/>
                  </a:schemeClr>
                </a:solidFill>
                <a:latin typeface="Liberation Mono"/>
                <a:cs typeface="Arial" panose="020B0604020202020204" pitchFamily="34" charset="0"/>
              </a:rPr>
              <a:t>[,</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r>
              <a:rPr lang="en-US" sz="2000" b="0" i="0" dirty="0">
                <a:solidFill>
                  <a:srgbClr val="000000"/>
                </a:solidFill>
                <a:effectLst/>
                <a:latin typeface="Liberation Mono"/>
              </a:rPr>
              <a:t>}</a:t>
            </a:r>
            <a:r>
              <a:rPr lang="en-US" sz="2000" dirty="0">
                <a:solidFill>
                  <a:schemeClr val="tx1">
                    <a:lumMod val="95000"/>
                    <a:lumOff val="5000"/>
                  </a:schemeClr>
                </a:solidFill>
                <a:latin typeface="Liberation Mono"/>
                <a:cs typeface="Arial" panose="020B0604020202020204" pitchFamily="34" charset="0"/>
              </a:rPr>
              <a:t> ]</a:t>
            </a:r>
            <a:endParaRPr lang="en-IN" sz="2000" dirty="0"/>
          </a:p>
        </p:txBody>
      </p:sp>
      <p:sp>
        <p:nvSpPr>
          <p:cNvPr id="2" name="TextBox 1">
            <a:extLst>
              <a:ext uri="{FF2B5EF4-FFF2-40B4-BE49-F238E27FC236}">
                <a16:creationId xmlns:a16="http://schemas.microsoft.com/office/drawing/2014/main" id="{C4EC5247-DEBF-ECEB-F475-534AA8AD5904}"/>
              </a:ext>
            </a:extLst>
          </p:cNvPr>
          <p:cNvSpPr txBox="1"/>
          <p:nvPr/>
        </p:nvSpPr>
        <p:spPr>
          <a:xfrm>
            <a:off x="8976320" y="1540774"/>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183223358"/>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65B7444-CA9A-6698-0E37-3A8118274EB1}"/>
              </a:ext>
            </a:extLst>
          </p:cNvPr>
          <p:cNvSpPr txBox="1"/>
          <p:nvPr/>
        </p:nvSpPr>
        <p:spPr>
          <a:xfrm>
            <a:off x="623392" y="1196752"/>
            <a:ext cx="7128792" cy="70788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 </a:t>
            </a:r>
            <a:r>
              <a:rPr lang="en-IN" dirty="0">
                <a:latin typeface="Arial" panose="020B0604020202020204" pitchFamily="34" charset="0"/>
                <a:cs typeface="Arial" panose="020B0604020202020204" pitchFamily="34" charset="0"/>
              </a:rPr>
              <a:t>is TRUE, then MySQL does not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a:t>
            </a:r>
            <a:r>
              <a:rPr lang="en-IN" dirty="0">
                <a:latin typeface="Arial" panose="020B0604020202020204" pitchFamily="34" charset="0"/>
                <a:cs typeface="Arial" panose="020B0604020202020204" pitchFamily="34" charset="0"/>
              </a:rPr>
              <a:t> is FALSE, then MySQL must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877957510"/>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9E8BE73-FB07-E4B8-6DD2-8C3757BCDCDD}"/>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Why is SELECT * often undesirable?</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B362D176-22F7-A855-2FF8-F466D12BA16B}"/>
              </a:ext>
            </a:extLst>
          </p:cNvPr>
          <p:cNvSpPr txBox="1"/>
          <p:nvPr/>
        </p:nvSpPr>
        <p:spPr>
          <a:xfrm>
            <a:off x="371364" y="1052736"/>
            <a:ext cx="11449272" cy="5154040"/>
          </a:xfrm>
          <a:prstGeom prst="rect">
            <a:avLst/>
          </a:prstGeom>
          <a:noFill/>
        </p:spPr>
        <p:txBody>
          <a:bodyPr wrap="square">
            <a:spAutoFit/>
          </a:bodyPr>
          <a:lstStyle/>
          <a:p>
            <a:pPr>
              <a:lnSpc>
                <a:spcPct val="150000"/>
              </a:lnSpc>
            </a:pPr>
            <a:r>
              <a:rPr lang="en-IN" sz="2400" b="1" i="1" dirty="0">
                <a:latin typeface="Arial" panose="020B0604020202020204" pitchFamily="34" charset="0"/>
                <a:cs typeface="Arial" panose="020B0604020202020204" pitchFamily="34" charset="0"/>
              </a:rPr>
              <a:t>SELECT * can……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Read unnecessary data</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network traffic</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Prevent use of a covering index</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in memory consumption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Make application dependent on table structure</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Cause ambiguity in JOINs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Fetches unnecessary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Expose newly added </a:t>
            </a:r>
            <a:r>
              <a:rPr lang="en-US" sz="2200" dirty="0" err="1">
                <a:latin typeface="Arial" panose="020B0604020202020204" pitchFamily="34" charset="0"/>
                <a:cs typeface="Arial" panose="020B0604020202020204" pitchFamily="34" charset="0"/>
              </a:rPr>
              <a:t>scnsitive</a:t>
            </a:r>
            <a:r>
              <a:rPr lang="en-US" sz="2200" dirty="0">
                <a:latin typeface="Arial" panose="020B0604020202020204" pitchFamily="34" charset="0"/>
                <a:cs typeface="Arial" panose="020B0604020202020204" pitchFamily="34" charset="0"/>
              </a:rPr>
              <a:t>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Creates problem when the table structure is changed</a:t>
            </a:r>
            <a:endParaRPr lang="en-IN" sz="2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9760856"/>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80176" y="2209650"/>
            <a:ext cx="4464496" cy="2083446"/>
          </a:xfrm>
          <a:prstGeom prst="rect">
            <a:avLst/>
          </a:prstGeom>
        </p:spPr>
      </p:pic>
      <p:sp>
        <p:nvSpPr>
          <p:cNvPr id="5" name="Title 1">
            <a:extLst>
              <a:ext uri="{FF2B5EF4-FFF2-40B4-BE49-F238E27FC236}">
                <a16:creationId xmlns:a16="http://schemas.microsoft.com/office/drawing/2014/main" id="{B1F51FA5-2A58-475D-AF47-AFC57CC41F77}"/>
              </a:ext>
            </a:extLst>
          </p:cNvPr>
          <p:cNvSpPr txBox="1">
            <a:spLocks/>
          </p:cNvSpPr>
          <p:nvPr/>
        </p:nvSpPr>
        <p:spPr>
          <a:xfrm>
            <a:off x="168137" y="3306688"/>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7" name="Group 6">
            <a:extLst>
              <a:ext uri="{FF2B5EF4-FFF2-40B4-BE49-F238E27FC236}">
                <a16:creationId xmlns:a16="http://schemas.microsoft.com/office/drawing/2014/main" id="{14F7D1E6-7554-458D-99D9-DD33352DBFF7}"/>
              </a:ext>
            </a:extLst>
          </p:cNvPr>
          <p:cNvGrpSpPr/>
          <p:nvPr/>
        </p:nvGrpSpPr>
        <p:grpSpPr>
          <a:xfrm>
            <a:off x="168138" y="4437112"/>
            <a:ext cx="11954748" cy="2160240"/>
            <a:chOff x="84428" y="476672"/>
            <a:chExt cx="11323795" cy="1580737"/>
          </a:xfrm>
        </p:grpSpPr>
        <p:grpSp>
          <p:nvGrpSpPr>
            <p:cNvPr id="39" name="Group 38">
              <a:extLst>
                <a:ext uri="{FF2B5EF4-FFF2-40B4-BE49-F238E27FC236}">
                  <a16:creationId xmlns:a16="http://schemas.microsoft.com/office/drawing/2014/main" id="{8FF7B16A-1A5A-4584-9D5C-FD5DBD45F244}"/>
                </a:ext>
              </a:extLst>
            </p:cNvPr>
            <p:cNvGrpSpPr/>
            <p:nvPr/>
          </p:nvGrpSpPr>
          <p:grpSpPr>
            <a:xfrm>
              <a:off x="84428" y="476672"/>
              <a:ext cx="1500924" cy="644674"/>
              <a:chOff x="326177" y="476672"/>
              <a:chExt cx="1500924" cy="644674"/>
            </a:xfrm>
          </p:grpSpPr>
          <p:sp>
            <p:nvSpPr>
              <p:cNvPr id="9" name="Rectangle 8">
                <a:extLst>
                  <a:ext uri="{FF2B5EF4-FFF2-40B4-BE49-F238E27FC236}">
                    <a16:creationId xmlns:a16="http://schemas.microsoft.com/office/drawing/2014/main" id="{71A624B5-B5BB-4F70-A420-3BB3A2193C17}"/>
                  </a:ext>
                </a:extLst>
              </p:cNvPr>
              <p:cNvSpPr/>
              <p:nvPr/>
            </p:nvSpPr>
            <p:spPr>
              <a:xfrm>
                <a:off x="326177" y="476672"/>
                <a:ext cx="1132287" cy="644674"/>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Arrow: Right 9">
                <a:extLst>
                  <a:ext uri="{FF2B5EF4-FFF2-40B4-BE49-F238E27FC236}">
                    <a16:creationId xmlns:a16="http://schemas.microsoft.com/office/drawing/2014/main" id="{C009A85B-D7BD-433E-BF5F-4122D07357E2}"/>
                  </a:ext>
                </a:extLst>
              </p:cNvPr>
              <p:cNvSpPr/>
              <p:nvPr/>
            </p:nvSpPr>
            <p:spPr>
              <a:xfrm>
                <a:off x="1539069"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BE205FA-DB9C-464F-86A0-ECCDDC1102EC}"/>
                  </a:ext>
                </a:extLst>
              </p:cNvPr>
              <p:cNvSpPr txBox="1"/>
              <p:nvPr/>
            </p:nvSpPr>
            <p:spPr>
              <a:xfrm>
                <a:off x="427689" y="579200"/>
                <a:ext cx="986724"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FROM / JOIN</a:t>
                </a:r>
                <a:endParaRPr lang="en-IN" dirty="0">
                  <a:latin typeface="Arial" panose="020B0604020202020204" pitchFamily="34" charset="0"/>
                  <a:cs typeface="Arial" panose="020B0604020202020204" pitchFamily="34" charset="0"/>
                </a:endParaRPr>
              </a:p>
            </p:txBody>
          </p:sp>
        </p:grpSp>
        <p:grpSp>
          <p:nvGrpSpPr>
            <p:cNvPr id="40" name="Group 39">
              <a:extLst>
                <a:ext uri="{FF2B5EF4-FFF2-40B4-BE49-F238E27FC236}">
                  <a16:creationId xmlns:a16="http://schemas.microsoft.com/office/drawing/2014/main" id="{B54D0D8A-C317-471A-BDBE-5EECF88164C3}"/>
                </a:ext>
              </a:extLst>
            </p:cNvPr>
            <p:cNvGrpSpPr/>
            <p:nvPr/>
          </p:nvGrpSpPr>
          <p:grpSpPr>
            <a:xfrm>
              <a:off x="1630942" y="476672"/>
              <a:ext cx="1168927" cy="504056"/>
              <a:chOff x="361085" y="476672"/>
              <a:chExt cx="1168927" cy="504056"/>
            </a:xfrm>
          </p:grpSpPr>
          <p:sp>
            <p:nvSpPr>
              <p:cNvPr id="41" name="Rectangle 40">
                <a:extLst>
                  <a:ext uri="{FF2B5EF4-FFF2-40B4-BE49-F238E27FC236}">
                    <a16:creationId xmlns:a16="http://schemas.microsoft.com/office/drawing/2014/main" id="{D9036775-CB5A-43DE-8D97-E86F8B18483E}"/>
                  </a:ext>
                </a:extLst>
              </p:cNvPr>
              <p:cNvSpPr/>
              <p:nvPr/>
            </p:nvSpPr>
            <p:spPr>
              <a:xfrm>
                <a:off x="361085" y="476672"/>
                <a:ext cx="104930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3" name="TextBox 42">
                <a:extLst>
                  <a:ext uri="{FF2B5EF4-FFF2-40B4-BE49-F238E27FC236}">
                    <a16:creationId xmlns:a16="http://schemas.microsoft.com/office/drawing/2014/main" id="{1D99575E-5317-4E19-B29F-766BC4EEDD65}"/>
                  </a:ext>
                </a:extLst>
              </p:cNvPr>
              <p:cNvSpPr txBox="1"/>
              <p:nvPr/>
            </p:nvSpPr>
            <p:spPr>
              <a:xfrm>
                <a:off x="383035" y="579200"/>
                <a:ext cx="114697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ON</a:t>
                </a:r>
                <a:endParaRPr lang="en-IN" dirty="0">
                  <a:latin typeface="Arial" panose="020B0604020202020204" pitchFamily="34" charset="0"/>
                  <a:cs typeface="Arial" panose="020B0604020202020204" pitchFamily="34" charset="0"/>
                </a:endParaRPr>
              </a:p>
            </p:txBody>
          </p:sp>
        </p:grpSp>
        <p:grpSp>
          <p:nvGrpSpPr>
            <p:cNvPr id="70" name="Group 69">
              <a:extLst>
                <a:ext uri="{FF2B5EF4-FFF2-40B4-BE49-F238E27FC236}">
                  <a16:creationId xmlns:a16="http://schemas.microsoft.com/office/drawing/2014/main" id="{6C60F1E7-3956-43F5-95D8-8914576A942C}"/>
                </a:ext>
              </a:extLst>
            </p:cNvPr>
            <p:cNvGrpSpPr/>
            <p:nvPr/>
          </p:nvGrpSpPr>
          <p:grpSpPr>
            <a:xfrm>
              <a:off x="2766502" y="476672"/>
              <a:ext cx="2005437" cy="575475"/>
              <a:chOff x="3552777" y="476672"/>
              <a:chExt cx="2005437" cy="575475"/>
            </a:xfrm>
          </p:grpSpPr>
          <p:sp>
            <p:nvSpPr>
              <p:cNvPr id="46" name="Arrow: Right 45">
                <a:extLst>
                  <a:ext uri="{FF2B5EF4-FFF2-40B4-BE49-F238E27FC236}">
                    <a16:creationId xmlns:a16="http://schemas.microsoft.com/office/drawing/2014/main" id="{0857BF8D-AD72-41D2-82B7-814EABBA04E1}"/>
                  </a:ext>
                </a:extLst>
              </p:cNvPr>
              <p:cNvSpPr/>
              <p:nvPr/>
            </p:nvSpPr>
            <p:spPr>
              <a:xfrm>
                <a:off x="3552777"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8" name="Group 47">
                <a:extLst>
                  <a:ext uri="{FF2B5EF4-FFF2-40B4-BE49-F238E27FC236}">
                    <a16:creationId xmlns:a16="http://schemas.microsoft.com/office/drawing/2014/main" id="{968C9A79-F4EF-47F4-8E8D-2123803FACBB}"/>
                  </a:ext>
                </a:extLst>
              </p:cNvPr>
              <p:cNvGrpSpPr/>
              <p:nvPr/>
            </p:nvGrpSpPr>
            <p:grpSpPr>
              <a:xfrm>
                <a:off x="3913298" y="476672"/>
                <a:ext cx="1644916" cy="575475"/>
                <a:chOff x="-2045107" y="476672"/>
                <a:chExt cx="1644916" cy="575475"/>
              </a:xfrm>
            </p:grpSpPr>
            <p:sp>
              <p:nvSpPr>
                <p:cNvPr id="49" name="Rectangle 48">
                  <a:extLst>
                    <a:ext uri="{FF2B5EF4-FFF2-40B4-BE49-F238E27FC236}">
                      <a16:creationId xmlns:a16="http://schemas.microsoft.com/office/drawing/2014/main" id="{A43FDC76-86FB-441B-9677-FBD58BA654F0}"/>
                    </a:ext>
                  </a:extLst>
                </p:cNvPr>
                <p:cNvSpPr/>
                <p:nvPr/>
              </p:nvSpPr>
              <p:spPr>
                <a:xfrm>
                  <a:off x="-2045107"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0" name="Arrow: Right 49">
                  <a:extLst>
                    <a:ext uri="{FF2B5EF4-FFF2-40B4-BE49-F238E27FC236}">
                      <a16:creationId xmlns:a16="http://schemas.microsoft.com/office/drawing/2014/main" id="{3ACB2239-2381-434A-8BD6-E57182B76661}"/>
                    </a:ext>
                  </a:extLst>
                </p:cNvPr>
                <p:cNvSpPr/>
                <p:nvPr/>
              </p:nvSpPr>
              <p:spPr>
                <a:xfrm>
                  <a:off x="-68822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1" name="TextBox 50">
                  <a:extLst>
                    <a:ext uri="{FF2B5EF4-FFF2-40B4-BE49-F238E27FC236}">
                      <a16:creationId xmlns:a16="http://schemas.microsoft.com/office/drawing/2014/main" id="{5DCD877B-0E86-4E91-B474-FD1024A31394}"/>
                    </a:ext>
                  </a:extLst>
                </p:cNvPr>
                <p:cNvSpPr txBox="1"/>
                <p:nvPr/>
              </p:nvSpPr>
              <p:spPr>
                <a:xfrm>
                  <a:off x="-1963528" y="579200"/>
                  <a:ext cx="1207100"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a:p>
                  <a:pPr algn="ctr"/>
                  <a:endParaRPr lang="en-IN" dirty="0">
                    <a:latin typeface="Arial" panose="020B0604020202020204" pitchFamily="34" charset="0"/>
                    <a:cs typeface="Arial" panose="020B0604020202020204" pitchFamily="34" charset="0"/>
                  </a:endParaRPr>
                </a:p>
              </p:txBody>
            </p:sp>
          </p:grpSp>
        </p:grpSp>
        <p:grpSp>
          <p:nvGrpSpPr>
            <p:cNvPr id="71" name="Group 70">
              <a:extLst>
                <a:ext uri="{FF2B5EF4-FFF2-40B4-BE49-F238E27FC236}">
                  <a16:creationId xmlns:a16="http://schemas.microsoft.com/office/drawing/2014/main" id="{9A611EDF-CB23-465B-8C71-4D0C84D95A3D}"/>
                </a:ext>
              </a:extLst>
            </p:cNvPr>
            <p:cNvGrpSpPr/>
            <p:nvPr/>
          </p:nvGrpSpPr>
          <p:grpSpPr>
            <a:xfrm>
              <a:off x="4748471" y="476672"/>
              <a:ext cx="5384445" cy="1580737"/>
              <a:chOff x="1756467" y="476672"/>
              <a:chExt cx="5384445" cy="1580737"/>
            </a:xfrm>
          </p:grpSpPr>
          <p:grpSp>
            <p:nvGrpSpPr>
              <p:cNvPr id="72" name="Group 71">
                <a:extLst>
                  <a:ext uri="{FF2B5EF4-FFF2-40B4-BE49-F238E27FC236}">
                    <a16:creationId xmlns:a16="http://schemas.microsoft.com/office/drawing/2014/main" id="{2AD5A228-376B-41E7-B1D2-190779418E94}"/>
                  </a:ext>
                </a:extLst>
              </p:cNvPr>
              <p:cNvGrpSpPr/>
              <p:nvPr/>
            </p:nvGrpSpPr>
            <p:grpSpPr>
              <a:xfrm>
                <a:off x="1841783" y="476672"/>
                <a:ext cx="2187789" cy="504056"/>
                <a:chOff x="-1872123" y="476672"/>
                <a:chExt cx="2187789" cy="504056"/>
              </a:xfrm>
            </p:grpSpPr>
            <p:sp>
              <p:nvSpPr>
                <p:cNvPr id="77" name="Rectangle 76">
                  <a:extLst>
                    <a:ext uri="{FF2B5EF4-FFF2-40B4-BE49-F238E27FC236}">
                      <a16:creationId xmlns:a16="http://schemas.microsoft.com/office/drawing/2014/main" id="{AD6A0EB6-5388-4728-AED5-760174E567A4}"/>
                    </a:ext>
                  </a:extLst>
                </p:cNvPr>
                <p:cNvSpPr/>
                <p:nvPr/>
              </p:nvSpPr>
              <p:spPr>
                <a:xfrm>
                  <a:off x="-1872123" y="476672"/>
                  <a:ext cx="1827754"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8" name="Arrow: Right 77">
                  <a:extLst>
                    <a:ext uri="{FF2B5EF4-FFF2-40B4-BE49-F238E27FC236}">
                      <a16:creationId xmlns:a16="http://schemas.microsoft.com/office/drawing/2014/main" id="{64106FD7-6F4C-437A-A91D-FE7E958F9F8E}"/>
                    </a:ext>
                  </a:extLst>
                </p:cNvPr>
                <p:cNvSpPr/>
                <p:nvPr/>
              </p:nvSpPr>
              <p:spPr>
                <a:xfrm>
                  <a:off x="2763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9" name="TextBox 78">
                  <a:extLst>
                    <a:ext uri="{FF2B5EF4-FFF2-40B4-BE49-F238E27FC236}">
                      <a16:creationId xmlns:a16="http://schemas.microsoft.com/office/drawing/2014/main" id="{C5D4695E-0114-4CED-9F52-BCF42ACE8D3C}"/>
                    </a:ext>
                  </a:extLst>
                </p:cNvPr>
                <p:cNvSpPr txBox="1"/>
                <p:nvPr/>
              </p:nvSpPr>
              <p:spPr>
                <a:xfrm>
                  <a:off x="-1816532" y="579201"/>
                  <a:ext cx="1830222"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73" name="Group 72">
                <a:extLst>
                  <a:ext uri="{FF2B5EF4-FFF2-40B4-BE49-F238E27FC236}">
                    <a16:creationId xmlns:a16="http://schemas.microsoft.com/office/drawing/2014/main" id="{0F3C45A9-04E2-4086-A8A6-895E74E87072}"/>
                  </a:ext>
                </a:extLst>
              </p:cNvPr>
              <p:cNvGrpSpPr/>
              <p:nvPr/>
            </p:nvGrpSpPr>
            <p:grpSpPr>
              <a:xfrm>
                <a:off x="1756467" y="485535"/>
                <a:ext cx="5384445" cy="1571874"/>
                <a:chOff x="-4201938" y="485535"/>
                <a:chExt cx="5384445" cy="1571874"/>
              </a:xfrm>
            </p:grpSpPr>
            <p:sp>
              <p:nvSpPr>
                <p:cNvPr id="74" name="Rectangle 73">
                  <a:extLst>
                    <a:ext uri="{FF2B5EF4-FFF2-40B4-BE49-F238E27FC236}">
                      <a16:creationId xmlns:a16="http://schemas.microsoft.com/office/drawing/2014/main" id="{C531F3B7-AC41-44DD-B1B5-4BDDEAC42DC7}"/>
                    </a:ext>
                  </a:extLst>
                </p:cNvPr>
                <p:cNvSpPr/>
                <p:nvPr/>
              </p:nvSpPr>
              <p:spPr>
                <a:xfrm>
                  <a:off x="-2360330" y="1291163"/>
                  <a:ext cx="1694208" cy="74828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6" name="TextBox 75">
                  <a:extLst>
                    <a:ext uri="{FF2B5EF4-FFF2-40B4-BE49-F238E27FC236}">
                      <a16:creationId xmlns:a16="http://schemas.microsoft.com/office/drawing/2014/main" id="{FD1D9AE9-B24B-4AA9-9263-4B5D98C52F93}"/>
                    </a:ext>
                  </a:extLst>
                </p:cNvPr>
                <p:cNvSpPr txBox="1"/>
                <p:nvPr/>
              </p:nvSpPr>
              <p:spPr>
                <a:xfrm>
                  <a:off x="-2298484" y="1381771"/>
                  <a:ext cx="1579663" cy="675638"/>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SELECT &amp; WINDOW FUNCTIONS</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55A3536B-76F3-032B-7354-2830A0B9FD71}"/>
                    </a:ext>
                  </a:extLst>
                </p:cNvPr>
                <p:cNvSpPr/>
                <p:nvPr/>
              </p:nvSpPr>
              <p:spPr>
                <a:xfrm>
                  <a:off x="-4201938" y="1524809"/>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831D7D3-C890-BAD3-9B40-F8E39D1B717E}"/>
                    </a:ext>
                  </a:extLst>
                </p:cNvPr>
                <p:cNvSpPr txBox="1"/>
                <p:nvPr/>
              </p:nvSpPr>
              <p:spPr>
                <a:xfrm>
                  <a:off x="-4140073" y="1636296"/>
                  <a:ext cx="136068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DISTINCT</a:t>
                  </a:r>
                  <a:endParaRPr lang="en-IN"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06F66DB8-410A-2BA3-3A56-E4F74C0B9B8D}"/>
                    </a:ext>
                  </a:extLst>
                </p:cNvPr>
                <p:cNvSpPr/>
                <p:nvPr/>
              </p:nvSpPr>
              <p:spPr>
                <a:xfrm>
                  <a:off x="-1878734" y="485535"/>
                  <a:ext cx="3029857" cy="49519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9E7E1988-B259-0EE0-E483-88A36209FDE8}"/>
                    </a:ext>
                  </a:extLst>
                </p:cNvPr>
                <p:cNvSpPr txBox="1"/>
                <p:nvPr/>
              </p:nvSpPr>
              <p:spPr>
                <a:xfrm>
                  <a:off x="-1874603" y="597022"/>
                  <a:ext cx="2980634"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AGGREGATE FUNCTIONS</a:t>
                  </a:r>
                  <a:endParaRPr lang="en-IN"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49E72354-E543-235F-BC3B-4F488BDBDA21}"/>
                    </a:ext>
                  </a:extLst>
                </p:cNvPr>
                <p:cNvSpPr/>
                <p:nvPr/>
              </p:nvSpPr>
              <p:spPr>
                <a:xfrm>
                  <a:off x="-253980" y="1535390"/>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148D02FA-DFDE-CDC8-0819-2FC29B18033A}"/>
                    </a:ext>
                  </a:extLst>
                </p:cNvPr>
                <p:cNvSpPr txBox="1"/>
                <p:nvPr/>
              </p:nvSpPr>
              <p:spPr>
                <a:xfrm>
                  <a:off x="-192130" y="1681770"/>
                  <a:ext cx="1360686"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grpSp>
          <p:nvGrpSpPr>
            <p:cNvPr id="53" name="Group 52">
              <a:extLst>
                <a:ext uri="{FF2B5EF4-FFF2-40B4-BE49-F238E27FC236}">
                  <a16:creationId xmlns:a16="http://schemas.microsoft.com/office/drawing/2014/main" id="{C05E667D-060E-4B79-B328-7B5E4467FB4C}"/>
                </a:ext>
              </a:extLst>
            </p:cNvPr>
            <p:cNvGrpSpPr/>
            <p:nvPr/>
          </p:nvGrpSpPr>
          <p:grpSpPr>
            <a:xfrm>
              <a:off x="993107" y="1524809"/>
              <a:ext cx="7639243" cy="504056"/>
              <a:chOff x="-3420724" y="404102"/>
              <a:chExt cx="7639243" cy="504056"/>
            </a:xfrm>
          </p:grpSpPr>
          <p:grpSp>
            <p:nvGrpSpPr>
              <p:cNvPr id="54" name="Group 53">
                <a:extLst>
                  <a:ext uri="{FF2B5EF4-FFF2-40B4-BE49-F238E27FC236}">
                    <a16:creationId xmlns:a16="http://schemas.microsoft.com/office/drawing/2014/main" id="{4C85A2DA-3BDF-4662-A383-A6934B6ABD02}"/>
                  </a:ext>
                </a:extLst>
              </p:cNvPr>
              <p:cNvGrpSpPr/>
              <p:nvPr/>
            </p:nvGrpSpPr>
            <p:grpSpPr>
              <a:xfrm>
                <a:off x="-2080578" y="404102"/>
                <a:ext cx="6299097" cy="504056"/>
                <a:chOff x="-5794484" y="404102"/>
                <a:chExt cx="6299097" cy="504056"/>
              </a:xfrm>
            </p:grpSpPr>
            <p:sp>
              <p:nvSpPr>
                <p:cNvPr id="59" name="Rectangle 58">
                  <a:extLst>
                    <a:ext uri="{FF2B5EF4-FFF2-40B4-BE49-F238E27FC236}">
                      <a16:creationId xmlns:a16="http://schemas.microsoft.com/office/drawing/2014/main" id="{5C682BF6-2D1E-4E06-96AC-5FF125281AAE}"/>
                    </a:ext>
                  </a:extLst>
                </p:cNvPr>
                <p:cNvSpPr/>
                <p:nvPr/>
              </p:nvSpPr>
              <p:spPr>
                <a:xfrm>
                  <a:off x="-5427460" y="40410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0" name="Arrow: Right 59">
                  <a:extLst>
                    <a:ext uri="{FF2B5EF4-FFF2-40B4-BE49-F238E27FC236}">
                      <a16:creationId xmlns:a16="http://schemas.microsoft.com/office/drawing/2014/main" id="{4A12E3C3-9DC8-4DDA-A566-A2A01CEFBE3C}"/>
                    </a:ext>
                  </a:extLst>
                </p:cNvPr>
                <p:cNvSpPr/>
                <p:nvPr/>
              </p:nvSpPr>
              <p:spPr>
                <a:xfrm rot="10800000">
                  <a:off x="-5794484"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1" name="TextBox 60">
                  <a:extLst>
                    <a:ext uri="{FF2B5EF4-FFF2-40B4-BE49-F238E27FC236}">
                      <a16:creationId xmlns:a16="http://schemas.microsoft.com/office/drawing/2014/main" id="{C8BE0335-0698-49AC-80A4-45D0D4B95B02}"/>
                    </a:ext>
                  </a:extLst>
                </p:cNvPr>
                <p:cNvSpPr txBox="1"/>
                <p:nvPr/>
              </p:nvSpPr>
              <p:spPr>
                <a:xfrm>
                  <a:off x="-5360859" y="506630"/>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2" name="Arrow: Right 1">
                  <a:extLst>
                    <a:ext uri="{FF2B5EF4-FFF2-40B4-BE49-F238E27FC236}">
                      <a16:creationId xmlns:a16="http://schemas.microsoft.com/office/drawing/2014/main" id="{866EEB90-8C48-2846-069C-4DC1F213A62D}"/>
                    </a:ext>
                  </a:extLst>
                </p:cNvPr>
                <p:cNvSpPr/>
                <p:nvPr/>
              </p:nvSpPr>
              <p:spPr>
                <a:xfrm rot="10800000">
                  <a:off x="-3750319"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Arrow: Right 10">
                  <a:extLst>
                    <a:ext uri="{FF2B5EF4-FFF2-40B4-BE49-F238E27FC236}">
                      <a16:creationId xmlns:a16="http://schemas.microsoft.com/office/drawing/2014/main" id="{6D31B152-80E8-E68E-C686-F68D6095B25E}"/>
                    </a:ext>
                  </a:extLst>
                </p:cNvPr>
                <p:cNvSpPr/>
                <p:nvPr/>
              </p:nvSpPr>
              <p:spPr>
                <a:xfrm rot="10800000">
                  <a:off x="-1889793"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Arrow: Right 16">
                  <a:extLst>
                    <a:ext uri="{FF2B5EF4-FFF2-40B4-BE49-F238E27FC236}">
                      <a16:creationId xmlns:a16="http://schemas.microsoft.com/office/drawing/2014/main" id="{4D057C15-582E-E977-9AD4-16CEA715EE9D}"/>
                    </a:ext>
                  </a:extLst>
                </p:cNvPr>
                <p:cNvSpPr/>
                <p:nvPr/>
              </p:nvSpPr>
              <p:spPr>
                <a:xfrm rot="10800000">
                  <a:off x="216581"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55" name="Group 54">
                <a:extLst>
                  <a:ext uri="{FF2B5EF4-FFF2-40B4-BE49-F238E27FC236}">
                    <a16:creationId xmlns:a16="http://schemas.microsoft.com/office/drawing/2014/main" id="{5BFE4EE8-F652-411D-BB1B-A48D2C4BCC67}"/>
                  </a:ext>
                </a:extLst>
              </p:cNvPr>
              <p:cNvGrpSpPr/>
              <p:nvPr/>
            </p:nvGrpSpPr>
            <p:grpSpPr>
              <a:xfrm>
                <a:off x="-3420724" y="404102"/>
                <a:ext cx="1288678" cy="504056"/>
                <a:chOff x="-9379129" y="404102"/>
                <a:chExt cx="1288678" cy="504056"/>
              </a:xfrm>
            </p:grpSpPr>
            <p:sp>
              <p:nvSpPr>
                <p:cNvPr id="56" name="Rectangle 55">
                  <a:extLst>
                    <a:ext uri="{FF2B5EF4-FFF2-40B4-BE49-F238E27FC236}">
                      <a16:creationId xmlns:a16="http://schemas.microsoft.com/office/drawing/2014/main" id="{43D53048-6D88-4DA7-BE5F-E8515366A07A}"/>
                    </a:ext>
                  </a:extLst>
                </p:cNvPr>
                <p:cNvSpPr/>
                <p:nvPr/>
              </p:nvSpPr>
              <p:spPr>
                <a:xfrm>
                  <a:off x="-9379129" y="40410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8" name="TextBox 57">
                  <a:extLst>
                    <a:ext uri="{FF2B5EF4-FFF2-40B4-BE49-F238E27FC236}">
                      <a16:creationId xmlns:a16="http://schemas.microsoft.com/office/drawing/2014/main" id="{D636D2A1-6182-4DFE-8311-CE689AD68145}"/>
                    </a:ext>
                  </a:extLst>
                </p:cNvPr>
                <p:cNvSpPr txBox="1"/>
                <p:nvPr/>
              </p:nvSpPr>
              <p:spPr>
                <a:xfrm>
                  <a:off x="-9198538" y="506630"/>
                  <a:ext cx="90511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grpSp>
        <p:sp>
          <p:nvSpPr>
            <p:cNvPr id="3" name="Arrow: Curved Left 2">
              <a:extLst>
                <a:ext uri="{FF2B5EF4-FFF2-40B4-BE49-F238E27FC236}">
                  <a16:creationId xmlns:a16="http://schemas.microsoft.com/office/drawing/2014/main" id="{66BC5067-3146-4485-B447-28BFB0C762C2}"/>
                </a:ext>
              </a:extLst>
            </p:cNvPr>
            <p:cNvSpPr/>
            <p:nvPr/>
          </p:nvSpPr>
          <p:spPr>
            <a:xfrm>
              <a:off x="10201124" y="580703"/>
              <a:ext cx="1207099" cy="1476705"/>
            </a:xfrm>
            <a:prstGeom prst="curvedLef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grpSp>
      <p:grpSp>
        <p:nvGrpSpPr>
          <p:cNvPr id="52" name="Group 51">
            <a:extLst>
              <a:ext uri="{FF2B5EF4-FFF2-40B4-BE49-F238E27FC236}">
                <a16:creationId xmlns:a16="http://schemas.microsoft.com/office/drawing/2014/main" id="{1582DF31-C621-47AD-90C0-08DED0B38935}"/>
              </a:ext>
            </a:extLst>
          </p:cNvPr>
          <p:cNvGrpSpPr/>
          <p:nvPr/>
        </p:nvGrpSpPr>
        <p:grpSpPr>
          <a:xfrm>
            <a:off x="168137" y="1357717"/>
            <a:ext cx="10542377" cy="703131"/>
            <a:chOff x="1630942" y="466218"/>
            <a:chExt cx="9093584" cy="514510"/>
          </a:xfrm>
        </p:grpSpPr>
        <p:grpSp>
          <p:nvGrpSpPr>
            <p:cNvPr id="57" name="Group 56">
              <a:extLst>
                <a:ext uri="{FF2B5EF4-FFF2-40B4-BE49-F238E27FC236}">
                  <a16:creationId xmlns:a16="http://schemas.microsoft.com/office/drawing/2014/main" id="{1FAD0DE2-7E95-4CCF-A2BC-1536933C6C93}"/>
                </a:ext>
              </a:extLst>
            </p:cNvPr>
            <p:cNvGrpSpPr/>
            <p:nvPr/>
          </p:nvGrpSpPr>
          <p:grpSpPr>
            <a:xfrm>
              <a:off x="1630942" y="476672"/>
              <a:ext cx="1525658" cy="504056"/>
              <a:chOff x="361085" y="476672"/>
              <a:chExt cx="1525658" cy="504056"/>
            </a:xfrm>
          </p:grpSpPr>
          <p:sp>
            <p:nvSpPr>
              <p:cNvPr id="86" name="Rectangle 85">
                <a:extLst>
                  <a:ext uri="{FF2B5EF4-FFF2-40B4-BE49-F238E27FC236}">
                    <a16:creationId xmlns:a16="http://schemas.microsoft.com/office/drawing/2014/main" id="{81727035-EE50-44EB-846E-1F79E8CC3F06}"/>
                  </a:ext>
                </a:extLst>
              </p:cNvPr>
              <p:cNvSpPr/>
              <p:nvPr/>
            </p:nvSpPr>
            <p:spPr>
              <a:xfrm>
                <a:off x="361085" y="476672"/>
                <a:ext cx="116355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7" name="Arrow: Right 86">
                <a:extLst>
                  <a:ext uri="{FF2B5EF4-FFF2-40B4-BE49-F238E27FC236}">
                    <a16:creationId xmlns:a16="http://schemas.microsoft.com/office/drawing/2014/main" id="{8CD8253C-E48F-46F9-AB8D-1987C91BA709}"/>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8" name="TextBox 87">
                <a:extLst>
                  <a:ext uri="{FF2B5EF4-FFF2-40B4-BE49-F238E27FC236}">
                    <a16:creationId xmlns:a16="http://schemas.microsoft.com/office/drawing/2014/main" id="{5C20ADF3-D447-4AD7-AF99-CE60A45A6538}"/>
                  </a:ext>
                </a:extLst>
              </p:cNvPr>
              <p:cNvSpPr txBox="1"/>
              <p:nvPr/>
            </p:nvSpPr>
            <p:spPr>
              <a:xfrm>
                <a:off x="383035" y="579200"/>
                <a:ext cx="115345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p:txBody>
          </p:sp>
        </p:grpSp>
        <p:grpSp>
          <p:nvGrpSpPr>
            <p:cNvPr id="62" name="Group 61">
              <a:extLst>
                <a:ext uri="{FF2B5EF4-FFF2-40B4-BE49-F238E27FC236}">
                  <a16:creationId xmlns:a16="http://schemas.microsoft.com/office/drawing/2014/main" id="{172704CD-4AE6-4739-9FD1-C2446A53A882}"/>
                </a:ext>
              </a:extLst>
            </p:cNvPr>
            <p:cNvGrpSpPr/>
            <p:nvPr/>
          </p:nvGrpSpPr>
          <p:grpSpPr>
            <a:xfrm>
              <a:off x="3215680" y="476672"/>
              <a:ext cx="3364464" cy="504056"/>
              <a:chOff x="4001955" y="476672"/>
              <a:chExt cx="3364464" cy="504056"/>
            </a:xfrm>
          </p:grpSpPr>
          <p:grpSp>
            <p:nvGrpSpPr>
              <p:cNvPr id="75" name="Group 74">
                <a:extLst>
                  <a:ext uri="{FF2B5EF4-FFF2-40B4-BE49-F238E27FC236}">
                    <a16:creationId xmlns:a16="http://schemas.microsoft.com/office/drawing/2014/main" id="{25FD8C63-7443-4570-9495-B5732152C145}"/>
                  </a:ext>
                </a:extLst>
              </p:cNvPr>
              <p:cNvGrpSpPr/>
              <p:nvPr/>
            </p:nvGrpSpPr>
            <p:grpSpPr>
              <a:xfrm>
                <a:off x="4001955" y="476672"/>
                <a:ext cx="2003296" cy="504056"/>
                <a:chOff x="288049" y="476672"/>
                <a:chExt cx="2003296" cy="504056"/>
              </a:xfrm>
            </p:grpSpPr>
            <p:sp>
              <p:nvSpPr>
                <p:cNvPr id="83" name="Rectangle 82">
                  <a:extLst>
                    <a:ext uri="{FF2B5EF4-FFF2-40B4-BE49-F238E27FC236}">
                      <a16:creationId xmlns:a16="http://schemas.microsoft.com/office/drawing/2014/main" id="{FC0A819A-7C6B-4361-958B-B4A30392F87B}"/>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4" name="Arrow: Right 83">
                  <a:extLst>
                    <a:ext uri="{FF2B5EF4-FFF2-40B4-BE49-F238E27FC236}">
                      <a16:creationId xmlns:a16="http://schemas.microsoft.com/office/drawing/2014/main" id="{A28A9F02-47A6-4B0B-8128-2EEA53FECAFF}"/>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5" name="TextBox 84">
                  <a:extLst>
                    <a:ext uri="{FF2B5EF4-FFF2-40B4-BE49-F238E27FC236}">
                      <a16:creationId xmlns:a16="http://schemas.microsoft.com/office/drawing/2014/main" id="{423245F2-502A-40F4-A3FF-AD135B88BFA9}"/>
                    </a:ext>
                  </a:extLst>
                </p:cNvPr>
                <p:cNvSpPr txBox="1"/>
                <p:nvPr/>
              </p:nvSpPr>
              <p:spPr>
                <a:xfrm>
                  <a:off x="325631" y="579200"/>
                  <a:ext cx="158210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80" name="Group 79">
                <a:extLst>
                  <a:ext uri="{FF2B5EF4-FFF2-40B4-BE49-F238E27FC236}">
                    <a16:creationId xmlns:a16="http://schemas.microsoft.com/office/drawing/2014/main" id="{F32DCE47-A9F1-4031-A01D-EDBE6187480A}"/>
                  </a:ext>
                </a:extLst>
              </p:cNvPr>
              <p:cNvGrpSpPr/>
              <p:nvPr/>
            </p:nvGrpSpPr>
            <p:grpSpPr>
              <a:xfrm>
                <a:off x="6077741" y="476672"/>
                <a:ext cx="1288678" cy="504056"/>
                <a:chOff x="119336" y="476672"/>
                <a:chExt cx="1288678" cy="504056"/>
              </a:xfrm>
            </p:grpSpPr>
            <p:sp>
              <p:nvSpPr>
                <p:cNvPr id="81" name="Rectangle 80">
                  <a:extLst>
                    <a:ext uri="{FF2B5EF4-FFF2-40B4-BE49-F238E27FC236}">
                      <a16:creationId xmlns:a16="http://schemas.microsoft.com/office/drawing/2014/main" id="{821F4921-007E-464C-882F-5B53FB34A03C}"/>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2" name="TextBox 81">
                  <a:extLst>
                    <a:ext uri="{FF2B5EF4-FFF2-40B4-BE49-F238E27FC236}">
                      <a16:creationId xmlns:a16="http://schemas.microsoft.com/office/drawing/2014/main" id="{88642C8F-B8F5-4514-9D4C-5B3267D01402}"/>
                    </a:ext>
                  </a:extLst>
                </p:cNvPr>
                <p:cNvSpPr txBox="1"/>
                <p:nvPr/>
              </p:nvSpPr>
              <p:spPr>
                <a:xfrm>
                  <a:off x="131185" y="579200"/>
                  <a:ext cx="1276829"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sp>
          <p:nvSpPr>
            <p:cNvPr id="63" name="Arrow: Right 62">
              <a:extLst>
                <a:ext uri="{FF2B5EF4-FFF2-40B4-BE49-F238E27FC236}">
                  <a16:creationId xmlns:a16="http://schemas.microsoft.com/office/drawing/2014/main" id="{AF31F913-0175-4F1F-B2B1-9B43FE6FF687}"/>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64" name="Group 63">
              <a:extLst>
                <a:ext uri="{FF2B5EF4-FFF2-40B4-BE49-F238E27FC236}">
                  <a16:creationId xmlns:a16="http://schemas.microsoft.com/office/drawing/2014/main" id="{F8587979-2645-43A9-94E7-31BC65F8E295}"/>
                </a:ext>
              </a:extLst>
            </p:cNvPr>
            <p:cNvGrpSpPr/>
            <p:nvPr/>
          </p:nvGrpSpPr>
          <p:grpSpPr>
            <a:xfrm>
              <a:off x="7020641" y="466218"/>
              <a:ext cx="3703885" cy="504056"/>
              <a:chOff x="-1107095" y="-654489"/>
              <a:chExt cx="3703884" cy="504056"/>
            </a:xfrm>
          </p:grpSpPr>
          <p:sp>
            <p:nvSpPr>
              <p:cNvPr id="66" name="Rectangle 65">
                <a:extLst>
                  <a:ext uri="{FF2B5EF4-FFF2-40B4-BE49-F238E27FC236}">
                    <a16:creationId xmlns:a16="http://schemas.microsoft.com/office/drawing/2014/main" id="{D6779E4E-F773-43BB-8004-24610A7FC043}"/>
                  </a:ext>
                </a:extLst>
              </p:cNvPr>
              <p:cNvSpPr/>
              <p:nvPr/>
            </p:nvSpPr>
            <p:spPr>
              <a:xfrm>
                <a:off x="-1107095"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7" name="TextBox 66">
                <a:extLst>
                  <a:ext uri="{FF2B5EF4-FFF2-40B4-BE49-F238E27FC236}">
                    <a16:creationId xmlns:a16="http://schemas.microsoft.com/office/drawing/2014/main" id="{2ACFDE52-ABEF-40DF-98D0-0DF0E1735341}"/>
                  </a:ext>
                </a:extLst>
              </p:cNvPr>
              <p:cNvSpPr txBox="1"/>
              <p:nvPr/>
            </p:nvSpPr>
            <p:spPr>
              <a:xfrm>
                <a:off x="-1073010" y="-551961"/>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68" name="Rectangle 67">
                <a:extLst>
                  <a:ext uri="{FF2B5EF4-FFF2-40B4-BE49-F238E27FC236}">
                    <a16:creationId xmlns:a16="http://schemas.microsoft.com/office/drawing/2014/main" id="{5975E185-6975-4773-9844-E5BA4948AF98}"/>
                  </a:ext>
                </a:extLst>
              </p:cNvPr>
              <p:cNvSpPr/>
              <p:nvPr/>
            </p:nvSpPr>
            <p:spPr>
              <a:xfrm>
                <a:off x="965864"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9" name="TextBox 68">
                <a:extLst>
                  <a:ext uri="{FF2B5EF4-FFF2-40B4-BE49-F238E27FC236}">
                    <a16:creationId xmlns:a16="http://schemas.microsoft.com/office/drawing/2014/main" id="{F63AC0D1-5379-4A50-8BE3-4A327A467D11}"/>
                  </a:ext>
                </a:extLst>
              </p:cNvPr>
              <p:cNvSpPr txBox="1"/>
              <p:nvPr/>
            </p:nvSpPr>
            <p:spPr>
              <a:xfrm>
                <a:off x="1003018" y="-562879"/>
                <a:ext cx="158106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sp>
          <p:nvSpPr>
            <p:cNvPr id="65" name="Arrow: Right 64">
              <a:extLst>
                <a:ext uri="{FF2B5EF4-FFF2-40B4-BE49-F238E27FC236}">
                  <a16:creationId xmlns:a16="http://schemas.microsoft.com/office/drawing/2014/main" id="{12913A3F-6C2E-4EEF-B46D-B4CBA772FB8A}"/>
                </a:ext>
              </a:extLst>
            </p:cNvPr>
            <p:cNvSpPr/>
            <p:nvPr/>
          </p:nvSpPr>
          <p:spPr>
            <a:xfrm>
              <a:off x="8747143" y="559756"/>
              <a:ext cx="288033"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89" name="Title 1">
            <a:extLst>
              <a:ext uri="{FF2B5EF4-FFF2-40B4-BE49-F238E27FC236}">
                <a16:creationId xmlns:a16="http://schemas.microsoft.com/office/drawing/2014/main" id="{BD3B28A3-6C1F-49C5-A6BB-99E17F3B7763}"/>
              </a:ext>
            </a:extLst>
          </p:cNvPr>
          <p:cNvSpPr txBox="1">
            <a:spLocks/>
          </p:cNvSpPr>
          <p:nvPr/>
        </p:nvSpPr>
        <p:spPr>
          <a:xfrm>
            <a:off x="168137" y="138336"/>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sequence of clauses</a:t>
            </a:r>
          </a:p>
        </p:txBody>
      </p:sp>
      <p:sp>
        <p:nvSpPr>
          <p:cNvPr id="19" name="TextBox 18">
            <a:extLst>
              <a:ext uri="{FF2B5EF4-FFF2-40B4-BE49-F238E27FC236}">
                <a16:creationId xmlns:a16="http://schemas.microsoft.com/office/drawing/2014/main" id="{946D463F-6D6F-89D0-EC1D-1B71EBC4AF13}"/>
              </a:ext>
            </a:extLst>
          </p:cNvPr>
          <p:cNvSpPr txBox="1"/>
          <p:nvPr/>
        </p:nvSpPr>
        <p:spPr>
          <a:xfrm>
            <a:off x="168137" y="2852936"/>
            <a:ext cx="4676207" cy="461665"/>
          </a:xfrm>
          <a:prstGeom prst="rect">
            <a:avLst/>
          </a:prstGeom>
          <a:noFill/>
        </p:spPr>
        <p:txBody>
          <a:bodyPr wrap="square">
            <a:spAutoFit/>
          </a:bodyPr>
          <a:lstStyle/>
          <a:p>
            <a:r>
              <a:rPr lang="en-IN" sz="2400" dirty="0"/>
              <a:t>(The "Waterfall" of SQL Processing)</a:t>
            </a:r>
          </a:p>
        </p:txBody>
      </p:sp>
    </p:spTree>
    <p:extLst>
      <p:ext uri="{BB962C8B-B14F-4D97-AF65-F5344CB8AC3E}">
        <p14:creationId xmlns:p14="http://schemas.microsoft.com/office/powerpoint/2010/main" val="56346915"/>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6A674-CB37-7929-D7B1-EA434C95304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F7CE4D8D-13A9-B7DA-BED6-BA9931BA368D}"/>
              </a:ext>
            </a:extLst>
          </p:cNvPr>
          <p:cNvSpPr txBox="1"/>
          <p:nvPr/>
        </p:nvSpPr>
        <p:spPr>
          <a:xfrm>
            <a:off x="263352" y="93975"/>
            <a:ext cx="11881320" cy="6863417"/>
          </a:xfrm>
          <a:prstGeom prst="rect">
            <a:avLst/>
          </a:prstGeom>
          <a:noFill/>
        </p:spPr>
        <p:txBody>
          <a:bodyPr wrap="square">
            <a:spAutoFit/>
          </a:bodyPr>
          <a:lstStyle/>
          <a:p>
            <a:r>
              <a:rPr lang="en-IN" sz="2200" dirty="0">
                <a:latin typeface="Liberation Mono"/>
              </a:rPr>
              <a:t>1. FROM &amp; JOIN                              (Identify tables &amp; Cartesian product)                           </a:t>
            </a:r>
          </a:p>
          <a:p>
            <a:r>
              <a:rPr lang="en-IN" sz="2200" dirty="0">
                <a:latin typeface="Liberation Mono"/>
              </a:rPr>
              <a:t>              ▼       </a:t>
            </a:r>
          </a:p>
          <a:p>
            <a:r>
              <a:rPr lang="en-IN" sz="2200" dirty="0">
                <a:latin typeface="Liberation Mono"/>
              </a:rPr>
              <a:t>2. ON                                                (Filter rows during join conditions)             </a:t>
            </a:r>
          </a:p>
          <a:p>
            <a:r>
              <a:rPr lang="en-IN" sz="2200" dirty="0">
                <a:latin typeface="Liberation Mono"/>
              </a:rPr>
              <a:t>               ▼        </a:t>
            </a:r>
          </a:p>
          <a:p>
            <a:r>
              <a:rPr lang="en-IN" sz="2200" dirty="0">
                <a:latin typeface="Liberation Mono"/>
              </a:rPr>
              <a:t>3. WHERE                                         (Filter rows before grouping)                            </a:t>
            </a:r>
          </a:p>
          <a:p>
            <a:r>
              <a:rPr lang="en-IN" sz="2200" dirty="0">
                <a:latin typeface="Liberation Mono"/>
              </a:rPr>
              <a:t>               ▼        </a:t>
            </a:r>
          </a:p>
          <a:p>
            <a:r>
              <a:rPr lang="en-IN" sz="2200" dirty="0">
                <a:latin typeface="Liberation Mono"/>
              </a:rPr>
              <a:t>4. GROUP BY                                    (Arrange rows into groups/buckets)  </a:t>
            </a:r>
          </a:p>
          <a:p>
            <a:r>
              <a:rPr lang="en-IN" sz="2200" dirty="0">
                <a:latin typeface="Liberation Mono"/>
              </a:rPr>
              <a:t>               ▼        </a:t>
            </a:r>
          </a:p>
          <a:p>
            <a:r>
              <a:rPr lang="en-IN" sz="2200" dirty="0">
                <a:latin typeface="Liberation Mono"/>
              </a:rPr>
              <a:t>5. AGGREGATE FUNCTIONS          (Compute SUM,  AVG, COUNT, etc. for HAVING)                             </a:t>
            </a:r>
          </a:p>
          <a:p>
            <a:r>
              <a:rPr lang="en-IN" sz="2200" dirty="0">
                <a:latin typeface="Liberation Mono"/>
              </a:rPr>
              <a:t>               ▼           </a:t>
            </a:r>
          </a:p>
          <a:p>
            <a:r>
              <a:rPr lang="en-IN" sz="2200" dirty="0">
                <a:latin typeface="Liberation Mono"/>
              </a:rPr>
              <a:t>6. HAVING                                        (Filter groups based on aggregates)                            </a:t>
            </a:r>
          </a:p>
          <a:p>
            <a:r>
              <a:rPr lang="en-IN" sz="2200" dirty="0">
                <a:latin typeface="Liberation Mono"/>
              </a:rPr>
              <a:t>               ▼        </a:t>
            </a:r>
          </a:p>
          <a:p>
            <a:r>
              <a:rPr lang="en-IN" sz="2200" dirty="0">
                <a:latin typeface="Liberation Mono"/>
              </a:rPr>
              <a:t>7. SELECT &amp; WINDOW FUNCTIONS ◄─ These are computed together  (Compute expressions, </a:t>
            </a:r>
          </a:p>
          <a:p>
            <a:r>
              <a:rPr lang="en-IN" sz="2200" dirty="0">
                <a:latin typeface="Liberation Mono"/>
              </a:rPr>
              <a:t>                                                                                                              aliases, and OVER() clauses)                </a:t>
            </a:r>
          </a:p>
          <a:p>
            <a:r>
              <a:rPr lang="en-IN" sz="2200" dirty="0">
                <a:latin typeface="Liberation Mono"/>
              </a:rPr>
              <a:t>               ▼        </a:t>
            </a:r>
          </a:p>
          <a:p>
            <a:r>
              <a:rPr lang="en-IN" sz="2200" dirty="0">
                <a:latin typeface="Liberation Mono"/>
              </a:rPr>
              <a:t>8. DISTINCT                                      (Remove duplicate rows from the </a:t>
            </a:r>
            <a:r>
              <a:rPr lang="en-IN" sz="2200" dirty="0" err="1">
                <a:latin typeface="Liberation Mono"/>
              </a:rPr>
              <a:t>resultset</a:t>
            </a:r>
            <a:r>
              <a:rPr lang="en-IN" sz="2200" dirty="0">
                <a:latin typeface="Liberation Mono"/>
              </a:rPr>
              <a:t>)                             </a:t>
            </a:r>
          </a:p>
          <a:p>
            <a:r>
              <a:rPr lang="en-IN" sz="2200" dirty="0">
                <a:latin typeface="Liberation Mono"/>
              </a:rPr>
              <a:t>               ▼        </a:t>
            </a:r>
          </a:p>
          <a:p>
            <a:r>
              <a:rPr lang="en-IN" sz="2200" dirty="0">
                <a:latin typeface="Liberation Mono"/>
              </a:rPr>
              <a:t>9. ORDER BY                                    (Sort the final dataset)                           </a:t>
            </a:r>
          </a:p>
          <a:p>
            <a:r>
              <a:rPr lang="en-IN" sz="2200" dirty="0">
                <a:latin typeface="Liberation Mono"/>
              </a:rPr>
              <a:t>               ▼        </a:t>
            </a:r>
          </a:p>
          <a:p>
            <a:r>
              <a:rPr lang="en-IN" sz="2200" dirty="0">
                <a:latin typeface="Liberation Mono"/>
              </a:rPr>
              <a:t>10. LIMIT / OFFSET                         (Truncate to desired number of rows)                              </a:t>
            </a:r>
          </a:p>
        </p:txBody>
      </p:sp>
      <p:sp>
        <p:nvSpPr>
          <p:cNvPr id="22" name="Title 1">
            <a:extLst>
              <a:ext uri="{FF2B5EF4-FFF2-40B4-BE49-F238E27FC236}">
                <a16:creationId xmlns:a16="http://schemas.microsoft.com/office/drawing/2014/main" id="{F84631DA-FB34-A22C-9EA9-1AC501AC970C}"/>
              </a:ext>
            </a:extLst>
          </p:cNvPr>
          <p:cNvSpPr txBox="1">
            <a:spLocks/>
          </p:cNvSpPr>
          <p:nvPr/>
        </p:nvSpPr>
        <p:spPr>
          <a:xfrm>
            <a:off x="9167664" y="50687"/>
            <a:ext cx="3024336" cy="914400"/>
          </a:xfrm>
          <a:prstGeom prst="rect">
            <a:avLst/>
          </a:prstGeom>
        </p:spPr>
        <p:txBody>
          <a:bodyPr>
            <a:normAutofit fontScale="62500" lnSpcReduction="200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848729728"/>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B1F51FA5-2A58-475D-AF47-AFC57CC41F77}"/>
              </a:ext>
            </a:extLst>
          </p:cNvPr>
          <p:cNvSpPr txBox="1">
            <a:spLocks/>
          </p:cNvSpPr>
          <p:nvPr/>
        </p:nvSpPr>
        <p:spPr>
          <a:xfrm>
            <a:off x="335360" y="188640"/>
            <a:ext cx="7776864" cy="914400"/>
          </a:xfrm>
          <a:prstGeom prst="rect">
            <a:avLst/>
          </a:prstGeom>
        </p:spPr>
        <p:txBody>
          <a:bodyPr>
            <a:normAutofit fontScale="925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(is checks for)</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2A6EC85F-DA43-45D1-ACA7-B3DC111BD52C}"/>
              </a:ext>
            </a:extLst>
          </p:cNvPr>
          <p:cNvSpPr txBox="1"/>
          <p:nvPr/>
        </p:nvSpPr>
        <p:spPr>
          <a:xfrm>
            <a:off x="335360" y="1196752"/>
            <a:ext cx="11377264" cy="830997"/>
          </a:xfrm>
          <a:prstGeom prst="rect">
            <a:avLst/>
          </a:prstGeom>
          <a:noFill/>
        </p:spPr>
        <p:txBody>
          <a:bodyPr wrap="square">
            <a:spAutoFit/>
          </a:bodyPr>
          <a:lstStyle/>
          <a:p>
            <a:pPr algn="l"/>
            <a:r>
              <a:rPr lang="en-IN" sz="2000" b="1" i="0" dirty="0">
                <a:solidFill>
                  <a:srgbClr val="252525"/>
                </a:solidFill>
                <a:effectLst/>
                <a:latin typeface="Arial" panose="020B0604020202020204" pitchFamily="34" charset="0"/>
              </a:rPr>
              <a:t>Syntax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MySQL Database must check each SQL statement for syntactic validity.</a:t>
            </a:r>
            <a:endParaRPr lang="en-IN" b="0" i="0" dirty="0">
              <a:solidFill>
                <a:srgbClr val="252525"/>
              </a:solidFill>
              <a:effectLst/>
              <a:latin typeface="Arial" panose="020B0604020202020204" pitchFamily="34" charset="0"/>
            </a:endParaRPr>
          </a:p>
        </p:txBody>
      </p:sp>
      <p:sp>
        <p:nvSpPr>
          <p:cNvPr id="7" name="TextBox 6">
            <a:extLst>
              <a:ext uri="{FF2B5EF4-FFF2-40B4-BE49-F238E27FC236}">
                <a16:creationId xmlns:a16="http://schemas.microsoft.com/office/drawing/2014/main" id="{E95CAD2D-4A1D-42F2-B033-8626DBD26F1D}"/>
              </a:ext>
            </a:extLst>
          </p:cNvPr>
          <p:cNvSpPr txBox="1"/>
          <p:nvPr/>
        </p:nvSpPr>
        <p:spPr>
          <a:xfrm>
            <a:off x="335360" y="2252993"/>
            <a:ext cx="11377264" cy="1107996"/>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FORM</a:t>
            </a:r>
            <a:r>
              <a:rPr lang="en-IN" dirty="0">
                <a:latin typeface="Liberation Mono"/>
              </a:rPr>
              <a:t> emp;</a:t>
            </a:r>
          </a:p>
          <a:p>
            <a:endParaRPr lang="en-IN" sz="1200" dirty="0">
              <a:latin typeface="Liberation Mono"/>
            </a:endParaRPr>
          </a:p>
          <a:p>
            <a:r>
              <a:rPr lang="en-IN" dirty="0">
                <a:latin typeface="Liberation Mono"/>
              </a:rPr>
              <a:t>ERROR 1064 (42000): You have an error in your SQL syntax; check the manual that corresponds to your MySQL server version for the right syntax to use near 'FORM emp' at line 1</a:t>
            </a:r>
          </a:p>
        </p:txBody>
      </p:sp>
      <p:sp>
        <p:nvSpPr>
          <p:cNvPr id="8" name="TextBox 7">
            <a:extLst>
              <a:ext uri="{FF2B5EF4-FFF2-40B4-BE49-F238E27FC236}">
                <a16:creationId xmlns:a16="http://schemas.microsoft.com/office/drawing/2014/main" id="{B4C375B6-C5F1-49E4-8FB3-B33430B062E3}"/>
              </a:ext>
            </a:extLst>
          </p:cNvPr>
          <p:cNvSpPr txBox="1"/>
          <p:nvPr/>
        </p:nvSpPr>
        <p:spPr>
          <a:xfrm>
            <a:off x="335360" y="3933056"/>
            <a:ext cx="11377264" cy="1107996"/>
          </a:xfrm>
          <a:prstGeom prst="rect">
            <a:avLst/>
          </a:prstGeom>
          <a:noFill/>
        </p:spPr>
        <p:txBody>
          <a:bodyPr wrap="square">
            <a:spAutoFit/>
          </a:bodyPr>
          <a:lstStyle/>
          <a:p>
            <a:r>
              <a:rPr lang="en-IN" sz="2000" b="1" dirty="0">
                <a:solidFill>
                  <a:srgbClr val="252525"/>
                </a:solidFill>
                <a:latin typeface="Arial" panose="020B0604020202020204" pitchFamily="34" charset="0"/>
              </a:rPr>
              <a:t>Semantic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A semantic check determines whether a statement is meaningful, for example, whether the objects and columns in the statement exist.</a:t>
            </a:r>
            <a:endParaRPr lang="en-IN" b="0" i="0" dirty="0">
              <a:solidFill>
                <a:srgbClr val="252525"/>
              </a:solidFill>
              <a:effectLst/>
              <a:latin typeface="Arial" panose="020B0604020202020204" pitchFamily="34" charset="0"/>
            </a:endParaRPr>
          </a:p>
        </p:txBody>
      </p:sp>
      <p:sp>
        <p:nvSpPr>
          <p:cNvPr id="9" name="TextBox 8">
            <a:extLst>
              <a:ext uri="{FF2B5EF4-FFF2-40B4-BE49-F238E27FC236}">
                <a16:creationId xmlns:a16="http://schemas.microsoft.com/office/drawing/2014/main" id="{29D2D4A6-A4F9-4025-B47E-0C18CC6742CA}"/>
              </a:ext>
            </a:extLst>
          </p:cNvPr>
          <p:cNvSpPr txBox="1"/>
          <p:nvPr/>
        </p:nvSpPr>
        <p:spPr>
          <a:xfrm>
            <a:off x="335360" y="5157120"/>
            <a:ext cx="11377264" cy="830997"/>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nonexistent_table;</a:t>
            </a:r>
          </a:p>
          <a:p>
            <a:endParaRPr lang="en-IN" sz="1200" dirty="0">
              <a:latin typeface="Liberation Mono"/>
            </a:endParaRPr>
          </a:p>
          <a:p>
            <a:r>
              <a:rPr lang="en-US" dirty="0">
                <a:latin typeface="Liberation Mono"/>
              </a:rPr>
              <a:t>ERROR 1146 (42S02): Table 'db1.nonexistent_table' doesn't exist</a:t>
            </a:r>
            <a:endParaRPr lang="en-IN" dirty="0">
              <a:latin typeface="Liberation Mono"/>
            </a:endParaRPr>
          </a:p>
        </p:txBody>
      </p:sp>
    </p:spTree>
    <p:extLst>
      <p:ext uri="{BB962C8B-B14F-4D97-AF65-F5344CB8AC3E}">
        <p14:creationId xmlns:p14="http://schemas.microsoft.com/office/powerpoint/2010/main" val="1355149601"/>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UUID()/ UUID_SHORT()</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1991544" y="3124200"/>
            <a:ext cx="7992888" cy="407484"/>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A UUID is a Universal Unique Identifier and 128-bit long value.</a:t>
            </a:r>
          </a:p>
        </p:txBody>
      </p:sp>
      <p:sp>
        <p:nvSpPr>
          <p:cNvPr id="6" name="Rectangle 5"/>
          <p:cNvSpPr/>
          <p:nvPr/>
        </p:nvSpPr>
        <p:spPr>
          <a:xfrm>
            <a:off x="303539" y="4038163"/>
            <a:ext cx="11737304"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US" b="0" i="0" dirty="0">
                <a:solidFill>
                  <a:srgbClr val="000000"/>
                </a:solidFill>
                <a:effectLst/>
                <a:latin typeface="Arial" panose="020B0604020202020204" pitchFamily="34" charset="0"/>
                <a:cs typeface="Arial" panose="020B0604020202020204" pitchFamily="34" charset="0"/>
              </a:rPr>
              <a:t>UUID values in MySQL are </a:t>
            </a:r>
            <a:r>
              <a:rPr lang="en-US" b="1" i="0" dirty="0">
                <a:solidFill>
                  <a:srgbClr val="000000"/>
                </a:solidFill>
                <a:effectLst/>
                <a:latin typeface="Arial" panose="020B0604020202020204" pitchFamily="34" charset="0"/>
                <a:cs typeface="Arial" panose="020B0604020202020204" pitchFamily="34" charset="0"/>
              </a:rPr>
              <a:t>unique</a:t>
            </a:r>
            <a:r>
              <a:rPr lang="en-US" b="0" i="0" dirty="0">
                <a:solidFill>
                  <a:srgbClr val="000000"/>
                </a:solidFill>
                <a:effectLst/>
                <a:latin typeface="Arial" panose="020B0604020202020204" pitchFamily="34" charset="0"/>
                <a:cs typeface="Arial" panose="020B0604020202020204" pitchFamily="34" charset="0"/>
              </a:rPr>
              <a:t> across tables, databases, and servers.</a:t>
            </a:r>
            <a:r>
              <a:rPr lang="en-IN" dirty="0">
                <a:latin typeface="Arial" panose="020B0604020202020204" pitchFamily="34" charset="0"/>
                <a:ea typeface="Calibri" panose="020F0502020204030204" pitchFamily="34" charset="0"/>
                <a:cs typeface="Arial" panose="020B0604020202020204" pitchFamily="34" charset="0"/>
              </a:rPr>
              <a:t>.</a:t>
            </a:r>
          </a:p>
        </p:txBody>
      </p:sp>
      <p:sp>
        <p:nvSpPr>
          <p:cNvPr id="7" name="Rectangle 6"/>
          <p:cNvSpPr/>
          <p:nvPr/>
        </p:nvSpPr>
        <p:spPr>
          <a:xfrm>
            <a:off x="314853" y="5589240"/>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UUID()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solidFill>
                  <a:srgbClr val="000000"/>
                </a:solidFill>
                <a:latin typeface="Liberation Mono"/>
                <a:cs typeface="Arial" panose="020B0604020202020204" pitchFamily="34" charset="0"/>
              </a:rPr>
              <a:t>R1, UUID_SHORT()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R2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956334792"/>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4925A7-A4CC-E6E3-E9F0-C3937CFD6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270128-00DE-CEA4-CEF2-BCB5EDC6DF0A}"/>
              </a:ext>
            </a:extLst>
          </p:cNvPr>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found_rows()</a:t>
            </a:r>
          </a:p>
        </p:txBody>
      </p:sp>
      <p:sp>
        <p:nvSpPr>
          <p:cNvPr id="3" name="Rectangle 2">
            <a:extLst>
              <a:ext uri="{FF2B5EF4-FFF2-40B4-BE49-F238E27FC236}">
                <a16:creationId xmlns:a16="http://schemas.microsoft.com/office/drawing/2014/main" id="{F395CA48-A81F-C2FF-8438-D990F86E6FF8}"/>
              </a:ext>
            </a:extLst>
          </p:cNvPr>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TODO</a:t>
            </a:r>
          </a:p>
        </p:txBody>
      </p:sp>
      <p:sp>
        <p:nvSpPr>
          <p:cNvPr id="6" name="Rectangle 5">
            <a:extLst>
              <a:ext uri="{FF2B5EF4-FFF2-40B4-BE49-F238E27FC236}">
                <a16:creationId xmlns:a16="http://schemas.microsoft.com/office/drawing/2014/main" id="{CDD4CB2A-02DC-466F-1FED-F9C77E2C9A4E}"/>
              </a:ext>
            </a:extLst>
          </p:cNvPr>
          <p:cNvSpPr/>
          <p:nvPr/>
        </p:nvSpPr>
        <p:spPr>
          <a:xfrm>
            <a:off x="5303913" y="587738"/>
            <a:ext cx="4723785" cy="400110"/>
          </a:xfrm>
          <a:prstGeom prst="rect">
            <a:avLst/>
          </a:prstGeom>
          <a:solidFill>
            <a:schemeClr val="bg1"/>
          </a:solidFill>
        </p:spPr>
        <p:txBody>
          <a:bodyPr wrap="square">
            <a:spAutoFit/>
          </a:bodyPr>
          <a:lstStyle/>
          <a:p>
            <a:endParaRPr lang="en-IN" sz="2000" dirty="0"/>
          </a:p>
        </p:txBody>
      </p:sp>
      <p:sp>
        <p:nvSpPr>
          <p:cNvPr id="7" name="Rectangle 6">
            <a:extLst>
              <a:ext uri="{FF2B5EF4-FFF2-40B4-BE49-F238E27FC236}">
                <a16:creationId xmlns:a16="http://schemas.microsoft.com/office/drawing/2014/main" id="{15635179-D078-D39A-1A80-8243D50648F4}"/>
              </a:ext>
            </a:extLst>
          </p:cNvPr>
          <p:cNvSpPr/>
          <p:nvPr/>
        </p:nvSpPr>
        <p:spPr>
          <a:xfrm>
            <a:off x="369273" y="5229201"/>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FOUND_ROWS()</a:t>
            </a:r>
            <a:r>
              <a:rPr lang="en-US" dirty="0">
                <a:latin typeface="Arial" panose="020B0604020202020204" pitchFamily="34" charset="0"/>
                <a:cs typeface="Arial" panose="020B0604020202020204" pitchFamily="34" charset="0"/>
              </a:rPr>
              <a:t> only works for the immediately previous SELECT query.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Session-Specific</a:t>
            </a:r>
          </a:p>
        </p:txBody>
      </p:sp>
      <p:cxnSp>
        <p:nvCxnSpPr>
          <p:cNvPr id="8" name="Straight Connector 7">
            <a:extLst>
              <a:ext uri="{FF2B5EF4-FFF2-40B4-BE49-F238E27FC236}">
                <a16:creationId xmlns:a16="http://schemas.microsoft.com/office/drawing/2014/main" id="{0FCD5E5B-569A-8942-9C0B-FAE27C13920C}"/>
              </a:ext>
            </a:extLst>
          </p:cNvPr>
          <p:cNvCxnSpPr/>
          <p:nvPr/>
        </p:nvCxnSpPr>
        <p:spPr>
          <a:xfrm>
            <a:off x="479376" y="5157192"/>
            <a:ext cx="1108923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4A520DB-2FB5-19D1-61A4-2761ED021E52}"/>
              </a:ext>
            </a:extLst>
          </p:cNvPr>
          <p:cNvCxnSpPr/>
          <p:nvPr/>
        </p:nvCxnSpPr>
        <p:spPr>
          <a:xfrm>
            <a:off x="465165" y="6525344"/>
            <a:ext cx="11089232"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1279122"/>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limit offset"/>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1344" y="149954"/>
            <a:ext cx="4012149" cy="2702982"/>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 limiting clause</a:t>
            </a:r>
          </a:p>
        </p:txBody>
      </p:sp>
      <p:sp>
        <p:nvSpPr>
          <p:cNvPr id="3" name="Rectangle 2"/>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LIMIT is applied after HAVING</a:t>
            </a:r>
          </a:p>
        </p:txBody>
      </p:sp>
      <p:sp>
        <p:nvSpPr>
          <p:cNvPr id="4" name="Rectangle 3"/>
          <p:cNvSpPr/>
          <p:nvPr/>
        </p:nvSpPr>
        <p:spPr>
          <a:xfrm>
            <a:off x="337545" y="3717032"/>
            <a:ext cx="11453454" cy="169277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enables you to pull a section of rows from the middle of a result set. Specify two values: The number of rows to skip at the beginning of the result set, and the number of rows to return.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does not accept user-defined session variables  directly in LIMIT cause inside a </a:t>
            </a:r>
            <a:r>
              <a:rPr lang="en-US" sz="1900" b="1" dirty="0">
                <a:latin typeface="Arial" panose="020B0604020202020204" pitchFamily="34" charset="0"/>
                <a:cs typeface="Arial" panose="020B0604020202020204" pitchFamily="34" charset="0"/>
              </a:rPr>
              <a:t>stored procedure</a:t>
            </a:r>
            <a:r>
              <a:rPr lang="en-US" dirty="0">
                <a:latin typeface="Arial" panose="020B0604020202020204" pitchFamily="34" charset="0"/>
                <a:cs typeface="Arial" panose="020B0604020202020204" pitchFamily="34" charset="0"/>
              </a:rPr>
              <a:t>.</a:t>
            </a:r>
          </a:p>
          <a:p>
            <a:r>
              <a:rPr lang="en-US" dirty="0">
                <a:latin typeface="Arial" panose="020B0604020202020204" pitchFamily="34" charset="0"/>
                <a:cs typeface="Arial" panose="020B0604020202020204" pitchFamily="34" charset="0"/>
              </a:rPr>
              <a:t>     </a:t>
            </a:r>
            <a:r>
              <a:rPr lang="en-US" dirty="0">
                <a:solidFill>
                  <a:srgbClr val="FF0000"/>
                </a:solidFill>
                <a:latin typeface="Arial" panose="020B0604020202020204" pitchFamily="34" charset="0"/>
                <a:cs typeface="Arial" panose="020B0604020202020204" pitchFamily="34" charset="0"/>
              </a:rPr>
              <a:t>e.g.</a:t>
            </a:r>
            <a:r>
              <a:rPr lang="en-US"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ccatStudents </a:t>
            </a:r>
            <a:r>
              <a:rPr lang="en-US" dirty="0">
                <a:solidFill>
                  <a:srgbClr val="0077AA"/>
                </a:solidFill>
                <a:latin typeface="Liberation Mono"/>
                <a:cs typeface="Arial" panose="020B0604020202020204" pitchFamily="34" charset="0"/>
              </a:rPr>
              <a:t>LIMIT</a:t>
            </a:r>
            <a:r>
              <a:rPr lang="en-US" dirty="0">
                <a:latin typeface="Liberation Mono"/>
              </a:rPr>
              <a:t> @x, @y;     </a:t>
            </a:r>
            <a:r>
              <a:rPr lang="en-US" sz="1900" dirty="0">
                <a:solidFill>
                  <a:srgbClr val="00B050"/>
                </a:solidFill>
              </a:rPr>
              <a:t>// This statement is invalid.</a:t>
            </a:r>
            <a:endParaRPr lang="en-IN" sz="1900" dirty="0">
              <a:solidFill>
                <a:srgbClr val="00B05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E454597-A651-42AF-8678-AE908B19845B}"/>
              </a:ext>
            </a:extLst>
          </p:cNvPr>
          <p:cNvSpPr/>
          <p:nvPr/>
        </p:nvSpPr>
        <p:spPr>
          <a:xfrm>
            <a:off x="369273" y="5674603"/>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value are </a:t>
            </a:r>
            <a:r>
              <a:rPr lang="en-IN" dirty="0">
                <a:solidFill>
                  <a:srgbClr val="A40052"/>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to be given within </a:t>
            </a:r>
            <a:r>
              <a:rPr lang="en-IN" b="1" dirty="0">
                <a:latin typeface="Arial" panose="020B0604020202020204" pitchFamily="34" charset="0"/>
                <a:cs typeface="Arial" panose="020B0604020202020204" pitchFamily="34" charset="0"/>
              </a:rPr>
              <a:t>( </a:t>
            </a:r>
            <a:r>
              <a:rPr lang="en-IN" b="1" dirty="0">
                <a:solidFill>
                  <a:schemeClr val="bg1">
                    <a:lumMod val="50000"/>
                  </a:schemeClr>
                </a:solidFill>
                <a:latin typeface="Arial" panose="020B0604020202020204" pitchFamily="34" charset="0"/>
                <a:cs typeface="Arial" panose="020B0604020202020204" pitchFamily="34" charset="0"/>
              </a:rPr>
              <a:t>. . . </a:t>
            </a:r>
            <a:r>
              <a:rPr lang="en-IN"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takes one or two numeric arguments, which must both be </a:t>
            </a:r>
            <a:r>
              <a:rPr lang="en-IN" b="1" dirty="0">
                <a:latin typeface="Arial" panose="020B0604020202020204" pitchFamily="34" charset="0"/>
                <a:cs typeface="Arial" panose="020B0604020202020204" pitchFamily="34" charset="0"/>
              </a:rPr>
              <a:t>non-negative</a:t>
            </a:r>
            <a:r>
              <a:rPr lang="en-IN" dirty="0">
                <a:latin typeface="Arial" panose="020B0604020202020204" pitchFamily="34" charset="0"/>
                <a:cs typeface="Arial" panose="020B0604020202020204" pitchFamily="34" charset="0"/>
              </a:rPr>
              <a:t> integer value.</a:t>
            </a:r>
          </a:p>
        </p:txBody>
      </p:sp>
      <p:cxnSp>
        <p:nvCxnSpPr>
          <p:cNvPr id="8" name="Straight Connector 7">
            <a:extLst>
              <a:ext uri="{FF2B5EF4-FFF2-40B4-BE49-F238E27FC236}">
                <a16:creationId xmlns:a16="http://schemas.microsoft.com/office/drawing/2014/main" id="{8DBE5028-E388-48D7-B316-E241111DD318}"/>
              </a:ext>
            </a:extLst>
          </p:cNvPr>
          <p:cNvCxnSpPr>
            <a:cxnSpLocks/>
          </p:cNvCxnSpPr>
          <p:nvPr/>
        </p:nvCxnSpPr>
        <p:spPr>
          <a:xfrm>
            <a:off x="337545" y="5661248"/>
            <a:ext cx="11663111"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782758"/>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grpSp>
        <p:nvGrpSpPr>
          <p:cNvPr id="29" name="Group 28">
            <a:extLst>
              <a:ext uri="{FF2B5EF4-FFF2-40B4-BE49-F238E27FC236}">
                <a16:creationId xmlns:a16="http://schemas.microsoft.com/office/drawing/2014/main" id="{1ACC35D7-40C6-4A53-96A0-52010D8586FB}"/>
              </a:ext>
            </a:extLst>
          </p:cNvPr>
          <p:cNvGrpSpPr/>
          <p:nvPr/>
        </p:nvGrpSpPr>
        <p:grpSpPr>
          <a:xfrm>
            <a:off x="335360" y="2852936"/>
            <a:ext cx="10539515" cy="1502780"/>
            <a:chOff x="239813" y="3170687"/>
            <a:chExt cx="10539515" cy="1502780"/>
          </a:xfrm>
        </p:grpSpPr>
        <p:grpSp>
          <p:nvGrpSpPr>
            <p:cNvPr id="8" name="Group 7">
              <a:extLst>
                <a:ext uri="{FF2B5EF4-FFF2-40B4-BE49-F238E27FC236}">
                  <a16:creationId xmlns:a16="http://schemas.microsoft.com/office/drawing/2014/main" id="{39DA75AA-2F6B-431C-8F75-64E7016AAE18}"/>
                </a:ext>
              </a:extLst>
            </p:cNvPr>
            <p:cNvGrpSpPr/>
            <p:nvPr/>
          </p:nvGrpSpPr>
          <p:grpSpPr>
            <a:xfrm>
              <a:off x="239813" y="3170687"/>
              <a:ext cx="10539515" cy="1502780"/>
              <a:chOff x="695400" y="1745011"/>
              <a:chExt cx="10539515" cy="1502780"/>
            </a:xfrm>
          </p:grpSpPr>
          <p:grpSp>
            <p:nvGrpSpPr>
              <p:cNvPr id="9" name="Group 8">
                <a:extLst>
                  <a:ext uri="{FF2B5EF4-FFF2-40B4-BE49-F238E27FC236}">
                    <a16:creationId xmlns:a16="http://schemas.microsoft.com/office/drawing/2014/main" id="{C317C915-D630-4828-B7F2-9411CA4B8242}"/>
                  </a:ext>
                </a:extLst>
              </p:cNvPr>
              <p:cNvGrpSpPr/>
              <p:nvPr/>
            </p:nvGrpSpPr>
            <p:grpSpPr>
              <a:xfrm>
                <a:off x="695400" y="1835990"/>
                <a:ext cx="8952150" cy="1304978"/>
                <a:chOff x="267703" y="1600839"/>
                <a:chExt cx="8952150" cy="1304978"/>
              </a:xfrm>
            </p:grpSpPr>
            <p:sp>
              <p:nvSpPr>
                <p:cNvPr id="12" name="Rectangle 11">
                  <a:extLst>
                    <a:ext uri="{FF2B5EF4-FFF2-40B4-BE49-F238E27FC236}">
                      <a16:creationId xmlns:a16="http://schemas.microsoft.com/office/drawing/2014/main" id="{5899B278-2784-44D2-B917-66E90577F6A6}"/>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3" name="Group 12">
                  <a:extLst>
                    <a:ext uri="{FF2B5EF4-FFF2-40B4-BE49-F238E27FC236}">
                      <a16:creationId xmlns:a16="http://schemas.microsoft.com/office/drawing/2014/main" id="{BC3C2B26-46F9-481C-918D-9F4CB4492160}"/>
                    </a:ext>
                  </a:extLst>
                </p:cNvPr>
                <p:cNvGrpSpPr/>
                <p:nvPr/>
              </p:nvGrpSpPr>
              <p:grpSpPr>
                <a:xfrm>
                  <a:off x="1651832" y="1600839"/>
                  <a:ext cx="7568021" cy="1296144"/>
                  <a:chOff x="31591" y="1556792"/>
                  <a:chExt cx="7568021" cy="1296144"/>
                </a:xfrm>
              </p:grpSpPr>
              <p:grpSp>
                <p:nvGrpSpPr>
                  <p:cNvPr id="19" name="Group 18">
                    <a:extLst>
                      <a:ext uri="{FF2B5EF4-FFF2-40B4-BE49-F238E27FC236}">
                        <a16:creationId xmlns:a16="http://schemas.microsoft.com/office/drawing/2014/main" id="{B1E71D3C-152C-440D-9D03-2F15D977630A}"/>
                      </a:ext>
                    </a:extLst>
                  </p:cNvPr>
                  <p:cNvGrpSpPr/>
                  <p:nvPr/>
                </p:nvGrpSpPr>
                <p:grpSpPr>
                  <a:xfrm>
                    <a:off x="669977" y="1556792"/>
                    <a:ext cx="6238644" cy="1296144"/>
                    <a:chOff x="669977" y="1556792"/>
                    <a:chExt cx="6238644" cy="1296144"/>
                  </a:xfrm>
                </p:grpSpPr>
                <p:sp>
                  <p:nvSpPr>
                    <p:cNvPr id="23" name="Rectangle 22">
                      <a:extLst>
                        <a:ext uri="{FF2B5EF4-FFF2-40B4-BE49-F238E27FC236}">
                          <a16:creationId xmlns:a16="http://schemas.microsoft.com/office/drawing/2014/main" id="{C0DCD872-5BC8-473E-A122-31BA2122DD6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TextBox 23">
                      <a:extLst>
                        <a:ext uri="{FF2B5EF4-FFF2-40B4-BE49-F238E27FC236}">
                          <a16:creationId xmlns:a16="http://schemas.microsoft.com/office/drawing/2014/main" id="{636247C4-526A-4FB5-83F2-8FDED7F5A529}"/>
                        </a:ext>
                      </a:extLst>
                    </p:cNvPr>
                    <p:cNvSpPr txBox="1"/>
                    <p:nvPr/>
                  </p:nvSpPr>
                  <p:spPr>
                    <a:xfrm>
                      <a:off x="4218751" y="1620089"/>
                      <a:ext cx="2679854" cy="584775"/>
                    </a:xfrm>
                    <a:prstGeom prst="rect">
                      <a:avLst/>
                    </a:prstGeom>
                    <a:noFill/>
                  </p:spPr>
                  <p:txBody>
                    <a:bodyPr wrap="square">
                      <a:spAutoFit/>
                    </a:bodyPr>
                    <a:lstStyle/>
                    <a:p>
                      <a:pPr algn="ctr"/>
                      <a:r>
                        <a:rPr lang="en-IN" sz="3200" dirty="0">
                          <a:latin typeface="Liberation Mono"/>
                        </a:rPr>
                        <a:t>LIMIT</a:t>
                      </a:r>
                      <a:endParaRPr lang="en-IN" sz="3200" dirty="0"/>
                    </a:p>
                  </p:txBody>
                </p:sp>
                <p:sp>
                  <p:nvSpPr>
                    <p:cNvPr id="25" name="TextBox 24">
                      <a:extLst>
                        <a:ext uri="{FF2B5EF4-FFF2-40B4-BE49-F238E27FC236}">
                          <a16:creationId xmlns:a16="http://schemas.microsoft.com/office/drawing/2014/main" id="{55A4C0E6-D067-49DA-A1B4-31466F022F26}"/>
                        </a:ext>
                      </a:extLst>
                    </p:cNvPr>
                    <p:cNvSpPr txBox="1"/>
                    <p:nvPr/>
                  </p:nvSpPr>
                  <p:spPr>
                    <a:xfrm>
                      <a:off x="4228767" y="2115523"/>
                      <a:ext cx="2679854" cy="400110"/>
                    </a:xfrm>
                    <a:prstGeom prst="rect">
                      <a:avLst/>
                    </a:prstGeom>
                    <a:noFill/>
                  </p:spPr>
                  <p:txBody>
                    <a:bodyPr wrap="square">
                      <a:spAutoFit/>
                    </a:bodyPr>
                    <a:lstStyle/>
                    <a:p>
                      <a:pPr algn="ctr"/>
                      <a:r>
                        <a:rPr lang="en-US" sz="2000" dirty="0">
                          <a:latin typeface="Liberation Mono"/>
                          <a:cs typeface="Arial" panose="020B0604020202020204" pitchFamily="34" charset="0"/>
                        </a:rPr>
                        <a:t>1, 5  </a:t>
                      </a:r>
                      <a:r>
                        <a:rPr lang="en-US" sz="2000" dirty="0">
                          <a:solidFill>
                            <a:srgbClr val="FF0000"/>
                          </a:solidFill>
                          <a:latin typeface="Liberation Mono"/>
                          <a:cs typeface="Arial" panose="020B0604020202020204" pitchFamily="34" charset="0"/>
                        </a:rPr>
                        <a:t>|</a:t>
                      </a:r>
                      <a:r>
                        <a:rPr lang="en-US" sz="2000" dirty="0">
                          <a:latin typeface="Liberation Mono"/>
                          <a:cs typeface="Arial" panose="020B0604020202020204" pitchFamily="34" charset="0"/>
                        </a:rPr>
                        <a:t>  5 offset 1</a:t>
                      </a:r>
                      <a:endParaRPr lang="en-IN" sz="2000" dirty="0"/>
                    </a:p>
                  </p:txBody>
                </p:sp>
              </p:grpSp>
              <p:sp>
                <p:nvSpPr>
                  <p:cNvPr id="20" name="Arrow: Right 19">
                    <a:extLst>
                      <a:ext uri="{FF2B5EF4-FFF2-40B4-BE49-F238E27FC236}">
                        <a16:creationId xmlns:a16="http://schemas.microsoft.com/office/drawing/2014/main" id="{0D8BC3FE-8B19-4406-BD37-76FAA7B176F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9F345D42-60C2-4C95-8143-D6730C04F4AF}"/>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0D408C0F-B3CD-460B-8CC0-79C3950502DF}"/>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A6317E69-CDF7-468E-B41B-EDCBCA0790F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FE282DF8-EEAC-4BAF-B0E1-1C297B269B87}"/>
                    </a:ext>
                  </a:extLst>
                </p:cNvPr>
                <p:cNvSpPr txBox="1"/>
                <p:nvPr/>
              </p:nvSpPr>
              <p:spPr>
                <a:xfrm>
                  <a:off x="2294543" y="1672970"/>
                  <a:ext cx="2726768"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8" name="TextBox 17">
                  <a:extLst>
                    <a:ext uri="{FF2B5EF4-FFF2-40B4-BE49-F238E27FC236}">
                      <a16:creationId xmlns:a16="http://schemas.microsoft.com/office/drawing/2014/main" id="{1DA6E91C-A721-40B5-BBB4-133F0E99A834}"/>
                    </a:ext>
                  </a:extLst>
                </p:cNvPr>
                <p:cNvSpPr txBox="1"/>
                <p:nvPr/>
              </p:nvSpPr>
              <p:spPr>
                <a:xfrm>
                  <a:off x="2294543" y="2229960"/>
                  <a:ext cx="272676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rPr>
                    <a:t>*</a:t>
                  </a:r>
                </a:p>
              </p:txBody>
            </p:sp>
          </p:grpSp>
          <p:sp>
            <p:nvSpPr>
              <p:cNvPr id="10" name="Oval 9">
                <a:extLst>
                  <a:ext uri="{FF2B5EF4-FFF2-40B4-BE49-F238E27FC236}">
                    <a16:creationId xmlns:a16="http://schemas.microsoft.com/office/drawing/2014/main" id="{AD6DB181-14BA-4319-99C4-9FF591F3FEA3}"/>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A414E318-8EC3-4C78-84A0-7A08A486762C}"/>
                  </a:ext>
                </a:extLst>
              </p:cNvPr>
              <p:cNvSpPr txBox="1"/>
              <p:nvPr/>
            </p:nvSpPr>
            <p:spPr>
              <a:xfrm>
                <a:off x="9783815" y="2296346"/>
                <a:ext cx="145110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15C80561-BF84-4E2C-84BF-0588114D411E}"/>
                </a:ext>
              </a:extLst>
            </p:cNvPr>
            <p:cNvSpPr txBox="1"/>
            <p:nvPr/>
          </p:nvSpPr>
          <p:spPr>
            <a:xfrm>
              <a:off x="263352" y="319932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8" name="TextBox 27">
              <a:extLst>
                <a:ext uri="{FF2B5EF4-FFF2-40B4-BE49-F238E27FC236}">
                  <a16:creationId xmlns:a16="http://schemas.microsoft.com/office/drawing/2014/main" id="{D82D8B85-0F1D-42ED-8381-8E2647D73E2C}"/>
                </a:ext>
              </a:extLst>
            </p:cNvPr>
            <p:cNvSpPr txBox="1"/>
            <p:nvPr/>
          </p:nvSpPr>
          <p:spPr>
            <a:xfrm>
              <a:off x="258140" y="4020452"/>
              <a:ext cx="126276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6" name="Rectangle 25">
            <a:extLst>
              <a:ext uri="{FF2B5EF4-FFF2-40B4-BE49-F238E27FC236}">
                <a16:creationId xmlns:a16="http://schemas.microsoft.com/office/drawing/2014/main" id="{990EB631-F75D-48C4-B91D-ED162A7AD730}"/>
              </a:ext>
            </a:extLst>
          </p:cNvPr>
          <p:cNvSpPr/>
          <p:nvPr/>
        </p:nvSpPr>
        <p:spPr>
          <a:xfrm>
            <a:off x="194971" y="589412"/>
            <a:ext cx="11451963" cy="967957"/>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p>
          <a:p>
            <a:pPr>
              <a:lnSpc>
                <a:spcPct val="150000"/>
              </a:lnSpc>
            </a:pP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LIMIT </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offset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rgbClr val="0077AA"/>
                </a:solidFill>
                <a:latin typeface="Liberation Mono"/>
                <a:cs typeface="Arial" panose="020B0604020202020204" pitchFamily="34" charset="0"/>
              </a:rPr>
              <a:t>OFFSET </a:t>
            </a:r>
            <a:r>
              <a:rPr lang="en-US" sz="2000" i="1" dirty="0">
                <a:latin typeface="Liberation Mono"/>
                <a:cs typeface="Arial" panose="020B0604020202020204" pitchFamily="34" charset="0"/>
              </a:rPr>
              <a:t>offset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p>
        </p:txBody>
      </p:sp>
      <p:sp>
        <p:nvSpPr>
          <p:cNvPr id="27" name="Rectangle 26">
            <a:extLst>
              <a:ext uri="{FF2B5EF4-FFF2-40B4-BE49-F238E27FC236}">
                <a16:creationId xmlns:a16="http://schemas.microsoft.com/office/drawing/2014/main" id="{B302974A-7A9C-4297-8F28-4B7A8028BE2A}"/>
              </a:ext>
            </a:extLst>
          </p:cNvPr>
          <p:cNvSpPr/>
          <p:nvPr/>
        </p:nvSpPr>
        <p:spPr>
          <a:xfrm>
            <a:off x="244333" y="2276872"/>
            <a:ext cx="11353239" cy="464810"/>
          </a:xfrm>
          <a:prstGeom prst="rect">
            <a:avLst/>
          </a:prstGeom>
        </p:spPr>
        <p:txBody>
          <a:bodyPr wrap="square">
            <a:spAutoFit/>
          </a:bodyPr>
          <a:lstStyle/>
          <a:p>
            <a:pPr marL="342866" indent="-342866">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
        <p:nvSpPr>
          <p:cNvPr id="30" name="Rectangle 29">
            <a:extLst>
              <a:ext uri="{FF2B5EF4-FFF2-40B4-BE49-F238E27FC236}">
                <a16:creationId xmlns:a16="http://schemas.microsoft.com/office/drawing/2014/main" id="{77EE0EAB-7D9C-48F5-91B8-98F90DDBC760}"/>
              </a:ext>
            </a:extLst>
          </p:cNvPr>
          <p:cNvSpPr/>
          <p:nvPr/>
        </p:nvSpPr>
        <p:spPr>
          <a:xfrm>
            <a:off x="194972" y="1763524"/>
            <a:ext cx="11805684"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specify an offset using OFFSET from where SELECT will start returning records. By</a:t>
            </a:r>
            <a:r>
              <a:rPr lang="en-IN" b="1" i="1" dirty="0">
                <a:solidFill>
                  <a:srgbClr val="C74C49"/>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default</a:t>
            </a:r>
            <a:r>
              <a:rPr lang="en-IN" b="1" i="1" dirty="0">
                <a:solidFill>
                  <a:srgbClr val="C74C49"/>
                </a:solidFill>
                <a:latin typeface="Arial" panose="020B0604020202020204" pitchFamily="34" charset="0"/>
                <a:cs typeface="Arial" panose="020B0604020202020204" pitchFamily="34" charset="0"/>
              </a:rPr>
              <a:t> offset is zero.</a:t>
            </a:r>
            <a:endParaRPr lang="en-IN" sz="2000" b="1" i="1" dirty="0">
              <a:solidFill>
                <a:srgbClr val="C74C49"/>
              </a:solidFill>
              <a:latin typeface="Arial" panose="020B0604020202020204" pitchFamily="34" charset="0"/>
              <a:cs typeface="Arial" panose="020B0604020202020204" pitchFamily="34" charset="0"/>
            </a:endParaRPr>
          </a:p>
        </p:txBody>
      </p:sp>
      <p:sp>
        <p:nvSpPr>
          <p:cNvPr id="31" name="Rectangle 30">
            <a:extLst>
              <a:ext uri="{FF2B5EF4-FFF2-40B4-BE49-F238E27FC236}">
                <a16:creationId xmlns:a16="http://schemas.microsoft.com/office/drawing/2014/main" id="{E4215C4C-8B7B-488F-82C6-FD850A10A4B3}"/>
              </a:ext>
            </a:extLst>
          </p:cNvPr>
          <p:cNvSpPr/>
          <p:nvPr/>
        </p:nvSpPr>
        <p:spPr>
          <a:xfrm>
            <a:off x="221104" y="4509120"/>
            <a:ext cx="11354717" cy="212686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Tree>
    <p:extLst>
      <p:ext uri="{BB962C8B-B14F-4D97-AF65-F5344CB8AC3E}">
        <p14:creationId xmlns:p14="http://schemas.microsoft.com/office/powerpoint/2010/main" val="1019611881"/>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3140968"/>
            <a:ext cx="6610703" cy="880947"/>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2</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DEFAULT</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9" name="Rectangle 8"/>
          <p:cNvSpPr/>
          <p:nvPr/>
        </p:nvSpPr>
        <p:spPr>
          <a:xfrm>
            <a:off x="398623" y="1520802"/>
            <a:ext cx="8838049" cy="506292"/>
          </a:xfrm>
          <a:prstGeom prst="rect">
            <a:avLst/>
          </a:prstGeom>
        </p:spPr>
        <p:txBody>
          <a:bodyPr wrap="square">
            <a:spAutoFit/>
          </a:bodyPr>
          <a:lstStyle/>
          <a:p>
            <a:pPr>
              <a:lnSpc>
                <a:spcPct val="150000"/>
              </a:lnSpc>
            </a:pPr>
            <a:r>
              <a:rPr lang="en-IN" sz="2000" dirty="0">
                <a:solidFill>
                  <a:srgbClr val="0077AA"/>
                </a:solidFill>
                <a:latin typeface="Liberation Mono"/>
              </a:rPr>
              <a:t>SQL_SELECT_LIMIT = </a:t>
            </a:r>
            <a:r>
              <a:rPr lang="en-IN" sz="2000" dirty="0">
                <a:latin typeface="Liberation Mono"/>
              </a:rPr>
              <a:t>{</a:t>
            </a:r>
            <a:r>
              <a:rPr lang="en-IN" sz="2000" dirty="0">
                <a:solidFill>
                  <a:srgbClr val="0077AA"/>
                </a:solidFill>
                <a:latin typeface="Liberation Mono"/>
              </a:rPr>
              <a:t> </a:t>
            </a:r>
            <a:r>
              <a:rPr lang="en-IN" sz="2000" i="1" dirty="0">
                <a:latin typeface="Liberation Mono"/>
              </a:rPr>
              <a:t>value</a:t>
            </a: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a:t>
            </a:r>
            <a:r>
              <a:rPr lang="en-IN" sz="2000" i="1" dirty="0">
                <a:latin typeface="Liberation Mono"/>
              </a:rPr>
              <a:t>DEFAULT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0" name="Rectangle 9"/>
          <p:cNvSpPr/>
          <p:nvPr/>
        </p:nvSpPr>
        <p:spPr>
          <a:xfrm>
            <a:off x="407368" y="703183"/>
            <a:ext cx="1137726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variable is used to return the maximum number of rows from SELECT statements. Its default value is unlimited. But if you changed the limit then SELECT statement returns the rows equals to the value.</a:t>
            </a:r>
          </a:p>
        </p:txBody>
      </p:sp>
      <p:sp>
        <p:nvSpPr>
          <p:cNvPr id="11" name="Rectangle 10"/>
          <p:cNvSpPr/>
          <p:nvPr/>
        </p:nvSpPr>
        <p:spPr>
          <a:xfrm>
            <a:off x="407368" y="2538684"/>
            <a:ext cx="10145753" cy="369332"/>
          </a:xfrm>
          <a:prstGeom prst="rect">
            <a:avLst/>
          </a:prstGeom>
          <a:solidFill>
            <a:schemeClr val="bg1"/>
          </a:solidFill>
        </p:spPr>
        <p:txBody>
          <a:bodyPr wrap="square">
            <a:spAutoFit/>
          </a:bodyPr>
          <a:lstStyle/>
          <a:p>
            <a:r>
              <a:rPr lang="en-IN" dirty="0"/>
              <a:t>This variable does not apply to SELECT statement that executed in the stored procedures or functions.</a:t>
            </a:r>
          </a:p>
        </p:txBody>
      </p:sp>
      <p:sp>
        <p:nvSpPr>
          <p:cNvPr id="2" name="Rectangle 1"/>
          <p:cNvSpPr/>
          <p:nvPr/>
        </p:nvSpPr>
        <p:spPr>
          <a:xfrm>
            <a:off x="407368" y="4226235"/>
            <a:ext cx="3566433"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495563637"/>
      </p:ext>
    </p:extLst>
  </p:cSld>
  <p:clrMapOvr>
    <a:masterClrMapping/>
  </p:clrMapOvr>
  <p:transition/>
</p:sld>
</file>

<file path=ppt/slides/slide4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8D8EF-4E8B-070D-63A5-34A8A84F720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AAFF0115-6ED1-BD7E-F7EC-60E46E72CBDF}"/>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Storing Multiple Values in One Column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D54283-EB99-E64C-5DEB-8C5F4B2F5A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order by</a:t>
            </a:r>
          </a:p>
        </p:txBody>
      </p:sp>
      <p:sp>
        <p:nvSpPr>
          <p:cNvPr id="14" name="TextBox 13">
            <a:extLst>
              <a:ext uri="{FF2B5EF4-FFF2-40B4-BE49-F238E27FC236}">
                <a16:creationId xmlns:a16="http://schemas.microsoft.com/office/drawing/2014/main" id="{A95B4D7C-C298-418D-2324-2E15E7CE740B}"/>
              </a:ext>
            </a:extLst>
          </p:cNvPr>
          <p:cNvSpPr txBox="1"/>
          <p:nvPr/>
        </p:nvSpPr>
        <p:spPr>
          <a:xfrm>
            <a:off x="288344" y="1335539"/>
            <a:ext cx="5807656" cy="187743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products (</a:t>
            </a:r>
          </a:p>
          <a:p>
            <a:pPr marL="1079500" algn="just"/>
            <a:r>
              <a:rPr lang="en-US" dirty="0">
                <a:latin typeface="Liberation Mono"/>
                <a:cs typeface="Arial" panose="020B0604020202020204" pitchFamily="34" charset="0"/>
              </a:rPr>
              <a:t>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product_name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tags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   -- </a:t>
            </a:r>
            <a:r>
              <a:rPr lang="en-US" dirty="0">
                <a:solidFill>
                  <a:srgbClr val="669900"/>
                </a:solidFill>
                <a:latin typeface="Liberation Mono"/>
              </a:rPr>
              <a:t>'</a:t>
            </a:r>
            <a:r>
              <a:rPr lang="en-US" dirty="0" err="1">
                <a:solidFill>
                  <a:srgbClr val="669900"/>
                </a:solidFill>
                <a:latin typeface="Liberation Mono"/>
              </a:rPr>
              <a:t>Electronics,Home,Smart</a:t>
            </a:r>
            <a:r>
              <a:rPr lang="en-US" dirty="0">
                <a:solidFill>
                  <a:srgbClr val="669900"/>
                </a:solidFill>
                <a:latin typeface="Liberation Mono"/>
              </a:rPr>
              <a:t>'</a:t>
            </a:r>
          </a:p>
          <a:p>
            <a:pPr marL="895350" algn="just"/>
            <a:r>
              <a:rPr lang="en-US"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77E4EAF2-9B2B-5755-5381-E84B19D32215}"/>
              </a:ext>
            </a:extLst>
          </p:cNvPr>
          <p:cNvSpPr txBox="1"/>
          <p:nvPr/>
        </p:nvSpPr>
        <p:spPr>
          <a:xfrm>
            <a:off x="4727848" y="3212976"/>
            <a:ext cx="7175808" cy="338554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tags (</a:t>
            </a:r>
          </a:p>
          <a:p>
            <a:pPr marL="1079500"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 tag_name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895350" algn="just"/>
            <a:r>
              <a:rPr lang="en-US" dirty="0">
                <a:latin typeface="Liberation Mono"/>
                <a:cs typeface="Arial" panose="020B0604020202020204" pitchFamily="34" charset="0"/>
              </a:rPr>
              <a:t>  );</a:t>
            </a:r>
          </a:p>
          <a:p>
            <a:pPr marL="285750" indent="-285750" algn="just">
              <a:buFont typeface="Arial" panose="020B0604020202020204" pitchFamily="34" charset="0"/>
              <a:buChar char="•"/>
            </a:pPr>
            <a:endParaRPr lang="en-US" sz="800" dirty="0">
              <a:latin typeface="Liberation Mono"/>
              <a:cs typeface="Arial" panose="020B0604020202020204" pitchFamily="34" charset="0"/>
            </a:endParaRPr>
          </a:p>
          <a:p>
            <a:pPr algn="just"/>
            <a:r>
              <a:rPr lang="en-US" dirty="0">
                <a:solidFill>
                  <a:srgbClr val="0077AA"/>
                </a:solidFill>
                <a:latin typeface="Liberation Mono"/>
                <a:cs typeface="Arial" panose="020B0604020202020204" pitchFamily="34" charset="0"/>
              </a:rPr>
              <a:t>                   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product_tags (</a:t>
            </a:r>
          </a:p>
          <a:p>
            <a:pPr marL="534988" algn="just"/>
            <a:r>
              <a:rPr lang="en-US" dirty="0">
                <a:latin typeface="Liberation Mono"/>
                <a:cs typeface="Arial" panose="020B0604020202020204" pitchFamily="34" charset="0"/>
              </a:rPr>
              <a:t>            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(product_id)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products(product_id),</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(tag_id)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tags(tag_id)</a:t>
            </a:r>
          </a:p>
          <a:p>
            <a:pPr marL="534988" algn="just"/>
            <a:r>
              <a:rPr lang="en-US"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5CF9568E-F8E1-64FC-7050-05D73896AF49}"/>
              </a:ext>
            </a:extLst>
          </p:cNvPr>
          <p:cNvSpPr txBox="1"/>
          <p:nvPr/>
        </p:nvSpPr>
        <p:spPr>
          <a:xfrm>
            <a:off x="288344" y="4636874"/>
            <a:ext cx="4079464"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Hard to query, sort, or filter.</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Violates first normal form (1NF).</a:t>
            </a:r>
          </a:p>
        </p:txBody>
      </p:sp>
    </p:spTree>
    <p:extLst>
      <p:ext uri="{BB962C8B-B14F-4D97-AF65-F5344CB8AC3E}">
        <p14:creationId xmlns:p14="http://schemas.microsoft.com/office/powerpoint/2010/main" val="3339411595"/>
      </p:ext>
    </p:extLst>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order by clause</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303539" y="3124200"/>
            <a:ext cx="11584921" cy="736933"/>
          </a:xfrm>
          <a:prstGeom prst="rect">
            <a:avLst/>
          </a:prstGeom>
          <a:solidFill>
            <a:schemeClr val="bg1"/>
          </a:solidFill>
        </p:spPr>
        <p:txBody>
          <a:bodyPr wrap="square">
            <a:spAutoFit/>
          </a:bodyPr>
          <a:lstStyle/>
          <a:p>
            <a:pPr>
              <a:lnSpc>
                <a:spcPct val="107000"/>
              </a:lnSpc>
            </a:pPr>
            <a:r>
              <a:rPr lang="en-US" sz="2000" dirty="0">
                <a:latin typeface="Palatino Linotype" panose="02040502050505030304" pitchFamily="18" charset="0"/>
                <a:cs typeface="Segoe UI Light" panose="020B0502040204020203" pitchFamily="34" charset="0"/>
              </a:rPr>
              <a:t>SQL allows the user to order the tuples in the result of a query by the values of one or more of the attributes that appear in the query result, by using the ORDER BY clause.</a:t>
            </a:r>
            <a:endParaRPr lang="en-IN" sz="2000" dirty="0">
              <a:latin typeface="Palatino Linotype" panose="02040502050505030304" pitchFamily="18" charset="0"/>
              <a:cs typeface="Segoe UI Light" panose="020B0502040204020203" pitchFamily="34" charset="0"/>
            </a:endParaRPr>
          </a:p>
        </p:txBody>
      </p:sp>
      <p:sp>
        <p:nvSpPr>
          <p:cNvPr id="6" name="Rectangle 5"/>
          <p:cNvSpPr/>
          <p:nvPr/>
        </p:nvSpPr>
        <p:spPr>
          <a:xfrm>
            <a:off x="303539" y="4052098"/>
            <a:ext cx="11737304" cy="218521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ea typeface="Calibri" panose="020F0502020204030204" pitchFamily="34" charset="0"/>
                <a:cs typeface="Arial" panose="020B0604020202020204" pitchFamily="34" charset="0"/>
              </a:rPr>
              <a:t>The default sort order is ascending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ea typeface="Calibri" panose="020F0502020204030204" pitchFamily="34" charset="0"/>
                <a:cs typeface="Arial" panose="020B0604020202020204" pitchFamily="34" charset="0"/>
              </a:rPr>
              <a:t>, with smallest values first. To sort in descending (reverse) order, add the </a:t>
            </a:r>
            <a:r>
              <a:rPr lang="en-IN" b="1" dirty="0">
                <a:latin typeface="Arial" panose="020B0604020202020204" pitchFamily="34" charset="0"/>
                <a:ea typeface="Calibri" panose="020F0502020204030204" pitchFamily="34" charset="0"/>
                <a:cs typeface="Arial" panose="020B0604020202020204" pitchFamily="34" charset="0"/>
              </a:rPr>
              <a:t>DESC</a:t>
            </a:r>
            <a:r>
              <a:rPr lang="en-IN" dirty="0">
                <a:latin typeface="Arial" panose="020B0604020202020204" pitchFamily="34" charset="0"/>
                <a:ea typeface="Calibri" panose="020F0502020204030204" pitchFamily="34" charset="0"/>
                <a:cs typeface="Arial" panose="020B0604020202020204" pitchFamily="34" charset="0"/>
              </a:rPr>
              <a:t> keyword to the name of the column you are sorting by.</a:t>
            </a:r>
          </a:p>
          <a:p>
            <a:pPr marL="171450" indent="-17145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 sort on multiple columns, and you can sort different columns in different directions.</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the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DESC</a:t>
            </a:r>
            <a:r>
              <a:rPr lang="en-IN" dirty="0">
                <a:latin typeface="Arial" panose="020B0604020202020204" pitchFamily="34" charset="0"/>
                <a:cs typeface="Arial" panose="020B0604020202020204" pitchFamily="34" charset="0"/>
              </a:rPr>
              <a:t> modifier is not provided in the ORDER BY clause, the results will be sorted by expression in </a:t>
            </a:r>
            <a:r>
              <a:rPr lang="en-IN" b="1" dirty="0">
                <a:latin typeface="Arial" panose="020B0604020202020204" pitchFamily="34" charset="0"/>
                <a:cs typeface="Arial" panose="020B0604020202020204" pitchFamily="34" charset="0"/>
              </a:rPr>
              <a:t>ASC </a:t>
            </a:r>
            <a:r>
              <a:rPr lang="en-IN" dirty="0">
                <a:latin typeface="Arial" panose="020B0604020202020204" pitchFamily="34" charset="0"/>
                <a:cs typeface="Arial" panose="020B0604020202020204" pitchFamily="34" charset="0"/>
              </a:rPr>
              <a:t>(ascending) order. This is equivalent to ORDER BY expression ASC.</a:t>
            </a:r>
          </a:p>
        </p:txBody>
      </p:sp>
      <p:sp>
        <p:nvSpPr>
          <p:cNvPr id="7" name="Rectangle 6"/>
          <p:cNvSpPr/>
          <p:nvPr/>
        </p:nvSpPr>
        <p:spPr>
          <a:xfrm>
            <a:off x="191345" y="1434157"/>
            <a:ext cx="8838049"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p:txBody>
      </p:sp>
      <p:sp>
        <p:nvSpPr>
          <p:cNvPr id="8" name="Rectangle 7"/>
          <p:cNvSpPr/>
          <p:nvPr/>
        </p:nvSpPr>
        <p:spPr>
          <a:xfrm>
            <a:off x="191345" y="229116"/>
            <a:ext cx="11737304" cy="923330"/>
          </a:xfrm>
          <a:prstGeom prst="rect">
            <a:avLst/>
          </a:prstGeom>
        </p:spPr>
        <p:txBody>
          <a:bodyPr wrap="square">
            <a:spAutoFit/>
          </a:bodyPr>
          <a:lstStyle/>
          <a:p>
            <a:pPr algn="just"/>
            <a:r>
              <a:rPr lang="en-IN" dirty="0">
                <a:latin typeface="Palatino Linotype" panose="02040502050505030304" pitchFamily="18" charset="0"/>
                <a:cs typeface="Segoe UI Light" panose="020B0502040204020203" pitchFamily="34" charset="0"/>
              </a:rPr>
              <a:t>Nulls by default occur at the top, but you can use </a:t>
            </a:r>
            <a:r>
              <a:rPr lang="en-IN" i="1" dirty="0">
                <a:latin typeface="Palatino Linotype" panose="02040502050505030304" pitchFamily="18" charset="0"/>
                <a:cs typeface="Segoe UI Light" panose="020B0502040204020203" pitchFamily="34" charset="0"/>
              </a:rPr>
              <a:t>IsNull</a:t>
            </a:r>
            <a:r>
              <a:rPr lang="en-IN" dirty="0">
                <a:latin typeface="Palatino Linotype" panose="02040502050505030304" pitchFamily="18" charset="0"/>
                <a:cs typeface="Segoe UI Light" panose="020B0502040204020203" pitchFamily="34" charset="0"/>
              </a:rPr>
              <a:t> to assign default values, that will put it in the position you require. </a:t>
            </a:r>
            <a:r>
              <a:rPr lang="en-IN" dirty="0">
                <a:latin typeface="Palatino Linotype" panose="02040502050505030304" pitchFamily="18" charset="0"/>
              </a:rPr>
              <a:t>. The </a:t>
            </a:r>
            <a:r>
              <a:rPr lang="en-IN" i="1" dirty="0">
                <a:latin typeface="Palatino Linotype" panose="02040502050505030304" pitchFamily="18" charset="0"/>
              </a:rPr>
              <a:t>ISNULL()</a:t>
            </a:r>
            <a:r>
              <a:rPr lang="en-IN" dirty="0">
                <a:latin typeface="Palatino Linotype" panose="02040502050505030304" pitchFamily="18" charset="0"/>
              </a:rPr>
              <a:t> function tests whether an expression is NULL. If expression is a NULL value, the ISNULL() function returns 1. Otherwise, it returns 0.</a:t>
            </a:r>
          </a:p>
        </p:txBody>
      </p:sp>
    </p:spTree>
    <p:extLst>
      <p:ext uri="{BB962C8B-B14F-4D97-AF65-F5344CB8AC3E}">
        <p14:creationId xmlns:p14="http://schemas.microsoft.com/office/powerpoint/2010/main" val="1057184925"/>
      </p:ext>
    </p:extLst>
  </p:cSld>
  <p:clrMapOvr>
    <a:masterClrMapping/>
  </p:clrMapOvr>
</p:sld>
</file>

<file path=ppt/slides/slide4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19336" y="680593"/>
            <a:ext cx="11881320" cy="707886"/>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placed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 and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2" name="Rectangle 1"/>
          <p:cNvSpPr/>
          <p:nvPr/>
        </p:nvSpPr>
        <p:spPr>
          <a:xfrm>
            <a:off x="191347" y="2780928"/>
            <a:ext cx="10382989" cy="2353529"/>
          </a:xfrm>
          <a:prstGeom prst="rect">
            <a:avLst/>
          </a:prstGeom>
        </p:spPr>
        <p:txBody>
          <a:bodyPr wrap="square">
            <a:spAutoFit/>
          </a:bodyPr>
          <a:lstStyle/>
          <a:p>
            <a:pPr>
              <a:lnSpc>
                <a:spcPct val="150000"/>
              </a:lnSpc>
            </a:pPr>
            <a:r>
              <a:rPr lang="en-IN" sz="2000" b="1" i="1" dirty="0">
                <a:solidFill>
                  <a:schemeClr val="accent2">
                    <a:lumMod val="50000"/>
                  </a:schemeClr>
                </a:solidFill>
                <a:latin typeface="Palatino Linotype" panose="02040502050505030304" pitchFamily="18" charset="0"/>
                <a:cs typeface="Arial" panose="020B0604020202020204" pitchFamily="34" charset="0"/>
              </a:rPr>
              <a:t>"</a:t>
            </a:r>
            <a:r>
              <a:rPr lang="en-IN" sz="2000" dirty="0">
                <a:solidFill>
                  <a:schemeClr val="accent2">
                    <a:lumMod val="50000"/>
                  </a:schemeClr>
                </a:solidFill>
                <a:latin typeface="Palatino Linotype" panose="02040502050505030304" pitchFamily="18" charset="0"/>
                <a:cs typeface="Arial" panose="020B0604020202020204" pitchFamily="34" charset="0"/>
              </a:rPr>
              <a:t>Ordered by attributes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a:t>
            </a:r>
            <a:r>
              <a:rPr lang="en-IN" sz="2000" dirty="0">
                <a:solidFill>
                  <a:schemeClr val="accent2">
                    <a:lumMod val="50000"/>
                  </a:schemeClr>
                </a:solidFill>
                <a:latin typeface="Palatino Linotype" panose="02040502050505030304" pitchFamily="18" charset="0"/>
                <a:cs typeface="Arial" panose="020B0604020202020204" pitchFamily="34" charset="0"/>
              </a:rPr>
              <a:t> …"</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Tuples are sorted by specified attributes</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first</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 </a:t>
            </a:r>
            <a:r>
              <a:rPr lang="en-IN" sz="2000" dirty="0">
                <a:solidFill>
                  <a:schemeClr val="accent2">
                    <a:lumMod val="50000"/>
                  </a:schemeClr>
                </a:solidFill>
                <a:latin typeface="Palatino Linotype" panose="02040502050505030304" pitchFamily="18" charset="0"/>
                <a:cs typeface="Arial" panose="020B0604020202020204" pitchFamily="34" charset="0"/>
              </a:rPr>
              <a:t>then 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 </a:t>
            </a:r>
          </a:p>
        </p:txBody>
      </p:sp>
      <p:sp>
        <p:nvSpPr>
          <p:cNvPr id="7" name="TextBox 6">
            <a:extLst>
              <a:ext uri="{FF2B5EF4-FFF2-40B4-BE49-F238E27FC236}">
                <a16:creationId xmlns:a16="http://schemas.microsoft.com/office/drawing/2014/main" id="{A25F0689-230B-4190-A1EF-CC6F529C1D32}"/>
              </a:ext>
            </a:extLst>
          </p:cNvPr>
          <p:cNvSpPr txBox="1"/>
          <p:nvPr/>
        </p:nvSpPr>
        <p:spPr>
          <a:xfrm>
            <a:off x="191346" y="5588186"/>
            <a:ext cx="11449270"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i="1" dirty="0">
                <a:solidFill>
                  <a:srgbClr val="000000"/>
                </a:solidFill>
                <a:latin typeface="Liberation Mono"/>
              </a:rPr>
              <a:t>, key_part2;</a:t>
            </a:r>
            <a:r>
              <a:rPr lang="en-US" b="0" i="0" dirty="0">
                <a:solidFill>
                  <a:srgbClr val="999999"/>
                </a:solidFill>
                <a:effectLst/>
                <a:latin typeface="Liberation Mono"/>
              </a:rPr>
              <a:t>			</a:t>
            </a:r>
            <a:r>
              <a:rPr lang="en-US" b="0" i="0" dirty="0">
                <a:solidFill>
                  <a:srgbClr val="39AE0A"/>
                </a:solidFill>
                <a:effectLst/>
                <a:latin typeface="Liberation Mono"/>
              </a:rPr>
              <a:t>// optimizer does not use the index.</a:t>
            </a:r>
          </a:p>
          <a:p>
            <a:pPr marL="285750" indent="-285750">
              <a:buFont typeface="Arial" panose="020B0604020202020204" pitchFamily="34" charset="0"/>
              <a:buChar char="•"/>
            </a:pPr>
            <a:endParaRPr lang="en-US" sz="400" b="0" i="0" dirty="0">
              <a:solidFill>
                <a:srgbClr val="999999"/>
              </a:solidFill>
              <a:effectLst/>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999999"/>
                </a:solidFill>
                <a:effectLst/>
                <a:latin typeface="Liberation Mono"/>
              </a:rPr>
              <a:t>;	</a:t>
            </a:r>
            <a:r>
              <a:rPr lang="en-US" dirty="0">
                <a:solidFill>
                  <a:srgbClr val="39AE0A"/>
                </a:solidFill>
                <a:latin typeface="Liberation Mono"/>
              </a:rPr>
              <a:t>// optimizer uses the index.</a:t>
            </a:r>
            <a:endParaRPr lang="en-IN" dirty="0">
              <a:solidFill>
                <a:srgbClr val="39AE0A"/>
              </a:solidFill>
              <a:latin typeface="Liberation Mono"/>
            </a:endParaRPr>
          </a:p>
        </p:txBody>
      </p:sp>
      <p:sp>
        <p:nvSpPr>
          <p:cNvPr id="3" name="Rectangle 2">
            <a:extLst>
              <a:ext uri="{FF2B5EF4-FFF2-40B4-BE49-F238E27FC236}">
                <a16:creationId xmlns:a16="http://schemas.microsoft.com/office/drawing/2014/main" id="{A702CC8A-22AC-084D-69BD-C4C40E3CA0FB}"/>
              </a:ext>
            </a:extLst>
          </p:cNvPr>
          <p:cNvSpPr/>
          <p:nvPr/>
        </p:nvSpPr>
        <p:spPr>
          <a:xfrm>
            <a:off x="308824" y="1524939"/>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1630039859"/>
      </p:ext>
    </p:extLst>
  </p:cSld>
  <p:clrMapOvr>
    <a:masterClrMapping/>
  </p:clrMapOvr>
</p:sld>
</file>

<file path=ppt/slides/slide4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191347" y="671986"/>
            <a:ext cx="8838049" cy="369332"/>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The ORDER BY clause is used to sort the records in your result set.</a:t>
            </a:r>
          </a:p>
        </p:txBody>
      </p:sp>
      <p:grpSp>
        <p:nvGrpSpPr>
          <p:cNvPr id="3" name="Group 2">
            <a:extLst>
              <a:ext uri="{FF2B5EF4-FFF2-40B4-BE49-F238E27FC236}">
                <a16:creationId xmlns:a16="http://schemas.microsoft.com/office/drawing/2014/main" id="{92C88704-B6CC-417E-B786-9BD80CC0DB13}"/>
              </a:ext>
            </a:extLst>
          </p:cNvPr>
          <p:cNvGrpSpPr/>
          <p:nvPr/>
        </p:nvGrpSpPr>
        <p:grpSpPr>
          <a:xfrm>
            <a:off x="690630" y="2852936"/>
            <a:ext cx="10544285" cy="3220899"/>
            <a:chOff x="690630" y="3006340"/>
            <a:chExt cx="10544285" cy="3220899"/>
          </a:xfrm>
        </p:grpSpPr>
        <p:grpSp>
          <p:nvGrpSpPr>
            <p:cNvPr id="26" name="Group 25">
              <a:extLst>
                <a:ext uri="{FF2B5EF4-FFF2-40B4-BE49-F238E27FC236}">
                  <a16:creationId xmlns:a16="http://schemas.microsoft.com/office/drawing/2014/main" id="{06EE6528-7482-4030-9A7A-63F59567B0FB}"/>
                </a:ext>
              </a:extLst>
            </p:cNvPr>
            <p:cNvGrpSpPr/>
            <p:nvPr/>
          </p:nvGrpSpPr>
          <p:grpSpPr>
            <a:xfrm>
              <a:off x="690630" y="3006340"/>
              <a:ext cx="10544285" cy="1502780"/>
              <a:chOff x="690630" y="1745011"/>
              <a:chExt cx="10544285" cy="1502780"/>
            </a:xfrm>
          </p:grpSpPr>
          <p:grpSp>
            <p:nvGrpSpPr>
              <p:cNvPr id="27" name="Group 26">
                <a:extLst>
                  <a:ext uri="{FF2B5EF4-FFF2-40B4-BE49-F238E27FC236}">
                    <a16:creationId xmlns:a16="http://schemas.microsoft.com/office/drawing/2014/main" id="{5EE7456F-8033-4B42-A1C4-9F3BA35086FE}"/>
                  </a:ext>
                </a:extLst>
              </p:cNvPr>
              <p:cNvGrpSpPr/>
              <p:nvPr/>
            </p:nvGrpSpPr>
            <p:grpSpPr>
              <a:xfrm>
                <a:off x="690630" y="1783237"/>
                <a:ext cx="8956920" cy="1357731"/>
                <a:chOff x="262933" y="1548086"/>
                <a:chExt cx="8956920" cy="1357731"/>
              </a:xfrm>
            </p:grpSpPr>
            <p:sp>
              <p:nvSpPr>
                <p:cNvPr id="34" name="Rectangle 33">
                  <a:extLst>
                    <a:ext uri="{FF2B5EF4-FFF2-40B4-BE49-F238E27FC236}">
                      <a16:creationId xmlns:a16="http://schemas.microsoft.com/office/drawing/2014/main" id="{275A66DE-78B0-49D0-84F9-8D69B13E2AEB}"/>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0" name="Group 29">
                  <a:extLst>
                    <a:ext uri="{FF2B5EF4-FFF2-40B4-BE49-F238E27FC236}">
                      <a16:creationId xmlns:a16="http://schemas.microsoft.com/office/drawing/2014/main" id="{AE92CDCB-F0A8-454E-BE3D-0CC60132CBEC}"/>
                    </a:ext>
                  </a:extLst>
                </p:cNvPr>
                <p:cNvGrpSpPr/>
                <p:nvPr/>
              </p:nvGrpSpPr>
              <p:grpSpPr>
                <a:xfrm>
                  <a:off x="1651832" y="1600839"/>
                  <a:ext cx="7568021" cy="1296144"/>
                  <a:chOff x="31591" y="1556792"/>
                  <a:chExt cx="7568021" cy="1296144"/>
                </a:xfrm>
              </p:grpSpPr>
              <p:grpSp>
                <p:nvGrpSpPr>
                  <p:cNvPr id="37" name="Group 36">
                    <a:extLst>
                      <a:ext uri="{FF2B5EF4-FFF2-40B4-BE49-F238E27FC236}">
                        <a16:creationId xmlns:a16="http://schemas.microsoft.com/office/drawing/2014/main" id="{B5EF27D8-38AB-4C7B-8483-596A5CA13FCE}"/>
                      </a:ext>
                    </a:extLst>
                  </p:cNvPr>
                  <p:cNvGrpSpPr/>
                  <p:nvPr/>
                </p:nvGrpSpPr>
                <p:grpSpPr>
                  <a:xfrm>
                    <a:off x="669977" y="1556792"/>
                    <a:ext cx="6238644" cy="1296144"/>
                    <a:chOff x="669977" y="1556792"/>
                    <a:chExt cx="6238644" cy="1296144"/>
                  </a:xfrm>
                </p:grpSpPr>
                <p:sp>
                  <p:nvSpPr>
                    <p:cNvPr id="41" name="Rectangle 40">
                      <a:extLst>
                        <a:ext uri="{FF2B5EF4-FFF2-40B4-BE49-F238E27FC236}">
                          <a16:creationId xmlns:a16="http://schemas.microsoft.com/office/drawing/2014/main" id="{D0534904-4556-46AD-B4F8-0198B332B9E6}"/>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5728A7C2-1120-4BEA-9B48-6A8F0C1586F0}"/>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43" name="TextBox 42">
                      <a:extLst>
                        <a:ext uri="{FF2B5EF4-FFF2-40B4-BE49-F238E27FC236}">
                          <a16:creationId xmlns:a16="http://schemas.microsoft.com/office/drawing/2014/main" id="{E5A62CF6-BC1C-4896-B1F3-6F0D2F3E4910}"/>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ASC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DESC</a:t>
                      </a:r>
                      <a:endParaRPr lang="en-IN" sz="2000" b="1" dirty="0"/>
                    </a:p>
                  </p:txBody>
                </p:sp>
              </p:grpSp>
              <p:sp>
                <p:nvSpPr>
                  <p:cNvPr id="38" name="Arrow: Right 37">
                    <a:extLst>
                      <a:ext uri="{FF2B5EF4-FFF2-40B4-BE49-F238E27FC236}">
                        <a16:creationId xmlns:a16="http://schemas.microsoft.com/office/drawing/2014/main" id="{187EC880-DA91-45C4-A549-19E1D978A9A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CD02663C-8E8E-4A93-A9A0-A1815FE6F6A9}"/>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0" name="Arrow: Right 39">
                    <a:extLst>
                      <a:ext uri="{FF2B5EF4-FFF2-40B4-BE49-F238E27FC236}">
                        <a16:creationId xmlns:a16="http://schemas.microsoft.com/office/drawing/2014/main" id="{7976813C-D555-4DEA-97CF-DC5816AD7053}"/>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1" name="Flowchart: Magnetic Disk 30">
                  <a:extLst>
                    <a:ext uri="{FF2B5EF4-FFF2-40B4-BE49-F238E27FC236}">
                      <a16:creationId xmlns:a16="http://schemas.microsoft.com/office/drawing/2014/main" id="{C976275B-4FF6-4910-B0EA-4D2A43571D60}"/>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22F96624-88A2-4AFD-9F7F-AB3B305E6231}"/>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3" name="TextBox 32">
                  <a:extLst>
                    <a:ext uri="{FF2B5EF4-FFF2-40B4-BE49-F238E27FC236}">
                      <a16:creationId xmlns:a16="http://schemas.microsoft.com/office/drawing/2014/main" id="{1B4E845A-D718-4E64-A6A9-32934B7FDC96}"/>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35" name="TextBox 34">
                  <a:extLst>
                    <a:ext uri="{FF2B5EF4-FFF2-40B4-BE49-F238E27FC236}">
                      <a16:creationId xmlns:a16="http://schemas.microsoft.com/office/drawing/2014/main" id="{AF161048-B0FC-4873-81B0-F8BD5756F177}"/>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6" name="TextBox 35">
                  <a:extLst>
                    <a:ext uri="{FF2B5EF4-FFF2-40B4-BE49-F238E27FC236}">
                      <a16:creationId xmlns:a16="http://schemas.microsoft.com/office/drawing/2014/main" id="{7BADFEA8-2DA8-428B-AD1A-5E360833734C}"/>
                    </a:ext>
                  </a:extLst>
                </p:cNvPr>
                <p:cNvSpPr txBox="1"/>
                <p:nvPr/>
              </p:nvSpPr>
              <p:spPr>
                <a:xfrm>
                  <a:off x="2285448" y="2229960"/>
                  <a:ext cx="274107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8" name="Oval 27">
                <a:extLst>
                  <a:ext uri="{FF2B5EF4-FFF2-40B4-BE49-F238E27FC236}">
                    <a16:creationId xmlns:a16="http://schemas.microsoft.com/office/drawing/2014/main" id="{0C684803-5BFA-4C54-9F6B-2C5B9ADB3451}"/>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TextBox 28">
                <a:extLst>
                  <a:ext uri="{FF2B5EF4-FFF2-40B4-BE49-F238E27FC236}">
                    <a16:creationId xmlns:a16="http://schemas.microsoft.com/office/drawing/2014/main" id="{AAAEDAEB-52E7-439E-B7B7-D6EF8A0C2B30}"/>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nvGrpSpPr>
            <p:cNvPr id="23" name="Group 22">
              <a:extLst>
                <a:ext uri="{FF2B5EF4-FFF2-40B4-BE49-F238E27FC236}">
                  <a16:creationId xmlns:a16="http://schemas.microsoft.com/office/drawing/2014/main" id="{EDF05389-FC19-4A81-9ACB-B0C3744942B4}"/>
                </a:ext>
              </a:extLst>
            </p:cNvPr>
            <p:cNvGrpSpPr/>
            <p:nvPr/>
          </p:nvGrpSpPr>
          <p:grpSpPr>
            <a:xfrm>
              <a:off x="690630" y="4724459"/>
              <a:ext cx="10544285" cy="1502780"/>
              <a:chOff x="690630" y="1745011"/>
              <a:chExt cx="10544285" cy="1502780"/>
            </a:xfrm>
          </p:grpSpPr>
          <p:grpSp>
            <p:nvGrpSpPr>
              <p:cNvPr id="24" name="Group 23">
                <a:extLst>
                  <a:ext uri="{FF2B5EF4-FFF2-40B4-BE49-F238E27FC236}">
                    <a16:creationId xmlns:a16="http://schemas.microsoft.com/office/drawing/2014/main" id="{65A4CF2D-7982-4231-AC5D-A3E770CE651B}"/>
                  </a:ext>
                </a:extLst>
              </p:cNvPr>
              <p:cNvGrpSpPr/>
              <p:nvPr/>
            </p:nvGrpSpPr>
            <p:grpSpPr>
              <a:xfrm>
                <a:off x="690630" y="1783237"/>
                <a:ext cx="8956920" cy="1389760"/>
                <a:chOff x="262933" y="1548086"/>
                <a:chExt cx="8956920" cy="1389760"/>
              </a:xfrm>
            </p:grpSpPr>
            <p:sp>
              <p:nvSpPr>
                <p:cNvPr id="45" name="Rectangle 44">
                  <a:extLst>
                    <a:ext uri="{FF2B5EF4-FFF2-40B4-BE49-F238E27FC236}">
                      <a16:creationId xmlns:a16="http://schemas.microsoft.com/office/drawing/2014/main" id="{140B04E5-2F0D-432B-91BE-5FDC6341F0C9}"/>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6" name="Group 45">
                  <a:extLst>
                    <a:ext uri="{FF2B5EF4-FFF2-40B4-BE49-F238E27FC236}">
                      <a16:creationId xmlns:a16="http://schemas.microsoft.com/office/drawing/2014/main" id="{8FF88CB6-2AC4-44D0-8507-1FAF7F73C791}"/>
                    </a:ext>
                  </a:extLst>
                </p:cNvPr>
                <p:cNvGrpSpPr/>
                <p:nvPr/>
              </p:nvGrpSpPr>
              <p:grpSpPr>
                <a:xfrm>
                  <a:off x="1651832" y="1600839"/>
                  <a:ext cx="7568021" cy="1296144"/>
                  <a:chOff x="31591" y="1556792"/>
                  <a:chExt cx="7568021" cy="1296144"/>
                </a:xfrm>
              </p:grpSpPr>
              <p:grpSp>
                <p:nvGrpSpPr>
                  <p:cNvPr id="52" name="Group 51">
                    <a:extLst>
                      <a:ext uri="{FF2B5EF4-FFF2-40B4-BE49-F238E27FC236}">
                        <a16:creationId xmlns:a16="http://schemas.microsoft.com/office/drawing/2014/main" id="{5FC6B932-3FD2-4BB7-82F9-2056D2BFE4A5}"/>
                      </a:ext>
                    </a:extLst>
                  </p:cNvPr>
                  <p:cNvGrpSpPr/>
                  <p:nvPr/>
                </p:nvGrpSpPr>
                <p:grpSpPr>
                  <a:xfrm>
                    <a:off x="669977" y="1556792"/>
                    <a:ext cx="6238644" cy="1296144"/>
                    <a:chOff x="669977" y="1556792"/>
                    <a:chExt cx="6238644" cy="1296144"/>
                  </a:xfrm>
                </p:grpSpPr>
                <p:sp>
                  <p:nvSpPr>
                    <p:cNvPr id="56" name="Rectangle 55">
                      <a:extLst>
                        <a:ext uri="{FF2B5EF4-FFF2-40B4-BE49-F238E27FC236}">
                          <a16:creationId xmlns:a16="http://schemas.microsoft.com/office/drawing/2014/main" id="{A50DDB9F-5D88-44EE-A058-33AC886E658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7" name="TextBox 56">
                      <a:extLst>
                        <a:ext uri="{FF2B5EF4-FFF2-40B4-BE49-F238E27FC236}">
                          <a16:creationId xmlns:a16="http://schemas.microsoft.com/office/drawing/2014/main" id="{21D14759-C707-4DB2-824A-5D8462C679C8}"/>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58" name="TextBox 57">
                      <a:extLst>
                        <a:ext uri="{FF2B5EF4-FFF2-40B4-BE49-F238E27FC236}">
                          <a16:creationId xmlns:a16="http://schemas.microsoft.com/office/drawing/2014/main" id="{6DB79C00-AAD9-4CA7-82BE-B15E5DF4CFA3}"/>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DESC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ASC</a:t>
                      </a:r>
                      <a:endParaRPr lang="en-IN" sz="2000" b="1" dirty="0"/>
                    </a:p>
                  </p:txBody>
                </p:sp>
              </p:grpSp>
              <p:sp>
                <p:nvSpPr>
                  <p:cNvPr id="53" name="Arrow: Right 52">
                    <a:extLst>
                      <a:ext uri="{FF2B5EF4-FFF2-40B4-BE49-F238E27FC236}">
                        <a16:creationId xmlns:a16="http://schemas.microsoft.com/office/drawing/2014/main" id="{F7A5FA70-A7BA-4989-AE4B-7255D8D5F8B8}"/>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4" name="Arrow: Right 53">
                    <a:extLst>
                      <a:ext uri="{FF2B5EF4-FFF2-40B4-BE49-F238E27FC236}">
                        <a16:creationId xmlns:a16="http://schemas.microsoft.com/office/drawing/2014/main" id="{6BA39D37-BD7C-4C1C-BAFF-5B7233D4E8A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5" name="Arrow: Right 54">
                    <a:extLst>
                      <a:ext uri="{FF2B5EF4-FFF2-40B4-BE49-F238E27FC236}">
                        <a16:creationId xmlns:a16="http://schemas.microsoft.com/office/drawing/2014/main" id="{AF1232CC-3E73-4904-B902-F8B03FAAC0DD}"/>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47" name="Flowchart: Magnetic Disk 46">
                  <a:extLst>
                    <a:ext uri="{FF2B5EF4-FFF2-40B4-BE49-F238E27FC236}">
                      <a16:creationId xmlns:a16="http://schemas.microsoft.com/office/drawing/2014/main" id="{A83B0FA5-FE1C-4703-92B8-863A309AAC3A}"/>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8" name="TextBox 47">
                  <a:extLst>
                    <a:ext uri="{FF2B5EF4-FFF2-40B4-BE49-F238E27FC236}">
                      <a16:creationId xmlns:a16="http://schemas.microsoft.com/office/drawing/2014/main" id="{7402C2C2-C7B9-478A-B911-3A4128B8F076}"/>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9" name="TextBox 48">
                  <a:extLst>
                    <a:ext uri="{FF2B5EF4-FFF2-40B4-BE49-F238E27FC236}">
                      <a16:creationId xmlns:a16="http://schemas.microsoft.com/office/drawing/2014/main" id="{0ECD2B9C-2FED-48DD-9FCD-FDD9B10C8D80}"/>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50" name="TextBox 49">
                  <a:extLst>
                    <a:ext uri="{FF2B5EF4-FFF2-40B4-BE49-F238E27FC236}">
                      <a16:creationId xmlns:a16="http://schemas.microsoft.com/office/drawing/2014/main" id="{2FC57E58-FCE2-4C22-8196-7AF62522279F}"/>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51" name="TextBox 50">
                  <a:extLst>
                    <a:ext uri="{FF2B5EF4-FFF2-40B4-BE49-F238E27FC236}">
                      <a16:creationId xmlns:a16="http://schemas.microsoft.com/office/drawing/2014/main" id="{C8455A71-10DD-4DBD-ADAF-7DEDC4478409}"/>
                    </a:ext>
                  </a:extLst>
                </p:cNvPr>
                <p:cNvSpPr txBox="1"/>
                <p:nvPr/>
              </p:nvSpPr>
              <p:spPr>
                <a:xfrm>
                  <a:off x="2285448" y="2229960"/>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.ename, identifier.job</a:t>
                  </a:r>
                  <a:endParaRPr lang="en-IN" sz="2000" dirty="0"/>
                </a:p>
              </p:txBody>
            </p:sp>
          </p:grpSp>
          <p:sp>
            <p:nvSpPr>
              <p:cNvPr id="25" name="Oval 24">
                <a:extLst>
                  <a:ext uri="{FF2B5EF4-FFF2-40B4-BE49-F238E27FC236}">
                    <a16:creationId xmlns:a16="http://schemas.microsoft.com/office/drawing/2014/main" id="{99B7DFED-8B65-404F-8F32-658E7DBD9924}"/>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4" name="TextBox 43">
                <a:extLst>
                  <a:ext uri="{FF2B5EF4-FFF2-40B4-BE49-F238E27FC236}">
                    <a16:creationId xmlns:a16="http://schemas.microsoft.com/office/drawing/2014/main" id="{5514895A-4966-491A-A1F7-A506E2972AB6}"/>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sp>
        <p:nvSpPr>
          <p:cNvPr id="6" name="Rectangle 5">
            <a:extLst>
              <a:ext uri="{FF2B5EF4-FFF2-40B4-BE49-F238E27FC236}">
                <a16:creationId xmlns:a16="http://schemas.microsoft.com/office/drawing/2014/main" id="{3EA12B4B-2446-5EF8-F01A-F9CE2D297F22}"/>
              </a:ext>
            </a:extLst>
          </p:cNvPr>
          <p:cNvSpPr/>
          <p:nvPr/>
        </p:nvSpPr>
        <p:spPr>
          <a:xfrm>
            <a:off x="308824" y="1268760"/>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3515243402"/>
      </p:ext>
    </p:extLst>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sp>
        <p:nvSpPr>
          <p:cNvPr id="6" name="Rectangle 5"/>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a:t>
            </a:r>
          </a:p>
        </p:txBody>
      </p:sp>
      <p:sp>
        <p:nvSpPr>
          <p:cNvPr id="8" name="Rectangle 7">
            <a:extLst>
              <a:ext uri="{FF2B5EF4-FFF2-40B4-BE49-F238E27FC236}">
                <a16:creationId xmlns:a16="http://schemas.microsoft.com/office/drawing/2014/main" id="{7945CF57-22AA-466F-8A0C-12D787B29586}"/>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p:txBody>
      </p:sp>
      <p:grpSp>
        <p:nvGrpSpPr>
          <p:cNvPr id="4" name="Group 3">
            <a:extLst>
              <a:ext uri="{FF2B5EF4-FFF2-40B4-BE49-F238E27FC236}">
                <a16:creationId xmlns:a16="http://schemas.microsoft.com/office/drawing/2014/main" id="{D2A80BBE-80DC-4F44-BD63-77B15D090023}"/>
              </a:ext>
            </a:extLst>
          </p:cNvPr>
          <p:cNvGrpSpPr/>
          <p:nvPr/>
        </p:nvGrpSpPr>
        <p:grpSpPr>
          <a:xfrm>
            <a:off x="191344" y="1967113"/>
            <a:ext cx="11737304" cy="4630238"/>
            <a:chOff x="0" y="1967113"/>
            <a:chExt cx="12072664" cy="4630238"/>
          </a:xfrm>
        </p:grpSpPr>
        <p:pic>
          <p:nvPicPr>
            <p:cNvPr id="2" name="Picture 1">
              <a:extLst>
                <a:ext uri="{FF2B5EF4-FFF2-40B4-BE49-F238E27FC236}">
                  <a16:creationId xmlns:a16="http://schemas.microsoft.com/office/drawing/2014/main" id="{1B074D0D-113E-4251-BFFA-8C46F9D998E3}"/>
                </a:ext>
              </a:extLst>
            </p:cNvPr>
            <p:cNvPicPr>
              <a:picLocks noChangeAspect="1"/>
            </p:cNvPicPr>
            <p:nvPr/>
          </p:nvPicPr>
          <p:blipFill>
            <a:blip r:embed="rId2" cstate="print"/>
            <a:stretch>
              <a:fillRect/>
            </a:stretch>
          </p:blipFill>
          <p:spPr>
            <a:xfrm>
              <a:off x="0" y="1967113"/>
              <a:ext cx="12072664" cy="4584265"/>
            </a:xfrm>
            <a:prstGeom prst="rect">
              <a:avLst/>
            </a:prstGeom>
          </p:spPr>
        </p:pic>
        <p:sp>
          <p:nvSpPr>
            <p:cNvPr id="12" name="Rectangle 11">
              <a:extLst>
                <a:ext uri="{FF2B5EF4-FFF2-40B4-BE49-F238E27FC236}">
                  <a16:creationId xmlns:a16="http://schemas.microsoft.com/office/drawing/2014/main" id="{1485FC11-75C0-49E6-BBE0-5427C9203D1B}"/>
                </a:ext>
              </a:extLst>
            </p:cNvPr>
            <p:cNvSpPr/>
            <p:nvPr/>
          </p:nvSpPr>
          <p:spPr>
            <a:xfrm>
              <a:off x="6666376" y="2013086"/>
              <a:ext cx="814232" cy="4584265"/>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92997129"/>
      </p:ext>
    </p:extLst>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grpSp>
        <p:nvGrpSpPr>
          <p:cNvPr id="2" name="Group 1">
            <a:extLst>
              <a:ext uri="{FF2B5EF4-FFF2-40B4-BE49-F238E27FC236}">
                <a16:creationId xmlns:a16="http://schemas.microsoft.com/office/drawing/2014/main" id="{44EE0087-93D8-46A9-9FC3-A31727AD9512}"/>
              </a:ext>
            </a:extLst>
          </p:cNvPr>
          <p:cNvGrpSpPr/>
          <p:nvPr/>
        </p:nvGrpSpPr>
        <p:grpSpPr>
          <a:xfrm>
            <a:off x="225273" y="1964539"/>
            <a:ext cx="11631368" cy="4536557"/>
            <a:chOff x="1549199" y="2116801"/>
            <a:chExt cx="9308388" cy="3840600"/>
          </a:xfrm>
        </p:grpSpPr>
        <p:pic>
          <p:nvPicPr>
            <p:cNvPr id="3" name="Picture 2">
              <a:extLst>
                <a:ext uri="{FF2B5EF4-FFF2-40B4-BE49-F238E27FC236}">
                  <a16:creationId xmlns:a16="http://schemas.microsoft.com/office/drawing/2014/main" id="{B8295FEA-B5AD-49F6-9FD9-802E6842C9BB}"/>
                </a:ext>
              </a:extLst>
            </p:cNvPr>
            <p:cNvPicPr>
              <a:picLocks noChangeAspect="1"/>
            </p:cNvPicPr>
            <p:nvPr/>
          </p:nvPicPr>
          <p:blipFill>
            <a:blip r:embed="rId2" cstate="print"/>
            <a:stretch>
              <a:fillRect/>
            </a:stretch>
          </p:blipFill>
          <p:spPr>
            <a:xfrm>
              <a:off x="1549199" y="2116802"/>
              <a:ext cx="9308388" cy="3840599"/>
            </a:xfrm>
            <a:prstGeom prst="rect">
              <a:avLst/>
            </a:prstGeom>
          </p:spPr>
        </p:pic>
        <p:sp>
          <p:nvSpPr>
            <p:cNvPr id="9" name="Rectangle 8">
              <a:extLst>
                <a:ext uri="{FF2B5EF4-FFF2-40B4-BE49-F238E27FC236}">
                  <a16:creationId xmlns:a16="http://schemas.microsoft.com/office/drawing/2014/main" id="{50B1CFE8-B785-430E-9A9E-2C66F2D54E79}"/>
                </a:ext>
              </a:extLst>
            </p:cNvPr>
            <p:cNvSpPr/>
            <p:nvPr/>
          </p:nvSpPr>
          <p:spPr>
            <a:xfrm>
              <a:off x="6599882" y="2116801"/>
              <a:ext cx="684843" cy="3800983"/>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1" name="Rectangle 10">
            <a:extLst>
              <a:ext uri="{FF2B5EF4-FFF2-40B4-BE49-F238E27FC236}">
                <a16:creationId xmlns:a16="http://schemas.microsoft.com/office/drawing/2014/main" id="{7F9C5529-E247-4668-8D20-58282FA1F682}"/>
              </a:ext>
            </a:extLst>
          </p:cNvPr>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12" name="Rectangle 11">
            <a:extLst>
              <a:ext uri="{FF2B5EF4-FFF2-40B4-BE49-F238E27FC236}">
                <a16:creationId xmlns:a16="http://schemas.microsoft.com/office/drawing/2014/main" id="{5378EE6B-16B9-4534-8B3B-834CFB10CA0D}"/>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DESC</a:t>
            </a:r>
            <a:r>
              <a:rPr lang="en-IN" dirty="0">
                <a:latin typeface="Liberation Mono"/>
                <a:cs typeface="Arial" panose="020B0604020202020204" pitchFamily="34" charset="0"/>
              </a:rPr>
              <a:t>;</a:t>
            </a:r>
            <a:endParaRPr lang="en-IN" dirty="0">
              <a:solidFill>
                <a:srgbClr val="0077AA"/>
              </a:solidFill>
              <a:latin typeface="Liberation Mono"/>
              <a:cs typeface="Times New Roman" panose="02020603050405020304" pitchFamily="18" charset="0"/>
            </a:endParaRPr>
          </a:p>
        </p:txBody>
      </p:sp>
    </p:spTree>
    <p:extLst>
      <p:ext uri="{BB962C8B-B14F-4D97-AF65-F5344CB8AC3E}">
        <p14:creationId xmlns:p14="http://schemas.microsoft.com/office/powerpoint/2010/main" val="4241115596"/>
      </p:ext>
    </p:extLst>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93417" y="1261784"/>
            <a:ext cx="11809310" cy="538609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rPr>
              <a:t>IS </a:t>
            </a:r>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IS </a:t>
            </a:r>
            <a:r>
              <a:rPr lang="en-IN" dirty="0">
                <a:solidFill>
                  <a:schemeClr val="accent4">
                    <a:lumMod val="50000"/>
                  </a:schemeClr>
                </a:solidFill>
                <a:latin typeface="Liberation Mono"/>
                <a:cs typeface="Arial" panose="020B0604020202020204" pitchFamily="34" charset="0"/>
              </a:rPr>
              <a:t>NOT NULL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rPr>
              <a:t>True</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sal </a:t>
            </a:r>
            <a:r>
              <a:rPr lang="en-US" dirty="0">
                <a:solidFill>
                  <a:srgbClr val="0077AA"/>
                </a:solidFill>
                <a:latin typeface="Liberation Mono"/>
                <a:cs typeface="Times New Roman" panose="02020603050405020304" pitchFamily="18" charset="0"/>
              </a:rPr>
              <a:t>FROM</a:t>
            </a:r>
            <a:r>
              <a:rPr lang="en-US" dirty="0">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sal;</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anose="020B0604020202020204" pitchFamily="34" charset="0"/>
              </a:rPr>
              <a:t>ename, </a:t>
            </a:r>
            <a:r>
              <a:rPr lang="en-IN" dirty="0">
                <a:solidFill>
                  <a:srgbClr val="DD4A68"/>
                </a:solidFill>
                <a:latin typeface="Liberation Mono"/>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ename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LENGTH</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cs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cs typeface="Times New Roman" panose="02020603050405020304" pitchFamily="18" charset="0"/>
              </a:rPr>
              <a:t>DESC</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669900"/>
                </a:solidFill>
                <a:latin typeface="Liberation Mono"/>
              </a:rPr>
              <a:t>'</a:t>
            </a:r>
            <a:r>
              <a:rPr lang="en-IN" dirty="0">
                <a:solidFill>
                  <a:srgbClr val="669900"/>
                </a:solidFill>
                <a:latin typeface="Liberation Mono"/>
              </a:rPr>
              <a:t>manager'</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990055"/>
                </a:solidFill>
                <a:latin typeface="Liberation Mono"/>
              </a:rPr>
              <a:t>3</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'salesman', </a:t>
            </a:r>
            <a:r>
              <a:rPr lang="en-IN" dirty="0">
                <a:solidFill>
                  <a:srgbClr val="990055"/>
                </a:solidFill>
                <a:latin typeface="Liberation Mono"/>
              </a:rPr>
              <a:t>2</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onum, paymentType, amt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DD4A68"/>
                </a:solidFill>
                <a:latin typeface="Liberation Mono"/>
              </a:rPr>
              <a:t>FIELD</a:t>
            </a:r>
            <a:r>
              <a:rPr lang="en-IN" dirty="0">
                <a:latin typeface="Liberation Mono"/>
              </a:rPr>
              <a:t>(paymentType,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'EMI Options'</a:t>
            </a:r>
            <a:r>
              <a:rPr lang="en-IN" dirty="0">
                <a:latin typeface="Liberation Mono"/>
              </a:rPr>
              <a:t>, </a:t>
            </a:r>
            <a:r>
              <a:rPr lang="en-IN" dirty="0">
                <a:solidFill>
                  <a:srgbClr val="669900"/>
                </a:solidFill>
                <a:latin typeface="Liberation Mono"/>
              </a:rPr>
              <a:t>'COD'</a:t>
            </a:r>
            <a:r>
              <a:rPr lang="en-IN" dirty="0">
                <a:latin typeface="Liberation Mono"/>
              </a:rPr>
              <a:t>);</a:t>
            </a:r>
          </a:p>
          <a:p>
            <a:pPr marL="285750" indent="-285750">
              <a:buFont typeface="Arial" panose="020B0604020202020204" pitchFamily="34" charset="0"/>
              <a:buChar char="•"/>
            </a:pPr>
            <a:endParaRPr lang="en-US"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ISNULL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comm</a:t>
            </a:r>
            <a:r>
              <a:rPr lang="en-IN" dirty="0">
                <a:solidFill>
                  <a:schemeClr val="bg1">
                    <a:lumMod val="65000"/>
                  </a:schemeClr>
                </a:solidFill>
                <a:latin typeface="Liberation Mono"/>
                <a:ea typeface="Times New Roman" panose="02020603050405020304" pitchFamily="18" charset="0"/>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comm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a:t>
            </a:r>
            <a:r>
              <a:rPr lang="en-IN" dirty="0">
                <a:latin typeface="Liberation Mono"/>
                <a:ea typeface="Times New Roman" panose="02020603050405020304" pitchFamily="18" charset="0"/>
              </a:rPr>
              <a:t>'e'</a:t>
            </a:r>
            <a:r>
              <a:rPr lang="en-IN"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A67F59"/>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CASE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WHEN</a:t>
            </a:r>
            <a:r>
              <a:rPr lang="en-US" dirty="0">
                <a:solidFill>
                  <a:schemeClr val="tx1">
                    <a:lumMod val="85000"/>
                    <a:lumOff val="15000"/>
                  </a:schemeClr>
                </a:solidFill>
                <a:latin typeface="Liberation Mono"/>
                <a:ea typeface="Times New Roman" panose="02020603050405020304" pitchFamily="18" charset="0"/>
              </a:rPr>
              <a:t> ename=</a:t>
            </a:r>
            <a:r>
              <a:rPr lang="en-US" dirty="0">
                <a:solidFill>
                  <a:srgbClr val="669900"/>
                </a:solidFill>
                <a:latin typeface="Liberation Mono"/>
              </a:rPr>
              <a:t>'sharmin'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THEN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0</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ELSE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1</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END</a:t>
            </a:r>
            <a:r>
              <a:rPr lang="en-US" dirty="0">
                <a:solidFill>
                  <a:schemeClr val="tx1">
                    <a:lumMod val="85000"/>
                    <a:lumOff val="15000"/>
                  </a:schemeClr>
                </a:solidFill>
                <a:latin typeface="Liberation Mono"/>
                <a:ea typeface="Times New Roman" panose="02020603050405020304" pitchFamily="18" charset="0"/>
              </a:rPr>
              <a:t>, </a:t>
            </a:r>
            <a:r>
              <a:rPr lang="en-US" i="1" dirty="0">
                <a:solidFill>
                  <a:schemeClr val="bg1">
                    <a:lumMod val="50000"/>
                  </a:schemeClr>
                </a:solidFill>
                <a:latin typeface="Liberation Mono"/>
              </a:rPr>
              <a:t>ename</a:t>
            </a:r>
            <a:r>
              <a:rPr lang="en-US"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US"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ename, job, sal,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rgbClr val="000000"/>
                </a:solidFill>
                <a:latin typeface="Liberation Mono"/>
              </a:rPr>
              <a:t> emp </a:t>
            </a:r>
            <a:r>
              <a:rPr lang="en-US" dirty="0">
                <a:solidFill>
                  <a:srgbClr val="0077AA"/>
                </a:solidFill>
                <a:latin typeface="Liberation Mono"/>
                <a:cs typeface="Times New Roman" panose="02020603050405020304" pitchFamily="18" charset="0"/>
              </a:rPr>
              <a:t>ORDER</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BY</a:t>
            </a:r>
            <a:r>
              <a:rPr lang="en-US" dirty="0">
                <a:solidFill>
                  <a:srgbClr val="000000"/>
                </a:solidFill>
                <a:latin typeface="Liberation Mono"/>
              </a:rPr>
              <a:t>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sal;</a:t>
            </a:r>
            <a:endParaRPr lang="en-IN" dirty="0">
              <a:solidFill>
                <a:srgbClr val="000000"/>
              </a:solidFill>
              <a:latin typeface="Liberation Mono"/>
            </a:endParaRPr>
          </a:p>
        </p:txBody>
      </p:sp>
      <p:sp>
        <p:nvSpPr>
          <p:cNvPr id="2" name="Rectangle 1">
            <a:extLst>
              <a:ext uri="{FF2B5EF4-FFF2-40B4-BE49-F238E27FC236}">
                <a16:creationId xmlns:a16="http://schemas.microsoft.com/office/drawing/2014/main" id="{717D29E1-9CAA-A040-4FFC-A2B971781F5A}"/>
              </a:ext>
            </a:extLst>
          </p:cNvPr>
          <p:cNvSpPr/>
          <p:nvPr/>
        </p:nvSpPr>
        <p:spPr>
          <a:xfrm>
            <a:off x="189273" y="1800"/>
            <a:ext cx="11809309"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
        <p:nvSpPr>
          <p:cNvPr id="4" name="TextBox 3">
            <a:extLst>
              <a:ext uri="{FF2B5EF4-FFF2-40B4-BE49-F238E27FC236}">
                <a16:creationId xmlns:a16="http://schemas.microsoft.com/office/drawing/2014/main" id="{EA2537BB-9062-F0B9-9FD0-F6B8E01AE081}"/>
              </a:ext>
            </a:extLst>
          </p:cNvPr>
          <p:cNvSpPr txBox="1"/>
          <p:nvPr/>
        </p:nvSpPr>
        <p:spPr>
          <a:xfrm>
            <a:off x="7223448" y="1262042"/>
            <a:ext cx="4849216"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0000"/>
                </a:solidFill>
                <a:latin typeface="Liberation Mono"/>
              </a:rPr>
              <a:t>(</a:t>
            </a: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solidFill>
                  <a:srgbClr val="000000"/>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p:txBody>
      </p:sp>
    </p:spTree>
    <p:extLst>
      <p:ext uri="{BB962C8B-B14F-4D97-AF65-F5344CB8AC3E}">
        <p14:creationId xmlns:p14="http://schemas.microsoft.com/office/powerpoint/2010/main" val="3511890637"/>
      </p:ext>
    </p:extLst>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20259-0211-139A-EF59-E961A4BC78F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D3D183F-CE57-C580-669D-025558B3C20B}"/>
              </a:ext>
            </a:extLst>
          </p:cNvPr>
          <p:cNvGraphicFramePr>
            <a:graphicFrameLocks noGrp="1"/>
          </p:cNvGraphicFramePr>
          <p:nvPr>
            <p:extLst>
              <p:ext uri="{D42A27DB-BD31-4B8C-83A1-F6EECF244321}">
                <p14:modId xmlns:p14="http://schemas.microsoft.com/office/powerpoint/2010/main" val="2239587296"/>
              </p:ext>
            </p:extLst>
          </p:nvPr>
        </p:nvGraphicFramePr>
        <p:xfrm>
          <a:off x="407369"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317890D3-35C5-9738-AB61-2673CDE5F39C}"/>
              </a:ext>
            </a:extLst>
          </p:cNvPr>
          <p:cNvSpPr txBox="1"/>
          <p:nvPr/>
        </p:nvSpPr>
        <p:spPr>
          <a:xfrm>
            <a:off x="263352" y="5180999"/>
            <a:ext cx="11665296"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 </a:t>
            </a:r>
            <a:r>
              <a:rPr lang="en-US" dirty="0">
                <a:latin typeface="Liberation Mono"/>
              </a:rPr>
              <a:t>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a:t>
            </a:r>
          </a:p>
          <a:p>
            <a:endParaRPr lang="en-US" dirty="0">
              <a:latin typeface="Liberation Mono"/>
            </a:endParaRPr>
          </a:p>
        </p:txBody>
      </p:sp>
      <p:sp>
        <p:nvSpPr>
          <p:cNvPr id="8" name="TextBox 7">
            <a:extLst>
              <a:ext uri="{FF2B5EF4-FFF2-40B4-BE49-F238E27FC236}">
                <a16:creationId xmlns:a16="http://schemas.microsoft.com/office/drawing/2014/main" id="{1397F32C-0F93-F0CD-2AC9-F514A5370923}"/>
              </a:ext>
            </a:extLst>
          </p:cNvPr>
          <p:cNvSpPr txBox="1"/>
          <p:nvPr/>
        </p:nvSpPr>
        <p:spPr>
          <a:xfrm>
            <a:off x="5015880" y="2656422"/>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8245E88-E61D-FFFD-AA93-41D65D0CC942}"/>
              </a:ext>
            </a:extLst>
          </p:cNvPr>
          <p:cNvSpPr txBox="1"/>
          <p:nvPr/>
        </p:nvSpPr>
        <p:spPr>
          <a:xfrm>
            <a:off x="407367" y="1076080"/>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44AA3AE3-E28C-44AD-B724-B545CD69A8CB}"/>
              </a:ext>
            </a:extLst>
          </p:cNvPr>
          <p:cNvGraphicFramePr>
            <a:graphicFrameLocks noGrp="1"/>
          </p:cNvGraphicFramePr>
          <p:nvPr>
            <p:extLst>
              <p:ext uri="{D42A27DB-BD31-4B8C-83A1-F6EECF244321}">
                <p14:modId xmlns:p14="http://schemas.microsoft.com/office/powerpoint/2010/main" val="663040470"/>
              </p:ext>
            </p:extLst>
          </p:nvPr>
        </p:nvGraphicFramePr>
        <p:xfrm>
          <a:off x="6672064"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Sharmin</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Saleel</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IN" dirty="0">
                          <a:solidFill>
                            <a:srgbClr val="7D2170"/>
                          </a:solidFill>
                          <a:latin typeface="Arial" panose="020B0604020202020204" pitchFamily="34" charset="0"/>
                          <a:cs typeface="Arial" panose="020B0604020202020204" pitchFamily="34" charset="0"/>
                        </a:rPr>
                        <a:t>4</a:t>
                      </a:r>
                    </a:p>
                  </a:txBody>
                  <a:tcPr/>
                </a:tc>
                <a:tc>
                  <a:txBody>
                    <a:bodyPr/>
                    <a:lstStyle/>
                    <a:p>
                      <a:r>
                        <a:rPr lang="en-US" dirty="0">
                          <a:solidFill>
                            <a:srgbClr val="7D2170"/>
                          </a:solidFill>
                          <a:latin typeface="Arial" panose="020B0604020202020204" pitchFamily="34" charset="0"/>
                          <a:cs typeface="Arial" panose="020B0604020202020204" pitchFamily="34" charset="0"/>
                        </a:rPr>
                        <a:t>Ruhan</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Vrushali</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6</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Deep</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Nitish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7</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Neel</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76B8E1A3-AA25-5320-CF2F-4D76593159EA}"/>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206D1ABB-5DB6-4416-2A9E-EA6FB05771AA}"/>
              </a:ext>
            </a:extLst>
          </p:cNvPr>
          <p:cNvSpPr txBox="1"/>
          <p:nvPr/>
        </p:nvSpPr>
        <p:spPr>
          <a:xfrm>
            <a:off x="7752185" y="519063"/>
            <a:ext cx="3096343"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pair  of row</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9CB63758-432F-821E-0D57-AD5BB77ADED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D4831EE-6578-962C-8521-EF3A872AA774}"/>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49558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1AB0E-99CB-04DF-BA45-A235A613385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7A89C29-ED82-9A05-B7D6-6CD27B6908A0}"/>
              </a:ext>
            </a:extLst>
          </p:cNvPr>
          <p:cNvGraphicFramePr>
            <a:graphicFrameLocks noGrp="1"/>
          </p:cNvGraphicFramePr>
          <p:nvPr>
            <p:extLst>
              <p:ext uri="{D42A27DB-BD31-4B8C-83A1-F6EECF244321}">
                <p14:modId xmlns:p14="http://schemas.microsoft.com/office/powerpoint/2010/main" val="1919699542"/>
              </p:ext>
            </p:extLst>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03D1222B-DFB8-91C5-7E15-82BF5378F347}"/>
              </a:ext>
            </a:extLst>
          </p:cNvPr>
          <p:cNvSpPr txBox="1"/>
          <p:nvPr/>
        </p:nvSpPr>
        <p:spPr>
          <a:xfrm>
            <a:off x="263352" y="5169966"/>
            <a:ext cx="11665296"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cte1</a:t>
            </a:r>
            <a:r>
              <a:rPr lang="en-US" dirty="0">
                <a:latin typeface="Liberation Mono"/>
              </a:rPr>
              <a:t> AS (</a:t>
            </a:r>
            <a:r>
              <a:rPr lang="en-US" dirty="0">
                <a:solidFill>
                  <a:srgbClr val="0077AA"/>
                </a:solidFill>
                <a:latin typeface="Liberation Mono"/>
              </a:rPr>
              <a:t>SELECT</a:t>
            </a:r>
            <a:r>
              <a:rPr lang="en-US" dirty="0">
                <a:latin typeface="Liberation Mono"/>
              </a:rPr>
              <a:t> id, cityName </a:t>
            </a:r>
            <a:r>
              <a:rPr lang="en-US" dirty="0">
                <a:solidFill>
                  <a:srgbClr val="0077AA"/>
                </a:solidFill>
                <a:latin typeface="Liberation Mono"/>
              </a:rPr>
              <a:t>FROM</a:t>
            </a:r>
            <a:r>
              <a:rPr lang="en-US" dirty="0">
                <a:latin typeface="Liberation Mono"/>
              </a:rPr>
              <a:t> swapcity), </a:t>
            </a:r>
            <a:r>
              <a:rPr lang="en-US" b="1" i="1" dirty="0">
                <a:latin typeface="Liberation Mono"/>
              </a:rPr>
              <a:t>cte2</a:t>
            </a:r>
            <a:r>
              <a:rPr lang="en-US" dirty="0">
                <a:latin typeface="Liberation Mono"/>
              </a:rPr>
              <a:t> AS (</a:t>
            </a:r>
            <a:r>
              <a:rPr lang="en-US" dirty="0">
                <a:solidFill>
                  <a:srgbClr val="0077AA"/>
                </a:solidFill>
                <a:latin typeface="Liberation Mono"/>
              </a:rPr>
              <a:t>SELECT</a:t>
            </a:r>
            <a:r>
              <a:rPr lang="en-US" dirty="0">
                <a:latin typeface="Liberation Mono"/>
              </a:rPr>
              <a:t>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SELECT</a:t>
            </a:r>
            <a:r>
              <a:rPr lang="en-US" dirty="0">
                <a:latin typeface="Liberation Mono"/>
              </a:rPr>
              <a:t> </a:t>
            </a:r>
            <a:r>
              <a:rPr lang="en-US" b="1" i="1" dirty="0">
                <a:latin typeface="Liberation Mono"/>
              </a:rPr>
              <a:t>cte1</a:t>
            </a:r>
            <a:r>
              <a:rPr lang="en-US" dirty="0">
                <a:latin typeface="Liberation Mono"/>
              </a:rPr>
              <a:t>.cityName </a:t>
            </a:r>
            <a:r>
              <a:rPr lang="en-US" dirty="0">
                <a:solidFill>
                  <a:srgbClr val="00B050"/>
                </a:solidFill>
                <a:latin typeface="Liberation Mono"/>
              </a:rPr>
              <a:t>'Swap City Names'</a:t>
            </a:r>
            <a:r>
              <a:rPr lang="en-US" dirty="0">
                <a:latin typeface="Liberation Mono"/>
              </a:rPr>
              <a:t> , </a:t>
            </a:r>
            <a:r>
              <a:rPr lang="en-US" b="1" i="1" dirty="0">
                <a:latin typeface="Liberation Mono"/>
              </a:rPr>
              <a:t>cte2</a:t>
            </a:r>
            <a:r>
              <a:rPr lang="en-US" dirty="0">
                <a:latin typeface="Liberation Mono"/>
              </a:rPr>
              <a:t>.cityName </a:t>
            </a:r>
            <a:r>
              <a:rPr lang="en-US" dirty="0">
                <a:solidFill>
                  <a:srgbClr val="00B050"/>
                </a:solidFill>
                <a:latin typeface="Liberation Mono"/>
              </a:rPr>
              <a:t>'Original City Names'</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cte1</a:t>
            </a:r>
            <a:r>
              <a:rPr lang="en-US" dirty="0">
                <a:latin typeface="Liberation Mono"/>
              </a:rPr>
              <a:t>, </a:t>
            </a:r>
            <a:r>
              <a:rPr lang="en-US" b="1" i="1" dirty="0">
                <a:latin typeface="Liberation Mono"/>
              </a:rPr>
              <a:t>cte2</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cte1</a:t>
            </a:r>
            <a:r>
              <a:rPr lang="en-US" dirty="0">
                <a:latin typeface="Liberation Mono"/>
              </a:rPr>
              <a:t>.id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b="1" i="1" dirty="0">
                <a:latin typeface="Liberation Mono"/>
              </a:rPr>
              <a:t>cte2</a:t>
            </a:r>
            <a:r>
              <a:rPr lang="en-US" dirty="0">
                <a:latin typeface="Liberation Mono"/>
              </a:rPr>
              <a:t>.</a:t>
            </a:r>
            <a:r>
              <a:rPr lang="en-US" i="1" dirty="0">
                <a:solidFill>
                  <a:schemeClr val="bg1">
                    <a:lumMod val="50000"/>
                  </a:schemeClr>
                </a:solidFill>
                <a:latin typeface="Liberation Mono"/>
              </a:rPr>
              <a:t>R2</a:t>
            </a:r>
            <a:r>
              <a:rPr lang="en-US" dirty="0">
                <a:latin typeface="Liberation Mono"/>
              </a:rPr>
              <a:t>;</a:t>
            </a:r>
          </a:p>
        </p:txBody>
      </p:sp>
      <p:sp>
        <p:nvSpPr>
          <p:cNvPr id="8" name="TextBox 7">
            <a:extLst>
              <a:ext uri="{FF2B5EF4-FFF2-40B4-BE49-F238E27FC236}">
                <a16:creationId xmlns:a16="http://schemas.microsoft.com/office/drawing/2014/main" id="{DB755DFB-2B40-CE9C-1488-02D4258FA24E}"/>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561B860-B20E-6C25-C73A-4C615C2176DB}"/>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8C908D4F-D86F-C0FA-7977-CB73B1FF7C58}"/>
              </a:ext>
            </a:extLst>
          </p:cNvPr>
          <p:cNvGraphicFramePr>
            <a:graphicFrameLocks noGrp="1"/>
          </p:cNvGraphicFramePr>
          <p:nvPr>
            <p:extLst>
              <p:ext uri="{D42A27DB-BD31-4B8C-83A1-F6EECF244321}">
                <p14:modId xmlns:p14="http://schemas.microsoft.com/office/powerpoint/2010/main" val="415599652"/>
              </p:ext>
            </p:extLst>
          </p:nvPr>
        </p:nvGraphicFramePr>
        <p:xfrm>
          <a:off x="6528048" y="1544373"/>
          <a:ext cx="5112568" cy="2595880"/>
        </p:xfrm>
        <a:graphic>
          <a:graphicData uri="http://schemas.openxmlformats.org/drawingml/2006/table">
            <a:tbl>
              <a:tblPr firstRow="1" bandRow="1">
                <a:tableStyleId>{5940675A-B579-460E-94D1-54222C63F5DA}</a:tableStyleId>
              </a:tblPr>
              <a:tblGrid>
                <a:gridCol w="2312828">
                  <a:extLst>
                    <a:ext uri="{9D8B030D-6E8A-4147-A177-3AD203B41FA5}">
                      <a16:colId xmlns:a16="http://schemas.microsoft.com/office/drawing/2014/main" val="928063234"/>
                    </a:ext>
                  </a:extLst>
                </a:gridCol>
                <a:gridCol w="2799740">
                  <a:extLst>
                    <a:ext uri="{9D8B030D-6E8A-4147-A177-3AD203B41FA5}">
                      <a16:colId xmlns:a16="http://schemas.microsoft.com/office/drawing/2014/main" val="790049539"/>
                    </a:ext>
                  </a:extLst>
                </a:gridCol>
              </a:tblGrid>
              <a:tr h="370840">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Original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solidFill>
                            <a:srgbClr val="7D2170"/>
                          </a:solidFill>
                          <a:latin typeface="Arial" panose="020B0604020202020204" pitchFamily="34" charset="0"/>
                          <a:cs typeface="Arial" panose="020B0604020202020204" pitchFamily="34" charset="0"/>
                        </a:rPr>
                        <a:t>Rajkot</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Baroda</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Rajkot</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5" name="TextBox 4">
            <a:extLst>
              <a:ext uri="{FF2B5EF4-FFF2-40B4-BE49-F238E27FC236}">
                <a16:creationId xmlns:a16="http://schemas.microsoft.com/office/drawing/2014/main" id="{C449D246-2DD6-B043-C45F-3D0B0D08884E}"/>
              </a:ext>
            </a:extLst>
          </p:cNvPr>
          <p:cNvSpPr txBox="1"/>
          <p:nvPr/>
        </p:nvSpPr>
        <p:spPr>
          <a:xfrm>
            <a:off x="7536160" y="519063"/>
            <a:ext cx="4392488" cy="769441"/>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 with original sequence of city names</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1594F844-5170-105F-571D-882E2A6AB868}"/>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83F1EB0D-4041-B7BC-A681-B9E9F0D0B1B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BE97FFC2-1446-CD31-6C8A-786DC6A65E91}"/>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094737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4E60F-8EBC-860B-F038-F5ADB295D8E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F1B9875-48C1-0E3F-7678-8CCA0A2EA021}"/>
              </a:ext>
            </a:extLst>
          </p:cNvPr>
          <p:cNvGraphicFramePr>
            <a:graphicFrameLocks noGrp="1"/>
          </p:cNvGraphicFramePr>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B58D8DA5-6F35-E0CB-00B9-8F5D24F33613}"/>
              </a:ext>
            </a:extLst>
          </p:cNvPr>
          <p:cNvSpPr txBox="1"/>
          <p:nvPr/>
        </p:nvSpPr>
        <p:spPr>
          <a:xfrm>
            <a:off x="263352" y="5169966"/>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end;</a:t>
            </a:r>
          </a:p>
        </p:txBody>
      </p:sp>
      <p:sp>
        <p:nvSpPr>
          <p:cNvPr id="8" name="TextBox 7">
            <a:extLst>
              <a:ext uri="{FF2B5EF4-FFF2-40B4-BE49-F238E27FC236}">
                <a16:creationId xmlns:a16="http://schemas.microsoft.com/office/drawing/2014/main" id="{C224D319-AD3F-89C7-6F26-0403F03AA886}"/>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F1F3AE7-478B-217A-6570-67FB56128912}"/>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59737F21-7A61-9FF6-9EFA-D241E8C907E1}"/>
              </a:ext>
            </a:extLst>
          </p:cNvPr>
          <p:cNvGraphicFramePr>
            <a:graphicFrameLocks noGrp="1"/>
          </p:cNvGraphicFramePr>
          <p:nvPr>
            <p:extLst>
              <p:ext uri="{D42A27DB-BD31-4B8C-83A1-F6EECF244321}">
                <p14:modId xmlns:p14="http://schemas.microsoft.com/office/powerpoint/2010/main" val="2484502287"/>
              </p:ext>
            </p:extLst>
          </p:nvPr>
        </p:nvGraphicFramePr>
        <p:xfrm>
          <a:off x="6528048" y="1544373"/>
          <a:ext cx="5472609" cy="29667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1525291913"/>
                    </a:ext>
                  </a:extLst>
                </a:gridCol>
                <a:gridCol w="1656184">
                  <a:extLst>
                    <a:ext uri="{9D8B030D-6E8A-4147-A177-3AD203B41FA5}">
                      <a16:colId xmlns:a16="http://schemas.microsoft.com/office/drawing/2014/main" val="131266274"/>
                    </a:ext>
                  </a:extLst>
                </a:gridCol>
                <a:gridCol w="2808313">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3</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US" kern="1200" dirty="0">
                          <a:solidFill>
                            <a:srgbClr val="7D2170"/>
                          </a:solidFill>
                          <a:latin typeface="Arial" panose="020B0604020202020204" pitchFamily="34" charset="0"/>
                          <a:ea typeface="+mn-ea"/>
                          <a:cs typeface="Arial" panose="020B0604020202020204" pitchFamily="34" charset="0"/>
                        </a:rPr>
                        <a:t>Vrushali</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ctr"/>
                      <a:r>
                        <a:rPr kumimoji="0" lang="sv-SE" kern="1200" dirty="0">
                          <a:solidFill>
                            <a:srgbClr val="7D2170"/>
                          </a:solidFill>
                          <a:latin typeface="Arial" panose="020B0604020202020204" pitchFamily="34" charset="0"/>
                          <a:ea typeface="+mn-ea"/>
                          <a:cs typeface="Arial" panose="020B0604020202020204" pitchFamily="34" charset="0"/>
                        </a:rPr>
                        <a:t>1</a:t>
                      </a:r>
                    </a:p>
                  </a:txBody>
                  <a:tcPr/>
                </a:tc>
                <a:tc>
                  <a:txBody>
                    <a:bodyPr/>
                    <a:lstStyle/>
                    <a:p>
                      <a:pPr algn="l"/>
                      <a:r>
                        <a:rPr kumimoji="0" lang="sv-SE" kern="1200" dirty="0">
                          <a:solidFill>
                            <a:srgbClr val="7D2170"/>
                          </a:solidFill>
                          <a:latin typeface="Arial" panose="020B0604020202020204" pitchFamily="34" charset="0"/>
                          <a:ea typeface="+mn-ea"/>
                          <a:cs typeface="Arial" panose="020B0604020202020204" pitchFamily="34" charset="0"/>
                        </a:rPr>
                        <a:t>Saleel</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2</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Sharmin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Rajkot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6</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Deep</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4</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Ruhan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5</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Nitish</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7</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Neel</a:t>
                      </a:r>
                    </a:p>
                  </a:txBody>
                  <a:tcPr/>
                </a:tc>
                <a:tc>
                  <a:txBody>
                    <a:bodyPr/>
                    <a:lstStyle/>
                    <a:p>
                      <a:pPr algn="l"/>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1788097850"/>
                  </a:ext>
                </a:extLst>
              </a:tr>
            </a:tbl>
          </a:graphicData>
        </a:graphic>
      </p:graphicFrame>
      <p:sp>
        <p:nvSpPr>
          <p:cNvPr id="5" name="TextBox 4">
            <a:extLst>
              <a:ext uri="{FF2B5EF4-FFF2-40B4-BE49-F238E27FC236}">
                <a16:creationId xmlns:a16="http://schemas.microsoft.com/office/drawing/2014/main" id="{0B0C3199-5D92-9377-2ADD-67E9650A02F6}"/>
              </a:ext>
            </a:extLst>
          </p:cNvPr>
          <p:cNvSpPr txBox="1"/>
          <p:nvPr/>
        </p:nvSpPr>
        <p:spPr>
          <a:xfrm>
            <a:off x="7536160" y="519063"/>
            <a:ext cx="439248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a:t>
            </a:r>
            <a:r>
              <a:rPr lang="en-US" sz="2200">
                <a:solidFill>
                  <a:srgbClr val="C00000"/>
                </a:solidFill>
                <a:latin typeface="Arial" panose="020B0604020202020204" pitchFamily="34" charset="0"/>
                <a:cs typeface="Arial" panose="020B0604020202020204" pitchFamily="34" charset="0"/>
              </a:rPr>
              <a:t>third   city</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D419D513-D3D6-475B-B68C-4E795CACE1F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3</a:t>
            </a:r>
            <a:r>
              <a:rPr lang="en-US" sz="2000" baseline="30000" dirty="0">
                <a:solidFill>
                  <a:schemeClr val="accent2">
                    <a:lumMod val="50000"/>
                  </a:schemeClr>
                </a:solidFill>
                <a:latin typeface="Arial" panose="020B0604020202020204" pitchFamily="34" charset="0"/>
                <a:cs typeface="Arial" panose="020B0604020202020204" pitchFamily="34" charset="0"/>
              </a:rPr>
              <a:t>rd</a:t>
            </a:r>
            <a:r>
              <a:rPr lang="en-US" sz="2000" dirty="0">
                <a:solidFill>
                  <a:schemeClr val="accent2">
                    <a:lumMod val="50000"/>
                  </a:schemeClr>
                </a:solidFill>
                <a:latin typeface="Arial" panose="020B0604020202020204" pitchFamily="34" charset="0"/>
                <a:cs typeface="Arial" panose="020B0604020202020204" pitchFamily="34" charset="0"/>
              </a:rPr>
              <a:t> row (1↔3, 4↔6, 7↔9,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558EADD0-FB24-3233-402A-024D0848921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7A81C40-1A28-6F8A-FA97-FBD97D659EC3}"/>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260104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298576"/>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where clause</a:t>
            </a:r>
          </a:p>
        </p:txBody>
      </p:sp>
      <p:sp>
        <p:nvSpPr>
          <p:cNvPr id="3" name="Rectangle 2"/>
          <p:cNvSpPr/>
          <p:nvPr/>
        </p:nvSpPr>
        <p:spPr>
          <a:xfrm>
            <a:off x="335361" y="3887893"/>
            <a:ext cx="4608511" cy="2012026"/>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Note:</a:t>
            </a:r>
          </a:p>
          <a:p>
            <a:pPr>
              <a:lnSpc>
                <a:spcPct val="107000"/>
              </a:lnSpc>
            </a:pPr>
            <a:endParaRPr lang="en-IN" sz="400" b="1"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b="1" dirty="0">
                <a:latin typeface="Arial" panose="020B0604020202020204" pitchFamily="34" charset="0"/>
                <a:ea typeface="Calibri" panose="020F0502020204030204" pitchFamily="34" charset="0"/>
                <a:cs typeface="Arial" panose="020B0604020202020204" pitchFamily="34" charset="0"/>
              </a:rPr>
              <a:t>Expressions in WHERE clause can use.</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Arithmetic</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Comparison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Logical</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endParaRPr lang="en-IN" i="1" dirty="0">
              <a:latin typeface="Arial" panose="020B0604020202020204" pitchFamily="34" charset="0"/>
              <a:cs typeface="Arial" panose="020B0604020202020204" pitchFamily="34" charset="0"/>
            </a:endParaRPr>
          </a:p>
        </p:txBody>
      </p:sp>
      <p:sp>
        <p:nvSpPr>
          <p:cNvPr id="4" name="Rectangle 3"/>
          <p:cNvSpPr/>
          <p:nvPr/>
        </p:nvSpPr>
        <p:spPr>
          <a:xfrm>
            <a:off x="335361" y="44624"/>
            <a:ext cx="6336703" cy="2427524"/>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Remember:</a:t>
            </a:r>
          </a:p>
          <a:p>
            <a:pPr>
              <a:lnSpc>
                <a:spcPct val="107000"/>
              </a:lnSpc>
            </a:pPr>
            <a:endParaRPr lang="en-IN" sz="400"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dirty="0">
                <a:latin typeface="Arial" panose="020B0604020202020204" pitchFamily="34" charset="0"/>
                <a:ea typeface="Calibri" panose="020F0502020204030204" pitchFamily="34" charset="0"/>
                <a:cs typeface="Arial" panose="020B0604020202020204" pitchFamily="34" charset="0"/>
              </a:rPr>
              <a:t>In </a:t>
            </a:r>
            <a:r>
              <a:rPr lang="en-IN" b="1" dirty="0">
                <a:latin typeface="Arial" panose="020B0604020202020204" pitchFamily="34" charset="0"/>
                <a:ea typeface="Calibri" panose="020F0502020204030204" pitchFamily="34" charset="0"/>
                <a:cs typeface="Arial" panose="020B0604020202020204" pitchFamily="34" charset="0"/>
              </a:rPr>
              <a:t>WHERE</a:t>
            </a:r>
            <a:r>
              <a:rPr lang="en-IN" dirty="0">
                <a:latin typeface="Arial" panose="020B0604020202020204" pitchFamily="34" charset="0"/>
                <a:ea typeface="Calibri" panose="020F0502020204030204" pitchFamily="34" charset="0"/>
                <a:cs typeface="Arial" panose="020B0604020202020204" pitchFamily="34" charset="0"/>
              </a:rPr>
              <a:t> clause operations can be performed using…</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CONSTANTS</a:t>
            </a:r>
            <a:endParaRPr lang="en-IN" dirty="0">
              <a:solidFill>
                <a:schemeClr val="bg1">
                  <a:lumMod val="65000"/>
                </a:schemeClr>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TABLE</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columns</a:t>
            </a:r>
          </a:p>
          <a:p>
            <a:pPr marL="285750" indent="-285750">
              <a:lnSpc>
                <a:spcPct val="150000"/>
              </a:lnSpc>
              <a:buFont typeface="Arial" panose="020B0604020202020204" pitchFamily="34" charset="0"/>
              <a:buChar char="•"/>
            </a:pPr>
            <a:r>
              <a:rPr lang="en-IN" i="1" dirty="0">
                <a:solidFill>
                  <a:srgbClr val="3939F5"/>
                </a:solidFill>
                <a:latin typeface="Arial" panose="020B0604020202020204" pitchFamily="34" charset="0"/>
                <a:ea typeface="Calibri" panose="020F0502020204030204" pitchFamily="34" charset="0"/>
                <a:cs typeface="Arial" panose="020B0604020202020204" pitchFamily="34" charset="0"/>
              </a:rPr>
              <a:t>(SELECT clause)</a:t>
            </a:r>
            <a:endParaRPr lang="en-IN" sz="1900" i="1" dirty="0">
              <a:solidFill>
                <a:srgbClr val="3939F5"/>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FUNCTION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calls (PRE-DEFINED / UDF)</a:t>
            </a:r>
          </a:p>
        </p:txBody>
      </p:sp>
      <p:sp>
        <p:nvSpPr>
          <p:cNvPr id="5" name="Rectangle 4"/>
          <p:cNvSpPr/>
          <p:nvPr/>
        </p:nvSpPr>
        <p:spPr>
          <a:xfrm>
            <a:off x="335360" y="3078287"/>
            <a:ext cx="11449272"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Verdana" panose="020B0604030504040204" pitchFamily="34" charset="0"/>
                <a:cs typeface="Segoe UI Light" panose="020B0502040204020203" pitchFamily="34" charset="0"/>
              </a:rPr>
              <a:t>The WHERE Clause is used when you want to retrieve specific information from a table excluding other irrelevant data.</a:t>
            </a:r>
          </a:p>
        </p:txBody>
      </p:sp>
      <p:sp>
        <p:nvSpPr>
          <p:cNvPr id="7" name="TextBox 6">
            <a:extLst>
              <a:ext uri="{FF2B5EF4-FFF2-40B4-BE49-F238E27FC236}">
                <a16:creationId xmlns:a16="http://schemas.microsoft.com/office/drawing/2014/main" id="{DD849229-9677-46DB-94CA-104ED5D819EA}"/>
              </a:ext>
            </a:extLst>
          </p:cNvPr>
          <p:cNvSpPr txBox="1"/>
          <p:nvPr/>
        </p:nvSpPr>
        <p:spPr>
          <a:xfrm>
            <a:off x="7392144" y="120690"/>
            <a:ext cx="4799856" cy="738664"/>
          </a:xfrm>
          <a:prstGeom prst="rect">
            <a:avLst/>
          </a:prstGeom>
          <a:solidFill>
            <a:schemeClr val="accent3">
              <a:lumMod val="20000"/>
              <a:lumOff val="80000"/>
            </a:schemeClr>
          </a:solidFill>
        </p:spPr>
        <p:txBody>
          <a:bodyPr wrap="square">
            <a:spAutoFit/>
          </a:bodyPr>
          <a:lstStyle/>
          <a:p>
            <a:pPr marL="285750" indent="-285750">
              <a:buFont typeface="Palatino Linotype" panose="02040502050505030304" pitchFamily="18" charset="0"/>
              <a:buChar char="*"/>
            </a:pPr>
            <a:r>
              <a:rPr lang="en-US" dirty="0">
                <a:latin typeface="Palatino Linotype" panose="02040502050505030304" pitchFamily="18" charset="0"/>
                <a:cs typeface="Arial" panose="020B0604020202020204" pitchFamily="34" charset="0"/>
              </a:rPr>
              <a:t>In SQL, a logical expression is often called a </a:t>
            </a:r>
            <a:r>
              <a:rPr lang="en-US" sz="2400" i="1" dirty="0">
                <a:solidFill>
                  <a:srgbClr val="7E007E"/>
                </a:solidFill>
                <a:latin typeface="Palatino Linotype" panose="02040502050505030304" pitchFamily="18" charset="0"/>
                <a:cs typeface="Arial" panose="020B0604020202020204" pitchFamily="34" charset="0"/>
              </a:rPr>
              <a:t>predicate</a:t>
            </a:r>
            <a:r>
              <a:rPr lang="en-US" dirty="0">
                <a:latin typeface="Palatino Linotype" panose="02040502050505030304" pitchFamily="18" charset="0"/>
                <a:cs typeface="Arial" panose="020B0604020202020204" pitchFamily="34" charset="0"/>
              </a:rPr>
              <a:t>.</a:t>
            </a:r>
            <a:endParaRPr lang="en-IN" dirty="0">
              <a:latin typeface="Palatino Linotype" panose="02040502050505030304" pitchFamily="18" charset="0"/>
              <a:cs typeface="Arial" panose="020B0604020202020204" pitchFamily="34" charset="0"/>
            </a:endParaRPr>
          </a:p>
        </p:txBody>
      </p:sp>
      <p:sp>
        <p:nvSpPr>
          <p:cNvPr id="8" name="TextBox 7">
            <a:extLst>
              <a:ext uri="{FF2B5EF4-FFF2-40B4-BE49-F238E27FC236}">
                <a16:creationId xmlns:a16="http://schemas.microsoft.com/office/drawing/2014/main" id="{6F67562F-CDBB-409C-A9BB-F33246282F48}"/>
              </a:ext>
            </a:extLst>
          </p:cNvPr>
          <p:cNvSpPr txBox="1"/>
          <p:nvPr/>
        </p:nvSpPr>
        <p:spPr>
          <a:xfrm>
            <a:off x="335360" y="5971927"/>
            <a:ext cx="11375999" cy="76944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algn="l"/>
            <a:endParaRPr lang="en-US" sz="400" b="0" i="0" u="none" strike="noStrike" baseline="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0" i="0" u="none" strike="noStrike" baseline="0" dirty="0">
                <a:latin typeface="Arial" panose="020B0604020202020204" pitchFamily="34" charset="0"/>
                <a:cs typeface="Arial" panose="020B0604020202020204" pitchFamily="34" charset="0"/>
              </a:rPr>
              <a:t>All comparisons return FALSE when either argument is NULL, so no rows </a:t>
            </a:r>
            <a:r>
              <a:rPr lang="en-IN" b="0" i="0" u="none" strike="noStrike" baseline="0" dirty="0">
                <a:latin typeface="Arial" panose="020B0604020202020204" pitchFamily="34" charset="0"/>
                <a:cs typeface="Arial" panose="020B0604020202020204" pitchFamily="34" charset="0"/>
              </a:rPr>
              <a:t>are ever selected.</a:t>
            </a:r>
            <a:endParaRPr lang="en-IN" dirty="0">
              <a:latin typeface="Arial" panose="020B0604020202020204" pitchFamily="34" charset="0"/>
              <a:cs typeface="Arial" panose="020B0604020202020204" pitchFamily="34" charset="0"/>
            </a:endParaRPr>
          </a:p>
        </p:txBody>
      </p:sp>
      <p:grpSp>
        <p:nvGrpSpPr>
          <p:cNvPr id="14" name="Group 13">
            <a:extLst>
              <a:ext uri="{FF2B5EF4-FFF2-40B4-BE49-F238E27FC236}">
                <a16:creationId xmlns:a16="http://schemas.microsoft.com/office/drawing/2014/main" id="{697E6C1E-52ED-AE36-CE42-3E4D7E0509AC}"/>
              </a:ext>
            </a:extLst>
          </p:cNvPr>
          <p:cNvGrpSpPr/>
          <p:nvPr/>
        </p:nvGrpSpPr>
        <p:grpSpPr>
          <a:xfrm>
            <a:off x="2495600" y="1104534"/>
            <a:ext cx="9499765" cy="763658"/>
            <a:chOff x="2606520" y="1133718"/>
            <a:chExt cx="9499765" cy="763658"/>
          </a:xfrm>
        </p:grpSpPr>
        <p:sp>
          <p:nvSpPr>
            <p:cNvPr id="9" name="TextBox 8">
              <a:extLst>
                <a:ext uri="{FF2B5EF4-FFF2-40B4-BE49-F238E27FC236}">
                  <a16:creationId xmlns:a16="http://schemas.microsoft.com/office/drawing/2014/main" id="{08509231-F880-BBB0-53E1-F43669CB67EE}"/>
                </a:ext>
              </a:extLst>
            </p:cNvPr>
            <p:cNvSpPr txBox="1"/>
            <p:nvPr/>
          </p:nvSpPr>
          <p:spPr>
            <a:xfrm>
              <a:off x="3265699" y="1133718"/>
              <a:ext cx="8840586" cy="646331"/>
            </a:xfrm>
            <a:prstGeom prst="rect">
              <a:avLst/>
            </a:prstGeom>
            <a:solidFill>
              <a:schemeClr val="accent3">
                <a:lumMod val="60000"/>
                <a:lumOff val="40000"/>
              </a:schemeClr>
            </a:solidFill>
          </p:spPr>
          <p:txBody>
            <a:bodyPr wrap="square">
              <a:spAutoFit/>
            </a:bodyPr>
            <a:lstStyle/>
            <a:p>
              <a:r>
                <a:rPr lang="en-IN" b="1" dirty="0">
                  <a:solidFill>
                    <a:srgbClr val="0077AA"/>
                  </a:solidFill>
                  <a:latin typeface="Liberation Mono"/>
                  <a:cs typeface="Times New Roman" panose="02020603050405020304" pitchFamily="18" charset="0"/>
                </a:rPr>
                <a:t>SELECT</a:t>
              </a:r>
              <a:r>
                <a:rPr lang="en-IN" b="1" dirty="0">
                  <a:latin typeface="Liberation Mono"/>
                </a:rPr>
                <a:t> patientID, patientName </a:t>
              </a:r>
              <a:r>
                <a:rPr lang="en-IN" b="1" dirty="0">
                  <a:solidFill>
                    <a:srgbClr val="0077AA"/>
                  </a:solidFill>
                  <a:latin typeface="Liberation Mono"/>
                  <a:cs typeface="Times New Roman" panose="02020603050405020304" pitchFamily="18" charset="0"/>
                </a:rPr>
                <a:t>FROM</a:t>
              </a:r>
              <a:r>
                <a:rPr lang="en-IN" b="1" dirty="0">
                  <a:latin typeface="Liberation Mono"/>
                </a:rPr>
                <a:t> patient </a:t>
              </a:r>
              <a:r>
                <a:rPr lang="en-IN" b="1" dirty="0">
                  <a:solidFill>
                    <a:srgbClr val="0077AA"/>
                  </a:solidFill>
                  <a:latin typeface="Liberation Mono"/>
                  <a:cs typeface="Times New Roman" panose="02020603050405020304" pitchFamily="18" charset="0"/>
                </a:rPr>
                <a:t>WHERE</a:t>
              </a:r>
              <a:r>
                <a:rPr lang="en-IN" b="1" dirty="0">
                  <a:latin typeface="Liberation Mono"/>
                </a:rPr>
                <a:t> (</a:t>
              </a:r>
              <a:r>
                <a:rPr lang="en-IN" b="1" dirty="0">
                  <a:solidFill>
                    <a:srgbClr val="0077AA"/>
                  </a:solidFill>
                  <a:latin typeface="Liberation Mono"/>
                  <a:cs typeface="Times New Roman" panose="02020603050405020304" pitchFamily="18" charset="0"/>
                </a:rPr>
                <a:t>SELECT</a:t>
              </a:r>
              <a:r>
                <a:rPr lang="en-IN" b="1" dirty="0">
                  <a:latin typeface="Liberation Mono"/>
                </a:rPr>
                <a:t> </a:t>
              </a:r>
              <a:r>
                <a:rPr lang="en-IN" b="1" dirty="0">
                  <a:solidFill>
                    <a:srgbClr val="DD4A68"/>
                  </a:solidFill>
                  <a:latin typeface="Liberation Mono"/>
                </a:rPr>
                <a:t>COUNT</a:t>
              </a:r>
              <a:r>
                <a:rPr lang="en-IN" b="1" dirty="0">
                  <a:latin typeface="Liberation Mono"/>
                </a:rPr>
                <a:t>(</a:t>
              </a:r>
              <a:r>
                <a:rPr lang="en-IN" b="1" dirty="0">
                  <a:solidFill>
                    <a:srgbClr val="A67F59"/>
                  </a:solidFill>
                  <a:latin typeface="Liberation Mono"/>
                </a:rPr>
                <a:t>*</a:t>
              </a:r>
              <a:r>
                <a:rPr lang="en-IN" b="1" dirty="0">
                  <a:latin typeface="Liberation Mono"/>
                </a:rPr>
                <a:t>) </a:t>
              </a:r>
              <a:r>
                <a:rPr lang="en-IN" b="1" dirty="0">
                  <a:solidFill>
                    <a:srgbClr val="0077AA"/>
                  </a:solidFill>
                  <a:latin typeface="Liberation Mono"/>
                  <a:cs typeface="Times New Roman" panose="02020603050405020304" pitchFamily="18" charset="0"/>
                </a:rPr>
                <a:t>FROM</a:t>
              </a:r>
              <a:r>
                <a:rPr lang="en-IN" b="1" dirty="0">
                  <a:latin typeface="Liberation Mono"/>
                </a:rPr>
                <a:t> doctorvisits </a:t>
              </a:r>
              <a:r>
                <a:rPr lang="en-IN" b="1" dirty="0">
                  <a:solidFill>
                    <a:srgbClr val="0077AA"/>
                  </a:solidFill>
                  <a:latin typeface="Liberation Mono"/>
                  <a:cs typeface="Times New Roman" panose="02020603050405020304" pitchFamily="18" charset="0"/>
                </a:rPr>
                <a:t>WHERE</a:t>
              </a:r>
              <a:r>
                <a:rPr lang="en-IN" b="1" dirty="0">
                  <a:latin typeface="Liberation Mono"/>
                </a:rPr>
                <a:t> patient.patientID </a:t>
              </a:r>
              <a:r>
                <a:rPr lang="en-IN" b="1" dirty="0">
                  <a:solidFill>
                    <a:schemeClr val="accent5">
                      <a:lumMod val="75000"/>
                    </a:schemeClr>
                  </a:solidFill>
                  <a:latin typeface="Liberation Mono"/>
                </a:rPr>
                <a:t>=</a:t>
              </a:r>
              <a:r>
                <a:rPr lang="en-IN" b="1" dirty="0">
                  <a:latin typeface="Liberation Mono"/>
                </a:rPr>
                <a:t> doctorVisits.patientid </a:t>
              </a:r>
              <a:r>
                <a:rPr lang="en-IN" b="1" dirty="0">
                  <a:solidFill>
                    <a:srgbClr val="0077AA"/>
                  </a:solidFill>
                  <a:latin typeface="Liberation Mono"/>
                  <a:cs typeface="Times New Roman" panose="02020603050405020304" pitchFamily="18" charset="0"/>
                </a:rPr>
                <a:t>GROUP</a:t>
              </a:r>
              <a:r>
                <a:rPr lang="en-IN" b="1" dirty="0">
                  <a:latin typeface="Liberation Mono"/>
                </a:rPr>
                <a:t> </a:t>
              </a:r>
              <a:r>
                <a:rPr lang="en-IN" b="1" dirty="0">
                  <a:solidFill>
                    <a:srgbClr val="0077AA"/>
                  </a:solidFill>
                  <a:latin typeface="Liberation Mono"/>
                  <a:cs typeface="Times New Roman" panose="02020603050405020304" pitchFamily="18" charset="0"/>
                </a:rPr>
                <a:t>BY</a:t>
              </a:r>
              <a:r>
                <a:rPr lang="en-IN" b="1" dirty="0">
                  <a:latin typeface="Liberation Mono"/>
                </a:rPr>
                <a:t> doctorvisits.patientID) &gt; </a:t>
              </a:r>
              <a:r>
                <a:rPr lang="en-IN" b="1" dirty="0">
                  <a:solidFill>
                    <a:srgbClr val="990055"/>
                  </a:solidFill>
                  <a:latin typeface="Liberation Mono"/>
                </a:rPr>
                <a:t>8</a:t>
              </a:r>
              <a:r>
                <a:rPr lang="en-IN" b="1" dirty="0">
                  <a:latin typeface="Liberation Mono"/>
                </a:rPr>
                <a:t>;</a:t>
              </a:r>
            </a:p>
          </p:txBody>
        </p:sp>
        <p:cxnSp>
          <p:nvCxnSpPr>
            <p:cNvPr id="11" name="Connector: Elbow 10">
              <a:extLst>
                <a:ext uri="{FF2B5EF4-FFF2-40B4-BE49-F238E27FC236}">
                  <a16:creationId xmlns:a16="http://schemas.microsoft.com/office/drawing/2014/main" id="{27F7BABD-565B-759A-96C4-91C7CD3C8293}"/>
                </a:ext>
              </a:extLst>
            </p:cNvPr>
            <p:cNvCxnSpPr>
              <a:cxnSpLocks/>
            </p:cNvCxnSpPr>
            <p:nvPr/>
          </p:nvCxnSpPr>
          <p:spPr>
            <a:xfrm flipV="1">
              <a:off x="2606520" y="1437428"/>
              <a:ext cx="620267" cy="459948"/>
            </a:xfrm>
            <a:prstGeom prst="bentConnector3">
              <a:avLst>
                <a:gd name="adj1" fmla="val 50000"/>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10" name="TextBox 9">
            <a:extLst>
              <a:ext uri="{FF2B5EF4-FFF2-40B4-BE49-F238E27FC236}">
                <a16:creationId xmlns:a16="http://schemas.microsoft.com/office/drawing/2014/main" id="{E97AA09F-2EDF-CA27-1DE2-881769DB4925}"/>
              </a:ext>
            </a:extLst>
          </p:cNvPr>
          <p:cNvSpPr txBox="1"/>
          <p:nvPr/>
        </p:nvSpPr>
        <p:spPr>
          <a:xfrm>
            <a:off x="4943872" y="3764066"/>
            <a:ext cx="7200801" cy="2185214"/>
          </a:xfrm>
          <a:prstGeom prst="rect">
            <a:avLst/>
          </a:prstGeom>
          <a:solidFill>
            <a:schemeClr val="accent3">
              <a:lumMod val="20000"/>
              <a:lumOff val="80000"/>
            </a:schemeClr>
          </a:solidFill>
        </p:spPr>
        <p:txBody>
          <a:bodyPr wrap="square">
            <a:spAutoFit/>
          </a:bodyPr>
          <a:lstStyle/>
          <a:p>
            <a:r>
              <a:rPr lang="en-IN" b="1" dirty="0"/>
              <a:t>with OR</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b="1" dirty="0"/>
              <a:t>with AND</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2009809066"/>
      </p:ext>
    </p:extLst>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2" name="Rectangle 1"/>
          <p:cNvSpPr/>
          <p:nvPr/>
        </p:nvSpPr>
        <p:spPr>
          <a:xfrm>
            <a:off x="387116" y="703183"/>
            <a:ext cx="1139751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We can use a conditional clause called WHERE clause to filter out results. Using WHERE clause, we can specify a selection criteria to select required records from a table.</a:t>
            </a:r>
          </a:p>
        </p:txBody>
      </p:sp>
      <p:sp>
        <p:nvSpPr>
          <p:cNvPr id="9" name="Rectangle 8"/>
          <p:cNvSpPr/>
          <p:nvPr/>
        </p:nvSpPr>
        <p:spPr>
          <a:xfrm>
            <a:off x="325234" y="3933056"/>
            <a:ext cx="11430936" cy="1477328"/>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A </a:t>
            </a:r>
            <a:r>
              <a:rPr lang="en-US" dirty="0">
                <a:solidFill>
                  <a:schemeClr val="accent2">
                    <a:lumMod val="50000"/>
                  </a:schemeClr>
                </a:solidFill>
                <a:latin typeface="Arial" panose="020B0604020202020204" pitchFamily="34" charset="0"/>
                <a:cs typeface="Arial" panose="020B0604020202020204" pitchFamily="34" charset="0"/>
              </a:rPr>
              <a:t>predicate</a:t>
            </a:r>
            <a:r>
              <a:rPr lang="en-US" dirty="0">
                <a:latin typeface="Arial" panose="020B0604020202020204" pitchFamily="34" charset="0"/>
                <a:cs typeface="Arial" panose="020B0604020202020204" pitchFamily="34" charset="0"/>
              </a:rPr>
              <a:t> is a condition expression that evaluates to a boolean value, either </a:t>
            </a:r>
            <a:r>
              <a:rPr lang="en-US" b="1" dirty="0">
                <a:latin typeface="Arial" panose="020B0604020202020204" pitchFamily="34" charset="0"/>
                <a:cs typeface="Arial" panose="020B0604020202020204" pitchFamily="34" charset="0"/>
              </a:rPr>
              <a:t>true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false</a:t>
            </a:r>
            <a:r>
              <a:rPr lang="en-US" dirty="0">
                <a:latin typeface="Arial" panose="020B0604020202020204" pitchFamily="34" charset="0"/>
                <a:cs typeface="Arial" panose="020B0604020202020204" pitchFamily="34" charset="0"/>
              </a:rPr>
              <a:t>.</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solidFill>
                  <a:schemeClr val="accent2">
                    <a:lumMod val="50000"/>
                  </a:schemeClr>
                </a:solidFill>
                <a:latin typeface="Arial" panose="020B0604020202020204" pitchFamily="34" charset="0"/>
                <a:cs typeface="Arial" panose="020B0604020202020204" pitchFamily="34" charset="0"/>
              </a:rPr>
              <a:t>Predicates</a:t>
            </a:r>
            <a:r>
              <a:rPr lang="en-US" dirty="0">
                <a:latin typeface="Arial" panose="020B0604020202020204" pitchFamily="34" charset="0"/>
                <a:cs typeface="Arial" panose="020B0604020202020204" pitchFamily="34" charset="0"/>
              </a:rPr>
              <a:t> can be used as follows: In a SELECT statement's </a:t>
            </a: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clause or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to determine which rows are relevant to a particular query.</a:t>
            </a:r>
          </a:p>
        </p:txBody>
      </p:sp>
      <p:sp>
        <p:nvSpPr>
          <p:cNvPr id="10" name="Rectangle 9"/>
          <p:cNvSpPr/>
          <p:nvPr/>
        </p:nvSpPr>
        <p:spPr>
          <a:xfrm>
            <a:off x="325234" y="2132856"/>
            <a:ext cx="11430936" cy="1553054"/>
          </a:xfrm>
          <a:prstGeom prst="rect">
            <a:avLst/>
          </a:prstGeom>
        </p:spPr>
        <p:txBody>
          <a:bodyPr wrap="square">
            <a:spAutoFit/>
          </a:bodyPr>
          <a:lstStyle/>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r</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the relations (tables)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A</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attributes (columns)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P is the selection predicate</a:t>
            </a:r>
          </a:p>
        </p:txBody>
      </p:sp>
      <p:sp>
        <p:nvSpPr>
          <p:cNvPr id="11" name="Rectangle 10">
            <a:extLst>
              <a:ext uri="{FF2B5EF4-FFF2-40B4-BE49-F238E27FC236}">
                <a16:creationId xmlns:a16="http://schemas.microsoft.com/office/drawing/2014/main" id="{12C3D81E-3D2B-48DA-B46C-AA37BBC787B5}"/>
              </a:ext>
            </a:extLst>
          </p:cNvPr>
          <p:cNvSpPr/>
          <p:nvPr/>
        </p:nvSpPr>
        <p:spPr>
          <a:xfrm>
            <a:off x="325234" y="6156012"/>
            <a:ext cx="8219038"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Source Code Pro" panose="020B0509030403020204" pitchFamily="49" charset="0"/>
                <a:ea typeface="Source Code Pro" panose="020B0509030403020204" pitchFamily="49" charset="0"/>
              </a:rPr>
              <a:t>SELECT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endParaRPr lang="en-IN" dirty="0">
              <a:latin typeface="Source Code Pro" panose="020B0509030403020204" pitchFamily="49" charset="0"/>
              <a:ea typeface="Source Code Pro" panose="020B0509030403020204" pitchFamily="49" charset="0"/>
            </a:endParaRPr>
          </a:p>
        </p:txBody>
      </p:sp>
      <p:sp>
        <p:nvSpPr>
          <p:cNvPr id="12" name="Rectangle 11">
            <a:extLst>
              <a:ext uri="{FF2B5EF4-FFF2-40B4-BE49-F238E27FC236}">
                <a16:creationId xmlns:a16="http://schemas.microsoft.com/office/drawing/2014/main" id="{BF41C5D9-8E8A-4B01-904F-3436C6021AA5}"/>
              </a:ext>
            </a:extLst>
          </p:cNvPr>
          <p:cNvSpPr/>
          <p:nvPr/>
        </p:nvSpPr>
        <p:spPr>
          <a:xfrm>
            <a:off x="407368" y="5589240"/>
            <a:ext cx="11430936" cy="523220"/>
          </a:xfrm>
          <a:prstGeom prst="rect">
            <a:avLst/>
          </a:prstGeom>
          <a:solidFill>
            <a:schemeClr val="accent3">
              <a:lumMod val="40000"/>
              <a:lumOff val="60000"/>
            </a:schemeClr>
          </a:solidFill>
        </p:spPr>
        <p:txBody>
          <a:bodyPr wrap="square">
            <a:spAutoFit/>
          </a:bodyPr>
          <a:lstStyle/>
          <a:p>
            <a:r>
              <a:rPr lang="en-IN" sz="2400" dirty="0">
                <a:latin typeface="Liberation Mono"/>
              </a:rPr>
              <a:t>A value of </a:t>
            </a:r>
            <a:r>
              <a:rPr lang="en-IN" sz="2800" dirty="0">
                <a:solidFill>
                  <a:srgbClr val="2658E6"/>
                </a:solidFill>
                <a:latin typeface="Liberation Mono"/>
              </a:rPr>
              <a:t>zero</a:t>
            </a:r>
            <a:r>
              <a:rPr lang="en-IN" sz="2400" dirty="0">
                <a:latin typeface="Liberation Mono"/>
              </a:rPr>
              <a:t> is considered </a:t>
            </a:r>
            <a:r>
              <a:rPr lang="en-IN" sz="2800" dirty="0">
                <a:solidFill>
                  <a:srgbClr val="2658E6"/>
                </a:solidFill>
                <a:latin typeface="Liberation Mono"/>
              </a:rPr>
              <a:t>false</a:t>
            </a:r>
            <a:r>
              <a:rPr lang="en-IN" sz="2400" dirty="0">
                <a:latin typeface="Liberation Mono"/>
              </a:rPr>
              <a:t>. </a:t>
            </a:r>
            <a:r>
              <a:rPr lang="en-IN" sz="2800" dirty="0">
                <a:solidFill>
                  <a:srgbClr val="2658E6"/>
                </a:solidFill>
                <a:latin typeface="Liberation Mono"/>
              </a:rPr>
              <a:t>Nonzero</a:t>
            </a:r>
            <a:r>
              <a:rPr lang="en-IN" sz="2400" dirty="0">
                <a:latin typeface="Liberation Mono"/>
              </a:rPr>
              <a:t> values are considered </a:t>
            </a:r>
            <a:r>
              <a:rPr lang="en-IN" sz="2800" dirty="0">
                <a:solidFill>
                  <a:srgbClr val="2658E6"/>
                </a:solidFill>
                <a:latin typeface="Liberation Mono"/>
              </a:rPr>
              <a:t>true</a:t>
            </a:r>
            <a:r>
              <a:rPr lang="en-IN" sz="2400" dirty="0">
                <a:latin typeface="Liberation Mono"/>
              </a:rPr>
              <a:t>.</a:t>
            </a:r>
          </a:p>
        </p:txBody>
      </p:sp>
      <p:sp>
        <p:nvSpPr>
          <p:cNvPr id="3" name="TextBox 2">
            <a:extLst>
              <a:ext uri="{FF2B5EF4-FFF2-40B4-BE49-F238E27FC236}">
                <a16:creationId xmlns:a16="http://schemas.microsoft.com/office/drawing/2014/main" id="{78E204C2-8354-E3D1-5822-6CD25B91F8B8}"/>
              </a:ext>
            </a:extLst>
          </p:cNvPr>
          <p:cNvSpPr txBox="1"/>
          <p:nvPr/>
        </p:nvSpPr>
        <p:spPr>
          <a:xfrm>
            <a:off x="5255397" y="2276872"/>
            <a:ext cx="6643108" cy="70788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SQL permits us to use the notation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a:latin typeface="Arial" panose="020B0604020202020204" pitchFamily="34" charset="0"/>
                <a:cs typeface="Arial" panose="020B0604020202020204" pitchFamily="34" charset="0"/>
              </a:rPr>
              <a:t>) to denote a tuple of arity (attribute) n containing values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err="1">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a:t>
            </a:r>
          </a:p>
        </p:txBody>
      </p:sp>
      <p:sp>
        <p:nvSpPr>
          <p:cNvPr id="4" name="TextBox 3">
            <a:extLst>
              <a:ext uri="{FF2B5EF4-FFF2-40B4-BE49-F238E27FC236}">
                <a16:creationId xmlns:a16="http://schemas.microsoft.com/office/drawing/2014/main" id="{35A23B68-C0C9-D0C6-5CBB-E6A03F2C3267}"/>
              </a:ext>
            </a:extLst>
          </p:cNvPr>
          <p:cNvSpPr txBox="1"/>
          <p:nvPr/>
        </p:nvSpPr>
        <p:spPr>
          <a:xfrm>
            <a:off x="5284028" y="3060211"/>
            <a:ext cx="6480720" cy="769441"/>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(emp.deptno, dname)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(dept.deptno, </a:t>
            </a:r>
            <a:r>
              <a:rPr lang="en-IN" dirty="0">
                <a:solidFill>
                  <a:srgbClr val="00B050"/>
                </a:solidFill>
                <a:latin typeface="Liberation Mono"/>
                <a:cs typeface="Arial" panose="020B0604020202020204" pitchFamily="34" charset="0"/>
              </a:rPr>
              <a:t>'sales'</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86EFF3F7-FF1B-DEE6-3F08-3AF4DE2F9874}"/>
              </a:ext>
            </a:extLst>
          </p:cNvPr>
          <p:cNvSpPr/>
          <p:nvPr/>
        </p:nvSpPr>
        <p:spPr>
          <a:xfrm>
            <a:off x="387116" y="1554556"/>
            <a:ext cx="8715436"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139947438"/>
      </p:ext>
    </p:extLst>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C640E5DD-8DF1-42AD-82EE-0CFA98C12CFA}"/>
              </a:ext>
            </a:extLst>
          </p:cNvPr>
          <p:cNvSpPr/>
          <p:nvPr/>
        </p:nvSpPr>
        <p:spPr>
          <a:xfrm>
            <a:off x="7896200" y="5365085"/>
            <a:ext cx="4176464"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p:txBody>
      </p:sp>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3" name="TextBox 12">
            <a:extLst>
              <a:ext uri="{FF2B5EF4-FFF2-40B4-BE49-F238E27FC236}">
                <a16:creationId xmlns:a16="http://schemas.microsoft.com/office/drawing/2014/main" id="{5CA720AB-F4E8-4F13-8E16-92F6B8D40E26}"/>
              </a:ext>
            </a:extLst>
          </p:cNvPr>
          <p:cNvSpPr txBox="1"/>
          <p:nvPr/>
        </p:nvSpPr>
        <p:spPr>
          <a:xfrm>
            <a:off x="47328" y="2564904"/>
            <a:ext cx="2890710" cy="378885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p:txBody>
      </p:sp>
      <p:sp>
        <p:nvSpPr>
          <p:cNvPr id="11" name="Rectangle 10">
            <a:extLst>
              <a:ext uri="{FF2B5EF4-FFF2-40B4-BE49-F238E27FC236}">
                <a16:creationId xmlns:a16="http://schemas.microsoft.com/office/drawing/2014/main" id="{6C3089C9-2EAC-4779-AA10-6771B698E70D}"/>
              </a:ext>
            </a:extLst>
          </p:cNvPr>
          <p:cNvSpPr/>
          <p:nvPr/>
        </p:nvSpPr>
        <p:spPr>
          <a:xfrm>
            <a:off x="407368" y="2060848"/>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6" name="TextBox 5">
            <a:extLst>
              <a:ext uri="{FF2B5EF4-FFF2-40B4-BE49-F238E27FC236}">
                <a16:creationId xmlns:a16="http://schemas.microsoft.com/office/drawing/2014/main" id="{CBC954AA-5E7D-4EF9-AAA2-33D79F12E8CA}"/>
              </a:ext>
            </a:extLst>
          </p:cNvPr>
          <p:cNvSpPr txBox="1"/>
          <p:nvPr/>
        </p:nvSpPr>
        <p:spPr>
          <a:xfrm>
            <a:off x="263352" y="1202415"/>
            <a:ext cx="5976664" cy="969496"/>
          </a:xfrm>
          <a:prstGeom prst="rect">
            <a:avLst/>
          </a:prstGeom>
          <a:noFill/>
        </p:spPr>
        <p:txBody>
          <a:bodyPr wrap="square">
            <a:spAutoFit/>
          </a:bodyPr>
          <a:lstStyle/>
          <a:p>
            <a:pPr marL="457200" indent="-457200">
              <a:buFont typeface="+mj-lt"/>
              <a:buAutoNum type="arabicPeriod" startAt="2"/>
            </a:pPr>
            <a:r>
              <a:rPr lang="en-IN" sz="2400" b="1" i="1" dirty="0">
                <a:solidFill>
                  <a:schemeClr val="accent6">
                    <a:lumMod val="75000"/>
                  </a:schemeClr>
                </a:solidFill>
                <a:latin typeface="Liberation Mono"/>
              </a:rPr>
              <a:t>comparison_operator: </a:t>
            </a:r>
          </a:p>
          <a:p>
            <a:pPr marL="531813"/>
            <a:r>
              <a:rPr lang="en-IN" sz="2200" dirty="0">
                <a:solidFill>
                  <a:srgbClr val="A67F59"/>
                </a:solidFill>
                <a:latin typeface="Liberation Mono"/>
              </a:rPr>
              <a:t>= </a:t>
            </a:r>
            <a:r>
              <a:rPr lang="en-IN" sz="2200" b="0" i="0" dirty="0">
                <a:solidFill>
                  <a:schemeClr val="bg1">
                    <a:lumMod val="65000"/>
                  </a:schemeClr>
                </a:solidFill>
                <a:effectLst/>
                <a:latin typeface="Liberation Mono"/>
              </a:rPr>
              <a:t>| </a:t>
            </a:r>
            <a:r>
              <a:rPr lang="en-IN" sz="2200" dirty="0">
                <a:solidFill>
                  <a:srgbClr val="A67F59"/>
                </a:solidFill>
                <a:latin typeface="Liberation Mono"/>
              </a:rPr>
              <a:t>&lt;=&gt; </a:t>
            </a:r>
            <a:r>
              <a:rPr lang="en-IN" sz="2200" b="0" i="0" dirty="0">
                <a:solidFill>
                  <a:schemeClr val="bg1">
                    <a:lumMod val="65000"/>
                  </a:schemeClr>
                </a:solidFill>
                <a:effectLst/>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a:t>
            </a:r>
            <a:r>
              <a:rPr lang="en-IN" sz="2200" dirty="0">
                <a:solidFill>
                  <a:srgbClr val="A67F59"/>
                </a:solidFill>
                <a:latin typeface="Liberation Mono"/>
              </a:rPr>
              <a:t> &lt;=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&lt; </a:t>
            </a:r>
            <a:r>
              <a:rPr lang="en-IN" sz="2200" dirty="0">
                <a:solidFill>
                  <a:schemeClr val="bg1">
                    <a:lumMod val="65000"/>
                  </a:schemeClr>
                </a:solidFill>
                <a:latin typeface="Liberation Mono"/>
              </a:rPr>
              <a:t>| </a:t>
            </a:r>
            <a:r>
              <a:rPr lang="en-IN" sz="2200" dirty="0">
                <a:solidFill>
                  <a:srgbClr val="A67F59"/>
                </a:solidFill>
                <a:latin typeface="Liberation Mono"/>
              </a:rPr>
              <a:t>&lt;&gt;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a:t>
            </a:r>
          </a:p>
          <a:p>
            <a:endParaRPr lang="en-US" sz="900" dirty="0">
              <a:solidFill>
                <a:schemeClr val="accent6">
                  <a:lumMod val="75000"/>
                </a:schemeClr>
              </a:solidFill>
              <a:effectLst/>
              <a:latin typeface="Liberation Mono"/>
            </a:endParaRPr>
          </a:p>
        </p:txBody>
      </p:sp>
      <p:sp>
        <p:nvSpPr>
          <p:cNvPr id="7" name="TextBox 6">
            <a:extLst>
              <a:ext uri="{FF2B5EF4-FFF2-40B4-BE49-F238E27FC236}">
                <a16:creationId xmlns:a16="http://schemas.microsoft.com/office/drawing/2014/main" id="{4E7DB296-E8A5-4380-9DCC-E7C7FB2903F6}"/>
              </a:ext>
            </a:extLst>
          </p:cNvPr>
          <p:cNvSpPr txBox="1"/>
          <p:nvPr/>
        </p:nvSpPr>
        <p:spPr>
          <a:xfrm>
            <a:off x="2711624" y="2560471"/>
            <a:ext cx="4796815" cy="337335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rgbClr val="990055"/>
                </a:solidFill>
                <a:latin typeface="Liberation Mono"/>
              </a:rPr>
              <a:t>0</a:t>
            </a:r>
            <a:r>
              <a:rPr lang="en-US" dirty="0">
                <a:latin typeface="Liberation Mono"/>
              </a:rPr>
              <a:t>;</a:t>
            </a:r>
            <a:endParaRPr lang="en-IN" dirty="0">
              <a:latin typeface="Liberation Mono"/>
            </a:endParaRPr>
          </a:p>
        </p:txBody>
      </p:sp>
      <p:sp>
        <p:nvSpPr>
          <p:cNvPr id="8" name="TextBox 7">
            <a:extLst>
              <a:ext uri="{FF2B5EF4-FFF2-40B4-BE49-F238E27FC236}">
                <a16:creationId xmlns:a16="http://schemas.microsoft.com/office/drawing/2014/main" id="{D1B4EBBE-E266-4A83-B7FA-9B173F3C100F}"/>
              </a:ext>
            </a:extLst>
          </p:cNvPr>
          <p:cNvSpPr txBox="1"/>
          <p:nvPr/>
        </p:nvSpPr>
        <p:spPr>
          <a:xfrm>
            <a:off x="5866683" y="1196752"/>
            <a:ext cx="4933875" cy="830997"/>
          </a:xfrm>
          <a:prstGeom prst="rect">
            <a:avLst/>
          </a:prstGeom>
          <a:noFill/>
        </p:spPr>
        <p:txBody>
          <a:bodyPr wrap="square">
            <a:spAutoFit/>
          </a:bodyPr>
          <a:lstStyle/>
          <a:p>
            <a:pPr marL="450850" indent="-450850">
              <a:buFont typeface="+mj-lt"/>
              <a:buAutoNum type="arabicPeriod" startAt="5"/>
            </a:pPr>
            <a:r>
              <a:rPr lang="en-IN" sz="2400" b="1" i="1" dirty="0">
                <a:solidFill>
                  <a:schemeClr val="accent6">
                    <a:lumMod val="75000"/>
                  </a:schemeClr>
                </a:solidFill>
                <a:latin typeface="Liberation Mono"/>
              </a:rPr>
              <a:t>logical_operators</a:t>
            </a:r>
          </a:p>
          <a:p>
            <a:pPr marL="447675"/>
            <a:r>
              <a:rPr lang="en-IN" sz="2200" dirty="0">
                <a:latin typeface="Liberation Mono"/>
              </a:rPr>
              <a:t>{</a:t>
            </a:r>
            <a:r>
              <a:rPr lang="en-IN" sz="2200" dirty="0">
                <a:solidFill>
                  <a:srgbClr val="A67F59"/>
                </a:solidFill>
                <a:latin typeface="Liberation Mono"/>
              </a:rPr>
              <a:t> AND</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&amp;&amp;</a:t>
            </a:r>
            <a:r>
              <a:rPr lang="en-IN" sz="2200" b="0" i="0" dirty="0">
                <a:solidFill>
                  <a:srgbClr val="000000"/>
                </a:solidFill>
                <a:effectLst/>
                <a:latin typeface="Liberation Mono"/>
              </a:rPr>
              <a:t> } </a:t>
            </a:r>
            <a:r>
              <a:rPr lang="en-IN" sz="2200" b="0" i="0" dirty="0">
                <a:solidFill>
                  <a:schemeClr val="bg1">
                    <a:lumMod val="65000"/>
                  </a:schemeClr>
                </a:solidFill>
                <a:effectLst/>
                <a:latin typeface="Liberation Mono"/>
              </a:rPr>
              <a:t>| </a:t>
            </a:r>
            <a:r>
              <a:rPr lang="en-IN" sz="2200" b="0" i="0" dirty="0">
                <a:effectLst/>
                <a:latin typeface="Liberation Mono"/>
              </a:rPr>
              <a:t>{</a:t>
            </a:r>
            <a:r>
              <a:rPr lang="en-IN" sz="2200" b="0" i="0" dirty="0">
                <a:solidFill>
                  <a:schemeClr val="bg1">
                    <a:lumMod val="65000"/>
                  </a:schemeClr>
                </a:solidFill>
                <a:effectLst/>
                <a:latin typeface="Liberation Mono"/>
              </a:rPr>
              <a:t> </a:t>
            </a:r>
            <a:r>
              <a:rPr lang="en-IN" sz="2200" dirty="0">
                <a:solidFill>
                  <a:srgbClr val="A67F59"/>
                </a:solidFill>
                <a:latin typeface="Liberation Mono"/>
              </a:rPr>
              <a:t>OR</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 </a:t>
            </a:r>
            <a:r>
              <a:rPr lang="en-IN" sz="2200" b="0" i="0" dirty="0">
                <a:effectLst/>
                <a:latin typeface="Liberation Mono"/>
              </a:rPr>
              <a:t>}</a:t>
            </a:r>
            <a:r>
              <a:rPr lang="en-IN" sz="2200" dirty="0">
                <a:solidFill>
                  <a:schemeClr val="bg1">
                    <a:lumMod val="65000"/>
                  </a:schemeClr>
                </a:solidFill>
                <a:latin typeface="Liberation Mono"/>
              </a:rPr>
              <a:t> </a:t>
            </a:r>
          </a:p>
        </p:txBody>
      </p:sp>
      <p:sp>
        <p:nvSpPr>
          <p:cNvPr id="12" name="TextBox 11">
            <a:extLst>
              <a:ext uri="{FF2B5EF4-FFF2-40B4-BE49-F238E27FC236}">
                <a16:creationId xmlns:a16="http://schemas.microsoft.com/office/drawing/2014/main" id="{42BD7AD7-2232-4C95-B376-67CE7D3A67B5}"/>
              </a:ext>
            </a:extLst>
          </p:cNvPr>
          <p:cNvSpPr txBox="1"/>
          <p:nvPr/>
        </p:nvSpPr>
        <p:spPr>
          <a:xfrm>
            <a:off x="6600056" y="6167045"/>
            <a:ext cx="547260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a:t>
            </a:r>
          </a:p>
        </p:txBody>
      </p:sp>
      <p:sp>
        <p:nvSpPr>
          <p:cNvPr id="3" name="Rectangle 2">
            <a:extLst>
              <a:ext uri="{FF2B5EF4-FFF2-40B4-BE49-F238E27FC236}">
                <a16:creationId xmlns:a16="http://schemas.microsoft.com/office/drawing/2014/main" id="{421C4983-88ED-EEFF-988F-B45C6BAB7183}"/>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25291109"/>
      </p:ext>
    </p:extLst>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0" y="4596804"/>
            <a:ext cx="11521280" cy="2000548"/>
          </a:xfrm>
          <a:prstGeom prst="rect">
            <a:avLst/>
          </a:prstGeom>
          <a:noFill/>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AND.</a:t>
            </a:r>
            <a:r>
              <a:rPr lang="en-IN" dirty="0">
                <a:latin typeface="Arial" panose="020B0604020202020204" pitchFamily="34" charset="0"/>
                <a:cs typeface="Arial" panose="020B0604020202020204" pitchFamily="34" charset="0"/>
              </a:rPr>
              <a:t> Evaluates to 1 if all operands are non-zero and not NULL, to 0 if one or more operands are 0, otherwise NULL is returned.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OR.</a:t>
            </a:r>
            <a:r>
              <a:rPr lang="en-IN" dirty="0">
                <a:latin typeface="Arial" panose="020B0604020202020204" pitchFamily="34" charset="0"/>
                <a:cs typeface="Arial" panose="020B0604020202020204" pitchFamily="34" charset="0"/>
              </a:rPr>
              <a:t> When both operands are non-NULL, the result is 1 if any operand is nonzero, and 0 otherwise. With a NULL operand, the result is 1 if the other operand is nonzero, and NULL otherwise. If both operands are NULL, the result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NOT.</a:t>
            </a:r>
            <a:r>
              <a:rPr lang="en-IN" dirty="0">
                <a:latin typeface="Arial" panose="020B0604020202020204" pitchFamily="34" charset="0"/>
                <a:cs typeface="Arial" panose="020B0604020202020204" pitchFamily="34" charset="0"/>
              </a:rPr>
              <a:t> Evaluates to 1 if the operand is 0, to 0 if the operand is nonzero, and NOT NULL returns NULL.</a:t>
            </a:r>
          </a:p>
        </p:txBody>
      </p:sp>
      <p:graphicFrame>
        <p:nvGraphicFramePr>
          <p:cNvPr id="2" name="Table 1">
            <a:extLst>
              <a:ext uri="{FF2B5EF4-FFF2-40B4-BE49-F238E27FC236}">
                <a16:creationId xmlns:a16="http://schemas.microsoft.com/office/drawing/2014/main" id="{91D6965C-3067-4116-99D3-9F5B4FC2D56D}"/>
              </a:ext>
            </a:extLst>
          </p:cNvPr>
          <p:cNvGraphicFramePr>
            <a:graphicFrameLocks noGrp="1"/>
          </p:cNvGraphicFramePr>
          <p:nvPr>
            <p:extLst>
              <p:ext uri="{D42A27DB-BD31-4B8C-83A1-F6EECF244321}">
                <p14:modId xmlns:p14="http://schemas.microsoft.com/office/powerpoint/2010/main" val="3255256194"/>
              </p:ext>
            </p:extLst>
          </p:nvPr>
        </p:nvGraphicFramePr>
        <p:xfrm>
          <a:off x="335360" y="1727517"/>
          <a:ext cx="11377264" cy="2595880"/>
        </p:xfrm>
        <a:graphic>
          <a:graphicData uri="http://schemas.openxmlformats.org/drawingml/2006/table">
            <a:tbl>
              <a:tblPr firstRow="1" bandRow="1">
                <a:tableStyleId>{7E9639D4-E3E2-4D34-9284-5A2195B3D0D7}</a:tableStyleId>
              </a:tblPr>
              <a:tblGrid>
                <a:gridCol w="2157757">
                  <a:extLst>
                    <a:ext uri="{9D8B030D-6E8A-4147-A177-3AD203B41FA5}">
                      <a16:colId xmlns:a16="http://schemas.microsoft.com/office/drawing/2014/main" val="20000"/>
                    </a:ext>
                  </a:extLst>
                </a:gridCol>
                <a:gridCol w="9219507">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Logical Operators</a:t>
                      </a:r>
                    </a:p>
                  </a:txBody>
                  <a:tcPr anchor="ct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solidFill>
                            <a:srgbClr val="0083A2"/>
                          </a:solidFill>
                          <a:latin typeface="Liberation Mono"/>
                          <a:cs typeface="Arial" panose="020B0604020202020204" pitchFamily="34" charset="0"/>
                        </a:rPr>
                        <a:t>  AND</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&amp;&amp;</a:t>
                      </a:r>
                    </a:p>
                  </a:txBody>
                  <a:tcPr anchor="ctr"/>
                </a:tc>
                <a:tc>
                  <a:txBody>
                    <a:bodyPr/>
                    <a:lstStyle/>
                    <a:p>
                      <a:r>
                        <a:rPr lang="en-IN" sz="1800" dirty="0">
                          <a:latin typeface="Liberation Mono"/>
                          <a:cs typeface="Arial" panose="020B0604020202020204" pitchFamily="34" charset="0"/>
                        </a:rPr>
                        <a:t>Logical AND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1"/>
                  </a:ext>
                </a:extLst>
              </a:tr>
              <a:tr h="370840">
                <a:tc>
                  <a:txBody>
                    <a:bodyPr/>
                    <a:lstStyle/>
                    <a:p>
                      <a:r>
                        <a:rPr lang="en-IN" sz="1800" dirty="0">
                          <a:solidFill>
                            <a:srgbClr val="0083A2"/>
                          </a:solidFill>
                          <a:latin typeface="Liberation Mono"/>
                          <a:cs typeface="Arial" panose="020B0604020202020204" pitchFamily="34" charset="0"/>
                        </a:rPr>
                        <a:t>  OR</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Logical OR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kumimoji="0"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2"/>
                  </a:ext>
                </a:extLst>
              </a:tr>
              <a:tr h="370840">
                <a:tc>
                  <a:txBody>
                    <a:bodyPr/>
                    <a:lstStyle/>
                    <a:p>
                      <a:r>
                        <a:rPr lang="en-IN" sz="1800" dirty="0">
                          <a:solidFill>
                            <a:srgbClr val="0083A2"/>
                          </a:solidFill>
                          <a:latin typeface="Liberation Mono"/>
                          <a:cs typeface="Arial" panose="020B0604020202020204" pitchFamily="34" charset="0"/>
                        </a:rPr>
                        <a:t>  NOT</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Negates value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NOT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a:t>
                      </a:r>
                    </a:p>
                  </a:txBody>
                  <a:tcPr anchor="ctr"/>
                </a:tc>
                <a:extLst>
                  <a:ext uri="{0D108BD9-81ED-4DB2-BD59-A6C34878D82A}">
                    <a16:rowId xmlns:a16="http://schemas.microsoft.com/office/drawing/2014/main" val="10003"/>
                  </a:ext>
                </a:extLst>
              </a:tr>
            </a:tbl>
          </a:graphicData>
        </a:graphic>
      </p:graphicFrame>
      <p:sp>
        <p:nvSpPr>
          <p:cNvPr id="8" name="TextBox 7">
            <a:extLst>
              <a:ext uri="{FF2B5EF4-FFF2-40B4-BE49-F238E27FC236}">
                <a16:creationId xmlns:a16="http://schemas.microsoft.com/office/drawing/2014/main" id="{D622DE69-2C28-45FA-B4D6-D853EA84EE65}"/>
              </a:ext>
            </a:extLst>
          </p:cNvPr>
          <p:cNvSpPr txBox="1"/>
          <p:nvPr/>
        </p:nvSpPr>
        <p:spPr>
          <a:xfrm>
            <a:off x="6960096" y="548680"/>
            <a:ext cx="4752528" cy="1077218"/>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state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rPr>
              <a:t> </a:t>
            </a:r>
            <a:r>
              <a:rPr lang="en-IN" sz="2000" dirty="0">
                <a:solidFill>
                  <a:srgbClr val="669900"/>
                </a:solidFill>
                <a:latin typeface="Liberation Mono"/>
              </a:rPr>
              <a:t>'NY'</a:t>
            </a:r>
            <a:r>
              <a:rPr lang="en-IN" sz="2000" dirty="0">
                <a:latin typeface="Liberation Mono"/>
              </a:rPr>
              <a:t> </a:t>
            </a:r>
            <a:r>
              <a:rPr lang="en-IN" sz="2000" dirty="0">
                <a:solidFill>
                  <a:srgbClr val="A67F59"/>
                </a:solidFill>
                <a:latin typeface="Liberation Mono"/>
              </a:rPr>
              <a:t>OR</a:t>
            </a:r>
            <a:r>
              <a:rPr lang="en-IN" sz="2000" dirty="0">
                <a:latin typeface="Liberation Mono"/>
              </a:rPr>
              <a:t> </a:t>
            </a:r>
            <a:r>
              <a:rPr lang="en-IN" sz="2000" dirty="0">
                <a:solidFill>
                  <a:srgbClr val="669900"/>
                </a:solidFill>
                <a:latin typeface="Liberation Mono"/>
              </a:rPr>
              <a:t>'CA'</a:t>
            </a:r>
            <a:r>
              <a:rPr lang="en-IN" sz="2000" dirty="0">
                <a:latin typeface="Liberation Mono"/>
              </a:rPr>
              <a:t> </a:t>
            </a:r>
            <a:r>
              <a:rPr lang="en-IN" sz="2000" dirty="0">
                <a:solidFill>
                  <a:srgbClr val="41C60C"/>
                </a:solidFill>
                <a:latin typeface="Liberation Mono"/>
              </a:rPr>
              <a:t>--Illegal</a:t>
            </a:r>
          </a:p>
          <a:p>
            <a:endParaRPr lang="en-IN" sz="200" dirty="0">
              <a:latin typeface="Liberation Mono"/>
            </a:endParaRPr>
          </a:p>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&gt;</a:t>
            </a:r>
            <a:r>
              <a:rPr lang="en-IN" sz="2000" dirty="0">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chemeClr val="accent5">
                    <a:lumMod val="75000"/>
                  </a:schemeClr>
                </a:solidFill>
                <a:latin typeface="Liberation Mono"/>
                <a:cs typeface="Arial" panose="020B0604020202020204" pitchFamily="34" charset="0"/>
              </a:rPr>
              <a:t>&lt;</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rgbClr val="41C60C"/>
                </a:solidFill>
                <a:latin typeface="Liberation Mono"/>
              </a:rPr>
              <a:t>–Illegal</a:t>
            </a:r>
          </a:p>
          <a:p>
            <a:endParaRPr lang="en-US" sz="200" dirty="0">
              <a:solidFill>
                <a:schemeClr val="tx1">
                  <a:lumMod val="75000"/>
                  <a:lumOff val="25000"/>
                </a:schemeClr>
              </a:solidFill>
              <a:latin typeface="Liberation Mono"/>
            </a:endParaRPr>
          </a:p>
          <a:p>
            <a:r>
              <a:rPr lang="en-US" sz="2000" dirty="0">
                <a:solidFill>
                  <a:srgbClr val="0077AA"/>
                </a:solidFill>
                <a:latin typeface="Liberation Mono"/>
                <a:cs typeface="Arial" panose="020B0604020202020204" pitchFamily="34" charset="0"/>
              </a:rPr>
              <a:t>WHERE</a:t>
            </a:r>
            <a:r>
              <a:rPr lang="en-US" sz="2000" dirty="0">
                <a:solidFill>
                  <a:schemeClr val="tx1">
                    <a:lumMod val="75000"/>
                    <a:lumOff val="25000"/>
                  </a:schemeClr>
                </a:solidFill>
                <a:latin typeface="Liberation Mono"/>
              </a:rPr>
              <a:t> </a:t>
            </a:r>
            <a:r>
              <a:rPr lang="en-US" sz="2000" dirty="0">
                <a:latin typeface="Liberation Mono"/>
              </a:rPr>
              <a:t>state</a:t>
            </a:r>
            <a:r>
              <a:rPr lang="en-US" sz="2000" dirty="0">
                <a:solidFill>
                  <a:schemeClr val="tx1">
                    <a:lumMod val="75000"/>
                    <a:lumOff val="25000"/>
                  </a:schemeClr>
                </a:solidFill>
                <a:latin typeface="Liberation Mono"/>
              </a:rPr>
              <a:t> </a:t>
            </a:r>
            <a:r>
              <a:rPr lang="en-US" sz="2000" dirty="0">
                <a:solidFill>
                  <a:srgbClr val="A67F59"/>
                </a:solidFill>
                <a:latin typeface="Liberation Mono"/>
              </a:rPr>
              <a:t>NOT</a:t>
            </a:r>
            <a:r>
              <a:rPr lang="en-US" sz="2000" dirty="0">
                <a:solidFill>
                  <a:schemeClr val="tx1">
                    <a:lumMod val="75000"/>
                    <a:lumOff val="25000"/>
                  </a:schemeClr>
                </a:solidFill>
                <a:latin typeface="Liberation Mono"/>
              </a:rPr>
              <a:t> </a:t>
            </a:r>
            <a:r>
              <a:rPr lang="en-US" sz="2000" dirty="0">
                <a:solidFill>
                  <a:schemeClr val="accent5">
                    <a:lumMod val="75000"/>
                  </a:schemeClr>
                </a:solidFill>
                <a:latin typeface="Liberation Mono"/>
                <a:cs typeface="Arial" panose="020B0604020202020204" pitchFamily="34" charset="0"/>
              </a:rPr>
              <a:t>=</a:t>
            </a:r>
            <a:r>
              <a:rPr lang="en-US" sz="2000" dirty="0">
                <a:solidFill>
                  <a:schemeClr val="tx1">
                    <a:lumMod val="75000"/>
                    <a:lumOff val="25000"/>
                  </a:schemeClr>
                </a:solidFill>
                <a:latin typeface="Liberation Mono"/>
              </a:rPr>
              <a:t> </a:t>
            </a:r>
            <a:r>
              <a:rPr lang="en-US" sz="2000" dirty="0">
                <a:solidFill>
                  <a:srgbClr val="669900"/>
                </a:solidFill>
                <a:latin typeface="Liberation Mono"/>
              </a:rPr>
              <a:t>'CA'</a:t>
            </a:r>
            <a:r>
              <a:rPr lang="en-US" sz="2000" dirty="0">
                <a:solidFill>
                  <a:schemeClr val="tx1">
                    <a:lumMod val="75000"/>
                    <a:lumOff val="25000"/>
                  </a:schemeClr>
                </a:solidFill>
                <a:latin typeface="Liberation Mono"/>
              </a:rPr>
              <a:t>     </a:t>
            </a:r>
            <a:r>
              <a:rPr lang="en-US" sz="2000" dirty="0">
                <a:solidFill>
                  <a:srgbClr val="41C60C"/>
                </a:solidFill>
                <a:latin typeface="Liberation Mono"/>
              </a:rPr>
              <a:t>--Illegal</a:t>
            </a:r>
            <a:endParaRPr lang="en-IN" sz="2000" dirty="0">
              <a:solidFill>
                <a:srgbClr val="41C60C"/>
              </a:solidFill>
              <a:latin typeface="Liberation Mono"/>
            </a:endParaRPr>
          </a:p>
        </p:txBody>
      </p:sp>
      <p:sp>
        <p:nvSpPr>
          <p:cNvPr id="9" name="Rectangle 8">
            <a:extLst>
              <a:ext uri="{FF2B5EF4-FFF2-40B4-BE49-F238E27FC236}">
                <a16:creationId xmlns:a16="http://schemas.microsoft.com/office/drawing/2014/main" id="{7C7CD70A-FFBD-2749-D6CE-AD66C2656268}"/>
              </a:ext>
            </a:extLst>
          </p:cNvPr>
          <p:cNvSpPr/>
          <p:nvPr/>
        </p:nvSpPr>
        <p:spPr>
          <a:xfrm>
            <a:off x="387116" y="548680"/>
            <a:ext cx="5708884" cy="707886"/>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4091968451"/>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166196634"/>
              </p:ext>
            </p:extLst>
          </p:nvPr>
        </p:nvGraphicFramePr>
        <p:xfrm>
          <a:off x="191344" y="1605136"/>
          <a:ext cx="11809312" cy="1889748"/>
        </p:xfrm>
        <a:graphic>
          <a:graphicData uri="http://schemas.openxmlformats.org/drawingml/2006/table">
            <a:tbl>
              <a:tblPr firstRow="1" bandRow="1">
                <a:tableStyleId>{7E9639D4-E3E2-4D34-9284-5A2195B3D0D7}</a:tableStyleId>
              </a:tblPr>
              <a:tblGrid>
                <a:gridCol w="3227389">
                  <a:extLst>
                    <a:ext uri="{9D8B030D-6E8A-4147-A177-3AD203B41FA5}">
                      <a16:colId xmlns:a16="http://schemas.microsoft.com/office/drawing/2014/main" val="20000"/>
                    </a:ext>
                  </a:extLst>
                </a:gridCol>
                <a:gridCol w="8581923">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Comparison Functions and Operators</a:t>
                      </a:r>
                    </a:p>
                  </a:txBody>
                  <a:tcP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kumimoji="0" lang="en-IN" sz="1800" kern="1200" dirty="0">
                          <a:solidFill>
                            <a:srgbClr val="0083A2"/>
                          </a:solidFill>
                          <a:latin typeface="Liberation Mono"/>
                          <a:ea typeface="+mn-ea"/>
                          <a:cs typeface="Arial" panose="020B0604020202020204" pitchFamily="34" charset="0"/>
                        </a:rPr>
                        <a:t>  LEAST(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smallest argument.</a:t>
                      </a:r>
                    </a:p>
                  </a:txBody>
                  <a:tcPr anchor="ctr"/>
                </a:tc>
                <a:extLst>
                  <a:ext uri="{0D108BD9-81ED-4DB2-BD59-A6C34878D82A}">
                    <a16:rowId xmlns:a16="http://schemas.microsoft.com/office/drawing/2014/main" val="10001"/>
                  </a:ext>
                </a:extLst>
              </a:tr>
              <a:tr h="370840">
                <a:tc>
                  <a:txBody>
                    <a:bodyPr/>
                    <a:lstStyle/>
                    <a:p>
                      <a:r>
                        <a:rPr kumimoji="0" lang="en-IN" sz="1800" kern="1200" dirty="0">
                          <a:solidFill>
                            <a:srgbClr val="0083A2"/>
                          </a:solidFill>
                          <a:latin typeface="Liberation Mono"/>
                          <a:ea typeface="+mn-ea"/>
                          <a:cs typeface="Arial" panose="020B0604020202020204" pitchFamily="34" charset="0"/>
                        </a:rPr>
                        <a:t>  GREATEST(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largest argument.</a:t>
                      </a:r>
                    </a:p>
                  </a:txBody>
                  <a:tcPr anchor="ctr"/>
                </a:tc>
                <a:extLst>
                  <a:ext uri="{0D108BD9-81ED-4DB2-BD59-A6C34878D82A}">
                    <a16:rowId xmlns:a16="http://schemas.microsoft.com/office/drawing/2014/main" val="10002"/>
                  </a:ext>
                </a:extLst>
              </a:tr>
              <a:tr h="370840">
                <a:tc>
                  <a:txBody>
                    <a:bodyPr/>
                    <a:lstStyle/>
                    <a:p>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US" sz="1800" dirty="0">
                          <a:latin typeface="Liberation Mono"/>
                          <a:cs typeface="Arial" panose="020B0604020202020204" pitchFamily="34" charset="0"/>
                        </a:rPr>
                        <a:t>Multiple columns in expr. (sub-query returning multiple columns to compare)</a:t>
                      </a:r>
                      <a:endParaRPr lang="en-IN" sz="1800" dirty="0">
                        <a:latin typeface="Liberation Mono"/>
                        <a:cs typeface="Arial" panose="020B0604020202020204" pitchFamily="34" charset="0"/>
                      </a:endParaRPr>
                    </a:p>
                  </a:txBody>
                  <a:tcPr anchor="ctr"/>
                </a:tc>
                <a:extLst>
                  <a:ext uri="{0D108BD9-81ED-4DB2-BD59-A6C34878D82A}">
                    <a16:rowId xmlns:a16="http://schemas.microsoft.com/office/drawing/2014/main" val="10003"/>
                  </a:ext>
                </a:extLst>
              </a:tr>
              <a:tr h="370840">
                <a:tc>
                  <a:txBody>
                    <a:bodyPr/>
                    <a:lstStyle/>
                    <a:p>
                      <a:r>
                        <a:rPr kumimoji="0" lang="en-IN" sz="1800" kern="1200" dirty="0">
                          <a:solidFill>
                            <a:srgbClr val="0083A2"/>
                          </a:solidFill>
                          <a:latin typeface="Liberation Mono"/>
                          <a:ea typeface="+mn-ea"/>
                          <a:cs typeface="Arial" panose="020B0604020202020204" pitchFamily="34" charset="0"/>
                        </a:rPr>
                        <a:t>  COALESCE(</a:t>
                      </a:r>
                      <a:r>
                        <a:rPr kumimoji="0" lang="en-IN" sz="1800" kern="1200" dirty="0">
                          <a:solidFill>
                            <a:schemeClr val="tx1">
                              <a:lumMod val="65000"/>
                              <a:lumOff val="35000"/>
                            </a:schemeClr>
                          </a:solidFill>
                          <a:latin typeface="Liberation Mono"/>
                          <a:ea typeface="+mn-ea"/>
                          <a:cs typeface="Arial" panose="020B0604020202020204" pitchFamily="34" charset="0"/>
                        </a:rPr>
                        <a:t>value</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marL="91428" marR="91428" marT="45714" marB="45714" anchor="ctr"/>
                </a:tc>
                <a:tc>
                  <a:txBody>
                    <a:bodyPr/>
                    <a:lstStyle/>
                    <a:p>
                      <a:r>
                        <a:rPr lang="en-IN" sz="1900" dirty="0">
                          <a:latin typeface="Liberation Mono"/>
                          <a:cs typeface="Arial" panose="020B0604020202020204" pitchFamily="34" charset="0"/>
                        </a:rPr>
                        <a:t>Returns the first </a:t>
                      </a:r>
                      <a:r>
                        <a:rPr lang="en-IN" sz="1900" b="1" dirty="0">
                          <a:latin typeface="Liberation Mono"/>
                          <a:cs typeface="Arial" panose="020B0604020202020204" pitchFamily="34" charset="0"/>
                        </a:rPr>
                        <a:t>non-NULL</a:t>
                      </a:r>
                      <a:r>
                        <a:rPr lang="en-IN" sz="1900" dirty="0">
                          <a:latin typeface="Liberation Mono"/>
                          <a:cs typeface="Arial" panose="020B0604020202020204" pitchFamily="34" charset="0"/>
                        </a:rPr>
                        <a:t> value in the list, or NULL if there are no non-NULL values.</a:t>
                      </a:r>
                    </a:p>
                  </a:txBody>
                  <a:tcPr marL="91428" marR="91428" marT="45714" marB="45714" anchor="ctr"/>
                </a:tc>
                <a:extLst>
                  <a:ext uri="{0D108BD9-81ED-4DB2-BD59-A6C34878D82A}">
                    <a16:rowId xmlns:a16="http://schemas.microsoft.com/office/drawing/2014/main" val="658137126"/>
                  </a:ext>
                </a:extLst>
              </a:tr>
            </a:tbl>
          </a:graphicData>
        </a:graphic>
      </p:graphicFrame>
      <p:sp>
        <p:nvSpPr>
          <p:cNvPr id="6" name="Rectangle 5"/>
          <p:cNvSpPr/>
          <p:nvPr/>
        </p:nvSpPr>
        <p:spPr>
          <a:xfrm>
            <a:off x="334032" y="3784391"/>
            <a:ext cx="11449272" cy="2092881"/>
          </a:xfrm>
          <a:prstGeom prst="rect">
            <a:avLst/>
          </a:prstGeom>
          <a:solidFill>
            <a:schemeClr val="bg1"/>
          </a:solidFill>
        </p:spPr>
        <p:txBody>
          <a:bodyPr wrap="square">
            <a:spAutoFit/>
          </a:bodyPr>
          <a:lstStyle/>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30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r>
              <a:rPr lang="en-US" dirty="0">
                <a:solidFill>
                  <a:schemeClr val="tx1">
                    <a:lumMod val="75000"/>
                    <a:lumOff val="25000"/>
                  </a:schemeClr>
                </a:solidFill>
                <a:latin typeface="Liberation Mono"/>
                <a:cs typeface="Arial" panose="020B0604020202020204" pitchFamily="34" charset="0"/>
              </a:rPr>
              <a:t>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10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p>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null,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null</a:t>
            </a:r>
            <a:endParaRPr lang="en-US" sz="2000" dirty="0">
              <a:solidFill>
                <a:srgbClr val="669900"/>
              </a:solidFill>
              <a:latin typeface="Liberation Mono"/>
            </a:endParaRPr>
          </a:p>
          <a:p>
            <a:pPr latinLnBrk="1"/>
            <a:r>
              <a:rPr lang="en-US" dirty="0">
                <a:solidFill>
                  <a:schemeClr val="tx1">
                    <a:lumMod val="75000"/>
                    <a:lumOff val="25000"/>
                  </a:schemeClr>
                </a:solidFill>
                <a:latin typeface="Liberation Mono"/>
                <a:cs typeface="Arial" panose="020B0604020202020204" pitchFamily="34" charset="0"/>
              </a:rPr>
              <a:t>                   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US" dirty="0">
                <a:solidFill>
                  <a:schemeClr val="tx1">
                    <a:lumMod val="75000"/>
                    <a:lumOff val="25000"/>
                  </a:schemeClr>
                </a:solidFill>
                <a:latin typeface="Liberation Mono"/>
                <a:cs typeface="Arial" panose="020B0604020202020204" pitchFamily="34" charset="0"/>
              </a:rPr>
              <a:t> ,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null</a:t>
            </a:r>
          </a:p>
          <a:p>
            <a:pPr latinLnBrk="1"/>
            <a:endParaRPr lang="en-US" sz="2000" dirty="0">
              <a:solidFill>
                <a:srgbClr val="669900"/>
              </a:solidFill>
              <a:latin typeface="Liberation Mono"/>
            </a:endParaRPr>
          </a:p>
          <a:p>
            <a:pPr marL="342900" indent="-342900" latinLnBrk="1">
              <a:buFont typeface="Arial" panose="020B0604020202020204" pitchFamily="34" charset="0"/>
              <a:buChar char="•"/>
            </a:pP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US" sz="2000" dirty="0">
                <a:solidFill>
                  <a:srgbClr val="A67F59"/>
                </a:solidFill>
                <a:latin typeface="Liberation Mono"/>
              </a:rPr>
              <a:t>*</a:t>
            </a:r>
            <a:r>
              <a:rPr lang="en-US" sz="2000" dirty="0">
                <a:solidFill>
                  <a:srgbClr val="0077AA"/>
                </a:solidFill>
                <a:latin typeface="Liberation Mono"/>
                <a:ea typeface="Times New Roman" panose="02020603050405020304" pitchFamily="18" charset="0"/>
                <a:cs typeface="Arial" panose="020B0604020202020204" pitchFamily="34" charset="0"/>
              </a:rPr>
              <a:t> FROM </a:t>
            </a:r>
            <a:r>
              <a:rPr lang="en-IN" sz="2000" dirty="0">
                <a:latin typeface="Liberation Mono"/>
                <a:cs typeface="Arial" panose="020B0604020202020204" pitchFamily="34" charset="0"/>
              </a:rPr>
              <a:t>emp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latin typeface="Liberation Mono"/>
                <a:ea typeface="Times New Roman" panose="02020603050405020304" pitchFamily="18" charset="0"/>
                <a:cs typeface="Arial" panose="020B0604020202020204" pitchFamily="34" charset="0"/>
              </a:rPr>
              <a:t>pwd</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IN" sz="2000" dirty="0">
                <a:latin typeface="Liberation Mono"/>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latin typeface="Liberation Mono"/>
                <a:cs typeface="Arial" panose="020B0604020202020204" pitchFamily="34" charset="0"/>
              </a:rPr>
              <a:t> pwd </a:t>
            </a:r>
            <a:r>
              <a:rPr lang="en-US" sz="2000" dirty="0">
                <a:solidFill>
                  <a:srgbClr val="0077AA"/>
                </a:solidFill>
                <a:latin typeface="Liberation Mono"/>
                <a:ea typeface="Times New Roman" panose="02020603050405020304" pitchFamily="18" charset="0"/>
                <a:cs typeface="Arial" panose="020B0604020202020204" pitchFamily="34" charset="0"/>
              </a:rPr>
              <a:t>FROM </a:t>
            </a:r>
            <a:r>
              <a:rPr lang="en-IN" sz="2000" dirty="0">
                <a:latin typeface="Liberation Mono"/>
                <a:cs typeface="Arial" panose="020B0604020202020204" pitchFamily="34" charset="0"/>
              </a:rPr>
              <a:t>dept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latin typeface="Liberation Mono"/>
                <a:ea typeface="Times New Roman" panose="02020603050405020304" pitchFamily="18" charset="0"/>
                <a:cs typeface="Arial" panose="020B0604020202020204" pitchFamily="34" charset="0"/>
              </a:rPr>
              <a:t>deptno </a:t>
            </a:r>
            <a:r>
              <a:rPr lang="en-IN" sz="20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 </a:t>
            </a:r>
            <a:r>
              <a:rPr lang="en-IN" sz="2000" dirty="0">
                <a:solidFill>
                  <a:srgbClr val="990055"/>
                </a:solidFill>
                <a:latin typeface="Liberation Mono"/>
              </a:rPr>
              <a:t>30</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BB4FCC00-187A-7FEB-A338-C791737B9ABF}"/>
              </a:ext>
            </a:extLst>
          </p:cNvPr>
          <p:cNvSpPr/>
          <p:nvPr/>
        </p:nvSpPr>
        <p:spPr>
          <a:xfrm>
            <a:off x="263352" y="5941149"/>
            <a:ext cx="11430936" cy="800219"/>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If any argument is NULL, the both functions return NULLs immediately without doing any comparison..</a:t>
            </a:r>
          </a:p>
        </p:txBody>
      </p:sp>
      <p:sp>
        <p:nvSpPr>
          <p:cNvPr id="7" name="Rectangle 6">
            <a:extLst>
              <a:ext uri="{FF2B5EF4-FFF2-40B4-BE49-F238E27FC236}">
                <a16:creationId xmlns:a16="http://schemas.microsoft.com/office/drawing/2014/main" id="{15852771-D057-4BCE-99CA-1D2A688C8695}"/>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887705388"/>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51384" y="827420"/>
            <a:ext cx="900100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'MANAGER' </a:t>
            </a:r>
            <a:r>
              <a:rPr lang="en-IN" dirty="0">
                <a:solidFill>
                  <a:srgbClr val="A67F59"/>
                </a:solidFill>
                <a:latin typeface="Liberation Mono"/>
              </a:rPr>
              <a:t>OR</a:t>
            </a:r>
            <a:r>
              <a:rPr lang="en-IN" dirty="0">
                <a:solidFill>
                  <a:srgbClr val="669900"/>
                </a:solidFill>
                <a:latin typeface="Liberation Mono"/>
              </a:rPr>
              <a:t> </a:t>
            </a:r>
            <a:r>
              <a:rPr lang="en-IN" dirty="0">
                <a:latin typeface="Liberation Mono"/>
                <a:cs typeface="Arial" panose="020B0604020202020204" pitchFamily="34" charset="0"/>
              </a:rPr>
              <a:t>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'SALESMAN'</a:t>
            </a:r>
            <a:r>
              <a:rPr lang="en-IN" dirty="0">
                <a:latin typeface="Liberation Mono"/>
              </a:rPr>
              <a:t>;</a:t>
            </a:r>
            <a:endParaRPr lang="en-IN" dirty="0">
              <a:latin typeface="Liberation Mono"/>
              <a:cs typeface="Arial" panose="020B0604020202020204" pitchFamily="34" charset="0"/>
            </a:endParaRPr>
          </a:p>
        </p:txBody>
      </p:sp>
      <p:grpSp>
        <p:nvGrpSpPr>
          <p:cNvPr id="11" name="Group 10">
            <a:extLst>
              <a:ext uri="{FF2B5EF4-FFF2-40B4-BE49-F238E27FC236}">
                <a16:creationId xmlns:a16="http://schemas.microsoft.com/office/drawing/2014/main" id="{E32CCCF3-6DA6-4D0A-8360-8C72B530438F}"/>
              </a:ext>
            </a:extLst>
          </p:cNvPr>
          <p:cNvGrpSpPr/>
          <p:nvPr/>
        </p:nvGrpSpPr>
        <p:grpSpPr>
          <a:xfrm>
            <a:off x="690629" y="1745011"/>
            <a:ext cx="11166011" cy="1502780"/>
            <a:chOff x="690629" y="1745011"/>
            <a:chExt cx="11166011" cy="1502780"/>
          </a:xfrm>
        </p:grpSpPr>
        <p:grpSp>
          <p:nvGrpSpPr>
            <p:cNvPr id="7" name="Group 6">
              <a:extLst>
                <a:ext uri="{FF2B5EF4-FFF2-40B4-BE49-F238E27FC236}">
                  <a16:creationId xmlns:a16="http://schemas.microsoft.com/office/drawing/2014/main" id="{353CFC07-7547-4F71-99C2-60FEE7A328E4}"/>
                </a:ext>
              </a:extLst>
            </p:cNvPr>
            <p:cNvGrpSpPr/>
            <p:nvPr/>
          </p:nvGrpSpPr>
          <p:grpSpPr>
            <a:xfrm>
              <a:off x="695400" y="1745011"/>
              <a:ext cx="11161240" cy="1502780"/>
              <a:chOff x="695400" y="1745011"/>
              <a:chExt cx="11161240" cy="1502780"/>
            </a:xfrm>
          </p:grpSpPr>
          <p:grpSp>
            <p:nvGrpSpPr>
              <p:cNvPr id="45" name="Group 44">
                <a:extLst>
                  <a:ext uri="{FF2B5EF4-FFF2-40B4-BE49-F238E27FC236}">
                    <a16:creationId xmlns:a16="http://schemas.microsoft.com/office/drawing/2014/main" id="{CF18B854-3174-4AB7-9E8A-5E1851627448}"/>
                  </a:ext>
                </a:extLst>
              </p:cNvPr>
              <p:cNvGrpSpPr/>
              <p:nvPr/>
            </p:nvGrpSpPr>
            <p:grpSpPr>
              <a:xfrm>
                <a:off x="695400" y="1835990"/>
                <a:ext cx="9573875" cy="1304978"/>
                <a:chOff x="267703" y="1600839"/>
                <a:chExt cx="9573875" cy="1304978"/>
              </a:xfrm>
            </p:grpSpPr>
            <p:grpSp>
              <p:nvGrpSpPr>
                <p:cNvPr id="30" name="Group 29">
                  <a:extLst>
                    <a:ext uri="{FF2B5EF4-FFF2-40B4-BE49-F238E27FC236}">
                      <a16:creationId xmlns:a16="http://schemas.microsoft.com/office/drawing/2014/main" id="{C5BBC7C9-135B-4570-924C-9A52B3F6600D}"/>
                    </a:ext>
                  </a:extLst>
                </p:cNvPr>
                <p:cNvGrpSpPr/>
                <p:nvPr/>
              </p:nvGrpSpPr>
              <p:grpSpPr>
                <a:xfrm>
                  <a:off x="1651832" y="1600839"/>
                  <a:ext cx="8189746" cy="1303315"/>
                  <a:chOff x="31591" y="1556792"/>
                  <a:chExt cx="8189746" cy="1303315"/>
                </a:xfrm>
              </p:grpSpPr>
              <p:grpSp>
                <p:nvGrpSpPr>
                  <p:cNvPr id="29" name="Group 28">
                    <a:extLst>
                      <a:ext uri="{FF2B5EF4-FFF2-40B4-BE49-F238E27FC236}">
                        <a16:creationId xmlns:a16="http://schemas.microsoft.com/office/drawing/2014/main" id="{6FFF7BA7-26C1-4CEB-9EBC-6488EFA74D4B}"/>
                      </a:ext>
                    </a:extLst>
                  </p:cNvPr>
                  <p:cNvGrpSpPr/>
                  <p:nvPr/>
                </p:nvGrpSpPr>
                <p:grpSpPr>
                  <a:xfrm>
                    <a:off x="669976" y="1556792"/>
                    <a:ext cx="3286347" cy="1303315"/>
                    <a:chOff x="669976" y="1556792"/>
                    <a:chExt cx="3286347" cy="1303315"/>
                  </a:xfrm>
                </p:grpSpPr>
                <p:sp>
                  <p:nvSpPr>
                    <p:cNvPr id="23" name="Rectangle 22">
                      <a:extLst>
                        <a:ext uri="{FF2B5EF4-FFF2-40B4-BE49-F238E27FC236}">
                          <a16:creationId xmlns:a16="http://schemas.microsoft.com/office/drawing/2014/main" id="{945B6E97-E16D-48DC-8F01-85631D0FF45A}"/>
                        </a:ext>
                      </a:extLst>
                    </p:cNvPr>
                    <p:cNvSpPr/>
                    <p:nvPr/>
                  </p:nvSpPr>
                  <p:spPr>
                    <a:xfrm>
                      <a:off x="669976" y="1556792"/>
                      <a:ext cx="3286347"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BA4B279B-534E-4808-9CF1-1E0D14E4FB9A}"/>
                        </a:ext>
                      </a:extLst>
                    </p:cNvPr>
                    <p:cNvSpPr txBox="1"/>
                    <p:nvPr/>
                  </p:nvSpPr>
                  <p:spPr>
                    <a:xfrm>
                      <a:off x="697841" y="1620089"/>
                      <a:ext cx="3258481"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7" name="TextBox 26">
                      <a:extLst>
                        <a:ext uri="{FF2B5EF4-FFF2-40B4-BE49-F238E27FC236}">
                          <a16:creationId xmlns:a16="http://schemas.microsoft.com/office/drawing/2014/main" id="{A8304BDE-4FAF-4376-9617-E5ACFB8F9116}"/>
                        </a:ext>
                      </a:extLst>
                    </p:cNvPr>
                    <p:cNvSpPr txBox="1"/>
                    <p:nvPr/>
                  </p:nvSpPr>
                  <p:spPr>
                    <a:xfrm>
                      <a:off x="669977" y="2152221"/>
                      <a:ext cx="3286346" cy="707886"/>
                    </a:xfrm>
                    <a:prstGeom prst="rect">
                      <a:avLst/>
                    </a:prstGeom>
                    <a:noFill/>
                  </p:spPr>
                  <p:txBody>
                    <a:bodyPr wrap="square">
                      <a:spAutoFit/>
                    </a:bodyPr>
                    <a:lstStyle/>
                    <a:p>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'MANAGER' </a:t>
                      </a:r>
                      <a:r>
                        <a:rPr lang="en-IN" sz="2000" dirty="0">
                          <a:solidFill>
                            <a:schemeClr val="accent5">
                              <a:lumMod val="75000"/>
                            </a:schemeClr>
                          </a:solidFill>
                          <a:latin typeface="Liberation Mono"/>
                        </a:rPr>
                        <a:t>or</a:t>
                      </a:r>
                      <a:r>
                        <a:rPr lang="en-IN" sz="2000" dirty="0">
                          <a:solidFill>
                            <a:srgbClr val="669900"/>
                          </a:solidFill>
                          <a:latin typeface="Liberation Mono"/>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'SALESMAN' </a:t>
                      </a:r>
                    </a:p>
                  </p:txBody>
                </p:sp>
              </p:grpSp>
              <p:sp>
                <p:nvSpPr>
                  <p:cNvPr id="28" name="Arrow: Right 27">
                    <a:extLst>
                      <a:ext uri="{FF2B5EF4-FFF2-40B4-BE49-F238E27FC236}">
                        <a16:creationId xmlns:a16="http://schemas.microsoft.com/office/drawing/2014/main" id="{521B26F1-EE04-4835-81D9-B7FFDBA4A7E4}"/>
                      </a:ext>
                    </a:extLst>
                  </p:cNvPr>
                  <p:cNvSpPr/>
                  <p:nvPr/>
                </p:nvSpPr>
                <p:spPr>
                  <a:xfrm>
                    <a:off x="405903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7303D31D-D0BD-4737-925B-4E3D04014D6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Arrow: Right 30">
                    <a:extLst>
                      <a:ext uri="{FF2B5EF4-FFF2-40B4-BE49-F238E27FC236}">
                        <a16:creationId xmlns:a16="http://schemas.microsoft.com/office/drawing/2014/main" id="{7B4C9113-FD2F-4C72-9F66-915E2BF74408}"/>
                      </a:ext>
                    </a:extLst>
                  </p:cNvPr>
                  <p:cNvSpPr/>
                  <p:nvPr/>
                </p:nvSpPr>
                <p:spPr>
                  <a:xfrm>
                    <a:off x="761493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3" name="Flowchart: Magnetic Disk 32">
                  <a:extLst>
                    <a:ext uri="{FF2B5EF4-FFF2-40B4-BE49-F238E27FC236}">
                      <a16:creationId xmlns:a16="http://schemas.microsoft.com/office/drawing/2014/main" id="{6E652B9D-F766-46A3-8925-CC8367E01D5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0" name="Rectangle 39">
                  <a:extLst>
                    <a:ext uri="{FF2B5EF4-FFF2-40B4-BE49-F238E27FC236}">
                      <a16:creationId xmlns:a16="http://schemas.microsoft.com/office/drawing/2014/main" id="{09F21F09-1A0C-4E8A-9690-FDB9A52688A9}"/>
                    </a:ext>
                  </a:extLst>
                </p:cNvPr>
                <p:cNvSpPr/>
                <p:nvPr/>
              </p:nvSpPr>
              <p:spPr>
                <a:xfrm>
                  <a:off x="6388383"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04F4471A-5E10-4C41-B6B1-6C4B377EF728}"/>
                    </a:ext>
                  </a:extLst>
                </p:cNvPr>
                <p:cNvSpPr txBox="1"/>
                <p:nvPr/>
              </p:nvSpPr>
              <p:spPr>
                <a:xfrm>
                  <a:off x="6432728" y="1672970"/>
                  <a:ext cx="2717857"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44" name="TextBox 43">
                  <a:extLst>
                    <a:ext uri="{FF2B5EF4-FFF2-40B4-BE49-F238E27FC236}">
                      <a16:creationId xmlns:a16="http://schemas.microsoft.com/office/drawing/2014/main" id="{58C5710E-9A9E-4F1D-93C3-13D94BB140D8}"/>
                    </a:ext>
                  </a:extLst>
                </p:cNvPr>
                <p:cNvSpPr txBox="1"/>
                <p:nvPr/>
              </p:nvSpPr>
              <p:spPr>
                <a:xfrm>
                  <a:off x="6437499"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cs typeface="Arial" panose="020B0604020202020204" pitchFamily="34" charset="0"/>
                    </a:rPr>
                    <a:t>*</a:t>
                  </a:r>
                  <a:endParaRPr lang="en-IN" sz="2000" dirty="0">
                    <a:solidFill>
                      <a:schemeClr val="accent5">
                        <a:lumMod val="75000"/>
                      </a:schemeClr>
                    </a:solidFill>
                  </a:endParaRPr>
                </a:p>
              </p:txBody>
            </p:sp>
          </p:grpSp>
          <p:sp>
            <p:nvSpPr>
              <p:cNvPr id="4" name="Oval 3">
                <a:extLst>
                  <a:ext uri="{FF2B5EF4-FFF2-40B4-BE49-F238E27FC236}">
                    <a16:creationId xmlns:a16="http://schemas.microsoft.com/office/drawing/2014/main" id="{E5D1F3E2-F3BC-4548-AFF8-983C8A7936FE}"/>
                  </a:ext>
                </a:extLst>
              </p:cNvPr>
              <p:cNvSpPr/>
              <p:nvPr/>
            </p:nvSpPr>
            <p:spPr>
              <a:xfrm>
                <a:off x="10353860"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D60FBB6-3DB7-4E1E-BDD6-DE8CB205FC64}"/>
                  </a:ext>
                </a:extLst>
              </p:cNvPr>
              <p:cNvSpPr txBox="1"/>
              <p:nvPr/>
            </p:nvSpPr>
            <p:spPr>
              <a:xfrm>
                <a:off x="10678472"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06FE2489-78F4-45F8-B89A-3EB65A1F191A}"/>
                </a:ext>
              </a:extLst>
            </p:cNvPr>
            <p:cNvSpPr txBox="1"/>
            <p:nvPr/>
          </p:nvSpPr>
          <p:spPr>
            <a:xfrm>
              <a:off x="695400" y="176583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0" name="TextBox 9">
              <a:extLst>
                <a:ext uri="{FF2B5EF4-FFF2-40B4-BE49-F238E27FC236}">
                  <a16:creationId xmlns:a16="http://schemas.microsoft.com/office/drawing/2014/main" id="{A1971705-DE8A-4097-A613-E269BD172D39}"/>
                </a:ext>
              </a:extLst>
            </p:cNvPr>
            <p:cNvSpPr txBox="1"/>
            <p:nvPr/>
          </p:nvSpPr>
          <p:spPr>
            <a:xfrm>
              <a:off x="690629" y="2586962"/>
              <a:ext cx="1285868" cy="400110"/>
            </a:xfrm>
            <a:prstGeom prst="rect">
              <a:avLst/>
            </a:prstGeom>
            <a:noFill/>
          </p:spPr>
          <p:txBody>
            <a:bodyPr wrap="square">
              <a:spAutoFit/>
            </a:bodyPr>
            <a:lstStyle/>
            <a:p>
              <a:pPr algn="ctr"/>
              <a:r>
                <a:rPr lang="en-IN" sz="2000" dirty="0">
                  <a:latin typeface="Liberation Mono"/>
                </a:rPr>
                <a:t>emp</a:t>
              </a:r>
              <a:endParaRPr lang="en-IN" sz="2000" dirty="0"/>
            </a:p>
          </p:txBody>
        </p:sp>
      </p:grpSp>
      <p:pic>
        <p:nvPicPr>
          <p:cNvPr id="14" name="Picture 13">
            <a:extLst>
              <a:ext uri="{FF2B5EF4-FFF2-40B4-BE49-F238E27FC236}">
                <a16:creationId xmlns:a16="http://schemas.microsoft.com/office/drawing/2014/main" id="{393C6878-BC5A-4740-8B18-69E45955895B}"/>
              </a:ext>
            </a:extLst>
          </p:cNvPr>
          <p:cNvPicPr>
            <a:picLocks noChangeAspect="1"/>
          </p:cNvPicPr>
          <p:nvPr/>
        </p:nvPicPr>
        <p:blipFill>
          <a:blip r:embed="rId2"/>
          <a:stretch>
            <a:fillRect/>
          </a:stretch>
        </p:blipFill>
        <p:spPr>
          <a:xfrm>
            <a:off x="37498" y="3779922"/>
            <a:ext cx="11404472" cy="2817429"/>
          </a:xfrm>
          <a:prstGeom prst="rect">
            <a:avLst/>
          </a:prstGeom>
        </p:spPr>
      </p:pic>
      <p:sp>
        <p:nvSpPr>
          <p:cNvPr id="32" name="Rectangle 31">
            <a:extLst>
              <a:ext uri="{FF2B5EF4-FFF2-40B4-BE49-F238E27FC236}">
                <a16:creationId xmlns:a16="http://schemas.microsoft.com/office/drawing/2014/main" id="{58AB6B6C-D1C4-484D-9FA6-79C5C664C4CE}"/>
              </a:ext>
            </a:extLst>
          </p:cNvPr>
          <p:cNvSpPr/>
          <p:nvPr/>
        </p:nvSpPr>
        <p:spPr>
          <a:xfrm>
            <a:off x="1976497" y="3827496"/>
            <a:ext cx="951151" cy="2722279"/>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04818801"/>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combining and &amp; or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65616" y="1988840"/>
            <a:ext cx="10642952" cy="169277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US" dirty="0">
                <a:solidFill>
                  <a:schemeClr val="accent5">
                    <a:lumMod val="75000"/>
                  </a:schemeClr>
                </a:solidFill>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chemeClr val="bg1">
                    <a:lumMod val="65000"/>
                  </a:schemeClr>
                </a:solidFill>
                <a:latin typeface="Liberation Mono"/>
                <a:cs typeface="Arial" panose="020B0604020202020204" pitchFamily="34" charset="0"/>
              </a:rPr>
              <a:t>(</a:t>
            </a:r>
            <a:r>
              <a:rPr lang="en-US" dirty="0">
                <a:latin typeface="Liberation Mono"/>
              </a:rPr>
              <a:t>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IN" dirty="0">
                <a:solidFill>
                  <a:schemeClr val="bg1">
                    <a:lumMod val="65000"/>
                  </a:schemeClr>
                </a:solidFill>
                <a:latin typeface="Liberation Mono"/>
                <a:cs typeface="Arial" panose="020B0604020202020204" pitchFamily="34" charset="0"/>
              </a:rPr>
              <a:t>)</a:t>
            </a:r>
            <a:r>
              <a:rPr lang="en-US" dirty="0">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p:txBody>
      </p:sp>
      <p:sp>
        <p:nvSpPr>
          <p:cNvPr id="26" name="Rectangle 25">
            <a:extLst>
              <a:ext uri="{FF2B5EF4-FFF2-40B4-BE49-F238E27FC236}">
                <a16:creationId xmlns:a16="http://schemas.microsoft.com/office/drawing/2014/main" id="{D9C09721-8B76-468C-8E3F-20B71CD7DC23}"/>
              </a:ext>
            </a:extLst>
          </p:cNvPr>
          <p:cNvSpPr/>
          <p:nvPr/>
        </p:nvSpPr>
        <p:spPr>
          <a:xfrm>
            <a:off x="565616" y="755241"/>
            <a:ext cx="11060767" cy="9848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a:p>
            <a:endParaRPr lang="en-US" sz="800" dirty="0">
              <a:solidFill>
                <a:srgbClr val="006C86"/>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F2EA1B7-5550-4EC7-9988-45CC2F8A3697}"/>
              </a:ext>
            </a:extLst>
          </p:cNvPr>
          <p:cNvSpPr txBox="1"/>
          <p:nvPr/>
        </p:nvSpPr>
        <p:spPr>
          <a:xfrm>
            <a:off x="565616" y="4748543"/>
            <a:ext cx="1064295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&gt; </a:t>
            </a:r>
            <a:r>
              <a:rPr lang="en-IN" dirty="0">
                <a:solidFill>
                  <a:srgbClr val="990055"/>
                </a:solidFill>
                <a:latin typeface="Liberation Mono"/>
              </a:rPr>
              <a:t>2000</a:t>
            </a:r>
            <a:r>
              <a:rPr lang="en-IN" dirty="0">
                <a:latin typeface="Liberation Mono"/>
              </a:rPr>
              <a:t>;</a:t>
            </a:r>
          </a:p>
        </p:txBody>
      </p:sp>
    </p:spTree>
    <p:extLst>
      <p:ext uri="{BB962C8B-B14F-4D97-AF65-F5344CB8AC3E}">
        <p14:creationId xmlns:p14="http://schemas.microsoft.com/office/powerpoint/2010/main" val="2845793550"/>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91345" y="1772816"/>
            <a:ext cx="11809310" cy="273921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669900"/>
                </a:solidFill>
                <a:latin typeface="Liberation Mono"/>
              </a:rPr>
              <a:t>"Hello" </a:t>
            </a:r>
            <a:r>
              <a:rPr lang="en-US" dirty="0">
                <a:solidFill>
                  <a:srgbClr val="000000"/>
                </a:solidFill>
                <a:latin typeface="Liberation Mono"/>
              </a:rPr>
              <a:t># </a:t>
            </a:r>
            <a:r>
              <a:rPr lang="en-US" dirty="0">
                <a:solidFill>
                  <a:srgbClr val="669900"/>
                </a:solidFill>
                <a:latin typeface="Liberation Mono"/>
              </a:rPr>
              <a:t>"World "</a:t>
            </a:r>
            <a:r>
              <a:rPr lang="en-US" dirty="0">
                <a:solidFill>
                  <a:srgbClr val="000000"/>
                </a:solidFill>
                <a:latin typeface="Liberation Mono"/>
              </a:rPr>
              <a:t>;</a:t>
            </a:r>
          </a:p>
          <a:p>
            <a:pPr marL="285750" indent="-285750">
              <a:buFont typeface="Arial" panose="020B0604020202020204" pitchFamily="34" charset="0"/>
              <a:buChar char="•"/>
            </a:pPr>
            <a:endParaRPr lang="en-IN"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False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True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30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endParaRPr lang="en-IN" dirty="0">
              <a:solidFill>
                <a:srgbClr val="000000"/>
              </a:solidFill>
              <a:latin typeface="Liberation Mono"/>
            </a:endParaRPr>
          </a:p>
        </p:txBody>
      </p:sp>
      <p:sp>
        <p:nvSpPr>
          <p:cNvPr id="7" name="Rectangle 6">
            <a:extLst>
              <a:ext uri="{FF2B5EF4-FFF2-40B4-BE49-F238E27FC236}">
                <a16:creationId xmlns:a16="http://schemas.microsoft.com/office/drawing/2014/main" id="{32A8932D-8AA5-42D7-AFFB-4E37DCD8A25C}"/>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2FB15718-7927-4F9F-895B-45A754CB6FBD}"/>
              </a:ext>
            </a:extLst>
          </p:cNvPr>
          <p:cNvSpPr txBox="1"/>
          <p:nvPr/>
        </p:nvSpPr>
        <p:spPr>
          <a:xfrm>
            <a:off x="191345" y="1270497"/>
            <a:ext cx="6096000" cy="369332"/>
          </a:xfrm>
          <a:prstGeom prst="rect">
            <a:avLst/>
          </a:prstGeom>
          <a:noFill/>
        </p:spPr>
        <p:txBody>
          <a:bodyPr wrap="square">
            <a:spAutoFit/>
          </a:bodyPr>
          <a:lstStyle/>
          <a:p>
            <a:r>
              <a:rPr lang="en-IN" sz="1800" dirty="0">
                <a:effectLst/>
                <a:latin typeface="Arial" panose="020B0604020202020204" pitchFamily="34" charset="0"/>
                <a:ea typeface="Calibri" panose="020F0502020204030204" pitchFamily="34" charset="0"/>
              </a:rPr>
              <a:t>What will be the output of the following statement?</a:t>
            </a:r>
            <a:endParaRPr lang="en-IN" dirty="0"/>
          </a:p>
        </p:txBody>
      </p:sp>
      <p:sp>
        <p:nvSpPr>
          <p:cNvPr id="3" name="Rectangle 2">
            <a:extLst>
              <a:ext uri="{FF2B5EF4-FFF2-40B4-BE49-F238E27FC236}">
                <a16:creationId xmlns:a16="http://schemas.microsoft.com/office/drawing/2014/main" id="{2E3EC906-905A-B47B-0C6C-F8A119809398}"/>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971E76D3-F60E-5379-9709-CC515134553A}"/>
              </a:ext>
            </a:extLst>
          </p:cNvPr>
          <p:cNvSpPr txBox="1"/>
          <p:nvPr/>
        </p:nvSpPr>
        <p:spPr>
          <a:xfrm>
            <a:off x="189068" y="4861609"/>
            <a:ext cx="11809309" cy="1661993"/>
          </a:xfrm>
          <a:prstGeom prst="rect">
            <a:avLst/>
          </a:prstGeom>
          <a:solidFill>
            <a:schemeClr val="bg2"/>
          </a:solid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registered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DB7BC9"/>
                </a:solidFill>
                <a:latin typeface="Liberation Mono"/>
              </a:rPr>
              <a:t>END</a:t>
            </a:r>
            <a:r>
              <a:rPr lang="en-US" dirty="0">
                <a:latin typeface="Liberation Mono"/>
              </a:rPr>
              <a:t>;</a:t>
            </a:r>
          </a:p>
          <a:p>
            <a:pPr marL="285750" indent="-285750">
              <a:buFont typeface="Arial" panose="020B0604020202020204" pitchFamily="34" charset="0"/>
              <a:buChar char="•"/>
            </a:pPr>
            <a:r>
              <a:rPr lang="en-US" sz="600" dirty="0">
                <a:latin typeface="Liberation Mono"/>
              </a:rPr>
              <a:t> </a:t>
            </a: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'Wallets'</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'COD'</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END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orders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cs typeface="Times New Roman" panose="02020603050405020304" pitchFamily="18" charset="0"/>
              </a:rPr>
              <a:t>ORDER</a:t>
            </a:r>
            <a:r>
              <a:rPr lang="en-IN" dirty="0">
                <a:latin typeface="Liberation Mono"/>
              </a:rPr>
              <a:t> </a:t>
            </a:r>
            <a:r>
              <a:rPr lang="en-IN" dirty="0">
                <a:solidFill>
                  <a:srgbClr val="0077AA"/>
                </a:solidFill>
                <a:latin typeface="Liberation Mono"/>
                <a:cs typeface="Times New Roman" panose="02020603050405020304" pitchFamily="18" charset="0"/>
              </a:rPr>
              <a:t>BY</a:t>
            </a:r>
            <a:r>
              <a:rPr lang="en-IN" dirty="0">
                <a:latin typeface="Liberation Mono"/>
              </a:rPr>
              <a:t> paymentType;</a:t>
            </a:r>
          </a:p>
        </p:txBody>
      </p:sp>
    </p:spTree>
    <p:extLst>
      <p:ext uri="{BB962C8B-B14F-4D97-AF65-F5344CB8AC3E}">
        <p14:creationId xmlns:p14="http://schemas.microsoft.com/office/powerpoint/2010/main" val="2020883761"/>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2992E-CB15-761D-83DF-A93F4AB48280}"/>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8CA2E96-6B84-575C-32B3-F3331FB456BE}"/>
              </a:ext>
            </a:extLst>
          </p:cNvPr>
          <p:cNvGraphicFramePr>
            <a:graphicFrameLocks noGrp="1"/>
          </p:cNvGraphicFramePr>
          <p:nvPr>
            <p:extLst>
              <p:ext uri="{D42A27DB-BD31-4B8C-83A1-F6EECF244321}">
                <p14:modId xmlns:p14="http://schemas.microsoft.com/office/powerpoint/2010/main" val="2482174678"/>
              </p:ext>
            </p:extLst>
          </p:nvPr>
        </p:nvGraphicFramePr>
        <p:xfrm>
          <a:off x="407369" y="1193160"/>
          <a:ext cx="3768418" cy="445008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Rejected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876230684"/>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Cancel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39038275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Send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251021008"/>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128</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Hold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32265271"/>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Selected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5315851"/>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Received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932448011"/>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More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41321475"/>
                  </a:ext>
                </a:extLst>
              </a:tr>
            </a:tbl>
          </a:graphicData>
        </a:graphic>
      </p:graphicFrame>
      <p:sp>
        <p:nvSpPr>
          <p:cNvPr id="3" name="TextBox 2">
            <a:extLst>
              <a:ext uri="{FF2B5EF4-FFF2-40B4-BE49-F238E27FC236}">
                <a16:creationId xmlns:a16="http://schemas.microsoft.com/office/drawing/2014/main" id="{F0AC3D8A-442D-930D-D795-FE2943A2FBD6}"/>
              </a:ext>
            </a:extLst>
          </p:cNvPr>
          <p:cNvSpPr txBox="1"/>
          <p:nvPr/>
        </p:nvSpPr>
        <p:spPr>
          <a:xfrm>
            <a:off x="4511824" y="3028890"/>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73E6D419-775D-7F3B-A974-99072533BC77}"/>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status</a:t>
            </a:r>
            <a:endParaRPr lang="en-IN" sz="2000" b="1" dirty="0"/>
          </a:p>
        </p:txBody>
      </p:sp>
      <p:sp>
        <p:nvSpPr>
          <p:cNvPr id="7" name="Rectangle 6">
            <a:extLst>
              <a:ext uri="{FF2B5EF4-FFF2-40B4-BE49-F238E27FC236}">
                <a16:creationId xmlns:a16="http://schemas.microsoft.com/office/drawing/2014/main" id="{28A9E925-3261-1F0D-E627-9B49FD2BA34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2CFAE89F-0C02-3439-EB01-2D80B5B23DBA}"/>
              </a:ext>
            </a:extLst>
          </p:cNvPr>
          <p:cNvGraphicFramePr>
            <a:graphicFrameLocks noGrp="1"/>
          </p:cNvGraphicFramePr>
          <p:nvPr>
            <p:extLst>
              <p:ext uri="{D42A27DB-BD31-4B8C-83A1-F6EECF244321}">
                <p14:modId xmlns:p14="http://schemas.microsoft.com/office/powerpoint/2010/main" val="3872156110"/>
              </p:ext>
            </p:extLst>
          </p:nvPr>
        </p:nvGraphicFramePr>
        <p:xfrm>
          <a:off x="6769857" y="1641708"/>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4" name="TextBox 13">
            <a:extLst>
              <a:ext uri="{FF2B5EF4-FFF2-40B4-BE49-F238E27FC236}">
                <a16:creationId xmlns:a16="http://schemas.microsoft.com/office/drawing/2014/main" id="{44F58766-AE54-920B-AA93-FBC093EAE3DF}"/>
              </a:ext>
            </a:extLst>
          </p:cNvPr>
          <p:cNvSpPr txBox="1"/>
          <p:nvPr/>
        </p:nvSpPr>
        <p:spPr>
          <a:xfrm>
            <a:off x="6312024" y="1193160"/>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5</a:t>
            </a:r>
            <a:r>
              <a:rPr lang="en-IN" dirty="0">
                <a:latin typeface="Liberation Mono"/>
              </a:rPr>
              <a:t>;</a:t>
            </a:r>
          </a:p>
        </p:txBody>
      </p:sp>
      <p:sp>
        <p:nvSpPr>
          <p:cNvPr id="15" name="TextBox 14">
            <a:extLst>
              <a:ext uri="{FF2B5EF4-FFF2-40B4-BE49-F238E27FC236}">
                <a16:creationId xmlns:a16="http://schemas.microsoft.com/office/drawing/2014/main" id="{7B2821DF-B2C7-432E-F941-AEBE7F39BE70}"/>
              </a:ext>
            </a:extLst>
          </p:cNvPr>
          <p:cNvSpPr txBox="1"/>
          <p:nvPr/>
        </p:nvSpPr>
        <p:spPr>
          <a:xfrm>
            <a:off x="6328854" y="713834"/>
            <a:ext cx="1017068" cy="400110"/>
          </a:xfrm>
          <a:prstGeom prst="rect">
            <a:avLst/>
          </a:prstGeom>
          <a:noFill/>
        </p:spPr>
        <p:txBody>
          <a:bodyPr wrap="square">
            <a:spAutoFit/>
          </a:bodyPr>
          <a:lstStyle/>
          <a:p>
            <a:r>
              <a:rPr lang="en-IN" sz="2000" b="1" dirty="0">
                <a:latin typeface="Liberation Mono"/>
              </a:rPr>
              <a:t>Query</a:t>
            </a:r>
            <a:endParaRPr lang="en-IN" sz="2000" b="1" dirty="0"/>
          </a:p>
        </p:txBody>
      </p:sp>
      <p:graphicFrame>
        <p:nvGraphicFramePr>
          <p:cNvPr id="16" name="Table 2">
            <a:extLst>
              <a:ext uri="{FF2B5EF4-FFF2-40B4-BE49-F238E27FC236}">
                <a16:creationId xmlns:a16="http://schemas.microsoft.com/office/drawing/2014/main" id="{41D77904-5D30-B58E-1374-7A172FCFD108}"/>
              </a:ext>
            </a:extLst>
          </p:cNvPr>
          <p:cNvGraphicFramePr>
            <a:graphicFrameLocks noGrp="1"/>
          </p:cNvGraphicFramePr>
          <p:nvPr>
            <p:extLst>
              <p:ext uri="{D42A27DB-BD31-4B8C-83A1-F6EECF244321}">
                <p14:modId xmlns:p14="http://schemas.microsoft.com/office/powerpoint/2010/main" val="1143153286"/>
              </p:ext>
            </p:extLst>
          </p:nvPr>
        </p:nvGraphicFramePr>
        <p:xfrm>
          <a:off x="6769857" y="3396600"/>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7" name="TextBox 16">
            <a:extLst>
              <a:ext uri="{FF2B5EF4-FFF2-40B4-BE49-F238E27FC236}">
                <a16:creationId xmlns:a16="http://schemas.microsoft.com/office/drawing/2014/main" id="{913B25E9-8147-1875-9E1D-A6ADA198B2CE}"/>
              </a:ext>
            </a:extLst>
          </p:cNvPr>
          <p:cNvSpPr txBox="1"/>
          <p:nvPr/>
        </p:nvSpPr>
        <p:spPr>
          <a:xfrm>
            <a:off x="6312024" y="29249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36</a:t>
            </a:r>
            <a:r>
              <a:rPr lang="en-IN" dirty="0">
                <a:latin typeface="Liberation Mono"/>
              </a:rPr>
              <a:t>;</a:t>
            </a:r>
          </a:p>
        </p:txBody>
      </p:sp>
      <p:sp>
        <p:nvSpPr>
          <p:cNvPr id="18" name="TextBox 17">
            <a:extLst>
              <a:ext uri="{FF2B5EF4-FFF2-40B4-BE49-F238E27FC236}">
                <a16:creationId xmlns:a16="http://schemas.microsoft.com/office/drawing/2014/main" id="{D5360DEC-7BCD-DD6D-EB17-A81482824C96}"/>
              </a:ext>
            </a:extLst>
          </p:cNvPr>
          <p:cNvSpPr txBox="1"/>
          <p:nvPr/>
        </p:nvSpPr>
        <p:spPr>
          <a:xfrm>
            <a:off x="6312024" y="47251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38</a:t>
            </a:r>
            <a:r>
              <a:rPr lang="en-IN" dirty="0">
                <a:latin typeface="Liberation Mono"/>
              </a:rPr>
              <a:t>;</a:t>
            </a:r>
          </a:p>
        </p:txBody>
      </p:sp>
      <p:graphicFrame>
        <p:nvGraphicFramePr>
          <p:cNvPr id="19" name="Table 2">
            <a:extLst>
              <a:ext uri="{FF2B5EF4-FFF2-40B4-BE49-F238E27FC236}">
                <a16:creationId xmlns:a16="http://schemas.microsoft.com/office/drawing/2014/main" id="{42B30736-B30B-513B-16F4-03A913C8BB95}"/>
              </a:ext>
            </a:extLst>
          </p:cNvPr>
          <p:cNvGraphicFramePr>
            <a:graphicFrameLocks noGrp="1"/>
          </p:cNvGraphicFramePr>
          <p:nvPr>
            <p:extLst>
              <p:ext uri="{D42A27DB-BD31-4B8C-83A1-F6EECF244321}">
                <p14:modId xmlns:p14="http://schemas.microsoft.com/office/powerpoint/2010/main" val="972697002"/>
              </p:ext>
            </p:extLst>
          </p:nvPr>
        </p:nvGraphicFramePr>
        <p:xfrm>
          <a:off x="6769857" y="5229200"/>
          <a:ext cx="3768418" cy="148336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36065702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5" name="Rectangle 4">
            <a:extLst>
              <a:ext uri="{FF2B5EF4-FFF2-40B4-BE49-F238E27FC236}">
                <a16:creationId xmlns:a16="http://schemas.microsoft.com/office/drawing/2014/main" id="{A6AC193A-4BEE-5C5A-FBE5-8419E381CA73}"/>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1618204386"/>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17E9CB8-6551-64BB-DE36-5DB1E13BADB8}"/>
              </a:ext>
            </a:extLst>
          </p:cNvPr>
          <p:cNvGraphicFramePr>
            <a:graphicFrameLocks noGrp="1"/>
          </p:cNvGraphicFramePr>
          <p:nvPr>
            <p:extLst>
              <p:ext uri="{D42A27DB-BD31-4B8C-83A1-F6EECF244321}">
                <p14:modId xmlns:p14="http://schemas.microsoft.com/office/powerpoint/2010/main" val="2856666080"/>
              </p:ext>
            </p:extLst>
          </p:nvPr>
        </p:nvGraphicFramePr>
        <p:xfrm>
          <a:off x="407367" y="1190442"/>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dirty="0">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4" name="Rectangle 3">
            <a:extLst>
              <a:ext uri="{FF2B5EF4-FFF2-40B4-BE49-F238E27FC236}">
                <a16:creationId xmlns:a16="http://schemas.microsoft.com/office/drawing/2014/main" id="{D4B2867A-57FC-1A9F-EDC3-A0CC76D5729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bitwise tables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B782526-D04F-D887-F3B2-81A5D50B7ED7}"/>
              </a:ext>
            </a:extLst>
          </p:cNvPr>
          <p:cNvSpPr txBox="1"/>
          <p:nvPr/>
        </p:nvSpPr>
        <p:spPr>
          <a:xfrm>
            <a:off x="407367" y="692696"/>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graphicFrame>
        <p:nvGraphicFramePr>
          <p:cNvPr id="6" name="Table 5">
            <a:extLst>
              <a:ext uri="{FF2B5EF4-FFF2-40B4-BE49-F238E27FC236}">
                <a16:creationId xmlns:a16="http://schemas.microsoft.com/office/drawing/2014/main" id="{8F04178A-D5BD-77C3-65E8-CA74B69AB1DA}"/>
              </a:ext>
            </a:extLst>
          </p:cNvPr>
          <p:cNvGraphicFramePr>
            <a:graphicFrameLocks noGrp="1"/>
          </p:cNvGraphicFramePr>
          <p:nvPr>
            <p:extLst>
              <p:ext uri="{D42A27DB-BD31-4B8C-83A1-F6EECF244321}">
                <p14:modId xmlns:p14="http://schemas.microsoft.com/office/powerpoint/2010/main" val="3755821832"/>
              </p:ext>
            </p:extLst>
          </p:nvPr>
        </p:nvGraphicFramePr>
        <p:xfrm>
          <a:off x="4799856" y="1190442"/>
          <a:ext cx="5616624" cy="3337560"/>
        </p:xfrm>
        <a:graphic>
          <a:graphicData uri="http://schemas.openxmlformats.org/drawingml/2006/table">
            <a:tbl>
              <a:tblPr firstRow="1" bandRow="1">
                <a:tableStyleId>{5940675A-B579-460E-94D1-54222C63F5DA}</a:tableStyleId>
              </a:tblPr>
              <a:tblGrid>
                <a:gridCol w="1486753">
                  <a:extLst>
                    <a:ext uri="{9D8B030D-6E8A-4147-A177-3AD203B41FA5}">
                      <a16:colId xmlns:a16="http://schemas.microsoft.com/office/drawing/2014/main" val="2512169847"/>
                    </a:ext>
                  </a:extLst>
                </a:gridCol>
                <a:gridCol w="1321559">
                  <a:extLst>
                    <a:ext uri="{9D8B030D-6E8A-4147-A177-3AD203B41FA5}">
                      <a16:colId xmlns:a16="http://schemas.microsoft.com/office/drawing/2014/main" val="413594051"/>
                    </a:ext>
                  </a:extLst>
                </a:gridCol>
                <a:gridCol w="1554113">
                  <a:extLst>
                    <a:ext uri="{9D8B030D-6E8A-4147-A177-3AD203B41FA5}">
                      <a16:colId xmlns:a16="http://schemas.microsoft.com/office/drawing/2014/main" val="3202268575"/>
                    </a:ext>
                  </a:extLst>
                </a:gridCol>
                <a:gridCol w="1254199">
                  <a:extLst>
                    <a:ext uri="{9D8B030D-6E8A-4147-A177-3AD203B41FA5}">
                      <a16:colId xmlns:a16="http://schemas.microsoft.com/office/drawing/2014/main" val="3118031790"/>
                    </a:ext>
                  </a:extLst>
                </a:gridCol>
              </a:tblGrid>
              <a:tr h="370840">
                <a:tc>
                  <a:txBody>
                    <a:bodyPr/>
                    <a:lstStyle/>
                    <a:p>
                      <a:pPr marL="0" algn="ctr" rtl="0" eaLnBrk="1" latinLnBrk="0" hangingPunct="1"/>
                      <a:r>
                        <a:rPr lang="en-IN" dirty="0">
                          <a:latin typeface="Arial" panose="020B0604020202020204" pitchFamily="34" charset="0"/>
                          <a:cs typeface="Arial" panose="020B0604020202020204" pitchFamily="34" charset="0"/>
                        </a:rPr>
                        <a:t>seat_id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flight_id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seat_number</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features</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extLst>
                  <a:ext uri="{0D108BD9-81ED-4DB2-BD59-A6C34878D82A}">
                    <a16:rowId xmlns:a16="http://schemas.microsoft.com/office/drawing/2014/main" val="3212817713"/>
                  </a:ext>
                </a:extLst>
              </a:tr>
              <a:tr h="370840">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101</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456</a:t>
                      </a:r>
                    </a:p>
                  </a:txBody>
                  <a:tcPr anchor="ctr"/>
                </a:tc>
                <a:tc>
                  <a:txBody>
                    <a:bodyPr/>
                    <a:lstStyle/>
                    <a:p>
                      <a:pPr algn="ctr"/>
                      <a:r>
                        <a:rPr lang="en-IN" dirty="0">
                          <a:solidFill>
                            <a:srgbClr val="00B050"/>
                          </a:solidFill>
                          <a:latin typeface="Arial" panose="020B0604020202020204" pitchFamily="34" charset="0"/>
                          <a:cs typeface="Arial" panose="020B0604020202020204" pitchFamily="34" charset="0"/>
                        </a:rPr>
                        <a:t>'12A'</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73</a:t>
                      </a:r>
                    </a:p>
                  </a:txBody>
                  <a:tcPr anchor="ctr"/>
                </a:tc>
                <a:extLst>
                  <a:ext uri="{0D108BD9-81ED-4DB2-BD59-A6C34878D82A}">
                    <a16:rowId xmlns:a16="http://schemas.microsoft.com/office/drawing/2014/main" val="59236848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102</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431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'01F'</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521</a:t>
                      </a:r>
                    </a:p>
                  </a:txBody>
                  <a:tcPr anchor="ctr"/>
                </a:tc>
                <a:extLst>
                  <a:ext uri="{0D108BD9-81ED-4DB2-BD59-A6C34878D82A}">
                    <a16:rowId xmlns:a16="http://schemas.microsoft.com/office/drawing/2014/main" val="3537021517"/>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346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'17G'</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50</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845895475"/>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101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'15H'</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521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08834810"/>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105</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204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'09L'</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336</a:t>
                      </a:r>
                    </a:p>
                  </a:txBody>
                  <a:tcPr anchor="ctr"/>
                </a:tc>
                <a:extLst>
                  <a:ext uri="{0D108BD9-81ED-4DB2-BD59-A6C34878D82A}">
                    <a16:rowId xmlns:a16="http://schemas.microsoft.com/office/drawing/2014/main" val="20192162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876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'24J'</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141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64920970"/>
                  </a:ext>
                </a:extLst>
              </a:tr>
              <a:tr h="370840">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107</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683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'34K'</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1034</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784647798"/>
                  </a:ext>
                </a:extLst>
              </a:tr>
              <a:tr h="370840">
                <a:tc>
                  <a:txBody>
                    <a:bodyPr/>
                    <a:lstStyle/>
                    <a:p>
                      <a:r>
                        <a:rPr lang="en-US" dirty="0">
                          <a:latin typeface="Arial" panose="020B0604020202020204" pitchFamily="34" charset="0"/>
                          <a:cs typeface="Arial" panose="020B0604020202020204" pitchFamily="34" charset="0"/>
                        </a:rPr>
                        <a:t>108</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456</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'13A'</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73</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332723746"/>
                  </a:ext>
                </a:extLst>
              </a:tr>
            </a:tbl>
          </a:graphicData>
        </a:graphic>
      </p:graphicFrame>
      <p:sp>
        <p:nvSpPr>
          <p:cNvPr id="5" name="Rectangle 1">
            <a:extLst>
              <a:ext uri="{FF2B5EF4-FFF2-40B4-BE49-F238E27FC236}">
                <a16:creationId xmlns:a16="http://schemas.microsoft.com/office/drawing/2014/main" id="{B76D0B6E-C631-35B3-E85E-F1BBDE8911B8}"/>
              </a:ext>
            </a:extLst>
          </p:cNvPr>
          <p:cNvSpPr>
            <a:spLocks noChangeArrowheads="1"/>
          </p:cNvSpPr>
          <p:nvPr/>
        </p:nvSpPr>
        <p:spPr bwMode="auto">
          <a:xfrm>
            <a:off x="6888088" y="4653136"/>
            <a:ext cx="5256584" cy="18312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effectLst/>
                <a:latin typeface="Liberation Mono"/>
                <a:cs typeface="Arial" panose="020B0604020202020204" pitchFamily="34" charset="0"/>
              </a:rPr>
              <a:t>A seat with </a:t>
            </a:r>
            <a:r>
              <a:rPr lang="en-US" altLang="en-US"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Window + Extra Legroom</a:t>
            </a:r>
            <a:r>
              <a:rPr lang="en-US" altLang="en-US" b="1"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 USB Charging</a:t>
            </a:r>
            <a:r>
              <a:rPr kumimoji="0" lang="en-US" altLang="en-US" b="0" i="0" u="none" strike="noStrike" cap="none" normalizeH="0" baseline="0" dirty="0">
                <a:ln>
                  <a:noFill/>
                </a:ln>
                <a:solidFill>
                  <a:schemeClr val="tx1"/>
                </a:solidFill>
                <a:effectLst/>
                <a:latin typeface="Liberation Mono"/>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u="none" strike="noStrike" cap="none" normalizeH="0" baseline="0" dirty="0">
                <a:ln>
                  <a:noFill/>
                </a:ln>
                <a:solidFill>
                  <a:schemeClr val="tx1"/>
                </a:solidFill>
                <a:effectLst/>
                <a:latin typeface="Liberation Mono"/>
                <a:cs typeface="Arial" panose="020B0604020202020204" pitchFamily="34" charset="0"/>
              </a:rPr>
              <a:t>Window = </a:t>
            </a:r>
            <a:r>
              <a:rPr lang="en-US" altLang="en-US" b="1" i="1" dirty="0">
                <a:solidFill>
                  <a:srgbClr val="990055"/>
                </a:solidFill>
                <a:latin typeface="Liberation Mono"/>
              </a:rPr>
              <a:t>1</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Extra Legroom = </a:t>
            </a:r>
            <a:r>
              <a:rPr lang="en-US" altLang="en-US" b="1" i="1" dirty="0">
                <a:solidFill>
                  <a:srgbClr val="990055"/>
                </a:solidFill>
                <a:latin typeface="Liberation Mono"/>
              </a:rPr>
              <a:t>8</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USB Charging = </a:t>
            </a:r>
            <a:r>
              <a:rPr lang="en-US" altLang="en-US" b="1" i="1" dirty="0">
                <a:solidFill>
                  <a:srgbClr val="990055"/>
                </a:solidFill>
                <a:latin typeface="Liberation Mono"/>
              </a:rPr>
              <a:t>64</a:t>
            </a:r>
          </a:p>
          <a:p>
            <a:pPr marL="265112" marR="0" lvl="0" algn="l" defTabSz="1431925" rtl="0" eaLnBrk="0" fontAlgn="base" latinLnBrk="0" hangingPunct="0">
              <a:lnSpc>
                <a:spcPct val="100000"/>
              </a:lnSpc>
              <a:spcBef>
                <a:spcPct val="0"/>
              </a:spcBef>
              <a:spcAft>
                <a:spcPct val="0"/>
              </a:spcAft>
              <a:buClrTx/>
              <a:buSzTx/>
            </a:pPr>
            <a:endParaRPr kumimoji="0" lang="en-US" altLang="en-US" sz="700" b="0" i="0" u="none" strike="noStrike" cap="none" normalizeH="0" baseline="0" dirty="0">
              <a:ln>
                <a:noFill/>
              </a:ln>
              <a:solidFill>
                <a:srgbClr val="C00000"/>
              </a:solidFill>
              <a:effectLst/>
              <a:latin typeface="Liberation Mono"/>
              <a:cs typeface="Arial" panose="020B0604020202020204" pitchFamily="34" charset="0"/>
            </a:endParaRPr>
          </a:p>
          <a:p>
            <a:pPr marL="265112" marR="0" lvl="0" algn="l" defTabSz="1431925" rtl="0" eaLnBrk="0" fontAlgn="base" latinLnBrk="0" hangingPunct="0">
              <a:lnSpc>
                <a:spcPct val="100000"/>
              </a:lnSpc>
              <a:spcBef>
                <a:spcPct val="0"/>
              </a:spcBef>
              <a:spcAft>
                <a:spcPct val="0"/>
              </a:spcAft>
              <a:buClrTx/>
              <a:buSzTx/>
            </a:pPr>
            <a:r>
              <a:rPr kumimoji="0" lang="en-US" altLang="en-US" sz="2000" b="0" i="0" u="none" strike="noStrike" cap="none" normalizeH="0" baseline="0" dirty="0">
                <a:ln>
                  <a:noFill/>
                </a:ln>
                <a:solidFill>
                  <a:srgbClr val="C00000"/>
                </a:solidFill>
                <a:effectLst/>
                <a:latin typeface="Liberation Mono"/>
                <a:cs typeface="Arial" panose="020B0604020202020204" pitchFamily="34" charset="0"/>
              </a:rPr>
              <a:t>→ Total </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a:t>
            </a:r>
            <a:r>
              <a:rPr lang="en-US" altLang="en-US" sz="2000" dirty="0">
                <a:solidFill>
                  <a:srgbClr val="990055"/>
                </a:solidFill>
                <a:latin typeface="Liberation Mono"/>
              </a:rPr>
              <a:t>1</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8</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64</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73</a:t>
            </a:r>
          </a:p>
        </p:txBody>
      </p:sp>
      <p:sp>
        <p:nvSpPr>
          <p:cNvPr id="10" name="TextBox 9">
            <a:extLst>
              <a:ext uri="{FF2B5EF4-FFF2-40B4-BE49-F238E27FC236}">
                <a16:creationId xmlns:a16="http://schemas.microsoft.com/office/drawing/2014/main" id="{B3E46BDC-50A5-917F-4956-E78E68492C68}"/>
              </a:ext>
            </a:extLst>
          </p:cNvPr>
          <p:cNvSpPr txBox="1"/>
          <p:nvPr/>
        </p:nvSpPr>
        <p:spPr>
          <a:xfrm>
            <a:off x="119336" y="5877272"/>
            <a:ext cx="6840760"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p:txBody>
      </p:sp>
      <p:sp>
        <p:nvSpPr>
          <p:cNvPr id="7" name="TextBox 6">
            <a:extLst>
              <a:ext uri="{FF2B5EF4-FFF2-40B4-BE49-F238E27FC236}">
                <a16:creationId xmlns:a16="http://schemas.microsoft.com/office/drawing/2014/main" id="{11518D75-F919-C554-09D1-80D294CBFCC4}"/>
              </a:ext>
            </a:extLst>
          </p:cNvPr>
          <p:cNvSpPr txBox="1"/>
          <p:nvPr/>
        </p:nvSpPr>
        <p:spPr>
          <a:xfrm>
            <a:off x="4715196" y="692696"/>
            <a:ext cx="2388916" cy="400110"/>
          </a:xfrm>
          <a:prstGeom prst="rect">
            <a:avLst/>
          </a:prstGeom>
          <a:noFill/>
        </p:spPr>
        <p:txBody>
          <a:bodyPr wrap="square">
            <a:spAutoFit/>
          </a:bodyPr>
          <a:lstStyle/>
          <a:p>
            <a:r>
              <a:rPr lang="en-IN" sz="2000" b="1" dirty="0">
                <a:latin typeface="Liberation Mono"/>
              </a:rPr>
              <a:t>Table:- airline_seats</a:t>
            </a:r>
            <a:endParaRPr lang="en-IN" sz="2000" b="1" dirty="0"/>
          </a:p>
        </p:txBody>
      </p:sp>
      <p:sp>
        <p:nvSpPr>
          <p:cNvPr id="11" name="Rectangle 10">
            <a:extLst>
              <a:ext uri="{FF2B5EF4-FFF2-40B4-BE49-F238E27FC236}">
                <a16:creationId xmlns:a16="http://schemas.microsoft.com/office/drawing/2014/main" id="{FCCA1FE9-2202-EF54-BE24-23C919C4CBE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example.</a:t>
            </a:r>
          </a:p>
        </p:txBody>
      </p:sp>
    </p:spTree>
    <p:extLst>
      <p:ext uri="{BB962C8B-B14F-4D97-AF65-F5344CB8AC3E}">
        <p14:creationId xmlns:p14="http://schemas.microsoft.com/office/powerpoint/2010/main" val="2912349952"/>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175B-94C6-7763-E257-7B65DBBE8F6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FD71731-C6C5-DC82-B823-9544FFE3AF7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bitwise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B3D3050E-53AE-06B4-6C4D-8AA547A2D045}"/>
              </a:ext>
            </a:extLst>
          </p:cNvPr>
          <p:cNvSpPr txBox="1"/>
          <p:nvPr/>
        </p:nvSpPr>
        <p:spPr>
          <a:xfrm>
            <a:off x="4946968" y="984785"/>
            <a:ext cx="6838232" cy="532453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102</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'01F'</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103</a:t>
            </a:r>
            <a:r>
              <a:rPr lang="en-IN" dirty="0">
                <a:latin typeface="Liberation Mono"/>
              </a:rPr>
              <a:t>, </a:t>
            </a:r>
            <a:r>
              <a:rPr lang="en-IN" dirty="0">
                <a:solidFill>
                  <a:srgbClr val="990055"/>
                </a:solidFill>
                <a:latin typeface="Liberation Mono"/>
              </a:rPr>
              <a:t>346</a:t>
            </a:r>
            <a:r>
              <a:rPr lang="en-IN" dirty="0">
                <a:latin typeface="Liberation Mono"/>
              </a:rPr>
              <a:t>, </a:t>
            </a:r>
            <a:r>
              <a:rPr lang="en-IN" dirty="0">
                <a:solidFill>
                  <a:srgbClr val="00B050"/>
                </a:solidFill>
                <a:latin typeface="Liberation Mono"/>
              </a:rPr>
              <a:t>'17G'</a:t>
            </a:r>
            <a:r>
              <a:rPr lang="en-IN" dirty="0">
                <a:latin typeface="Liberation Mono"/>
              </a:rPr>
              <a:t>, </a:t>
            </a:r>
            <a:r>
              <a:rPr lang="en-IN" dirty="0">
                <a:solidFill>
                  <a:srgbClr val="990055"/>
                </a:solidFill>
                <a:latin typeface="Liberation Mono"/>
              </a:rPr>
              <a:t>50</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104</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00B050"/>
                </a:solidFill>
                <a:latin typeface="Liberation Mono"/>
              </a:rPr>
              <a:t>'15H'</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105</a:t>
            </a:r>
            <a:r>
              <a:rPr lang="en-IN" dirty="0">
                <a:latin typeface="Liberation Mono"/>
              </a:rPr>
              <a:t>, </a:t>
            </a:r>
            <a:r>
              <a:rPr lang="en-IN" dirty="0">
                <a:solidFill>
                  <a:srgbClr val="990055"/>
                </a:solidFill>
                <a:latin typeface="Liberation Mono"/>
              </a:rPr>
              <a:t>204</a:t>
            </a:r>
            <a:r>
              <a:rPr lang="en-IN" dirty="0">
                <a:latin typeface="Liberation Mono"/>
              </a:rPr>
              <a:t>, </a:t>
            </a:r>
            <a:r>
              <a:rPr lang="en-IN" dirty="0">
                <a:solidFill>
                  <a:srgbClr val="00B050"/>
                </a:solidFill>
                <a:latin typeface="Liberation Mono"/>
              </a:rPr>
              <a:t>'09L'</a:t>
            </a:r>
            <a:r>
              <a:rPr lang="en-IN" dirty="0">
                <a:latin typeface="Liberation Mono"/>
              </a:rPr>
              <a:t>, </a:t>
            </a:r>
            <a:r>
              <a:rPr lang="en-IN" dirty="0">
                <a:solidFill>
                  <a:srgbClr val="990055"/>
                </a:solidFill>
                <a:latin typeface="Liberation Mono"/>
              </a:rPr>
              <a:t>336</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106</a:t>
            </a:r>
            <a:r>
              <a:rPr lang="en-IN" dirty="0">
                <a:latin typeface="Liberation Mono"/>
              </a:rPr>
              <a:t>, </a:t>
            </a:r>
            <a:r>
              <a:rPr lang="en-IN" dirty="0">
                <a:solidFill>
                  <a:srgbClr val="990055"/>
                </a:solidFill>
                <a:latin typeface="Liberation Mono"/>
              </a:rPr>
              <a:t>876</a:t>
            </a:r>
            <a:r>
              <a:rPr lang="en-IN" dirty="0">
                <a:latin typeface="Liberation Mono"/>
              </a:rPr>
              <a:t>, </a:t>
            </a:r>
            <a:r>
              <a:rPr lang="en-IN" dirty="0">
                <a:solidFill>
                  <a:srgbClr val="00B050"/>
                </a:solidFill>
                <a:latin typeface="Liberation Mono"/>
              </a:rPr>
              <a:t>'24J'</a:t>
            </a:r>
            <a:r>
              <a:rPr lang="en-IN" dirty="0">
                <a:latin typeface="Liberation Mono"/>
              </a:rPr>
              <a:t>, </a:t>
            </a:r>
            <a:r>
              <a:rPr lang="en-IN" dirty="0">
                <a:solidFill>
                  <a:srgbClr val="990055"/>
                </a:solidFill>
                <a:latin typeface="Liberation Mono"/>
              </a:rPr>
              <a:t>141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107</a:t>
            </a:r>
            <a:r>
              <a:rPr lang="en-IN" dirty="0">
                <a:latin typeface="Liberation Mono"/>
              </a:rPr>
              <a:t>, </a:t>
            </a:r>
            <a:r>
              <a:rPr lang="en-IN" dirty="0">
                <a:solidFill>
                  <a:srgbClr val="990055"/>
                </a:solidFill>
                <a:latin typeface="Liberation Mono"/>
              </a:rPr>
              <a:t>683</a:t>
            </a:r>
            <a:r>
              <a:rPr lang="en-IN" dirty="0">
                <a:latin typeface="Liberation Mono"/>
              </a:rPr>
              <a:t>, </a:t>
            </a:r>
            <a:r>
              <a:rPr lang="en-IN" dirty="0">
                <a:solidFill>
                  <a:srgbClr val="00B050"/>
                </a:solidFill>
                <a:latin typeface="Liberation Mono"/>
              </a:rPr>
              <a:t>'34K'</a:t>
            </a:r>
            <a:r>
              <a:rPr lang="en-IN" dirty="0">
                <a:latin typeface="Liberation Mono"/>
              </a:rPr>
              <a:t>, </a:t>
            </a:r>
            <a:r>
              <a:rPr lang="en-IN" dirty="0">
                <a:solidFill>
                  <a:srgbClr val="990055"/>
                </a:solidFill>
                <a:latin typeface="Liberation Mono"/>
              </a:rPr>
              <a:t>1034</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108</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'13A'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sz="2000" b="1" dirty="0">
                <a:latin typeface="Liberation Mono"/>
              </a:rPr>
              <a:t>. . .</a:t>
            </a:r>
          </a:p>
        </p:txBody>
      </p:sp>
      <p:graphicFrame>
        <p:nvGraphicFramePr>
          <p:cNvPr id="5" name="Table 4">
            <a:extLst>
              <a:ext uri="{FF2B5EF4-FFF2-40B4-BE49-F238E27FC236}">
                <a16:creationId xmlns:a16="http://schemas.microsoft.com/office/drawing/2014/main" id="{4B5503D8-116D-A799-38B1-AB77DED7F585}"/>
              </a:ext>
            </a:extLst>
          </p:cNvPr>
          <p:cNvGraphicFramePr>
            <a:graphicFrameLocks noGrp="1"/>
          </p:cNvGraphicFramePr>
          <p:nvPr>
            <p:extLst>
              <p:ext uri="{D42A27DB-BD31-4B8C-83A1-F6EECF244321}">
                <p14:modId xmlns:p14="http://schemas.microsoft.com/office/powerpoint/2010/main" val="2342565186"/>
              </p:ext>
            </p:extLst>
          </p:nvPr>
        </p:nvGraphicFramePr>
        <p:xfrm>
          <a:off x="407367" y="1127343"/>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6" name="TextBox 5">
            <a:extLst>
              <a:ext uri="{FF2B5EF4-FFF2-40B4-BE49-F238E27FC236}">
                <a16:creationId xmlns:a16="http://schemas.microsoft.com/office/drawing/2014/main" id="{C7A8E2F5-DA27-9A56-A69F-7AD27C018370}"/>
              </a:ext>
            </a:extLst>
          </p:cNvPr>
          <p:cNvSpPr txBox="1"/>
          <p:nvPr/>
        </p:nvSpPr>
        <p:spPr>
          <a:xfrm>
            <a:off x="407367" y="629597"/>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sp>
        <p:nvSpPr>
          <p:cNvPr id="2" name="Rectangle 1">
            <a:extLst>
              <a:ext uri="{FF2B5EF4-FFF2-40B4-BE49-F238E27FC236}">
                <a16:creationId xmlns:a16="http://schemas.microsoft.com/office/drawing/2014/main" id="{F73A285F-D48F-C76A-2F9D-E420A4EC3526}"/>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insert example.</a:t>
            </a:r>
          </a:p>
        </p:txBody>
      </p:sp>
    </p:spTree>
    <p:extLst>
      <p:ext uri="{BB962C8B-B14F-4D97-AF65-F5344CB8AC3E}">
        <p14:creationId xmlns:p14="http://schemas.microsoft.com/office/powerpoint/2010/main" val="1709567491"/>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4E829-29FB-F9FB-CC37-C7A948F55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E88D49-9A28-90F3-82AF-003B21F9F93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B76596D3-7536-0B46-9F07-BD5CBE29E37A}"/>
              </a:ext>
            </a:extLst>
          </p:cNvPr>
          <p:cNvSpPr/>
          <p:nvPr/>
        </p:nvSpPr>
        <p:spPr>
          <a:xfrm>
            <a:off x="241200" y="259200"/>
            <a:ext cx="5112568" cy="369332"/>
          </a:xfrm>
          <a:prstGeom prst="rect">
            <a:avLst/>
          </a:prstGeom>
        </p:spPr>
        <p:txBody>
          <a:bodyPr wrap="square">
            <a:spAutoFit/>
          </a:bodyPr>
          <a:lstStyle/>
          <a:p>
            <a:pPr marL="285750" indent="-285750">
              <a:buFont typeface="Arial" panose="020B0604020202020204" pitchFamily="34" charset="0"/>
              <a:buChar char="•"/>
            </a:pPr>
            <a:r>
              <a:rPr lang="en-IN" b="1" dirty="0">
                <a:solidFill>
                  <a:schemeClr val="accent2">
                    <a:lumMod val="50000"/>
                  </a:schemeClr>
                </a:solidFill>
                <a:latin typeface="Arial" panose="020B0604020202020204" pitchFamily="34" charset="0"/>
                <a:cs typeface="Arial" panose="020B0604020202020204" pitchFamily="34" charset="0"/>
              </a:rPr>
              <a:t>Bitwise ( &amp; ) Select Example</a:t>
            </a:r>
          </a:p>
        </p:txBody>
      </p:sp>
      <p:sp>
        <p:nvSpPr>
          <p:cNvPr id="12" name="TextBox 11">
            <a:extLst>
              <a:ext uri="{FF2B5EF4-FFF2-40B4-BE49-F238E27FC236}">
                <a16:creationId xmlns:a16="http://schemas.microsoft.com/office/drawing/2014/main" id="{DF129D82-5DE0-6C2E-19B7-63AAF1AEEDDE}"/>
              </a:ext>
            </a:extLst>
          </p:cNvPr>
          <p:cNvSpPr txBox="1"/>
          <p:nvPr/>
        </p:nvSpPr>
        <p:spPr>
          <a:xfrm>
            <a:off x="206492" y="1340768"/>
            <a:ext cx="11722156" cy="184665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16</a:t>
            </a:r>
            <a:r>
              <a:rPr lang="en-US"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a:t>
            </a:r>
            <a:r>
              <a:rPr lang="en-US" dirty="0">
                <a:solidFill>
                  <a:srgbClr val="0077AA"/>
                </a:solidFill>
                <a:latin typeface="Liberation Mono"/>
                <a:cs typeface="Times New Roman" panose="02020603050405020304" pitchFamily="18" charset="0"/>
              </a:rPr>
              <a:t> WHERE </a:t>
            </a:r>
            <a:r>
              <a:rPr lang="en-US" dirty="0">
                <a:latin typeface="Liberation Mono"/>
              </a:rPr>
              <a:t>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 </a:t>
            </a:r>
            <a:r>
              <a:rPr lang="en-US" dirty="0">
                <a:solidFill>
                  <a:srgbClr val="3939F5"/>
                </a:solidFill>
                <a:latin typeface="Liberation Mono"/>
              </a:rPr>
              <a:t>|</a:t>
            </a:r>
            <a:r>
              <a:rPr lang="en-US" dirty="0">
                <a:solidFill>
                  <a:srgbClr val="990055"/>
                </a:solidFill>
                <a:latin typeface="Liberation Mono"/>
              </a:rPr>
              <a:t> 128</a:t>
            </a:r>
            <a:r>
              <a:rPr lang="en-US" dirty="0">
                <a:latin typeface="Liberation Mono"/>
              </a:rPr>
              <a:t>); </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3939F5"/>
                </a:solidFill>
                <a:latin typeface="Liberation Mono"/>
              </a:rPr>
              <a:t>| </a:t>
            </a:r>
            <a:r>
              <a:rPr lang="en-US" dirty="0">
                <a:solidFill>
                  <a:srgbClr val="990055"/>
                </a:solidFill>
                <a:latin typeface="Liberation Mono"/>
              </a:rPr>
              <a:t>128</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16</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128</a:t>
            </a:r>
            <a:r>
              <a:rPr lang="en-US" dirty="0">
                <a:latin typeface="Liberation Mono"/>
              </a:rPr>
              <a:t>);</a:t>
            </a:r>
          </a:p>
        </p:txBody>
      </p:sp>
    </p:spTree>
    <p:extLst>
      <p:ext uri="{BB962C8B-B14F-4D97-AF65-F5344CB8AC3E}">
        <p14:creationId xmlns:p14="http://schemas.microsoft.com/office/powerpoint/2010/main" val="2287089231"/>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is null / is not null</a:t>
            </a:r>
          </a:p>
        </p:txBody>
      </p:sp>
      <p:sp>
        <p:nvSpPr>
          <p:cNvPr id="3" name="Rectangle 2"/>
          <p:cNvSpPr/>
          <p:nvPr/>
        </p:nvSpPr>
        <p:spPr>
          <a:xfrm>
            <a:off x="191344" y="3212976"/>
            <a:ext cx="11737304" cy="2185214"/>
          </a:xfrm>
          <a:prstGeom prst="rect">
            <a:avLst/>
          </a:prstGeom>
          <a:noFill/>
        </p:spPr>
        <p:txBody>
          <a:bodyPr wrap="square">
            <a:spAutoFit/>
          </a:bodyPr>
          <a:lstStyle/>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NULL and false if the supplied value is not NULL.</a:t>
            </a:r>
          </a:p>
          <a:p>
            <a:pPr marL="285750" indent="-285750" algn="just">
              <a:buFont typeface="Arial" panose="020B0604020202020204" pitchFamily="34" charset="0"/>
              <a:buChar char="•"/>
            </a:pPr>
            <a:endParaRPr lang="en-IN"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NOT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not NULL and false if the supplied value is null.</a:t>
            </a:r>
          </a:p>
          <a:p>
            <a:pPr marL="285750" indent="-285750" algn="just">
              <a:buFont typeface="Arial" panose="020B0604020202020204" pitchFamily="34" charset="0"/>
              <a:buChar char="•"/>
            </a:pPr>
            <a:endParaRPr lang="en-US"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US" sz="2000" dirty="0">
                <a:latin typeface="Palatino Linotype" panose="02040502050505030304" pitchFamily="18" charset="0"/>
                <a:cs typeface="Courier New" panose="02070309020205020404" pitchFamily="49" charset="0"/>
              </a:rPr>
              <a:t>SQL uses a three-valued logic: besides true and false, the result of logical expressions can also be unknown. SQL’s three valued logic is a consequence of supporting null to mark absent data.</a:t>
            </a:r>
            <a:endParaRPr lang="en-IN" sz="2000" dirty="0">
              <a:latin typeface="Palatino Linotype" panose="02040502050505030304" pitchFamily="18" charset="0"/>
              <a:cs typeface="Courier New" panose="02070309020205020404" pitchFamily="49" charset="0"/>
            </a:endParaRPr>
          </a:p>
        </p:txBody>
      </p:sp>
      <p:sp>
        <p:nvSpPr>
          <p:cNvPr id="5" name="Rectangle 4">
            <a:extLst>
              <a:ext uri="{FF2B5EF4-FFF2-40B4-BE49-F238E27FC236}">
                <a16:creationId xmlns:a16="http://schemas.microsoft.com/office/drawing/2014/main" id="{B74EDF08-A80E-4F4F-9B22-BBE5EAC60C5C}"/>
              </a:ext>
            </a:extLst>
          </p:cNvPr>
          <p:cNvSpPr/>
          <p:nvPr/>
        </p:nvSpPr>
        <p:spPr>
          <a:xfrm>
            <a:off x="191344" y="165707"/>
            <a:ext cx="8352928"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UNKNOWN</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
        <p:nvSpPr>
          <p:cNvPr id="7" name="TextBox 6">
            <a:extLst>
              <a:ext uri="{FF2B5EF4-FFF2-40B4-BE49-F238E27FC236}">
                <a16:creationId xmlns:a16="http://schemas.microsoft.com/office/drawing/2014/main" id="{350BDF37-A858-4227-BF91-9E4F158B8399}"/>
              </a:ext>
            </a:extLst>
          </p:cNvPr>
          <p:cNvSpPr txBox="1"/>
          <p:nvPr/>
        </p:nvSpPr>
        <p:spPr>
          <a:xfrm>
            <a:off x="623392" y="5517232"/>
            <a:ext cx="11305256" cy="1231106"/>
          </a:xfrm>
          <a:prstGeom prst="rect">
            <a:avLst/>
          </a:prstGeom>
          <a:noFill/>
        </p:spPr>
        <p:txBody>
          <a:bodyPr wrap="square">
            <a:spAutoFit/>
          </a:bodyPr>
          <a:lstStyle/>
          <a:p>
            <a:pPr lvl="0">
              <a:spcBef>
                <a:spcPct val="0"/>
              </a:spcBef>
              <a:defRPr/>
            </a:pPr>
            <a:r>
              <a:rPr lang="en-IN" sz="2200" dirty="0">
                <a:solidFill>
                  <a:srgbClr val="FF0000"/>
                </a:solidFill>
                <a:latin typeface="Arial" panose="020B0604020202020204" pitchFamily="34" charset="0"/>
                <a:cs typeface="Arial" panose="020B0604020202020204" pitchFamily="34" charset="0"/>
              </a:rPr>
              <a:t>Note:</a:t>
            </a:r>
            <a:endParaRPr lang="en-US" sz="2200" dirty="0">
              <a:solidFill>
                <a:schemeClr val="accent2">
                  <a:lumMod val="50000"/>
                </a:schemeClr>
              </a:solidFill>
              <a:latin typeface="Palatino Linotype" panose="02040502050505030304" pitchFamily="18" charset="0"/>
              <a:cs typeface="Arial" panose="020B0604020202020204" pitchFamily="34" charset="0"/>
            </a:endParaRPr>
          </a:p>
          <a:p>
            <a:pPr marL="285750" lvl="0" indent="-285750">
              <a:spcBef>
                <a:spcPct val="0"/>
              </a:spcBef>
              <a:buFont typeface="Arial" panose="020B0604020202020204" pitchFamily="34" charset="0"/>
              <a:buChar char="•"/>
              <a:defRPr/>
            </a:pPr>
            <a:endParaRPr lang="en-US" sz="800" dirty="0">
              <a:solidFill>
                <a:schemeClr val="accent2">
                  <a:lumMod val="50000"/>
                </a:schemeClr>
              </a:solidFill>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dirty="0">
                <a:latin typeface="Arial" panose="020B0604020202020204" pitchFamily="34" charset="0"/>
                <a:cs typeface="Arial" panose="020B0604020202020204" pitchFamily="34" charset="0"/>
              </a:rPr>
              <a:t> is synonym of </a:t>
            </a:r>
            <a:r>
              <a:rPr lang="en-US" i="1" dirty="0">
                <a:solidFill>
                  <a:schemeClr val="accent4">
                    <a:lumMod val="50000"/>
                  </a:schemeClr>
                </a:solidFill>
                <a:latin typeface="Arial" panose="020B0604020202020204" pitchFamily="34" charset="0"/>
                <a:cs typeface="Arial" panose="020B0604020202020204" pitchFamily="34" charset="0"/>
              </a:rPr>
              <a:t>IS NULL</a:t>
            </a:r>
            <a:r>
              <a:rPr lang="en-US" dirty="0">
                <a:latin typeface="Arial" panose="020B0604020202020204" pitchFamily="34" charset="0"/>
                <a:cs typeface="Arial" panose="020B0604020202020204" pitchFamily="34" charset="0"/>
              </a:rPr>
              <a:t>.</a:t>
            </a:r>
          </a:p>
          <a:p>
            <a:pPr marL="285750" lvl="0" indent="-285750">
              <a:spcBef>
                <a:spcPct val="0"/>
              </a:spcBef>
              <a:buFont typeface="Arial" panose="020B0604020202020204" pitchFamily="34" charset="0"/>
              <a:buChar char="•"/>
              <a:defRPr/>
            </a:pPr>
            <a:endParaRPr lang="en-US" sz="800" dirty="0">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NOT</a:t>
            </a:r>
            <a:r>
              <a:rPr lang="en-US" b="1"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b="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is synonym of </a:t>
            </a:r>
            <a:r>
              <a:rPr lang="en-US" i="1" dirty="0">
                <a:solidFill>
                  <a:schemeClr val="accent4">
                    <a:lumMod val="50000"/>
                  </a:schemeClr>
                </a:solidFill>
                <a:latin typeface="Arial" panose="020B0604020202020204" pitchFamily="34" charset="0"/>
                <a:cs typeface="Arial" panose="020B0604020202020204" pitchFamily="34" charset="0"/>
              </a:rPr>
              <a:t>IS NOT NULL</a:t>
            </a:r>
            <a:r>
              <a:rPr lang="en-US"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17D60068-140F-4EDA-8CFE-9736506E9396}"/>
              </a:ext>
            </a:extLst>
          </p:cNvPr>
          <p:cNvSpPr txBox="1"/>
          <p:nvPr/>
        </p:nvSpPr>
        <p:spPr>
          <a:xfrm>
            <a:off x="262800" y="1202400"/>
            <a:ext cx="4968552" cy="938719"/>
          </a:xfrm>
          <a:prstGeom prst="rect">
            <a:avLst/>
          </a:prstGeom>
          <a:noFill/>
        </p:spPr>
        <p:txBody>
          <a:bodyPr wrap="square">
            <a:spAutoFit/>
          </a:bodyPr>
          <a:lstStyle/>
          <a:p>
            <a:endParaRPr lang="en-US" sz="900" dirty="0">
              <a:solidFill>
                <a:schemeClr val="accent6">
                  <a:lumMod val="75000"/>
                </a:schemeClr>
              </a:solidFill>
              <a:effectLst/>
              <a:latin typeface="Liberation Mono"/>
            </a:endParaRPr>
          </a:p>
          <a:p>
            <a:pPr marL="450850" indent="-450850">
              <a:buFont typeface="+mj-lt"/>
              <a:buAutoNum type="arabicPeriod" startAt="3"/>
            </a:pPr>
            <a:r>
              <a:rPr lang="en-US" sz="2400" b="1" i="1" dirty="0">
                <a:solidFill>
                  <a:schemeClr val="accent6">
                    <a:lumMod val="75000"/>
                  </a:schemeClr>
                </a:solidFill>
                <a:latin typeface="Liberation Mono"/>
              </a:rPr>
              <a:t>boolean_ predicate:</a:t>
            </a:r>
          </a:p>
          <a:p>
            <a:pPr marL="531813"/>
            <a:r>
              <a:rPr lang="en-US" sz="2200" b="0" i="0" dirty="0">
                <a:solidFill>
                  <a:srgbClr val="A67F59"/>
                </a:solidFill>
                <a:effectLst/>
                <a:latin typeface="Liberation Mono"/>
              </a:rPr>
              <a:t>IS</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rgbClr val="990055"/>
                </a:solidFill>
                <a:effectLst/>
                <a:latin typeface="Liberation Mono"/>
              </a:rPr>
              <a:t>NULL</a:t>
            </a:r>
            <a:r>
              <a:rPr lang="en-US" sz="2200" b="0" i="0" dirty="0">
                <a:solidFill>
                  <a:srgbClr val="000000"/>
                </a:solidFill>
                <a:effectLst/>
                <a:latin typeface="Liberation Mono"/>
              </a:rPr>
              <a:t> </a:t>
            </a:r>
            <a:r>
              <a:rPr lang="en-US" sz="2200" b="0" i="0" dirty="0">
                <a:solidFill>
                  <a:schemeClr val="bg1">
                    <a:lumMod val="65000"/>
                  </a:schemeClr>
                </a:solidFill>
                <a:effectLst/>
                <a:latin typeface="Liberation Mono"/>
              </a:rPr>
              <a:t>|</a:t>
            </a:r>
            <a:r>
              <a:rPr lang="en-US" sz="2200" b="0" i="0" dirty="0">
                <a:solidFill>
                  <a:srgbClr val="000000"/>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solidFill>
                  <a:srgbClr val="A67F59"/>
                </a:solidFill>
                <a:effectLst/>
                <a:latin typeface="Liberation Mono"/>
              </a:rPr>
              <a:t>&lt;=&gt;</a:t>
            </a:r>
            <a:r>
              <a:rPr lang="en-US" sz="2200" b="0" i="0" dirty="0">
                <a:solidFill>
                  <a:srgbClr val="000000"/>
                </a:solidFill>
                <a:effectLst/>
                <a:latin typeface="Liberation Mono"/>
              </a:rPr>
              <a:t> </a:t>
            </a:r>
            <a:r>
              <a:rPr lang="en-US" sz="2200" b="0" i="0" dirty="0">
                <a:solidFill>
                  <a:srgbClr val="990055"/>
                </a:solidFill>
                <a:effectLst/>
                <a:latin typeface="Liberation Mono"/>
              </a:rPr>
              <a:t>NULL</a:t>
            </a:r>
            <a:endParaRPr lang="en-IN" sz="2200" dirty="0"/>
          </a:p>
        </p:txBody>
      </p:sp>
      <p:sp>
        <p:nvSpPr>
          <p:cNvPr id="4" name="Rectangle 3">
            <a:extLst>
              <a:ext uri="{FF2B5EF4-FFF2-40B4-BE49-F238E27FC236}">
                <a16:creationId xmlns:a16="http://schemas.microsoft.com/office/drawing/2014/main" id="{BC5342C3-2FE3-467B-9E0D-C37990E78BDD}"/>
              </a:ext>
            </a:extLst>
          </p:cNvPr>
          <p:cNvSpPr/>
          <p:nvPr/>
        </p:nvSpPr>
        <p:spPr>
          <a:xfrm>
            <a:off x="8510729" y="165707"/>
            <a:ext cx="3334311" cy="461665"/>
          </a:xfrm>
          <a:prstGeom prst="rect">
            <a:avLst/>
          </a:prstGeom>
        </p:spPr>
        <p:txBody>
          <a:bodyPr wrap="none">
            <a:spAutoFit/>
          </a:bodyPr>
          <a:lstStyle/>
          <a:p>
            <a:pPr marL="285750" indent="-285750">
              <a:buFont typeface="Arial" panose="020B0604020202020204" pitchFamily="34" charset="0"/>
              <a:buChar char="•"/>
            </a:pPr>
            <a:r>
              <a:rPr lang="en-IN" sz="2400" i="1" dirty="0">
                <a:solidFill>
                  <a:srgbClr val="000000"/>
                </a:solidFill>
                <a:latin typeface="Liberation Mono"/>
              </a:rPr>
              <a:t>operand </a:t>
            </a:r>
            <a:r>
              <a:rPr lang="en-IN" sz="2400" dirty="0">
                <a:solidFill>
                  <a:srgbClr val="A67F59"/>
                </a:solidFill>
                <a:latin typeface="Liberation Mono"/>
              </a:rPr>
              <a:t>IS</a:t>
            </a:r>
            <a:r>
              <a:rPr lang="en-US" sz="2400" dirty="0">
                <a:solidFill>
                  <a:srgbClr val="999999"/>
                </a:solidFill>
                <a:latin typeface="Liberation Mono"/>
              </a:rPr>
              <a:t> [</a:t>
            </a:r>
            <a:r>
              <a:rPr lang="en-US" sz="2400" dirty="0">
                <a:solidFill>
                  <a:srgbClr val="A67F59"/>
                </a:solidFill>
                <a:latin typeface="Liberation Mono"/>
              </a:rPr>
              <a:t>NOT</a:t>
            </a:r>
            <a:r>
              <a:rPr lang="en-US" sz="2400" dirty="0">
                <a:solidFill>
                  <a:srgbClr val="999999"/>
                </a:solidFill>
                <a:latin typeface="Liberation Mono"/>
              </a:rPr>
              <a:t>]</a:t>
            </a:r>
            <a:r>
              <a:rPr lang="en-IN" sz="2400" i="1" dirty="0">
                <a:solidFill>
                  <a:srgbClr val="000000"/>
                </a:solidFill>
                <a:latin typeface="Liberation Mono"/>
              </a:rPr>
              <a:t> </a:t>
            </a:r>
            <a:r>
              <a:rPr lang="en-IN" sz="2400" i="1" dirty="0">
                <a:solidFill>
                  <a:srgbClr val="990055"/>
                </a:solidFill>
                <a:latin typeface="Liberation Mono"/>
              </a:rPr>
              <a:t>NULL</a:t>
            </a:r>
          </a:p>
        </p:txBody>
      </p:sp>
    </p:spTree>
    <p:extLst>
      <p:ext uri="{BB962C8B-B14F-4D97-AF65-F5344CB8AC3E}">
        <p14:creationId xmlns:p14="http://schemas.microsoft.com/office/powerpoint/2010/main" val="49775833"/>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is null / is not 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A2A7F766-44E7-4F4E-941E-240A69D9AB5B}"/>
              </a:ext>
            </a:extLst>
          </p:cNvPr>
          <p:cNvSpPr/>
          <p:nvPr/>
        </p:nvSpPr>
        <p:spPr>
          <a:xfrm>
            <a:off x="90308" y="73652"/>
            <a:ext cx="7013804" cy="80021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endParaRPr lang="en-US" sz="2200" dirty="0">
              <a:solidFill>
                <a:srgbClr val="0077AA"/>
              </a:solidFill>
              <a:latin typeface="Liberation Mono"/>
              <a:ea typeface="Times New Roman" panose="02020603050405020304" pitchFamily="18" charset="0"/>
              <a:cs typeface="Arial" panose="020B0604020202020204" pitchFamily="34" charset="0"/>
            </a:endParaRPr>
          </a:p>
          <a:p>
            <a:endParaRPr lang="en-US" sz="200" dirty="0">
              <a:solidFill>
                <a:srgbClr val="0077AA"/>
              </a:solidFill>
              <a:latin typeface="Liberation Mono"/>
              <a:ea typeface="Times New Roman" panose="02020603050405020304" pitchFamily="18" charset="0"/>
              <a:cs typeface="Arial" panose="020B0604020202020204" pitchFamily="34" charset="0"/>
            </a:endParaRPr>
          </a:p>
          <a:p>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comm </a:t>
            </a:r>
            <a:r>
              <a:rPr lang="en-IN"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
        <p:nvSpPr>
          <p:cNvPr id="19" name="Rectangle 18">
            <a:extLst>
              <a:ext uri="{FF2B5EF4-FFF2-40B4-BE49-F238E27FC236}">
                <a16:creationId xmlns:a16="http://schemas.microsoft.com/office/drawing/2014/main" id="{689B237C-2146-4817-8BC7-4869ECE92CD8}"/>
              </a:ext>
            </a:extLst>
          </p:cNvPr>
          <p:cNvSpPr/>
          <p:nvPr/>
        </p:nvSpPr>
        <p:spPr>
          <a:xfrm>
            <a:off x="191345" y="1332303"/>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NULL</a:t>
            </a:r>
            <a:r>
              <a:rPr lang="en-IN" dirty="0">
                <a:latin typeface="Liberation Mono"/>
                <a:cs typeface="Arial" panose="020B0604020202020204" pitchFamily="34" charset="0"/>
              </a:rPr>
              <a:t>;</a:t>
            </a:r>
          </a:p>
        </p:txBody>
      </p:sp>
      <p:sp>
        <p:nvSpPr>
          <p:cNvPr id="21" name="Rectangle 20">
            <a:extLst>
              <a:ext uri="{FF2B5EF4-FFF2-40B4-BE49-F238E27FC236}">
                <a16:creationId xmlns:a16="http://schemas.microsoft.com/office/drawing/2014/main" id="{B3C49BD7-9DCB-4C92-97F8-F3432CF44439}"/>
              </a:ext>
            </a:extLst>
          </p:cNvPr>
          <p:cNvSpPr/>
          <p:nvPr/>
        </p:nvSpPr>
        <p:spPr>
          <a:xfrm>
            <a:off x="153816" y="4624104"/>
            <a:ext cx="5582145"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is </a:t>
            </a:r>
            <a:r>
              <a:rPr lang="en-IN" dirty="0">
                <a:solidFill>
                  <a:schemeClr val="accent4">
                    <a:lumMod val="50000"/>
                  </a:schemeClr>
                </a:solidFill>
                <a:latin typeface="Liberation Mono"/>
                <a:cs typeface="Arial" panose="020B0604020202020204" pitchFamily="34" charset="0"/>
              </a:rPr>
              <a:t>TRUE</a:t>
            </a:r>
            <a:r>
              <a:rPr lang="en-IN" dirty="0">
                <a:latin typeface="Liberation Mono"/>
                <a:cs typeface="Arial" panose="020B0604020202020204" pitchFamily="34" charset="0"/>
              </a:rPr>
              <a:t>;</a:t>
            </a:r>
          </a:p>
        </p:txBody>
      </p:sp>
      <p:pic>
        <p:nvPicPr>
          <p:cNvPr id="24" name="Picture 23">
            <a:extLst>
              <a:ext uri="{FF2B5EF4-FFF2-40B4-BE49-F238E27FC236}">
                <a16:creationId xmlns:a16="http://schemas.microsoft.com/office/drawing/2014/main" id="{C8B15EA0-E2F3-4AFB-B1FF-FFA0DFE6892B}"/>
              </a:ext>
            </a:extLst>
          </p:cNvPr>
          <p:cNvPicPr>
            <a:picLocks noChangeAspect="1"/>
          </p:cNvPicPr>
          <p:nvPr/>
        </p:nvPicPr>
        <p:blipFill>
          <a:blip r:embed="rId2" cstate="print"/>
          <a:stretch>
            <a:fillRect/>
          </a:stretch>
        </p:blipFill>
        <p:spPr>
          <a:xfrm>
            <a:off x="6088468" y="4041162"/>
            <a:ext cx="5734256" cy="2268694"/>
          </a:xfrm>
          <a:prstGeom prst="rect">
            <a:avLst/>
          </a:prstGeom>
        </p:spPr>
      </p:pic>
      <p:grpSp>
        <p:nvGrpSpPr>
          <p:cNvPr id="25" name="Group 24">
            <a:extLst>
              <a:ext uri="{FF2B5EF4-FFF2-40B4-BE49-F238E27FC236}">
                <a16:creationId xmlns:a16="http://schemas.microsoft.com/office/drawing/2014/main" id="{03F6ABE4-F730-4681-B374-41A2ADADFFEB}"/>
              </a:ext>
            </a:extLst>
          </p:cNvPr>
          <p:cNvGrpSpPr/>
          <p:nvPr/>
        </p:nvGrpSpPr>
        <p:grpSpPr>
          <a:xfrm>
            <a:off x="6096000" y="919944"/>
            <a:ext cx="5760639" cy="2725080"/>
            <a:chOff x="6689109" y="2892650"/>
            <a:chExt cx="4230634" cy="1864123"/>
          </a:xfrm>
        </p:grpSpPr>
        <p:pic>
          <p:nvPicPr>
            <p:cNvPr id="26" name="Picture 25">
              <a:extLst>
                <a:ext uri="{FF2B5EF4-FFF2-40B4-BE49-F238E27FC236}">
                  <a16:creationId xmlns:a16="http://schemas.microsoft.com/office/drawing/2014/main" id="{F38DAEB1-8711-4B16-88FC-71B2669A22C1}"/>
                </a:ext>
              </a:extLst>
            </p:cNvPr>
            <p:cNvPicPr>
              <a:picLocks noChangeAspect="1"/>
            </p:cNvPicPr>
            <p:nvPr/>
          </p:nvPicPr>
          <p:blipFill>
            <a:blip r:embed="rId3" cstate="print"/>
            <a:stretch>
              <a:fillRect/>
            </a:stretch>
          </p:blipFill>
          <p:spPr>
            <a:xfrm>
              <a:off x="6689109" y="2892650"/>
              <a:ext cx="4230634" cy="1864123"/>
            </a:xfrm>
            <a:prstGeom prst="rect">
              <a:avLst/>
            </a:prstGeom>
          </p:spPr>
        </p:pic>
        <p:sp>
          <p:nvSpPr>
            <p:cNvPr id="27" name="Rectangle 26">
              <a:extLst>
                <a:ext uri="{FF2B5EF4-FFF2-40B4-BE49-F238E27FC236}">
                  <a16:creationId xmlns:a16="http://schemas.microsoft.com/office/drawing/2014/main" id="{7C327D50-412A-46A1-A497-B5AC35EC055D}"/>
                </a:ext>
              </a:extLst>
            </p:cNvPr>
            <p:cNvSpPr/>
            <p:nvPr/>
          </p:nvSpPr>
          <p:spPr>
            <a:xfrm>
              <a:off x="7080740" y="3824205"/>
              <a:ext cx="3814096" cy="28803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F90C23EE-B5DB-42DB-B04F-B3B89B2E2294}"/>
              </a:ext>
            </a:extLst>
          </p:cNvPr>
          <p:cNvSpPr/>
          <p:nvPr/>
        </p:nvSpPr>
        <p:spPr>
          <a:xfrm>
            <a:off x="191345" y="2233896"/>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790686506"/>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7DE14-93AA-C03A-9991-A72D4E0A222B}"/>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652479CE-F337-6608-0D82-C2BDEE7A14D9}"/>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70236D30-C9C2-66EE-3E21-8DE4110E7D84}"/>
              </a:ext>
            </a:extLst>
          </p:cNvPr>
          <p:cNvSpPr/>
          <p:nvPr/>
        </p:nvSpPr>
        <p:spPr>
          <a:xfrm>
            <a:off x="767408" y="1052736"/>
            <a:ext cx="7013804" cy="283154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endParaRP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represents an </a:t>
            </a:r>
            <a:r>
              <a:rPr lang="en-US" sz="2200" b="1" dirty="0">
                <a:latin typeface="Liberation Mono"/>
                <a:ea typeface="Times New Roman" panose="02020603050405020304" pitchFamily="18" charset="0"/>
                <a:cs typeface="Arial" panose="020B0604020202020204" pitchFamily="34" charset="0"/>
              </a:rPr>
              <a:t>unknown</a:t>
            </a:r>
            <a:r>
              <a:rPr lang="en-US" sz="2200" dirty="0">
                <a:latin typeface="Liberation Mono"/>
                <a:ea typeface="Times New Roman" panose="02020603050405020304" pitchFamily="18" charset="0"/>
                <a:cs typeface="Arial" panose="020B0604020202020204" pitchFamily="34" charset="0"/>
              </a:rPr>
              <a:t> OR </a:t>
            </a:r>
            <a:r>
              <a:rPr lang="en-US" sz="2200" b="1" dirty="0">
                <a:latin typeface="Liberation Mono"/>
                <a:ea typeface="Times New Roman" panose="02020603050405020304" pitchFamily="18" charset="0"/>
                <a:cs typeface="Arial" panose="020B0604020202020204" pitchFamily="34" charset="0"/>
              </a:rPr>
              <a:t>missing</a:t>
            </a:r>
            <a:r>
              <a:rPr lang="en-US" sz="2200" dirty="0">
                <a:latin typeface="Liberation Mono"/>
                <a:ea typeface="Times New Roman" panose="02020603050405020304" pitchFamily="18" charset="0"/>
                <a:cs typeface="Arial" panose="020B0604020202020204" pitchFamily="34" charset="0"/>
              </a:rPr>
              <a:t> value.        </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does not occupy space in memory.</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is independent of data type.</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can be written in any case.</a:t>
            </a:r>
          </a:p>
          <a:p>
            <a:endParaRPr lang="en-US" sz="200" dirty="0">
              <a:solidFill>
                <a:srgbClr val="0077AA"/>
              </a:solidFill>
              <a:latin typeface="Liberation Mono"/>
              <a:ea typeface="Times New Roman" panose="02020603050405020304" pitchFamily="18" charset="0"/>
              <a:cs typeface="Arial" panose="020B0604020202020204" pitchFamily="34" charset="0"/>
            </a:endParaRPr>
          </a:p>
        </p:txBody>
      </p:sp>
      <p:sp>
        <p:nvSpPr>
          <p:cNvPr id="3" name="TextBox 2">
            <a:extLst>
              <a:ext uri="{FF2B5EF4-FFF2-40B4-BE49-F238E27FC236}">
                <a16:creationId xmlns:a16="http://schemas.microsoft.com/office/drawing/2014/main" id="{8B2477FD-1751-C4CE-83D1-61A7172A2014}"/>
              </a:ext>
            </a:extLst>
          </p:cNvPr>
          <p:cNvSpPr txBox="1"/>
          <p:nvPr/>
        </p:nvSpPr>
        <p:spPr>
          <a:xfrm>
            <a:off x="767408" y="4941168"/>
            <a:ext cx="10873208" cy="430887"/>
          </a:xfrm>
          <a:prstGeom prst="rect">
            <a:avLst/>
          </a:prstGeom>
          <a:noFill/>
        </p:spPr>
        <p:txBody>
          <a:bodyPr wrap="square">
            <a:spAutoFit/>
          </a:bodyPr>
          <a:lstStyle/>
          <a:p>
            <a:r>
              <a:rPr lang="en-US" sz="1800" dirty="0">
                <a:solidFill>
                  <a:srgbClr val="0077AA"/>
                </a:solidFill>
                <a:latin typeface="Liberation Mono"/>
                <a:ea typeface="Times New Roman" panose="02020603050405020304" pitchFamily="18" charset="0"/>
                <a:cs typeface="Arial" panose="020B0604020202020204" pitchFamily="34" charset="0"/>
              </a:rPr>
              <a:t>SELECT </a:t>
            </a:r>
            <a:r>
              <a:rPr lang="en-US" sz="1800" dirty="0">
                <a:solidFill>
                  <a:srgbClr val="A67F59"/>
                </a:solidFill>
                <a:latin typeface="Liberation Mono"/>
              </a:rPr>
              <a:t>*</a:t>
            </a:r>
            <a:r>
              <a:rPr lang="en-US" sz="1800" dirty="0">
                <a:solidFill>
                  <a:srgbClr val="0077AA"/>
                </a:solidFill>
                <a:latin typeface="Liberation Mono"/>
                <a:ea typeface="Times New Roman" panose="02020603050405020304" pitchFamily="18" charset="0"/>
                <a:cs typeface="Arial" panose="020B0604020202020204" pitchFamily="34" charset="0"/>
              </a:rPr>
              <a:t> FROM </a:t>
            </a:r>
            <a:r>
              <a:rPr lang="en-IN" sz="1800" dirty="0">
                <a:latin typeface="Liberation Mono"/>
                <a:cs typeface="Arial" panose="020B0604020202020204" pitchFamily="34" charset="0"/>
              </a:rPr>
              <a:t>emp </a:t>
            </a:r>
            <a:r>
              <a:rPr lang="en-IN" sz="1800" dirty="0">
                <a:solidFill>
                  <a:srgbClr val="0077AA"/>
                </a:solidFill>
                <a:latin typeface="Liberation Mono"/>
                <a:ea typeface="Times New Roman" panose="02020603050405020304" pitchFamily="18" charset="0"/>
                <a:cs typeface="Arial" panose="020B0604020202020204" pitchFamily="34" charset="0"/>
              </a:rPr>
              <a:t>WHERE</a:t>
            </a:r>
            <a:r>
              <a:rPr lang="en-IN" sz="1800" dirty="0">
                <a:latin typeface="Liberation Mono"/>
                <a:cs typeface="Arial" panose="020B0604020202020204" pitchFamily="34" charset="0"/>
              </a:rPr>
              <a:t> </a:t>
            </a:r>
            <a:r>
              <a:rPr lang="en-IN" sz="1800" dirty="0">
                <a:latin typeface="Liberation Mono"/>
                <a:ea typeface="Times New Roman" panose="02020603050405020304" pitchFamily="18" charset="0"/>
                <a:cs typeface="Arial" panose="020B0604020202020204" pitchFamily="34" charset="0"/>
              </a:rPr>
              <a:t>comm </a:t>
            </a:r>
            <a:r>
              <a:rPr lang="en-IN" sz="18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1800" dirty="0">
                <a:solidFill>
                  <a:srgbClr val="DD4A68"/>
                </a:solidFill>
                <a:latin typeface="Liberation Mono"/>
                <a:ea typeface="Times New Roman" panose="02020603050405020304" pitchFamily="18" charset="0"/>
                <a:cs typeface="Arial" panose="020B0604020202020204" pitchFamily="34" charset="0"/>
              </a:rPr>
              <a:t> </a:t>
            </a:r>
            <a:r>
              <a:rPr lang="en-IN" sz="1800" dirty="0">
                <a:solidFill>
                  <a:schemeClr val="accent4">
                    <a:lumMod val="50000"/>
                  </a:schemeClr>
                </a:solidFill>
                <a:latin typeface="Liberation Mono"/>
                <a:cs typeface="Arial" panose="020B0604020202020204" pitchFamily="34" charset="0"/>
              </a:rPr>
              <a:t>NULL</a:t>
            </a:r>
            <a:r>
              <a:rPr lang="en-IN" sz="1800"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Tree>
    <p:extLst>
      <p:ext uri="{BB962C8B-B14F-4D97-AF65-F5344CB8AC3E}">
        <p14:creationId xmlns:p14="http://schemas.microsoft.com/office/powerpoint/2010/main" val="320573172"/>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5" name="Rectangle 4"/>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11" name="Rectangle 10">
            <a:extLst>
              <a:ext uri="{FF2B5EF4-FFF2-40B4-BE49-F238E27FC236}">
                <a16:creationId xmlns:a16="http://schemas.microsoft.com/office/drawing/2014/main" id="{65AAF8D8-A9AA-4D65-A924-E3D8A424C7EC}"/>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grpSp>
        <p:nvGrpSpPr>
          <p:cNvPr id="8" name="Group 7">
            <a:extLst>
              <a:ext uri="{FF2B5EF4-FFF2-40B4-BE49-F238E27FC236}">
                <a16:creationId xmlns:a16="http://schemas.microsoft.com/office/drawing/2014/main" id="{C5D51504-3C99-4560-A98D-98776462F7D7}"/>
              </a:ext>
            </a:extLst>
          </p:cNvPr>
          <p:cNvGrpSpPr/>
          <p:nvPr/>
        </p:nvGrpSpPr>
        <p:grpSpPr>
          <a:xfrm>
            <a:off x="391297" y="4973397"/>
            <a:ext cx="9736418" cy="1753720"/>
            <a:chOff x="391297" y="4973397"/>
            <a:chExt cx="9736418" cy="1753720"/>
          </a:xfrm>
        </p:grpSpPr>
        <p:sp>
          <p:nvSpPr>
            <p:cNvPr id="10" name="Rectangle 9">
              <a:extLst>
                <a:ext uri="{FF2B5EF4-FFF2-40B4-BE49-F238E27FC236}">
                  <a16:creationId xmlns:a16="http://schemas.microsoft.com/office/drawing/2014/main" id="{C6993B56-9E5E-492B-8011-B6BCE93D8C26}"/>
                </a:ext>
              </a:extLst>
            </p:cNvPr>
            <p:cNvSpPr/>
            <p:nvPr/>
          </p:nvSpPr>
          <p:spPr>
            <a:xfrm>
              <a:off x="391297" y="4973397"/>
              <a:ext cx="5832648"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IN" dirty="0">
                  <a:solidFill>
                    <a:srgbClr val="A67F59"/>
                  </a:solidFill>
                  <a:latin typeface="Liberation Mono"/>
                </a:rPr>
                <a:t>NOT</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p:txBody>
        </p:sp>
        <p:pic>
          <p:nvPicPr>
            <p:cNvPr id="15" name="Picture 14">
              <a:extLst>
                <a:ext uri="{FF2B5EF4-FFF2-40B4-BE49-F238E27FC236}">
                  <a16:creationId xmlns:a16="http://schemas.microsoft.com/office/drawing/2014/main" id="{BC444760-A536-469F-AF9D-3D89955BE8E2}"/>
                </a:ext>
              </a:extLst>
            </p:cNvPr>
            <p:cNvPicPr>
              <a:picLocks noChangeAspect="1"/>
            </p:cNvPicPr>
            <p:nvPr/>
          </p:nvPicPr>
          <p:blipFill>
            <a:blip r:embed="rId2" cstate="print"/>
            <a:stretch>
              <a:fillRect/>
            </a:stretch>
          </p:blipFill>
          <p:spPr>
            <a:xfrm>
              <a:off x="6456040" y="4973397"/>
              <a:ext cx="3671675" cy="1753720"/>
            </a:xfrm>
            <a:prstGeom prst="rect">
              <a:avLst/>
            </a:prstGeom>
          </p:spPr>
        </p:pic>
      </p:grpSp>
      <p:grpSp>
        <p:nvGrpSpPr>
          <p:cNvPr id="2" name="Group 1">
            <a:extLst>
              <a:ext uri="{FF2B5EF4-FFF2-40B4-BE49-F238E27FC236}">
                <a16:creationId xmlns:a16="http://schemas.microsoft.com/office/drawing/2014/main" id="{B136A006-274D-47F3-B1FA-1411752A7FDC}"/>
              </a:ext>
            </a:extLst>
          </p:cNvPr>
          <p:cNvGrpSpPr/>
          <p:nvPr/>
        </p:nvGrpSpPr>
        <p:grpSpPr>
          <a:xfrm>
            <a:off x="407367" y="2276872"/>
            <a:ext cx="11521281" cy="2516288"/>
            <a:chOff x="407367" y="2280864"/>
            <a:chExt cx="11521281" cy="2516288"/>
          </a:xfrm>
        </p:grpSpPr>
        <p:sp>
          <p:nvSpPr>
            <p:cNvPr id="7" name="Rectangle 6">
              <a:extLst>
                <a:ext uri="{FF2B5EF4-FFF2-40B4-BE49-F238E27FC236}">
                  <a16:creationId xmlns:a16="http://schemas.microsoft.com/office/drawing/2014/main" id="{4C4B636B-E915-49A1-B3D1-60837803BA45}"/>
                </a:ext>
              </a:extLst>
            </p:cNvPr>
            <p:cNvSpPr/>
            <p:nvPr/>
          </p:nvSpPr>
          <p:spPr>
            <a:xfrm>
              <a:off x="407367" y="2357492"/>
              <a:ext cx="5947233"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p:txBody>
        </p:sp>
        <p:grpSp>
          <p:nvGrpSpPr>
            <p:cNvPr id="16" name="Group 15">
              <a:extLst>
                <a:ext uri="{FF2B5EF4-FFF2-40B4-BE49-F238E27FC236}">
                  <a16:creationId xmlns:a16="http://schemas.microsoft.com/office/drawing/2014/main" id="{3B21899B-5790-4EC1-ACD8-CF77E1AABCC6}"/>
                </a:ext>
              </a:extLst>
            </p:cNvPr>
            <p:cNvGrpSpPr/>
            <p:nvPr/>
          </p:nvGrpSpPr>
          <p:grpSpPr>
            <a:xfrm>
              <a:off x="6452934" y="2280864"/>
              <a:ext cx="5475714" cy="2516288"/>
              <a:chOff x="6859051" y="2564904"/>
              <a:chExt cx="5056094" cy="2024225"/>
            </a:xfrm>
          </p:grpSpPr>
          <p:pic>
            <p:nvPicPr>
              <p:cNvPr id="17" name="Picture 16">
                <a:extLst>
                  <a:ext uri="{FF2B5EF4-FFF2-40B4-BE49-F238E27FC236}">
                    <a16:creationId xmlns:a16="http://schemas.microsoft.com/office/drawing/2014/main" id="{04532AF5-6B4A-4AE9-B379-17B8F19E56A2}"/>
                  </a:ext>
                </a:extLst>
              </p:cNvPr>
              <p:cNvPicPr>
                <a:picLocks noChangeAspect="1"/>
              </p:cNvPicPr>
              <p:nvPr/>
            </p:nvPicPr>
            <p:blipFill>
              <a:blip r:embed="rId3" cstate="print"/>
              <a:stretch>
                <a:fillRect/>
              </a:stretch>
            </p:blipFill>
            <p:spPr>
              <a:xfrm>
                <a:off x="6859051" y="2564904"/>
                <a:ext cx="2401410" cy="2024225"/>
              </a:xfrm>
              <a:prstGeom prst="rect">
                <a:avLst/>
              </a:prstGeom>
            </p:spPr>
          </p:pic>
          <p:pic>
            <p:nvPicPr>
              <p:cNvPr id="18" name="Picture 17">
                <a:extLst>
                  <a:ext uri="{FF2B5EF4-FFF2-40B4-BE49-F238E27FC236}">
                    <a16:creationId xmlns:a16="http://schemas.microsoft.com/office/drawing/2014/main" id="{4C76065B-EF06-4E6A-99CC-9B390F7C461C}"/>
                  </a:ext>
                </a:extLst>
              </p:cNvPr>
              <p:cNvPicPr>
                <a:picLocks noChangeAspect="1"/>
              </p:cNvPicPr>
              <p:nvPr/>
            </p:nvPicPr>
            <p:blipFill>
              <a:blip r:embed="rId4" cstate="print"/>
              <a:stretch>
                <a:fillRect/>
              </a:stretch>
            </p:blipFill>
            <p:spPr>
              <a:xfrm>
                <a:off x="9351258" y="2570195"/>
                <a:ext cx="2563887" cy="1722824"/>
              </a:xfrm>
              <a:prstGeom prst="rect">
                <a:avLst/>
              </a:prstGeom>
            </p:spPr>
          </p:pic>
          <p:sp>
            <p:nvSpPr>
              <p:cNvPr id="19" name="Rectangle 18">
                <a:extLst>
                  <a:ext uri="{FF2B5EF4-FFF2-40B4-BE49-F238E27FC236}">
                    <a16:creationId xmlns:a16="http://schemas.microsoft.com/office/drawing/2014/main" id="{61DD87D5-F2F0-47AD-B28E-C82404C06A14}"/>
                  </a:ext>
                </a:extLst>
              </p:cNvPr>
              <p:cNvSpPr/>
              <p:nvPr/>
            </p:nvSpPr>
            <p:spPr>
              <a:xfrm>
                <a:off x="6895911" y="3492501"/>
                <a:ext cx="2324345" cy="44514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3" name="Connector: Elbow 2">
              <a:extLst>
                <a:ext uri="{FF2B5EF4-FFF2-40B4-BE49-F238E27FC236}">
                  <a16:creationId xmlns:a16="http://schemas.microsoft.com/office/drawing/2014/main" id="{DF9E0E50-E4A7-4914-92A9-4981BC7EEBC0}"/>
                </a:ext>
              </a:extLst>
            </p:cNvPr>
            <p:cNvCxnSpPr/>
            <p:nvPr/>
          </p:nvCxnSpPr>
          <p:spPr>
            <a:xfrm>
              <a:off x="4727848" y="2636912"/>
              <a:ext cx="1725086" cy="1008112"/>
            </a:xfrm>
            <a:prstGeom prst="bentConnector3">
              <a:avLst>
                <a:gd name="adj1" fmla="val 70570"/>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6" name="Straight Arrow Connector 5">
              <a:extLst>
                <a:ext uri="{FF2B5EF4-FFF2-40B4-BE49-F238E27FC236}">
                  <a16:creationId xmlns:a16="http://schemas.microsoft.com/office/drawing/2014/main" id="{B1DAB4B7-5B4C-4BE2-A8AE-5ACF0A864AE7}"/>
                </a:ext>
              </a:extLst>
            </p:cNvPr>
            <p:cNvCxnSpPr>
              <a:cxnSpLocks/>
            </p:cNvCxnSpPr>
            <p:nvPr/>
          </p:nvCxnSpPr>
          <p:spPr>
            <a:xfrm>
              <a:off x="5303912" y="3097426"/>
              <a:ext cx="57606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7BE47E4-AE90-4901-B318-A3866554A5CF}"/>
                </a:ext>
              </a:extLst>
            </p:cNvPr>
            <p:cNvCxnSpPr>
              <a:cxnSpLocks/>
            </p:cNvCxnSpPr>
            <p:nvPr/>
          </p:nvCxnSpPr>
          <p:spPr>
            <a:xfrm>
              <a:off x="5303912" y="3894068"/>
              <a:ext cx="360040"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cxnSp>
        <p:nvCxnSpPr>
          <p:cNvPr id="22" name="Connector: Elbow 21">
            <a:extLst>
              <a:ext uri="{FF2B5EF4-FFF2-40B4-BE49-F238E27FC236}">
                <a16:creationId xmlns:a16="http://schemas.microsoft.com/office/drawing/2014/main" id="{5DF27293-E2AB-43CE-BB17-8AF3FD95F63D}"/>
              </a:ext>
            </a:extLst>
          </p:cNvPr>
          <p:cNvCxnSpPr>
            <a:cxnSpLocks/>
          </p:cNvCxnSpPr>
          <p:nvPr/>
        </p:nvCxnSpPr>
        <p:spPr>
          <a:xfrm>
            <a:off x="5117319" y="3435231"/>
            <a:ext cx="6019241" cy="1364160"/>
          </a:xfrm>
          <a:prstGeom prst="bentConnector3">
            <a:avLst>
              <a:gd name="adj1" fmla="val 10213"/>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8C146D51-C42F-4BE2-99C6-4E8F338E5935}"/>
              </a:ext>
            </a:extLst>
          </p:cNvPr>
          <p:cNvCxnSpPr>
            <a:cxnSpLocks/>
          </p:cNvCxnSpPr>
          <p:nvPr/>
        </p:nvCxnSpPr>
        <p:spPr>
          <a:xfrm flipV="1">
            <a:off x="11136560" y="4361112"/>
            <a:ext cx="0" cy="364032"/>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47" name="Rectangle 46">
            <a:extLst>
              <a:ext uri="{FF2B5EF4-FFF2-40B4-BE49-F238E27FC236}">
                <a16:creationId xmlns:a16="http://schemas.microsoft.com/office/drawing/2014/main" id="{A92E5C58-6888-4524-A765-C7BBA21CBB67}"/>
              </a:ext>
            </a:extLst>
          </p:cNvPr>
          <p:cNvSpPr/>
          <p:nvPr/>
        </p:nvSpPr>
        <p:spPr>
          <a:xfrm rot="16200000">
            <a:off x="10188369" y="3219602"/>
            <a:ext cx="1729661" cy="55335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6" name="Group 85">
            <a:extLst>
              <a:ext uri="{FF2B5EF4-FFF2-40B4-BE49-F238E27FC236}">
                <a16:creationId xmlns:a16="http://schemas.microsoft.com/office/drawing/2014/main" id="{8D6CBCE6-F679-4BE8-AAAE-4CD93DF02553}"/>
              </a:ext>
            </a:extLst>
          </p:cNvPr>
          <p:cNvGrpSpPr/>
          <p:nvPr/>
        </p:nvGrpSpPr>
        <p:grpSpPr>
          <a:xfrm>
            <a:off x="5162809" y="5041642"/>
            <a:ext cx="1223205" cy="1686663"/>
            <a:chOff x="5191837" y="4998100"/>
            <a:chExt cx="1223205" cy="1686663"/>
          </a:xfrm>
        </p:grpSpPr>
        <p:cxnSp>
          <p:nvCxnSpPr>
            <p:cNvPr id="65" name="Straight Arrow Connector 64">
              <a:extLst>
                <a:ext uri="{FF2B5EF4-FFF2-40B4-BE49-F238E27FC236}">
                  <a16:creationId xmlns:a16="http://schemas.microsoft.com/office/drawing/2014/main" id="{603A52AD-E869-4AF8-897E-614302F92CC4}"/>
                </a:ext>
              </a:extLst>
            </p:cNvPr>
            <p:cNvCxnSpPr>
              <a:cxnSpLocks/>
            </p:cNvCxnSpPr>
            <p:nvPr/>
          </p:nvCxnSpPr>
          <p:spPr>
            <a:xfrm flipH="1">
              <a:off x="5191837" y="6684763"/>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B1EB11EE-5161-43D3-8BF2-CE69ABEBE8A3}"/>
                </a:ext>
              </a:extLst>
            </p:cNvPr>
            <p:cNvCxnSpPr>
              <a:cxnSpLocks/>
            </p:cNvCxnSpPr>
            <p:nvPr/>
          </p:nvCxnSpPr>
          <p:spPr>
            <a:xfrm>
              <a:off x="5591944" y="5085184"/>
              <a:ext cx="0" cy="1599579"/>
            </a:xfrm>
            <a:prstGeom prst="straightConnector1">
              <a:avLst/>
            </a:prstGeom>
            <a:ln w="2857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89C82DE2-4508-4251-8E43-2EB30C49F9AD}"/>
                </a:ext>
              </a:extLst>
            </p:cNvPr>
            <p:cNvCxnSpPr>
              <a:cxnSpLocks/>
            </p:cNvCxnSpPr>
            <p:nvPr/>
          </p:nvCxnSpPr>
          <p:spPr>
            <a:xfrm>
              <a:off x="5763864" y="5884973"/>
              <a:ext cx="651178"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9436D677-F5F3-47B0-BCB1-73ADCDA99167}"/>
                </a:ext>
              </a:extLst>
            </p:cNvPr>
            <p:cNvCxnSpPr>
              <a:cxnSpLocks/>
            </p:cNvCxnSpPr>
            <p:nvPr/>
          </p:nvCxnSpPr>
          <p:spPr>
            <a:xfrm flipH="1">
              <a:off x="5191837" y="4998100"/>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sp>
        <p:nvSpPr>
          <p:cNvPr id="9" name="Rectangle 8">
            <a:extLst>
              <a:ext uri="{FF2B5EF4-FFF2-40B4-BE49-F238E27FC236}">
                <a16:creationId xmlns:a16="http://schemas.microsoft.com/office/drawing/2014/main" id="{C061603D-A71A-19D4-3291-EC98D3BF88C4}"/>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Tree>
    <p:extLst>
      <p:ext uri="{BB962C8B-B14F-4D97-AF65-F5344CB8AC3E}">
        <p14:creationId xmlns:p14="http://schemas.microsoft.com/office/powerpoint/2010/main" val="2004620343"/>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07369" y="2944296"/>
            <a:ext cx="11377264" cy="295786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False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p:txBody>
      </p:sp>
      <p:sp>
        <p:nvSpPr>
          <p:cNvPr id="4" name="Rectangle 3">
            <a:extLst>
              <a:ext uri="{FF2B5EF4-FFF2-40B4-BE49-F238E27FC236}">
                <a16:creationId xmlns:a16="http://schemas.microsoft.com/office/drawing/2014/main" id="{6524962B-7610-4EFD-AA5E-DDE403AB88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7" name="Rectangle 6">
            <a:extLst>
              <a:ext uri="{FF2B5EF4-FFF2-40B4-BE49-F238E27FC236}">
                <a16:creationId xmlns:a16="http://schemas.microsoft.com/office/drawing/2014/main" id="{F78BF946-F616-4549-A08B-2C67D0B44C75}"/>
              </a:ext>
            </a:extLst>
          </p:cNvPr>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2" name="Rectangle 1">
            <a:extLst>
              <a:ext uri="{FF2B5EF4-FFF2-40B4-BE49-F238E27FC236}">
                <a16:creationId xmlns:a16="http://schemas.microsoft.com/office/drawing/2014/main" id="{B76ACC2D-8426-4B9D-8469-E36B7173816A}"/>
              </a:ext>
            </a:extLst>
          </p:cNvPr>
          <p:cNvSpPr/>
          <p:nvPr/>
        </p:nvSpPr>
        <p:spPr>
          <a:xfrm>
            <a:off x="407368" y="2389935"/>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10" name="TextBox 9">
            <a:extLst>
              <a:ext uri="{FF2B5EF4-FFF2-40B4-BE49-F238E27FC236}">
                <a16:creationId xmlns:a16="http://schemas.microsoft.com/office/drawing/2014/main" id="{2B285540-07D6-4D96-86D9-52EB6AE2A3D3}"/>
              </a:ext>
            </a:extLst>
          </p:cNvPr>
          <p:cNvSpPr txBox="1"/>
          <p:nvPr/>
        </p:nvSpPr>
        <p:spPr>
          <a:xfrm>
            <a:off x="6168008" y="2944296"/>
            <a:ext cx="5723203" cy="25423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True</a:t>
            </a:r>
            <a:r>
              <a:rPr lang="en-IN" dirty="0">
                <a:solidFill>
                  <a:schemeClr val="bg1">
                    <a:lumMod val="65000"/>
                  </a:schemeClr>
                </a:solidFill>
                <a:latin typeface="Liberation Mono"/>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False</a:t>
            </a:r>
            <a:r>
              <a:rPr lang="en-IN" dirty="0">
                <a:solidFill>
                  <a:schemeClr val="bg1">
                    <a:lumMod val="65000"/>
                  </a:schemeClr>
                </a:solidFill>
                <a:latin typeface="Liberation Mono"/>
              </a:rPr>
              <a:t>)</a:t>
            </a:r>
            <a:r>
              <a:rPr lang="en-IN" dirty="0">
                <a:latin typeface="Liberation Mono"/>
              </a:rPr>
              <a:t>;</a:t>
            </a:r>
          </a:p>
        </p:txBody>
      </p:sp>
      <p:sp>
        <p:nvSpPr>
          <p:cNvPr id="12" name="Rectangle 11">
            <a:extLst>
              <a:ext uri="{FF2B5EF4-FFF2-40B4-BE49-F238E27FC236}">
                <a16:creationId xmlns:a16="http://schemas.microsoft.com/office/drawing/2014/main" id="{33EBFFEB-C322-45FD-8F4F-730B832917D8}"/>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
        <p:nvSpPr>
          <p:cNvPr id="3" name="Rectangle 2">
            <a:extLst>
              <a:ext uri="{FF2B5EF4-FFF2-40B4-BE49-F238E27FC236}">
                <a16:creationId xmlns:a16="http://schemas.microsoft.com/office/drawing/2014/main" id="{B71BBBD3-92B9-19CC-E225-3FEA6647BA00}"/>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spTree>
    <p:extLst>
      <p:ext uri="{BB962C8B-B14F-4D97-AF65-F5344CB8AC3E}">
        <p14:creationId xmlns:p14="http://schemas.microsoft.com/office/powerpoint/2010/main" val="3232024903"/>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a:t>
            </a:r>
          </a:p>
        </p:txBody>
      </p:sp>
      <p:sp>
        <p:nvSpPr>
          <p:cNvPr id="5" name="TextBox 4">
            <a:extLst>
              <a:ext uri="{FF2B5EF4-FFF2-40B4-BE49-F238E27FC236}">
                <a16:creationId xmlns:a16="http://schemas.microsoft.com/office/drawing/2014/main" id="{142B9D1F-A5E8-4727-8C70-76D93288CF6E}"/>
              </a:ext>
            </a:extLst>
          </p:cNvPr>
          <p:cNvSpPr txBox="1"/>
          <p:nvPr/>
        </p:nvSpPr>
        <p:spPr>
          <a:xfrm>
            <a:off x="407368" y="4289028"/>
            <a:ext cx="3240360" cy="2308324"/>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a:t>
            </a:r>
            <a:r>
              <a:rPr lang="en-US" dirty="0">
                <a:solidFill>
                  <a:schemeClr val="bg1">
                    <a:lumMod val="65000"/>
                  </a:schemeClr>
                </a:solidFill>
                <a:latin typeface="Liberation Mono"/>
              </a:rPr>
              <a:t>(</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endParaRPr lang="en-US" dirty="0">
              <a:solidFill>
                <a:srgbClr val="669900"/>
              </a:solidFill>
              <a:latin typeface="Liberation Mono"/>
            </a:endParaRPr>
          </a:p>
          <a:p>
            <a:r>
              <a:rPr lang="en-US" dirty="0">
                <a:solidFill>
                  <a:schemeClr val="bg1">
                    <a:lumMod val="65000"/>
                  </a:schemeClr>
                </a:solidFill>
                <a:latin typeface="Liberation Mono"/>
              </a:rPr>
              <a:t>)</a:t>
            </a:r>
            <a:r>
              <a:rPr lang="en-US" dirty="0">
                <a:latin typeface="Liberation Mono"/>
              </a:rPr>
              <a:t>;</a:t>
            </a:r>
            <a:endParaRPr lang="en-IN" dirty="0">
              <a:latin typeface="Liberation Mono"/>
            </a:endParaRPr>
          </a:p>
        </p:txBody>
      </p:sp>
      <p:sp>
        <p:nvSpPr>
          <p:cNvPr id="7" name="TextBox 6">
            <a:extLst>
              <a:ext uri="{FF2B5EF4-FFF2-40B4-BE49-F238E27FC236}">
                <a16:creationId xmlns:a16="http://schemas.microsoft.com/office/drawing/2014/main" id="{8CF94663-BBE3-4026-81B1-49A641D83E9C}"/>
              </a:ext>
            </a:extLst>
          </p:cNvPr>
          <p:cNvSpPr txBox="1"/>
          <p:nvPr/>
        </p:nvSpPr>
        <p:spPr>
          <a:xfrm>
            <a:off x="4439816" y="5085184"/>
            <a:ext cx="7330302"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US" dirty="0">
              <a:solidFill>
                <a:schemeClr val="bg1">
                  <a:lumMod val="65000"/>
                </a:schemeClr>
              </a:solidFill>
              <a:latin typeface="Liberation Mono"/>
            </a:endParaRP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ndParaRPr>
          </a:p>
        </p:txBody>
      </p:sp>
      <p:sp>
        <p:nvSpPr>
          <p:cNvPr id="9" name="TextBox 8">
            <a:extLst>
              <a:ext uri="{FF2B5EF4-FFF2-40B4-BE49-F238E27FC236}">
                <a16:creationId xmlns:a16="http://schemas.microsoft.com/office/drawing/2014/main" id="{F54D5AB8-8903-4E62-B6C5-C2E30DFBA159}"/>
              </a:ext>
            </a:extLst>
          </p:cNvPr>
          <p:cNvSpPr txBox="1"/>
          <p:nvPr/>
        </p:nvSpPr>
        <p:spPr>
          <a:xfrm>
            <a:off x="263352" y="3228945"/>
            <a:ext cx="11593288" cy="707886"/>
          </a:xfrm>
          <a:prstGeom prst="rect">
            <a:avLst/>
          </a:prstGeom>
          <a:noFill/>
        </p:spPr>
        <p:txBody>
          <a:bodyPr wrap="square">
            <a:spAutoFit/>
          </a:bodyPr>
          <a:lstStyle/>
          <a:p>
            <a:r>
              <a:rPr lang="en-US" sz="2000" dirty="0">
                <a:latin typeface="Palatino Linotype" panose="02040502050505030304" pitchFamily="18" charset="0"/>
              </a:rPr>
              <a:t>The IN statement is used in a WHERE clause to choose items from a set. The IN  operator allows you to determine if a specified value matches any value in a set of values or value returned by a subquery. </a:t>
            </a:r>
            <a:endParaRPr lang="en-IN" sz="2000" dirty="0">
              <a:latin typeface="Palatino Linotype" panose="02040502050505030304" pitchFamily="18" charset="0"/>
            </a:endParaRPr>
          </a:p>
        </p:txBody>
      </p:sp>
      <p:sp>
        <p:nvSpPr>
          <p:cNvPr id="6" name="Arrow: Right 5">
            <a:extLst>
              <a:ext uri="{FF2B5EF4-FFF2-40B4-BE49-F238E27FC236}">
                <a16:creationId xmlns:a16="http://schemas.microsoft.com/office/drawing/2014/main" id="{940FB959-5320-4C0C-AE21-59357F76CDDA}"/>
              </a:ext>
            </a:extLst>
          </p:cNvPr>
          <p:cNvSpPr/>
          <p:nvPr/>
        </p:nvSpPr>
        <p:spPr>
          <a:xfrm>
            <a:off x="2423592" y="5107612"/>
            <a:ext cx="1860508" cy="335578"/>
          </a:xfrm>
          <a:prstGeom prst="rightArrow">
            <a:avLst/>
          </a:prstGeom>
          <a:no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6" name="Group 15">
            <a:extLst>
              <a:ext uri="{FF2B5EF4-FFF2-40B4-BE49-F238E27FC236}">
                <a16:creationId xmlns:a16="http://schemas.microsoft.com/office/drawing/2014/main" id="{A685F634-CE17-4FD4-A815-DB7ADC5987FB}"/>
              </a:ext>
            </a:extLst>
          </p:cNvPr>
          <p:cNvGrpSpPr/>
          <p:nvPr/>
        </p:nvGrpSpPr>
        <p:grpSpPr>
          <a:xfrm>
            <a:off x="781056" y="260648"/>
            <a:ext cx="10548697" cy="1502780"/>
            <a:chOff x="781056" y="404664"/>
            <a:chExt cx="10548697" cy="1502780"/>
          </a:xfrm>
        </p:grpSpPr>
        <p:grpSp>
          <p:nvGrpSpPr>
            <p:cNvPr id="15" name="Group 14">
              <a:extLst>
                <a:ext uri="{FF2B5EF4-FFF2-40B4-BE49-F238E27FC236}">
                  <a16:creationId xmlns:a16="http://schemas.microsoft.com/office/drawing/2014/main" id="{99619510-E2CD-42CB-B78E-F11979590D4B}"/>
                </a:ext>
              </a:extLst>
            </p:cNvPr>
            <p:cNvGrpSpPr/>
            <p:nvPr/>
          </p:nvGrpSpPr>
          <p:grpSpPr>
            <a:xfrm>
              <a:off x="781056" y="404664"/>
              <a:ext cx="10548697" cy="1502780"/>
              <a:chOff x="781056" y="404664"/>
              <a:chExt cx="10548697" cy="1502780"/>
            </a:xfrm>
          </p:grpSpPr>
          <p:grpSp>
            <p:nvGrpSpPr>
              <p:cNvPr id="8" name="Group 7">
                <a:extLst>
                  <a:ext uri="{FF2B5EF4-FFF2-40B4-BE49-F238E27FC236}">
                    <a16:creationId xmlns:a16="http://schemas.microsoft.com/office/drawing/2014/main" id="{E05A8F75-5F17-4A4E-965C-76FD86976BBD}"/>
                  </a:ext>
                </a:extLst>
              </p:cNvPr>
              <p:cNvGrpSpPr/>
              <p:nvPr/>
            </p:nvGrpSpPr>
            <p:grpSpPr>
              <a:xfrm>
                <a:off x="790238" y="404664"/>
                <a:ext cx="10539515" cy="1502780"/>
                <a:chOff x="695400" y="1745011"/>
                <a:chExt cx="10539515" cy="1502780"/>
              </a:xfrm>
            </p:grpSpPr>
            <p:grpSp>
              <p:nvGrpSpPr>
                <p:cNvPr id="10" name="Group 9">
                  <a:extLst>
                    <a:ext uri="{FF2B5EF4-FFF2-40B4-BE49-F238E27FC236}">
                      <a16:creationId xmlns:a16="http://schemas.microsoft.com/office/drawing/2014/main" id="{D7198A96-CFFC-4281-8FCE-8A9F25B91752}"/>
                    </a:ext>
                  </a:extLst>
                </p:cNvPr>
                <p:cNvGrpSpPr/>
                <p:nvPr/>
              </p:nvGrpSpPr>
              <p:grpSpPr>
                <a:xfrm>
                  <a:off x="695400" y="1835990"/>
                  <a:ext cx="8952150" cy="1304978"/>
                  <a:chOff x="267703" y="1600839"/>
                  <a:chExt cx="8952150" cy="1304978"/>
                </a:xfrm>
              </p:grpSpPr>
              <p:grpSp>
                <p:nvGrpSpPr>
                  <p:cNvPr id="13" name="Group 12">
                    <a:extLst>
                      <a:ext uri="{FF2B5EF4-FFF2-40B4-BE49-F238E27FC236}">
                        <a16:creationId xmlns:a16="http://schemas.microsoft.com/office/drawing/2014/main" id="{96EE135C-C8C7-439F-B244-1C9CB781AF8F}"/>
                      </a:ext>
                    </a:extLst>
                  </p:cNvPr>
                  <p:cNvGrpSpPr/>
                  <p:nvPr/>
                </p:nvGrpSpPr>
                <p:grpSpPr>
                  <a:xfrm>
                    <a:off x="1651832" y="1600839"/>
                    <a:ext cx="7568021" cy="1303315"/>
                    <a:chOff x="31591" y="1556792"/>
                    <a:chExt cx="7568021" cy="1303315"/>
                  </a:xfrm>
                </p:grpSpPr>
                <p:grpSp>
                  <p:nvGrpSpPr>
                    <p:cNvPr id="20" name="Group 19">
                      <a:extLst>
                        <a:ext uri="{FF2B5EF4-FFF2-40B4-BE49-F238E27FC236}">
                          <a16:creationId xmlns:a16="http://schemas.microsoft.com/office/drawing/2014/main" id="{22A1B2B3-486A-45BB-946A-6BD5254B3352}"/>
                        </a:ext>
                      </a:extLst>
                    </p:cNvPr>
                    <p:cNvGrpSpPr/>
                    <p:nvPr/>
                  </p:nvGrpSpPr>
                  <p:grpSpPr>
                    <a:xfrm>
                      <a:off x="665207" y="1556792"/>
                      <a:ext cx="2741074" cy="1303315"/>
                      <a:chOff x="665207" y="1556792"/>
                      <a:chExt cx="2741074" cy="1303315"/>
                    </a:xfrm>
                  </p:grpSpPr>
                  <p:sp>
                    <p:nvSpPr>
                      <p:cNvPr id="24" name="Rectangle 23">
                        <a:extLst>
                          <a:ext uri="{FF2B5EF4-FFF2-40B4-BE49-F238E27FC236}">
                            <a16:creationId xmlns:a16="http://schemas.microsoft.com/office/drawing/2014/main" id="{9C4C44B4-453A-4675-B576-69E1B342116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4D6503B2-21EE-4A8E-B441-2A69E4115104}"/>
                          </a:ext>
                        </a:extLst>
                      </p:cNvPr>
                      <p:cNvSpPr txBox="1"/>
                      <p:nvPr/>
                    </p:nvSpPr>
                    <p:spPr>
                      <a:xfrm>
                        <a:off x="679660" y="1620089"/>
                        <a:ext cx="2726619"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6" name="TextBox 25">
                        <a:extLst>
                          <a:ext uri="{FF2B5EF4-FFF2-40B4-BE49-F238E27FC236}">
                            <a16:creationId xmlns:a16="http://schemas.microsoft.com/office/drawing/2014/main" id="{03946BDF-B275-4B13-A9CE-7D34E408549C}"/>
                          </a:ext>
                        </a:extLst>
                      </p:cNvPr>
                      <p:cNvSpPr txBox="1"/>
                      <p:nvPr/>
                    </p:nvSpPr>
                    <p:spPr>
                      <a:xfrm>
                        <a:off x="665207" y="2152221"/>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state IN </a:t>
                        </a:r>
                        <a:r>
                          <a:rPr lang="en-US" sz="2000" dirty="0">
                            <a:solidFill>
                              <a:schemeClr val="bg1">
                                <a:lumMod val="65000"/>
                              </a:schemeClr>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VT</a:t>
                        </a:r>
                        <a:r>
                          <a:rPr lang="en-IN" sz="2000" dirty="0">
                            <a:solidFill>
                              <a:srgbClr val="669900"/>
                            </a:solidFill>
                            <a:latin typeface="Liberation Mono"/>
                          </a:rPr>
                          <a:t>'</a:t>
                        </a:r>
                        <a:r>
                          <a:rPr lang="en-US" sz="2000" dirty="0">
                            <a:latin typeface="Liberation Mono"/>
                          </a:rPr>
                          <a:t>, </a:t>
                        </a:r>
                        <a:r>
                          <a:rPr lang="en-IN" sz="2000" dirty="0">
                            <a:solidFill>
                              <a:srgbClr val="669900"/>
                            </a:solidFill>
                            <a:latin typeface="Liberation Mono"/>
                          </a:rPr>
                          <a:t>'</a:t>
                        </a:r>
                        <a:r>
                          <a:rPr lang="en-US" sz="2000" dirty="0">
                            <a:solidFill>
                              <a:srgbClr val="669900"/>
                            </a:solidFill>
                            <a:latin typeface="Liberation Mono"/>
                          </a:rPr>
                          <a:t>NH</a:t>
                        </a:r>
                        <a:r>
                          <a:rPr lang="en-IN" sz="2000" dirty="0">
                            <a:solidFill>
                              <a:srgbClr val="669900"/>
                            </a:solidFill>
                            <a:latin typeface="Liberation Mono"/>
                          </a:rPr>
                          <a:t>'</a:t>
                        </a:r>
                        <a:r>
                          <a:rPr lang="en-US" sz="2000" dirty="0">
                            <a:latin typeface="Liberation Mono"/>
                          </a:rPr>
                          <a:t>, . . .</a:t>
                        </a:r>
                        <a:r>
                          <a:rPr lang="en-US" sz="2000" dirty="0">
                            <a:solidFill>
                              <a:schemeClr val="bg1">
                                <a:lumMod val="65000"/>
                              </a:schemeClr>
                            </a:solidFill>
                            <a:latin typeface="Liberation Mono"/>
                          </a:rPr>
                          <a:t>)</a:t>
                        </a:r>
                        <a:endParaRPr lang="en-IN" sz="2000" dirty="0"/>
                      </a:p>
                    </p:txBody>
                  </p:sp>
                </p:grpSp>
                <p:sp>
                  <p:nvSpPr>
                    <p:cNvPr id="21" name="Arrow: Right 20">
                      <a:extLst>
                        <a:ext uri="{FF2B5EF4-FFF2-40B4-BE49-F238E27FC236}">
                          <a16:creationId xmlns:a16="http://schemas.microsoft.com/office/drawing/2014/main" id="{29727C98-A5EB-45FF-8E25-909E7CEE40E5}"/>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DE1650D4-6DB7-4CA8-8468-72D72A87B445}"/>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Arrow: Right 22">
                      <a:extLst>
                        <a:ext uri="{FF2B5EF4-FFF2-40B4-BE49-F238E27FC236}">
                          <a16:creationId xmlns:a16="http://schemas.microsoft.com/office/drawing/2014/main" id="{F73E52A1-7CE7-4E61-B3F5-B1579E236EA1}"/>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E19B5095-E32C-41A2-8F2D-D4F1590E06B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Rectangle 16">
                    <a:extLst>
                      <a:ext uri="{FF2B5EF4-FFF2-40B4-BE49-F238E27FC236}">
                        <a16:creationId xmlns:a16="http://schemas.microsoft.com/office/drawing/2014/main" id="{A3FAA6D5-0667-4EA6-AD63-3F580863444F}"/>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TextBox 17">
                    <a:extLst>
                      <a:ext uri="{FF2B5EF4-FFF2-40B4-BE49-F238E27FC236}">
                        <a16:creationId xmlns:a16="http://schemas.microsoft.com/office/drawing/2014/main" id="{3067B566-18FA-4D94-9689-73C99944A0DB}"/>
                      </a:ext>
                    </a:extLst>
                  </p:cNvPr>
                  <p:cNvSpPr txBox="1"/>
                  <p:nvPr/>
                </p:nvSpPr>
                <p:spPr>
                  <a:xfrm>
                    <a:off x="5797326" y="1672970"/>
                    <a:ext cx="2731536"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9" name="TextBox 18">
                    <a:extLst>
                      <a:ext uri="{FF2B5EF4-FFF2-40B4-BE49-F238E27FC236}">
                        <a16:creationId xmlns:a16="http://schemas.microsoft.com/office/drawing/2014/main" id="{FF595776-0494-4B1C-874B-B0A11367FDDF}"/>
                      </a:ext>
                    </a:extLst>
                  </p:cNvPr>
                  <p:cNvSpPr txBox="1"/>
                  <p:nvPr/>
                </p:nvSpPr>
                <p:spPr>
                  <a:xfrm>
                    <a:off x="5815774"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11" name="Oval 10">
                  <a:extLst>
                    <a:ext uri="{FF2B5EF4-FFF2-40B4-BE49-F238E27FC236}">
                      <a16:creationId xmlns:a16="http://schemas.microsoft.com/office/drawing/2014/main" id="{22CCCD58-DE1A-42BE-9F19-4CABADD2604F}"/>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6BE5353-F47A-4339-9825-B2A7536B530F}"/>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524F91BE-3413-40C5-BD2F-88A18BD02D6D}"/>
                  </a:ext>
                </a:extLst>
              </p:cNvPr>
              <p:cNvSpPr txBox="1"/>
              <p:nvPr/>
            </p:nvSpPr>
            <p:spPr>
              <a:xfrm>
                <a:off x="781056" y="43486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grpSp>
        <p:sp>
          <p:nvSpPr>
            <p:cNvPr id="4" name="TextBox 3">
              <a:extLst>
                <a:ext uri="{FF2B5EF4-FFF2-40B4-BE49-F238E27FC236}">
                  <a16:creationId xmlns:a16="http://schemas.microsoft.com/office/drawing/2014/main" id="{DD627992-2291-41C5-B3D6-4CF5BA93969D}"/>
                </a:ext>
              </a:extLst>
            </p:cNvPr>
            <p:cNvSpPr txBox="1"/>
            <p:nvPr/>
          </p:nvSpPr>
          <p:spPr>
            <a:xfrm>
              <a:off x="790237" y="1255986"/>
              <a:ext cx="1296143" cy="400110"/>
            </a:xfrm>
            <a:prstGeom prst="rect">
              <a:avLst/>
            </a:prstGeom>
            <a:noFill/>
          </p:spPr>
          <p:txBody>
            <a:bodyPr wrap="square">
              <a:spAutoFit/>
            </a:bodyPr>
            <a:lstStyle/>
            <a:p>
              <a:pPr algn="ctr"/>
              <a:r>
                <a:rPr lang="en-US" sz="2000" dirty="0">
                  <a:latin typeface="Liberation Mono"/>
                </a:rPr>
                <a:t>states</a:t>
              </a:r>
              <a:endParaRPr lang="en-IN" sz="2000" dirty="0"/>
            </a:p>
          </p:txBody>
        </p:sp>
      </p:grpSp>
      <p:sp>
        <p:nvSpPr>
          <p:cNvPr id="27" name="TextBox 26">
            <a:extLst>
              <a:ext uri="{FF2B5EF4-FFF2-40B4-BE49-F238E27FC236}">
                <a16:creationId xmlns:a16="http://schemas.microsoft.com/office/drawing/2014/main" id="{0047E199-051D-4EE3-9E55-238193B80B8B}"/>
              </a:ext>
            </a:extLst>
          </p:cNvPr>
          <p:cNvSpPr txBox="1"/>
          <p:nvPr/>
        </p:nvSpPr>
        <p:spPr>
          <a:xfrm>
            <a:off x="262800" y="1868631"/>
            <a:ext cx="5425250" cy="1200329"/>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77AA"/>
                </a:solidFill>
                <a:effectLst/>
                <a:latin typeface="Liberation Mono"/>
              </a:rPr>
              <a:t> </a:t>
            </a:r>
            <a:r>
              <a:rPr lang="en-US" sz="2200" dirty="0">
                <a:latin typeface="Liberation Mono"/>
              </a:rPr>
              <a:t>(</a:t>
            </a:r>
            <a:r>
              <a:rPr lang="en-US" sz="2200" b="0" i="1" dirty="0">
                <a:solidFill>
                  <a:srgbClr val="000000"/>
                </a:solidFill>
                <a:effectLst/>
                <a:latin typeface="Liberation Mono"/>
              </a:rPr>
              <a:t>expr1, expr2, </a:t>
            </a:r>
            <a:r>
              <a:rPr lang="en-US" sz="2200" b="0" i="1" dirty="0">
                <a:solidFill>
                  <a:schemeClr val="bg1">
                    <a:lumMod val="50000"/>
                  </a:schemeClr>
                </a:solidFill>
                <a:effectLst/>
                <a:latin typeface="Liberation Mono"/>
              </a:rPr>
              <a:t>. . .</a:t>
            </a:r>
            <a:r>
              <a:rPr lang="en-US" sz="2200" b="0" i="0" dirty="0">
                <a:solidFill>
                  <a:srgbClr val="999999"/>
                </a:solidFill>
                <a:effectLst/>
                <a:latin typeface="Liberation Mono"/>
              </a:rPr>
              <a:t> </a:t>
            </a:r>
            <a:r>
              <a:rPr lang="en-US" sz="2200" b="0" i="0" dirty="0">
                <a:effectLst/>
                <a:latin typeface="Liberation Mono"/>
              </a:rPr>
              <a:t>)</a:t>
            </a:r>
            <a:endParaRPr lang="en-US" sz="2200" dirty="0">
              <a:latin typeface="Liberation Mono"/>
            </a:endParaRPr>
          </a:p>
          <a:p>
            <a:pPr marL="723900"/>
            <a:r>
              <a:rPr lang="en-US" sz="2200" b="0" i="0" dirty="0">
                <a:solidFill>
                  <a:srgbClr val="A67F59"/>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0000"/>
                </a:solidFill>
                <a:effectLst/>
                <a:latin typeface="Liberation Mono"/>
              </a:rPr>
              <a:t> </a:t>
            </a:r>
            <a:r>
              <a:rPr lang="en-US" sz="2200" b="0" i="0" dirty="0">
                <a:effectLst/>
                <a:latin typeface="Liberation Mono"/>
              </a:rPr>
              <a:t>(</a:t>
            </a:r>
            <a:r>
              <a:rPr lang="en-US" sz="2200" b="0" i="1" dirty="0">
                <a:effectLst/>
                <a:latin typeface="Liberation Mono"/>
              </a:rPr>
              <a:t>subquery</a:t>
            </a:r>
            <a:r>
              <a:rPr lang="en-US" sz="2400" b="0" i="0" dirty="0">
                <a:effectLst/>
                <a:latin typeface="Liberation Mono"/>
              </a:rPr>
              <a:t>)</a:t>
            </a:r>
            <a:endParaRPr lang="en-US" sz="2400" dirty="0">
              <a:latin typeface="Liberation Mono"/>
            </a:endParaRPr>
          </a:p>
        </p:txBody>
      </p:sp>
      <p:graphicFrame>
        <p:nvGraphicFramePr>
          <p:cNvPr id="28" name="Table 27">
            <a:extLst>
              <a:ext uri="{FF2B5EF4-FFF2-40B4-BE49-F238E27FC236}">
                <a16:creationId xmlns:a16="http://schemas.microsoft.com/office/drawing/2014/main" id="{59A51FE3-66CF-4F1E-8C7D-783238631C6B}"/>
              </a:ext>
            </a:extLst>
          </p:cNvPr>
          <p:cNvGraphicFramePr>
            <a:graphicFrameLocks noGrp="1"/>
          </p:cNvGraphicFramePr>
          <p:nvPr>
            <p:extLst>
              <p:ext uri="{D42A27DB-BD31-4B8C-83A1-F6EECF244321}">
                <p14:modId xmlns:p14="http://schemas.microsoft.com/office/powerpoint/2010/main" val="2148603925"/>
              </p:ext>
            </p:extLst>
          </p:nvPr>
        </p:nvGraphicFramePr>
        <p:xfrm>
          <a:off x="4867268" y="6237312"/>
          <a:ext cx="6053268" cy="426720"/>
        </p:xfrm>
        <a:graphic>
          <a:graphicData uri="http://schemas.openxmlformats.org/drawingml/2006/table">
            <a:tbl>
              <a:tblPr/>
              <a:tblGrid>
                <a:gridCol w="2506905">
                  <a:extLst>
                    <a:ext uri="{9D8B030D-6E8A-4147-A177-3AD203B41FA5}">
                      <a16:colId xmlns:a16="http://schemas.microsoft.com/office/drawing/2014/main" val="4286149586"/>
                    </a:ext>
                  </a:extLst>
                </a:gridCol>
                <a:gridCol w="3546363">
                  <a:extLst>
                    <a:ext uri="{9D8B030D-6E8A-4147-A177-3AD203B41FA5}">
                      <a16:colId xmlns:a16="http://schemas.microsoft.com/office/drawing/2014/main" val="438706697"/>
                    </a:ext>
                  </a:extLst>
                </a:gridCol>
              </a:tblGrid>
              <a:tr h="318624">
                <a:tc>
                  <a:txBody>
                    <a:bodyPr/>
                    <a:lstStyle/>
                    <a:p>
                      <a:pPr fontAlgn="t"/>
                      <a:r>
                        <a:rPr lang="en-IN" b="1" dirty="0">
                          <a:effectLst/>
                          <a:latin typeface="Palatino Linotype" panose="02040502050505030304" pitchFamily="18" charset="0"/>
                        </a:rPr>
                        <a:t>A</a:t>
                      </a:r>
                      <a:r>
                        <a:rPr lang="en-IN" dirty="0">
                          <a:effectLst/>
                          <a:latin typeface="Palatino Linotype" panose="02040502050505030304" pitchFamily="18" charset="0"/>
                        </a:rPr>
                        <a:t> IN (</a:t>
                      </a:r>
                      <a:r>
                        <a:rPr lang="en-IN" b="1" i="1" dirty="0">
                          <a:effectLst/>
                          <a:latin typeface="Palatino Linotype" panose="02040502050505030304" pitchFamily="18" charset="0"/>
                        </a:rPr>
                        <a:t>B1</a:t>
                      </a:r>
                      <a:r>
                        <a:rPr lang="en-IN" dirty="0">
                          <a:effectLst/>
                          <a:latin typeface="Palatino Linotype" panose="02040502050505030304" pitchFamily="18" charset="0"/>
                        </a:rPr>
                        <a:t>, </a:t>
                      </a:r>
                      <a:r>
                        <a:rPr lang="en-IN" b="1" i="1" dirty="0">
                          <a:effectLst/>
                          <a:latin typeface="Palatino Linotype" panose="02040502050505030304" pitchFamily="18" charset="0"/>
                        </a:rPr>
                        <a:t>B2</a:t>
                      </a:r>
                      <a:r>
                        <a:rPr lang="en-IN" dirty="0">
                          <a:effectLst/>
                          <a:latin typeface="Palatino Linotype" panose="02040502050505030304" pitchFamily="18" charset="0"/>
                        </a:rPr>
                        <a:t>, </a:t>
                      </a:r>
                      <a:r>
                        <a:rPr lang="en-IN" b="1" i="1" dirty="0">
                          <a:effectLst/>
                          <a:latin typeface="Palatino Linotype" panose="02040502050505030304" pitchFamily="18" charset="0"/>
                        </a:rPr>
                        <a:t>B3</a:t>
                      </a:r>
                      <a:r>
                        <a:rPr lang="en-IN" dirty="0">
                          <a:effectLst/>
                          <a:latin typeface="Palatino Linotype" panose="02040502050505030304" pitchFamily="18" charset="0"/>
                        </a:rPr>
                        <a:t>, etc.)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found in the list (B1, B2, etc.)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sp>
        <p:nvSpPr>
          <p:cNvPr id="30" name="TextBox 29">
            <a:extLst>
              <a:ext uri="{FF2B5EF4-FFF2-40B4-BE49-F238E27FC236}">
                <a16:creationId xmlns:a16="http://schemas.microsoft.com/office/drawing/2014/main" id="{E0CD6F90-7699-41BB-61F7-C288F2612583}"/>
              </a:ext>
            </a:extLst>
          </p:cNvPr>
          <p:cNvSpPr txBox="1"/>
          <p:nvPr/>
        </p:nvSpPr>
        <p:spPr>
          <a:xfrm>
            <a:off x="4763854" y="4186509"/>
            <a:ext cx="7560840" cy="400110"/>
          </a:xfrm>
          <a:prstGeom prst="rect">
            <a:avLst/>
          </a:prstGeom>
          <a:noFill/>
        </p:spPr>
        <p:txBody>
          <a:bodyPr wrap="square">
            <a:spAutoFit/>
          </a:bodyPr>
          <a:lstStyle/>
          <a:p>
            <a:r>
              <a:rPr lang="en-IN" sz="2000" dirty="0">
                <a:latin typeface="Palatino Linotype" panose="02040502050505030304" pitchFamily="18" charset="0"/>
              </a:rPr>
              <a:t>IN compares a value against a list (or the result of a subquery).</a:t>
            </a:r>
          </a:p>
        </p:txBody>
      </p:sp>
    </p:spTree>
    <p:extLst>
      <p:ext uri="{BB962C8B-B14F-4D97-AF65-F5344CB8AC3E}">
        <p14:creationId xmlns:p14="http://schemas.microsoft.com/office/powerpoint/2010/main" val="3829025191"/>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values</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3" name="Rectangle 2"/>
          <p:cNvSpPr/>
          <p:nvPr/>
        </p:nvSpPr>
        <p:spPr>
          <a:xfrm>
            <a:off x="335359" y="1598503"/>
            <a:ext cx="11665297" cy="1779974"/>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 value in the column or the expression is equal to any value in the list, the result of the IN operator is TRUE.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The IN operator is equivalent to multiple </a:t>
            </a:r>
            <a:r>
              <a:rPr lang="en-US" dirty="0">
                <a:solidFill>
                  <a:schemeClr val="accent4">
                    <a:lumMod val="50000"/>
                  </a:schemeClr>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operators.</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To negate the IN operator, you use the </a:t>
            </a:r>
            <a:r>
              <a:rPr lang="en-US" dirty="0">
                <a:solidFill>
                  <a:schemeClr val="accent4">
                    <a:lumMod val="50000"/>
                  </a:schemeClr>
                </a:solidFill>
                <a:latin typeface="Arial" panose="020B0604020202020204" pitchFamily="34" charset="0"/>
                <a:cs typeface="Arial" panose="020B0604020202020204" pitchFamily="34" charset="0"/>
              </a:rPr>
              <a:t>NOT IN </a:t>
            </a:r>
            <a:r>
              <a:rPr lang="en-US" dirty="0">
                <a:latin typeface="Arial" panose="020B0604020202020204" pitchFamily="34" charset="0"/>
                <a:cs typeface="Arial" panose="020B0604020202020204" pitchFamily="34" charset="0"/>
              </a:rPr>
              <a:t>operator.</a:t>
            </a:r>
            <a:endParaRPr lang="en-IN" dirty="0">
              <a:latin typeface="Arial" panose="020B0604020202020204" pitchFamily="34" charset="0"/>
              <a:cs typeface="Arial" panose="020B0604020202020204" pitchFamily="34" charset="0"/>
            </a:endParaRPr>
          </a:p>
        </p:txBody>
      </p:sp>
      <p:pic>
        <p:nvPicPr>
          <p:cNvPr id="8" name="Picture 7">
            <a:extLst>
              <a:ext uri="{FF2B5EF4-FFF2-40B4-BE49-F238E27FC236}">
                <a16:creationId xmlns:a16="http://schemas.microsoft.com/office/drawing/2014/main" id="{8E3A278B-47A7-4045-9D6A-7A78258C1322}"/>
              </a:ext>
            </a:extLst>
          </p:cNvPr>
          <p:cNvPicPr>
            <a:picLocks noChangeAspect="1"/>
          </p:cNvPicPr>
          <p:nvPr/>
        </p:nvPicPr>
        <p:blipFill>
          <a:blip r:embed="rId2"/>
          <a:stretch>
            <a:fillRect/>
          </a:stretch>
        </p:blipFill>
        <p:spPr>
          <a:xfrm>
            <a:off x="314782" y="4365104"/>
            <a:ext cx="8013465" cy="2236191"/>
          </a:xfrm>
          <a:prstGeom prst="rect">
            <a:avLst/>
          </a:prstGeom>
        </p:spPr>
      </p:pic>
      <p:grpSp>
        <p:nvGrpSpPr>
          <p:cNvPr id="6" name="Group 5">
            <a:extLst>
              <a:ext uri="{FF2B5EF4-FFF2-40B4-BE49-F238E27FC236}">
                <a16:creationId xmlns:a16="http://schemas.microsoft.com/office/drawing/2014/main" id="{CC50830C-84FE-4811-9605-CB343CCA287D}"/>
              </a:ext>
            </a:extLst>
          </p:cNvPr>
          <p:cNvGrpSpPr/>
          <p:nvPr/>
        </p:nvGrpSpPr>
        <p:grpSpPr>
          <a:xfrm>
            <a:off x="364741" y="3624170"/>
            <a:ext cx="11305256" cy="596918"/>
            <a:chOff x="364741" y="3861048"/>
            <a:chExt cx="11305256" cy="596918"/>
          </a:xfrm>
        </p:grpSpPr>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86104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A812D2B1-086D-4826-8315-851FF37231A6}"/>
                </a:ext>
              </a:extLst>
            </p:cNvPr>
            <p:cNvSpPr/>
            <p:nvPr/>
          </p:nvSpPr>
          <p:spPr>
            <a:xfrm>
              <a:off x="364741" y="4005065"/>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rPr>
                <a:t>'salesman'</a:t>
              </a:r>
              <a:r>
                <a:rPr lang="en-IN" dirty="0">
                  <a:latin typeface="Liberation Mono"/>
                  <a:cs typeface="Arial" panose="020B0604020202020204" pitchFamily="34" charset="0"/>
                </a:rPr>
                <a:t>, </a:t>
              </a:r>
              <a:r>
                <a:rPr lang="en-IN" dirty="0">
                  <a:solidFill>
                    <a:srgbClr val="669900"/>
                  </a:solidFill>
                  <a:latin typeface="Liberation Mono"/>
                </a:rPr>
                <a:t>'manager'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4" name="Rectangle 13">
              <a:extLst>
                <a:ext uri="{FF2B5EF4-FFF2-40B4-BE49-F238E27FC236}">
                  <a16:creationId xmlns:a16="http://schemas.microsoft.com/office/drawing/2014/main" id="{2172B361-8741-4399-8D90-C87A7A4C58A5}"/>
                </a:ext>
              </a:extLst>
            </p:cNvPr>
            <p:cNvSpPr/>
            <p:nvPr/>
          </p:nvSpPr>
          <p:spPr>
            <a:xfrm>
              <a:off x="8626555" y="3913878"/>
              <a:ext cx="2870045"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9" name="Rectangle 8">
            <a:extLst>
              <a:ext uri="{FF2B5EF4-FFF2-40B4-BE49-F238E27FC236}">
                <a16:creationId xmlns:a16="http://schemas.microsoft.com/office/drawing/2014/main" id="{20598E04-54A7-4703-BC49-5D7C5103B85A}"/>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2" name="Rectangle 11">
            <a:extLst>
              <a:ext uri="{FF2B5EF4-FFF2-40B4-BE49-F238E27FC236}">
                <a16:creationId xmlns:a16="http://schemas.microsoft.com/office/drawing/2014/main" id="{2F5FF4A0-032C-4346-8079-F5E386BA9BDA}"/>
              </a:ext>
            </a:extLst>
          </p:cNvPr>
          <p:cNvSpPr/>
          <p:nvPr/>
        </p:nvSpPr>
        <p:spPr>
          <a:xfrm>
            <a:off x="2423592" y="4293096"/>
            <a:ext cx="1152128" cy="2402614"/>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88CDE9E6-9372-EF85-0D2F-78B383F09B3A}"/>
              </a:ext>
            </a:extLst>
          </p:cNvPr>
          <p:cNvSpPr txBox="1"/>
          <p:nvPr/>
        </p:nvSpPr>
        <p:spPr>
          <a:xfrm>
            <a:off x="5906278" y="857532"/>
            <a:ext cx="6094378" cy="646331"/>
          </a:xfrm>
          <a:prstGeom prst="rect">
            <a:avLst/>
          </a:prstGeom>
          <a:noFill/>
        </p:spPr>
        <p:txBody>
          <a:bodyPr wrap="square">
            <a:spAutoFit/>
          </a:bodyPr>
          <a:lstStyle/>
          <a:p>
            <a:r>
              <a:rPr lang="en-IN" dirty="0"/>
              <a:t>IN         → "Is my value IN this list?"</a:t>
            </a:r>
          </a:p>
          <a:p>
            <a:r>
              <a:rPr lang="en-IN" dirty="0"/>
              <a:t>EXISTS  → "Does, at least ONE matching row EXIST?"</a:t>
            </a:r>
          </a:p>
        </p:txBody>
      </p:sp>
    </p:spTree>
    <p:extLst>
      <p:ext uri="{BB962C8B-B14F-4D97-AF65-F5344CB8AC3E}">
        <p14:creationId xmlns:p14="http://schemas.microsoft.com/office/powerpoint/2010/main" val="1058525514"/>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1BE55-4168-B318-5AFA-4DD8E34740A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51AD9D64-23A0-A620-5D1E-8C502B005F3C}"/>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subquery</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7F551D55-669E-F4EB-E274-A4D569D7EACA}"/>
              </a:ext>
            </a:extLst>
          </p:cNvPr>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5FE73F20-8FF0-42C3-F472-17AEDF6C2BBB}"/>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7FB3B9C-FF15-A3B6-F647-FD642B27CD6E}"/>
              </a:ext>
            </a:extLst>
          </p:cNvPr>
          <p:cNvSpPr/>
          <p:nvPr/>
        </p:nvSpPr>
        <p:spPr>
          <a:xfrm>
            <a:off x="370984" y="236805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deptno, ename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deptno </a:t>
            </a:r>
            <a:r>
              <a:rPr lang="en-US" dirty="0">
                <a:solidFill>
                  <a:srgbClr val="0077AA"/>
                </a:solidFill>
                <a:latin typeface="Liberation Mono"/>
                <a:cs typeface="Arial" panose="020B0604020202020204" pitchFamily="34" charset="0"/>
              </a:rPr>
              <a:t>FROM</a:t>
            </a:r>
            <a:r>
              <a:rPr lang="en-US" dirty="0">
                <a:latin typeface="Liberation Mono"/>
              </a:rPr>
              <a:t> dept </a:t>
            </a:r>
            <a:r>
              <a:rPr lang="en-US" dirty="0">
                <a:solidFill>
                  <a:srgbClr val="0077AA"/>
                </a:solidFill>
                <a:latin typeface="Liberation Mono"/>
                <a:cs typeface="Arial" panose="020B0604020202020204" pitchFamily="34" charset="0"/>
              </a:rPr>
              <a:t>WHERE</a:t>
            </a:r>
            <a:r>
              <a:rPr lang="en-US" dirty="0">
                <a:latin typeface="Liberation Mono"/>
              </a:rPr>
              <a:t>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'accounting' </a:t>
            </a:r>
            <a:r>
              <a:rPr lang="en-US" dirty="0">
                <a:latin typeface="Liberation Mono"/>
              </a:rPr>
              <a:t>OR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'RESEARCH'</a:t>
            </a:r>
            <a:r>
              <a:rPr lang="en-US" dirty="0">
                <a:latin typeface="Liberation Mono"/>
              </a:rPr>
              <a:t>);</a:t>
            </a:r>
            <a:endParaRPr lang="en-IN" dirty="0">
              <a:latin typeface="Liberation Mono"/>
              <a:cs typeface="Arial" panose="020B0604020202020204" pitchFamily="34" charset="0"/>
            </a:endParaRPr>
          </a:p>
        </p:txBody>
      </p:sp>
      <p:sp>
        <p:nvSpPr>
          <p:cNvPr id="18" name="TextBox 17">
            <a:extLst>
              <a:ext uri="{FF2B5EF4-FFF2-40B4-BE49-F238E27FC236}">
                <a16:creationId xmlns:a16="http://schemas.microsoft.com/office/drawing/2014/main" id="{8AFE7BF9-5A4F-C4D1-735B-74DF6BBC8547}"/>
              </a:ext>
            </a:extLst>
          </p:cNvPr>
          <p:cNvSpPr txBox="1"/>
          <p:nvPr/>
        </p:nvSpPr>
        <p:spPr>
          <a:xfrm>
            <a:off x="425560" y="3284984"/>
            <a:ext cx="11340879" cy="215443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How</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it</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works</a:t>
            </a:r>
            <a:r>
              <a:rPr lang="en-IN" b="1"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The subquery returns a list of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a:t>
            </a: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SQL checks whether each employee’s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is in that list.</a:t>
            </a:r>
          </a:p>
          <a:p>
            <a:pPr marL="285750" lvl="0" indent="-285750">
              <a:lnSpc>
                <a:spcPct val="150000"/>
              </a:lnSpc>
              <a:buFont typeface="Arial" panose="020B0604020202020204" pitchFamily="34" charset="0"/>
              <a:buChar char="•"/>
            </a:pPr>
            <a:endParaRPr lang="en-IN" sz="1200" dirty="0">
              <a:latin typeface="Arial" panose="020B0604020202020204" pitchFamily="34" charset="0"/>
              <a:cs typeface="Arial" panose="020B0604020202020204" pitchFamily="34" charset="0"/>
            </a:endParaRPr>
          </a:p>
          <a:p>
            <a:r>
              <a:rPr lang="en-IN" dirty="0">
                <a:solidFill>
                  <a:srgbClr val="3939F5"/>
                </a:solidFill>
                <a:latin typeface="Arial" panose="020B0604020202020204" pitchFamily="34" charset="0"/>
                <a:cs typeface="Arial" panose="020B0604020202020204" pitchFamily="34" charset="0"/>
              </a:rPr>
              <a:t>Think of it as:</a:t>
            </a:r>
          </a:p>
          <a:p>
            <a:pPr rtl="0"/>
            <a:r>
              <a:rPr lang="en-IN" dirty="0">
                <a:latin typeface="Arial" panose="020B0604020202020204" pitchFamily="34" charset="0"/>
                <a:cs typeface="Arial" panose="020B0604020202020204" pitchFamily="34" charset="0"/>
              </a:rPr>
              <a:t>department_id IN (10, 20)</a:t>
            </a:r>
          </a:p>
        </p:txBody>
      </p:sp>
    </p:spTree>
    <p:extLst>
      <p:ext uri="{BB962C8B-B14F-4D97-AF65-F5344CB8AC3E}">
        <p14:creationId xmlns:p14="http://schemas.microsoft.com/office/powerpoint/2010/main" val="1924066848"/>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FEB0A4B-7817-23EF-6B3D-A29AD5B7B5B6}"/>
              </a:ext>
            </a:extLst>
          </p:cNvPr>
          <p:cNvGraphicFramePr>
            <a:graphicFrameLocks noGrp="1"/>
          </p:cNvGraphicFramePr>
          <p:nvPr>
            <p:extLst>
              <p:ext uri="{D42A27DB-BD31-4B8C-83A1-F6EECF244321}">
                <p14:modId xmlns:p14="http://schemas.microsoft.com/office/powerpoint/2010/main" val="1431937377"/>
              </p:ext>
            </p:extLst>
          </p:nvPr>
        </p:nvGraphicFramePr>
        <p:xfrm>
          <a:off x="191344" y="630312"/>
          <a:ext cx="11881320" cy="6039048"/>
        </p:xfrm>
        <a:graphic>
          <a:graphicData uri="http://schemas.openxmlformats.org/drawingml/2006/table">
            <a:tbl>
              <a:tblPr>
                <a:tableStyleId>{0505E3EF-67EA-436B-97B2-0124C06EBD24}</a:tableStyleId>
              </a:tblPr>
              <a:tblGrid>
                <a:gridCol w="2186746">
                  <a:extLst>
                    <a:ext uri="{9D8B030D-6E8A-4147-A177-3AD203B41FA5}">
                      <a16:colId xmlns:a16="http://schemas.microsoft.com/office/drawing/2014/main" val="2042371124"/>
                    </a:ext>
                  </a:extLst>
                </a:gridCol>
                <a:gridCol w="4810841">
                  <a:extLst>
                    <a:ext uri="{9D8B030D-6E8A-4147-A177-3AD203B41FA5}">
                      <a16:colId xmlns:a16="http://schemas.microsoft.com/office/drawing/2014/main" val="1892653283"/>
                    </a:ext>
                  </a:extLst>
                </a:gridCol>
                <a:gridCol w="4883733">
                  <a:extLst>
                    <a:ext uri="{9D8B030D-6E8A-4147-A177-3AD203B41FA5}">
                      <a16:colId xmlns:a16="http://schemas.microsoft.com/office/drawing/2014/main" val="808491046"/>
                    </a:ext>
                  </a:extLst>
                </a:gridCol>
              </a:tblGrid>
              <a:tr h="265413">
                <a:tc>
                  <a:txBody>
                    <a:bodyPr/>
                    <a:lstStyle/>
                    <a:p>
                      <a:pPr algn="ctr">
                        <a:buNone/>
                      </a:pPr>
                      <a:r>
                        <a:rPr lang="en-IN" sz="1800" b="1" dirty="0"/>
                        <a:t>Point</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IN Operator</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EXISTS Operator</a:t>
                      </a:r>
                      <a:endParaRPr lang="en-IN" sz="1800" b="1"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850636920"/>
                  </a:ext>
                </a:extLst>
              </a:tr>
              <a:tr h="464472">
                <a:tc>
                  <a:txBody>
                    <a:bodyPr/>
                    <a:lstStyle/>
                    <a:p>
                      <a:pPr>
                        <a:buNone/>
                      </a:pPr>
                      <a:r>
                        <a:rPr lang="en-IN" sz="1800" dirty="0"/>
                        <a:t>Meaning</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a value exists in a list/result set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the subquery returns at least one row</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722787247"/>
                  </a:ext>
                </a:extLst>
              </a:tr>
              <a:tr h="464472">
                <a:tc>
                  <a:txBody>
                    <a:bodyPr/>
                    <a:lstStyle/>
                    <a:p>
                      <a:pPr>
                        <a:buNone/>
                      </a:pPr>
                      <a:r>
                        <a:rPr lang="en-IN" sz="1800" dirty="0"/>
                        <a:t>Main purpose</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Compare a value with values returned by a </a:t>
                      </a:r>
                      <a:r>
                        <a:rPr lang="en-IN" sz="1800" b="1" dirty="0"/>
                        <a:t>subquery</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 for the existence of matching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711264977"/>
                  </a:ext>
                </a:extLst>
              </a:tr>
              <a:tr h="464472">
                <a:tc>
                  <a:txBody>
                    <a:bodyPr/>
                    <a:lstStyle/>
                    <a:p>
                      <a:pPr>
                        <a:buNone/>
                      </a:pPr>
                      <a:r>
                        <a:rPr lang="en-IN" sz="1800"/>
                        <a:t>Works with</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Usually compares one column/value with a list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Checks a condition between outer and inner query</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953052619"/>
                  </a:ext>
                </a:extLst>
              </a:tr>
              <a:tr h="464472">
                <a:tc>
                  <a:txBody>
                    <a:bodyPr/>
                    <a:lstStyle/>
                    <a:p>
                      <a:pPr>
                        <a:buNone/>
                      </a:pPr>
                      <a:r>
                        <a:rPr lang="en-IN" sz="1800"/>
                        <a:t>Result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Returns TRUE if the value matches any value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Returns TRUE if the subquery returns one or more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04173419"/>
                  </a:ext>
                </a:extLst>
              </a:tr>
              <a:tr h="464472">
                <a:tc>
                  <a:txBody>
                    <a:bodyPr/>
                    <a:lstStyle/>
                    <a:p>
                      <a:pPr>
                        <a:buNone/>
                      </a:pPr>
                      <a:r>
                        <a:rPr lang="en-IN" sz="1800"/>
                        <a:t>Subquery dependency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Subquery can be independent of the outer query</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Usually a correlated subquery, though it can also be uncorrelated</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585372569"/>
                  </a:ext>
                </a:extLst>
              </a:tr>
              <a:tr h="464472">
                <a:tc>
                  <a:txBody>
                    <a:bodyPr/>
                    <a:lstStyle/>
                    <a:p>
                      <a:pPr>
                        <a:buNone/>
                      </a:pPr>
                      <a:r>
                        <a:rPr lang="en-IN" sz="1800" dirty="0"/>
                        <a:t>NULL </a:t>
                      </a:r>
                      <a:r>
                        <a:rPr lang="en-IN" sz="1800" dirty="0" err="1"/>
                        <a:t>behavior</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NULL can cause unexpected results, especially with NOT IN</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Generally safer with NULL, especially NOT EXISTS</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637643476"/>
                  </a:ext>
                </a:extLst>
              </a:tr>
              <a:tr h="464472">
                <a:tc>
                  <a:txBody>
                    <a:bodyPr/>
                    <a:lstStyle/>
                    <a:p>
                      <a:pPr>
                        <a:buNone/>
                      </a:pPr>
                      <a:r>
                        <a:rPr lang="en-IN" sz="1800"/>
                        <a:t>Performance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Can be efficient when the result set is small or optimized well</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Often preferred when checking existence in a large related table</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630619923"/>
                  </a:ext>
                </a:extLst>
              </a:tr>
              <a:tr h="464472">
                <a:tc>
                  <a:txBody>
                    <a:bodyPr/>
                    <a:lstStyle/>
                    <a:p>
                      <a:pPr>
                        <a:buNone/>
                      </a:pPr>
                      <a:r>
                        <a:rPr lang="en-IN" sz="1800"/>
                        <a:t>What is important?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The values returned by the subquery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Whether any row is returned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80970966"/>
                  </a:ext>
                </a:extLst>
              </a:tr>
              <a:tr h="464472">
                <a:tc>
                  <a:txBody>
                    <a:bodyPr/>
                    <a:lstStyle/>
                    <a:p>
                      <a:pPr>
                        <a:buNone/>
                      </a:pPr>
                      <a:r>
                        <a:rPr lang="en-IN" sz="1800"/>
                        <a:t>Stops searching?</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Conceptually evaluates membership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Can stop once a matching row is found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680122513"/>
                  </a:ext>
                </a:extLst>
              </a:tr>
              <a:tr h="464472">
                <a:tc>
                  <a:txBody>
                    <a:bodyPr/>
                    <a:lstStyle/>
                    <a:p>
                      <a:pPr>
                        <a:buNone/>
                      </a:pPr>
                      <a:r>
                        <a:rPr lang="en-IN" sz="1800"/>
                        <a:t>Common use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whose department is in these departments"</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 have at least one matching record"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409223850"/>
                  </a:ext>
                </a:extLst>
              </a:tr>
            </a:tbl>
          </a:graphicData>
        </a:graphic>
      </p:graphicFrame>
      <p:sp>
        <p:nvSpPr>
          <p:cNvPr id="4" name="Rectangle 3">
            <a:extLst>
              <a:ext uri="{FF2B5EF4-FFF2-40B4-BE49-F238E27FC236}">
                <a16:creationId xmlns:a16="http://schemas.microsoft.com/office/drawing/2014/main" id="{7ACEFF0A-A764-473B-42A0-9FE1F2726FB0}"/>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VS exists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0DC65D2C-B0BA-6398-C87C-E0A3A887D60E}"/>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3910720259"/>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C02EC7-5CE5-14DB-2ADE-FF889DF5755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5D5B359-991F-2BAF-A950-799B9B6FCC57}"/>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 VS not exists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D1EDC9BF-EAE6-237B-E4EB-5947532DA562}"/>
              </a:ext>
            </a:extLst>
          </p:cNvPr>
          <p:cNvGraphicFramePr>
            <a:graphicFrameLocks noGrp="1"/>
          </p:cNvGraphicFramePr>
          <p:nvPr>
            <p:extLst>
              <p:ext uri="{D42A27DB-BD31-4B8C-83A1-F6EECF244321}">
                <p14:modId xmlns:p14="http://schemas.microsoft.com/office/powerpoint/2010/main" val="775795917"/>
              </p:ext>
            </p:extLst>
          </p:nvPr>
        </p:nvGraphicFramePr>
        <p:xfrm>
          <a:off x="191344" y="623806"/>
          <a:ext cx="11881319" cy="5813266"/>
        </p:xfrm>
        <a:graphic>
          <a:graphicData uri="http://schemas.openxmlformats.org/drawingml/2006/table">
            <a:tbl>
              <a:tblPr>
                <a:tableStyleId>{0505E3EF-67EA-436B-97B2-0124C06EBD24}</a:tableStyleId>
              </a:tblPr>
              <a:tblGrid>
                <a:gridCol w="2160240">
                  <a:extLst>
                    <a:ext uri="{9D8B030D-6E8A-4147-A177-3AD203B41FA5}">
                      <a16:colId xmlns:a16="http://schemas.microsoft.com/office/drawing/2014/main" val="103082094"/>
                    </a:ext>
                  </a:extLst>
                </a:gridCol>
                <a:gridCol w="5184576">
                  <a:extLst>
                    <a:ext uri="{9D8B030D-6E8A-4147-A177-3AD203B41FA5}">
                      <a16:colId xmlns:a16="http://schemas.microsoft.com/office/drawing/2014/main" val="1848549032"/>
                    </a:ext>
                  </a:extLst>
                </a:gridCol>
                <a:gridCol w="4536503">
                  <a:extLst>
                    <a:ext uri="{9D8B030D-6E8A-4147-A177-3AD203B41FA5}">
                      <a16:colId xmlns:a16="http://schemas.microsoft.com/office/drawing/2014/main" val="3624959941"/>
                    </a:ext>
                  </a:extLst>
                </a:gridCol>
              </a:tblGrid>
              <a:tr h="265413">
                <a:tc>
                  <a:txBody>
                    <a:bodyPr/>
                    <a:lstStyle/>
                    <a:p>
                      <a:pPr algn="ctr">
                        <a:buNone/>
                      </a:pPr>
                      <a:r>
                        <a:rPr kumimoji="0" lang="en-IN" sz="1800" b="1" kern="1200" dirty="0">
                          <a:solidFill>
                            <a:schemeClr val="dk1"/>
                          </a:solidFill>
                          <a:latin typeface="Gill Sans MT (Body)"/>
                        </a:rPr>
                        <a:t>Point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IN</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EXISTS</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275197816"/>
                  </a:ext>
                </a:extLst>
              </a:tr>
              <a:tr h="464472">
                <a:tc>
                  <a:txBody>
                    <a:bodyPr/>
                    <a:lstStyle/>
                    <a:p>
                      <a:pPr marL="0" algn="l" rtl="0" eaLnBrk="1" latinLnBrk="0" hangingPunct="1">
                        <a:buNone/>
                      </a:pPr>
                      <a:r>
                        <a:rPr kumimoji="0" lang="en-IN" sz="1800" kern="1200" dirty="0">
                          <a:solidFill>
                            <a:schemeClr val="dk1"/>
                          </a:solidFill>
                          <a:latin typeface="Gill Sans MT (Body)"/>
                        </a:rPr>
                        <a:t>Purpose</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a value is not present in a list/subquery result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no matching row exists in a subquery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436643918"/>
                  </a:ext>
                </a:extLst>
              </a:tr>
              <a:tr h="464472">
                <a:tc>
                  <a:txBody>
                    <a:bodyPr/>
                    <a:lstStyle/>
                    <a:p>
                      <a:pPr marL="0" algn="l" rtl="0" eaLnBrk="1" latinLnBrk="0" hangingPunct="1">
                        <a:buNone/>
                      </a:pPr>
                      <a:r>
                        <a:rPr kumimoji="0" lang="en-IN" sz="1800" kern="1200" dirty="0">
                          <a:solidFill>
                            <a:schemeClr val="dk1"/>
                          </a:solidFill>
                          <a:latin typeface="Gill Sans MT (Body)"/>
                        </a:rPr>
                        <a:t>Syntax</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column NOT IN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349189313"/>
                  </a:ext>
                </a:extLst>
              </a:tr>
              <a:tr h="265413">
                <a:tc>
                  <a:txBody>
                    <a:bodyPr/>
                    <a:lstStyle/>
                    <a:p>
                      <a:pPr marL="0" algn="l" rtl="0" eaLnBrk="1" latinLnBrk="0" hangingPunct="1">
                        <a:buNone/>
                      </a:pPr>
                      <a:r>
                        <a:rPr kumimoji="0" lang="en-IN" sz="1800" kern="1200" dirty="0">
                          <a:solidFill>
                            <a:schemeClr val="dk1"/>
                          </a:solidFill>
                          <a:latin typeface="Gill Sans MT (Body)"/>
                        </a:rPr>
                        <a:t>Type of check</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Value-based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Row/existence-based</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748420349"/>
                  </a:ext>
                </a:extLst>
              </a:tr>
              <a:tr h="464472">
                <a:tc>
                  <a:txBody>
                    <a:bodyPr/>
                    <a:lstStyle/>
                    <a:p>
                      <a:pPr marL="0" algn="l" rtl="0" eaLnBrk="1" latinLnBrk="0" hangingPunct="1">
                        <a:buNone/>
                      </a:pPr>
                      <a:r>
                        <a:rPr kumimoji="0" lang="en-IN" sz="1800" kern="1200">
                          <a:solidFill>
                            <a:schemeClr val="dk1"/>
                          </a:solidFill>
                          <a:latin typeface="Gill Sans MT (Body)"/>
                        </a:rPr>
                        <a:t>NULL handling</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Can cause unexpected results if subquery returns NULL</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 Generally handles NULL safely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714522269"/>
                  </a:ext>
                </a:extLst>
              </a:tr>
              <a:tr h="464472">
                <a:tc>
                  <a:txBody>
                    <a:bodyPr/>
                    <a:lstStyle/>
                    <a:p>
                      <a:pPr marL="0" algn="l" rtl="0" eaLnBrk="1" latinLnBrk="0" hangingPunct="1">
                        <a:buNone/>
                      </a:pPr>
                      <a:r>
                        <a:rPr kumimoji="0" lang="en-IN" sz="1800" kern="1200">
                          <a:solidFill>
                            <a:schemeClr val="dk1"/>
                          </a:solidFill>
                          <a:latin typeface="Gill Sans MT (Body)"/>
                        </a:rPr>
                        <a:t>Correlated subquery</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Usually not required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Commonly uses a correlated subquery</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2891691017"/>
                  </a:ext>
                </a:extLst>
              </a:tr>
              <a:tr h="464472">
                <a:tc>
                  <a:txBody>
                    <a:bodyPr/>
                    <a:lstStyle/>
                    <a:p>
                      <a:pPr marL="0" algn="l" rtl="0" eaLnBrk="1" latinLnBrk="0" hangingPunct="1">
                        <a:buNone/>
                      </a:pPr>
                      <a:r>
                        <a:rPr kumimoji="0" lang="en-IN" sz="1800" kern="1200">
                          <a:solidFill>
                            <a:schemeClr val="dk1"/>
                          </a:solidFill>
                          <a:latin typeface="Gill Sans MT (Body)"/>
                        </a:rPr>
                        <a:t>Subquery relationship</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Compares outer value with all returned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Checks for a matching row for each outer row</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637124999"/>
                  </a:ext>
                </a:extLst>
              </a:tr>
              <a:tr h="464472">
                <a:tc>
                  <a:txBody>
                    <a:bodyPr/>
                    <a:lstStyle/>
                    <a:p>
                      <a:pPr marL="0" algn="l" rtl="0" eaLnBrk="1" latinLnBrk="0" hangingPunct="1">
                        <a:buNone/>
                      </a:pPr>
                      <a:r>
                        <a:rPr kumimoji="0" lang="en-IN" sz="1800" kern="1200">
                          <a:solidFill>
                            <a:schemeClr val="dk1"/>
                          </a:solidFill>
                          <a:latin typeface="Gill Sans MT (Body)"/>
                        </a:rPr>
                        <a:t>Best suited for</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against a list of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whether a related record does not exist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081395465"/>
                  </a:ext>
                </a:extLst>
              </a:tr>
              <a:tr h="663532">
                <a:tc>
                  <a:txBody>
                    <a:bodyPr/>
                    <a:lstStyle/>
                    <a:p>
                      <a:pPr marL="0" algn="l" rtl="0" eaLnBrk="1" latinLnBrk="0" hangingPunct="1">
                        <a:buNone/>
                      </a:pPr>
                      <a:r>
                        <a:rPr kumimoji="0" lang="en-IN" sz="1800" kern="1200">
                          <a:solidFill>
                            <a:schemeClr val="dk1"/>
                          </a:solidFill>
                          <a:latin typeface="Gill Sans MT (Body)"/>
                        </a:rPr>
                        <a:t>Example</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dept_id NOT IN (SELECT dept_id FROM dept)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(SELECT 1 FROM dept d WHERE d.dept_id = </a:t>
                      </a:r>
                      <a:r>
                        <a:rPr kumimoji="0" lang="en-IN" sz="1800" kern="1200" dirty="0" err="1">
                          <a:solidFill>
                            <a:schemeClr val="dk1"/>
                          </a:solidFill>
                          <a:latin typeface="Gill Sans MT (Body)"/>
                        </a:rPr>
                        <a:t>e.dept_id</a:t>
                      </a:r>
                      <a:r>
                        <a:rPr kumimoji="0" lang="en-IN" sz="1800" kern="1200" dirty="0">
                          <a:solidFill>
                            <a:schemeClr val="dk1"/>
                          </a:solidFill>
                          <a:latin typeface="Gill Sans MT (Body)"/>
                        </a:rPr>
                        <a: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50007374"/>
                  </a:ext>
                </a:extLst>
              </a:tr>
              <a:tr h="464472">
                <a:tc>
                  <a:txBody>
                    <a:bodyPr/>
                    <a:lstStyle/>
                    <a:p>
                      <a:pPr marL="0" algn="l" rtl="0" eaLnBrk="1" latinLnBrk="0" hangingPunct="1">
                        <a:buNone/>
                      </a:pPr>
                      <a:r>
                        <a:rPr kumimoji="0" lang="en-IN" sz="1800" kern="1200">
                          <a:solidFill>
                            <a:schemeClr val="dk1"/>
                          </a:solidFill>
                          <a:latin typeface="Gill Sans MT (Body)"/>
                        </a:rPr>
                        <a:t>Main problem</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NULL in the subquery can make the condition UNKNOWN</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No equivalent NULL problem in the matching condition</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4214032389"/>
                  </a:ext>
                </a:extLst>
              </a:tr>
              <a:tr h="464472">
                <a:tc>
                  <a:txBody>
                    <a:bodyPr/>
                    <a:lstStyle/>
                    <a:p>
                      <a:pPr marL="0" algn="l" rtl="0" eaLnBrk="1" latinLnBrk="0" hangingPunct="1">
                        <a:buNone/>
                      </a:pPr>
                      <a:r>
                        <a:rPr kumimoji="0" lang="en-IN" sz="1800" kern="1200">
                          <a:solidFill>
                            <a:schemeClr val="dk1"/>
                          </a:solidFill>
                          <a:latin typeface="Gill Sans MT (Body)"/>
                        </a:rPr>
                        <a:t>Common recommendation</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Use when you know the subquery column cannot contain NULL</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Often preferred when NULL values are possible</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142042801"/>
                  </a:ext>
                </a:extLst>
              </a:tr>
            </a:tbl>
          </a:graphicData>
        </a:graphic>
      </p:graphicFrame>
      <p:sp>
        <p:nvSpPr>
          <p:cNvPr id="6" name="Rectangle 5">
            <a:extLst>
              <a:ext uri="{FF2B5EF4-FFF2-40B4-BE49-F238E27FC236}">
                <a16:creationId xmlns:a16="http://schemas.microsoft.com/office/drawing/2014/main" id="{C72E7A75-C18D-1CFD-A628-64B082651970}"/>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NOT</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663791563"/>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2A836-D207-8954-C75D-5A191DA416A6}"/>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C2B07438-34CF-3D4F-168F-DABC9FD319A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B5EF0B7-015B-A9EA-3DF2-06368B60F182}"/>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F10466D1-1089-7641-A8CC-6B91AB85F759}"/>
              </a:ext>
            </a:extLst>
          </p:cNvPr>
          <p:cNvSpPr txBox="1"/>
          <p:nvPr/>
        </p:nvSpPr>
        <p:spPr>
          <a:xfrm>
            <a:off x="178745" y="558924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DE7D868-EF4E-DE93-EB56-4AEE6791F41C}"/>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7295A808-361C-8C7A-3B23-893C41C90979}"/>
              </a:ext>
            </a:extLst>
          </p:cNvPr>
          <p:cNvSpPr txBox="1"/>
          <p:nvPr/>
        </p:nvSpPr>
        <p:spPr>
          <a:xfrm>
            <a:off x="25231" y="620688"/>
            <a:ext cx="6094378" cy="369332"/>
          </a:xfrm>
          <a:prstGeom prst="rect">
            <a:avLst/>
          </a:prstGeom>
          <a:noFill/>
        </p:spPr>
        <p:txBody>
          <a:bodyPr wrap="square">
            <a:spAutoFit/>
          </a:bodyPr>
          <a:lstStyle/>
          <a:p>
            <a:r>
              <a:rPr lang="en-IN" dirty="0"/>
              <a:t> employee {ID, employee_name, department_ID);</a:t>
            </a:r>
          </a:p>
        </p:txBody>
      </p:sp>
    </p:spTree>
    <p:extLst>
      <p:ext uri="{BB962C8B-B14F-4D97-AF65-F5344CB8AC3E}">
        <p14:creationId xmlns:p14="http://schemas.microsoft.com/office/powerpoint/2010/main" val="2679958323"/>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A1E84346-D9F6-41DD-96E7-D61C1486EA86}"/>
              </a:ext>
            </a:extLst>
          </p:cNvPr>
          <p:cNvSpPr txBox="1"/>
          <p:nvPr/>
        </p:nvSpPr>
        <p:spPr>
          <a:xfrm>
            <a:off x="302498" y="342900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graphicFrame>
        <p:nvGraphicFramePr>
          <p:cNvPr id="5" name="Table 6">
            <a:extLst>
              <a:ext uri="{FF2B5EF4-FFF2-40B4-BE49-F238E27FC236}">
                <a16:creationId xmlns:a16="http://schemas.microsoft.com/office/drawing/2014/main" id="{97CE403B-5BD6-4752-91F7-6DA0C1396628}"/>
              </a:ext>
            </a:extLst>
          </p:cNvPr>
          <p:cNvGraphicFramePr>
            <a:graphicFrameLocks noGrp="1"/>
          </p:cNvGraphicFramePr>
          <p:nvPr>
            <p:extLst>
              <p:ext uri="{D42A27DB-BD31-4B8C-83A1-F6EECF244321}">
                <p14:modId xmlns:p14="http://schemas.microsoft.com/office/powerpoint/2010/main" val="3047492229"/>
              </p:ext>
            </p:extLst>
          </p:nvPr>
        </p:nvGraphicFramePr>
        <p:xfrm>
          <a:off x="302498" y="874399"/>
          <a:ext cx="2913182" cy="222504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945825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21776548"/>
                  </a:ext>
                </a:extLst>
              </a:tr>
            </a:tbl>
          </a:graphicData>
        </a:graphic>
      </p:graphicFrame>
      <p:graphicFrame>
        <p:nvGraphicFramePr>
          <p:cNvPr id="10" name="Table 6">
            <a:extLst>
              <a:ext uri="{FF2B5EF4-FFF2-40B4-BE49-F238E27FC236}">
                <a16:creationId xmlns:a16="http://schemas.microsoft.com/office/drawing/2014/main" id="{C1A85F8A-F42F-4EEA-93B4-6208BF2633DD}"/>
              </a:ext>
            </a:extLst>
          </p:cNvPr>
          <p:cNvGraphicFramePr>
            <a:graphicFrameLocks noGrp="1"/>
          </p:cNvGraphicFramePr>
          <p:nvPr>
            <p:extLst>
              <p:ext uri="{D42A27DB-BD31-4B8C-83A1-F6EECF244321}">
                <p14:modId xmlns:p14="http://schemas.microsoft.com/office/powerpoint/2010/main" val="3968936102"/>
              </p:ext>
            </p:extLst>
          </p:nvPr>
        </p:nvGraphicFramePr>
        <p:xfrm>
          <a:off x="4135527" y="874399"/>
          <a:ext cx="2913182" cy="148336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kumimoji="0" lang="en-US" b="1" i="0" kern="1200" dirty="0">
                          <a:solidFill>
                            <a:schemeClr val="tx1"/>
                          </a:solidFill>
                          <a:latin typeface="Arial" panose="020B0604020202020204" pitchFamily="34" charset="0"/>
                          <a:ea typeface="+mn-ea"/>
                          <a:cs typeface="Arial" panose="020B0604020202020204" pitchFamily="34" charset="0"/>
                        </a:rPr>
                        <a:t>NULL</a:t>
                      </a:r>
                      <a:endParaRPr kumimoji="0" lang="en-IN" b="1" i="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bl>
          </a:graphicData>
        </a:graphic>
      </p:graphicFrame>
      <p:sp>
        <p:nvSpPr>
          <p:cNvPr id="12" name="TextBox 11">
            <a:extLst>
              <a:ext uri="{FF2B5EF4-FFF2-40B4-BE49-F238E27FC236}">
                <a16:creationId xmlns:a16="http://schemas.microsoft.com/office/drawing/2014/main" id="{7D7D3FAE-FBE2-48D3-8B00-59375CB46FB1}"/>
              </a:ext>
            </a:extLst>
          </p:cNvPr>
          <p:cNvSpPr txBox="1"/>
          <p:nvPr/>
        </p:nvSpPr>
        <p:spPr>
          <a:xfrm>
            <a:off x="263352" y="5085184"/>
            <a:ext cx="11737304" cy="830997"/>
          </a:xfrm>
          <a:prstGeom prst="rect">
            <a:avLst/>
          </a:prstGeom>
          <a:noFill/>
        </p:spPr>
        <p:txBody>
          <a:bodyPr wrap="square">
            <a:spAutoFit/>
          </a:bodyPr>
          <a:lstStyle/>
          <a:p>
            <a:r>
              <a:rPr lang="en-US" sz="2400" b="0" i="0" dirty="0">
                <a:solidFill>
                  <a:srgbClr val="000000"/>
                </a:solidFill>
                <a:effectLst/>
                <a:latin typeface="Liberation Mono"/>
              </a:rPr>
              <a:t>"</a:t>
            </a:r>
            <a:r>
              <a:rPr lang="en-US" sz="2400" dirty="0">
                <a:latin typeface="Liberation Mono"/>
                <a:cs typeface="Times New Roman" panose="02020603050405020304" pitchFamily="18" charset="0"/>
              </a:rPr>
              <a:t>color</a:t>
            </a:r>
            <a:r>
              <a:rPr lang="en-US" sz="2400" b="0" i="0" dirty="0">
                <a:solidFill>
                  <a:srgbClr val="006FE0"/>
                </a:solidFill>
                <a:effectLst/>
                <a:latin typeface="Liberation Mono"/>
              </a:rPr>
              <a:t> </a:t>
            </a:r>
            <a:r>
              <a:rPr lang="en-US" sz="2400" dirty="0">
                <a:solidFill>
                  <a:srgbClr val="0077AA"/>
                </a:solidFill>
                <a:latin typeface="Liberation Mono"/>
                <a:cs typeface="Times New Roman" panose="02020603050405020304" pitchFamily="18" charset="0"/>
              </a:rPr>
              <a:t>NOT</a:t>
            </a:r>
            <a:r>
              <a:rPr lang="en-US" sz="2400" b="0" i="0" dirty="0">
                <a:solidFill>
                  <a:srgbClr val="006FE0"/>
                </a:solidFill>
                <a:effectLst/>
                <a:latin typeface="Liberation Mono"/>
              </a:rPr>
              <a:t> </a:t>
            </a:r>
            <a:r>
              <a:rPr lang="en-US" sz="2400" b="0" i="0" dirty="0">
                <a:solidFill>
                  <a:srgbClr val="3215EB"/>
                </a:solidFill>
                <a:effectLst/>
                <a:latin typeface="Liberation Mono"/>
              </a:rPr>
              <a:t>IN</a:t>
            </a:r>
            <a:r>
              <a:rPr lang="en-US" sz="2400" b="0" i="0" dirty="0">
                <a:solidFill>
                  <a:srgbClr val="006FE0"/>
                </a:solidFill>
                <a:effectLst/>
                <a:latin typeface="Liberation Mono"/>
              </a:rPr>
              <a:t> </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Red</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Blue</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r>
              <a:rPr lang="en-US" sz="2400" b="0" i="0" dirty="0">
                <a:solidFill>
                  <a:srgbClr val="000000"/>
                </a:solidFill>
                <a:effectLst/>
                <a:latin typeface="Liberation Mono"/>
              </a:rPr>
              <a:t>"  </a:t>
            </a:r>
            <a:r>
              <a:rPr lang="en-IN" sz="2400" b="0" i="0" dirty="0">
                <a:solidFill>
                  <a:srgbClr val="373737"/>
                </a:solidFill>
                <a:effectLst/>
                <a:latin typeface="Roboto" panose="02000000000000000000" pitchFamily="2" charset="0"/>
              </a:rPr>
              <a:t>This is equivalent to:  </a:t>
            </a:r>
            <a:r>
              <a:rPr lang="en-US" sz="2400" dirty="0">
                <a:solidFill>
                  <a:srgbClr val="0077AA"/>
                </a:solidFill>
                <a:latin typeface="Liberation Mono"/>
                <a:cs typeface="Times New Roman" panose="02020603050405020304" pitchFamily="18" charset="0"/>
              </a:rPr>
              <a:t>NOT</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'Red'</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'Blue'</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endParaRPr lang="en-IN" sz="2400" dirty="0">
              <a:latin typeface="Liberation Mono"/>
            </a:endParaRPr>
          </a:p>
        </p:txBody>
      </p:sp>
      <p:sp>
        <p:nvSpPr>
          <p:cNvPr id="11" name="TextBox 10">
            <a:extLst>
              <a:ext uri="{FF2B5EF4-FFF2-40B4-BE49-F238E27FC236}">
                <a16:creationId xmlns:a16="http://schemas.microsoft.com/office/drawing/2014/main" id="{2CEDBBA0-6ACE-46AF-9EDD-A4DE19E6FE36}"/>
              </a:ext>
            </a:extLst>
          </p:cNvPr>
          <p:cNvSpPr txBox="1"/>
          <p:nvPr/>
        </p:nvSpPr>
        <p:spPr>
          <a:xfrm>
            <a:off x="263352" y="469307"/>
            <a:ext cx="360040" cy="461665"/>
          </a:xfrm>
          <a:prstGeom prst="rect">
            <a:avLst/>
          </a:prstGeom>
          <a:noFill/>
        </p:spPr>
        <p:txBody>
          <a:bodyPr wrap="square">
            <a:spAutoFit/>
          </a:bodyPr>
          <a:lstStyle/>
          <a:p>
            <a:r>
              <a:rPr lang="en-US" sz="2400" b="0" i="1" dirty="0">
                <a:solidFill>
                  <a:srgbClr val="3215EB"/>
                </a:solidFill>
                <a:effectLst/>
                <a:latin typeface="Liberation Mono"/>
              </a:rPr>
              <a:t>a</a:t>
            </a:r>
            <a:endParaRPr lang="en-IN" i="1" dirty="0"/>
          </a:p>
        </p:txBody>
      </p:sp>
      <p:sp>
        <p:nvSpPr>
          <p:cNvPr id="13" name="TextBox 12">
            <a:extLst>
              <a:ext uri="{FF2B5EF4-FFF2-40B4-BE49-F238E27FC236}">
                <a16:creationId xmlns:a16="http://schemas.microsoft.com/office/drawing/2014/main" id="{079F3F37-F1FE-404B-BDE9-C23FFC6B79EE}"/>
              </a:ext>
            </a:extLst>
          </p:cNvPr>
          <p:cNvSpPr txBox="1"/>
          <p:nvPr/>
        </p:nvSpPr>
        <p:spPr>
          <a:xfrm>
            <a:off x="4096521" y="467823"/>
            <a:ext cx="360040" cy="461665"/>
          </a:xfrm>
          <a:prstGeom prst="rect">
            <a:avLst/>
          </a:prstGeom>
          <a:noFill/>
        </p:spPr>
        <p:txBody>
          <a:bodyPr wrap="square">
            <a:spAutoFit/>
          </a:bodyPr>
          <a:lstStyle/>
          <a:p>
            <a:r>
              <a:rPr lang="en-US" sz="2400" i="1" dirty="0">
                <a:solidFill>
                  <a:srgbClr val="3215EB"/>
                </a:solidFill>
                <a:latin typeface="Liberation Mono"/>
              </a:rPr>
              <a:t>b</a:t>
            </a:r>
            <a:endParaRPr lang="en-IN" i="1" dirty="0"/>
          </a:p>
        </p:txBody>
      </p:sp>
    </p:spTree>
    <p:extLst>
      <p:ext uri="{BB962C8B-B14F-4D97-AF65-F5344CB8AC3E}">
        <p14:creationId xmlns:p14="http://schemas.microsoft.com/office/powerpoint/2010/main" val="1652007154"/>
      </p:ext>
    </p:extLst>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191344" y="1340768"/>
            <a:ext cx="11881318"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1277273"/>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left side of the IN() predicate, the row constructor contains only column references.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right side of the IN() predicate, there is more than one row constructor.</a:t>
            </a:r>
            <a:endParaRPr lang="en-IN" dirty="0">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191344" y="1761474"/>
            <a:ext cx="11881319" cy="5173852"/>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False</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1</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10</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7788</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chemeClr val="tx1"/>
                </a:solidFill>
              </a:rPr>
              <a:t>empno, mgr</a:t>
            </a:r>
            <a:r>
              <a:rPr lang="en-IN" dirty="0">
                <a:solidFill>
                  <a:schemeClr val="bg1">
                    <a:lumMod val="65000"/>
                  </a:schemeClr>
                </a:solidFill>
              </a:rPr>
              <a:t>)</a:t>
            </a:r>
            <a:r>
              <a:rPr lang="en-IN" dirty="0">
                <a:solidFill>
                  <a:schemeClr val="tx1"/>
                </a:solidFill>
              </a:rPr>
              <a:t>;   </a:t>
            </a:r>
            <a:r>
              <a:rPr lang="en-IN" dirty="0">
                <a:solidFill>
                  <a:srgbClr val="FD8603"/>
                </a:solidFill>
                <a:sym typeface="Wingdings" panose="05000000000000000000" pitchFamily="2" charset="2"/>
              </a:rPr>
              <a:t></a:t>
            </a:r>
            <a:endParaRPr lang="en-IN" b="1" dirty="0">
              <a:solidFill>
                <a:srgbClr val="FD8603"/>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 </a:t>
            </a:r>
            <a:r>
              <a:rPr lang="en-IN" dirty="0">
                <a:solidFill>
                  <a:schemeClr val="accent4">
                    <a:lumMod val="50000"/>
                  </a:schemeClr>
                </a:solidFill>
                <a:cs typeface="+mn-cs"/>
              </a:rPr>
              <a:t>False</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OR</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AND</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a:t>
            </a:r>
            <a:r>
              <a:rPr lang="en-US" dirty="0">
                <a:solidFill>
                  <a:schemeClr val="bg1">
                    <a:lumMod val="65000"/>
                  </a:schemeClr>
                </a:solidFill>
              </a:rPr>
              <a:t>)</a:t>
            </a:r>
            <a:r>
              <a:rPr lang="en-US"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 </a:t>
            </a:r>
            <a:r>
              <a:rPr lang="en-US" dirty="0"/>
              <a:t>WHERE</a:t>
            </a:r>
            <a:r>
              <a:rPr lang="en-US" dirty="0">
                <a:solidFill>
                  <a:schemeClr val="tx1"/>
                </a:solidFill>
              </a:rPr>
              <a:t> dname=</a:t>
            </a:r>
            <a:r>
              <a:rPr lang="en-US" dirty="0">
                <a:solidFill>
                  <a:srgbClr val="669900"/>
                </a:solidFill>
                <a:cs typeface="+mn-cs"/>
              </a:rPr>
              <a:t>'accounting'</a:t>
            </a:r>
            <a:r>
              <a:rPr lang="en-US" dirty="0">
                <a:solidFill>
                  <a:schemeClr val="bg1">
                    <a:lumMod val="65000"/>
                  </a:schemeClr>
                </a:solidFill>
              </a:rPr>
              <a:t>)</a:t>
            </a:r>
            <a:r>
              <a:rPr lang="en-US" dirty="0">
                <a:solidFill>
                  <a:schemeClr val="tx1"/>
                </a:solidFill>
              </a:rPr>
              <a:t>;</a:t>
            </a:r>
            <a:endParaRPr lang="en-IN" dirty="0">
              <a:solidFill>
                <a:schemeClr val="tx1"/>
              </a:solidFill>
            </a:endParaRP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TABLE</a:t>
            </a:r>
            <a:r>
              <a:rPr lang="en-US" dirty="0">
                <a:solidFill>
                  <a:schemeClr val="tx1"/>
                </a:solidFill>
              </a:rPr>
              <a:t> deptno); </a:t>
            </a:r>
            <a:r>
              <a:rPr lang="en-US" dirty="0">
                <a:solidFill>
                  <a:srgbClr val="FF0000"/>
                </a:solidFill>
                <a:cs typeface="+mn-cs"/>
              </a:rPr>
              <a:t># ERROR 1241 (21000): Operand should contain 1 column(s)</a:t>
            </a:r>
            <a:endParaRPr lang="en-IN" dirty="0">
              <a:solidFill>
                <a:srgbClr val="FF0000"/>
              </a:solidFill>
              <a:cs typeface="+mn-cs"/>
            </a:endParaRP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419DB822-6466-9A96-A352-99FB6E1F04BC}"/>
              </a:ext>
            </a:extLst>
          </p:cNvPr>
          <p:cNvSpPr txBox="1"/>
          <p:nvPr/>
        </p:nvSpPr>
        <p:spPr>
          <a:xfrm>
            <a:off x="6600055" y="1761474"/>
            <a:ext cx="5400601" cy="464871"/>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4">
                    <a:lumMod val="50000"/>
                  </a:schemeClr>
                </a:solidFill>
                <a:cs typeface="+mn-cs"/>
              </a:rPr>
              <a:t>NOT</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chemeClr val="accent4">
                    <a:lumMod val="50000"/>
                  </a:schemeClr>
                </a:solidFill>
                <a:cs typeface="Arial" panose="020B0604020202020204" pitchFamily="34" charset="0"/>
              </a:rPr>
              <a:t>NULL</a:t>
            </a:r>
            <a:r>
              <a:rPr lang="en-IN" dirty="0">
                <a:solidFill>
                  <a:schemeClr val="bg1">
                    <a:lumMod val="65000"/>
                  </a:schemeClr>
                </a:solidFill>
              </a:rPr>
              <a:t>)</a:t>
            </a:r>
            <a:r>
              <a:rPr lang="en-IN" dirty="0">
                <a:solidFill>
                  <a:schemeClr val="tx1"/>
                </a:solidFill>
              </a:rPr>
              <a:t>;</a:t>
            </a:r>
          </a:p>
        </p:txBody>
      </p:sp>
    </p:spTree>
    <p:extLst>
      <p:ext uri="{BB962C8B-B14F-4D97-AF65-F5344CB8AC3E}">
        <p14:creationId xmlns:p14="http://schemas.microsoft.com/office/powerpoint/2010/main" val="4122111172"/>
      </p:ext>
    </p:extLst>
  </p:cSld>
  <p:clrMapOvr>
    <a:masterClrMapping/>
  </p:clrMapOvr>
</p:sld>
</file>

<file path=ppt/slides/slide4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between</a:t>
            </a:r>
          </a:p>
        </p:txBody>
      </p:sp>
      <p:sp>
        <p:nvSpPr>
          <p:cNvPr id="5" name="TextBox 4">
            <a:extLst>
              <a:ext uri="{FF2B5EF4-FFF2-40B4-BE49-F238E27FC236}">
                <a16:creationId xmlns:a16="http://schemas.microsoft.com/office/drawing/2014/main" id="{53240AC3-BC05-4B3A-B03F-9624945E97DF}"/>
              </a:ext>
            </a:extLst>
          </p:cNvPr>
          <p:cNvSpPr txBox="1"/>
          <p:nvPr/>
        </p:nvSpPr>
        <p:spPr>
          <a:xfrm>
            <a:off x="1109446" y="3212976"/>
            <a:ext cx="9973108" cy="400110"/>
          </a:xfrm>
          <a:prstGeom prst="rect">
            <a:avLst/>
          </a:prstGeom>
          <a:noFill/>
        </p:spPr>
        <p:txBody>
          <a:bodyPr wrap="square">
            <a:spAutoFit/>
          </a:bodyPr>
          <a:lstStyle/>
          <a:p>
            <a:r>
              <a:rPr lang="en-US" sz="2000" dirty="0">
                <a:latin typeface="Palatino Linotype" panose="02040502050505030304" pitchFamily="18" charset="0"/>
              </a:rPr>
              <a:t>The BETWEEN operator is a logical operator that allows you to specify a range to test.</a:t>
            </a:r>
            <a:endParaRPr lang="en-IN" sz="2000" dirty="0">
              <a:latin typeface="Palatino Linotype" panose="02040502050505030304" pitchFamily="18" charset="0"/>
            </a:endParaRPr>
          </a:p>
        </p:txBody>
      </p:sp>
      <p:grpSp>
        <p:nvGrpSpPr>
          <p:cNvPr id="6" name="Group 5">
            <a:extLst>
              <a:ext uri="{FF2B5EF4-FFF2-40B4-BE49-F238E27FC236}">
                <a16:creationId xmlns:a16="http://schemas.microsoft.com/office/drawing/2014/main" id="{2FB66BBF-3166-4C89-AB45-C415906A8178}"/>
              </a:ext>
            </a:extLst>
          </p:cNvPr>
          <p:cNvGrpSpPr/>
          <p:nvPr/>
        </p:nvGrpSpPr>
        <p:grpSpPr>
          <a:xfrm>
            <a:off x="844498" y="259200"/>
            <a:ext cx="10539515" cy="1502780"/>
            <a:chOff x="844498" y="423911"/>
            <a:chExt cx="10539515" cy="1502780"/>
          </a:xfrm>
        </p:grpSpPr>
        <p:grpSp>
          <p:nvGrpSpPr>
            <p:cNvPr id="23" name="Group 22">
              <a:extLst>
                <a:ext uri="{FF2B5EF4-FFF2-40B4-BE49-F238E27FC236}">
                  <a16:creationId xmlns:a16="http://schemas.microsoft.com/office/drawing/2014/main" id="{103B31F0-6F85-4E7D-9DCA-A3DCAA68A6C6}"/>
                </a:ext>
              </a:extLst>
            </p:cNvPr>
            <p:cNvGrpSpPr/>
            <p:nvPr/>
          </p:nvGrpSpPr>
          <p:grpSpPr>
            <a:xfrm>
              <a:off x="844498" y="423911"/>
              <a:ext cx="10539515" cy="1502780"/>
              <a:chOff x="695400" y="1745011"/>
              <a:chExt cx="10539515" cy="1502780"/>
            </a:xfrm>
          </p:grpSpPr>
          <p:grpSp>
            <p:nvGrpSpPr>
              <p:cNvPr id="24" name="Group 23">
                <a:extLst>
                  <a:ext uri="{FF2B5EF4-FFF2-40B4-BE49-F238E27FC236}">
                    <a16:creationId xmlns:a16="http://schemas.microsoft.com/office/drawing/2014/main" id="{0DC1A97C-7497-4B13-BB40-E8F0F6FA3696}"/>
                  </a:ext>
                </a:extLst>
              </p:cNvPr>
              <p:cNvGrpSpPr/>
              <p:nvPr/>
            </p:nvGrpSpPr>
            <p:grpSpPr>
              <a:xfrm>
                <a:off x="695400" y="1835990"/>
                <a:ext cx="8952150" cy="1329934"/>
                <a:chOff x="267703" y="1600839"/>
                <a:chExt cx="8952150" cy="1329934"/>
              </a:xfrm>
            </p:grpSpPr>
            <p:grpSp>
              <p:nvGrpSpPr>
                <p:cNvPr id="27" name="Group 26">
                  <a:extLst>
                    <a:ext uri="{FF2B5EF4-FFF2-40B4-BE49-F238E27FC236}">
                      <a16:creationId xmlns:a16="http://schemas.microsoft.com/office/drawing/2014/main" id="{0CD241A4-EE57-4899-8CBA-158B1FEDE56C}"/>
                    </a:ext>
                  </a:extLst>
                </p:cNvPr>
                <p:cNvGrpSpPr/>
                <p:nvPr/>
              </p:nvGrpSpPr>
              <p:grpSpPr>
                <a:xfrm>
                  <a:off x="1651832" y="1600839"/>
                  <a:ext cx="7568021" cy="1329934"/>
                  <a:chOff x="31591" y="1556792"/>
                  <a:chExt cx="7568021" cy="1329934"/>
                </a:xfrm>
              </p:grpSpPr>
              <p:grpSp>
                <p:nvGrpSpPr>
                  <p:cNvPr id="34" name="Group 33">
                    <a:extLst>
                      <a:ext uri="{FF2B5EF4-FFF2-40B4-BE49-F238E27FC236}">
                        <a16:creationId xmlns:a16="http://schemas.microsoft.com/office/drawing/2014/main" id="{6CD2C038-9662-458F-A7FA-C7E3651FD30E}"/>
                      </a:ext>
                    </a:extLst>
                  </p:cNvPr>
                  <p:cNvGrpSpPr/>
                  <p:nvPr/>
                </p:nvGrpSpPr>
                <p:grpSpPr>
                  <a:xfrm>
                    <a:off x="669977" y="1556792"/>
                    <a:ext cx="2736304" cy="1329934"/>
                    <a:chOff x="669977" y="1556792"/>
                    <a:chExt cx="2736304" cy="1329934"/>
                  </a:xfrm>
                </p:grpSpPr>
                <p:sp>
                  <p:nvSpPr>
                    <p:cNvPr id="38" name="Rectangle 37">
                      <a:extLst>
                        <a:ext uri="{FF2B5EF4-FFF2-40B4-BE49-F238E27FC236}">
                          <a16:creationId xmlns:a16="http://schemas.microsoft.com/office/drawing/2014/main" id="{A92DF07E-2893-4708-8D5F-B3C8448DDDC0}"/>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TextBox 38">
                      <a:extLst>
                        <a:ext uri="{FF2B5EF4-FFF2-40B4-BE49-F238E27FC236}">
                          <a16:creationId xmlns:a16="http://schemas.microsoft.com/office/drawing/2014/main" id="{DEF7CA78-B077-45E9-9B3F-58438BA29B6C}"/>
                        </a:ext>
                      </a:extLst>
                    </p:cNvPr>
                    <p:cNvSpPr txBox="1"/>
                    <p:nvPr/>
                  </p:nvSpPr>
                  <p:spPr>
                    <a:xfrm>
                      <a:off x="699365" y="1620089"/>
                      <a:ext cx="2706916"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40" name="TextBox 39">
                      <a:extLst>
                        <a:ext uri="{FF2B5EF4-FFF2-40B4-BE49-F238E27FC236}">
                          <a16:creationId xmlns:a16="http://schemas.microsoft.com/office/drawing/2014/main" id="{599DC989-595C-4474-B3CF-3B60322EFC64}"/>
                        </a:ext>
                      </a:extLst>
                    </p:cNvPr>
                    <p:cNvSpPr txBox="1"/>
                    <p:nvPr/>
                  </p:nvSpPr>
                  <p:spPr>
                    <a:xfrm>
                      <a:off x="689275" y="2178840"/>
                      <a:ext cx="271700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sal BETWEEN</a:t>
                      </a:r>
                    </a:p>
                    <a:p>
                      <a:pPr algn="ctr"/>
                      <a:r>
                        <a:rPr lang="en-IN" sz="2000" dirty="0">
                          <a:latin typeface="Liberation Mono"/>
                          <a:cs typeface="Arial" panose="020B0604020202020204" pitchFamily="34" charset="0"/>
                        </a:rPr>
                        <a:t>1000 </a:t>
                      </a:r>
                      <a:r>
                        <a:rPr lang="en-IN" sz="2000" dirty="0">
                          <a:solidFill>
                            <a:schemeClr val="accent5">
                              <a:lumMod val="75000"/>
                            </a:schemeClr>
                          </a:solidFill>
                          <a:latin typeface="Liberation Mono"/>
                          <a:cs typeface="Arial" panose="020B0604020202020204" pitchFamily="34" charset="0"/>
                        </a:rPr>
                        <a:t>and</a:t>
                      </a:r>
                      <a:r>
                        <a:rPr lang="en-IN" sz="2000" dirty="0">
                          <a:latin typeface="Liberation Mono"/>
                          <a:cs typeface="Arial" panose="020B0604020202020204" pitchFamily="34" charset="0"/>
                        </a:rPr>
                        <a:t> 3000</a:t>
                      </a:r>
                      <a:endParaRPr lang="en-IN" sz="2000" dirty="0"/>
                    </a:p>
                  </p:txBody>
                </p:sp>
              </p:grpSp>
              <p:sp>
                <p:nvSpPr>
                  <p:cNvPr id="35" name="Arrow: Right 34">
                    <a:extLst>
                      <a:ext uri="{FF2B5EF4-FFF2-40B4-BE49-F238E27FC236}">
                        <a16:creationId xmlns:a16="http://schemas.microsoft.com/office/drawing/2014/main" id="{A6F2A5AE-D4F1-4684-A31D-945F39AEF66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6" name="Arrow: Right 35">
                    <a:extLst>
                      <a:ext uri="{FF2B5EF4-FFF2-40B4-BE49-F238E27FC236}">
                        <a16:creationId xmlns:a16="http://schemas.microsoft.com/office/drawing/2014/main" id="{7A457CF7-701C-4564-A2FD-88312731187A}"/>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Arrow: Right 36">
                    <a:extLst>
                      <a:ext uri="{FF2B5EF4-FFF2-40B4-BE49-F238E27FC236}">
                        <a16:creationId xmlns:a16="http://schemas.microsoft.com/office/drawing/2014/main" id="{FFBA6EE0-2D0B-4F9D-B013-D6E235846498}"/>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28" name="Flowchart: Magnetic Disk 27">
                  <a:extLst>
                    <a:ext uri="{FF2B5EF4-FFF2-40B4-BE49-F238E27FC236}">
                      <a16:creationId xmlns:a16="http://schemas.microsoft.com/office/drawing/2014/main" id="{998942FF-9206-4A2B-A495-022DE64419A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1" name="Rectangle 30">
                  <a:extLst>
                    <a:ext uri="{FF2B5EF4-FFF2-40B4-BE49-F238E27FC236}">
                      <a16:creationId xmlns:a16="http://schemas.microsoft.com/office/drawing/2014/main" id="{BFC8E7F5-E12A-4ECB-855F-1C116F06A972}"/>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BCECA22F-1B07-4CFC-83DF-1BF8BC67283C}"/>
                    </a:ext>
                  </a:extLst>
                </p:cNvPr>
                <p:cNvSpPr txBox="1"/>
                <p:nvPr/>
              </p:nvSpPr>
              <p:spPr>
                <a:xfrm>
                  <a:off x="5838992" y="1672970"/>
                  <a:ext cx="2689870"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3" name="TextBox 32">
                  <a:extLst>
                    <a:ext uri="{FF2B5EF4-FFF2-40B4-BE49-F238E27FC236}">
                      <a16:creationId xmlns:a16="http://schemas.microsoft.com/office/drawing/2014/main" id="{50EC0E66-6258-493B-99CC-6637A8EF0B95}"/>
                    </a:ext>
                  </a:extLst>
                </p:cNvPr>
                <p:cNvSpPr txBox="1"/>
                <p:nvPr/>
              </p:nvSpPr>
              <p:spPr>
                <a:xfrm>
                  <a:off x="5834222" y="2229960"/>
                  <a:ext cx="2689870"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5" name="Oval 24">
                <a:extLst>
                  <a:ext uri="{FF2B5EF4-FFF2-40B4-BE49-F238E27FC236}">
                    <a16:creationId xmlns:a16="http://schemas.microsoft.com/office/drawing/2014/main" id="{CB32125E-D4A3-4818-8CB6-096BB52201E5}"/>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TextBox 25">
                <a:extLst>
                  <a:ext uri="{FF2B5EF4-FFF2-40B4-BE49-F238E27FC236}">
                    <a16:creationId xmlns:a16="http://schemas.microsoft.com/office/drawing/2014/main" id="{ED68C28C-BD21-4449-9B68-BA7A3AD2674E}"/>
                  </a:ext>
                </a:extLst>
              </p:cNvPr>
              <p:cNvSpPr txBox="1"/>
              <p:nvPr/>
            </p:nvSpPr>
            <p:spPr>
              <a:xfrm>
                <a:off x="9732135" y="2296346"/>
                <a:ext cx="150278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F9B912CA-311E-4A40-9619-64C5FA6CBFBA}"/>
                </a:ext>
              </a:extLst>
            </p:cNvPr>
            <p:cNvSpPr txBox="1"/>
            <p:nvPr/>
          </p:nvSpPr>
          <p:spPr>
            <a:xfrm>
              <a:off x="853064" y="44560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 name="TextBox 3">
              <a:extLst>
                <a:ext uri="{FF2B5EF4-FFF2-40B4-BE49-F238E27FC236}">
                  <a16:creationId xmlns:a16="http://schemas.microsoft.com/office/drawing/2014/main" id="{793C4F22-7F7D-4BF8-BB24-60394E6B6EBA}"/>
                </a:ext>
              </a:extLst>
            </p:cNvPr>
            <p:cNvSpPr txBox="1"/>
            <p:nvPr/>
          </p:nvSpPr>
          <p:spPr>
            <a:xfrm>
              <a:off x="848294" y="1266732"/>
              <a:ext cx="1277301"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9" name="TextBox 28">
            <a:extLst>
              <a:ext uri="{FF2B5EF4-FFF2-40B4-BE49-F238E27FC236}">
                <a16:creationId xmlns:a16="http://schemas.microsoft.com/office/drawing/2014/main" id="{BB4CD596-72FF-40C5-A6E3-25F48178439F}"/>
              </a:ext>
            </a:extLst>
          </p:cNvPr>
          <p:cNvSpPr txBox="1"/>
          <p:nvPr/>
        </p:nvSpPr>
        <p:spPr>
          <a:xfrm>
            <a:off x="262800" y="1726144"/>
            <a:ext cx="5425200" cy="1198800"/>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BETWEEN</a:t>
            </a:r>
            <a:r>
              <a:rPr lang="en-US" sz="2200" b="0" i="0" dirty="0">
                <a:solidFill>
                  <a:srgbClr val="000000"/>
                </a:solidFill>
                <a:effectLst/>
                <a:latin typeface="Liberation Mono"/>
              </a:rPr>
              <a:t> </a:t>
            </a:r>
            <a:r>
              <a:rPr lang="en-US" sz="2200" b="0" i="1" dirty="0">
                <a:solidFill>
                  <a:srgbClr val="000000"/>
                </a:solidFill>
                <a:effectLst/>
                <a:latin typeface="Liberation Mono"/>
              </a:rPr>
              <a:t>expr1 </a:t>
            </a:r>
            <a:r>
              <a:rPr lang="en-US" sz="2200" dirty="0">
                <a:solidFill>
                  <a:srgbClr val="A67F59"/>
                </a:solidFill>
                <a:latin typeface="Liberation Mono"/>
              </a:rPr>
              <a:t>AND</a:t>
            </a:r>
            <a:r>
              <a:rPr lang="en-US" sz="2200" b="0" i="1" dirty="0">
                <a:solidFill>
                  <a:srgbClr val="000000"/>
                </a:solidFill>
                <a:effectLst/>
                <a:latin typeface="Liberation Mono"/>
              </a:rPr>
              <a:t> expr2</a:t>
            </a:r>
            <a:endParaRPr lang="en-IN" sz="2200" dirty="0">
              <a:latin typeface="Liberation Mono"/>
            </a:endParaRPr>
          </a:p>
        </p:txBody>
      </p:sp>
      <p:graphicFrame>
        <p:nvGraphicFramePr>
          <p:cNvPr id="42" name="Table 41">
            <a:extLst>
              <a:ext uri="{FF2B5EF4-FFF2-40B4-BE49-F238E27FC236}">
                <a16:creationId xmlns:a16="http://schemas.microsoft.com/office/drawing/2014/main" id="{8AFEE8F0-1C24-49BB-8C3D-A8466EDE029C}"/>
              </a:ext>
            </a:extLst>
          </p:cNvPr>
          <p:cNvGraphicFramePr>
            <a:graphicFrameLocks noGrp="1"/>
          </p:cNvGraphicFramePr>
          <p:nvPr>
            <p:extLst>
              <p:ext uri="{D42A27DB-BD31-4B8C-83A1-F6EECF244321}">
                <p14:modId xmlns:p14="http://schemas.microsoft.com/office/powerpoint/2010/main" val="1673740743"/>
              </p:ext>
            </p:extLst>
          </p:nvPr>
        </p:nvGraphicFramePr>
        <p:xfrm>
          <a:off x="1208531" y="3861048"/>
          <a:ext cx="6053268" cy="426720"/>
        </p:xfrm>
        <a:graphic>
          <a:graphicData uri="http://schemas.openxmlformats.org/drawingml/2006/table">
            <a:tbl>
              <a:tblPr/>
              <a:tblGrid>
                <a:gridCol w="2740900">
                  <a:extLst>
                    <a:ext uri="{9D8B030D-6E8A-4147-A177-3AD203B41FA5}">
                      <a16:colId xmlns:a16="http://schemas.microsoft.com/office/drawing/2014/main" val="4286149586"/>
                    </a:ext>
                  </a:extLst>
                </a:gridCol>
                <a:gridCol w="3312368">
                  <a:extLst>
                    <a:ext uri="{9D8B030D-6E8A-4147-A177-3AD203B41FA5}">
                      <a16:colId xmlns:a16="http://schemas.microsoft.com/office/drawing/2014/main" val="438706697"/>
                    </a:ext>
                  </a:extLst>
                </a:gridCol>
              </a:tblGrid>
              <a:tr h="318624">
                <a:tc>
                  <a:txBody>
                    <a:bodyPr/>
                    <a:lstStyle/>
                    <a:p>
                      <a:pPr fontAlgn="t"/>
                      <a:r>
                        <a:rPr lang="en-US" b="1" dirty="0">
                          <a:effectLst/>
                          <a:latin typeface="Palatino Linotype" panose="02040502050505030304" pitchFamily="18" charset="0"/>
                        </a:rPr>
                        <a:t>A</a:t>
                      </a:r>
                      <a:r>
                        <a:rPr lang="en-US" dirty="0">
                          <a:effectLst/>
                          <a:latin typeface="Palatino Linotype" panose="02040502050505030304" pitchFamily="18" charset="0"/>
                        </a:rPr>
                        <a:t> BETWEEN </a:t>
                      </a:r>
                      <a:r>
                        <a:rPr lang="en-US" b="1" i="1" dirty="0">
                          <a:effectLst/>
                          <a:latin typeface="Palatino Linotype" panose="02040502050505030304" pitchFamily="18" charset="0"/>
                        </a:rPr>
                        <a:t>B</a:t>
                      </a:r>
                      <a:r>
                        <a:rPr lang="en-US" dirty="0">
                          <a:effectLst/>
                          <a:latin typeface="Palatino Linotype" panose="02040502050505030304" pitchFamily="18" charset="0"/>
                        </a:rPr>
                        <a:t> AND </a:t>
                      </a:r>
                      <a:r>
                        <a:rPr lang="en-US" b="1" i="1" dirty="0">
                          <a:effectLst/>
                          <a:latin typeface="Palatino Linotype" panose="02040502050505030304" pitchFamily="18" charset="0"/>
                        </a:rPr>
                        <a: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between B and 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graphicFrame>
        <p:nvGraphicFramePr>
          <p:cNvPr id="7" name="Table 2">
            <a:extLst>
              <a:ext uri="{FF2B5EF4-FFF2-40B4-BE49-F238E27FC236}">
                <a16:creationId xmlns:a16="http://schemas.microsoft.com/office/drawing/2014/main" id="{F80028B3-0108-2507-0BB7-ED35DA0CE285}"/>
              </a:ext>
            </a:extLst>
          </p:cNvPr>
          <p:cNvGraphicFramePr>
            <a:graphicFrameLocks noGrp="1"/>
          </p:cNvGraphicFramePr>
          <p:nvPr>
            <p:extLst>
              <p:ext uri="{D42A27DB-BD31-4B8C-83A1-F6EECF244321}">
                <p14:modId xmlns:p14="http://schemas.microsoft.com/office/powerpoint/2010/main" val="3684998349"/>
              </p:ext>
            </p:extLst>
          </p:nvPr>
        </p:nvGraphicFramePr>
        <p:xfrm>
          <a:off x="292698"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bl>
          </a:graphicData>
        </a:graphic>
      </p:graphicFrame>
      <p:sp>
        <p:nvSpPr>
          <p:cNvPr id="8" name="TextBox 7">
            <a:extLst>
              <a:ext uri="{FF2B5EF4-FFF2-40B4-BE49-F238E27FC236}">
                <a16:creationId xmlns:a16="http://schemas.microsoft.com/office/drawing/2014/main" id="{8F9EC3D3-2492-47F3-AB2D-425C0BA4F195}"/>
              </a:ext>
            </a:extLst>
          </p:cNvPr>
          <p:cNvSpPr txBox="1"/>
          <p:nvPr/>
        </p:nvSpPr>
        <p:spPr>
          <a:xfrm>
            <a:off x="304113" y="4509120"/>
            <a:ext cx="2592288" cy="400110"/>
          </a:xfrm>
          <a:prstGeom prst="rect">
            <a:avLst/>
          </a:prstGeom>
          <a:noFill/>
        </p:spPr>
        <p:txBody>
          <a:bodyPr wrap="square">
            <a:spAutoFit/>
          </a:bodyPr>
          <a:lstStyle/>
          <a:p>
            <a:r>
              <a:rPr lang="en-IN" sz="2000" b="1" dirty="0">
                <a:latin typeface="Liberation Mono"/>
              </a:rPr>
              <a:t>Table:- betweenSalary</a:t>
            </a:r>
            <a:endParaRPr lang="en-IN" dirty="0">
              <a:solidFill>
                <a:srgbClr val="0070C0"/>
              </a:solidFill>
            </a:endParaRPr>
          </a:p>
        </p:txBody>
      </p:sp>
      <p:graphicFrame>
        <p:nvGraphicFramePr>
          <p:cNvPr id="11" name="Table 2">
            <a:extLst>
              <a:ext uri="{FF2B5EF4-FFF2-40B4-BE49-F238E27FC236}">
                <a16:creationId xmlns:a16="http://schemas.microsoft.com/office/drawing/2014/main" id="{CFB88378-171D-68B3-E72D-D07F6C049777}"/>
              </a:ext>
            </a:extLst>
          </p:cNvPr>
          <p:cNvGraphicFramePr>
            <a:graphicFrameLocks noGrp="1"/>
          </p:cNvGraphicFramePr>
          <p:nvPr>
            <p:extLst>
              <p:ext uri="{D42A27DB-BD31-4B8C-83A1-F6EECF244321}">
                <p14:modId xmlns:p14="http://schemas.microsoft.com/office/powerpoint/2010/main" val="3617267423"/>
              </p:ext>
            </p:extLst>
          </p:nvPr>
        </p:nvGraphicFramePr>
        <p:xfrm>
          <a:off x="3202006"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R1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R2</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7D2170"/>
                          </a:solidFill>
                          <a:latin typeface="Arial" panose="020B0604020202020204" pitchFamily="34" charset="0"/>
                          <a:cs typeface="Arial" panose="020B0604020202020204" pitchFamily="34" charset="0"/>
                        </a:rPr>
                        <a:t>1</a:t>
                      </a:r>
                    </a:p>
                  </a:txBody>
                  <a:tcPr/>
                </a:tc>
                <a:tc>
                  <a:txBody>
                    <a:bodyPr/>
                    <a:lstStyle/>
                    <a:p>
                      <a:pPr algn="ctr"/>
                      <a:r>
                        <a:rPr lang="en-IN" b="0" dirty="0">
                          <a:solidFill>
                            <a:srgbClr val="7D2170"/>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bl>
          </a:graphicData>
        </a:graphic>
      </p:graphicFrame>
      <p:sp>
        <p:nvSpPr>
          <p:cNvPr id="12" name="TextBox 11">
            <a:extLst>
              <a:ext uri="{FF2B5EF4-FFF2-40B4-BE49-F238E27FC236}">
                <a16:creationId xmlns:a16="http://schemas.microsoft.com/office/drawing/2014/main" id="{6736194F-3C87-DE79-05BB-066F0FBF7F25}"/>
              </a:ext>
            </a:extLst>
          </p:cNvPr>
          <p:cNvSpPr txBox="1"/>
          <p:nvPr/>
        </p:nvSpPr>
        <p:spPr>
          <a:xfrm>
            <a:off x="3215680" y="4509120"/>
            <a:ext cx="2592288"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4" name="TextBox 13">
            <a:extLst>
              <a:ext uri="{FF2B5EF4-FFF2-40B4-BE49-F238E27FC236}">
                <a16:creationId xmlns:a16="http://schemas.microsoft.com/office/drawing/2014/main" id="{66E0F815-9CA0-A279-34A0-9DBCCDE4E601}"/>
              </a:ext>
            </a:extLst>
          </p:cNvPr>
          <p:cNvSpPr txBox="1"/>
          <p:nvPr/>
        </p:nvSpPr>
        <p:spPr>
          <a:xfrm>
            <a:off x="260757" y="5973712"/>
            <a:ext cx="1159518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3000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betweenSalary;</a:t>
            </a:r>
          </a:p>
        </p:txBody>
      </p:sp>
    </p:spTree>
    <p:extLst>
      <p:ext uri="{BB962C8B-B14F-4D97-AF65-F5344CB8AC3E}">
        <p14:creationId xmlns:p14="http://schemas.microsoft.com/office/powerpoint/2010/main" val="3091431454"/>
      </p:ext>
    </p:extLst>
  </p:cSld>
  <p:clrMapOvr>
    <a:masterClrMapping/>
  </p:clrMapOvr>
</p:sld>
</file>

<file path=ppt/slides/slide4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628800"/>
            <a:ext cx="11305256" cy="1892826"/>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BETWEEN operator returns TRUE if the expression to test is greater than or equal to the value of the start_expression and less than or equal to the value of the end_expression.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greater than or equal to (</a:t>
            </a:r>
            <a:r>
              <a:rPr lang="en-US" b="1" dirty="0">
                <a:latin typeface="Arial" panose="020B0604020202020204" pitchFamily="34" charset="0"/>
                <a:cs typeface="Arial" panose="020B0604020202020204" pitchFamily="34" charset="0"/>
              </a:rPr>
              <a:t>&gt;=</a:t>
            </a:r>
            <a:r>
              <a:rPr lang="en-US" dirty="0">
                <a:latin typeface="Arial" panose="020B0604020202020204" pitchFamily="34" charset="0"/>
                <a:cs typeface="Arial" panose="020B0604020202020204" pitchFamily="34" charset="0"/>
              </a:rPr>
              <a:t>) and less than or equal to (</a:t>
            </a:r>
            <a:r>
              <a:rPr lang="en-US" b="1" dirty="0">
                <a:latin typeface="Arial" panose="020B0604020202020204" pitchFamily="34" charset="0"/>
                <a:cs typeface="Arial" panose="020B0604020202020204" pitchFamily="34" charset="0"/>
              </a:rPr>
              <a:t>&lt;=</a:t>
            </a:r>
            <a:r>
              <a:rPr lang="en-US" dirty="0">
                <a:latin typeface="Arial" panose="020B0604020202020204" pitchFamily="34" charset="0"/>
                <a:cs typeface="Arial" panose="020B0604020202020204" pitchFamily="34" charset="0"/>
              </a:rPr>
              <a:t>) to substitute the BETWEEN operator.</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71703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602128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F45E72C2-1E9C-4CA3-B994-5D0F88413CC7}"/>
              </a:ext>
            </a:extLst>
          </p:cNvPr>
          <p:cNvSpPr/>
          <p:nvPr/>
        </p:nvSpPr>
        <p:spPr>
          <a:xfrm>
            <a:off x="335361" y="1084674"/>
            <a:ext cx="8640959"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BETWEEN </a:t>
            </a:r>
            <a:r>
              <a:rPr lang="en-US" sz="2000" i="1" dirty="0">
                <a:solidFill>
                  <a:schemeClr val="tx1">
                    <a:lumMod val="65000"/>
                    <a:lumOff val="35000"/>
                  </a:schemeClr>
                </a:solidFill>
                <a:latin typeface="Liberation Mono"/>
                <a:cs typeface="Arial" panose="020B0604020202020204" pitchFamily="34" charset="0"/>
              </a:rPr>
              <a:t>start</a:t>
            </a:r>
            <a:r>
              <a:rPr lang="en-US" sz="2000" i="1" dirty="0">
                <a:solidFill>
                  <a:schemeClr val="tx2"/>
                </a:solidFill>
                <a:latin typeface="Liberation Mono"/>
                <a:cs typeface="Arial" panose="020B0604020202020204" pitchFamily="34" charset="0"/>
              </a:rPr>
              <a:t>_expression</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AND </a:t>
            </a:r>
            <a:r>
              <a:rPr lang="en-US" sz="2000" i="1" dirty="0">
                <a:solidFill>
                  <a:schemeClr val="tx2"/>
                </a:solidFill>
                <a:latin typeface="Liberation Mono"/>
                <a:cs typeface="Arial" panose="020B0604020202020204" pitchFamily="34" charset="0"/>
              </a:rPr>
              <a:t>end_expression</a:t>
            </a:r>
          </a:p>
        </p:txBody>
      </p:sp>
      <p:grpSp>
        <p:nvGrpSpPr>
          <p:cNvPr id="4" name="Group 3">
            <a:extLst>
              <a:ext uri="{FF2B5EF4-FFF2-40B4-BE49-F238E27FC236}">
                <a16:creationId xmlns:a16="http://schemas.microsoft.com/office/drawing/2014/main" id="{6A42C8E5-43A4-4A23-ACC4-F04B0879F79E}"/>
              </a:ext>
            </a:extLst>
          </p:cNvPr>
          <p:cNvGrpSpPr/>
          <p:nvPr/>
        </p:nvGrpSpPr>
        <p:grpSpPr>
          <a:xfrm>
            <a:off x="335360" y="4005064"/>
            <a:ext cx="11665296" cy="1624208"/>
            <a:chOff x="335360" y="4005064"/>
            <a:chExt cx="11665296" cy="1624208"/>
          </a:xfrm>
        </p:grpSpPr>
        <p:sp>
          <p:nvSpPr>
            <p:cNvPr id="9" name="Rectangle 8"/>
            <p:cNvSpPr/>
            <p:nvPr/>
          </p:nvSpPr>
          <p:spPr>
            <a:xfrm>
              <a:off x="335360" y="4005064"/>
              <a:ext cx="1166529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any input to the BETWEEN or NOT BETWEEN is NULL, then the result is UNKNOWN.</a:t>
              </a:r>
            </a:p>
            <a:p>
              <a:pPr marL="285750" indent="-285750">
                <a:buFont typeface="Arial" panose="020B0604020202020204" pitchFamily="34" charset="0"/>
                <a:buChar char="•"/>
              </a:pPr>
              <a:endParaRPr lang="en-US" sz="800" dirty="0">
                <a:solidFill>
                  <a:srgbClr val="FE1212"/>
                </a:solidFill>
                <a:latin typeface="Arial" panose="020B0604020202020204" pitchFamily="34" charset="0"/>
                <a:cs typeface="Arial" panose="020B0604020202020204" pitchFamily="34" charset="0"/>
              </a:endParaRPr>
            </a:p>
            <a:p>
              <a:r>
                <a:rPr lang="en-US" dirty="0">
                  <a:solidFill>
                    <a:srgbClr val="FE1212"/>
                  </a:solidFill>
                  <a:latin typeface="Arial" panose="020B0604020202020204" pitchFamily="34" charset="0"/>
                  <a:cs typeface="Arial" panose="020B0604020202020204" pitchFamily="34" charset="0"/>
                </a:rPr>
                <a:t>    e.g.</a:t>
              </a:r>
            </a:p>
            <a:p>
              <a:r>
                <a:rPr lang="en-IN" dirty="0">
                  <a:solidFill>
                    <a:srgbClr val="0077AA"/>
                  </a:solidFill>
                  <a:latin typeface="Liberation Mono"/>
                  <a:cs typeface="Arial" panose="020B0604020202020204" pitchFamily="34" charset="0"/>
                </a:rPr>
                <a:t>        SELET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BE5AD9FD-5B6C-4589-9F20-F1DA26DA44DA}"/>
                </a:ext>
              </a:extLst>
            </p:cNvPr>
            <p:cNvSpPr/>
            <p:nvPr/>
          </p:nvSpPr>
          <p:spPr>
            <a:xfrm>
              <a:off x="7867734" y="5085184"/>
              <a:ext cx="3772882"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47347994-EFFA-47E7-B28B-7D071F03957C}"/>
              </a:ext>
            </a:extLst>
          </p:cNvPr>
          <p:cNvSpPr txBox="1"/>
          <p:nvPr/>
        </p:nvSpPr>
        <p:spPr>
          <a:xfrm>
            <a:off x="311696" y="6165304"/>
            <a:ext cx="1130525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salespeople </a:t>
            </a:r>
            <a:r>
              <a:rPr lang="en-IN" dirty="0">
                <a:solidFill>
                  <a:srgbClr val="0077AA"/>
                </a:solidFill>
                <a:latin typeface="Liberation Mono"/>
                <a:cs typeface="Arial" panose="020B0604020202020204" pitchFamily="34" charset="0"/>
              </a:rPr>
              <a:t>WHERE</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0.1</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0.26</a:t>
            </a:r>
            <a:r>
              <a:rPr lang="en-IN" dirty="0">
                <a:latin typeface="Liberation Mono"/>
              </a:rPr>
              <a:t>;</a:t>
            </a:r>
          </a:p>
        </p:txBody>
      </p:sp>
      <p:sp>
        <p:nvSpPr>
          <p:cNvPr id="14" name="TextBox 13">
            <a:extLst>
              <a:ext uri="{FF2B5EF4-FFF2-40B4-BE49-F238E27FC236}">
                <a16:creationId xmlns:a16="http://schemas.microsoft.com/office/drawing/2014/main" id="{7A81C9D6-756A-46B7-AF34-F5BCEEEE86EF}"/>
              </a:ext>
            </a:extLst>
          </p:cNvPr>
          <p:cNvSpPr txBox="1"/>
          <p:nvPr/>
        </p:nvSpPr>
        <p:spPr>
          <a:xfrm>
            <a:off x="6384031" y="547200"/>
            <a:ext cx="5807969"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BETWEEN</a:t>
            </a:r>
            <a:r>
              <a:rPr lang="en-IN" sz="2000" dirty="0">
                <a:latin typeface="Liberation Mono"/>
              </a:rPr>
              <a:t> </a:t>
            </a:r>
            <a:r>
              <a:rPr lang="en-IN" sz="2000" dirty="0">
                <a:solidFill>
                  <a:schemeClr val="bg1">
                    <a:lumMod val="65000"/>
                  </a:schemeClr>
                </a:solidFill>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41C60C"/>
                </a:solidFill>
                <a:latin typeface="Liberation Mono"/>
              </a:rPr>
              <a:t>– Illegal</a:t>
            </a:r>
          </a:p>
        </p:txBody>
      </p:sp>
    </p:spTree>
    <p:extLst>
      <p:ext uri="{BB962C8B-B14F-4D97-AF65-F5344CB8AC3E}">
        <p14:creationId xmlns:p14="http://schemas.microsoft.com/office/powerpoint/2010/main" val="2098343511"/>
      </p:ext>
    </p:extLst>
  </p:cSld>
  <p:clrMapOvr>
    <a:masterClrMapping/>
  </p:clrMapOvr>
</p:sld>
</file>

<file path=ppt/slides/slide4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99428"/>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a:t>
            </a:r>
          </a:p>
        </p:txBody>
      </p:sp>
      <p:pic>
        <p:nvPicPr>
          <p:cNvPr id="6" name="Picture 5">
            <a:extLst>
              <a:ext uri="{FF2B5EF4-FFF2-40B4-BE49-F238E27FC236}">
                <a16:creationId xmlns:a16="http://schemas.microsoft.com/office/drawing/2014/main" id="{E7A16412-FD6E-4F36-9A60-0B8DA8EC1083}"/>
              </a:ext>
            </a:extLst>
          </p:cNvPr>
          <p:cNvPicPr>
            <a:picLocks noChangeAspect="1"/>
          </p:cNvPicPr>
          <p:nvPr/>
        </p:nvPicPr>
        <p:blipFill>
          <a:blip r:embed="rId2"/>
          <a:stretch>
            <a:fillRect/>
          </a:stretch>
        </p:blipFill>
        <p:spPr>
          <a:xfrm>
            <a:off x="370984" y="1635047"/>
            <a:ext cx="8640000" cy="3954193"/>
          </a:xfrm>
          <a:prstGeom prst="rect">
            <a:avLst/>
          </a:prstGeom>
        </p:spPr>
      </p:pic>
    </p:spTree>
    <p:extLst>
      <p:ext uri="{BB962C8B-B14F-4D97-AF65-F5344CB8AC3E}">
        <p14:creationId xmlns:p14="http://schemas.microsoft.com/office/powerpoint/2010/main" val="2524767223"/>
      </p:ext>
    </p:extLst>
  </p:cSld>
  <p:clrMapOvr>
    <a:masterClrMapping/>
  </p:clrMapOvr>
</p:sld>
</file>

<file path=ppt/slides/slide4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3" name="TextBox 22">
            <a:extLst>
              <a:ext uri="{FF2B5EF4-FFF2-40B4-BE49-F238E27FC236}">
                <a16:creationId xmlns:a16="http://schemas.microsoft.com/office/drawing/2014/main" id="{C0ECD6F8-6FF8-4DA8-B833-578FD0E51221}"/>
              </a:ext>
            </a:extLst>
          </p:cNvPr>
          <p:cNvSpPr txBox="1"/>
          <p:nvPr/>
        </p:nvSpPr>
        <p:spPr>
          <a:xfrm>
            <a:off x="262800" y="1858179"/>
            <a:ext cx="6228693" cy="1138773"/>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LIKE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0077AA"/>
                </a:solidFill>
                <a:effectLst/>
                <a:latin typeface="Liberation Mono"/>
              </a:rPr>
              <a:t>ESCAPE</a:t>
            </a:r>
            <a:r>
              <a:rPr lang="en-US" sz="2200" b="0" i="0" dirty="0">
                <a:solidFill>
                  <a:srgbClr val="000000"/>
                </a:solidFill>
                <a:effectLst/>
                <a:latin typeface="Liberation Mono"/>
              </a:rPr>
              <a:t> </a:t>
            </a:r>
            <a:r>
              <a:rPr lang="en-US" sz="2200" b="0" i="1" dirty="0">
                <a:solidFill>
                  <a:srgbClr val="000000"/>
                </a:solidFill>
                <a:effectLst/>
                <a:latin typeface="Liberation Mono"/>
              </a:rPr>
              <a:t>char</a:t>
            </a:r>
            <a:r>
              <a:rPr lang="en-US" sz="2200" b="0" i="0" dirty="0">
                <a:effectLst/>
                <a:latin typeface="Liberation Mono"/>
              </a:rPr>
              <a:t>]</a:t>
            </a:r>
          </a:p>
          <a:p>
            <a:pPr marL="531813"/>
            <a:r>
              <a:rPr lang="en-US" sz="2200" dirty="0">
                <a:solidFill>
                  <a:srgbClr val="DD4A68"/>
                </a:solidFill>
                <a:latin typeface="Liberation Mono"/>
              </a:rPr>
              <a:t>REGEXP_LIKE</a:t>
            </a:r>
            <a:r>
              <a:rPr lang="en-US" sz="2200" dirty="0">
                <a:latin typeface="Liberation Mono"/>
              </a:rPr>
              <a:t>(</a:t>
            </a:r>
            <a:r>
              <a:rPr lang="en-US" sz="2200" i="1" dirty="0">
                <a:solidFill>
                  <a:srgbClr val="000000"/>
                </a:solidFill>
                <a:latin typeface="Liberation Mono"/>
              </a:rPr>
              <a:t>expr</a:t>
            </a:r>
            <a:r>
              <a:rPr lang="en-US" sz="2200" dirty="0">
                <a:latin typeface="Liberation Mono"/>
              </a:rPr>
              <a:t>, </a:t>
            </a:r>
            <a:r>
              <a:rPr lang="en-US" sz="2200" i="1" dirty="0">
                <a:solidFill>
                  <a:srgbClr val="000000"/>
                </a:solidFill>
                <a:latin typeface="Liberation Mono"/>
              </a:rPr>
              <a:t>pattern</a:t>
            </a:r>
            <a:r>
              <a:rPr lang="en-US" sz="2200" dirty="0">
                <a:latin typeface="Liberation Mono"/>
              </a:rPr>
              <a:t>[, match_type]) </a:t>
            </a:r>
            <a:endParaRPr lang="en-IN" sz="2200" dirty="0"/>
          </a:p>
        </p:txBody>
      </p:sp>
      <p:sp>
        <p:nvSpPr>
          <p:cNvPr id="2" name="Title 1"/>
          <p:cNvSpPr txBox="1">
            <a:spLocks/>
          </p:cNvSpPr>
          <p:nvPr/>
        </p:nvSpPr>
        <p:spPr>
          <a:xfrm>
            <a:off x="2427150" y="2274441"/>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like</a:t>
            </a:r>
          </a:p>
        </p:txBody>
      </p:sp>
      <p:sp>
        <p:nvSpPr>
          <p:cNvPr id="5" name="TextBox 4">
            <a:extLst>
              <a:ext uri="{FF2B5EF4-FFF2-40B4-BE49-F238E27FC236}">
                <a16:creationId xmlns:a16="http://schemas.microsoft.com/office/drawing/2014/main" id="{53240AC3-BC05-4B3A-B03F-9624945E97DF}"/>
              </a:ext>
            </a:extLst>
          </p:cNvPr>
          <p:cNvSpPr txBox="1"/>
          <p:nvPr/>
        </p:nvSpPr>
        <p:spPr>
          <a:xfrm>
            <a:off x="299356" y="3284984"/>
            <a:ext cx="11593288" cy="400110"/>
          </a:xfrm>
          <a:prstGeom prst="rect">
            <a:avLst/>
          </a:prstGeom>
          <a:noFill/>
        </p:spPr>
        <p:txBody>
          <a:bodyPr wrap="square">
            <a:spAutoFit/>
          </a:bodyPr>
          <a:lstStyle/>
          <a:p>
            <a:r>
              <a:rPr lang="en-US" sz="2000" dirty="0">
                <a:latin typeface="Palatino Linotype" panose="02040502050505030304" pitchFamily="18" charset="0"/>
              </a:rPr>
              <a:t>The LIKE operator is a logical operator that tests whether a string contains a specified pattern or not.</a:t>
            </a:r>
            <a:endParaRPr lang="en-IN" sz="2000" dirty="0">
              <a:latin typeface="Palatino Linotype" panose="02040502050505030304" pitchFamily="18" charset="0"/>
            </a:endParaRPr>
          </a:p>
        </p:txBody>
      </p:sp>
      <p:grpSp>
        <p:nvGrpSpPr>
          <p:cNvPr id="26" name="Group 25">
            <a:extLst>
              <a:ext uri="{FF2B5EF4-FFF2-40B4-BE49-F238E27FC236}">
                <a16:creationId xmlns:a16="http://schemas.microsoft.com/office/drawing/2014/main" id="{1053E23C-C1AD-4A4A-AC05-7FE50FDF384F}"/>
              </a:ext>
            </a:extLst>
          </p:cNvPr>
          <p:cNvGrpSpPr/>
          <p:nvPr/>
        </p:nvGrpSpPr>
        <p:grpSpPr>
          <a:xfrm>
            <a:off x="844498" y="259200"/>
            <a:ext cx="11012142" cy="1502780"/>
            <a:chOff x="844498" y="423911"/>
            <a:chExt cx="11012142" cy="1502780"/>
          </a:xfrm>
        </p:grpSpPr>
        <p:grpSp>
          <p:nvGrpSpPr>
            <p:cNvPr id="4" name="Group 3">
              <a:extLst>
                <a:ext uri="{FF2B5EF4-FFF2-40B4-BE49-F238E27FC236}">
                  <a16:creationId xmlns:a16="http://schemas.microsoft.com/office/drawing/2014/main" id="{DE7B2FD6-7DEE-4037-BD0A-D71D46B3AAA9}"/>
                </a:ext>
              </a:extLst>
            </p:cNvPr>
            <p:cNvGrpSpPr/>
            <p:nvPr/>
          </p:nvGrpSpPr>
          <p:grpSpPr>
            <a:xfrm>
              <a:off x="844498" y="423911"/>
              <a:ext cx="11012142" cy="1502780"/>
              <a:chOff x="695400" y="1745011"/>
              <a:chExt cx="11012142" cy="1502780"/>
            </a:xfrm>
          </p:grpSpPr>
          <p:grpSp>
            <p:nvGrpSpPr>
              <p:cNvPr id="6" name="Group 5">
                <a:extLst>
                  <a:ext uri="{FF2B5EF4-FFF2-40B4-BE49-F238E27FC236}">
                    <a16:creationId xmlns:a16="http://schemas.microsoft.com/office/drawing/2014/main" id="{DFA770DE-4F8C-4F9A-9B42-EEF253DA876D}"/>
                  </a:ext>
                </a:extLst>
              </p:cNvPr>
              <p:cNvGrpSpPr/>
              <p:nvPr/>
            </p:nvGrpSpPr>
            <p:grpSpPr>
              <a:xfrm>
                <a:off x="695400" y="1835990"/>
                <a:ext cx="9424777" cy="1304978"/>
                <a:chOff x="267703" y="1600839"/>
                <a:chExt cx="9424777" cy="1304978"/>
              </a:xfrm>
            </p:grpSpPr>
            <p:grpSp>
              <p:nvGrpSpPr>
                <p:cNvPr id="9" name="Group 8">
                  <a:extLst>
                    <a:ext uri="{FF2B5EF4-FFF2-40B4-BE49-F238E27FC236}">
                      <a16:creationId xmlns:a16="http://schemas.microsoft.com/office/drawing/2014/main" id="{370DA37D-B4E0-4EA6-8D8C-3CC9106CA75A}"/>
                    </a:ext>
                  </a:extLst>
                </p:cNvPr>
                <p:cNvGrpSpPr/>
                <p:nvPr/>
              </p:nvGrpSpPr>
              <p:grpSpPr>
                <a:xfrm>
                  <a:off x="1651832" y="1600839"/>
                  <a:ext cx="8040648" cy="1296144"/>
                  <a:chOff x="31591" y="1556792"/>
                  <a:chExt cx="8040648" cy="1296144"/>
                </a:xfrm>
              </p:grpSpPr>
              <p:grpSp>
                <p:nvGrpSpPr>
                  <p:cNvPr id="16" name="Group 15">
                    <a:extLst>
                      <a:ext uri="{FF2B5EF4-FFF2-40B4-BE49-F238E27FC236}">
                        <a16:creationId xmlns:a16="http://schemas.microsoft.com/office/drawing/2014/main" id="{77142FF1-607D-452F-9A23-229EBFA685E9}"/>
                      </a:ext>
                    </a:extLst>
                  </p:cNvPr>
                  <p:cNvGrpSpPr/>
                  <p:nvPr/>
                </p:nvGrpSpPr>
                <p:grpSpPr>
                  <a:xfrm>
                    <a:off x="669977" y="1556792"/>
                    <a:ext cx="3227378" cy="1296144"/>
                    <a:chOff x="669977" y="1556792"/>
                    <a:chExt cx="3227378" cy="1296144"/>
                  </a:xfrm>
                </p:grpSpPr>
                <p:sp>
                  <p:nvSpPr>
                    <p:cNvPr id="20" name="Rectangle 19">
                      <a:extLst>
                        <a:ext uri="{FF2B5EF4-FFF2-40B4-BE49-F238E27FC236}">
                          <a16:creationId xmlns:a16="http://schemas.microsoft.com/office/drawing/2014/main" id="{6B4BDCB7-82F7-4055-BFF2-9DA371561483}"/>
                        </a:ext>
                      </a:extLst>
                    </p:cNvPr>
                    <p:cNvSpPr/>
                    <p:nvPr/>
                  </p:nvSpPr>
                  <p:spPr>
                    <a:xfrm>
                      <a:off x="669977" y="1556792"/>
                      <a:ext cx="322737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TextBox 20">
                      <a:extLst>
                        <a:ext uri="{FF2B5EF4-FFF2-40B4-BE49-F238E27FC236}">
                          <a16:creationId xmlns:a16="http://schemas.microsoft.com/office/drawing/2014/main" id="{58006E0C-9C3F-4A4E-9663-97B9A07FF636}"/>
                        </a:ext>
                      </a:extLst>
                    </p:cNvPr>
                    <p:cNvSpPr txBox="1"/>
                    <p:nvPr/>
                  </p:nvSpPr>
                  <p:spPr>
                    <a:xfrm>
                      <a:off x="699364" y="1620089"/>
                      <a:ext cx="3179543"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2" name="TextBox 21">
                      <a:extLst>
                        <a:ext uri="{FF2B5EF4-FFF2-40B4-BE49-F238E27FC236}">
                          <a16:creationId xmlns:a16="http://schemas.microsoft.com/office/drawing/2014/main" id="{8FFD1BDA-B1F4-4590-B1FE-9DE4C04EF618}"/>
                        </a:ext>
                      </a:extLst>
                    </p:cNvPr>
                    <p:cNvSpPr txBox="1"/>
                    <p:nvPr/>
                  </p:nvSpPr>
                  <p:spPr>
                    <a:xfrm>
                      <a:off x="690120" y="2166646"/>
                      <a:ext cx="3179543"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 LIKE </a:t>
                      </a:r>
                      <a:r>
                        <a:rPr lang="en-IN" sz="2000" dirty="0">
                          <a:solidFill>
                            <a:srgbClr val="669900"/>
                          </a:solidFill>
                          <a:latin typeface="Liberation Mono"/>
                        </a:rPr>
                        <a:t>'a%'</a:t>
                      </a:r>
                    </a:p>
                  </p:txBody>
                </p:sp>
              </p:grpSp>
              <p:sp>
                <p:nvSpPr>
                  <p:cNvPr id="17" name="Arrow: Right 16">
                    <a:extLst>
                      <a:ext uri="{FF2B5EF4-FFF2-40B4-BE49-F238E27FC236}">
                        <a16:creationId xmlns:a16="http://schemas.microsoft.com/office/drawing/2014/main" id="{889E1C62-BF50-4399-9F0D-36483CA2AC26}"/>
                      </a:ext>
                    </a:extLst>
                  </p:cNvPr>
                  <p:cNvSpPr/>
                  <p:nvPr/>
                </p:nvSpPr>
                <p:spPr>
                  <a:xfrm>
                    <a:off x="398194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14E502D1-FE40-4FF0-8732-DEFABD88EA10}"/>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Arrow: Right 18">
                    <a:extLst>
                      <a:ext uri="{FF2B5EF4-FFF2-40B4-BE49-F238E27FC236}">
                        <a16:creationId xmlns:a16="http://schemas.microsoft.com/office/drawing/2014/main" id="{82384C59-30FF-4C11-AC97-0B530361138C}"/>
                      </a:ext>
                    </a:extLst>
                  </p:cNvPr>
                  <p:cNvSpPr/>
                  <p:nvPr/>
                </p:nvSpPr>
                <p:spPr>
                  <a:xfrm>
                    <a:off x="746583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ADEA951F-F2C1-4D52-844C-0208E321A08C}"/>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3CA22EFF-3AF3-4533-8A55-A9DE77CF9A77}"/>
                    </a:ext>
                  </a:extLst>
                </p:cNvPr>
                <p:cNvSpPr/>
                <p:nvPr/>
              </p:nvSpPr>
              <p:spPr>
                <a:xfrm>
                  <a:off x="6269955"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4A208C1C-7AF6-4FB2-A1FD-93B93DEF0562}"/>
                    </a:ext>
                  </a:extLst>
                </p:cNvPr>
                <p:cNvSpPr txBox="1"/>
                <p:nvPr/>
              </p:nvSpPr>
              <p:spPr>
                <a:xfrm>
                  <a:off x="6314388" y="1672970"/>
                  <a:ext cx="2687099"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5" name="TextBox 14">
                  <a:extLst>
                    <a:ext uri="{FF2B5EF4-FFF2-40B4-BE49-F238E27FC236}">
                      <a16:creationId xmlns:a16="http://schemas.microsoft.com/office/drawing/2014/main" id="{93A0F425-05B9-4981-85ED-BBDE28C43420}"/>
                    </a:ext>
                  </a:extLst>
                </p:cNvPr>
                <p:cNvSpPr txBox="1"/>
                <p:nvPr/>
              </p:nvSpPr>
              <p:spPr>
                <a:xfrm>
                  <a:off x="6314389" y="2229960"/>
                  <a:ext cx="2687099"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7" name="Oval 6">
                <a:extLst>
                  <a:ext uri="{FF2B5EF4-FFF2-40B4-BE49-F238E27FC236}">
                    <a16:creationId xmlns:a16="http://schemas.microsoft.com/office/drawing/2014/main" id="{444A7B69-132B-4AD7-BFF0-5A199E456BBC}"/>
                  </a:ext>
                </a:extLst>
              </p:cNvPr>
              <p:cNvSpPr/>
              <p:nvPr/>
            </p:nvSpPr>
            <p:spPr>
              <a:xfrm>
                <a:off x="10204762"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E966CA93-12A2-4833-A5A5-C8092713AA0C}"/>
                  </a:ext>
                </a:extLst>
              </p:cNvPr>
              <p:cNvSpPr txBox="1"/>
              <p:nvPr/>
            </p:nvSpPr>
            <p:spPr>
              <a:xfrm>
                <a:off x="10286902" y="2296346"/>
                <a:ext cx="1376408"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C8991151-3DE7-4C60-B8BD-230776F2901D}"/>
                </a:ext>
              </a:extLst>
            </p:cNvPr>
            <p:cNvSpPr txBox="1"/>
            <p:nvPr/>
          </p:nvSpPr>
          <p:spPr>
            <a:xfrm>
              <a:off x="852219" y="45227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5" name="TextBox 24">
              <a:extLst>
                <a:ext uri="{FF2B5EF4-FFF2-40B4-BE49-F238E27FC236}">
                  <a16:creationId xmlns:a16="http://schemas.microsoft.com/office/drawing/2014/main" id="{CB0F275C-5399-44BB-88C5-8314E23AC92A}"/>
                </a:ext>
              </a:extLst>
            </p:cNvPr>
            <p:cNvSpPr txBox="1"/>
            <p:nvPr/>
          </p:nvSpPr>
          <p:spPr>
            <a:xfrm>
              <a:off x="847447" y="1273402"/>
              <a:ext cx="1268903" cy="400110"/>
            </a:xfrm>
            <a:prstGeom prst="rect">
              <a:avLst/>
            </a:prstGeom>
            <a:noFill/>
          </p:spPr>
          <p:txBody>
            <a:bodyPr wrap="square">
              <a:spAutoFit/>
            </a:bodyPr>
            <a:lstStyle/>
            <a:p>
              <a:pPr algn="ctr"/>
              <a:r>
                <a:rPr lang="en-IN" sz="2000" dirty="0">
                  <a:latin typeface="Liberation Mono"/>
                </a:rPr>
                <a:t>emp</a:t>
              </a:r>
              <a:endParaRPr lang="en-IN" sz="2000" dirty="0"/>
            </a:p>
          </p:txBody>
        </p:sp>
      </p:grpSp>
    </p:spTree>
    <p:extLst>
      <p:ext uri="{BB962C8B-B14F-4D97-AF65-F5344CB8AC3E}">
        <p14:creationId xmlns:p14="http://schemas.microsoft.com/office/powerpoint/2010/main" val="3587771697"/>
      </p:ext>
    </p:extLst>
  </p:cSld>
  <p:clrMapOvr>
    <a:masterClrMapping/>
  </p:clrMapOvr>
</p:sld>
</file>

<file path=ppt/slides/slide4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 - </a:t>
            </a:r>
            <a:r>
              <a:rPr lang="en-IN" sz="3200" i="1" dirty="0">
                <a:solidFill>
                  <a:srgbClr val="FF9900"/>
                </a:solidFill>
                <a:latin typeface="Arial" pitchFamily="34" charset="0"/>
                <a:cs typeface="Arial" pitchFamily="34" charset="0"/>
              </a:rPr>
              <a:t>string comparison functions</a:t>
            </a: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988840"/>
            <a:ext cx="11305256" cy="267765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matches any number of characters, even zero characters. (</a:t>
            </a:r>
            <a:r>
              <a:rPr lang="en-US" b="0" i="0" dirty="0">
                <a:solidFill>
                  <a:srgbClr val="C00000"/>
                </a:solidFill>
                <a:effectLst/>
                <a:latin typeface="Arial" panose="020B0604020202020204" pitchFamily="34" charset="0"/>
                <a:cs typeface="Arial" panose="020B0604020202020204" pitchFamily="34" charset="0"/>
              </a:rPr>
              <a:t>“%“ represents any sequence of characters.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_</a:t>
            </a:r>
            <a:r>
              <a:rPr lang="en-IN" dirty="0">
                <a:latin typeface="Arial" panose="020B0604020202020204" pitchFamily="34" charset="0"/>
                <a:cs typeface="Arial" panose="020B0604020202020204" pitchFamily="34" charset="0"/>
              </a:rPr>
              <a:t> matches exactly one character. (</a:t>
            </a:r>
            <a:r>
              <a:rPr lang="en-IN" b="0" i="0" dirty="0">
                <a:solidFill>
                  <a:srgbClr val="C00000"/>
                </a:solidFill>
                <a:effectLst/>
                <a:latin typeface="Arial" panose="020B0604020202020204" pitchFamily="34" charset="0"/>
                <a:cs typeface="Arial" panose="020B0604020202020204" pitchFamily="34" charset="0"/>
              </a:rPr>
              <a:t>“_” represents a single character.</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we use </a:t>
            </a:r>
            <a:r>
              <a:rPr lang="en-IN" b="1" dirty="0">
                <a:latin typeface="Arial" panose="020B0604020202020204" pitchFamily="34" charset="0"/>
                <a:cs typeface="Arial" panose="020B0604020202020204" pitchFamily="34" charset="0"/>
              </a:rPr>
              <a:t>default escape character '\'</a:t>
            </a:r>
            <a:r>
              <a:rPr lang="en-IN" dirty="0">
                <a:latin typeface="Arial" panose="020B0604020202020204" pitchFamily="34" charset="0"/>
                <a:cs typeface="Arial" panose="020B0604020202020204" pitchFamily="34" charset="0"/>
              </a:rPr>
              <a:t>,  then don’t use ESCAPE keyword.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r>
              <a:rPr lang="en-IN" sz="2200" dirty="0">
                <a:solidFill>
                  <a:srgbClr val="DD4A68"/>
                </a:solidFill>
                <a:latin typeface="Liberation Mono"/>
              </a:rPr>
              <a:t>REGEXP_LIKE</a:t>
            </a:r>
          </a:p>
          <a:p>
            <a:endParaRPr lang="en-IN" sz="800" dirty="0">
              <a:solidFill>
                <a:srgbClr val="DD4A68"/>
              </a:solidFill>
              <a:latin typeface="Liberation Mono"/>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start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end ] </a:t>
            </a:r>
          </a:p>
        </p:txBody>
      </p:sp>
      <p:grpSp>
        <p:nvGrpSpPr>
          <p:cNvPr id="4" name="Group 3">
            <a:extLst>
              <a:ext uri="{FF2B5EF4-FFF2-40B4-BE49-F238E27FC236}">
                <a16:creationId xmlns:a16="http://schemas.microsoft.com/office/drawing/2014/main" id="{DBAE165B-3A9E-D2EC-0863-10D760903635}"/>
              </a:ext>
            </a:extLst>
          </p:cNvPr>
          <p:cNvGrpSpPr/>
          <p:nvPr/>
        </p:nvGrpSpPr>
        <p:grpSpPr>
          <a:xfrm>
            <a:off x="335360" y="4869160"/>
            <a:ext cx="11327209" cy="1872208"/>
            <a:chOff x="335360" y="3356992"/>
            <a:chExt cx="11327209" cy="1872208"/>
          </a:xfrm>
        </p:grpSpPr>
        <p:sp>
          <p:nvSpPr>
            <p:cNvPr id="9" name="Rectangle 8"/>
            <p:cNvSpPr/>
            <p:nvPr/>
          </p:nvSpPr>
          <p:spPr>
            <a:xfrm>
              <a:off x="335360" y="3573016"/>
              <a:ext cx="11305256"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ESCAPE keyword is used to escape pattern matching characters such as the (%) percentage and underscore (_) if they form part of the data.</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do not specify the ESCAPE character, \ is assumed.</a:t>
              </a: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35699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5229200"/>
              <a:ext cx="11269633"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2" name="Rectangle 1">
            <a:extLst>
              <a:ext uri="{FF2B5EF4-FFF2-40B4-BE49-F238E27FC236}">
                <a16:creationId xmlns:a16="http://schemas.microsoft.com/office/drawing/2014/main" id="{A568DF41-D69C-4838-8EB0-AD5BDF6D357A}"/>
              </a:ext>
            </a:extLst>
          </p:cNvPr>
          <p:cNvSpPr/>
          <p:nvPr/>
        </p:nvSpPr>
        <p:spPr>
          <a:xfrm>
            <a:off x="335361" y="1084674"/>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LIKE </a:t>
            </a:r>
            <a:r>
              <a:rPr lang="en-US" sz="2000" dirty="0">
                <a:solidFill>
                  <a:srgbClr val="669900"/>
                </a:solidFill>
                <a:latin typeface="Liberation Mono"/>
              </a:rPr>
              <a:t>'pattern'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ESCAPE </a:t>
            </a:r>
            <a:r>
              <a:rPr lang="en-US" sz="2000" i="1" dirty="0">
                <a:solidFill>
                  <a:schemeClr val="tx2"/>
                </a:solidFill>
                <a:latin typeface="Liberation Mono"/>
                <a:cs typeface="Arial" panose="020B0604020202020204" pitchFamily="34" charset="0"/>
              </a:rPr>
              <a:t>escape_character</a:t>
            </a:r>
            <a:r>
              <a:rPr lang="en-US" sz="2000" dirty="0">
                <a:latin typeface="Liberation Mono"/>
                <a:cs typeface="Arial" panose="020B0604020202020204" pitchFamily="34" charset="0"/>
              </a:rPr>
              <a:t>]</a:t>
            </a:r>
          </a:p>
          <a:p>
            <a:r>
              <a:rPr lang="en-US" sz="2000" dirty="0">
                <a:solidFill>
                  <a:srgbClr val="DD4A68"/>
                </a:solidFill>
                <a:latin typeface="Liberation Mono"/>
              </a:rPr>
              <a:t>REGEXP_LIKE</a:t>
            </a:r>
            <a:r>
              <a:rPr lang="en-US" sz="2000" dirty="0">
                <a:latin typeface="Liberation Mono"/>
              </a:rPr>
              <a:t>(</a:t>
            </a:r>
            <a:r>
              <a:rPr lang="en-US" sz="2000" i="1" dirty="0">
                <a:solidFill>
                  <a:srgbClr val="000000"/>
                </a:solidFill>
                <a:latin typeface="Liberation Mono"/>
              </a:rPr>
              <a:t>expr</a:t>
            </a:r>
            <a:r>
              <a:rPr lang="en-US" sz="2000" dirty="0">
                <a:latin typeface="Liberation Mono"/>
              </a:rPr>
              <a:t>, </a:t>
            </a:r>
            <a:r>
              <a:rPr lang="en-US" sz="2000" i="1" dirty="0">
                <a:solidFill>
                  <a:srgbClr val="000000"/>
                </a:solidFill>
                <a:latin typeface="Liberation Mono"/>
              </a:rPr>
              <a:t>pattern</a:t>
            </a:r>
            <a:r>
              <a:rPr lang="en-US" sz="2000" dirty="0">
                <a:latin typeface="Liberation Mono"/>
              </a:rPr>
              <a:t>[, match_type])</a:t>
            </a:r>
            <a:endParaRPr lang="en-US" sz="2000"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DC1B56-93F7-9395-4A1A-0005F42D0B7F}"/>
              </a:ext>
            </a:extLst>
          </p:cNvPr>
          <p:cNvSpPr txBox="1"/>
          <p:nvPr/>
        </p:nvSpPr>
        <p:spPr>
          <a:xfrm>
            <a:off x="2780882" y="4019871"/>
            <a:ext cx="6414212"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a:p>
            <a:pPr marL="285750" indent="-285750">
              <a:buFont typeface="Arial" panose="020B0604020202020204" pitchFamily="34" charset="0"/>
              <a:buChar char="•"/>
            </a:pPr>
            <a:endParaRPr lang="en-IN" sz="400" dirty="0"/>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p:txBody>
      </p:sp>
    </p:spTree>
    <p:extLst>
      <p:ext uri="{BB962C8B-B14F-4D97-AF65-F5344CB8AC3E}">
        <p14:creationId xmlns:p14="http://schemas.microsoft.com/office/powerpoint/2010/main" val="2271535523"/>
      </p:ext>
    </p:extLst>
  </p:cSld>
  <p:clrMapOvr>
    <a:masterClrMapping/>
  </p:clrMapOvr>
</p:sld>
</file>

<file path=ppt/slides/slide4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27420"/>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ename </a:t>
            </a:r>
            <a:r>
              <a:rPr lang="en-IN" dirty="0">
                <a:solidFill>
                  <a:schemeClr val="accent5">
                    <a:lumMod val="75000"/>
                  </a:schemeClr>
                </a:solidFill>
                <a:latin typeface="Liberation Mono"/>
                <a:cs typeface="Arial" panose="020B0604020202020204" pitchFamily="34" charset="0"/>
              </a:rPr>
              <a:t>LIKE</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6471DB6D-1BED-4DCE-93FD-B1F7D9DED5C7}"/>
              </a:ext>
            </a:extLst>
          </p:cNvPr>
          <p:cNvPicPr>
            <a:picLocks noChangeAspect="1"/>
          </p:cNvPicPr>
          <p:nvPr/>
        </p:nvPicPr>
        <p:blipFill>
          <a:blip r:embed="rId2"/>
          <a:stretch>
            <a:fillRect/>
          </a:stretch>
        </p:blipFill>
        <p:spPr>
          <a:xfrm>
            <a:off x="329861" y="1540093"/>
            <a:ext cx="8640000" cy="1888907"/>
          </a:xfrm>
          <a:prstGeom prst="rect">
            <a:avLst/>
          </a:prstGeom>
        </p:spPr>
      </p:pic>
    </p:spTree>
    <p:extLst>
      <p:ext uri="{BB962C8B-B14F-4D97-AF65-F5344CB8AC3E}">
        <p14:creationId xmlns:p14="http://schemas.microsoft.com/office/powerpoint/2010/main" val="1766780829"/>
      </p:ext>
    </p:extLst>
  </p:cSld>
  <p:clrMapOvr>
    <a:masterClrMapping/>
  </p:clrMapOvr>
</p:sld>
</file>

<file path=ppt/slides/slide4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407368" y="692696"/>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393687" y="1303073"/>
            <a:ext cx="11286234" cy="3373359"/>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ename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669900"/>
                </a:solidFill>
                <a:cs typeface="+mn-cs"/>
              </a:rPr>
              <a:t>'saleel'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001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100</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100</a:t>
            </a:r>
            <a:r>
              <a:rPr lang="en-US" dirty="0">
                <a:solidFill>
                  <a:schemeClr val="tx1"/>
                </a:solidFill>
              </a:rPr>
              <a:t> </a:t>
            </a:r>
            <a:r>
              <a:rPr lang="en-US" dirty="0">
                <a:solidFill>
                  <a:srgbClr val="A67F59"/>
                </a:solidFill>
                <a:cs typeface="+mn-cs"/>
              </a:rPr>
              <a:t>OR</a:t>
            </a:r>
            <a:r>
              <a:rPr lang="en-US" dirty="0">
                <a:solidFill>
                  <a:schemeClr val="tx1"/>
                </a:solidFill>
              </a:rPr>
              <a:t> </a:t>
            </a:r>
            <a:r>
              <a:rPr lang="en-US" dirty="0">
                <a:solidFill>
                  <a:srgbClr val="990055"/>
                </a:solidFill>
                <a:cs typeface="+mn-cs"/>
              </a:rPr>
              <a:t>0</a:t>
            </a:r>
            <a:r>
              <a:rPr lang="en-US" dirty="0">
                <a:solidFill>
                  <a:schemeClr val="tx1"/>
                </a:solidFill>
              </a:rPr>
              <a:t>;</a:t>
            </a:r>
            <a:endParaRPr lang="en-IN" dirty="0">
              <a:solidFill>
                <a:schemeClr val="tx1"/>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0</a:t>
            </a:r>
            <a:r>
              <a:rPr lang="en-US" dirty="0">
                <a:solidFill>
                  <a:schemeClr val="tx1"/>
                </a:solidFill>
              </a:rPr>
              <a:t> </a:t>
            </a:r>
            <a:r>
              <a:rPr lang="en-US" dirty="0">
                <a:solidFill>
                  <a:srgbClr val="A67F59"/>
                </a:solidFill>
                <a:cs typeface="+mn-cs"/>
              </a:rPr>
              <a:t>AND</a:t>
            </a:r>
            <a:r>
              <a:rPr lang="en-US" dirty="0">
                <a:solidFill>
                  <a:schemeClr val="tx1"/>
                </a:solidFill>
              </a:rPr>
              <a:t> </a:t>
            </a:r>
            <a:r>
              <a:rPr lang="en-US" dirty="0">
                <a:solidFill>
                  <a:srgbClr val="990055"/>
                </a:solidFill>
                <a:cs typeface="+mn-cs"/>
              </a:rPr>
              <a:t>1</a:t>
            </a:r>
            <a:r>
              <a:rPr lang="en-US" dirty="0">
                <a:solidFill>
                  <a:schemeClr val="tx1"/>
                </a:solidFill>
              </a:rPr>
              <a:t>;</a:t>
            </a:r>
            <a:endParaRPr lang="en-IN" dirty="0">
              <a:solidFill>
                <a:schemeClr val="tx1"/>
              </a:solidFill>
            </a:endParaRPr>
          </a:p>
        </p:txBody>
      </p:sp>
    </p:spTree>
    <p:extLst>
      <p:ext uri="{BB962C8B-B14F-4D97-AF65-F5344CB8AC3E}">
        <p14:creationId xmlns:p14="http://schemas.microsoft.com/office/powerpoint/2010/main" val="714291489"/>
      </p:ext>
    </p:extLst>
  </p:cSld>
  <p:clrMapOvr>
    <a:masterClrMapping/>
  </p:clrMapOvr>
</p:sld>
</file>

<file path=ppt/slides/slide4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33323"/>
            <a:ext cx="8838049" cy="914400"/>
          </a:xfrm>
          <a:prstGeom prst="rect">
            <a:avLst/>
          </a:prstGeom>
        </p:spPr>
        <p:txBody>
          <a:bodyPr>
            <a:normAutofit/>
          </a:bodyPr>
          <a:lstStyle/>
          <a:p>
            <a:pPr lvl="0"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aggregate functions</a:t>
            </a:r>
            <a:endParaRPr lang="en-US" sz="4400" b="1" i="1"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3F57EB4E-974C-4202-A61A-C67230017F3B}"/>
              </a:ext>
            </a:extLst>
          </p:cNvPr>
          <p:cNvSpPr/>
          <p:nvPr/>
        </p:nvSpPr>
        <p:spPr>
          <a:xfrm>
            <a:off x="164208" y="3821058"/>
            <a:ext cx="4328300"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 ';</a:t>
            </a:r>
            <a:r>
              <a:rPr lang="en-IN" dirty="0">
                <a:solidFill>
                  <a:srgbClr val="00B050"/>
                </a:solidFill>
                <a:latin typeface="Palatino Linotype" panose="02040502050505030304" pitchFamily="18" charset="0"/>
                <a:ea typeface="Times New Roman" panose="02020603050405020304" pitchFamily="18" charset="0"/>
              </a:rPr>
              <a:t> </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IGNORE_SPACE</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22" name="TextBox 21">
            <a:extLst>
              <a:ext uri="{FF2B5EF4-FFF2-40B4-BE49-F238E27FC236}">
                <a16:creationId xmlns:a16="http://schemas.microsoft.com/office/drawing/2014/main" id="{46C4C5BF-30FE-4521-B74B-D701D6CE5A08}"/>
              </a:ext>
            </a:extLst>
          </p:cNvPr>
          <p:cNvSpPr txBox="1"/>
          <p:nvPr/>
        </p:nvSpPr>
        <p:spPr>
          <a:xfrm>
            <a:off x="171826" y="4894709"/>
            <a:ext cx="11828830" cy="184665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r>
              <a:rPr lang="en-US" dirty="0">
                <a:latin typeface="Arial" panose="020B0604020202020204" pitchFamily="34" charset="0"/>
                <a:cs typeface="Arial" panose="020B0604020202020204" pitchFamily="34" charset="0"/>
              </a:rPr>
              <a:t>None of the below two queries get executed unsuccessfully. The reason is that a condition in a WHERE clause cannot contain any aggregate function (or group function) without a subquery!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latin typeface="Liberation Mono"/>
              </a:rPr>
              <a:t>;  </a:t>
            </a:r>
            <a:r>
              <a:rPr lang="en-US" sz="2000" dirty="0">
                <a:solidFill>
                  <a:srgbClr val="669900"/>
                </a:solidFill>
                <a:latin typeface="Liberation Mono"/>
              </a:rPr>
              <a:t>#error</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uFill>
                  <a:solidFill>
                    <a:srgbClr val="FF0000"/>
                  </a:solidFill>
                </a:u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sal;  </a:t>
            </a:r>
            <a:r>
              <a:rPr lang="en-US" sz="2000" dirty="0">
                <a:solidFill>
                  <a:srgbClr val="669900"/>
                </a:solidFill>
                <a:latin typeface="Liberation Mono"/>
              </a:rPr>
              <a:t>#error</a:t>
            </a:r>
          </a:p>
        </p:txBody>
      </p:sp>
      <p:grpSp>
        <p:nvGrpSpPr>
          <p:cNvPr id="23" name="Group 22">
            <a:extLst>
              <a:ext uri="{FF2B5EF4-FFF2-40B4-BE49-F238E27FC236}">
                <a16:creationId xmlns:a16="http://schemas.microsoft.com/office/drawing/2014/main" id="{CE3131AA-8985-49D1-86AB-38DD9831DD59}"/>
              </a:ext>
            </a:extLst>
          </p:cNvPr>
          <p:cNvGrpSpPr/>
          <p:nvPr/>
        </p:nvGrpSpPr>
        <p:grpSpPr>
          <a:xfrm>
            <a:off x="502403" y="198028"/>
            <a:ext cx="11209427" cy="1502780"/>
            <a:chOff x="407368" y="3356992"/>
            <a:chExt cx="11209427" cy="1502780"/>
          </a:xfrm>
        </p:grpSpPr>
        <p:grpSp>
          <p:nvGrpSpPr>
            <p:cNvPr id="24" name="Group 23">
              <a:extLst>
                <a:ext uri="{FF2B5EF4-FFF2-40B4-BE49-F238E27FC236}">
                  <a16:creationId xmlns:a16="http://schemas.microsoft.com/office/drawing/2014/main" id="{94E636B0-6BC3-4148-8D3C-427EBF065EE5}"/>
                </a:ext>
              </a:extLst>
            </p:cNvPr>
            <p:cNvGrpSpPr/>
            <p:nvPr/>
          </p:nvGrpSpPr>
          <p:grpSpPr>
            <a:xfrm>
              <a:off x="412526" y="3356992"/>
              <a:ext cx="11204269" cy="1502780"/>
              <a:chOff x="412526" y="3406524"/>
              <a:chExt cx="11204269" cy="1502780"/>
            </a:xfrm>
          </p:grpSpPr>
          <p:grpSp>
            <p:nvGrpSpPr>
              <p:cNvPr id="28" name="Group 27">
                <a:extLst>
                  <a:ext uri="{FF2B5EF4-FFF2-40B4-BE49-F238E27FC236}">
                    <a16:creationId xmlns:a16="http://schemas.microsoft.com/office/drawing/2014/main" id="{CAFF3BCE-5149-467D-ACDE-04727E696330}"/>
                  </a:ext>
                </a:extLst>
              </p:cNvPr>
              <p:cNvGrpSpPr/>
              <p:nvPr/>
            </p:nvGrpSpPr>
            <p:grpSpPr>
              <a:xfrm>
                <a:off x="412526" y="3501008"/>
                <a:ext cx="9607515" cy="1310984"/>
                <a:chOff x="267703" y="1600839"/>
                <a:chExt cx="9607515" cy="1310984"/>
              </a:xfrm>
            </p:grpSpPr>
            <p:sp>
              <p:nvSpPr>
                <p:cNvPr id="32" name="Rectangle 31">
                  <a:extLst>
                    <a:ext uri="{FF2B5EF4-FFF2-40B4-BE49-F238E27FC236}">
                      <a16:creationId xmlns:a16="http://schemas.microsoft.com/office/drawing/2014/main" id="{726E582E-8FC8-4449-BFCC-E01A75DA8DE0}"/>
                    </a:ext>
                  </a:extLst>
                </p:cNvPr>
                <p:cNvSpPr/>
                <p:nvPr/>
              </p:nvSpPr>
              <p:spPr>
                <a:xfrm>
                  <a:off x="5797328" y="1609673"/>
                  <a:ext cx="3377510"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3" name="Group 32">
                  <a:extLst>
                    <a:ext uri="{FF2B5EF4-FFF2-40B4-BE49-F238E27FC236}">
                      <a16:creationId xmlns:a16="http://schemas.microsoft.com/office/drawing/2014/main" id="{99CB8634-0B43-4A24-92DD-0C67937DD4B6}"/>
                    </a:ext>
                  </a:extLst>
                </p:cNvPr>
                <p:cNvGrpSpPr/>
                <p:nvPr/>
              </p:nvGrpSpPr>
              <p:grpSpPr>
                <a:xfrm>
                  <a:off x="1651832" y="1600839"/>
                  <a:ext cx="8223386" cy="1310984"/>
                  <a:chOff x="31591" y="1556792"/>
                  <a:chExt cx="8223386" cy="1310984"/>
                </a:xfrm>
              </p:grpSpPr>
              <p:grpSp>
                <p:nvGrpSpPr>
                  <p:cNvPr id="36" name="Group 35">
                    <a:extLst>
                      <a:ext uri="{FF2B5EF4-FFF2-40B4-BE49-F238E27FC236}">
                        <a16:creationId xmlns:a16="http://schemas.microsoft.com/office/drawing/2014/main" id="{743A30DF-CFB2-47E9-8800-70A2707E1BC3}"/>
                      </a:ext>
                    </a:extLst>
                  </p:cNvPr>
                  <p:cNvGrpSpPr/>
                  <p:nvPr/>
                </p:nvGrpSpPr>
                <p:grpSpPr>
                  <a:xfrm>
                    <a:off x="669977" y="1556792"/>
                    <a:ext cx="6884620" cy="1310984"/>
                    <a:chOff x="669977" y="1556792"/>
                    <a:chExt cx="6884620" cy="1310984"/>
                  </a:xfrm>
                </p:grpSpPr>
                <p:sp>
                  <p:nvSpPr>
                    <p:cNvPr id="40" name="Rectangle 39">
                      <a:extLst>
                        <a:ext uri="{FF2B5EF4-FFF2-40B4-BE49-F238E27FC236}">
                          <a16:creationId xmlns:a16="http://schemas.microsoft.com/office/drawing/2014/main" id="{19C9E3B9-239E-4243-A4C5-84B48F61150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1" name="TextBox 40">
                      <a:extLst>
                        <a:ext uri="{FF2B5EF4-FFF2-40B4-BE49-F238E27FC236}">
                          <a16:creationId xmlns:a16="http://schemas.microsoft.com/office/drawing/2014/main" id="{3DF3C462-6489-483A-AF7F-25145E2E1DE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42" name="TextBox 41">
                      <a:extLst>
                        <a:ext uri="{FF2B5EF4-FFF2-40B4-BE49-F238E27FC236}">
                          <a16:creationId xmlns:a16="http://schemas.microsoft.com/office/drawing/2014/main" id="{622CFD00-4E16-494B-ACFC-0F381B4E7F4A}"/>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43" name="TextBox 42">
                      <a:extLst>
                        <a:ext uri="{FF2B5EF4-FFF2-40B4-BE49-F238E27FC236}">
                          <a16:creationId xmlns:a16="http://schemas.microsoft.com/office/drawing/2014/main" id="{0F13E804-F6F0-4615-BBF5-B341E5E142A8}"/>
                        </a:ext>
                      </a:extLst>
                    </p:cNvPr>
                    <p:cNvSpPr txBox="1"/>
                    <p:nvPr/>
                  </p:nvSpPr>
                  <p:spPr>
                    <a:xfrm>
                      <a:off x="4202827" y="2159890"/>
                      <a:ext cx="3351770" cy="707886"/>
                    </a:xfrm>
                    <a:prstGeom prst="rect">
                      <a:avLst/>
                    </a:prstGeom>
                    <a:noFill/>
                  </p:spPr>
                  <p:txBody>
                    <a:bodyPr wrap="square">
                      <a:spAutoFit/>
                    </a:bodyPr>
                    <a:lstStyle/>
                    <a:p>
                      <a:pPr algn="ctr"/>
                      <a:r>
                        <a:rPr lang="en-IN" sz="2000" dirty="0">
                          <a:latin typeface="Liberation Mono"/>
                          <a:cs typeface="Arial" panose="020B0604020202020204" pitchFamily="34" charset="0"/>
                        </a:rPr>
                        <a:t>AVG(sal), SUM(sal), MAX(sal), MIN(sal), COUNT(*) </a:t>
                      </a:r>
                      <a:endParaRPr lang="en-IN" sz="2000" dirty="0"/>
                    </a:p>
                  </p:txBody>
                </p:sp>
              </p:grpSp>
              <p:sp>
                <p:nvSpPr>
                  <p:cNvPr id="37" name="Arrow: Right 36">
                    <a:extLst>
                      <a:ext uri="{FF2B5EF4-FFF2-40B4-BE49-F238E27FC236}">
                        <a16:creationId xmlns:a16="http://schemas.microsoft.com/office/drawing/2014/main" id="{6E8B70FA-6C4C-4020-BD57-2B4C4506D77C}"/>
                      </a:ext>
                    </a:extLst>
                  </p:cNvPr>
                  <p:cNvSpPr/>
                  <p:nvPr/>
                </p:nvSpPr>
                <p:spPr>
                  <a:xfrm>
                    <a:off x="3509313"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107530B9-567C-47B3-918A-66D9F1E05E32}"/>
                      </a:ext>
                    </a:extLst>
                  </p:cNvPr>
                  <p:cNvSpPr/>
                  <p:nvPr/>
                </p:nvSpPr>
                <p:spPr>
                  <a:xfrm>
                    <a:off x="3159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F3808D24-EF2B-46C2-B5A6-0B38AC78C16B}"/>
                      </a:ext>
                    </a:extLst>
                  </p:cNvPr>
                  <p:cNvSpPr/>
                  <p:nvPr/>
                </p:nvSpPr>
                <p:spPr>
                  <a:xfrm>
                    <a:off x="764857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4" name="Flowchart: Magnetic Disk 33">
                  <a:extLst>
                    <a:ext uri="{FF2B5EF4-FFF2-40B4-BE49-F238E27FC236}">
                      <a16:creationId xmlns:a16="http://schemas.microsoft.com/office/drawing/2014/main" id="{B58E8E8F-85DE-4420-8248-24F3EEA5B0AE}"/>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5" name="TextBox 34">
                  <a:extLst>
                    <a:ext uri="{FF2B5EF4-FFF2-40B4-BE49-F238E27FC236}">
                      <a16:creationId xmlns:a16="http://schemas.microsoft.com/office/drawing/2014/main" id="{B19C995D-F3E4-4F0A-AFEA-71C0B9092F55}"/>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9" name="Oval 28">
                <a:extLst>
                  <a:ext uri="{FF2B5EF4-FFF2-40B4-BE49-F238E27FC236}">
                    <a16:creationId xmlns:a16="http://schemas.microsoft.com/office/drawing/2014/main" id="{652843F7-8AA5-41DB-8989-D33A2261BBE0}"/>
                  </a:ext>
                </a:extLst>
              </p:cNvPr>
              <p:cNvSpPr/>
              <p:nvPr/>
            </p:nvSpPr>
            <p:spPr>
              <a:xfrm>
                <a:off x="1011401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TextBox 30">
                <a:extLst>
                  <a:ext uri="{FF2B5EF4-FFF2-40B4-BE49-F238E27FC236}">
                    <a16:creationId xmlns:a16="http://schemas.microsoft.com/office/drawing/2014/main" id="{95D9BA61-B732-48D1-A2FF-49FB1E8E5FD4}"/>
                  </a:ext>
                </a:extLst>
              </p:cNvPr>
              <p:cNvSpPr txBox="1"/>
              <p:nvPr/>
            </p:nvSpPr>
            <p:spPr>
              <a:xfrm>
                <a:off x="10136999"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5" name="TextBox 24">
              <a:extLst>
                <a:ext uri="{FF2B5EF4-FFF2-40B4-BE49-F238E27FC236}">
                  <a16:creationId xmlns:a16="http://schemas.microsoft.com/office/drawing/2014/main" id="{2ECA9159-2347-444F-9C35-D74AF710330A}"/>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6" name="TextBox 25">
              <a:extLst>
                <a:ext uri="{FF2B5EF4-FFF2-40B4-BE49-F238E27FC236}">
                  <a16:creationId xmlns:a16="http://schemas.microsoft.com/office/drawing/2014/main" id="{3A57EA96-7915-4C10-8530-8BF34776689D}"/>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4" name="TextBox 3">
            <a:extLst>
              <a:ext uri="{FF2B5EF4-FFF2-40B4-BE49-F238E27FC236}">
                <a16:creationId xmlns:a16="http://schemas.microsoft.com/office/drawing/2014/main" id="{808668D8-7BB2-40B6-8722-AD75065B3101}"/>
              </a:ext>
            </a:extLst>
          </p:cNvPr>
          <p:cNvSpPr txBox="1"/>
          <p:nvPr/>
        </p:nvSpPr>
        <p:spPr>
          <a:xfrm>
            <a:off x="335360" y="2463279"/>
            <a:ext cx="11305255" cy="461665"/>
          </a:xfrm>
          <a:prstGeom prst="rect">
            <a:avLst/>
          </a:prstGeom>
          <a:noFill/>
        </p:spPr>
        <p:txBody>
          <a:bodyPr wrap="square" rtlCol="0">
            <a:spAutoFit/>
          </a:bodyPr>
          <a:lstStyle/>
          <a:p>
            <a:r>
              <a:rPr lang="en-US" sz="2400" dirty="0">
                <a:solidFill>
                  <a:srgbClr val="610B38"/>
                </a:solidFill>
                <a:latin typeface="erdana"/>
              </a:rPr>
              <a:t>SUM, AVG, MAX, MIN, COUNT, </a:t>
            </a:r>
            <a:r>
              <a:rPr lang="en-IN" sz="2400" b="0" i="0" dirty="0">
                <a:solidFill>
                  <a:srgbClr val="610B38"/>
                </a:solidFill>
                <a:effectLst/>
                <a:latin typeface="erdana"/>
              </a:rPr>
              <a:t>GROUP_CONCAT</a:t>
            </a:r>
            <a:r>
              <a:rPr lang="en-IN" sz="2400" dirty="0">
                <a:solidFill>
                  <a:srgbClr val="610B38"/>
                </a:solidFill>
                <a:latin typeface="erdana"/>
              </a:rPr>
              <a:t>, JSON_OBJECTAGG, </a:t>
            </a:r>
            <a:r>
              <a:rPr lang="en-US" sz="2400" dirty="0">
                <a:solidFill>
                  <a:srgbClr val="610B38"/>
                </a:solidFill>
                <a:latin typeface="erdana"/>
              </a:rPr>
              <a:t>and JSON_ARRAYAGG</a:t>
            </a:r>
            <a:endParaRPr lang="en-IN" sz="2400" b="0" i="0" dirty="0">
              <a:solidFill>
                <a:srgbClr val="610B38"/>
              </a:solidFill>
              <a:effectLst/>
              <a:latin typeface="erdana"/>
            </a:endParaRPr>
          </a:p>
        </p:txBody>
      </p:sp>
      <p:grpSp>
        <p:nvGrpSpPr>
          <p:cNvPr id="49" name="Group 48">
            <a:extLst>
              <a:ext uri="{FF2B5EF4-FFF2-40B4-BE49-F238E27FC236}">
                <a16:creationId xmlns:a16="http://schemas.microsoft.com/office/drawing/2014/main" id="{635EB032-B282-4430-986D-AA2E5286CC50}"/>
              </a:ext>
            </a:extLst>
          </p:cNvPr>
          <p:cNvGrpSpPr/>
          <p:nvPr/>
        </p:nvGrpSpPr>
        <p:grpSpPr>
          <a:xfrm>
            <a:off x="2063552" y="2979529"/>
            <a:ext cx="9793088" cy="1543543"/>
            <a:chOff x="1699040" y="3121804"/>
            <a:chExt cx="9653544" cy="1543543"/>
          </a:xfrm>
        </p:grpSpPr>
        <p:sp>
          <p:nvSpPr>
            <p:cNvPr id="45" name="TextBox 44">
              <a:extLst>
                <a:ext uri="{FF2B5EF4-FFF2-40B4-BE49-F238E27FC236}">
                  <a16:creationId xmlns:a16="http://schemas.microsoft.com/office/drawing/2014/main" id="{5F3E7A48-09FE-4DE5-8F7C-773C02859BDE}"/>
                </a:ext>
              </a:extLst>
            </p:cNvPr>
            <p:cNvSpPr txBox="1"/>
            <p:nvPr/>
          </p:nvSpPr>
          <p:spPr>
            <a:xfrm>
              <a:off x="1699040" y="3121804"/>
              <a:ext cx="9653544" cy="400110"/>
            </a:xfrm>
            <a:prstGeom prst="rect">
              <a:avLst/>
            </a:prstGeom>
            <a:noFill/>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dirty="0">
                  <a:solidFill>
                    <a:schemeClr val="bg1">
                      <a:lumMod val="50000"/>
                    </a:schemeClr>
                  </a:solidFill>
                  <a:latin typeface="Liberation Mono"/>
                  <a:cs typeface="Arial" panose="020B0604020202020204" pitchFamily="34" charset="0"/>
                </a:rPr>
                <a:t>. . .</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&lt;condition&gt;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GROUP</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 </a:t>
              </a:r>
              <a:r>
                <a:rPr lang="en-US" sz="2000" dirty="0">
                  <a:latin typeface="Liberation Mono"/>
                  <a:cs typeface="Arial" panose="020B0604020202020204" pitchFamily="34" charset="0"/>
                </a:rPr>
                <a:t>column_name</a:t>
              </a:r>
              <a:endParaRPr lang="en-IN" sz="2000" dirty="0">
                <a:latin typeface="Liberation Mono"/>
                <a:cs typeface="Arial" panose="020B0604020202020204" pitchFamily="34" charset="0"/>
              </a:endParaRPr>
            </a:p>
          </p:txBody>
        </p:sp>
        <p:sp>
          <p:nvSpPr>
            <p:cNvPr id="46" name="TextBox 45">
              <a:extLst>
                <a:ext uri="{FF2B5EF4-FFF2-40B4-BE49-F238E27FC236}">
                  <a16:creationId xmlns:a16="http://schemas.microsoft.com/office/drawing/2014/main" id="{B5FF3371-9FCA-41F6-89CF-B013D6B7AC0A}"/>
                </a:ext>
              </a:extLst>
            </p:cNvPr>
            <p:cNvSpPr txBox="1"/>
            <p:nvPr/>
          </p:nvSpPr>
          <p:spPr>
            <a:xfrm>
              <a:off x="4913014" y="4019016"/>
              <a:ext cx="4736003" cy="646331"/>
            </a:xfrm>
            <a:prstGeom prst="rect">
              <a:avLst/>
            </a:prstGeom>
            <a:noFill/>
          </p:spPr>
          <p:txBody>
            <a:bodyPr wrap="square">
              <a:spAutoFit/>
            </a:bodyPr>
            <a:lstStyle/>
            <a:p>
              <a:r>
                <a:rPr lang="en-US" dirty="0">
                  <a:solidFill>
                    <a:srgbClr val="610B38"/>
                  </a:solidFill>
                  <a:latin typeface="Liberation Mono"/>
                </a:rPr>
                <a:t>SUM</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AVG</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 </a:t>
              </a:r>
              <a:r>
                <a:rPr lang="en-US" dirty="0">
                  <a:solidFill>
                    <a:srgbClr val="610B38"/>
                  </a:solidFill>
                  <a:latin typeface="Liberation Mono"/>
                </a:rPr>
                <a:t>MAX</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a:t>
              </a:r>
              <a:r>
                <a:rPr lang="en-US" dirty="0">
                  <a:solidFill>
                    <a:schemeClr val="bg1">
                      <a:lumMod val="65000"/>
                    </a:schemeClr>
                  </a:solidFill>
                  <a:uFill>
                    <a:solidFill>
                      <a:srgbClr val="FF0000"/>
                    </a:solidFill>
                  </a:uFill>
                  <a:latin typeface="Liberation Mono"/>
                </a:rPr>
                <a:t> </a:t>
              </a:r>
            </a:p>
            <a:p>
              <a:r>
                <a:rPr lang="en-US" dirty="0">
                  <a:solidFill>
                    <a:srgbClr val="610B38"/>
                  </a:solidFill>
                  <a:latin typeface="Liberation Mono"/>
                </a:rPr>
                <a:t>MIN</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a:t>
              </a:r>
              <a:r>
                <a:rPr lang="en-US" dirty="0">
                  <a:uFill>
                    <a:solidFill>
                      <a:srgbClr val="FF0000"/>
                    </a:solidFill>
                  </a:uFill>
                  <a:latin typeface="Liberation Mono"/>
                </a:rPr>
                <a:t>)</a:t>
              </a:r>
              <a:endParaRPr lang="en-IN" dirty="0">
                <a:latin typeface="Liberation Mono"/>
              </a:endParaRPr>
            </a:p>
          </p:txBody>
        </p:sp>
        <p:cxnSp>
          <p:nvCxnSpPr>
            <p:cNvPr id="12" name="Straight Arrow Connector 11">
              <a:extLst>
                <a:ext uri="{FF2B5EF4-FFF2-40B4-BE49-F238E27FC236}">
                  <a16:creationId xmlns:a16="http://schemas.microsoft.com/office/drawing/2014/main" id="{241555F3-0B35-48C4-A87A-50670156010B}"/>
                </a:ext>
              </a:extLst>
            </p:cNvPr>
            <p:cNvCxnSpPr/>
            <p:nvPr/>
          </p:nvCxnSpPr>
          <p:spPr>
            <a:xfrm>
              <a:off x="5551897"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FA60F10E-4C2D-4A47-80AC-24C73F83A9BE}"/>
                </a:ext>
              </a:extLst>
            </p:cNvPr>
            <p:cNvCxnSpPr/>
            <p:nvPr/>
          </p:nvCxnSpPr>
          <p:spPr>
            <a:xfrm>
              <a:off x="7874469"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F2213E18-2971-4F7B-9255-CB2707BBA893}"/>
                </a:ext>
              </a:extLst>
            </p:cNvPr>
            <p:cNvSpPr txBox="1"/>
            <p:nvPr/>
          </p:nvSpPr>
          <p:spPr>
            <a:xfrm>
              <a:off x="5886975" y="3572436"/>
              <a:ext cx="1979171" cy="430887"/>
            </a:xfrm>
            <a:prstGeom prst="rect">
              <a:avLst/>
            </a:prstGeom>
            <a:noFill/>
          </p:spPr>
          <p:txBody>
            <a:bodyPr wrap="square">
              <a:spAutoFit/>
            </a:bodyPr>
            <a:lstStyle/>
            <a:p>
              <a:r>
                <a:rPr lang="en-US" sz="2200" b="1" dirty="0">
                  <a:solidFill>
                    <a:srgbClr val="669900"/>
                  </a:solidFill>
                  <a:latin typeface="Liberation Mono"/>
                </a:rPr>
                <a:t>this is invalid</a:t>
              </a:r>
              <a:endParaRPr lang="en-IN" sz="2200" b="1" dirty="0"/>
            </a:p>
          </p:txBody>
        </p:sp>
      </p:grpSp>
    </p:spTree>
    <p:extLst>
      <p:ext uri="{BB962C8B-B14F-4D97-AF65-F5344CB8AC3E}">
        <p14:creationId xmlns:p14="http://schemas.microsoft.com/office/powerpoint/2010/main" val="2014507551"/>
      </p:ext>
    </p:extLst>
  </p:cSld>
  <p:clrMapOvr>
    <a:masterClrMapping/>
  </p:clrMapOvr>
</p:sld>
</file>

<file path=ppt/slides/slide4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83B62AA-306C-4E56-95DB-361C8CE1A765}"/>
              </a:ext>
            </a:extLst>
          </p:cNvPr>
          <p:cNvSpPr/>
          <p:nvPr/>
        </p:nvSpPr>
        <p:spPr>
          <a:xfrm>
            <a:off x="319314" y="260648"/>
            <a:ext cx="11161240"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sz="2000" b="1" dirty="0">
                <a:latin typeface="Arial" panose="020B0604020202020204" pitchFamily="34" charset="0"/>
                <a:cs typeface="Arial" panose="020B0604020202020204" pitchFamily="34" charset="0"/>
              </a:rPr>
              <a:t>There are 3 places where aggregate functions can appear in a query.</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SELECT-LIST/FIELD-LIST</a:t>
            </a:r>
            <a:r>
              <a:rPr lang="en-IN" dirty="0">
                <a:solidFill>
                  <a:srgbClr val="00B0F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(the items before the FROM 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ORDER</a:t>
            </a:r>
            <a:r>
              <a:rPr lang="en-IN" dirty="0">
                <a:solidFill>
                  <a:srgbClr val="00B0F0"/>
                </a:solidFill>
                <a:latin typeface="Arial" panose="020B0604020202020204" pitchFamily="34" charset="0"/>
                <a:cs typeface="Arial" panose="020B0604020202020204" pitchFamily="34" charset="0"/>
              </a:rPr>
              <a:t> </a:t>
            </a:r>
            <a:r>
              <a:rPr lang="en-IN" dirty="0">
                <a:solidFill>
                  <a:srgbClr val="00B0F0"/>
                </a:solidFill>
                <a:uFill>
                  <a:solidFill>
                    <a:srgbClr val="FF0000"/>
                  </a:solidFill>
                </a:uFill>
                <a:latin typeface="Arial" panose="020B0604020202020204" pitchFamily="34" charset="0"/>
                <a:cs typeface="Arial" panose="020B0604020202020204" pitchFamily="34" charset="0"/>
              </a:rPr>
              <a:t>BY</a:t>
            </a:r>
            <a:r>
              <a:rPr lang="en-IN" dirty="0">
                <a:solidFill>
                  <a:srgbClr val="A40052"/>
                </a:solidFill>
                <a:uFill>
                  <a:solidFill>
                    <a:srgbClr val="FF0000"/>
                  </a:solidFill>
                </a:u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sp>
        <p:nvSpPr>
          <p:cNvPr id="6" name="Rectangle 5">
            <a:extLst>
              <a:ext uri="{FF2B5EF4-FFF2-40B4-BE49-F238E27FC236}">
                <a16:creationId xmlns:a16="http://schemas.microsoft.com/office/drawing/2014/main" id="{84AEAD9C-8F2B-4814-AE05-75B749E695C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0FFF71-9A93-4CF0-956C-57CEC3208480}"/>
              </a:ext>
            </a:extLst>
          </p:cNvPr>
          <p:cNvSpPr/>
          <p:nvPr/>
        </p:nvSpPr>
        <p:spPr>
          <a:xfrm>
            <a:off x="319314" y="2319838"/>
            <a:ext cx="11608540" cy="449353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rPr>
              <a:t>:</a:t>
            </a:r>
          </a:p>
          <a:p>
            <a:endParaRPr lang="en-IN" sz="6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aggregate functions allow you to perform the calculation of a set </a:t>
            </a:r>
            <a:r>
              <a:rPr lang="en-IN">
                <a:latin typeface="Palatino Linotype" panose="02040502050505030304" pitchFamily="18" charset="0"/>
                <a:cs typeface="Segoe UI Light" panose="020B0502040204020203" pitchFamily="34" charset="0"/>
              </a:rPr>
              <a:t>of values </a:t>
            </a:r>
            <a:r>
              <a:rPr lang="en-IN" dirty="0">
                <a:latin typeface="Palatino Linotype" panose="02040502050505030304" pitchFamily="18" charset="0"/>
                <a:cs typeface="Segoe UI Light" panose="020B0502040204020203" pitchFamily="34" charset="0"/>
              </a:rPr>
              <a:t>and </a:t>
            </a:r>
            <a:r>
              <a:rPr lang="en-IN" b="1" dirty="0">
                <a:latin typeface="Palatino Linotype" panose="02040502050505030304" pitchFamily="18" charset="0"/>
                <a:cs typeface="Segoe UI Light" panose="020B0502040204020203" pitchFamily="34" charset="0"/>
              </a:rPr>
              <a:t>return a </a:t>
            </a:r>
            <a:r>
              <a:rPr lang="en-IN" b="1" i="1" dirty="0">
                <a:solidFill>
                  <a:srgbClr val="C00000"/>
                </a:solidFill>
                <a:uFill>
                  <a:solidFill>
                    <a:srgbClr val="FF0000"/>
                  </a:solidFill>
                </a:uFill>
                <a:latin typeface="Palatino Linotype" panose="02040502050505030304" pitchFamily="18" charset="0"/>
              </a:rPr>
              <a:t>single</a:t>
            </a:r>
            <a:r>
              <a:rPr lang="en-IN"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value</a:t>
            </a:r>
            <a:r>
              <a:rPr lang="en-IN" dirty="0">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WHERE</a:t>
            </a:r>
            <a:r>
              <a:rPr lang="en-IN" dirty="0">
                <a:solidFill>
                  <a:schemeClr val="tx1">
                    <a:lumMod val="85000"/>
                    <a:lumOff val="15000"/>
                  </a:schemeClr>
                </a:solidFill>
                <a:latin typeface="Palatino Linotype" panose="02040502050505030304" pitchFamily="18" charset="0"/>
              </a:rPr>
              <a:t> clause cannot refer to aggregate functions. </a:t>
            </a:r>
            <a:r>
              <a:rPr lang="en-IN" dirty="0">
                <a:solidFill>
                  <a:srgbClr val="FF0000"/>
                </a:solidFill>
                <a:latin typeface="Palatino Linotype" panose="02040502050505030304" pitchFamily="18" charset="0"/>
                <a:cs typeface="Segoe UI Light" panose="020B0502040204020203" pitchFamily="34" charset="0"/>
              </a:rPr>
              <a:t>e.g.</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WHERE</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Invalid,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HAVING</a:t>
            </a:r>
            <a:r>
              <a:rPr lang="en-IN" dirty="0">
                <a:solidFill>
                  <a:schemeClr val="tx1">
                    <a:lumMod val="85000"/>
                    <a:lumOff val="15000"/>
                  </a:schemeClr>
                </a:solidFill>
                <a:latin typeface="Palatino Linotype" panose="02040502050505030304" pitchFamily="18" charset="0"/>
              </a:rPr>
              <a:t> clause can refer to aggregate functions.     </a:t>
            </a:r>
            <a:r>
              <a:rPr lang="en-IN" dirty="0">
                <a:solidFill>
                  <a:srgbClr val="FF0000"/>
                </a:solidFill>
                <a:latin typeface="Palatino Linotype" panose="02040502050505030304" pitchFamily="18" charset="0"/>
                <a:cs typeface="Segoe UI Light" panose="020B0502040204020203" pitchFamily="34" charset="0"/>
              </a:rPr>
              <a:t>e.g. </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HAVING</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Valid,  No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Nesting of aggregate functions are not allowed.</a:t>
            </a:r>
          </a:p>
          <a:p>
            <a:r>
              <a:rPr lang="en-IN" dirty="0">
                <a:solidFill>
                  <a:srgbClr val="FF0000"/>
                </a:solidFill>
                <a:latin typeface="Palatino Linotype" panose="02040502050505030304" pitchFamily="18" charset="0"/>
                <a:cs typeface="Segoe UI Light" panose="020B0502040204020203" pitchFamily="34" charset="0"/>
              </a:rPr>
              <a:t>     e.g.</a:t>
            </a:r>
          </a:p>
          <a:p>
            <a:r>
              <a:rPr lang="en-US"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 SELECT</a:t>
            </a:r>
            <a:r>
              <a:rPr lang="en-US" dirty="0">
                <a:latin typeface="Palatino Linotype" panose="02040502050505030304" pitchFamily="18" charset="0"/>
                <a:cs typeface="Arial" panose="020B0604020202020204" pitchFamily="34" charset="0"/>
              </a:rPr>
              <a:t> </a:t>
            </a:r>
            <a:r>
              <a:rPr lang="en-US" dirty="0">
                <a:solidFill>
                  <a:srgbClr val="DD4A68"/>
                </a:solidFill>
                <a:latin typeface="Palatino Linotype" panose="02040502050505030304" pitchFamily="18" charset="0"/>
              </a:rPr>
              <a:t>MAX</a:t>
            </a:r>
            <a:r>
              <a:rPr lang="en-US" dirty="0">
                <a:latin typeface="Palatino Linotype" panose="02040502050505030304" pitchFamily="18" charset="0"/>
                <a:cs typeface="Arial" panose="020B0604020202020204" pitchFamily="34" charset="0"/>
              </a:rPr>
              <a:t>(</a:t>
            </a:r>
            <a:r>
              <a:rPr lang="en-US" dirty="0">
                <a:solidFill>
                  <a:srgbClr val="DD4A68"/>
                </a:solidFill>
                <a:latin typeface="Palatino Linotype" panose="02040502050505030304" pitchFamily="18" charset="0"/>
              </a:rPr>
              <a:t>COUNT</a:t>
            </a:r>
            <a:r>
              <a:rPr lang="en-US" dirty="0">
                <a:latin typeface="Palatino Linotype" panose="02040502050505030304" pitchFamily="18" charset="0"/>
                <a:cs typeface="Arial" panose="020B0604020202020204" pitchFamily="34" charset="0"/>
              </a:rPr>
              <a:t>(</a:t>
            </a:r>
            <a:r>
              <a:rPr lang="en-US" dirty="0">
                <a:solidFill>
                  <a:srgbClr val="A67F59"/>
                </a:solidFill>
                <a:latin typeface="Palatino Linotype" panose="02040502050505030304" pitchFamily="18" charset="0"/>
              </a:rPr>
              <a:t>*</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FROM</a:t>
            </a:r>
            <a:r>
              <a:rPr lang="en-US" dirty="0">
                <a:latin typeface="Palatino Linotype" panose="02040502050505030304" pitchFamily="18" charset="0"/>
                <a:cs typeface="Arial" panose="020B0604020202020204" pitchFamily="34" charset="0"/>
              </a:rPr>
              <a:t> emp </a:t>
            </a:r>
            <a:r>
              <a:rPr lang="en-US" dirty="0">
                <a:solidFill>
                  <a:srgbClr val="0077AA"/>
                </a:solidFill>
                <a:latin typeface="Palatino Linotype" panose="02040502050505030304" pitchFamily="18" charset="0"/>
                <a:cs typeface="Arial" panose="020B0604020202020204" pitchFamily="34" charset="0"/>
              </a:rPr>
              <a:t>GROUP</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BY</a:t>
            </a:r>
            <a:r>
              <a:rPr lang="en-US" dirty="0">
                <a:latin typeface="Palatino Linotype" panose="02040502050505030304" pitchFamily="18" charset="0"/>
                <a:cs typeface="Arial" panose="020B0604020202020204" pitchFamily="34" charset="0"/>
              </a:rPr>
              <a:t> deptno;</a:t>
            </a:r>
          </a:p>
          <a:p>
            <a:endParaRPr lang="en-US"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Blank space between aggregate functions like (</a:t>
            </a:r>
            <a:r>
              <a:rPr lang="en-IN" dirty="0">
                <a:solidFill>
                  <a:srgbClr val="DD4A68"/>
                </a:solidFill>
                <a:latin typeface="Palatino Linotype" panose="02040502050505030304" pitchFamily="18" charset="0"/>
              </a:rPr>
              <a:t>SUM</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MIN</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MAX</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COUNT</a:t>
            </a:r>
            <a:r>
              <a:rPr lang="en-IN" dirty="0">
                <a:solidFill>
                  <a:srgbClr val="242729"/>
                </a:solidFill>
                <a:latin typeface="Palatino Linotype" panose="02040502050505030304" pitchFamily="18" charset="0"/>
                <a:cs typeface="Segoe UI Light" panose="020B0502040204020203" pitchFamily="34" charset="0"/>
              </a:rPr>
              <a:t>) are not allowed. </a:t>
            </a:r>
          </a:p>
          <a:p>
            <a:r>
              <a:rPr lang="en-IN" dirty="0">
                <a:solidFill>
                  <a:srgbClr val="FF0000"/>
                </a:solidFill>
                <a:latin typeface="Palatino Linotype" panose="02040502050505030304" pitchFamily="18" charset="0"/>
                <a:cs typeface="Segoe UI Light" panose="020B0502040204020203" pitchFamily="34" charset="0"/>
              </a:rPr>
              <a:t>     e.g.</a:t>
            </a:r>
            <a:endParaRPr lang="en-IN" dirty="0">
              <a:solidFill>
                <a:srgbClr val="242729"/>
              </a:solidFill>
              <a:latin typeface="Palatino Linotype" panose="02040502050505030304" pitchFamily="18" charset="0"/>
              <a:cs typeface="Segoe UI Light" panose="020B0502040204020203" pitchFamily="34" charset="0"/>
            </a:endParaRPr>
          </a:p>
          <a:p>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SELECT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SUM</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 </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sal</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FROM</a:t>
            </a:r>
            <a:r>
              <a:rPr lang="en-IN" dirty="0">
                <a:solidFill>
                  <a:srgbClr val="242729"/>
                </a:solidFill>
                <a:latin typeface="Palatino Linotype" panose="02040502050505030304" pitchFamily="18" charset="0"/>
                <a:cs typeface="Segoe UI Light" panose="020B0502040204020203" pitchFamily="34" charset="0"/>
              </a:rPr>
              <a:t> emp;</a:t>
            </a:r>
          </a:p>
          <a:p>
            <a:endParaRPr lang="en-IN" sz="400" dirty="0">
              <a:solidFill>
                <a:srgbClr val="242729"/>
              </a:solidFill>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GROUP BY clause is often used with an aggregate function to perform calculation and </a:t>
            </a:r>
            <a:r>
              <a:rPr lang="en-IN" b="1" dirty="0">
                <a:latin typeface="Palatino Linotype" panose="02040502050505030304" pitchFamily="18" charset="0"/>
                <a:cs typeface="Segoe UI Light" panose="020B0502040204020203" pitchFamily="34" charset="0"/>
              </a:rPr>
              <a:t>return a single  value for each subgroup</a:t>
            </a:r>
            <a:r>
              <a:rPr lang="en-IN" dirty="0">
                <a:latin typeface="Palatino Linotype" panose="02040502050505030304" pitchFamily="18" charset="0"/>
                <a:cs typeface="Segoe UI Light" panose="020B0502040204020203" pitchFamily="34" charset="0"/>
              </a:rPr>
              <a:t>.</a:t>
            </a:r>
          </a:p>
          <a:p>
            <a:pPr marL="285750" indent="-285750" algn="just">
              <a:buFont typeface="Arial" panose="020B0604020202020204" pitchFamily="34" charset="0"/>
              <a:buChar char="•"/>
            </a:pPr>
            <a:endParaRPr lang="en-IN" sz="400" dirty="0">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To eliminate duplicates before applying the aggregate function is available by including the keyword DISTINCT.</a:t>
            </a:r>
            <a:endParaRPr lang="en-IN"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099243333"/>
      </p:ext>
    </p:extLst>
  </p:cSld>
  <p:clrMapOvr>
    <a:masterClrMapping/>
  </p:clrMapOvr>
</p:sld>
</file>

<file path=ppt/slides/slide4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AVG</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AVG()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AVG() may </a:t>
            </a:r>
            <a:r>
              <a:rPr lang="en-IN" dirty="0">
                <a:latin typeface="Palatino Linotype" panose="02040502050505030304" pitchFamily="18" charset="0"/>
                <a:cs typeface="Arial" panose="020B0604020202020204" pitchFamily="34" charset="0"/>
              </a:rPr>
              <a:t>take a numeric argument, and it returns a average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AVG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012D5A3-D009-4DB2-A027-C5A7FDEEA453}"/>
              </a:ext>
            </a:extLst>
          </p:cNvPr>
          <p:cNvSpPr txBox="1"/>
          <p:nvPr/>
        </p:nvSpPr>
        <p:spPr>
          <a:xfrm>
            <a:off x="112372" y="692696"/>
            <a:ext cx="11816275" cy="369332"/>
          </a:xfrm>
          <a:prstGeom prst="rect">
            <a:avLst/>
          </a:prstGeom>
          <a:noFill/>
        </p:spPr>
        <p:txBody>
          <a:bodyPr wrap="square">
            <a:spAutoFit/>
          </a:bodyPr>
          <a:lstStyle/>
          <a:p>
            <a:r>
              <a:rPr lang="en-IN" sz="1800" b="1">
                <a:latin typeface="Palatino Linotype" panose="02040502050505030304" pitchFamily="18" charset="0"/>
              </a:rPr>
              <a:t>TODO</a:t>
            </a:r>
            <a:endParaRPr lang="en-IN" sz="1800" b="1" dirty="0">
              <a:latin typeface="Palatino Linotype" panose="02040502050505030304" pitchFamily="18" charset="0"/>
            </a:endParaRPr>
          </a:p>
        </p:txBody>
      </p:sp>
      <p:sp>
        <p:nvSpPr>
          <p:cNvPr id="2" name="TextBox 1">
            <a:extLst>
              <a:ext uri="{FF2B5EF4-FFF2-40B4-BE49-F238E27FC236}">
                <a16:creationId xmlns:a16="http://schemas.microsoft.com/office/drawing/2014/main" id="{2F0535A4-A488-EA4C-BBB4-FE39FEED095F}"/>
              </a:ext>
            </a:extLst>
          </p:cNvPr>
          <p:cNvSpPr txBox="1"/>
          <p:nvPr/>
        </p:nvSpPr>
        <p:spPr>
          <a:xfrm>
            <a:off x="4510800" y="278106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AVG</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Tree>
    <p:extLst>
      <p:ext uri="{BB962C8B-B14F-4D97-AF65-F5344CB8AC3E}">
        <p14:creationId xmlns:p14="http://schemas.microsoft.com/office/powerpoint/2010/main" val="1231245201"/>
      </p:ext>
    </p:extLst>
  </p:cSld>
  <p:clrMapOvr>
    <a:masterClrMapping/>
  </p:clrMapOvr>
</p:sld>
</file>

<file path=ppt/slides/slide4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US"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DB7BC9"/>
              </a:solidFill>
              <a:latin typeface="Liberation Mono"/>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a:t>
            </a:r>
            <a:r>
              <a:rPr lang="en-IN" dirty="0">
                <a:solidFill>
                  <a:srgbClr val="DB7BC9"/>
                </a:solidFill>
                <a:latin typeface="Liberation Mono"/>
              </a:rPr>
              <a:t> </a:t>
            </a:r>
            <a:r>
              <a:rPr lang="en-US" dirty="0">
                <a:solidFill>
                  <a:srgbClr val="DD4A68"/>
                </a:solidFill>
                <a:latin typeface="Liberation Mono"/>
              </a:rPr>
              <a:t>SUM</a:t>
            </a:r>
            <a:r>
              <a:rPr lang="en-US"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r>
              <a:rPr lang="en-IN" dirty="0">
                <a:solidFill>
                  <a:srgbClr val="DB7BC9"/>
                </a:solidFill>
                <a:latin typeface="Liberation Mono"/>
              </a:rPr>
              <a:t> </a:t>
            </a:r>
            <a:r>
              <a:rPr lang="en-US" i="1" dirty="0">
                <a:solidFill>
                  <a:schemeClr val="bg1">
                    <a:lumMod val="50000"/>
                  </a:schemeClr>
                </a:solidFill>
                <a:latin typeface="Liberation Mono"/>
              </a:rPr>
              <a:t>"R1"</a:t>
            </a:r>
            <a:r>
              <a:rPr lang="en-US" dirty="0">
                <a:latin typeface="Liberation Mono"/>
              </a:rPr>
              <a:t>;</a:t>
            </a:r>
            <a:endParaRPr lang="en-US" dirty="0">
              <a:solidFill>
                <a:srgbClr val="DB7BC9"/>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2</a:t>
            </a:r>
            <a:r>
              <a:rPr lang="en-US" dirty="0">
                <a:latin typeface="Liberation Mono"/>
              </a:rPr>
              <a:t> +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US" dirty="0">
              <a:solidFill>
                <a:schemeClr val="bg1">
                  <a:lumMod val="65000"/>
                </a:schemeClr>
              </a:solidFill>
              <a:latin typeface="Liberation Mono"/>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a:t>
            </a:r>
            <a:r>
              <a:rPr lang="en-IN" dirty="0">
                <a:solidFill>
                  <a:srgbClr val="990055"/>
                </a:solidFill>
                <a:latin typeface="Liberation Mono"/>
              </a:rPr>
              <a:t>1</a:t>
            </a:r>
            <a:r>
              <a:rPr lang="en-IN" dirty="0">
                <a:solidFill>
                  <a:schemeClr val="bg1">
                    <a:lumMod val="65000"/>
                  </a:schemeClr>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grpSp>
        <p:nvGrpSpPr>
          <p:cNvPr id="6" name="Group 5">
            <a:extLst>
              <a:ext uri="{FF2B5EF4-FFF2-40B4-BE49-F238E27FC236}">
                <a16:creationId xmlns:a16="http://schemas.microsoft.com/office/drawing/2014/main" id="{6339EDB6-92E3-FC97-5346-7EB0CF58499A}"/>
              </a:ext>
            </a:extLst>
          </p:cNvPr>
          <p:cNvGrpSpPr/>
          <p:nvPr/>
        </p:nvGrpSpPr>
        <p:grpSpPr>
          <a:xfrm>
            <a:off x="4072825" y="2531788"/>
            <a:ext cx="8088065" cy="3633516"/>
            <a:chOff x="4072825" y="2531788"/>
            <a:chExt cx="8088065" cy="3633516"/>
          </a:xfrm>
        </p:grpSpPr>
        <p:sp>
          <p:nvSpPr>
            <p:cNvPr id="10" name="Rectangle 9">
              <a:extLst>
                <a:ext uri="{FF2B5EF4-FFF2-40B4-BE49-F238E27FC236}">
                  <a16:creationId xmlns:a16="http://schemas.microsoft.com/office/drawing/2014/main" id="{EF727649-CD43-3379-0C80-BAE36A71D2A0}"/>
                </a:ext>
              </a:extLst>
            </p:cNvPr>
            <p:cNvSpPr/>
            <p:nvPr/>
          </p:nvSpPr>
          <p:spPr>
            <a:xfrm>
              <a:off x="6725405" y="521993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grpSp>
          <p:nvGrpSpPr>
            <p:cNvPr id="2" name="Group 1">
              <a:extLst>
                <a:ext uri="{FF2B5EF4-FFF2-40B4-BE49-F238E27FC236}">
                  <a16:creationId xmlns:a16="http://schemas.microsoft.com/office/drawing/2014/main" id="{6344FB49-5C85-8A7B-FE3D-A8E257ACE119}"/>
                </a:ext>
              </a:extLst>
            </p:cNvPr>
            <p:cNvGrpSpPr/>
            <p:nvPr/>
          </p:nvGrpSpPr>
          <p:grpSpPr>
            <a:xfrm>
              <a:off x="4072825" y="2531788"/>
              <a:ext cx="8088065" cy="3633516"/>
              <a:chOff x="4072825" y="2531788"/>
              <a:chExt cx="8088065" cy="3633516"/>
            </a:xfrm>
          </p:grpSpPr>
          <p:sp>
            <p:nvSpPr>
              <p:cNvPr id="9" name="TextBox 8">
                <a:extLst>
                  <a:ext uri="{FF2B5EF4-FFF2-40B4-BE49-F238E27FC236}">
                    <a16:creationId xmlns:a16="http://schemas.microsoft.com/office/drawing/2014/main" id="{8F0D3B76-DA91-3828-8EE4-2E8FC66E2289}"/>
                  </a:ext>
                </a:extLst>
              </p:cNvPr>
              <p:cNvSpPr txBox="1"/>
              <p:nvPr/>
            </p:nvSpPr>
            <p:spPr>
              <a:xfrm>
                <a:off x="4510800" y="2531788"/>
                <a:ext cx="7560839" cy="2265364"/>
              </a:xfrm>
              <a:prstGeom prst="rect">
                <a:avLst/>
              </a:prstGeom>
              <a:solidFill>
                <a:schemeClr val="bg1">
                  <a:lumMod val="95000"/>
                </a:schemeClr>
              </a:solidFill>
              <a:ln>
                <a:solidFill>
                  <a:srgbClr val="C00000"/>
                </a:solidFill>
              </a:ln>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chemeClr val="accent5">
                        <a:lumMod val="75000"/>
                      </a:schemeClr>
                    </a:solidFill>
                    <a:latin typeface="Liberation Mono"/>
                    <a:cs typeface="Arial" panose="020B0604020202020204" pitchFamily="34" charset="0"/>
                  </a:rPr>
                  <a:t>*</a:t>
                </a:r>
                <a:r>
                  <a:rPr lang="en-US" dirty="0">
                    <a:latin typeface="Liberation Mono"/>
                  </a:rPr>
                  <a:t>) total_employees, </a:t>
                </a:r>
                <a:r>
                  <a:rPr lang="en-US" dirty="0">
                    <a:solidFill>
                      <a:srgbClr val="DD4A68"/>
                    </a:solidFill>
                    <a:latin typeface="Liberation Mono"/>
                  </a:rPr>
                  <a:t>SUM</a:t>
                </a:r>
                <a:r>
                  <a:rPr lang="en-US" dirty="0">
                    <a:latin typeface="Liberation Mono"/>
                  </a:rPr>
                  <a:t>(job = 'manager') total_managers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SUM</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1511A59D-24A9-B786-7D31-B3FBB490E59B}"/>
                  </a:ext>
                </a:extLst>
              </p:cNvPr>
              <p:cNvSpPr txBox="1"/>
              <p:nvPr/>
            </p:nvSpPr>
            <p:spPr>
              <a:xfrm>
                <a:off x="6744072" y="5518973"/>
                <a:ext cx="5416818" cy="646331"/>
              </a:xfrm>
              <a:prstGeom prst="rect">
                <a:avLst/>
              </a:prstGeom>
              <a:noFill/>
            </p:spPr>
            <p:txBody>
              <a:bodyPr wrap="square">
                <a:spAutoFit/>
              </a:bodyPr>
              <a:lstStyle/>
              <a:p>
                <a:r>
                  <a:rPr lang="en-IN" dirty="0">
                    <a:latin typeface="Liberation Mono"/>
                  </a:rPr>
                  <a:t>Here,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t>
                </a:r>
                <a:r>
                  <a:rPr lang="en-IN" dirty="0">
                    <a:solidFill>
                      <a:srgbClr val="990055"/>
                    </a:solidFill>
                    <a:latin typeface="Liberation Mono"/>
                  </a:rPr>
                  <a:t>1</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rgbClr val="990055"/>
                    </a:solidFill>
                    <a:latin typeface="Liberation Mono"/>
                  </a:rPr>
                  <a:t>0</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and </a:t>
                </a:r>
                <a:r>
                  <a:rPr lang="en-IN" dirty="0">
                    <a:solidFill>
                      <a:srgbClr val="DD4A68"/>
                    </a:solidFill>
                    <a:latin typeface="Liberation Mono"/>
                  </a:rPr>
                  <a:t>SUM</a:t>
                </a:r>
                <a:r>
                  <a:rPr lang="en-IN" dirty="0">
                    <a:latin typeface="Liberation Mono"/>
                  </a:rPr>
                  <a:t> adds up the 1s.</a:t>
                </a:r>
              </a:p>
            </p:txBody>
          </p:sp>
          <p:grpSp>
            <p:nvGrpSpPr>
              <p:cNvPr id="43" name="Group 42">
                <a:extLst>
                  <a:ext uri="{FF2B5EF4-FFF2-40B4-BE49-F238E27FC236}">
                    <a16:creationId xmlns:a16="http://schemas.microsoft.com/office/drawing/2014/main" id="{F796E751-B2D7-2D78-4286-0D27A64A5FC9}"/>
                  </a:ext>
                </a:extLst>
              </p:cNvPr>
              <p:cNvGrpSpPr/>
              <p:nvPr/>
            </p:nvGrpSpPr>
            <p:grpSpPr>
              <a:xfrm>
                <a:off x="4072825" y="4191904"/>
                <a:ext cx="2671247" cy="1541352"/>
                <a:chOff x="4140693" y="3923870"/>
                <a:chExt cx="2671247" cy="1661939"/>
              </a:xfrm>
            </p:grpSpPr>
            <p:cxnSp>
              <p:nvCxnSpPr>
                <p:cNvPr id="37" name="Straight Arrow Connector 36">
                  <a:extLst>
                    <a:ext uri="{FF2B5EF4-FFF2-40B4-BE49-F238E27FC236}">
                      <a16:creationId xmlns:a16="http://schemas.microsoft.com/office/drawing/2014/main" id="{8A58B57F-777B-6E95-5628-63E88203BEB8}"/>
                    </a:ext>
                  </a:extLst>
                </p:cNvPr>
                <p:cNvCxnSpPr>
                  <a:cxnSpLocks/>
                </p:cNvCxnSpPr>
                <p:nvPr/>
              </p:nvCxnSpPr>
              <p:spPr>
                <a:xfrm>
                  <a:off x="4140693" y="4809745"/>
                  <a:ext cx="2112963" cy="0"/>
                </a:xfrm>
                <a:prstGeom prst="straightConnector1">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BC60DD31-6D67-4C67-E969-D2C9BDEAFAD0}"/>
                    </a:ext>
                  </a:extLst>
                </p:cNvPr>
                <p:cNvCxnSpPr>
                  <a:cxnSpLocks/>
                </p:cNvCxnSpPr>
                <p:nvPr/>
              </p:nvCxnSpPr>
              <p:spPr>
                <a:xfrm flipV="1">
                  <a:off x="4151784" y="3923871"/>
                  <a:ext cx="0" cy="885875"/>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2B56A246-5B37-175A-08D8-B78F955111FC}"/>
                    </a:ext>
                  </a:extLst>
                </p:cNvPr>
                <p:cNvCxnSpPr/>
                <p:nvPr/>
              </p:nvCxnSpPr>
              <p:spPr>
                <a:xfrm>
                  <a:off x="4151784" y="3923870"/>
                  <a:ext cx="432048"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18F3423-C9ED-A68A-6373-58A3DF6169F9}"/>
                    </a:ext>
                  </a:extLst>
                </p:cNvPr>
                <p:cNvCxnSpPr>
                  <a:cxnSpLocks/>
                </p:cNvCxnSpPr>
                <p:nvPr/>
              </p:nvCxnSpPr>
              <p:spPr>
                <a:xfrm flipV="1">
                  <a:off x="6248576" y="4800029"/>
                  <a:ext cx="0" cy="785780"/>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89DBF7B7-75A7-BAAA-E0BB-14155C8874AF}"/>
                    </a:ext>
                  </a:extLst>
                </p:cNvPr>
                <p:cNvCxnSpPr>
                  <a:cxnSpLocks/>
                </p:cNvCxnSpPr>
                <p:nvPr/>
              </p:nvCxnSpPr>
              <p:spPr>
                <a:xfrm>
                  <a:off x="6235876" y="5583381"/>
                  <a:ext cx="576064"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p14:creationId xmlns:p14="http://schemas.microsoft.com/office/powerpoint/2010/main" val="2379557693"/>
      </p:ext>
    </p:extLst>
  </p:cSld>
  <p:clrMapOvr>
    <a:masterClrMapping/>
  </p:clrMapOvr>
</p:sld>
</file>

<file path=ppt/slides/slide4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1077218"/>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3CB0FF0-A027-4174-9659-6D48C79F68DA}"/>
              </a:ext>
            </a:extLst>
          </p:cNvPr>
          <p:cNvSpPr txBox="1"/>
          <p:nvPr/>
        </p:nvSpPr>
        <p:spPr>
          <a:xfrm>
            <a:off x="108000" y="2634200"/>
            <a:ext cx="11820646" cy="1723549"/>
          </a:xfrm>
          <a:prstGeom prst="rect">
            <a:avLst/>
          </a:prstGeom>
          <a:noFill/>
        </p:spPr>
        <p:txBody>
          <a:bodyPr wrap="square" rtlCol="0">
            <a:spAutoFit/>
          </a:bodyPr>
          <a:lstStyle/>
          <a:p>
            <a:r>
              <a:rPr lang="en-US" sz="2400" dirty="0">
                <a:solidFill>
                  <a:srgbClr val="E75C0F"/>
                </a:solidFill>
                <a:latin typeface="Liberation Mono"/>
                <a:cs typeface="Arial" panose="020B0604020202020204" pitchFamily="34" charset="0"/>
              </a:rPr>
              <a:t>r = </a:t>
            </a:r>
            <a:r>
              <a:rPr lang="en-US" sz="2400" dirty="0">
                <a:latin typeface="Liberation Mono"/>
                <a:cs typeface="Arial" panose="020B0604020202020204" pitchFamily="34" charset="0"/>
              </a:rPr>
              <a:t>{</a:t>
            </a:r>
            <a:r>
              <a:rPr lang="en-US" sz="2400" dirty="0">
                <a:solidFill>
                  <a:srgbClr val="E75C0F"/>
                </a:solidFill>
                <a:latin typeface="Liberation Mono"/>
                <a:cs typeface="Arial" panose="020B0604020202020204" pitchFamily="34" charset="0"/>
              </a:rPr>
              <a:t> -2, 1, 2, -1, 3, -2, 1, 2, 1 </a:t>
            </a:r>
            <a:r>
              <a:rPr lang="en-US" sz="2400" dirty="0">
                <a:latin typeface="Liberation Mono"/>
                <a:cs typeface="Arial" panose="020B0604020202020204" pitchFamily="34" charset="0"/>
              </a:rPr>
              <a:t>}</a:t>
            </a:r>
          </a:p>
          <a:p>
            <a:endParaRPr lang="en-US" sz="800" dirty="0">
              <a:solidFill>
                <a:srgbClr val="E75C0F"/>
              </a:solidFill>
              <a:latin typeface="Liberation Mono"/>
              <a:cs typeface="Arial" panose="020B0604020202020204" pitchFamily="34" charset="0"/>
            </a:endParaRPr>
          </a:p>
          <a:p>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(c1)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solidFill>
                  <a:srgbClr val="669900"/>
                </a:solidFill>
                <a:latin typeface="Liberation Mono"/>
              </a:rPr>
              <a:t> </a:t>
            </a:r>
            <a:r>
              <a:rPr lang="en-US" dirty="0">
                <a:latin typeface="Liberation Mono"/>
              </a:rPr>
              <a:t>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r;</a:t>
            </a:r>
            <a:endParaRPr lang="en-IN" dirty="0">
              <a:latin typeface="Liberation Mono"/>
            </a:endParaRPr>
          </a:p>
        </p:txBody>
      </p:sp>
      <p:sp>
        <p:nvSpPr>
          <p:cNvPr id="11" name="TextBox 10">
            <a:extLst>
              <a:ext uri="{FF2B5EF4-FFF2-40B4-BE49-F238E27FC236}">
                <a16:creationId xmlns:a16="http://schemas.microsoft.com/office/drawing/2014/main" id="{1B4535C3-BC68-4FE3-8233-6C4B3E180B27}"/>
              </a:ext>
            </a:extLst>
          </p:cNvPr>
          <p:cNvSpPr txBox="1"/>
          <p:nvPr/>
        </p:nvSpPr>
        <p:spPr>
          <a:xfrm>
            <a:off x="107999" y="4725144"/>
            <a:ext cx="1195332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managers,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'clerk'</a:t>
            </a:r>
            <a:r>
              <a:rPr lang="en-US" dirty="0">
                <a:latin typeface="Liberation Mono"/>
              </a:rPr>
              <a:t>) clerks,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'salesman’</a:t>
            </a:r>
            <a:r>
              <a:rPr lang="en-US" dirty="0">
                <a:latin typeface="Liberation Mono"/>
              </a:rPr>
              <a:t>) salesman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'M'</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'F'</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NOT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p:txBody>
      </p:sp>
      <p:cxnSp>
        <p:nvCxnSpPr>
          <p:cNvPr id="7" name="Straight Connector 6">
            <a:extLst>
              <a:ext uri="{FF2B5EF4-FFF2-40B4-BE49-F238E27FC236}">
                <a16:creationId xmlns:a16="http://schemas.microsoft.com/office/drawing/2014/main" id="{E2905E28-5902-8F6B-556A-BE308F0CB383}"/>
              </a:ext>
            </a:extLst>
          </p:cNvPr>
          <p:cNvCxnSpPr/>
          <p:nvPr/>
        </p:nvCxnSpPr>
        <p:spPr>
          <a:xfrm>
            <a:off x="180010" y="4509120"/>
            <a:ext cx="11820646" cy="0"/>
          </a:xfrm>
          <a:prstGeom prst="line">
            <a:avLst/>
          </a:prstGeom>
          <a:ln w="28575">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3050158"/>
      </p:ext>
    </p:extLst>
  </p:cSld>
  <p:clrMapOvr>
    <a:masterClrMapping/>
  </p:clrMapOvr>
</p:sld>
</file>

<file path=ppt/slides/slide4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5A93D-77FE-06D6-D87F-52E953D0D8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D035A97-8300-BA76-01CB-A71BD1B22DD5}"/>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C9593C7-9339-F747-45F0-AB0C3528F36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975D6455-3EB5-D6A5-2D00-A2EF6409714E}"/>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SUM  with OVER clause</a:t>
            </a:r>
          </a:p>
        </p:txBody>
      </p:sp>
      <p:sp>
        <p:nvSpPr>
          <p:cNvPr id="6" name="TextBox 5">
            <a:extLst>
              <a:ext uri="{FF2B5EF4-FFF2-40B4-BE49-F238E27FC236}">
                <a16:creationId xmlns:a16="http://schemas.microsoft.com/office/drawing/2014/main" id="{8A08E4D6-FE13-1101-1AC4-ABD937844662}"/>
              </a:ext>
            </a:extLst>
          </p:cNvPr>
          <p:cNvSpPr txBox="1"/>
          <p:nvPr/>
        </p:nvSpPr>
        <p:spPr>
          <a:xfrm>
            <a:off x="4163120" y="5661248"/>
            <a:ext cx="783753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id, year,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"running total of amount per year" </a:t>
            </a:r>
            <a:r>
              <a:rPr lang="en-US" dirty="0">
                <a:solidFill>
                  <a:srgbClr val="0077AA"/>
                </a:solidFill>
                <a:latin typeface="Liberation Mono"/>
                <a:ea typeface="Times New Roman" panose="02020603050405020304" pitchFamily="18" charset="0"/>
              </a:rPr>
              <a:t>FROM</a:t>
            </a:r>
            <a:r>
              <a:rPr lang="en-US" dirty="0">
                <a:latin typeface="Liberation Mono"/>
              </a:rPr>
              <a:t> yearly_revenue;</a:t>
            </a:r>
          </a:p>
        </p:txBody>
      </p:sp>
      <p:graphicFrame>
        <p:nvGraphicFramePr>
          <p:cNvPr id="9" name="Table 2">
            <a:extLst>
              <a:ext uri="{FF2B5EF4-FFF2-40B4-BE49-F238E27FC236}">
                <a16:creationId xmlns:a16="http://schemas.microsoft.com/office/drawing/2014/main" id="{E07777F5-9AF7-8FC6-EC41-9C466C136798}"/>
              </a:ext>
            </a:extLst>
          </p:cNvPr>
          <p:cNvGraphicFramePr>
            <a:graphicFrameLocks noGrp="1"/>
          </p:cNvGraphicFramePr>
          <p:nvPr>
            <p:extLst>
              <p:ext uri="{D42A27DB-BD31-4B8C-83A1-F6EECF244321}">
                <p14:modId xmlns:p14="http://schemas.microsoft.com/office/powerpoint/2010/main" val="1146160053"/>
              </p:ext>
            </p:extLst>
          </p:nvPr>
        </p:nvGraphicFramePr>
        <p:xfrm>
          <a:off x="292698" y="2635592"/>
          <a:ext cx="3715070" cy="360172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589038301"/>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year</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2014</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7.75</a:t>
                      </a:r>
                    </a:p>
                  </a:txBody>
                  <a:tcPr/>
                </a:tc>
                <a:extLst>
                  <a:ext uri="{0D108BD9-81ED-4DB2-BD59-A6C34878D82A}">
                    <a16:rowId xmlns:a16="http://schemas.microsoft.com/office/drawing/2014/main" val="3858505310"/>
                  </a:ext>
                </a:extLst>
              </a:tr>
              <a:tr h="370840">
                <a:tc>
                  <a:txBody>
                    <a:bodyPr/>
                    <a:lstStyle/>
                    <a:p>
                      <a:pPr algn="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2015</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9.23</a:t>
                      </a:r>
                    </a:p>
                  </a:txBody>
                  <a:tcPr/>
                </a:tc>
                <a:extLst>
                  <a:ext uri="{0D108BD9-81ED-4DB2-BD59-A6C34878D82A}">
                    <a16:rowId xmlns:a16="http://schemas.microsoft.com/office/drawing/2014/main" val="77675717"/>
                  </a:ext>
                </a:extLst>
              </a:tr>
              <a:tr h="370840">
                <a:tc>
                  <a:txBody>
                    <a:bodyPr/>
                    <a:lstStyle/>
                    <a:p>
                      <a:pPr algn="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2016</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5.44</a:t>
                      </a:r>
                    </a:p>
                  </a:txBody>
                  <a:tcPr/>
                </a:tc>
                <a:extLst>
                  <a:ext uri="{0D108BD9-81ED-4DB2-BD59-A6C34878D82A}">
                    <a16:rowId xmlns:a16="http://schemas.microsoft.com/office/drawing/2014/main" val="3357013405"/>
                  </a:ext>
                </a:extLst>
              </a:tr>
              <a:tr h="370840">
                <a:tc>
                  <a:txBody>
                    <a:bodyPr/>
                    <a:lstStyle/>
                    <a:p>
                      <a:pPr algn="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2017</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2022</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6.83</a:t>
                      </a: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11</a:t>
                      </a:r>
                    </a:p>
                  </a:txBody>
                  <a:tcPr/>
                </a:tc>
                <a:tc>
                  <a:txBody>
                    <a:bodyPr/>
                    <a:lstStyle/>
                    <a:p>
                      <a:pPr algn="ctr"/>
                      <a:r>
                        <a:rPr lang="en-IN" b="0" dirty="0">
                          <a:latin typeface="Arial" panose="020B0604020202020204" pitchFamily="34" charset="0"/>
                          <a:cs typeface="Arial" panose="020B0604020202020204" pitchFamily="34" charset="0"/>
                        </a:rPr>
                        <a:t>2023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2.90</a:t>
                      </a:r>
                    </a:p>
                  </a:txBody>
                  <a:tcPr/>
                </a:tc>
                <a:extLst>
                  <a:ext uri="{0D108BD9-81ED-4DB2-BD59-A6C34878D82A}">
                    <a16:rowId xmlns:a16="http://schemas.microsoft.com/office/drawing/2014/main" val="3691151196"/>
                  </a:ext>
                </a:extLst>
              </a:tr>
            </a:tbl>
          </a:graphicData>
        </a:graphic>
      </p:graphicFrame>
      <p:graphicFrame>
        <p:nvGraphicFramePr>
          <p:cNvPr id="10" name="Table 2">
            <a:extLst>
              <a:ext uri="{FF2B5EF4-FFF2-40B4-BE49-F238E27FC236}">
                <a16:creationId xmlns:a16="http://schemas.microsoft.com/office/drawing/2014/main" id="{74ADD545-8422-3224-30EA-1C7A21F03AC9}"/>
              </a:ext>
            </a:extLst>
          </p:cNvPr>
          <p:cNvGraphicFramePr>
            <a:graphicFrameLocks noGrp="1"/>
          </p:cNvGraphicFramePr>
          <p:nvPr>
            <p:extLst>
              <p:ext uri="{D42A27DB-BD31-4B8C-83A1-F6EECF244321}">
                <p14:modId xmlns:p14="http://schemas.microsoft.com/office/powerpoint/2010/main" val="117220937"/>
              </p:ext>
            </p:extLst>
          </p:nvPr>
        </p:nvGraphicFramePr>
        <p:xfrm>
          <a:off x="5470072" y="2635592"/>
          <a:ext cx="5810504" cy="2758440"/>
        </p:xfrm>
        <a:graphic>
          <a:graphicData uri="http://schemas.openxmlformats.org/drawingml/2006/table">
            <a:tbl>
              <a:tblPr firstRow="1" bandRow="1">
                <a:tableStyleId>{5940675A-B579-460E-94D1-54222C63F5DA}</a:tableStyleId>
              </a:tblPr>
              <a:tblGrid>
                <a:gridCol w="839295">
                  <a:extLst>
                    <a:ext uri="{9D8B030D-6E8A-4147-A177-3AD203B41FA5}">
                      <a16:colId xmlns:a16="http://schemas.microsoft.com/office/drawing/2014/main" val="928063234"/>
                    </a:ext>
                  </a:extLst>
                </a:gridCol>
                <a:gridCol w="1376575">
                  <a:extLst>
                    <a:ext uri="{9D8B030D-6E8A-4147-A177-3AD203B41FA5}">
                      <a16:colId xmlns:a16="http://schemas.microsoft.com/office/drawing/2014/main" val="2965238667"/>
                    </a:ext>
                  </a:extLst>
                </a:gridCol>
                <a:gridCol w="1143013">
                  <a:extLst>
                    <a:ext uri="{9D8B030D-6E8A-4147-A177-3AD203B41FA5}">
                      <a16:colId xmlns:a16="http://schemas.microsoft.com/office/drawing/2014/main" val="1837288577"/>
                    </a:ext>
                  </a:extLst>
                </a:gridCol>
                <a:gridCol w="2451621">
                  <a:extLst>
                    <a:ext uri="{9D8B030D-6E8A-4147-A177-3AD203B41FA5}">
                      <a16:colId xmlns:a16="http://schemas.microsoft.com/office/drawing/2014/main" val="2074724003"/>
                    </a:ext>
                  </a:extLst>
                </a:gridCol>
              </a:tblGrid>
              <a:tr h="0">
                <a:tc>
                  <a:txBody>
                    <a:bodyPr/>
                    <a:lstStyle/>
                    <a:p>
                      <a:pPr algn="ctr"/>
                      <a:r>
                        <a:rPr lang="en-IN" dirty="0">
                          <a:latin typeface="Arial" panose="020B0604020202020204" pitchFamily="34" charset="0"/>
                          <a:cs typeface="Arial" panose="020B0604020202020204" pitchFamily="34" charset="0"/>
                        </a:rPr>
                        <a:t>id</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amount</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running total of amount per year</a:t>
                      </a:r>
                      <a:endParaRPr lang="en-IN" b="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2014</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a:solidFill>
                            <a:srgbClr val="B212AA"/>
                          </a:solidFill>
                          <a:latin typeface="Arial" panose="020B0604020202020204" pitchFamily="34" charset="0"/>
                          <a:cs typeface="Arial" panose="020B0604020202020204" pitchFamily="34" charset="0"/>
                        </a:rPr>
                        <a:t>7.75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7.75</a:t>
                      </a:r>
                    </a:p>
                  </a:txBody>
                  <a:tcPr anchor="ctr"/>
                </a:tc>
                <a:extLst>
                  <a:ext uri="{0D108BD9-81ED-4DB2-BD59-A6C34878D82A}">
                    <a16:rowId xmlns:a16="http://schemas.microsoft.com/office/drawing/2014/main" val="38585053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2</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9.23</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16.98</a:t>
                      </a:r>
                    </a:p>
                  </a:txBody>
                  <a:tcPr anchor="ctr"/>
                </a:tc>
                <a:extLst>
                  <a:ext uri="{0D108BD9-81ED-4DB2-BD59-A6C34878D82A}">
                    <a16:rowId xmlns:a16="http://schemas.microsoft.com/office/drawing/2014/main" val="2887556489"/>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288334363"/>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11</a:t>
                      </a:r>
                    </a:p>
                  </a:txBody>
                  <a:tcPr anchor="ctr"/>
                </a:tc>
                <a:tc>
                  <a:txBody>
                    <a:bodyPr/>
                    <a:lstStyle/>
                    <a:p>
                      <a:pPr algn="ctr"/>
                      <a:r>
                        <a:rPr lang="en-IN" b="0" dirty="0">
                          <a:latin typeface="Arial" panose="020B0604020202020204" pitchFamily="34" charset="0"/>
                          <a:cs typeface="Arial" panose="020B0604020202020204" pitchFamily="34" charset="0"/>
                        </a:rPr>
                        <a:t>2023</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2.90</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55.43</a:t>
                      </a:r>
                    </a:p>
                  </a:txBody>
                  <a:tcPr anchor="ctr"/>
                </a:tc>
                <a:extLst>
                  <a:ext uri="{0D108BD9-81ED-4DB2-BD59-A6C34878D82A}">
                    <a16:rowId xmlns:a16="http://schemas.microsoft.com/office/drawing/2014/main" val="3675269260"/>
                  </a:ext>
                </a:extLst>
              </a:tr>
            </a:tbl>
          </a:graphicData>
        </a:graphic>
      </p:graphicFrame>
      <p:sp>
        <p:nvSpPr>
          <p:cNvPr id="11" name="TextBox 10">
            <a:extLst>
              <a:ext uri="{FF2B5EF4-FFF2-40B4-BE49-F238E27FC236}">
                <a16:creationId xmlns:a16="http://schemas.microsoft.com/office/drawing/2014/main" id="{146C28D5-A3BA-BDCD-2202-7A191155A3B4}"/>
              </a:ext>
            </a:extLst>
          </p:cNvPr>
          <p:cNvSpPr txBox="1"/>
          <p:nvPr/>
        </p:nvSpPr>
        <p:spPr>
          <a:xfrm>
            <a:off x="5470072" y="2164794"/>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2" name="TextBox 11">
            <a:extLst>
              <a:ext uri="{FF2B5EF4-FFF2-40B4-BE49-F238E27FC236}">
                <a16:creationId xmlns:a16="http://schemas.microsoft.com/office/drawing/2014/main" id="{FF410EDE-0CAA-ACDA-3501-4B0A9DC177A0}"/>
              </a:ext>
            </a:extLst>
          </p:cNvPr>
          <p:cNvSpPr txBox="1"/>
          <p:nvPr/>
        </p:nvSpPr>
        <p:spPr>
          <a:xfrm>
            <a:off x="4079776" y="369566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39DAB6C7-A0E1-15FB-BAB6-93AA6027F12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
        <p:nvSpPr>
          <p:cNvPr id="13" name="TextBox 12">
            <a:extLst>
              <a:ext uri="{FF2B5EF4-FFF2-40B4-BE49-F238E27FC236}">
                <a16:creationId xmlns:a16="http://schemas.microsoft.com/office/drawing/2014/main" id="{D6C46393-64A2-39CB-7225-FFB4E2D25B56}"/>
              </a:ext>
            </a:extLst>
          </p:cNvPr>
          <p:cNvSpPr txBox="1"/>
          <p:nvPr/>
        </p:nvSpPr>
        <p:spPr>
          <a:xfrm>
            <a:off x="292698" y="2164794"/>
            <a:ext cx="2706958" cy="400110"/>
          </a:xfrm>
          <a:prstGeom prst="rect">
            <a:avLst/>
          </a:prstGeom>
          <a:noFill/>
        </p:spPr>
        <p:txBody>
          <a:bodyPr wrap="square">
            <a:spAutoFit/>
          </a:bodyPr>
          <a:lstStyle/>
          <a:p>
            <a:r>
              <a:rPr lang="en-IN" sz="2000" b="1" dirty="0">
                <a:latin typeface="Liberation Mono"/>
              </a:rPr>
              <a:t>Table:- yearly_revenue</a:t>
            </a:r>
            <a:endParaRPr lang="en-IN" sz="2000" dirty="0">
              <a:solidFill>
                <a:srgbClr val="0070C0"/>
              </a:solidFill>
            </a:endParaRPr>
          </a:p>
        </p:txBody>
      </p:sp>
    </p:spTree>
    <p:extLst>
      <p:ext uri="{BB962C8B-B14F-4D97-AF65-F5344CB8AC3E}">
        <p14:creationId xmlns:p14="http://schemas.microsoft.com/office/powerpoint/2010/main" val="2609861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68E63-2C27-DA5E-2270-00FE630FBC9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5CC4F14-31B8-AE56-58EF-59D9ABE60431}"/>
              </a:ext>
            </a:extLst>
          </p:cNvPr>
          <p:cNvSpPr txBox="1"/>
          <p:nvPr/>
        </p:nvSpPr>
        <p:spPr>
          <a:xfrm>
            <a:off x="11933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DB246BC4-B43C-61F6-C58A-250BB5952ACF}"/>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CB2006C-D7FF-AD5E-B85A-95EFDC83F70D}"/>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3" name="TextBox 2">
            <a:extLst>
              <a:ext uri="{FF2B5EF4-FFF2-40B4-BE49-F238E27FC236}">
                <a16:creationId xmlns:a16="http://schemas.microsoft.com/office/drawing/2014/main" id="{775F7842-BFBC-C80F-1A0F-4CEB338CFB10}"/>
              </a:ext>
            </a:extLst>
          </p:cNvPr>
          <p:cNvSpPr txBox="1"/>
          <p:nvPr/>
        </p:nvSpPr>
        <p:spPr>
          <a:xfrm>
            <a:off x="191344" y="5734997"/>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low_salary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mid_salary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AS </a:t>
            </a:r>
            <a:r>
              <a:rPr lang="en-US" i="1" dirty="0">
                <a:solidFill>
                  <a:schemeClr val="bg1">
                    <a:lumMod val="50000"/>
                  </a:schemeClr>
                </a:solidFill>
                <a:latin typeface="Liberation Mono"/>
              </a:rPr>
              <a:t>high_salary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3BBDC73E-AFEA-D938-8E69-900E60090AFA}"/>
              </a:ext>
            </a:extLst>
          </p:cNvPr>
          <p:cNvGraphicFramePr>
            <a:graphicFrameLocks noGrp="1"/>
          </p:cNvGraphicFramePr>
          <p:nvPr>
            <p:extLst>
              <p:ext uri="{D42A27DB-BD31-4B8C-83A1-F6EECF244321}">
                <p14:modId xmlns:p14="http://schemas.microsoft.com/office/powerpoint/2010/main" val="1817631991"/>
              </p:ext>
            </p:extLst>
          </p:nvPr>
        </p:nvGraphicFramePr>
        <p:xfrm>
          <a:off x="119338" y="1532062"/>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8A7782D-A157-ACAE-B2FE-BB9E6BB5A207}"/>
              </a:ext>
            </a:extLst>
          </p:cNvPr>
          <p:cNvGraphicFramePr>
            <a:graphicFrameLocks noGrp="1"/>
          </p:cNvGraphicFramePr>
          <p:nvPr>
            <p:extLst>
              <p:ext uri="{D42A27DB-BD31-4B8C-83A1-F6EECF244321}">
                <p14:modId xmlns:p14="http://schemas.microsoft.com/office/powerpoint/2010/main" val="3789887225"/>
              </p:ext>
            </p:extLst>
          </p:nvPr>
        </p:nvGraphicFramePr>
        <p:xfrm>
          <a:off x="5231904" y="1532062"/>
          <a:ext cx="6840759" cy="1010920"/>
        </p:xfrm>
        <a:graphic>
          <a:graphicData uri="http://schemas.openxmlformats.org/drawingml/2006/table">
            <a:tbl>
              <a:tblPr firstRow="1" bandRow="1">
                <a:tableStyleId>{5940675A-B579-460E-94D1-54222C63F5DA}</a:tableStyleId>
              </a:tblPr>
              <a:tblGrid>
                <a:gridCol w="684075">
                  <a:extLst>
                    <a:ext uri="{9D8B030D-6E8A-4147-A177-3AD203B41FA5}">
                      <a16:colId xmlns:a16="http://schemas.microsoft.com/office/drawing/2014/main" val="928063234"/>
                    </a:ext>
                  </a:extLst>
                </a:gridCol>
                <a:gridCol w="1548173">
                  <a:extLst>
                    <a:ext uri="{9D8B030D-6E8A-4147-A177-3AD203B41FA5}">
                      <a16:colId xmlns:a16="http://schemas.microsoft.com/office/drawing/2014/main" val="2965238667"/>
                    </a:ext>
                  </a:extLst>
                </a:gridCol>
                <a:gridCol w="2784309">
                  <a:extLst>
                    <a:ext uri="{9D8B030D-6E8A-4147-A177-3AD203B41FA5}">
                      <a16:colId xmlns:a16="http://schemas.microsoft.com/office/drawing/2014/main" val="2074724003"/>
                    </a:ext>
                  </a:extLst>
                </a:gridCol>
                <a:gridCol w="1824202">
                  <a:extLst>
                    <a:ext uri="{9D8B030D-6E8A-4147-A177-3AD203B41FA5}">
                      <a16:colId xmlns:a16="http://schemas.microsoft.com/office/drawing/2014/main" val="1681527530"/>
                    </a:ext>
                  </a:extLst>
                </a:gridCol>
              </a:tblGrid>
              <a:tr h="370840">
                <a:tc>
                  <a:txBody>
                    <a:bodyPr/>
                    <a:lstStyle/>
                    <a:p>
                      <a:pPr algn="ctr"/>
                      <a:r>
                        <a:rPr lang="en-US" b="1" dirty="0">
                          <a:latin typeface="Arial" panose="020B0604020202020204" pitchFamily="34" charset="0"/>
                          <a:cs typeface="Arial" panose="020B0604020202020204" pitchFamily="34" charset="0"/>
                        </a:rPr>
                        <a:t>total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low_salary &lt; 2000</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mid_salary between 2000 and 4000</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high_salary &gt; 4000</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28</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18</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7</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C5AC1FAA-B5B5-D127-D446-3C409A53AF82}"/>
              </a:ext>
            </a:extLst>
          </p:cNvPr>
          <p:cNvSpPr txBox="1"/>
          <p:nvPr/>
        </p:nvSpPr>
        <p:spPr>
          <a:xfrm rot="19958645">
            <a:off x="5411924" y="325224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1223841D-E52C-FE0D-9C52-9F51B48BEB33}"/>
              </a:ext>
            </a:extLst>
          </p:cNvPr>
          <p:cNvSpPr txBox="1"/>
          <p:nvPr/>
        </p:nvSpPr>
        <p:spPr>
          <a:xfrm>
            <a:off x="5591945" y="1040160"/>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6" name="Rectangle 5">
            <a:extLst>
              <a:ext uri="{FF2B5EF4-FFF2-40B4-BE49-F238E27FC236}">
                <a16:creationId xmlns:a16="http://schemas.microsoft.com/office/drawing/2014/main" id="{EE8CEF42-07C5-6DC7-DDA9-C7782A61D164}"/>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range-wise salary including total rows</a:t>
            </a:r>
          </a:p>
        </p:txBody>
      </p:sp>
    </p:spTree>
    <p:extLst>
      <p:ext uri="{BB962C8B-B14F-4D97-AF65-F5344CB8AC3E}">
        <p14:creationId xmlns:p14="http://schemas.microsoft.com/office/powerpoint/2010/main" val="610981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CAEEC-4DB9-8CE0-6A5A-E280B4CAFEE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81ACC0-8F0A-356A-BED8-72E1FC2B1D3E}"/>
              </a:ext>
            </a:extLst>
          </p:cNvPr>
          <p:cNvSpPr txBox="1"/>
          <p:nvPr/>
        </p:nvSpPr>
        <p:spPr>
          <a:xfrm>
            <a:off x="191344" y="5590981"/>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active_staff,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inactive_staff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F9D3E398-B7BA-F13E-587A-99972173514D}"/>
              </a:ext>
            </a:extLst>
          </p:cNvPr>
          <p:cNvGraphicFramePr>
            <a:graphicFrameLocks noGrp="1"/>
          </p:cNvGraphicFramePr>
          <p:nvPr>
            <p:extLst>
              <p:ext uri="{D42A27DB-BD31-4B8C-83A1-F6EECF244321}">
                <p14:modId xmlns:p14="http://schemas.microsoft.com/office/powerpoint/2010/main" val="1771078237"/>
              </p:ext>
            </p:extLst>
          </p:nvPr>
        </p:nvGraphicFramePr>
        <p:xfrm>
          <a:off x="118800" y="1533600"/>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54364F7B-ED5D-6439-77D1-631BD0EA3EDB}"/>
              </a:ext>
            </a:extLst>
          </p:cNvPr>
          <p:cNvGraphicFramePr>
            <a:graphicFrameLocks noGrp="1"/>
          </p:cNvGraphicFramePr>
          <p:nvPr>
            <p:extLst>
              <p:ext uri="{D42A27DB-BD31-4B8C-83A1-F6EECF244321}">
                <p14:modId xmlns:p14="http://schemas.microsoft.com/office/powerpoint/2010/main" val="3576994679"/>
              </p:ext>
            </p:extLst>
          </p:nvPr>
        </p:nvGraphicFramePr>
        <p:xfrm>
          <a:off x="6744072" y="1533600"/>
          <a:ext cx="3600000" cy="741680"/>
        </p:xfrm>
        <a:graphic>
          <a:graphicData uri="http://schemas.openxmlformats.org/drawingml/2006/table">
            <a:tbl>
              <a:tblPr firstRow="1" bandRow="1">
                <a:tableStyleId>{5940675A-B579-460E-94D1-54222C63F5DA}</a:tableStyleId>
              </a:tblPr>
              <a:tblGrid>
                <a:gridCol w="1800000">
                  <a:extLst>
                    <a:ext uri="{9D8B030D-6E8A-4147-A177-3AD203B41FA5}">
                      <a16:colId xmlns:a16="http://schemas.microsoft.com/office/drawing/2014/main" val="928063234"/>
                    </a:ext>
                  </a:extLst>
                </a:gridCol>
                <a:gridCol w="1800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active_staff</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inactive_staff</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22</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6</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EBF67464-B182-87CD-C162-CE8751F8E76C}"/>
              </a:ext>
            </a:extLst>
          </p:cNvPr>
          <p:cNvSpPr txBox="1"/>
          <p:nvPr/>
        </p:nvSpPr>
        <p:spPr>
          <a:xfrm>
            <a:off x="5394144" y="179707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6" name="TextBox 5">
            <a:extLst>
              <a:ext uri="{FF2B5EF4-FFF2-40B4-BE49-F238E27FC236}">
                <a16:creationId xmlns:a16="http://schemas.microsoft.com/office/drawing/2014/main" id="{2909ABF9-4A2F-56B9-B901-B18416E8F543}"/>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89C15C8D-E19E-BBD8-AD89-D9E66B5B5327}"/>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5" name="TextBox 4">
            <a:extLst>
              <a:ext uri="{FF2B5EF4-FFF2-40B4-BE49-F238E27FC236}">
                <a16:creationId xmlns:a16="http://schemas.microsoft.com/office/drawing/2014/main" id="{92A8DD6B-EFC9-2D25-7CB6-4BF99E3DB3C5}"/>
              </a:ext>
            </a:extLst>
          </p:cNvPr>
          <p:cNvSpPr txBox="1"/>
          <p:nvPr/>
        </p:nvSpPr>
        <p:spPr>
          <a:xfrm>
            <a:off x="119336" y="1052736"/>
            <a:ext cx="1584176"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8" name="TextBox 7">
            <a:extLst>
              <a:ext uri="{FF2B5EF4-FFF2-40B4-BE49-F238E27FC236}">
                <a16:creationId xmlns:a16="http://schemas.microsoft.com/office/drawing/2014/main" id="{68885C23-06FC-0326-FE37-26674C2789C5}"/>
              </a:ext>
            </a:extLst>
          </p:cNvPr>
          <p:cNvSpPr txBox="1"/>
          <p:nvPr/>
        </p:nvSpPr>
        <p:spPr>
          <a:xfrm>
            <a:off x="6739314" y="1052736"/>
            <a:ext cx="1584176" cy="400110"/>
          </a:xfrm>
          <a:prstGeom prst="rect">
            <a:avLst/>
          </a:prstGeom>
          <a:noFill/>
        </p:spPr>
        <p:txBody>
          <a:bodyPr wrap="square">
            <a:spAutoFit/>
          </a:bodyPr>
          <a:lstStyle/>
          <a:p>
            <a:r>
              <a:rPr lang="en-IN" sz="2000" b="1">
                <a:latin typeface="Liberation Mono"/>
              </a:rPr>
              <a:t>Output</a:t>
            </a:r>
            <a:endParaRPr lang="en-IN" dirty="0">
              <a:solidFill>
                <a:srgbClr val="0070C0"/>
              </a:solidFill>
            </a:endParaRPr>
          </a:p>
        </p:txBody>
      </p:sp>
      <p:sp>
        <p:nvSpPr>
          <p:cNvPr id="12" name="Rectangle 11">
            <a:extLst>
              <a:ext uri="{FF2B5EF4-FFF2-40B4-BE49-F238E27FC236}">
                <a16:creationId xmlns:a16="http://schemas.microsoft.com/office/drawing/2014/main" id="{8634FC96-1556-BFD4-4D32-846524FA5281}"/>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active and in-active staff.</a:t>
            </a:r>
          </a:p>
        </p:txBody>
      </p:sp>
    </p:spTree>
    <p:extLst>
      <p:ext uri="{BB962C8B-B14F-4D97-AF65-F5344CB8AC3E}">
        <p14:creationId xmlns:p14="http://schemas.microsoft.com/office/powerpoint/2010/main" val="2737640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352E4D-60C8-BD77-359A-D45A71F492C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D76F665F-2359-5A6F-46C5-1B1FBAC1FA7B}"/>
              </a:ext>
            </a:extLst>
          </p:cNvPr>
          <p:cNvSpPr/>
          <p:nvPr/>
        </p:nvSpPr>
        <p:spPr>
          <a:xfrm>
            <a:off x="1703512"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sum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83319918-FF43-7727-458A-D65B2F888534}"/>
              </a:ext>
            </a:extLst>
          </p:cNvPr>
          <p:cNvGraphicFramePr>
            <a:graphicFrameLocks noGrp="1"/>
          </p:cNvGraphicFramePr>
          <p:nvPr>
            <p:extLst>
              <p:ext uri="{D42A27DB-BD31-4B8C-83A1-F6EECF244321}">
                <p14:modId xmlns:p14="http://schemas.microsoft.com/office/powerpoint/2010/main" val="3592464312"/>
              </p:ext>
            </p:extLst>
          </p:nvPr>
        </p:nvGraphicFramePr>
        <p:xfrm>
          <a:off x="407369" y="1193160"/>
          <a:ext cx="9913102" cy="259588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1080120">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gridCol w="1536171">
                  <a:extLst>
                    <a:ext uri="{9D8B030D-6E8A-4147-A177-3AD203B41FA5}">
                      <a16:colId xmlns:a16="http://schemas.microsoft.com/office/drawing/2014/main" val="916643311"/>
                    </a:ext>
                  </a:extLst>
                </a:gridCol>
                <a:gridCol w="1536171">
                  <a:extLst>
                    <a:ext uri="{9D8B030D-6E8A-4147-A177-3AD203B41FA5}">
                      <a16:colId xmlns:a16="http://schemas.microsoft.com/office/drawing/2014/main" val="3545387801"/>
                    </a:ext>
                  </a:extLst>
                </a:gridCol>
                <a:gridCol w="1536171">
                  <a:extLst>
                    <a:ext uri="{9D8B030D-6E8A-4147-A177-3AD203B41FA5}">
                      <a16:colId xmlns:a16="http://schemas.microsoft.com/office/drawing/2014/main" val="1426945723"/>
                    </a:ext>
                  </a:extLst>
                </a:gridCol>
                <a:gridCol w="1536171">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Case_ID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Stage3</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Stage4</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Stage5</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2024-01-01</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2024-01-13</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2024-01-20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2024-01-14</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2024-01-20</a:t>
                      </a:r>
                    </a:p>
                  </a:txBody>
                  <a:tcPr/>
                </a:tc>
                <a:extLst>
                  <a:ext uri="{0D108BD9-81ED-4DB2-BD59-A6C34878D82A}">
                    <a16:rowId xmlns:a16="http://schemas.microsoft.com/office/drawing/2014/main" val="876230684"/>
                  </a:ext>
                </a:extLst>
              </a:tr>
              <a:tr h="370840">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2024-01-10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2390382757"/>
                  </a:ext>
                </a:extLst>
              </a:tr>
              <a:tr h="370840">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48265323"/>
                  </a:ext>
                </a:extLst>
              </a:tr>
            </a:tbl>
          </a:graphicData>
        </a:graphic>
      </p:graphicFrame>
      <p:sp>
        <p:nvSpPr>
          <p:cNvPr id="3" name="TextBox 2">
            <a:extLst>
              <a:ext uri="{FF2B5EF4-FFF2-40B4-BE49-F238E27FC236}">
                <a16:creationId xmlns:a16="http://schemas.microsoft.com/office/drawing/2014/main" id="{B771FD23-39D1-AD26-6EC8-43C999FA84F7}"/>
              </a:ext>
            </a:extLst>
          </p:cNvPr>
          <p:cNvSpPr txBox="1"/>
          <p:nvPr/>
        </p:nvSpPr>
        <p:spPr>
          <a:xfrm rot="1258665">
            <a:off x="2525044" y="430225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415C3991-9FA9-1609-7525-A23B295DC4FE}"/>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stages</a:t>
            </a:r>
            <a:endParaRPr lang="en-IN" sz="2000" b="1" dirty="0"/>
          </a:p>
        </p:txBody>
      </p:sp>
      <p:graphicFrame>
        <p:nvGraphicFramePr>
          <p:cNvPr id="9" name="Table 2">
            <a:extLst>
              <a:ext uri="{FF2B5EF4-FFF2-40B4-BE49-F238E27FC236}">
                <a16:creationId xmlns:a16="http://schemas.microsoft.com/office/drawing/2014/main" id="{18DDAAE5-3470-64AD-2189-83BD1D698EF2}"/>
              </a:ext>
            </a:extLst>
          </p:cNvPr>
          <p:cNvGraphicFramePr>
            <a:graphicFrameLocks noGrp="1"/>
          </p:cNvGraphicFramePr>
          <p:nvPr>
            <p:extLst>
              <p:ext uri="{D42A27DB-BD31-4B8C-83A1-F6EECF244321}">
                <p14:modId xmlns:p14="http://schemas.microsoft.com/office/powerpoint/2010/main" val="555781956"/>
              </p:ext>
            </p:extLst>
          </p:nvPr>
        </p:nvGraphicFramePr>
        <p:xfrm>
          <a:off x="4371460" y="4321904"/>
          <a:ext cx="5973012" cy="1483360"/>
        </p:xfrm>
        <a:graphic>
          <a:graphicData uri="http://schemas.openxmlformats.org/drawingml/2006/table">
            <a:tbl>
              <a:tblPr firstRow="1" bandRow="1">
                <a:tableStyleId>{5940675A-B579-460E-94D1-54222C63F5DA}</a:tableStyleId>
              </a:tblPr>
              <a:tblGrid>
                <a:gridCol w="1293012">
                  <a:extLst>
                    <a:ext uri="{9D8B030D-6E8A-4147-A177-3AD203B41FA5}">
                      <a16:colId xmlns:a16="http://schemas.microsoft.com/office/drawing/2014/main" val="928063234"/>
                    </a:ext>
                  </a:extLst>
                </a:gridCol>
                <a:gridCol w="936000">
                  <a:extLst>
                    <a:ext uri="{9D8B030D-6E8A-4147-A177-3AD203B41FA5}">
                      <a16:colId xmlns:a16="http://schemas.microsoft.com/office/drawing/2014/main" val="2849178210"/>
                    </a:ext>
                  </a:extLst>
                </a:gridCol>
                <a:gridCol w="936000">
                  <a:extLst>
                    <a:ext uri="{9D8B030D-6E8A-4147-A177-3AD203B41FA5}">
                      <a16:colId xmlns:a16="http://schemas.microsoft.com/office/drawing/2014/main" val="916643311"/>
                    </a:ext>
                  </a:extLst>
                </a:gridCol>
                <a:gridCol w="936000">
                  <a:extLst>
                    <a:ext uri="{9D8B030D-6E8A-4147-A177-3AD203B41FA5}">
                      <a16:colId xmlns:a16="http://schemas.microsoft.com/office/drawing/2014/main" val="3545387801"/>
                    </a:ext>
                  </a:extLst>
                </a:gridCol>
                <a:gridCol w="936000">
                  <a:extLst>
                    <a:ext uri="{9D8B030D-6E8A-4147-A177-3AD203B41FA5}">
                      <a16:colId xmlns:a16="http://schemas.microsoft.com/office/drawing/2014/main" val="1426945723"/>
                    </a:ext>
                  </a:extLst>
                </a:gridCol>
                <a:gridCol w="936000">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Stage2</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Stage3</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Stage4</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Stage5</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2" name="TextBox 11">
            <a:extLst>
              <a:ext uri="{FF2B5EF4-FFF2-40B4-BE49-F238E27FC236}">
                <a16:creationId xmlns:a16="http://schemas.microsoft.com/office/drawing/2014/main" id="{DC5C48EF-0AA9-1AA7-9EE5-EB1E3C32AF29}"/>
              </a:ext>
            </a:extLst>
          </p:cNvPr>
          <p:cNvSpPr txBox="1"/>
          <p:nvPr/>
        </p:nvSpPr>
        <p:spPr>
          <a:xfrm>
            <a:off x="241200" y="5951021"/>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centerID, </a:t>
            </a:r>
            <a:r>
              <a:rPr lang="en-IN" dirty="0">
                <a:solidFill>
                  <a:srgbClr val="DD4A68"/>
                </a:solidFill>
                <a:latin typeface="Liberation Mono"/>
              </a:rPr>
              <a:t>SUM</a:t>
            </a:r>
            <a:r>
              <a:rPr lang="en-IN" dirty="0">
                <a:latin typeface="Liberation Mono"/>
              </a:rPr>
              <a:t>(Stage1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stage1</a:t>
            </a:r>
            <a:r>
              <a:rPr lang="en-IN" dirty="0">
                <a:latin typeface="Liberation Mono"/>
              </a:rPr>
              <a:t>, </a:t>
            </a:r>
            <a:r>
              <a:rPr lang="en-IN" dirty="0">
                <a:solidFill>
                  <a:srgbClr val="DD4A68"/>
                </a:solidFill>
                <a:latin typeface="Liberation Mono"/>
              </a:rPr>
              <a:t>SUM</a:t>
            </a:r>
            <a:r>
              <a:rPr lang="en-IN" dirty="0">
                <a:latin typeface="Liberation Mono"/>
              </a:rPr>
              <a:t>(Stage2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stage2</a:t>
            </a:r>
            <a:r>
              <a:rPr lang="en-IN" dirty="0">
                <a:latin typeface="Liberation Mono"/>
              </a:rPr>
              <a:t>, </a:t>
            </a:r>
            <a:r>
              <a:rPr lang="en-IN" dirty="0">
                <a:solidFill>
                  <a:srgbClr val="DD4A68"/>
                </a:solidFill>
                <a:latin typeface="Liberation Mono"/>
              </a:rPr>
              <a:t>SUM</a:t>
            </a:r>
            <a:r>
              <a:rPr lang="en-IN" dirty="0">
                <a:latin typeface="Liberation Mono"/>
              </a:rPr>
              <a:t>(Stage3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stage3</a:t>
            </a:r>
            <a:r>
              <a:rPr lang="en-IN" dirty="0">
                <a:latin typeface="Liberation Mono"/>
              </a:rPr>
              <a:t>, </a:t>
            </a:r>
            <a:r>
              <a:rPr lang="en-IN" dirty="0">
                <a:solidFill>
                  <a:srgbClr val="DD4A68"/>
                </a:solidFill>
                <a:latin typeface="Liberation Mono"/>
              </a:rPr>
              <a:t>SUM</a:t>
            </a:r>
            <a:r>
              <a:rPr lang="en-IN" dirty="0">
                <a:latin typeface="Liberation Mono"/>
              </a:rPr>
              <a:t>(Stage4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stage4</a:t>
            </a:r>
            <a:r>
              <a:rPr lang="en-IN" dirty="0">
                <a:latin typeface="Liberation Mono"/>
              </a:rPr>
              <a:t>, </a:t>
            </a:r>
            <a:r>
              <a:rPr lang="en-IN" dirty="0">
                <a:solidFill>
                  <a:srgbClr val="DD4A68"/>
                </a:solidFill>
                <a:latin typeface="Liberation Mono"/>
              </a:rPr>
              <a:t>SUM</a:t>
            </a:r>
            <a:r>
              <a:rPr lang="en-IN" dirty="0">
                <a:latin typeface="Liberation Mono"/>
              </a:rPr>
              <a:t>(Stage5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stage5</a:t>
            </a:r>
            <a:r>
              <a:rPr lang="en-IN" dirty="0">
                <a:latin typeface="Liberation Mono"/>
              </a:rPr>
              <a:t> </a:t>
            </a:r>
            <a:r>
              <a:rPr lang="en-IN" dirty="0">
                <a:solidFill>
                  <a:srgbClr val="0077AA"/>
                </a:solidFill>
                <a:latin typeface="Liberation Mono"/>
              </a:rPr>
              <a:t>FROM</a:t>
            </a:r>
            <a:r>
              <a:rPr lang="en-IN" dirty="0">
                <a:latin typeface="Liberation Mono"/>
              </a:rPr>
              <a:t> stages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centerID;</a:t>
            </a:r>
          </a:p>
        </p:txBody>
      </p:sp>
      <p:sp>
        <p:nvSpPr>
          <p:cNvPr id="13" name="TextBox 12">
            <a:extLst>
              <a:ext uri="{FF2B5EF4-FFF2-40B4-BE49-F238E27FC236}">
                <a16:creationId xmlns:a16="http://schemas.microsoft.com/office/drawing/2014/main" id="{427C1BDF-51A1-6D7E-CF15-9B46B6E425D9}"/>
              </a:ext>
            </a:extLst>
          </p:cNvPr>
          <p:cNvSpPr txBox="1"/>
          <p:nvPr/>
        </p:nvSpPr>
        <p:spPr>
          <a:xfrm>
            <a:off x="4371461" y="3887648"/>
            <a:ext cx="100811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CF73472D-5C51-6FE0-7926-71797D61D1EC}"/>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E76B05F-B1FC-FEA5-CE51-A165F30B6CE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139050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4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 [</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MAX()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r>
              <a:rPr lang="en-IN" dirty="0">
                <a:solidFill>
                  <a:schemeClr val="tx1">
                    <a:lumMod val="85000"/>
                    <a:lumOff val="15000"/>
                  </a:schemeClr>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MAX() may take a string, number, and date argument</a:t>
            </a:r>
            <a:r>
              <a:rPr lang="en-IN" dirty="0">
                <a:latin typeface="Palatino Linotype" panose="02040502050505030304" pitchFamily="18" charset="0"/>
                <a:cs typeface="Arial" panose="020B0604020202020204" pitchFamily="34" charset="0"/>
              </a:rPr>
              <a:t>, and it returns a maximum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2D050"/>
                </a:solidFill>
                <a:latin typeface="Liberation Mono"/>
              </a:rPr>
              <a:t>'VIKAS'</a:t>
            </a:r>
            <a:r>
              <a:rPr lang="en-US" dirty="0">
                <a:latin typeface="Liberation Mono"/>
              </a:rPr>
              <a:t>)</a:t>
            </a:r>
            <a:r>
              <a:rPr lang="en-US" i="1" dirty="0">
                <a:solidFill>
                  <a:schemeClr val="bg1">
                    <a:lumMod val="50000"/>
                  </a:schemeClr>
                </a:solidFill>
                <a:latin typeface="Liberation Mono"/>
              </a:rPr>
              <a:t> "R1" </a:t>
            </a:r>
            <a:r>
              <a:rPr lang="en-US" dirty="0">
                <a:latin typeface="Liberation Mono"/>
              </a:rPr>
              <a:t>;</a:t>
            </a:r>
            <a:endParaRPr lang="en-US" dirty="0">
              <a:solidFill>
                <a:schemeClr val="bg1">
                  <a:lumMod val="65000"/>
                </a:schemeClr>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C7D58F2E-7505-4D25-8EC6-8B0F9CF9370B}"/>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DDC48405-CBE6-2326-5A97-335B84B5058F}"/>
              </a:ext>
            </a:extLst>
          </p:cNvPr>
          <p:cNvSpPr txBox="1"/>
          <p:nvPr/>
        </p:nvSpPr>
        <p:spPr>
          <a:xfrm>
            <a:off x="4510800" y="2781066"/>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4067738790"/>
      </p:ext>
    </p:extLst>
  </p:cSld>
  <p:clrMapOvr>
    <a:masterClrMapping/>
  </p:clrMapOvr>
</p:sld>
</file>

<file path=ppt/slides/slide4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4309C-BC75-0C98-16FA-A970DBF859A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F36E926-685E-4786-0540-19B934AC6FBB}"/>
              </a:ext>
            </a:extLst>
          </p:cNvPr>
          <p:cNvSpPr/>
          <p:nvPr/>
        </p:nvSpPr>
        <p:spPr>
          <a:xfrm>
            <a:off x="108000" y="126000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642C8CEA-1E5B-FF6D-A7E5-A56134997CB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340670B-3E3B-7C3B-2143-0AD159BC6A80}"/>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MAX  with OVER clause</a:t>
            </a:r>
          </a:p>
        </p:txBody>
      </p:sp>
      <p:sp>
        <p:nvSpPr>
          <p:cNvPr id="6" name="TextBox 5">
            <a:extLst>
              <a:ext uri="{FF2B5EF4-FFF2-40B4-BE49-F238E27FC236}">
                <a16:creationId xmlns:a16="http://schemas.microsoft.com/office/drawing/2014/main" id="{AA626611-C90E-0286-5719-7657711DBC07}"/>
              </a:ext>
            </a:extLst>
          </p:cNvPr>
          <p:cNvSpPr txBox="1"/>
          <p:nvPr/>
        </p:nvSpPr>
        <p:spPr>
          <a:xfrm>
            <a:off x="4079775" y="1772816"/>
            <a:ext cx="6106166" cy="1138773"/>
          </a:xfrm>
          <a:prstGeom prst="rect">
            <a:avLst/>
          </a:prstGeom>
          <a:noFill/>
        </p:spPr>
        <p:txBody>
          <a:bodyPr wrap="square">
            <a:spAutoFit/>
          </a:bodyPr>
          <a:lstStyle/>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Stock prices: Track highest price so far.</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Test scores: Get highest score so far by date.</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Sales: Running max revenue per day.</a:t>
            </a:r>
          </a:p>
        </p:txBody>
      </p:sp>
      <p:sp>
        <p:nvSpPr>
          <p:cNvPr id="9" name="TextBox 8">
            <a:extLst>
              <a:ext uri="{FF2B5EF4-FFF2-40B4-BE49-F238E27FC236}">
                <a16:creationId xmlns:a16="http://schemas.microsoft.com/office/drawing/2014/main" id="{5D19DD86-DF1D-FE4E-55A0-5062D315710F}"/>
              </a:ext>
            </a:extLst>
          </p:cNvPr>
          <p:cNvSpPr txBox="1"/>
          <p:nvPr/>
        </p:nvSpPr>
        <p:spPr>
          <a:xfrm>
            <a:off x="3800646" y="5733256"/>
            <a:ext cx="812799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MAX</a:t>
            </a:r>
            <a:r>
              <a:rPr lang="en-IN" dirty="0">
                <a:latin typeface="Liberation Mono"/>
              </a:rPr>
              <a:t>(stockprice)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companyName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as </a:t>
            </a:r>
            <a:r>
              <a:rPr lang="en-IN" i="1" dirty="0">
                <a:solidFill>
                  <a:schemeClr val="bg1">
                    <a:lumMod val="50000"/>
                  </a:schemeClr>
                </a:solidFill>
                <a:latin typeface="Liberation Mono"/>
              </a:rPr>
              <a:t>'Running Max Stock Price'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1" name="Table 10">
            <a:extLst>
              <a:ext uri="{FF2B5EF4-FFF2-40B4-BE49-F238E27FC236}">
                <a16:creationId xmlns:a16="http://schemas.microsoft.com/office/drawing/2014/main" id="{1C32A9EC-2F05-BC20-A1D7-44B90EAD4388}"/>
              </a:ext>
            </a:extLst>
          </p:cNvPr>
          <p:cNvGraphicFramePr>
            <a:graphicFrameLocks noGrp="1"/>
          </p:cNvGraphicFramePr>
          <p:nvPr>
            <p:extLst>
              <p:ext uri="{D42A27DB-BD31-4B8C-83A1-F6EECF244321}">
                <p14:modId xmlns:p14="http://schemas.microsoft.com/office/powerpoint/2010/main" val="3527986293"/>
              </p:ext>
            </p:extLst>
          </p:nvPr>
        </p:nvGraphicFramePr>
        <p:xfrm>
          <a:off x="108001" y="1772816"/>
          <a:ext cx="3611734" cy="4536440"/>
        </p:xfrm>
        <a:graphic>
          <a:graphicData uri="http://schemas.openxmlformats.org/drawingml/2006/table">
            <a:tbl>
              <a:tblPr firstRow="1" bandRow="1">
                <a:tableStyleId>{5940675A-B579-460E-94D1-54222C63F5DA}</a:tableStyleId>
              </a:tblPr>
              <a:tblGrid>
                <a:gridCol w="599348">
                  <a:extLst>
                    <a:ext uri="{9D8B030D-6E8A-4147-A177-3AD203B41FA5}">
                      <a16:colId xmlns:a16="http://schemas.microsoft.com/office/drawing/2014/main" val="1762808890"/>
                    </a:ext>
                  </a:extLst>
                </a:gridCol>
                <a:gridCol w="1763348">
                  <a:extLst>
                    <a:ext uri="{9D8B030D-6E8A-4147-A177-3AD203B41FA5}">
                      <a16:colId xmlns:a16="http://schemas.microsoft.com/office/drawing/2014/main" val="4023350346"/>
                    </a:ext>
                  </a:extLst>
                </a:gridCol>
                <a:gridCol w="1249038">
                  <a:extLst>
                    <a:ext uri="{9D8B030D-6E8A-4147-A177-3AD203B41FA5}">
                      <a16:colId xmlns:a16="http://schemas.microsoft.com/office/drawing/2014/main" val="3590329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a:t>
                      </a: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60116146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Reliance Industries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156401692"/>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Reliance Industries</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3494.93</a:t>
                      </a:r>
                    </a:p>
                  </a:txBody>
                  <a:tcPr/>
                </a:tc>
                <a:extLst>
                  <a:ext uri="{0D108BD9-81ED-4DB2-BD59-A6C34878D82A}">
                    <a16:rowId xmlns:a16="http://schemas.microsoft.com/office/drawing/2014/main" val="3090040753"/>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314435218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r>
                        <a:rPr lang="en-IN" dirty="0">
                          <a:latin typeface="Arial" panose="020B0604020202020204" pitchFamily="34" charset="0"/>
                          <a:cs typeface="Arial" panose="020B0604020202020204" pitchFamily="34" charset="0"/>
                        </a:rPr>
                        <a:t>Only Vimal</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629321372"/>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a:latin typeface="Arial" panose="020B0604020202020204" pitchFamily="34" charset="0"/>
                          <a:cs typeface="Arial" panose="020B0604020202020204" pitchFamily="34" charset="0"/>
                        </a:rPr>
                        <a:t>Raymonds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1254.00</a:t>
                      </a:r>
                    </a:p>
                  </a:txBody>
                  <a:tcPr/>
                </a:tc>
                <a:extLst>
                  <a:ext uri="{0D108BD9-81ED-4DB2-BD59-A6C34878D82A}">
                    <a16:rowId xmlns:a16="http://schemas.microsoft.com/office/drawing/2014/main" val="1163807468"/>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r>
                        <a:rPr lang="en-IN" dirty="0">
                          <a:latin typeface="Arial" panose="020B0604020202020204" pitchFamily="34" charset="0"/>
                          <a:cs typeface="Arial" panose="020B0604020202020204" pitchFamily="34" charset="0"/>
                        </a:rPr>
                        <a:t>Raymonds</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1324703505"/>
                  </a:ext>
                </a:extLst>
              </a:tr>
            </a:tbl>
          </a:graphicData>
        </a:graphic>
      </p:graphicFrame>
      <p:graphicFrame>
        <p:nvGraphicFramePr>
          <p:cNvPr id="14" name="Table 13">
            <a:extLst>
              <a:ext uri="{FF2B5EF4-FFF2-40B4-BE49-F238E27FC236}">
                <a16:creationId xmlns:a16="http://schemas.microsoft.com/office/drawing/2014/main" id="{070CBD98-F61F-0DBB-A106-22DB42DA49A3}"/>
              </a:ext>
            </a:extLst>
          </p:cNvPr>
          <p:cNvGraphicFramePr>
            <a:graphicFrameLocks noGrp="1"/>
          </p:cNvGraphicFramePr>
          <p:nvPr>
            <p:extLst>
              <p:ext uri="{D42A27DB-BD31-4B8C-83A1-F6EECF244321}">
                <p14:modId xmlns:p14="http://schemas.microsoft.com/office/powerpoint/2010/main" val="3066143783"/>
              </p:ext>
            </p:extLst>
          </p:nvPr>
        </p:nvGraphicFramePr>
        <p:xfrm>
          <a:off x="3800647" y="3068960"/>
          <a:ext cx="8128000" cy="2494280"/>
        </p:xfrm>
        <a:graphic>
          <a:graphicData uri="http://schemas.openxmlformats.org/drawingml/2006/table">
            <a:tbl>
              <a:tblPr firstRow="1" bandRow="1">
                <a:tableStyleId>{5940675A-B579-460E-94D1-54222C63F5DA}</a:tableStyleId>
              </a:tblPr>
              <a:tblGrid>
                <a:gridCol w="927201">
                  <a:extLst>
                    <a:ext uri="{9D8B030D-6E8A-4147-A177-3AD203B41FA5}">
                      <a16:colId xmlns:a16="http://schemas.microsoft.com/office/drawing/2014/main" val="2061265069"/>
                    </a:ext>
                  </a:extLst>
                </a:gridCol>
                <a:gridCol w="2232248">
                  <a:extLst>
                    <a:ext uri="{9D8B030D-6E8A-4147-A177-3AD203B41FA5}">
                      <a16:colId xmlns:a16="http://schemas.microsoft.com/office/drawing/2014/main" val="2350642570"/>
                    </a:ext>
                  </a:extLst>
                </a:gridCol>
                <a:gridCol w="2160240">
                  <a:extLst>
                    <a:ext uri="{9D8B030D-6E8A-4147-A177-3AD203B41FA5}">
                      <a16:colId xmlns:a16="http://schemas.microsoft.com/office/drawing/2014/main" val="3535992571"/>
                    </a:ext>
                  </a:extLst>
                </a:gridCol>
                <a:gridCol w="2808311">
                  <a:extLst>
                    <a:ext uri="{9D8B030D-6E8A-4147-A177-3AD203B41FA5}">
                      <a16:colId xmlns:a16="http://schemas.microsoft.com/office/drawing/2014/main" val="285609708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solidFill>
                            <a:schemeClr val="tx1"/>
                          </a:solidFill>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b="1" dirty="0">
                          <a:solidFill>
                            <a:schemeClr val="tx1"/>
                          </a:solidFill>
                          <a:latin typeface="Arial" panose="020B0604020202020204" pitchFamily="34" charset="0"/>
                          <a:cs typeface="Arial" panose="020B0604020202020204" pitchFamily="34" charset="0"/>
                        </a:rPr>
                        <a:t>Running Max Stock Price</a:t>
                      </a:r>
                    </a:p>
                  </a:txBody>
                  <a:tcPr>
                    <a:solidFill>
                      <a:srgbClr val="92D050"/>
                    </a:solidFill>
                  </a:tcPr>
                </a:tc>
                <a:extLst>
                  <a:ext uri="{0D108BD9-81ED-4DB2-BD59-A6C34878D82A}">
                    <a16:rowId xmlns:a16="http://schemas.microsoft.com/office/drawing/2014/main" val="1357603953"/>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535809036"/>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874384439"/>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1904.43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3403402271"/>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710158267"/>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2357.97</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2415301555"/>
                  </a:ext>
                </a:extLst>
              </a:tr>
            </a:tbl>
          </a:graphicData>
        </a:graphic>
      </p:graphicFrame>
      <p:sp>
        <p:nvSpPr>
          <p:cNvPr id="2" name="TextBox 1">
            <a:extLst>
              <a:ext uri="{FF2B5EF4-FFF2-40B4-BE49-F238E27FC236}">
                <a16:creationId xmlns:a16="http://schemas.microsoft.com/office/drawing/2014/main" id="{C6DCF267-3609-BDBE-0265-A585C782681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FF8A2E8D-1F33-EE39-C7F0-6DE7EC3831FB}"/>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maximum.</a:t>
            </a:r>
          </a:p>
        </p:txBody>
      </p:sp>
    </p:spTree>
    <p:extLst>
      <p:ext uri="{BB962C8B-B14F-4D97-AF65-F5344CB8AC3E}">
        <p14:creationId xmlns:p14="http://schemas.microsoft.com/office/powerpoint/2010/main" val="1415337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8001D-8525-24C8-11D4-DF1CDC92211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77D670-F8B5-AF95-2B40-6F2645B6465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max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B1A27D52-539E-2743-1A87-75BF59CC9696}"/>
              </a:ext>
            </a:extLst>
          </p:cNvPr>
          <p:cNvGraphicFramePr>
            <a:graphicFrameLocks noGrp="1"/>
          </p:cNvGraphicFramePr>
          <p:nvPr>
            <p:extLst>
              <p:ext uri="{D42A27DB-BD31-4B8C-83A1-F6EECF244321}">
                <p14:modId xmlns:p14="http://schemas.microsoft.com/office/powerpoint/2010/main" val="1436828235"/>
              </p:ext>
            </p:extLst>
          </p:nvPr>
        </p:nvGraphicFramePr>
        <p:xfrm>
          <a:off x="119338" y="984344"/>
          <a:ext cx="5832646" cy="4820920"/>
        </p:xfrm>
        <a:graphic>
          <a:graphicData uri="http://schemas.openxmlformats.org/drawingml/2006/table">
            <a:tbl>
              <a:tblPr firstRow="1" bandRow="1">
                <a:tableStyleId>{5940675A-B579-460E-94D1-54222C63F5DA}</a:tableStyleId>
              </a:tblPr>
              <a:tblGrid>
                <a:gridCol w="1368151">
                  <a:extLst>
                    <a:ext uri="{9D8B030D-6E8A-4147-A177-3AD203B41FA5}">
                      <a16:colId xmlns:a16="http://schemas.microsoft.com/office/drawing/2014/main" val="928063234"/>
                    </a:ext>
                  </a:extLst>
                </a:gridCol>
                <a:gridCol w="1368152">
                  <a:extLst>
                    <a:ext uri="{9D8B030D-6E8A-4147-A177-3AD203B41FA5}">
                      <a16:colId xmlns:a16="http://schemas.microsoft.com/office/drawing/2014/main" val="790049539"/>
                    </a:ext>
                  </a:extLst>
                </a:gridCol>
                <a:gridCol w="1512168">
                  <a:extLst>
                    <a:ext uri="{9D8B030D-6E8A-4147-A177-3AD203B41FA5}">
                      <a16:colId xmlns:a16="http://schemas.microsoft.com/office/drawing/2014/main" val="2849178210"/>
                    </a:ext>
                  </a:extLst>
                </a:gridCol>
                <a:gridCol w="1584175">
                  <a:extLst>
                    <a:ext uri="{9D8B030D-6E8A-4147-A177-3AD203B41FA5}">
                      <a16:colId xmlns:a16="http://schemas.microsoft.com/office/drawing/2014/main" val="916643311"/>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activity_type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timestamp</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 0.712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1.520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3.140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4.120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0.550</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1.550</a:t>
                      </a:r>
                    </a:p>
                  </a:txBody>
                  <a:tcPr/>
                </a:tc>
                <a:extLst>
                  <a:ext uri="{0D108BD9-81ED-4DB2-BD59-A6C34878D82A}">
                    <a16:rowId xmlns:a16="http://schemas.microsoft.com/office/drawing/2014/main" val="48265323"/>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0.430</a:t>
                      </a:r>
                    </a:p>
                  </a:txBody>
                  <a:tcPr/>
                </a:tc>
                <a:extLst>
                  <a:ext uri="{0D108BD9-81ED-4DB2-BD59-A6C34878D82A}">
                    <a16:rowId xmlns:a16="http://schemas.microsoft.com/office/drawing/2014/main" val="6787092"/>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1.420</a:t>
                      </a:r>
                    </a:p>
                  </a:txBody>
                  <a:tcPr/>
                </a:tc>
                <a:extLst>
                  <a:ext uri="{0D108BD9-81ED-4DB2-BD59-A6C34878D82A}">
                    <a16:rowId xmlns:a16="http://schemas.microsoft.com/office/drawing/2014/main" val="3796194755"/>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4.100</a:t>
                      </a:r>
                    </a:p>
                  </a:txBody>
                  <a:tcPr/>
                </a:tc>
                <a:extLst>
                  <a:ext uri="{0D108BD9-81ED-4DB2-BD59-A6C34878D82A}">
                    <a16:rowId xmlns:a16="http://schemas.microsoft.com/office/drawing/2014/main" val="4262408346"/>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4.512</a:t>
                      </a:r>
                    </a:p>
                  </a:txBody>
                  <a:tcPr/>
                </a:tc>
                <a:extLst>
                  <a:ext uri="{0D108BD9-81ED-4DB2-BD59-A6C34878D82A}">
                    <a16:rowId xmlns:a16="http://schemas.microsoft.com/office/drawing/2014/main" val="16695198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39203914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5.000</a:t>
                      </a:r>
                    </a:p>
                  </a:txBody>
                  <a:tcPr/>
                </a:tc>
                <a:extLst>
                  <a:ext uri="{0D108BD9-81ED-4DB2-BD59-A6C34878D82A}">
                    <a16:rowId xmlns:a16="http://schemas.microsoft.com/office/drawing/2014/main" val="2056884623"/>
                  </a:ext>
                </a:extLst>
              </a:tr>
            </a:tbl>
          </a:graphicData>
        </a:graphic>
      </p:graphicFrame>
      <p:sp>
        <p:nvSpPr>
          <p:cNvPr id="3" name="TextBox 2">
            <a:extLst>
              <a:ext uri="{FF2B5EF4-FFF2-40B4-BE49-F238E27FC236}">
                <a16:creationId xmlns:a16="http://schemas.microsoft.com/office/drawing/2014/main" id="{BF0C4F6F-DD7C-FC39-C261-35C661636416}"/>
              </a:ext>
            </a:extLst>
          </p:cNvPr>
          <p:cNvSpPr txBox="1"/>
          <p:nvPr/>
        </p:nvSpPr>
        <p:spPr>
          <a:xfrm rot="19390171">
            <a:off x="6078007" y="4105508"/>
            <a:ext cx="1566883" cy="461665"/>
          </a:xfrm>
          <a:prstGeom prst="rect">
            <a:avLst/>
          </a:prstGeom>
          <a:noFill/>
        </p:spPr>
        <p:txBody>
          <a:bodyPr wrap="square" rtlCol="0">
            <a:spAutoFit/>
          </a:bodyPr>
          <a:lstStyle/>
          <a:p>
            <a:r>
              <a:rPr lang="en-IN" sz="2400" dirty="0">
                <a:solidFill>
                  <a:srgbClr val="FF0000"/>
                </a:solidFill>
              </a:rPr>
              <a:t>Output </a:t>
            </a:r>
            <a:r>
              <a:rPr lang="en-IN" sz="2400" dirty="0">
                <a:solidFill>
                  <a:srgbClr val="FF0000"/>
                </a:solidFill>
                <a:sym typeface="Wingdings" panose="05000000000000000000" pitchFamily="2" charset="2"/>
              </a:rPr>
              <a:t></a:t>
            </a:r>
            <a:endParaRPr lang="en-IN" sz="2400" dirty="0">
              <a:solidFill>
                <a:srgbClr val="FF0000"/>
              </a:solidFill>
            </a:endParaRPr>
          </a:p>
        </p:txBody>
      </p:sp>
      <p:sp>
        <p:nvSpPr>
          <p:cNvPr id="4" name="TextBox 3">
            <a:extLst>
              <a:ext uri="{FF2B5EF4-FFF2-40B4-BE49-F238E27FC236}">
                <a16:creationId xmlns:a16="http://schemas.microsoft.com/office/drawing/2014/main" id="{7284223A-04EA-A2FC-4130-2DC5C0667AC6}"/>
              </a:ext>
            </a:extLst>
          </p:cNvPr>
          <p:cNvSpPr txBox="1"/>
          <p:nvPr/>
        </p:nvSpPr>
        <p:spPr>
          <a:xfrm>
            <a:off x="119336" y="505018"/>
            <a:ext cx="1728193" cy="400110"/>
          </a:xfrm>
          <a:prstGeom prst="rect">
            <a:avLst/>
          </a:prstGeom>
          <a:noFill/>
        </p:spPr>
        <p:txBody>
          <a:bodyPr wrap="square">
            <a:spAutoFit/>
          </a:bodyPr>
          <a:lstStyle/>
          <a:p>
            <a:r>
              <a:rPr lang="en-IN" sz="2000" b="1" dirty="0">
                <a:latin typeface="Liberation Mono"/>
              </a:rPr>
              <a:t>Table:- activity</a:t>
            </a:r>
            <a:endParaRPr lang="en-IN" sz="2000" b="1" dirty="0"/>
          </a:p>
        </p:txBody>
      </p:sp>
      <p:sp>
        <p:nvSpPr>
          <p:cNvPr id="7" name="TextBox 6">
            <a:extLst>
              <a:ext uri="{FF2B5EF4-FFF2-40B4-BE49-F238E27FC236}">
                <a16:creationId xmlns:a16="http://schemas.microsoft.com/office/drawing/2014/main" id="{B5257147-BB64-5EAE-4539-0189F91D66DC}"/>
              </a:ext>
            </a:extLst>
          </p:cNvPr>
          <p:cNvSpPr txBox="1"/>
          <p:nvPr/>
        </p:nvSpPr>
        <p:spPr>
          <a:xfrm>
            <a:off x="218002" y="5888015"/>
            <a:ext cx="11973998" cy="95410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machine_id, process_id,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Start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End</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sz="2000" b="1"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activity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machine_id, process_id;</a:t>
            </a:r>
          </a:p>
        </p:txBody>
      </p:sp>
      <p:graphicFrame>
        <p:nvGraphicFramePr>
          <p:cNvPr id="8" name="Table 2">
            <a:extLst>
              <a:ext uri="{FF2B5EF4-FFF2-40B4-BE49-F238E27FC236}">
                <a16:creationId xmlns:a16="http://schemas.microsoft.com/office/drawing/2014/main" id="{7901F8C1-9DC3-9372-E92B-44EF25122CEC}"/>
              </a:ext>
            </a:extLst>
          </p:cNvPr>
          <p:cNvGraphicFramePr>
            <a:graphicFrameLocks noGrp="1"/>
          </p:cNvGraphicFramePr>
          <p:nvPr>
            <p:extLst>
              <p:ext uri="{D42A27DB-BD31-4B8C-83A1-F6EECF244321}">
                <p14:modId xmlns:p14="http://schemas.microsoft.com/office/powerpoint/2010/main" val="2341805433"/>
              </p:ext>
            </p:extLst>
          </p:nvPr>
        </p:nvGraphicFramePr>
        <p:xfrm>
          <a:off x="6096000" y="984344"/>
          <a:ext cx="5976661" cy="2595880"/>
        </p:xfrm>
        <a:graphic>
          <a:graphicData uri="http://schemas.openxmlformats.org/drawingml/2006/table">
            <a:tbl>
              <a:tblPr firstRow="1" bandRow="1">
                <a:tableStyleId>{5940675A-B579-460E-94D1-54222C63F5DA}</a:tableStyleId>
              </a:tblPr>
              <a:tblGrid>
                <a:gridCol w="1411967">
                  <a:extLst>
                    <a:ext uri="{9D8B030D-6E8A-4147-A177-3AD203B41FA5}">
                      <a16:colId xmlns:a16="http://schemas.microsoft.com/office/drawing/2014/main" val="928063234"/>
                    </a:ext>
                  </a:extLst>
                </a:gridCol>
                <a:gridCol w="1341368">
                  <a:extLst>
                    <a:ext uri="{9D8B030D-6E8A-4147-A177-3AD203B41FA5}">
                      <a16:colId xmlns:a16="http://schemas.microsoft.com/office/drawing/2014/main" val="790049539"/>
                    </a:ext>
                  </a:extLst>
                </a:gridCol>
                <a:gridCol w="917778">
                  <a:extLst>
                    <a:ext uri="{9D8B030D-6E8A-4147-A177-3AD203B41FA5}">
                      <a16:colId xmlns:a16="http://schemas.microsoft.com/office/drawing/2014/main" val="2849178210"/>
                    </a:ext>
                  </a:extLst>
                </a:gridCol>
                <a:gridCol w="847180">
                  <a:extLst>
                    <a:ext uri="{9D8B030D-6E8A-4147-A177-3AD203B41FA5}">
                      <a16:colId xmlns:a16="http://schemas.microsoft.com/office/drawing/2014/main" val="916643311"/>
                    </a:ext>
                  </a:extLst>
                </a:gridCol>
                <a:gridCol w="1458368">
                  <a:extLst>
                    <a:ext uri="{9D8B030D-6E8A-4147-A177-3AD203B41FA5}">
                      <a16:colId xmlns:a16="http://schemas.microsoft.com/office/drawing/2014/main" val="3832786218"/>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Start</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Difference</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0.712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0.808</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3.140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0.980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0.550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1.550</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0.430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1.420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0.990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4.512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0.412</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5.000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48265323"/>
                  </a:ext>
                </a:extLst>
              </a:tr>
            </a:tbl>
          </a:graphicData>
        </a:graphic>
      </p:graphicFrame>
      <p:sp>
        <p:nvSpPr>
          <p:cNvPr id="6" name="TextBox 5">
            <a:extLst>
              <a:ext uri="{FF2B5EF4-FFF2-40B4-BE49-F238E27FC236}">
                <a16:creationId xmlns:a16="http://schemas.microsoft.com/office/drawing/2014/main" id="{4E4833E0-3319-6920-99DC-1F0B49C1A200}"/>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17197256-6DC1-2C9B-AAE1-4EC7890BD85D}"/>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047832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MIN()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MIN() may take a string, number, and date argument</a:t>
            </a:r>
            <a:r>
              <a:rPr lang="en-IN" dirty="0">
                <a:latin typeface="Palatino Linotype" panose="02040502050505030304" pitchFamily="18" charset="0"/>
                <a:cs typeface="Arial" panose="020B0604020202020204" pitchFamily="34" charset="0"/>
              </a:rPr>
              <a:t>, and it returns a minimum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931409D-5AB8-44B3-9F04-5EFA9D013770}"/>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195BB8E-9F03-859A-2542-20F383070869}"/>
              </a:ext>
            </a:extLst>
          </p:cNvPr>
          <p:cNvSpPr txBox="1"/>
          <p:nvPr/>
        </p:nvSpPr>
        <p:spPr>
          <a:xfrm>
            <a:off x="4510800" y="2636912"/>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
        <p:nvSpPr>
          <p:cNvPr id="2" name="TextBox 1">
            <a:extLst>
              <a:ext uri="{FF2B5EF4-FFF2-40B4-BE49-F238E27FC236}">
                <a16:creationId xmlns:a16="http://schemas.microsoft.com/office/drawing/2014/main" id="{9C55FA1C-382F-37EA-9448-A14D4C99D2B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65017634"/>
      </p:ext>
    </p:extLst>
  </p:cSld>
  <p:clrMapOvr>
    <a:masterClrMapping/>
  </p:clrMapOvr>
</p:sld>
</file>

<file path=ppt/slides/slide4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A2330-EEDA-0BAA-767E-0B53B905142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BADB056-DC9D-F409-FD68-8CEA433D1A28}"/>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FBFD9844-5CAC-535B-9B39-1F74AE5F13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CAA4EA1-E22B-6887-F75D-9885755FD1B1}"/>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MIN  with OVER clause</a:t>
            </a:r>
          </a:p>
        </p:txBody>
      </p:sp>
      <p:sp>
        <p:nvSpPr>
          <p:cNvPr id="7" name="TextBox 6">
            <a:extLst>
              <a:ext uri="{FF2B5EF4-FFF2-40B4-BE49-F238E27FC236}">
                <a16:creationId xmlns:a16="http://schemas.microsoft.com/office/drawing/2014/main" id="{93E491B9-4A1E-8135-6E5F-0098EA3426D8}"/>
              </a:ext>
            </a:extLst>
          </p:cNvPr>
          <p:cNvSpPr txBox="1"/>
          <p:nvPr/>
        </p:nvSpPr>
        <p:spPr>
          <a:xfrm>
            <a:off x="335360" y="2132856"/>
            <a:ext cx="7488832" cy="1138773"/>
          </a:xfrm>
          <a:prstGeom prst="rect">
            <a:avLst/>
          </a:prstGeom>
          <a:noFill/>
        </p:spPr>
        <p:txBody>
          <a:bodyPr wrap="square">
            <a:spAutoFit/>
          </a:bodyPr>
          <a:lstStyle>
            <a:defPPr>
              <a:defRPr lang="en-US"/>
            </a:defPPr>
            <a:lvl1pPr marL="285750" indent="-285750">
              <a:buFont typeface="Arial" panose="020B0604020202020204" pitchFamily="34" charset="0"/>
              <a:buChar char="•"/>
              <a:defRPr sz="2000">
                <a:latin typeface="Arial" panose="020B0604020202020204" pitchFamily="34" charset="0"/>
                <a:cs typeface="Arial" panose="020B0604020202020204" pitchFamily="34" charset="0"/>
              </a:defRPr>
            </a:lvl1pPr>
          </a:lstStyle>
          <a:p>
            <a:r>
              <a:rPr lang="en-IN" dirty="0"/>
              <a:t>Track lowest temperature so far in a weather table.</a:t>
            </a:r>
          </a:p>
          <a:p>
            <a:endParaRPr lang="en-IN" sz="400" dirty="0"/>
          </a:p>
          <a:p>
            <a:r>
              <a:rPr lang="en-IN" dirty="0"/>
              <a:t>Show lowest score a student has received up to a given test.</a:t>
            </a:r>
          </a:p>
          <a:p>
            <a:endParaRPr lang="en-IN" sz="400" dirty="0"/>
          </a:p>
          <a:p>
            <a:r>
              <a:rPr lang="en-IN" dirty="0"/>
              <a:t>Show stock price dips in financial analysis.</a:t>
            </a:r>
          </a:p>
        </p:txBody>
      </p:sp>
      <p:sp>
        <p:nvSpPr>
          <p:cNvPr id="2" name="TextBox 1">
            <a:extLst>
              <a:ext uri="{FF2B5EF4-FFF2-40B4-BE49-F238E27FC236}">
                <a16:creationId xmlns:a16="http://schemas.microsoft.com/office/drawing/2014/main" id="{89A0A4CF-B4EB-3EC4-49B4-2313B33A1258}"/>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90072C31-66D4-1146-9E75-255321C2F29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minimum.</a:t>
            </a:r>
          </a:p>
        </p:txBody>
      </p:sp>
    </p:spTree>
    <p:extLst>
      <p:ext uri="{BB962C8B-B14F-4D97-AF65-F5344CB8AC3E}">
        <p14:creationId xmlns:p14="http://schemas.microsoft.com/office/powerpoint/2010/main" val="3550327389"/>
      </p:ext>
    </p:extLst>
  </p:cSld>
  <p:clrMapOvr>
    <a:masterClrMapping/>
  </p:clrMapOvr>
</p:sld>
</file>

<file path=ppt/slides/slide4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480136"/>
            <a:ext cx="11953328" cy="273921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COUNT() </a:t>
            </a:r>
            <a:r>
              <a:rPr lang="en-IN" b="1" dirty="0">
                <a:latin typeface="Palatino Linotype" panose="02040502050505030304" pitchFamily="18" charset="0"/>
                <a:cs typeface="Arial" panose="020B0604020202020204" pitchFamily="34" charset="0"/>
              </a:rPr>
              <a:t>returns 0.</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Returns a count of the number of non-NULL values.</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COUNT(</a:t>
            </a:r>
            <a:r>
              <a:rPr lang="en-IN" dirty="0">
                <a:solidFill>
                  <a:srgbClr val="A67F59"/>
                </a:solidFill>
                <a:latin typeface="Palatino Linotype" panose="02040502050505030304" pitchFamily="18" charset="0"/>
              </a:rPr>
              <a:t>*</a:t>
            </a:r>
            <a:r>
              <a:rPr lang="en-IN" dirty="0">
                <a:latin typeface="Palatino Linotype" panose="02040502050505030304" pitchFamily="18" charset="0"/>
                <a:cs typeface="Arial" panose="020B0604020202020204" pitchFamily="34" charset="0"/>
              </a:rPr>
              <a:t>) is somewhat different in that it returns a count of the number of rows retrieved, whether or not they contain NULL values.</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is a special implementation of the COUNT function that returns the count of all the rows in a specified table.</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also considers Nulls and duplicates.</a:t>
            </a:r>
          </a:p>
          <a:p>
            <a:pPr marL="285750" indent="-285750">
              <a:buFont typeface="Arial" panose="020B0604020202020204" pitchFamily="34" charset="0"/>
              <a:buChar char="•"/>
            </a:pPr>
            <a:r>
              <a:rPr lang="en-US" dirty="0">
                <a:latin typeface="Palatino Linotype" panose="02040502050505030304" pitchFamily="18" charset="0"/>
              </a:rPr>
              <a:t>SQL does not allow the use of DISTINCT with COUNT (</a:t>
            </a:r>
            <a:r>
              <a:rPr lang="en-IN" dirty="0">
                <a:solidFill>
                  <a:srgbClr val="A67F59"/>
                </a:solidFill>
                <a:latin typeface="Palatino Linotype" panose="02040502050505030304" pitchFamily="18" charset="0"/>
              </a:rPr>
              <a:t>*</a:t>
            </a:r>
            <a:r>
              <a:rPr lang="en-US" dirty="0">
                <a:latin typeface="Palatino Linotype" panose="02040502050505030304" pitchFamily="18"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953328" cy="646331"/>
          </a:xfrm>
          <a:prstGeom prst="rect">
            <a:avLst/>
          </a:prstGeom>
          <a:solidFill>
            <a:schemeClr val="accent3">
              <a:lumMod val="20000"/>
              <a:lumOff val="80000"/>
            </a:schemeClr>
          </a:solidFill>
        </p:spPr>
        <p:txBody>
          <a:bodyPr wrap="square">
            <a:spAutoFit/>
          </a:bodyPr>
          <a:lstStyle/>
          <a:p>
            <a:r>
              <a:rPr lang="en-US" b="1" dirty="0">
                <a:latin typeface="Palatino Linotype" panose="02040502050505030304" pitchFamily="18" charset="0"/>
              </a:rPr>
              <a:t>In MySQL,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b="1" i="1" dirty="0">
                <a:latin typeface="Palatino Linotype" panose="02040502050505030304" pitchFamily="18" charset="0"/>
              </a:rPr>
              <a:t>column</a:t>
            </a:r>
            <a:r>
              <a:rPr lang="en-US" b="1" dirty="0">
                <a:latin typeface="Palatino Linotype" panose="02040502050505030304" pitchFamily="18" charset="0"/>
              </a:rPr>
              <a:t>), and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dirty="0">
                <a:solidFill>
                  <a:srgbClr val="0070C0"/>
                </a:solidFill>
                <a:latin typeface="Palatino Linotype" panose="02040502050505030304" pitchFamily="18" charset="0"/>
                <a:cs typeface="Arial" panose="020B0604020202020204" pitchFamily="34" charset="0"/>
              </a:rPr>
              <a:t>DISTINCT</a:t>
            </a:r>
            <a:r>
              <a:rPr lang="en-US" b="1" dirty="0">
                <a:latin typeface="Palatino Linotype" panose="02040502050505030304" pitchFamily="18" charset="0"/>
              </a:rPr>
              <a:t> </a:t>
            </a:r>
            <a:r>
              <a:rPr lang="en-US" b="1" i="1" dirty="0">
                <a:latin typeface="Palatino Linotype" panose="02040502050505030304" pitchFamily="18" charset="0"/>
              </a:rPr>
              <a:t>column</a:t>
            </a:r>
            <a:r>
              <a:rPr lang="en-US" b="1" dirty="0">
                <a:latin typeface="Palatino Linotype" panose="02040502050505030304" pitchFamily="18" charset="0"/>
              </a:rPr>
              <a:t>) are used to count rows/values, but they behave differently, especially with NULL and duplicate values.</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16952A86-B136-4D19-8644-66E16D2A9D7C}"/>
              </a:ext>
            </a:extLst>
          </p:cNvPr>
          <p:cNvSpPr txBox="1"/>
          <p:nvPr/>
        </p:nvSpPr>
        <p:spPr>
          <a:xfrm>
            <a:off x="119336" y="4328517"/>
            <a:ext cx="11953328" cy="233910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sz="2200" dirty="0">
              <a:latin typeface="Arial" panose="020B0604020202020204" pitchFamily="34" charset="0"/>
              <a:cs typeface="Arial" panose="020B0604020202020204" pitchFamily="34" charset="0"/>
            </a:endParaRP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a:t>
            </a:r>
            <a:r>
              <a:rPr lang="en-IN" dirty="0">
                <a:latin typeface="Arial" panose="020B0604020202020204" pitchFamily="34" charset="0"/>
                <a:cs typeface="Arial" panose="020B0604020202020204" pitchFamily="34" charset="0"/>
              </a:rPr>
              <a:t> Returns a number of rows in a table including duplicates rows and rows containing null values in any of the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(EXP):</a:t>
            </a:r>
            <a:r>
              <a:rPr lang="en-IN" dirty="0">
                <a:latin typeface="Arial" panose="020B0604020202020204" pitchFamily="34" charset="0"/>
                <a:cs typeface="Arial" panose="020B0604020202020204" pitchFamily="34" charset="0"/>
              </a:rPr>
              <a:t> Returns the number of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EXP):</a:t>
            </a:r>
            <a:r>
              <a:rPr lang="en-IN" dirty="0">
                <a:latin typeface="Arial" panose="020B0604020202020204" pitchFamily="34" charset="0"/>
                <a:cs typeface="Arial" panose="020B0604020202020204" pitchFamily="34" charset="0"/>
              </a:rPr>
              <a:t> Returns the number of unique,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a:t>
            </a:r>
            <a:r>
              <a:rPr lang="en-IN" dirty="0">
                <a:latin typeface="Arial" panose="020B0604020202020204" pitchFamily="34" charset="0"/>
                <a:cs typeface="Arial" panose="020B0604020202020204" pitchFamily="34" charset="0"/>
              </a:rPr>
              <a:t> </a:t>
            </a:r>
            <a:r>
              <a:rPr lang="en-IN" sz="2000" dirty="0">
                <a:solidFill>
                  <a:srgbClr val="C00000"/>
                </a:solidFill>
                <a:latin typeface="Arial" panose="020B0604020202020204" pitchFamily="34" charset="0"/>
                <a:cs typeface="Arial" panose="020B0604020202020204" pitchFamily="34" charset="0"/>
              </a:rPr>
              <a:t>is illegal.</a:t>
            </a:r>
            <a:endParaRPr lang="en-IN"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6943952"/>
      </p:ext>
    </p:extLst>
  </p:cSld>
  <p:clrMapOvr>
    <a:masterClrMapping/>
  </p:clrMapOvr>
</p:sld>
</file>

<file path=ppt/slides/slide5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A1900-B14C-686B-B0F3-F446DADB7D7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EEB086E-7792-90A5-2697-A194FC65C1EB}"/>
              </a:ext>
            </a:extLst>
          </p:cNvPr>
          <p:cNvSpPr/>
          <p:nvPr/>
        </p:nvSpPr>
        <p:spPr>
          <a:xfrm>
            <a:off x="108000" y="1084674"/>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D851BCE8-E638-27D1-DA89-869C17C730A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50366FCA-8811-0965-DC8D-8650CBF747DC}"/>
              </a:ext>
            </a:extLst>
          </p:cNvPr>
          <p:cNvGraphicFramePr>
            <a:graphicFrameLocks noGrp="1"/>
          </p:cNvGraphicFramePr>
          <p:nvPr>
            <p:extLst>
              <p:ext uri="{D42A27DB-BD31-4B8C-83A1-F6EECF244321}">
                <p14:modId xmlns:p14="http://schemas.microsoft.com/office/powerpoint/2010/main" val="3379106149"/>
              </p:ext>
            </p:extLst>
          </p:nvPr>
        </p:nvGraphicFramePr>
        <p:xfrm>
          <a:off x="335360" y="2207766"/>
          <a:ext cx="4680520" cy="2275840"/>
        </p:xfrm>
        <a:graphic>
          <a:graphicData uri="http://schemas.openxmlformats.org/drawingml/2006/table">
            <a:tbl>
              <a:tblPr firstRow="1" bandRow="1">
                <a:tableStyleId>{5940675A-B579-460E-94D1-54222C63F5DA}</a:tableStyleId>
              </a:tblPr>
              <a:tblGrid>
                <a:gridCol w="936104">
                  <a:extLst>
                    <a:ext uri="{9D8B030D-6E8A-4147-A177-3AD203B41FA5}">
                      <a16:colId xmlns:a16="http://schemas.microsoft.com/office/drawing/2014/main" val="1762808890"/>
                    </a:ext>
                  </a:extLst>
                </a:gridCol>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phone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l"/>
                      <a:r>
                        <a:rPr lang="en-US" b="0" dirty="0">
                          <a:latin typeface="Arial" panose="020B0604020202020204" pitchFamily="34" charset="0"/>
                          <a:cs typeface="Arial" panose="020B0604020202020204" pitchFamily="34" charset="0"/>
                        </a:rPr>
                        <a:t>saleel</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baroda</a:t>
                      </a:r>
                      <a:endParaRPr lang="en-IN" b="0" dirty="0">
                        <a:latin typeface="Arial" panose="020B0604020202020204" pitchFamily="34" charset="0"/>
                        <a:cs typeface="Arial" panose="020B0604020202020204" pitchFamily="34" charset="0"/>
                      </a:endParaRPr>
                    </a:p>
                  </a:txBody>
                  <a:tcP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l"/>
                      <a:r>
                        <a:rPr lang="en-US" sz="2000" b="0" dirty="0">
                          <a:latin typeface="Arial" panose="020B0604020202020204" pitchFamily="34" charset="0"/>
                          <a:cs typeface="Arial" panose="020B0604020202020204" pitchFamily="34" charset="0"/>
                        </a:rPr>
                        <a:t>sharmin</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pune</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l"/>
                      <a:r>
                        <a:rPr lang="en-US" b="0" dirty="0">
                          <a:latin typeface="Arial" panose="020B0604020202020204" pitchFamily="34" charset="0"/>
                          <a:cs typeface="Arial" panose="020B0604020202020204" pitchFamily="34" charset="0"/>
                        </a:rPr>
                        <a:t>ruhan</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1111</a:t>
                      </a:r>
                    </a:p>
                  </a:txBody>
                  <a:tcPr/>
                </a:tc>
                <a:extLst>
                  <a:ext uri="{0D108BD9-81ED-4DB2-BD59-A6C34878D82A}">
                    <a16:rowId xmlns:a16="http://schemas.microsoft.com/office/drawing/2014/main" val="3090040753"/>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4</a:t>
                      </a:r>
                    </a:p>
                  </a:txBody>
                  <a:tcPr anchor="ctr"/>
                </a:tc>
                <a:tc>
                  <a:txBody>
                    <a:bodyPr/>
                    <a:lstStyle/>
                    <a:p>
                      <a:pPr algn="l"/>
                      <a:r>
                        <a:rPr kumimoji="0" lang="en-US" b="0" kern="1200" dirty="0">
                          <a:solidFill>
                            <a:schemeClr val="tx1"/>
                          </a:solidFill>
                          <a:latin typeface="Arial" panose="020B0604020202020204" pitchFamily="34" charset="0"/>
                          <a:ea typeface="+mn-ea"/>
                          <a:cs typeface="Arial" panose="020B0604020202020204" pitchFamily="34" charset="0"/>
                        </a:rPr>
                        <a:t>vrushali</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lang="en-US" b="0" dirty="0">
                          <a:latin typeface="Arial" panose="020B0604020202020204" pitchFamily="34" charset="0"/>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2000" b="0" dirty="0">
                          <a:latin typeface="Arial" panose="020B0604020202020204" pitchFamily="34" charset="0"/>
                          <a:cs typeface="Arial" panose="020B0604020202020204" pitchFamily="34" charset="0"/>
                        </a:rPr>
                        <a:t>5</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US" sz="2000" b="0" dirty="0">
                          <a:latin typeface="Arial" panose="020B0604020202020204" pitchFamily="34" charset="0"/>
                          <a:cs typeface="Arial" panose="020B0604020202020204" pitchFamily="34" charset="0"/>
                        </a:rPr>
                        <a:t>neel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2222</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048F268-E105-0394-C62D-2AD8CB48AFA0}"/>
              </a:ext>
            </a:extLst>
          </p:cNvPr>
          <p:cNvSpPr txBox="1"/>
          <p:nvPr/>
        </p:nvSpPr>
        <p:spPr>
          <a:xfrm>
            <a:off x="335360" y="1735648"/>
            <a:ext cx="2118000" cy="400110"/>
          </a:xfrm>
          <a:prstGeom prst="rect">
            <a:avLst/>
          </a:prstGeom>
          <a:noFill/>
        </p:spPr>
        <p:txBody>
          <a:bodyPr wrap="square">
            <a:spAutoFit/>
          </a:bodyPr>
          <a:lstStyle/>
          <a:p>
            <a:r>
              <a:rPr lang="en-IN" sz="2000" b="1" dirty="0">
                <a:latin typeface="Liberation Mono"/>
              </a:rPr>
              <a:t>Table:- countNulls</a:t>
            </a:r>
            <a:endParaRPr lang="en-IN" sz="2000" b="1" dirty="0"/>
          </a:p>
        </p:txBody>
      </p:sp>
      <p:sp>
        <p:nvSpPr>
          <p:cNvPr id="10" name="TextBox 9">
            <a:extLst>
              <a:ext uri="{FF2B5EF4-FFF2-40B4-BE49-F238E27FC236}">
                <a16:creationId xmlns:a16="http://schemas.microsoft.com/office/drawing/2014/main" id="{F5CB3234-618B-5A78-1C9B-A49A711A87C7}"/>
              </a:ext>
            </a:extLst>
          </p:cNvPr>
          <p:cNvSpPr txBox="1"/>
          <p:nvPr/>
        </p:nvSpPr>
        <p:spPr>
          <a:xfrm>
            <a:off x="119336" y="4904000"/>
            <a:ext cx="1195332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(city) </a:t>
            </a:r>
            <a:r>
              <a:rPr lang="en-IN" i="1" dirty="0">
                <a:solidFill>
                  <a:schemeClr val="bg1">
                    <a:lumMod val="50000"/>
                  </a:schemeClr>
                </a:solidFill>
                <a:latin typeface="Liberation Mono"/>
              </a:rPr>
              <a:t>'NULLs in city'</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(phone) </a:t>
            </a:r>
            <a:r>
              <a:rPr lang="en-IN" i="1" dirty="0">
                <a:solidFill>
                  <a:schemeClr val="bg1">
                    <a:lumMod val="50000"/>
                  </a:schemeClr>
                </a:solidFill>
                <a:latin typeface="Liberation Mono"/>
              </a:rPr>
              <a:t>'NULLs in phone' </a:t>
            </a:r>
            <a:r>
              <a:rPr lang="en-IN" dirty="0">
                <a:solidFill>
                  <a:srgbClr val="0077AA"/>
                </a:solidFill>
                <a:latin typeface="Liberation Mono"/>
                <a:cs typeface="Arial" panose="020B0604020202020204" pitchFamily="34" charset="0"/>
              </a:rPr>
              <a:t>FROM</a:t>
            </a:r>
            <a:r>
              <a:rPr lang="en-IN" dirty="0">
                <a:latin typeface="Liberation Mono"/>
              </a:rPr>
              <a:t> countnulls;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city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city'</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phone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phone'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countnulls;</a:t>
            </a:r>
            <a:endParaRPr lang="en-IN" dirty="0">
              <a:latin typeface="Liberation Mono"/>
            </a:endParaRPr>
          </a:p>
        </p:txBody>
      </p:sp>
      <p:graphicFrame>
        <p:nvGraphicFramePr>
          <p:cNvPr id="12" name="Table 11">
            <a:extLst>
              <a:ext uri="{FF2B5EF4-FFF2-40B4-BE49-F238E27FC236}">
                <a16:creationId xmlns:a16="http://schemas.microsoft.com/office/drawing/2014/main" id="{035C3223-7B14-12EC-CA4B-8E488D01B38C}"/>
              </a:ext>
            </a:extLst>
          </p:cNvPr>
          <p:cNvGraphicFramePr>
            <a:graphicFrameLocks noGrp="1"/>
          </p:cNvGraphicFramePr>
          <p:nvPr>
            <p:extLst>
              <p:ext uri="{D42A27DB-BD31-4B8C-83A1-F6EECF244321}">
                <p14:modId xmlns:p14="http://schemas.microsoft.com/office/powerpoint/2010/main" val="4184191289"/>
              </p:ext>
            </p:extLst>
          </p:nvPr>
        </p:nvGraphicFramePr>
        <p:xfrm>
          <a:off x="5879976" y="2207766"/>
          <a:ext cx="5832648" cy="741680"/>
        </p:xfrm>
        <a:graphic>
          <a:graphicData uri="http://schemas.openxmlformats.org/drawingml/2006/table">
            <a:tbl>
              <a:tblPr firstRow="1" bandRow="1">
                <a:tableStyleId>{5940675A-B579-460E-94D1-54222C63F5DA}</a:tableStyleId>
              </a:tblPr>
              <a:tblGrid>
                <a:gridCol w="1518086">
                  <a:extLst>
                    <a:ext uri="{9D8B030D-6E8A-4147-A177-3AD203B41FA5}">
                      <a16:colId xmlns:a16="http://schemas.microsoft.com/office/drawing/2014/main" val="1762808890"/>
                    </a:ext>
                  </a:extLst>
                </a:gridCol>
                <a:gridCol w="2370346">
                  <a:extLst>
                    <a:ext uri="{9D8B030D-6E8A-4147-A177-3AD203B41FA5}">
                      <a16:colId xmlns:a16="http://schemas.microsoft.com/office/drawing/2014/main" val="3768112670"/>
                    </a:ext>
                  </a:extLst>
                </a:gridCol>
                <a:gridCol w="1944216">
                  <a:extLst>
                    <a:ext uri="{9D8B030D-6E8A-4147-A177-3AD203B41FA5}">
                      <a16:colId xmlns:a16="http://schemas.microsoft.com/office/drawing/2014/main" val="3956774166"/>
                    </a:ext>
                  </a:extLst>
                </a:gridCol>
              </a:tblGrid>
              <a:tr h="370840">
                <a:tc>
                  <a:txBody>
                    <a:bodyPr/>
                    <a:lstStyle/>
                    <a:p>
                      <a:pPr algn="ctr"/>
                      <a:r>
                        <a:rPr lang="en-IN" b="1" dirty="0">
                          <a:latin typeface="Arial" panose="020B0604020202020204" pitchFamily="34" charset="0"/>
                          <a:cs typeface="Arial" panose="020B0604020202020204" pitchFamily="34" charset="0"/>
                        </a:rPr>
                        <a:t>Total Rows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NULLs in city</a:t>
                      </a: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NULLs in phone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r"/>
                      <a:r>
                        <a:rPr lang="en-US" b="0" dirty="0">
                          <a:solidFill>
                            <a:srgbClr val="B212AA"/>
                          </a:solidFill>
                          <a:latin typeface="Arial" panose="020B0604020202020204" pitchFamily="34" charset="0"/>
                          <a:cs typeface="Arial" panose="020B0604020202020204" pitchFamily="34" charset="0"/>
                        </a:rPr>
                        <a:t>5</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2</a:t>
                      </a:r>
                      <a:endParaRPr lang="en-IN"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bl>
          </a:graphicData>
        </a:graphic>
      </p:graphicFrame>
      <p:sp>
        <p:nvSpPr>
          <p:cNvPr id="13" name="TextBox 12">
            <a:extLst>
              <a:ext uri="{FF2B5EF4-FFF2-40B4-BE49-F238E27FC236}">
                <a16:creationId xmlns:a16="http://schemas.microsoft.com/office/drawing/2014/main" id="{FCFA0D72-8C15-C2CF-571B-EA44CD7B5C79}"/>
              </a:ext>
            </a:extLst>
          </p:cNvPr>
          <p:cNvSpPr txBox="1"/>
          <p:nvPr/>
        </p:nvSpPr>
        <p:spPr>
          <a:xfrm>
            <a:off x="5879976" y="1735648"/>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C3B9AB57-C271-C614-B8FC-A7D00297CF23}"/>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AEBCA8A5-92C6-FCA2-FC42-2D472AEDDE38}"/>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NULLs in each columns.</a:t>
            </a:r>
          </a:p>
        </p:txBody>
      </p:sp>
    </p:spTree>
    <p:extLst>
      <p:ext uri="{BB962C8B-B14F-4D97-AF65-F5344CB8AC3E}">
        <p14:creationId xmlns:p14="http://schemas.microsoft.com/office/powerpoint/2010/main" val="1958813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9B726-41EE-F1F6-A3FD-C9326FF5B8C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14CDF2C-89E4-B39F-6544-4F753E46FBB1}"/>
              </a:ext>
            </a:extLst>
          </p:cNvPr>
          <p:cNvSpPr/>
          <p:nvPr/>
        </p:nvSpPr>
        <p:spPr>
          <a:xfrm>
            <a:off x="108000" y="1062028"/>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537AE3D-EE1E-366E-AC51-C1A4C5C51EA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9FD8FD3-6098-E28E-1FA2-0739FAD47450}"/>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graphicFrame>
        <p:nvGraphicFramePr>
          <p:cNvPr id="11" name="Table 10">
            <a:extLst>
              <a:ext uri="{FF2B5EF4-FFF2-40B4-BE49-F238E27FC236}">
                <a16:creationId xmlns:a16="http://schemas.microsoft.com/office/drawing/2014/main" id="{AC5FABFB-47F2-FE2A-8923-66B312A34BFA}"/>
              </a:ext>
            </a:extLst>
          </p:cNvPr>
          <p:cNvGraphicFramePr>
            <a:graphicFrameLocks noGrp="1"/>
          </p:cNvGraphicFramePr>
          <p:nvPr>
            <p:extLst>
              <p:ext uri="{D42A27DB-BD31-4B8C-83A1-F6EECF244321}">
                <p14:modId xmlns:p14="http://schemas.microsoft.com/office/powerpoint/2010/main" val="2479390781"/>
              </p:ext>
            </p:extLst>
          </p:nvPr>
        </p:nvGraphicFramePr>
        <p:xfrm>
          <a:off x="521616" y="2028910"/>
          <a:ext cx="2118000" cy="4683760"/>
        </p:xfrm>
        <a:graphic>
          <a:graphicData uri="http://schemas.openxmlformats.org/drawingml/2006/table">
            <a:tbl>
              <a:tblPr firstRow="1" bandRow="1">
                <a:tableStyleId>{5940675A-B579-460E-94D1-54222C63F5DA}</a:tableStyleId>
              </a:tblPr>
              <a:tblGrid>
                <a:gridCol w="1059000">
                  <a:extLst>
                    <a:ext uri="{9D8B030D-6E8A-4147-A177-3AD203B41FA5}">
                      <a16:colId xmlns:a16="http://schemas.microsoft.com/office/drawing/2014/main" val="1762808890"/>
                    </a:ext>
                  </a:extLst>
                </a:gridCol>
                <a:gridCol w="1059000">
                  <a:extLst>
                    <a:ext uri="{9D8B030D-6E8A-4147-A177-3AD203B41FA5}">
                      <a16:colId xmlns:a16="http://schemas.microsoft.com/office/drawing/2014/main" val="376811267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c1</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DD99173C-DE42-76B0-F3B9-EDAC2DBEEAEA}"/>
              </a:ext>
            </a:extLst>
          </p:cNvPr>
          <p:cNvSpPr txBox="1"/>
          <p:nvPr/>
        </p:nvSpPr>
        <p:spPr>
          <a:xfrm>
            <a:off x="521616" y="1556792"/>
            <a:ext cx="2622056" cy="400110"/>
          </a:xfrm>
          <a:prstGeom prst="rect">
            <a:avLst/>
          </a:prstGeom>
          <a:noFill/>
        </p:spPr>
        <p:txBody>
          <a:bodyPr wrap="square">
            <a:spAutoFit/>
          </a:bodyPr>
          <a:lstStyle/>
          <a:p>
            <a:r>
              <a:rPr lang="en-IN" sz="2000" b="1" dirty="0">
                <a:latin typeface="Liberation Mono"/>
              </a:rPr>
              <a:t>Table:- countNumbers</a:t>
            </a:r>
            <a:endParaRPr lang="en-IN" sz="2000" b="1" dirty="0"/>
          </a:p>
        </p:txBody>
      </p:sp>
      <p:sp>
        <p:nvSpPr>
          <p:cNvPr id="3" name="TextBox 2">
            <a:extLst>
              <a:ext uri="{FF2B5EF4-FFF2-40B4-BE49-F238E27FC236}">
                <a16:creationId xmlns:a16="http://schemas.microsoft.com/office/drawing/2014/main" id="{0DF404DB-C01E-6EC8-055E-6E680B10591E}"/>
              </a:ext>
            </a:extLst>
          </p:cNvPr>
          <p:cNvSpPr txBox="1"/>
          <p:nvPr/>
        </p:nvSpPr>
        <p:spPr>
          <a:xfrm>
            <a:off x="3359697" y="1556792"/>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B71F9183-C393-E0AE-A159-9DC9DE62A8EB}"/>
              </a:ext>
            </a:extLst>
          </p:cNvPr>
          <p:cNvSpPr txBox="1"/>
          <p:nvPr/>
        </p:nvSpPr>
        <p:spPr>
          <a:xfrm>
            <a:off x="6480720" y="2708920"/>
            <a:ext cx="551993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c1, </a:t>
            </a:r>
            <a:r>
              <a:rPr lang="en-IN" dirty="0">
                <a:solidFill>
                  <a:srgbClr val="DD4A68"/>
                </a:solidFill>
                <a:latin typeface="Liberation Mono"/>
              </a:rPr>
              <a:t>COUNT</a:t>
            </a:r>
            <a:r>
              <a:rPr lang="en-IN" dirty="0">
                <a:latin typeface="Liberation Mono"/>
              </a:rPr>
              <a:t>(c1)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countNumbers;</a:t>
            </a:r>
          </a:p>
        </p:txBody>
      </p:sp>
      <p:graphicFrame>
        <p:nvGraphicFramePr>
          <p:cNvPr id="7" name="Table 6">
            <a:extLst>
              <a:ext uri="{FF2B5EF4-FFF2-40B4-BE49-F238E27FC236}">
                <a16:creationId xmlns:a16="http://schemas.microsoft.com/office/drawing/2014/main" id="{4FF708AB-B004-FDE7-4B4A-6CFC045EB1DA}"/>
              </a:ext>
            </a:extLst>
          </p:cNvPr>
          <p:cNvGraphicFramePr>
            <a:graphicFrameLocks noGrp="1"/>
          </p:cNvGraphicFramePr>
          <p:nvPr>
            <p:extLst>
              <p:ext uri="{D42A27DB-BD31-4B8C-83A1-F6EECF244321}">
                <p14:modId xmlns:p14="http://schemas.microsoft.com/office/powerpoint/2010/main" val="115425687"/>
              </p:ext>
            </p:extLst>
          </p:nvPr>
        </p:nvGraphicFramePr>
        <p:xfrm>
          <a:off x="3359697" y="2028910"/>
          <a:ext cx="2952327" cy="4683760"/>
        </p:xfrm>
        <a:graphic>
          <a:graphicData uri="http://schemas.openxmlformats.org/drawingml/2006/table">
            <a:tbl>
              <a:tblPr firstRow="1" bandRow="1">
                <a:tableStyleId>{5940675A-B579-460E-94D1-54222C63F5DA}</a:tableStyleId>
              </a:tblPr>
              <a:tblGrid>
                <a:gridCol w="984109">
                  <a:extLst>
                    <a:ext uri="{9D8B030D-6E8A-4147-A177-3AD203B41FA5}">
                      <a16:colId xmlns:a16="http://schemas.microsoft.com/office/drawing/2014/main" val="1762808890"/>
                    </a:ext>
                  </a:extLst>
                </a:gridCol>
                <a:gridCol w="984109">
                  <a:extLst>
                    <a:ext uri="{9D8B030D-6E8A-4147-A177-3AD203B41FA5}">
                      <a16:colId xmlns:a16="http://schemas.microsoft.com/office/drawing/2014/main" val="3768112670"/>
                    </a:ext>
                  </a:extLst>
                </a:gridCol>
                <a:gridCol w="984109">
                  <a:extLst>
                    <a:ext uri="{9D8B030D-6E8A-4147-A177-3AD203B41FA5}">
                      <a16:colId xmlns:a16="http://schemas.microsoft.com/office/drawing/2014/main" val="1115900818"/>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b="0" dirty="0">
                          <a:latin typeface="Arial" panose="020B0604020202020204" pitchFamily="34" charset="0"/>
                          <a:cs typeface="Arial" panose="020B0604020202020204" pitchFamily="34" charset="0"/>
                        </a:rPr>
                        <a:t>c1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tc>
                  <a:txBody>
                    <a:bodyPr/>
                    <a:lstStyle/>
                    <a:p>
                      <a:pPr algn="ctr"/>
                      <a:r>
                        <a:rPr kumimoji="0" lang="en-IN" b="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6" name="TextBox 5">
            <a:extLst>
              <a:ext uri="{FF2B5EF4-FFF2-40B4-BE49-F238E27FC236}">
                <a16:creationId xmlns:a16="http://schemas.microsoft.com/office/drawing/2014/main" id="{7BF27C0F-F4B0-B5B6-8865-10B995C042CF}"/>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8FDD75F2-C436-7235-C2BA-A434B05167C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
        <p:nvSpPr>
          <p:cNvPr id="12" name="TextBox 11">
            <a:extLst>
              <a:ext uri="{FF2B5EF4-FFF2-40B4-BE49-F238E27FC236}">
                <a16:creationId xmlns:a16="http://schemas.microsoft.com/office/drawing/2014/main" id="{6FC2AF86-9F8D-1412-49B9-89B02FFA7787}"/>
              </a:ext>
            </a:extLst>
          </p:cNvPr>
          <p:cNvSpPr txBox="1"/>
          <p:nvPr/>
        </p:nvSpPr>
        <p:spPr>
          <a:xfrm>
            <a:off x="6480720" y="5157192"/>
            <a:ext cx="571128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COUNT</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countnumbers)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FIRST_VALUE</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2160984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2" grpId="0"/>
    </p:bldLst>
  </p:timing>
</p:sld>
</file>

<file path=ppt/slides/slide5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74FD0-B180-2232-A7F8-459D67C03D8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E0FB8B9-0953-F4DB-2070-944356F1EB9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3F545509-64F5-CCF4-F035-DB2FFE5CC55F}"/>
              </a:ext>
            </a:extLst>
          </p:cNvPr>
          <p:cNvGraphicFramePr>
            <a:graphicFrameLocks noGrp="1"/>
          </p:cNvGraphicFramePr>
          <p:nvPr>
            <p:extLst>
              <p:ext uri="{D42A27DB-BD31-4B8C-83A1-F6EECF244321}">
                <p14:modId xmlns:p14="http://schemas.microsoft.com/office/powerpoint/2010/main" val="3931171677"/>
              </p:ext>
            </p:extLst>
          </p:nvPr>
        </p:nvGraphicFramePr>
        <p:xfrm>
          <a:off x="324026" y="1907540"/>
          <a:ext cx="4835870" cy="3855720"/>
        </p:xfrm>
        <a:graphic>
          <a:graphicData uri="http://schemas.openxmlformats.org/drawingml/2006/table">
            <a:tbl>
              <a:tblPr firstRow="1" bandRow="1">
                <a:tableStyleId>{5940675A-B579-460E-94D1-54222C63F5DA}</a:tableStyleId>
              </a:tblPr>
              <a:tblGrid>
                <a:gridCol w="596277">
                  <a:extLst>
                    <a:ext uri="{9D8B030D-6E8A-4147-A177-3AD203B41FA5}">
                      <a16:colId xmlns:a16="http://schemas.microsoft.com/office/drawing/2014/main" val="1762808890"/>
                    </a:ext>
                  </a:extLst>
                </a:gridCol>
                <a:gridCol w="1863329">
                  <a:extLst>
                    <a:ext uri="{9D8B030D-6E8A-4147-A177-3AD203B41FA5}">
                      <a16:colId xmlns:a16="http://schemas.microsoft.com/office/drawing/2014/main" val="4023350346"/>
                    </a:ext>
                  </a:extLst>
                </a:gridCol>
                <a:gridCol w="1296144">
                  <a:extLst>
                    <a:ext uri="{9D8B030D-6E8A-4147-A177-3AD203B41FA5}">
                      <a16:colId xmlns:a16="http://schemas.microsoft.com/office/drawing/2014/main" val="359032933"/>
                    </a:ext>
                  </a:extLst>
                </a:gridCol>
                <a:gridCol w="1080120">
                  <a:extLst>
                    <a:ext uri="{9D8B030D-6E8A-4147-A177-3AD203B41FA5}">
                      <a16:colId xmlns:a16="http://schemas.microsoft.com/office/drawing/2014/main" val="92934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2" name="TextBox 1">
            <a:extLst>
              <a:ext uri="{FF2B5EF4-FFF2-40B4-BE49-F238E27FC236}">
                <a16:creationId xmlns:a16="http://schemas.microsoft.com/office/drawing/2014/main" id="{C30B32D1-4DC1-A1F0-B1B1-F4B0FF59B2CD}"/>
              </a:ext>
            </a:extLst>
          </p:cNvPr>
          <p:cNvSpPr txBox="1"/>
          <p:nvPr/>
        </p:nvSpPr>
        <p:spPr>
          <a:xfrm>
            <a:off x="305592" y="1507430"/>
            <a:ext cx="2160109" cy="400110"/>
          </a:xfrm>
          <a:prstGeom prst="rect">
            <a:avLst/>
          </a:prstGeom>
          <a:noFill/>
        </p:spPr>
        <p:txBody>
          <a:bodyPr wrap="square">
            <a:spAutoFit/>
          </a:bodyPr>
          <a:lstStyle/>
          <a:p>
            <a:r>
              <a:rPr lang="en-IN" sz="2000" b="1" dirty="0">
                <a:latin typeface="Liberation Mono"/>
              </a:rPr>
              <a:t>Table:- stocks</a:t>
            </a:r>
            <a:endParaRPr lang="en-IN" sz="2000" b="1" dirty="0"/>
          </a:p>
        </p:txBody>
      </p:sp>
      <p:sp>
        <p:nvSpPr>
          <p:cNvPr id="3" name="TextBox 2">
            <a:extLst>
              <a:ext uri="{FF2B5EF4-FFF2-40B4-BE49-F238E27FC236}">
                <a16:creationId xmlns:a16="http://schemas.microsoft.com/office/drawing/2014/main" id="{EE8A3791-E762-B3C8-BE51-F44BDC9EF3EB}"/>
              </a:ext>
            </a:extLst>
          </p:cNvPr>
          <p:cNvSpPr txBox="1"/>
          <p:nvPr/>
        </p:nvSpPr>
        <p:spPr>
          <a:xfrm>
            <a:off x="5879974" y="1507430"/>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6271018C-6F3E-A009-D0A8-61C92478BCA6}"/>
              </a:ext>
            </a:extLst>
          </p:cNvPr>
          <p:cNvSpPr txBox="1"/>
          <p:nvPr/>
        </p:nvSpPr>
        <p:spPr>
          <a:xfrm>
            <a:off x="305592" y="6084004"/>
            <a:ext cx="964907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COUNT</a:t>
            </a:r>
            <a:r>
              <a:rPr lang="en-IN" dirty="0">
                <a:latin typeface="Liberation Mono"/>
              </a:rPr>
              <a:t>(Since)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0" name="Table 9">
            <a:extLst>
              <a:ext uri="{FF2B5EF4-FFF2-40B4-BE49-F238E27FC236}">
                <a16:creationId xmlns:a16="http://schemas.microsoft.com/office/drawing/2014/main" id="{3FFA04BC-F410-8061-697C-BB38ACA46D5F}"/>
              </a:ext>
            </a:extLst>
          </p:cNvPr>
          <p:cNvGraphicFramePr>
            <a:graphicFrameLocks noGrp="1"/>
          </p:cNvGraphicFramePr>
          <p:nvPr>
            <p:extLst>
              <p:ext uri="{D42A27DB-BD31-4B8C-83A1-F6EECF244321}">
                <p14:modId xmlns:p14="http://schemas.microsoft.com/office/powerpoint/2010/main" val="3500804044"/>
              </p:ext>
            </p:extLst>
          </p:nvPr>
        </p:nvGraphicFramePr>
        <p:xfrm>
          <a:off x="5832130" y="1907540"/>
          <a:ext cx="5880494" cy="3855720"/>
        </p:xfrm>
        <a:graphic>
          <a:graphicData uri="http://schemas.openxmlformats.org/drawingml/2006/table">
            <a:tbl>
              <a:tblPr firstRow="1" bandRow="1">
                <a:tableStyleId>{5940675A-B579-460E-94D1-54222C63F5DA}</a:tableStyleId>
              </a:tblPr>
              <a:tblGrid>
                <a:gridCol w="592699">
                  <a:extLst>
                    <a:ext uri="{9D8B030D-6E8A-4147-A177-3AD203B41FA5}">
                      <a16:colId xmlns:a16="http://schemas.microsoft.com/office/drawing/2014/main" val="1762808890"/>
                    </a:ext>
                  </a:extLst>
                </a:gridCol>
                <a:gridCol w="1852148">
                  <a:extLst>
                    <a:ext uri="{9D8B030D-6E8A-4147-A177-3AD203B41FA5}">
                      <a16:colId xmlns:a16="http://schemas.microsoft.com/office/drawing/2014/main" val="4023350346"/>
                    </a:ext>
                  </a:extLst>
                </a:gridCol>
                <a:gridCol w="1288367">
                  <a:extLst>
                    <a:ext uri="{9D8B030D-6E8A-4147-A177-3AD203B41FA5}">
                      <a16:colId xmlns:a16="http://schemas.microsoft.com/office/drawing/2014/main" val="359032933"/>
                    </a:ext>
                  </a:extLst>
                </a:gridCol>
                <a:gridCol w="1073640">
                  <a:extLst>
                    <a:ext uri="{9D8B030D-6E8A-4147-A177-3AD203B41FA5}">
                      <a16:colId xmlns:a16="http://schemas.microsoft.com/office/drawing/2014/main" val="9293433"/>
                    </a:ext>
                  </a:extLst>
                </a:gridCol>
                <a:gridCol w="1073640">
                  <a:extLst>
                    <a:ext uri="{9D8B030D-6E8A-4147-A177-3AD203B41FA5}">
                      <a16:colId xmlns:a16="http://schemas.microsoft.com/office/drawing/2014/main" val="325785386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3</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6" name="Rectangle 5">
            <a:extLst>
              <a:ext uri="{FF2B5EF4-FFF2-40B4-BE49-F238E27FC236}">
                <a16:creationId xmlns:a16="http://schemas.microsoft.com/office/drawing/2014/main" id="{782D1466-248D-65F3-26F7-79312EC72700}"/>
              </a:ext>
            </a:extLst>
          </p:cNvPr>
          <p:cNvSpPr/>
          <p:nvPr/>
        </p:nvSpPr>
        <p:spPr>
          <a:xfrm>
            <a:off x="108000" y="1062028"/>
            <a:ext cx="11953328" cy="400110"/>
          </a:xfrm>
          <a:prstGeom prst="rect">
            <a:avLst/>
          </a:prstGeom>
          <a:no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B609BF73-009C-19CD-6688-4D4B713CA1F5}"/>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sp>
        <p:nvSpPr>
          <p:cNvPr id="4" name="Rectangle 3">
            <a:extLst>
              <a:ext uri="{FF2B5EF4-FFF2-40B4-BE49-F238E27FC236}">
                <a16:creationId xmlns:a16="http://schemas.microsoft.com/office/drawing/2014/main" id="{A548DF9A-6973-4DD4-3381-55919D5C5CA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Tree>
    <p:extLst>
      <p:ext uri="{BB962C8B-B14F-4D97-AF65-F5344CB8AC3E}">
        <p14:creationId xmlns:p14="http://schemas.microsoft.com/office/powerpoint/2010/main" val="3209292182"/>
      </p:ext>
    </p:extLst>
  </p:cSld>
  <p:clrMapOvr>
    <a:masterClrMapping/>
  </p:clrMapOvr>
</p:sld>
</file>

<file path=ppt/slides/slide5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216813"/>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669900"/>
                </a:solidFill>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0</a:t>
            </a:r>
            <a:r>
              <a:rPr lang="en-US" dirty="0">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0077AA"/>
                </a:solidFill>
                <a:latin typeface="Liberation Mono"/>
                <a:cs typeface="Arial" panose="020B0604020202020204" pitchFamily="34" charset="0"/>
              </a:rPr>
              <a:t> FROM </a:t>
            </a:r>
            <a:r>
              <a:rPr lang="en-US" dirty="0">
                <a:latin typeface="Liberation Mono"/>
              </a:rPr>
              <a:t>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 </a:t>
            </a:r>
            <a:r>
              <a:rPr lang="en-US" dirty="0">
                <a:latin typeface="Liberation Mono"/>
              </a:rPr>
              <a:t>emp</a:t>
            </a:r>
            <a:r>
              <a:rPr lang="en-US" dirty="0">
                <a:solidFill>
                  <a:srgbClr val="0077AA"/>
                </a:solidFill>
                <a:latin typeface="Liberation Mono"/>
                <a:cs typeface="Arial" panose="020B0604020202020204" pitchFamily="34" charset="0"/>
              </a:rPr>
              <a:t> WHERE </a:t>
            </a:r>
            <a:r>
              <a:rPr lang="en-US" dirty="0">
                <a:latin typeface="Liberation Mono"/>
              </a:rPr>
              <a:t>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(comm)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a:p>
            <a:pPr marL="342900" indent="-342900">
              <a:buFont typeface="Arial"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1501</a:t>
            </a:r>
            <a:r>
              <a:rPr lang="en-US" dirty="0">
                <a:latin typeface="Liberation Mono"/>
              </a:rPr>
              <a:t> </a:t>
            </a:r>
            <a:r>
              <a:rPr lang="en-US" dirty="0">
                <a:solidFill>
                  <a:srgbClr val="A67F59"/>
                </a:solidFill>
                <a:latin typeface="Liberation Mono"/>
              </a:rPr>
              <a:t>AND</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D4A68"/>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3" y="116632"/>
            <a:ext cx="3221784"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2CA2ECDD-4DDE-339F-02BA-A0AE6414E550}"/>
              </a:ext>
            </a:extLst>
          </p:cNvPr>
          <p:cNvSpPr txBox="1"/>
          <p:nvPr/>
        </p:nvSpPr>
        <p:spPr>
          <a:xfrm>
            <a:off x="4511824" y="177281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COUNT</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46CD594A-F0AF-41C4-812D-3106FA24350C}"/>
              </a:ext>
            </a:extLst>
          </p:cNvPr>
          <p:cNvSpPr txBox="1"/>
          <p:nvPr/>
        </p:nvSpPr>
        <p:spPr>
          <a:xfrm>
            <a:off x="5375920" y="3717032"/>
            <a:ext cx="6816079" cy="1754326"/>
          </a:xfrm>
          <a:prstGeom prst="rect">
            <a:avLst/>
          </a:prstGeom>
          <a:noFill/>
        </p:spPr>
        <p:txBody>
          <a:bodyPr wrap="square">
            <a:spAutoFit/>
          </a:bodyPr>
          <a:lstStyle/>
          <a:p>
            <a:pPr marL="342900" indent="-342900">
              <a:buFont typeface="+mj-lt"/>
              <a:buAutoNum type="arabicPeriod"/>
            </a:pP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 Boolean value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a:t>
            </a:r>
          </a:p>
          <a:p>
            <a:pPr marL="342900" indent="-342900">
              <a:buFont typeface="+mj-lt"/>
              <a:buAutoNum type="arabicPeriod"/>
            </a:pPr>
            <a:r>
              <a:rPr lang="en-IN" dirty="0">
                <a:latin typeface="Liberation Mono"/>
              </a:rPr>
              <a:t>When used </a:t>
            </a: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 MySQL </a:t>
            </a:r>
            <a:r>
              <a:rPr lang="en-IN" b="1" dirty="0">
                <a:solidFill>
                  <a:srgbClr val="FF0000"/>
                </a:solidFill>
                <a:latin typeface="Liberation Mono"/>
              </a:rPr>
              <a:t>doesn't count </a:t>
            </a:r>
            <a:r>
              <a:rPr lang="en-IN" dirty="0">
                <a:latin typeface="Liberation Mono"/>
              </a:rPr>
              <a:t>how many are </a:t>
            </a:r>
            <a:r>
              <a:rPr lang="en-IN" dirty="0">
                <a:solidFill>
                  <a:schemeClr val="accent4">
                    <a:lumMod val="50000"/>
                  </a:schemeClr>
                </a:solidFill>
                <a:latin typeface="Liberation Mono"/>
              </a:rPr>
              <a:t>TRUE</a:t>
            </a:r>
            <a:r>
              <a:rPr lang="en-IN" dirty="0">
                <a:latin typeface="Liberation Mono"/>
              </a:rPr>
              <a:t>. Instead:</a:t>
            </a:r>
          </a:p>
          <a:p>
            <a:pPr marL="646113" indent="-285750">
              <a:buFont typeface="Arial" panose="020B0604020202020204" pitchFamily="34" charset="0"/>
              <a:buChar char="•"/>
            </a:pPr>
            <a:r>
              <a:rPr lang="en-IN" b="1" dirty="0">
                <a:solidFill>
                  <a:srgbClr val="FF0000"/>
                </a:solidFill>
                <a:latin typeface="Liberation Mono"/>
              </a:rPr>
              <a:t>It counts </a:t>
            </a:r>
            <a:r>
              <a:rPr lang="en-IN" dirty="0">
                <a:latin typeface="Liberation Mono"/>
              </a:rPr>
              <a:t>how many values are </a:t>
            </a:r>
            <a:r>
              <a:rPr lang="en-IN" b="1" dirty="0">
                <a:latin typeface="Liberation Mono"/>
              </a:rPr>
              <a:t>non-NULL</a:t>
            </a:r>
            <a:r>
              <a:rPr lang="en-IN" dirty="0">
                <a:latin typeface="Liberation Mono"/>
              </a:rPr>
              <a:t>.</a:t>
            </a:r>
          </a:p>
          <a:p>
            <a:pPr marL="646113" indent="-285750">
              <a:buFont typeface="Arial" panose="020B0604020202020204" pitchFamily="34" charset="0"/>
              <a:buChar char="•"/>
            </a:pPr>
            <a:r>
              <a:rPr lang="en-IN" dirty="0">
                <a:latin typeface="Liberation Mono"/>
              </a:rPr>
              <a:t>Since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is always </a:t>
            </a:r>
            <a:r>
              <a:rPr lang="en-IN" b="1" dirty="0">
                <a:latin typeface="Liberation Mono"/>
              </a:rPr>
              <a:t>non-NULL</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 it counts all rows.</a:t>
            </a:r>
          </a:p>
        </p:txBody>
      </p:sp>
      <p:sp>
        <p:nvSpPr>
          <p:cNvPr id="6" name="Rectangle 5">
            <a:extLst>
              <a:ext uri="{FF2B5EF4-FFF2-40B4-BE49-F238E27FC236}">
                <a16:creationId xmlns:a16="http://schemas.microsoft.com/office/drawing/2014/main" id="{8A6771D2-E06B-EBCE-7231-E1A2F774A407}"/>
              </a:ext>
            </a:extLst>
          </p:cNvPr>
          <p:cNvSpPr/>
          <p:nvPr/>
        </p:nvSpPr>
        <p:spPr>
          <a:xfrm>
            <a:off x="5375920" y="335699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sp>
        <p:nvSpPr>
          <p:cNvPr id="10" name="TextBox 9">
            <a:extLst>
              <a:ext uri="{FF2B5EF4-FFF2-40B4-BE49-F238E27FC236}">
                <a16:creationId xmlns:a16="http://schemas.microsoft.com/office/drawing/2014/main" id="{DD573668-5136-9533-8B1A-16CE01384ED0}"/>
              </a:ext>
            </a:extLst>
          </p:cNvPr>
          <p:cNvSpPr txBox="1"/>
          <p:nvPr/>
        </p:nvSpPr>
        <p:spPr>
          <a:xfrm>
            <a:off x="6888086" y="3196288"/>
            <a:ext cx="5184577" cy="46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cxnSp>
        <p:nvCxnSpPr>
          <p:cNvPr id="12" name="Connector: Elbow 11">
            <a:extLst>
              <a:ext uri="{FF2B5EF4-FFF2-40B4-BE49-F238E27FC236}">
                <a16:creationId xmlns:a16="http://schemas.microsoft.com/office/drawing/2014/main" id="{D0D5C5C0-C239-4FBD-A537-D1184AE8A63D}"/>
              </a:ext>
            </a:extLst>
          </p:cNvPr>
          <p:cNvCxnSpPr>
            <a:cxnSpLocks/>
          </p:cNvCxnSpPr>
          <p:nvPr/>
        </p:nvCxnSpPr>
        <p:spPr>
          <a:xfrm flipV="1">
            <a:off x="6384032" y="3470822"/>
            <a:ext cx="504054" cy="328378"/>
          </a:xfrm>
          <a:prstGeom prst="bentConnector3">
            <a:avLst>
              <a:gd name="adj1" fmla="val 112"/>
            </a:avLst>
          </a:prstGeom>
          <a:ln w="28575">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5541933"/>
      </p:ext>
    </p:extLst>
  </p:cSld>
  <p:clrMapOvr>
    <a:masterClrMapping/>
  </p:clrMapOvr>
</p:sld>
</file>

<file path=ppt/slides/slide5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181588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GROUP_CONCAT</a:t>
            </a:r>
            <a:r>
              <a:rPr lang="en-IN" sz="2000" b="0" i="0" dirty="0">
                <a:effectLst/>
                <a:latin typeface="Liberation Mono"/>
              </a:rPr>
              <a: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b="0" i="0" dirty="0">
                <a:solidFill>
                  <a:srgbClr val="000000"/>
                </a:solidFill>
                <a:effectLst/>
                <a:latin typeface="Liberation Mono"/>
              </a:rPr>
              <a:t> </a:t>
            </a:r>
            <a:r>
              <a:rPr lang="en-IN" sz="2000" b="0" i="1" dirty="0">
                <a:solidFill>
                  <a:srgbClr val="000000"/>
                </a:solidFill>
                <a:effectLst/>
                <a:latin typeface="Liberation Mono"/>
              </a:rPr>
              <a:t>expr</a:t>
            </a:r>
            <a:r>
              <a:rPr lang="en-IN" sz="2000" b="0" i="0" dirty="0">
                <a:solidFill>
                  <a:srgbClr val="000000"/>
                </a:solidFill>
                <a:effectLst/>
                <a:latin typeface="Liberation Mono"/>
              </a:rPr>
              <a:t> </a:t>
            </a:r>
            <a:r>
              <a:rPr lang="en-IN" sz="2000" dirty="0">
                <a:solidFill>
                  <a:srgbClr val="A67F59"/>
                </a:solidFill>
                <a:latin typeface="Liberation Mono"/>
              </a:rPr>
              <a:t>OR</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ORDER</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BY</a:t>
            </a:r>
            <a:r>
              <a:rPr lang="en-IN" sz="2000" b="0" i="0" dirty="0">
                <a:solidFill>
                  <a:srgbClr val="000000"/>
                </a:solidFill>
                <a:effectLst/>
                <a:latin typeface="Liberation Mono"/>
              </a:rPr>
              <a:t> { </a:t>
            </a:r>
            <a:r>
              <a:rPr lang="en-IN" sz="2000" b="0" i="1" dirty="0">
                <a:solidFill>
                  <a:srgbClr val="000000"/>
                </a:solidFill>
                <a:effectLst/>
                <a:latin typeface="Liberation Mono"/>
              </a:rPr>
              <a:t>unsigned_integer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expr </a:t>
            </a:r>
            <a:r>
              <a:rPr lang="en-IN" sz="2000" b="0" i="0" dirty="0">
                <a:solidFill>
                  <a:srgbClr val="000000"/>
                </a:solidFill>
                <a:effectLst/>
                <a:latin typeface="Liberation Mono"/>
              </a:rPr>
              <a:t>}</a:t>
            </a:r>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ASC</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DESC</a:t>
            </a:r>
            <a:r>
              <a:rPr lang="en-IN" sz="2000" b="0" i="0" dirty="0">
                <a:effectLst/>
                <a:latin typeface="Liberation Mono"/>
              </a:rPr>
              <a:t>] [,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50000"/>
                  </a:schemeClr>
                </a:solidFill>
                <a:effectLst/>
                <a:latin typeface="Liberation Mono"/>
              </a:rPr>
              <a:t>. . .</a:t>
            </a:r>
            <a:r>
              <a:rPr lang="en-IN" sz="2000" b="0" i="0" dirty="0">
                <a:effectLst/>
                <a:latin typeface="Liberation Mono"/>
              </a:rPr>
              <a:t>]]</a:t>
            </a:r>
            <a:r>
              <a:rPr lang="en-IN" sz="2000" b="0" i="0" dirty="0">
                <a:solidFill>
                  <a:srgbClr val="000000"/>
                </a:solidFill>
                <a:effectLst/>
                <a:latin typeface="Liberation Mono"/>
              </a:rPr>
              <a:t> </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SEPARATOR</a:t>
            </a:r>
            <a:r>
              <a:rPr lang="en-IN" sz="2000" b="0" i="0" dirty="0">
                <a:solidFill>
                  <a:srgbClr val="000000"/>
                </a:solidFill>
                <a:effectLst/>
                <a:latin typeface="Liberation Mono"/>
              </a:rPr>
              <a:t> </a:t>
            </a:r>
            <a:r>
              <a:rPr lang="en-IN" sz="2000" b="0" i="1" dirty="0">
                <a:solidFill>
                  <a:srgbClr val="000000"/>
                </a:solidFill>
                <a:effectLst/>
                <a:latin typeface="Liberation Mono"/>
              </a:rPr>
              <a:t>str_val</a:t>
            </a:r>
            <a:r>
              <a:rPr lang="en-IN" sz="2000" b="0" i="0" dirty="0">
                <a:effectLst/>
                <a:latin typeface="Liberation Mono"/>
              </a:rPr>
              <a:t>])</a:t>
            </a:r>
            <a:endParaRPr lang="en-IN" sz="2000" dirty="0">
              <a:latin typeface="Liberation Mono"/>
            </a:endParaRPr>
          </a:p>
          <a:p>
            <a:endParaRPr lang="en-IN" sz="800"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IN" dirty="0">
                <a:latin typeface="Liberation Mono"/>
              </a:rPr>
              <a:t>job, </a:t>
            </a:r>
            <a:r>
              <a:rPr lang="en-IN" dirty="0">
                <a:solidFill>
                  <a:srgbClr val="DD4A68"/>
                </a:solidFill>
                <a:latin typeface="Liberation Mono"/>
              </a:rPr>
              <a:t>GROUP_CONCAT</a:t>
            </a:r>
            <a:r>
              <a:rPr lang="en-IN" dirty="0">
                <a:latin typeface="Liberation Mono"/>
              </a:rPr>
              <a:t>(ename)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GROUP_CONCAT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dirty="0">
                <a:latin typeface="Palatino Linotype" panose="02040502050505030304" pitchFamily="18" charset="0"/>
              </a:rPr>
              <a:t>F</a:t>
            </a:r>
            <a:r>
              <a:rPr lang="en-US" dirty="0">
                <a:latin typeface="Palatino Linotype" panose="02040502050505030304" pitchFamily="18" charset="0"/>
              </a:rPr>
              <a:t>unction that </a:t>
            </a:r>
            <a:r>
              <a:rPr lang="en-US" b="1" dirty="0">
                <a:latin typeface="Palatino Linotype" panose="02040502050505030304" pitchFamily="18" charset="0"/>
              </a:rPr>
              <a:t>joins static string and multiple row values into a single comma-separated string</a:t>
            </a:r>
            <a:r>
              <a:rPr lang="en-US" dirty="0">
                <a:latin typeface="Palatino Linotype" panose="02040502050505030304" pitchFamily="18" charset="0"/>
              </a:rPr>
              <a:t>.</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8635C907-F59D-42B4-B25D-39DEC0ED010E}"/>
              </a:ext>
            </a:extLst>
          </p:cNvPr>
          <p:cNvSpPr txBox="1"/>
          <p:nvPr/>
        </p:nvSpPr>
        <p:spPr>
          <a:xfrm>
            <a:off x="335361" y="3501008"/>
            <a:ext cx="11521279" cy="156966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(ename),' (',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MAX</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SUM</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custid, </a:t>
            </a:r>
            <a:r>
              <a:rPr lang="en-US" dirty="0">
                <a:solidFill>
                  <a:srgbClr val="DD4A68"/>
                </a:solidFill>
                <a:latin typeface="Liberation Mono"/>
              </a:rPr>
              <a:t>GROUP_CONCAT</a:t>
            </a:r>
            <a:r>
              <a:rPr lang="en-US" dirty="0">
                <a:latin typeface="Liberation Mono"/>
              </a:rPr>
              <a:t>(</a:t>
            </a:r>
            <a:r>
              <a:rPr lang="en-US" dirty="0">
                <a:solidFill>
                  <a:srgbClr val="3F6971"/>
                </a:solidFill>
                <a:latin typeface="Liberation Mono"/>
              </a:rPr>
              <a:t>MONTHNAME</a:t>
            </a:r>
            <a:r>
              <a:rPr lang="en-US" dirty="0">
                <a:latin typeface="Liberation Mono"/>
              </a:rPr>
              <a:t>(orderdate)) </a:t>
            </a:r>
            <a:r>
              <a:rPr lang="en-US" i="1" dirty="0">
                <a:solidFill>
                  <a:schemeClr val="bg1">
                    <a:lumMod val="50000"/>
                  </a:schemeClr>
                </a:solidFill>
                <a:latin typeface="Liberation Mono"/>
              </a:rPr>
              <a:t>"R1"</a:t>
            </a:r>
            <a:r>
              <a:rPr lang="en-IN"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custid;</a:t>
            </a:r>
            <a:endParaRPr lang="en-IN" dirty="0">
              <a:latin typeface="Liberation Mono"/>
            </a:endParaRPr>
          </a:p>
        </p:txBody>
      </p:sp>
      <p:sp>
        <p:nvSpPr>
          <p:cNvPr id="6" name="TextBox 5">
            <a:extLst>
              <a:ext uri="{FF2B5EF4-FFF2-40B4-BE49-F238E27FC236}">
                <a16:creationId xmlns:a16="http://schemas.microsoft.com/office/drawing/2014/main" id="{2A0956E3-5B1F-FE24-A837-370A56E7127B}"/>
              </a:ext>
            </a:extLst>
          </p:cNvPr>
          <p:cNvSpPr txBox="1"/>
          <p:nvPr/>
        </p:nvSpPr>
        <p:spPr>
          <a:xfrm>
            <a:off x="119335" y="5446965"/>
            <a:ext cx="11953328" cy="646331"/>
          </a:xfrm>
          <a:prstGeom prst="rect">
            <a:avLst/>
          </a:prstGeom>
          <a:solidFill>
            <a:schemeClr val="accent3">
              <a:lumMod val="40000"/>
              <a:lumOff val="60000"/>
            </a:schemeClr>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D4A68"/>
                </a:solidFill>
                <a:latin typeface="Liberation Mono"/>
              </a:rPr>
              <a:t>CONCAT</a:t>
            </a:r>
            <a:r>
              <a:rPr lang="en-IN" dirty="0">
                <a:latin typeface="Liberation Mono"/>
              </a:rPr>
              <a:t>('`', COLUMN_NAME, '`')) </a:t>
            </a:r>
            <a:r>
              <a:rPr lang="en-IN" dirty="0">
                <a:solidFill>
                  <a:srgbClr val="0077AA"/>
                </a:solidFill>
                <a:latin typeface="Liberation Mono"/>
                <a:cs typeface="Arial" panose="020B0604020202020204" pitchFamily="34" charset="0"/>
              </a:rPr>
              <a:t>FROM</a:t>
            </a:r>
            <a:r>
              <a:rPr lang="en-IN" dirty="0">
                <a:latin typeface="Liberation Mono"/>
              </a:rPr>
              <a:t> information_schema.columns </a:t>
            </a:r>
            <a:r>
              <a:rPr lang="en-IN" dirty="0">
                <a:solidFill>
                  <a:srgbClr val="0077AA"/>
                </a:solidFill>
                <a:latin typeface="Liberation Mono"/>
                <a:cs typeface="Arial" panose="020B0604020202020204" pitchFamily="34" charset="0"/>
              </a:rPr>
              <a:t>WHERE</a:t>
            </a:r>
            <a:r>
              <a:rPr lang="en-IN" dirty="0">
                <a:latin typeface="Liberation Mono"/>
              </a:rPr>
              <a:t> table_schema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'db1' </a:t>
            </a:r>
            <a:r>
              <a:rPr lang="en-IN" dirty="0">
                <a:solidFill>
                  <a:srgbClr val="A67F59"/>
                </a:solidFill>
                <a:latin typeface="Liberation Mono"/>
              </a:rPr>
              <a:t>AND</a:t>
            </a:r>
            <a:r>
              <a:rPr lang="en-IN" dirty="0">
                <a:latin typeface="Liberation Mono"/>
              </a:rPr>
              <a:t> table_name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'emp';</a:t>
            </a:r>
          </a:p>
        </p:txBody>
      </p:sp>
    </p:spTree>
    <p:extLst>
      <p:ext uri="{BB962C8B-B14F-4D97-AF65-F5344CB8AC3E}">
        <p14:creationId xmlns:p14="http://schemas.microsoft.com/office/powerpoint/2010/main" val="2719411228"/>
      </p:ext>
    </p:extLst>
  </p:cSld>
  <p:clrMapOvr>
    <a:masterClrMapping/>
  </p:clrMapOvr>
</p:sld>
</file>

<file path=ppt/slides/slide5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231073-533A-E43D-5EBA-1F5E329DDD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DCC8EE-409A-149D-BC16-901193BE1652}"/>
              </a:ext>
            </a:extLst>
          </p:cNvPr>
          <p:cNvSpPr/>
          <p:nvPr/>
        </p:nvSpPr>
        <p:spPr>
          <a:xfrm>
            <a:off x="108000" y="90872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GROUP_CONCAT</a:t>
            </a:r>
            <a:r>
              <a:rPr lang="en-IN" sz="2000" dirty="0">
                <a:latin typeface="Liberation Mono"/>
                <a:cs typeface="Arial" panose="020B0604020202020204" pitchFamily="34" charset="0"/>
              </a:rPr>
              <a:t>(</a:t>
            </a:r>
            <a:r>
              <a:rPr lang="en-IN" sz="2000" dirty="0">
                <a:solidFill>
                  <a:srgbClr val="DB7BC9"/>
                </a:solidFill>
                <a:latin typeface="Liberation Mono"/>
              </a:rPr>
              <a:t>CASE</a:t>
            </a:r>
            <a:r>
              <a:rPr lang="en-IN" sz="2000" dirty="0">
                <a:latin typeface="Liberation Mono"/>
                <a:cs typeface="Arial" panose="020B0604020202020204" pitchFamily="34" charset="0"/>
              </a:rPr>
              <a:t> </a:t>
            </a:r>
            <a:r>
              <a:rPr lang="en-IN" sz="2000" dirty="0">
                <a:solidFill>
                  <a:srgbClr val="DB7BC9"/>
                </a:solidFill>
                <a:latin typeface="Liberation Mono"/>
              </a:rPr>
              <a:t>WHEN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condition</a:t>
            </a:r>
            <a:r>
              <a:rPr lang="en-IN" sz="2000" dirty="0">
                <a:latin typeface="Liberation Mono"/>
                <a:cs typeface="Arial" panose="020B0604020202020204" pitchFamily="34" charset="0"/>
              </a:rPr>
              <a:t> </a:t>
            </a:r>
            <a:r>
              <a:rPr lang="en-IN" sz="2000" dirty="0">
                <a:solidFill>
                  <a:srgbClr val="DB7BC9"/>
                </a:solidFill>
                <a:latin typeface="Liberation Mono"/>
              </a:rPr>
              <a:t>THEN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ELSE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END</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BBB8E300-F1F9-0294-B25E-B2FB1CC76444}"/>
              </a:ext>
            </a:extLst>
          </p:cNvPr>
          <p:cNvSpPr/>
          <p:nvPr/>
        </p:nvSpPr>
        <p:spPr>
          <a:xfrm>
            <a:off x="2568624"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group_concat with case when . . .end</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D124737D-3711-811A-1667-FE88DCB2479C}"/>
              </a:ext>
            </a:extLst>
          </p:cNvPr>
          <p:cNvGraphicFramePr>
            <a:graphicFrameLocks noGrp="1"/>
          </p:cNvGraphicFramePr>
          <p:nvPr>
            <p:extLst>
              <p:ext uri="{D42A27DB-BD31-4B8C-83A1-F6EECF244321}">
                <p14:modId xmlns:p14="http://schemas.microsoft.com/office/powerpoint/2010/main" val="3371203008"/>
              </p:ext>
            </p:extLst>
          </p:nvPr>
        </p:nvGraphicFramePr>
        <p:xfrm>
          <a:off x="144016" y="1884894"/>
          <a:ext cx="3744416" cy="3388360"/>
        </p:xfrm>
        <a:graphic>
          <a:graphicData uri="http://schemas.openxmlformats.org/drawingml/2006/table">
            <a:tbl>
              <a:tblPr firstRow="1" bandRow="1">
                <a:tableStyleId>{5940675A-B579-460E-94D1-54222C63F5DA}</a:tableStyleId>
              </a:tblPr>
              <a:tblGrid>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gender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bl>
          </a:graphicData>
        </a:graphic>
      </p:graphicFrame>
      <p:sp>
        <p:nvSpPr>
          <p:cNvPr id="2" name="TextBox 1">
            <a:extLst>
              <a:ext uri="{FF2B5EF4-FFF2-40B4-BE49-F238E27FC236}">
                <a16:creationId xmlns:a16="http://schemas.microsoft.com/office/drawing/2014/main" id="{779909C2-B266-4DC7-275D-42E833177CD8}"/>
              </a:ext>
            </a:extLst>
          </p:cNvPr>
          <p:cNvSpPr txBox="1"/>
          <p:nvPr/>
        </p:nvSpPr>
        <p:spPr>
          <a:xfrm>
            <a:off x="144016" y="1412776"/>
            <a:ext cx="2118000" cy="400110"/>
          </a:xfrm>
          <a:prstGeom prst="rect">
            <a:avLst/>
          </a:prstGeom>
          <a:noFill/>
        </p:spPr>
        <p:txBody>
          <a:bodyPr wrap="square">
            <a:spAutoFit/>
          </a:bodyPr>
          <a:lstStyle/>
          <a:p>
            <a:r>
              <a:rPr lang="en-IN" sz="2000" b="1" dirty="0">
                <a:latin typeface="Liberation Mono"/>
              </a:rPr>
              <a:t>Table:- emp</a:t>
            </a:r>
            <a:endParaRPr lang="en-IN" sz="2000" b="1" dirty="0"/>
          </a:p>
        </p:txBody>
      </p:sp>
      <p:sp>
        <p:nvSpPr>
          <p:cNvPr id="6" name="TextBox 5">
            <a:extLst>
              <a:ext uri="{FF2B5EF4-FFF2-40B4-BE49-F238E27FC236}">
                <a16:creationId xmlns:a16="http://schemas.microsoft.com/office/drawing/2014/main" id="{9CA68858-A6A7-9F6D-B59D-3D1CF4FDBCAC}"/>
              </a:ext>
            </a:extLst>
          </p:cNvPr>
          <p:cNvSpPr txBox="1"/>
          <p:nvPr/>
        </p:nvSpPr>
        <p:spPr>
          <a:xfrm>
            <a:off x="191344" y="5661248"/>
            <a:ext cx="11737304" cy="646331"/>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job ,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'M'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male_employees</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'F'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female_employees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p:txBody>
      </p:sp>
      <p:graphicFrame>
        <p:nvGraphicFramePr>
          <p:cNvPr id="7" name="Table 6">
            <a:extLst>
              <a:ext uri="{FF2B5EF4-FFF2-40B4-BE49-F238E27FC236}">
                <a16:creationId xmlns:a16="http://schemas.microsoft.com/office/drawing/2014/main" id="{DE6F0874-D7F5-87D7-43E5-414D8702609A}"/>
              </a:ext>
            </a:extLst>
          </p:cNvPr>
          <p:cNvGraphicFramePr>
            <a:graphicFrameLocks noGrp="1"/>
          </p:cNvGraphicFramePr>
          <p:nvPr>
            <p:extLst>
              <p:ext uri="{D42A27DB-BD31-4B8C-83A1-F6EECF244321}">
                <p14:modId xmlns:p14="http://schemas.microsoft.com/office/powerpoint/2010/main" val="2075641303"/>
              </p:ext>
            </p:extLst>
          </p:nvPr>
        </p:nvGraphicFramePr>
        <p:xfrm>
          <a:off x="4032448" y="1884894"/>
          <a:ext cx="8040216" cy="3215640"/>
        </p:xfrm>
        <a:graphic>
          <a:graphicData uri="http://schemas.openxmlformats.org/drawingml/2006/table">
            <a:tbl>
              <a:tblPr firstRow="1" bandRow="1">
                <a:tableStyleId>{5940675A-B579-460E-94D1-54222C63F5DA}</a:tableStyleId>
              </a:tblPr>
              <a:tblGrid>
                <a:gridCol w="1919536">
                  <a:extLst>
                    <a:ext uri="{9D8B030D-6E8A-4147-A177-3AD203B41FA5}">
                      <a16:colId xmlns:a16="http://schemas.microsoft.com/office/drawing/2014/main" val="3768112670"/>
                    </a:ext>
                  </a:extLst>
                </a:gridCol>
                <a:gridCol w="4009471">
                  <a:extLst>
                    <a:ext uri="{9D8B030D-6E8A-4147-A177-3AD203B41FA5}">
                      <a16:colId xmlns:a16="http://schemas.microsoft.com/office/drawing/2014/main" val="3956774166"/>
                    </a:ext>
                  </a:extLst>
                </a:gridCol>
                <a:gridCol w="2111209">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male_employees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female_employees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l"/>
                      <a:r>
                        <a:rPr lang="en-IN" b="0" dirty="0">
                          <a:latin typeface="Arial" panose="020B0604020202020204" pitchFamily="34" charset="0"/>
                          <a:cs typeface="Arial" panose="020B0604020202020204" pitchFamily="34" charset="0"/>
                        </a:rPr>
                        <a:t>analyst</a:t>
                      </a:r>
                    </a:p>
                  </a:txBody>
                  <a:tcPr/>
                </a:tc>
                <a:tc>
                  <a:txBody>
                    <a:bodyPr/>
                    <a:lstStyle/>
                    <a:p>
                      <a:pPr algn="l"/>
                      <a:r>
                        <a:rPr lang="en-IN" b="0" dirty="0">
                          <a:latin typeface="Arial" panose="020B0604020202020204" pitchFamily="34" charset="0"/>
                          <a:cs typeface="Arial" panose="020B0604020202020204" pitchFamily="34" charset="0"/>
                        </a:rPr>
                        <a:t>scott,ford</a:t>
                      </a:r>
                    </a:p>
                  </a:txBody>
                  <a:tcPr/>
                </a:tc>
                <a:tc>
                  <a:txBody>
                    <a:bodyPr/>
                    <a:lstStyle/>
                    <a:p>
                      <a:pPr algn="l"/>
                      <a:r>
                        <a:rPr lang="en-IN" b="0" dirty="0">
                          <a:latin typeface="Arial" panose="020B0604020202020204" pitchFamily="34" charset="0"/>
                          <a:cs typeface="Arial" panose="020B0604020202020204" pitchFamily="34" charset="0"/>
                        </a:rPr>
                        <a:t>supriya</a:t>
                      </a:r>
                    </a:p>
                  </a:txBody>
                  <a:tcPr/>
                </a:tc>
                <a:extLst>
                  <a:ext uri="{0D108BD9-81ED-4DB2-BD59-A6C34878D82A}">
                    <a16:rowId xmlns:a16="http://schemas.microsoft.com/office/drawing/2014/main" val="1601161468"/>
                  </a:ext>
                </a:extLst>
              </a:tr>
              <a:tr h="370840">
                <a:tc>
                  <a:txBody>
                    <a:bodyPr/>
                    <a:lstStyle/>
                    <a:p>
                      <a:pPr algn="l"/>
                      <a:r>
                        <a:rPr lang="en-IN" sz="2000" b="0" dirty="0">
                          <a:latin typeface="Arial" panose="020B0604020202020204" pitchFamily="34" charset="0"/>
                          <a:cs typeface="Arial" panose="020B0604020202020204" pitchFamily="34" charset="0"/>
                        </a:rPr>
                        <a:t>clerk</a:t>
                      </a:r>
                    </a:p>
                  </a:txBody>
                  <a:tcPr anchor="ctr"/>
                </a:tc>
                <a:tc>
                  <a:txBody>
                    <a:bodyPr/>
                    <a:lstStyle/>
                    <a:p>
                      <a:pPr algn="l"/>
                      <a:r>
                        <a:rPr lang="en-US" sz="2000" b="0" dirty="0">
                          <a:latin typeface="Arial" panose="020B0604020202020204" pitchFamily="34" charset="0"/>
                          <a:cs typeface="Arial" panose="020B0604020202020204" pitchFamily="34" charset="0"/>
                        </a:rPr>
                        <a:t>smith,aarav,thomas,adams,james,miller</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180323546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090040753"/>
                  </a:ext>
                </a:extLst>
              </a:tr>
              <a:tr h="370840">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salesman</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allen,ward,martin,turner,grass,aarush</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3109798877"/>
                  </a:ext>
                </a:extLst>
              </a:tr>
              <a:tr h="370840">
                <a:tc>
                  <a:txBody>
                    <a:bodyPr/>
                    <a:lstStyle/>
                    <a:p>
                      <a:pPr algn="l"/>
                      <a:r>
                        <a:rPr lang="en-IN" sz="2000" b="0" dirty="0">
                          <a:latin typeface="Arial" panose="020B0604020202020204" pitchFamily="34" charset="0"/>
                          <a:cs typeface="Arial" panose="020B0604020202020204" pitchFamily="34" charset="0"/>
                        </a:rPr>
                        <a:t>vice president</a:t>
                      </a:r>
                    </a:p>
                  </a:txBody>
                  <a:tcPr anchor="ctr"/>
                </a:tc>
                <a:tc>
                  <a:txBody>
                    <a:bodyPr/>
                    <a:lstStyle/>
                    <a:p>
                      <a:pPr algn="l"/>
                      <a:r>
                        <a:rPr lang="en-IN" sz="2000" b="0" dirty="0" err="1">
                          <a:latin typeface="Arial" panose="020B0604020202020204" pitchFamily="34" charset="0"/>
                          <a:cs typeface="Arial" panose="020B0604020202020204" pitchFamily="34" charset="0"/>
                        </a:rPr>
                        <a:t>fred</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8" name="TextBox 7">
            <a:extLst>
              <a:ext uri="{FF2B5EF4-FFF2-40B4-BE49-F238E27FC236}">
                <a16:creationId xmlns:a16="http://schemas.microsoft.com/office/drawing/2014/main" id="{AE6ACF67-6373-2B60-EEA7-255EFC0C9B66}"/>
              </a:ext>
            </a:extLst>
          </p:cNvPr>
          <p:cNvSpPr txBox="1"/>
          <p:nvPr/>
        </p:nvSpPr>
        <p:spPr>
          <a:xfrm>
            <a:off x="4050008" y="1412776"/>
            <a:ext cx="211800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Rectangle 2">
            <a:extLst>
              <a:ext uri="{FF2B5EF4-FFF2-40B4-BE49-F238E27FC236}">
                <a16:creationId xmlns:a16="http://schemas.microsoft.com/office/drawing/2014/main" id="{F1C8905B-7E39-94FF-B173-DD1B510E36F5}"/>
              </a:ext>
            </a:extLst>
          </p:cNvPr>
          <p:cNvSpPr/>
          <p:nvPr/>
        </p:nvSpPr>
        <p:spPr>
          <a:xfrm>
            <a:off x="25176" y="44624"/>
            <a:ext cx="4774680"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3799996848"/>
      </p:ext>
    </p:extLst>
  </p:cSld>
  <p:clrMapOvr>
    <a:masterClrMapping/>
  </p:clrMapOvr>
</p:sld>
</file>

<file path=ppt/slides/slide5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B5EE5925-ABE5-DE0E-9D64-60461F370E1F}"/>
              </a:ext>
            </a:extLst>
          </p:cNvPr>
          <p:cNvSpPr txBox="1"/>
          <p:nvPr/>
        </p:nvSpPr>
        <p:spPr>
          <a:xfrm>
            <a:off x="121161" y="1207205"/>
            <a:ext cx="11807486" cy="32624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North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South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East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West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'Central'</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Central</a:t>
            </a:r>
            <a:r>
              <a:rPr lang="en-US" dirty="0">
                <a:latin typeface="Liberation Mono"/>
              </a:rPr>
              <a:t>, </a:t>
            </a:r>
          </a:p>
          <a:p>
            <a:r>
              <a:rPr lang="en-US" dirty="0">
                <a:solidFill>
                  <a:srgbClr val="DD4A68"/>
                </a:solidFill>
                <a:latin typeface="Liberation Mono"/>
              </a:rPr>
              <a:t>      SUM</a:t>
            </a:r>
            <a:r>
              <a:rPr lang="en-US" dirty="0">
                <a:latin typeface="Liberation Mono"/>
              </a:rPr>
              <a:t>(totalsales) </a:t>
            </a:r>
            <a:r>
              <a:rPr lang="en-US" i="1" dirty="0">
                <a:solidFill>
                  <a:schemeClr val="bg1">
                    <a:lumMod val="50000"/>
                  </a:schemeClr>
                </a:solidFill>
                <a:latin typeface="Liberation Mono"/>
              </a:rPr>
              <a:t>TotalSales</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p>
          <a:p>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North,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South,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East,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West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endParaRPr lang="en-IN" dirty="0">
              <a:latin typeface="Liberation Mono"/>
            </a:endParaRPr>
          </a:p>
        </p:txBody>
      </p:sp>
      <p:sp>
        <p:nvSpPr>
          <p:cNvPr id="6" name="TextBox 5">
            <a:extLst>
              <a:ext uri="{FF2B5EF4-FFF2-40B4-BE49-F238E27FC236}">
                <a16:creationId xmlns:a16="http://schemas.microsoft.com/office/drawing/2014/main" id="{D0A62501-8132-16AC-54B1-3D95350C4BB4}"/>
              </a:ext>
            </a:extLst>
          </p:cNvPr>
          <p:cNvSpPr txBox="1"/>
          <p:nvPr/>
        </p:nvSpPr>
        <p:spPr>
          <a:xfrm>
            <a:off x="191344" y="49649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itemname,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'white'</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White</a:t>
            </a:r>
            <a:r>
              <a:rPr lang="en-IN" dirty="0">
                <a:latin typeface="Liberation Mono"/>
              </a:rPr>
              <a:t>,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'dark'</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Dark</a:t>
            </a:r>
            <a:r>
              <a:rPr lang="en-IN" dirty="0">
                <a:latin typeface="Liberation Mono"/>
              </a:rPr>
              <a:t>,</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'pastel'</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Pastel</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shop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itemname;</a:t>
            </a:r>
          </a:p>
        </p:txBody>
      </p:sp>
    </p:spTree>
    <p:extLst>
      <p:ext uri="{BB962C8B-B14F-4D97-AF65-F5344CB8AC3E}">
        <p14:creationId xmlns:p14="http://schemas.microsoft.com/office/powerpoint/2010/main" val="3761504841"/>
      </p:ext>
    </p:extLst>
  </p:cSld>
  <p:clrMapOvr>
    <a:masterClrMapping/>
  </p:clrMapOvr>
</p:sld>
</file>

<file path=ppt/slides/slide5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AFE78-D34B-1EDD-6C83-F3E1C82821B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7B22250-1DF8-0FB3-17B4-51E12CDDE897}"/>
              </a:ext>
            </a:extLst>
          </p:cNvPr>
          <p:cNvSpPr/>
          <p:nvPr/>
        </p:nvSpPr>
        <p:spPr>
          <a:xfrm>
            <a:off x="119336" y="1260000"/>
            <a:ext cx="11953328" cy="400110"/>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JSON_OBJECTAGG </a:t>
            </a:r>
            <a:r>
              <a:rPr lang="en-IN" sz="2000" dirty="0">
                <a:latin typeface="Liberation Mono"/>
              </a:rPr>
              <a:t>(</a:t>
            </a:r>
            <a:r>
              <a:rPr lang="en-IN" sz="2000" dirty="0">
                <a:solidFill>
                  <a:srgbClr val="00B050"/>
                </a:solidFill>
                <a:latin typeface="Liberation Mono"/>
              </a:rPr>
              <a:t>key</a:t>
            </a:r>
            <a:r>
              <a:rPr lang="en-IN" sz="2000" dirty="0">
                <a:latin typeface="Liberation Mono"/>
              </a:rPr>
              <a:t>, value)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0D09FDCE-A844-6BAD-C18F-C278220CAC1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JSON_OBJECTAGG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E280C79-198B-3DEF-CC4A-0AED2AB55809}"/>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11" name="TextBox 10">
            <a:extLst>
              <a:ext uri="{FF2B5EF4-FFF2-40B4-BE49-F238E27FC236}">
                <a16:creationId xmlns:a16="http://schemas.microsoft.com/office/drawing/2014/main" id="{61984142-0C17-1F72-CAB0-186553D157AA}"/>
              </a:ext>
            </a:extLst>
          </p:cNvPr>
          <p:cNvSpPr txBox="1"/>
          <p:nvPr/>
        </p:nvSpPr>
        <p:spPr>
          <a:xfrm>
            <a:off x="191344" y="1966497"/>
            <a:ext cx="11737302" cy="1015663"/>
          </a:xfrm>
          <a:prstGeom prst="rect">
            <a:avLst/>
          </a:prstGeom>
          <a:noFill/>
        </p:spPr>
        <p:txBody>
          <a:bodyPr wrap="square">
            <a:spAutoFit/>
          </a:bodyPr>
          <a:lstStyle/>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key →</a:t>
            </a:r>
            <a:r>
              <a:rPr lang="en-IN" dirty="0">
                <a:latin typeface="Palatino Linotype" panose="02040502050505030304" pitchFamily="18" charset="0"/>
              </a:rPr>
              <a:t> Column or expression used as the JSON key (must be non-NULL and unique, otherwise duplicates are ignored except last one wins).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value →</a:t>
            </a:r>
            <a:r>
              <a:rPr lang="en-IN" dirty="0">
                <a:latin typeface="Palatino Linotype" panose="02040502050505030304" pitchFamily="18" charset="0"/>
              </a:rPr>
              <a:t> Column or expression used as the JSON value.</a:t>
            </a:r>
          </a:p>
        </p:txBody>
      </p:sp>
    </p:spTree>
    <p:extLst>
      <p:ext uri="{BB962C8B-B14F-4D97-AF65-F5344CB8AC3E}">
        <p14:creationId xmlns:p14="http://schemas.microsoft.com/office/powerpoint/2010/main" val="4077727314"/>
      </p:ext>
    </p:extLst>
  </p:cSld>
  <p:clrMapOvr>
    <a:masterClrMapping/>
  </p:clrMapOvr>
</p:sld>
</file>

<file path=ppt/slides/slide5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B3E8D-CCD1-97C6-D169-82748A29F83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1B6C6E3-7B65-33B8-0E39-93056B0FC3D3}"/>
              </a:ext>
            </a:extLst>
          </p:cNvPr>
          <p:cNvSpPr/>
          <p:nvPr/>
        </p:nvSpPr>
        <p:spPr>
          <a:xfrm>
            <a:off x="119336" y="1260000"/>
            <a:ext cx="11953328" cy="400110"/>
          </a:xfrm>
          <a:prstGeom prst="rect">
            <a:avLst/>
          </a:prstGeom>
          <a:solidFill>
            <a:schemeClr val="bg1"/>
          </a:solidFill>
        </p:spPr>
        <p:txBody>
          <a:bodyPr wrap="square">
            <a:spAutoFit/>
          </a:bodyPr>
          <a:lstStyle/>
          <a:p>
            <a:r>
              <a:rPr lang="en-US" sz="2000" dirty="0">
                <a:solidFill>
                  <a:srgbClr val="0070C0"/>
                </a:solidFill>
                <a:latin typeface="Liberation Mono"/>
                <a:cs typeface="Arial" panose="020B0604020202020204" pitchFamily="34" charset="0"/>
              </a:rPr>
              <a:t>JSON_ARRAYAGG(col_or_expr)</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52775AA-C6E6-07AF-1492-99FB9288688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JSON_ARRAYAGG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40FFAA9A-1DF2-9F6E-FAF8-B2F09E2DCACA}"/>
              </a:ext>
            </a:extLst>
          </p:cNvPr>
          <p:cNvSpPr txBox="1"/>
          <p:nvPr/>
        </p:nvSpPr>
        <p:spPr>
          <a:xfrm>
            <a:off x="112372" y="692696"/>
            <a:ext cx="11816275" cy="369332"/>
          </a:xfrm>
          <a:prstGeom prst="rect">
            <a:avLst/>
          </a:prstGeom>
          <a:noFill/>
        </p:spPr>
        <p:txBody>
          <a:bodyPr wrap="square">
            <a:spAutoFit/>
          </a:bodyPr>
          <a:lstStyle/>
          <a:p>
            <a:r>
              <a:rPr lang="en-US" dirty="0"/>
              <a:t>It’s like GROUP_CONCAT(), but instead of returning a comma-separated string, it returns a </a:t>
            </a:r>
            <a:r>
              <a:rPr lang="en-US" b="1" dirty="0"/>
              <a:t>JSON array</a:t>
            </a:r>
            <a:r>
              <a:rPr lang="en-US" dirty="0"/>
              <a:t>.</a:t>
            </a:r>
            <a:endParaRPr lang="en-IN" sz="1800" b="1" dirty="0">
              <a:latin typeface="Palatino Linotype" panose="02040502050505030304" pitchFamily="18" charset="0"/>
            </a:endParaRPr>
          </a:p>
        </p:txBody>
      </p:sp>
      <p:sp>
        <p:nvSpPr>
          <p:cNvPr id="6" name="TextBox 5">
            <a:extLst>
              <a:ext uri="{FF2B5EF4-FFF2-40B4-BE49-F238E27FC236}">
                <a16:creationId xmlns:a16="http://schemas.microsoft.com/office/drawing/2014/main" id="{721EE5DF-D53F-9C89-AC6B-78B992ABEFC0}"/>
              </a:ext>
            </a:extLst>
          </p:cNvPr>
          <p:cNvSpPr txBox="1"/>
          <p:nvPr/>
        </p:nvSpPr>
        <p:spPr>
          <a:xfrm>
            <a:off x="138646" y="2060848"/>
            <a:ext cx="11934017" cy="646331"/>
          </a:xfrm>
          <a:prstGeom prst="rect">
            <a:avLst/>
          </a:prstGeom>
          <a:noFill/>
        </p:spPr>
        <p:txBody>
          <a:bodyPr wrap="square">
            <a:spAutoFit/>
          </a:bodyPr>
          <a:lstStyle/>
          <a:p>
            <a:r>
              <a:rPr lang="en-IN" dirty="0"/>
              <a:t>Takes two column names or expressions as arguments, the first of these being used as a key and the second as a value, and returns a JSON object containing key-value pairs. Returns NULL if the result contains no rows.</a:t>
            </a:r>
          </a:p>
        </p:txBody>
      </p:sp>
    </p:spTree>
    <p:extLst>
      <p:ext uri="{BB962C8B-B14F-4D97-AF65-F5344CB8AC3E}">
        <p14:creationId xmlns:p14="http://schemas.microsoft.com/office/powerpoint/2010/main" val="2390752934"/>
      </p:ext>
    </p:extLst>
  </p:cSld>
  <p:clrMapOvr>
    <a:masterClrMapping/>
  </p:clrMapOvr>
</p:sld>
</file>

<file path=ppt/slides/slide5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56490879-973F-4F6A-9B42-90527119B4C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927509" y="53392"/>
            <a:ext cx="4264491" cy="2079464"/>
          </a:xfrm>
          <a:prstGeom prst="rect">
            <a:avLst/>
          </a:prstGeom>
        </p:spPr>
      </p:pic>
      <p:sp>
        <p:nvSpPr>
          <p:cNvPr id="2" name="Title 1"/>
          <p:cNvSpPr txBox="1">
            <a:spLocks/>
          </p:cNvSpPr>
          <p:nvPr/>
        </p:nvSpPr>
        <p:spPr>
          <a:xfrm>
            <a:off x="1676977" y="2874640"/>
            <a:ext cx="8838049" cy="914400"/>
          </a:xfrm>
          <a:prstGeom prst="rect">
            <a:avLst/>
          </a:prstGeom>
        </p:spPr>
        <p:txBody>
          <a:bodyPr>
            <a:normAutofit/>
          </a:bodyPr>
          <a:lstStyle/>
          <a:p>
            <a:pPr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                                group by clause</a:t>
            </a:r>
          </a:p>
        </p:txBody>
      </p:sp>
      <p:sp>
        <p:nvSpPr>
          <p:cNvPr id="8" name="Rectangle 7"/>
          <p:cNvSpPr/>
          <p:nvPr/>
        </p:nvSpPr>
        <p:spPr>
          <a:xfrm>
            <a:off x="201108" y="5325596"/>
            <a:ext cx="11735504"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DISTINCT (if used outside an aggregation function) that is superfluous.</a:t>
            </a:r>
          </a:p>
          <a:p>
            <a:r>
              <a:rPr lang="en-IN" dirty="0">
                <a:solidFill>
                  <a:srgbClr val="FF0000"/>
                </a:solidFill>
                <a:latin typeface="Palatino Linotype" panose="02040502050505030304" pitchFamily="18" charset="0"/>
                <a:cs typeface="Segoe UI Light" panose="020B0502040204020203" pitchFamily="34" charset="0"/>
              </a:rPr>
              <a:t>e.g.</a:t>
            </a:r>
          </a:p>
          <a:p>
            <a:r>
              <a:rPr lang="en-US" dirty="0">
                <a:solidFill>
                  <a:srgbClr val="0077AA"/>
                </a:solidFill>
                <a:latin typeface="Arial" panose="020B0604020202020204" pitchFamily="34" charset="0"/>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DISTINCT</a:t>
            </a:r>
            <a:r>
              <a:rPr lang="en-US" dirty="0">
                <a:solidFill>
                  <a:schemeClr val="accent6">
                    <a:lumMod val="50000"/>
                  </a:schemeClr>
                </a:solidFill>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(ename)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emp;</a:t>
            </a:r>
          </a:p>
        </p:txBody>
      </p:sp>
      <p:sp>
        <p:nvSpPr>
          <p:cNvPr id="13" name="Rectangle 12">
            <a:extLst>
              <a:ext uri="{FF2B5EF4-FFF2-40B4-BE49-F238E27FC236}">
                <a16:creationId xmlns:a16="http://schemas.microsoft.com/office/drawing/2014/main" id="{757ECFB6-9F21-4C3E-A532-662AB5CA656F}"/>
              </a:ext>
            </a:extLst>
          </p:cNvPr>
          <p:cNvSpPr/>
          <p:nvPr/>
        </p:nvSpPr>
        <p:spPr>
          <a:xfrm>
            <a:off x="201108" y="3885436"/>
            <a:ext cx="11735504" cy="1477328"/>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Segoe UI Light" panose="020B0502040204020203" pitchFamily="34" charset="0"/>
              </a:rPr>
              <a:t>:</a:t>
            </a:r>
          </a:p>
          <a:p>
            <a:endParaRPr lang="en-IN" sz="800" dirty="0">
              <a:solidFill>
                <a:srgbClr val="FF0000"/>
              </a:solidFill>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Standard SQL does not allow you to use an ALIAS in the GROUP BY clause, however, MySQL supports this.</a:t>
            </a:r>
          </a:p>
          <a:p>
            <a:pPr marL="342900" indent="-342900">
              <a:buFont typeface="Arial" panose="020B0604020202020204" pitchFamily="34" charset="0"/>
              <a:buChar char="•"/>
            </a:pPr>
            <a:endParaRPr lang="en-IN" sz="600" dirty="0">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GROUP BY is used in conjunction with aggregating functions to group the results by the unaggregated columns.</a:t>
            </a:r>
            <a:endParaRPr lang="en-IN" dirty="0">
              <a:latin typeface="Palatino Linotype" panose="02040502050505030304" pitchFamily="18" charset="0"/>
              <a:cs typeface="Segoe UI Light" panose="020B0502040204020203" pitchFamily="34" charset="0"/>
            </a:endParaRPr>
          </a:p>
        </p:txBody>
      </p:sp>
      <p:pic>
        <p:nvPicPr>
          <p:cNvPr id="10" name="Picture 9">
            <a:extLst>
              <a:ext uri="{FF2B5EF4-FFF2-40B4-BE49-F238E27FC236}">
                <a16:creationId xmlns:a16="http://schemas.microsoft.com/office/drawing/2014/main" id="{3D5E1EC2-B7F3-4941-A1FA-8C21FD8C4B5B}"/>
              </a:ext>
            </a:extLst>
          </p:cNvPr>
          <p:cNvPicPr>
            <a:picLocks noChangeAspect="1"/>
          </p:cNvPicPr>
          <p:nvPr/>
        </p:nvPicPr>
        <p:blipFill>
          <a:blip r:embed="rId3" cstate="print"/>
          <a:stretch>
            <a:fillRect/>
          </a:stretch>
        </p:blipFill>
        <p:spPr>
          <a:xfrm>
            <a:off x="234779" y="116632"/>
            <a:ext cx="6131040" cy="347337"/>
          </a:xfrm>
          <a:prstGeom prst="rect">
            <a:avLst/>
          </a:prstGeom>
        </p:spPr>
      </p:pic>
      <p:pic>
        <p:nvPicPr>
          <p:cNvPr id="15" name="Picture 14">
            <a:extLst>
              <a:ext uri="{FF2B5EF4-FFF2-40B4-BE49-F238E27FC236}">
                <a16:creationId xmlns:a16="http://schemas.microsoft.com/office/drawing/2014/main" id="{CD2A05DF-92D9-4B51-A5C8-805229B5C149}"/>
              </a:ext>
            </a:extLst>
          </p:cNvPr>
          <p:cNvPicPr>
            <a:picLocks noChangeAspect="1"/>
          </p:cNvPicPr>
          <p:nvPr/>
        </p:nvPicPr>
        <p:blipFill>
          <a:blip r:embed="rId4" cstate="print"/>
          <a:stretch>
            <a:fillRect/>
          </a:stretch>
        </p:blipFill>
        <p:spPr>
          <a:xfrm>
            <a:off x="263352" y="620157"/>
            <a:ext cx="6090968" cy="374056"/>
          </a:xfrm>
          <a:prstGeom prst="rect">
            <a:avLst/>
          </a:prstGeom>
        </p:spPr>
      </p:pic>
      <p:sp>
        <p:nvSpPr>
          <p:cNvPr id="16" name="Rectangle 15">
            <a:extLst>
              <a:ext uri="{FF2B5EF4-FFF2-40B4-BE49-F238E27FC236}">
                <a16:creationId xmlns:a16="http://schemas.microsoft.com/office/drawing/2014/main" id="{265D6D18-D073-4D3C-910F-DFBE5039F840}"/>
              </a:ext>
            </a:extLst>
          </p:cNvPr>
          <p:cNvSpPr/>
          <p:nvPr/>
        </p:nvSpPr>
        <p:spPr>
          <a:xfrm>
            <a:off x="201108" y="1196752"/>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grpSp>
        <p:nvGrpSpPr>
          <p:cNvPr id="21" name="Group 20">
            <a:extLst>
              <a:ext uri="{FF2B5EF4-FFF2-40B4-BE49-F238E27FC236}">
                <a16:creationId xmlns:a16="http://schemas.microsoft.com/office/drawing/2014/main" id="{A0708B12-E721-B90A-C139-182A74B2AD3B}"/>
              </a:ext>
            </a:extLst>
          </p:cNvPr>
          <p:cNvGrpSpPr/>
          <p:nvPr/>
        </p:nvGrpSpPr>
        <p:grpSpPr>
          <a:xfrm>
            <a:off x="0" y="1988840"/>
            <a:ext cx="9173589" cy="1728192"/>
            <a:chOff x="0" y="1988840"/>
            <a:chExt cx="9173589" cy="1728192"/>
          </a:xfrm>
        </p:grpSpPr>
        <p:sp>
          <p:nvSpPr>
            <p:cNvPr id="11" name="Rectangle 10"/>
            <p:cNvSpPr/>
            <p:nvPr/>
          </p:nvSpPr>
          <p:spPr>
            <a:xfrm>
              <a:off x="0" y="1988840"/>
              <a:ext cx="9173589" cy="707886"/>
            </a:xfrm>
            <a:prstGeom prst="rect">
              <a:avLst/>
            </a:prstGeom>
          </p:spPr>
          <p:txBody>
            <a:bodyPr wrap="square">
              <a:spAutoFit/>
            </a:bodyPr>
            <a:lstStyle/>
            <a:p>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n,</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6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US"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60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baseline="30000" dirty="0">
                  <a:solidFill>
                    <a:srgbClr val="570528"/>
                  </a:solidFill>
                  <a:latin typeface="Arial" panose="020B0604020202020204" pitchFamily="34" charset="0"/>
                  <a:ea typeface="Verdana" panose="020B0604030504040204" pitchFamily="34" charset="0"/>
                  <a:cs typeface="Arial" panose="020B0604020202020204" pitchFamily="34" charset="0"/>
                </a:rPr>
                <a:t>(r)</a:t>
              </a:r>
            </a:p>
          </p:txBody>
        </p:sp>
        <p:grpSp>
          <p:nvGrpSpPr>
            <p:cNvPr id="19" name="Group 18">
              <a:extLst>
                <a:ext uri="{FF2B5EF4-FFF2-40B4-BE49-F238E27FC236}">
                  <a16:creationId xmlns:a16="http://schemas.microsoft.com/office/drawing/2014/main" id="{B6125125-510F-C29F-772F-98A7E13F2464}"/>
                </a:ext>
              </a:extLst>
            </p:cNvPr>
            <p:cNvGrpSpPr/>
            <p:nvPr/>
          </p:nvGrpSpPr>
          <p:grpSpPr>
            <a:xfrm>
              <a:off x="97327" y="2673692"/>
              <a:ext cx="1579648" cy="1043340"/>
              <a:chOff x="97327" y="2673692"/>
              <a:chExt cx="1579648" cy="1043340"/>
            </a:xfrm>
          </p:grpSpPr>
          <p:cxnSp>
            <p:nvCxnSpPr>
              <p:cNvPr id="6" name="Straight Arrow Connector 5">
                <a:extLst>
                  <a:ext uri="{FF2B5EF4-FFF2-40B4-BE49-F238E27FC236}">
                    <a16:creationId xmlns:a16="http://schemas.microsoft.com/office/drawing/2014/main" id="{2077AC99-1FA3-D7DC-6F76-6D93111FAD41}"/>
                  </a:ext>
                </a:extLst>
              </p:cNvPr>
              <p:cNvCxnSpPr>
                <a:cxnSpLocks/>
              </p:cNvCxnSpPr>
              <p:nvPr/>
            </p:nvCxnSpPr>
            <p:spPr>
              <a:xfrm>
                <a:off x="91142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D7D66F71-8FFC-D5D2-637B-314261D06B9B}"/>
                  </a:ext>
                </a:extLst>
              </p:cNvPr>
              <p:cNvSpPr txBox="1"/>
              <p:nvPr/>
            </p:nvSpPr>
            <p:spPr>
              <a:xfrm>
                <a:off x="97327" y="3070701"/>
                <a:ext cx="1579648"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Attributes</a:t>
                </a:r>
                <a:endParaRPr lang="en-IN" b="1" dirty="0">
                  <a:solidFill>
                    <a:srgbClr val="7E007E"/>
                  </a:solidFill>
                </a:endParaRPr>
              </a:p>
            </p:txBody>
          </p:sp>
        </p:grpSp>
        <p:grpSp>
          <p:nvGrpSpPr>
            <p:cNvPr id="20" name="Group 19">
              <a:extLst>
                <a:ext uri="{FF2B5EF4-FFF2-40B4-BE49-F238E27FC236}">
                  <a16:creationId xmlns:a16="http://schemas.microsoft.com/office/drawing/2014/main" id="{93B7F2BF-F4AF-96DD-8A6E-0862C1B4B630}"/>
                </a:ext>
              </a:extLst>
            </p:cNvPr>
            <p:cNvGrpSpPr/>
            <p:nvPr/>
          </p:nvGrpSpPr>
          <p:grpSpPr>
            <a:xfrm>
              <a:off x="3606864" y="2673692"/>
              <a:ext cx="1959860" cy="1043340"/>
              <a:chOff x="3606864" y="2673692"/>
              <a:chExt cx="1959860" cy="1043340"/>
            </a:xfrm>
          </p:grpSpPr>
          <p:sp>
            <p:nvSpPr>
              <p:cNvPr id="17" name="TextBox 16">
                <a:extLst>
                  <a:ext uri="{FF2B5EF4-FFF2-40B4-BE49-F238E27FC236}">
                    <a16:creationId xmlns:a16="http://schemas.microsoft.com/office/drawing/2014/main" id="{BD62EA53-4548-C565-BA29-FA2B9838122B}"/>
                  </a:ext>
                </a:extLst>
              </p:cNvPr>
              <p:cNvSpPr txBox="1"/>
              <p:nvPr/>
            </p:nvSpPr>
            <p:spPr>
              <a:xfrm>
                <a:off x="3606864" y="3070701"/>
                <a:ext cx="1959860"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Function Attributes</a:t>
                </a:r>
                <a:endParaRPr lang="en-IN" b="1" dirty="0">
                  <a:solidFill>
                    <a:srgbClr val="7E007E"/>
                  </a:solidFill>
                </a:endParaRPr>
              </a:p>
            </p:txBody>
          </p:sp>
          <p:cxnSp>
            <p:nvCxnSpPr>
              <p:cNvPr id="18" name="Straight Arrow Connector 17">
                <a:extLst>
                  <a:ext uri="{FF2B5EF4-FFF2-40B4-BE49-F238E27FC236}">
                    <a16:creationId xmlns:a16="http://schemas.microsoft.com/office/drawing/2014/main" id="{FD384647-9D79-3B05-3963-DA6A0AD580E8}"/>
                  </a:ext>
                </a:extLst>
              </p:cNvPr>
              <p:cNvCxnSpPr>
                <a:cxnSpLocks/>
              </p:cNvCxnSpPr>
              <p:nvPr/>
            </p:nvCxnSpPr>
            <p:spPr>
              <a:xfrm>
                <a:off x="458679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487672610"/>
      </p:ext>
    </p:extLst>
  </p:cSld>
  <p:clrMapOvr>
    <a:masterClrMapping/>
  </p:clrMapOvr>
</p:sld>
</file>

<file path=ppt/slides/slide5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762001"/>
            <a:ext cx="11665296"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Columns selected for output can be referred to in ORDER BY and GROUP BY clauses using column names, column aliases, or column positions. Column positions are integers and begin with 1</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use GROUP BY, output rows are sorted according to the GROUP BY columns as if you had an ORDER BY for the same columns. To avoid the overhead of sorting that GROUP BY produces, add ORDER BY NULL.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 query includes GROUP BY but you want to avoid the overhead of sorting the result, you can suppress sorting by specifying ORDER BY NULL. </a:t>
            </a:r>
          </a:p>
        </p:txBody>
      </p:sp>
      <p:sp>
        <p:nvSpPr>
          <p:cNvPr id="9" name="Rectangle 8"/>
          <p:cNvSpPr/>
          <p:nvPr/>
        </p:nvSpPr>
        <p:spPr>
          <a:xfrm>
            <a:off x="263352" y="3861048"/>
            <a:ext cx="8686800" cy="1169551"/>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For example:</a:t>
            </a:r>
            <a:endParaRPr lang="en-IN" dirty="0">
              <a:solidFill>
                <a:srgbClr val="FF0000"/>
              </a:solidFill>
            </a:endParaRPr>
          </a:p>
          <a:p>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a:t>
            </a:r>
            <a:r>
              <a:rPr lang="en-US" dirty="0">
                <a:solidFill>
                  <a:srgbClr val="0077AA"/>
                </a:solidFill>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ea typeface="Times New Roman" panose="02020603050405020304" pitchFamily="18" charset="0"/>
              </a:rPr>
              <a:t>(</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rPr>
              <a:t>ORDER</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NULL</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77AA"/>
                </a:solidFill>
                <a:latin typeface="Liberation Mono"/>
                <a:cs typeface="Times New Roman" panose="02020603050405020304" pitchFamily="18" charset="0"/>
              </a:rPr>
              <a:t>FIELD</a:t>
            </a:r>
            <a:r>
              <a:rPr lang="en-US" dirty="0">
                <a:solidFill>
                  <a:srgbClr val="0077AA"/>
                </a:solidFill>
                <a:latin typeface="Liberation Mono"/>
                <a:ea typeface="Times New Roman" panose="02020603050405020304" pitchFamily="18" charset="0"/>
                <a:cs typeface="Times New Roman" panose="02020603050405020304" pitchFamily="18" charset="0"/>
              </a:rPr>
              <a:t> </a:t>
            </a:r>
            <a:r>
              <a:rPr lang="en-US" dirty="0">
                <a:latin typeface="Liberation Mono"/>
                <a:ea typeface="Times New Roman" panose="02020603050405020304" pitchFamily="18" charset="0"/>
              </a:rPr>
              <a:t>(job, </a:t>
            </a:r>
            <a:r>
              <a:rPr lang="en-US" dirty="0">
                <a:solidFill>
                  <a:srgbClr val="669900"/>
                </a:solidFill>
                <a:latin typeface="Liberation Mono"/>
              </a:rPr>
              <a:t>'MANAGER'</a:t>
            </a:r>
            <a:r>
              <a:rPr lang="en-US" dirty="0">
                <a:latin typeface="Liberation Mono"/>
                <a:ea typeface="Times New Roman" panose="02020603050405020304" pitchFamily="18" charset="0"/>
              </a:rPr>
              <a:t>, </a:t>
            </a:r>
            <a:r>
              <a:rPr lang="en-US" dirty="0">
                <a:solidFill>
                  <a:srgbClr val="669900"/>
                </a:solidFill>
                <a:latin typeface="Liberation Mono"/>
              </a:rPr>
              <a:t>'SALESMAN'</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99712585"/>
      </p:ext>
    </p:extLst>
  </p:cSld>
  <p:clrMapOvr>
    <a:masterClrMapping/>
  </p:clrMapOvr>
</p:sld>
</file>

<file path=ppt/slides/slide5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08720"/>
            <a:ext cx="11377264"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You can use GROUP BY to group values from a column, and, if you wish, perform calculations on that column.</a:t>
            </a:r>
          </a:p>
        </p:txBody>
      </p:sp>
      <p:sp>
        <p:nvSpPr>
          <p:cNvPr id="3" name="Rectangle 2"/>
          <p:cNvSpPr/>
          <p:nvPr/>
        </p:nvSpPr>
        <p:spPr>
          <a:xfrm>
            <a:off x="206709" y="56853"/>
            <a:ext cx="5674074" cy="646331"/>
          </a:xfrm>
          <a:prstGeom prst="rect">
            <a:avLst/>
          </a:prstGeom>
          <a:solidFill>
            <a:srgbClr val="F9DAFE"/>
          </a:solidFill>
        </p:spPr>
        <p:txBody>
          <a:bodyPr wrap="square">
            <a:spAutoFit/>
          </a:bodyPr>
          <a:lstStyle/>
          <a:p>
            <a:r>
              <a:rPr lang="en-IN" b="1" i="1" dirty="0">
                <a:latin typeface="Arial" panose="020B0604020202020204" pitchFamily="34" charset="0"/>
                <a:cs typeface="Arial" panose="020B0604020202020204" pitchFamily="34" charset="0"/>
              </a:rPr>
              <a:t>This function's will produce a single value for an entire group or a table.</a:t>
            </a:r>
          </a:p>
        </p:txBody>
      </p:sp>
      <p:sp>
        <p:nvSpPr>
          <p:cNvPr id="6" name="TextBox 5">
            <a:extLst>
              <a:ext uri="{FF2B5EF4-FFF2-40B4-BE49-F238E27FC236}">
                <a16:creationId xmlns:a16="http://schemas.microsoft.com/office/drawing/2014/main" id="{D8360161-F92F-4949-B02D-353600F0F280}"/>
              </a:ext>
            </a:extLst>
          </p:cNvPr>
          <p:cNvSpPr txBox="1"/>
          <p:nvPr/>
        </p:nvSpPr>
        <p:spPr>
          <a:xfrm>
            <a:off x="7054251" y="4048182"/>
            <a:ext cx="512104" cy="400110"/>
          </a:xfrm>
          <a:prstGeom prst="rect">
            <a:avLst/>
          </a:prstGeom>
          <a:noFill/>
        </p:spPr>
        <p:txBody>
          <a:bodyPr wrap="square">
            <a:spAutoFit/>
          </a:bodyPr>
          <a:lstStyle/>
          <a:p>
            <a:r>
              <a:rPr lang="en-IN" sz="2000" dirty="0">
                <a:latin typeface="Liberation Mono"/>
                <a:cs typeface="Arial" panose="020B0604020202020204" pitchFamily="34" charset="0"/>
              </a:rPr>
              <a:t>job</a:t>
            </a:r>
            <a:endParaRPr lang="en-IN" sz="2000" dirty="0"/>
          </a:p>
        </p:txBody>
      </p:sp>
      <p:sp>
        <p:nvSpPr>
          <p:cNvPr id="24" name="TextBox 23">
            <a:extLst>
              <a:ext uri="{FF2B5EF4-FFF2-40B4-BE49-F238E27FC236}">
                <a16:creationId xmlns:a16="http://schemas.microsoft.com/office/drawing/2014/main" id="{DC48881F-816C-40CC-9D5A-8AB3C8F1FF44}"/>
              </a:ext>
            </a:extLst>
          </p:cNvPr>
          <p:cNvSpPr txBox="1"/>
          <p:nvPr/>
        </p:nvSpPr>
        <p:spPr>
          <a:xfrm>
            <a:off x="412526" y="2708920"/>
            <a:ext cx="762769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rPr>
              <a:t>WITH</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ROLLUP</a:t>
            </a:r>
            <a:r>
              <a:rPr lang="en-US" dirty="0">
                <a:solidFill>
                  <a:srgbClr val="000000"/>
                </a:solidFill>
                <a:latin typeface="Liberation Mono"/>
                <a:ea typeface="Times New Roman" panose="02020603050405020304" pitchFamily="18" charset="0"/>
              </a:rPr>
              <a:t>;</a:t>
            </a:r>
            <a:endParaRPr lang="en-IN" dirty="0"/>
          </a:p>
        </p:txBody>
      </p:sp>
      <p:grpSp>
        <p:nvGrpSpPr>
          <p:cNvPr id="22" name="Group 21">
            <a:extLst>
              <a:ext uri="{FF2B5EF4-FFF2-40B4-BE49-F238E27FC236}">
                <a16:creationId xmlns:a16="http://schemas.microsoft.com/office/drawing/2014/main" id="{67968BB6-B821-4BAE-8246-7D6625153945}"/>
              </a:ext>
            </a:extLst>
          </p:cNvPr>
          <p:cNvGrpSpPr/>
          <p:nvPr/>
        </p:nvGrpSpPr>
        <p:grpSpPr>
          <a:xfrm>
            <a:off x="407368" y="3501008"/>
            <a:ext cx="10561355" cy="1502780"/>
            <a:chOff x="407368" y="3356992"/>
            <a:chExt cx="10561355" cy="1502780"/>
          </a:xfrm>
        </p:grpSpPr>
        <p:grpSp>
          <p:nvGrpSpPr>
            <p:cNvPr id="29" name="Group 28">
              <a:extLst>
                <a:ext uri="{FF2B5EF4-FFF2-40B4-BE49-F238E27FC236}">
                  <a16:creationId xmlns:a16="http://schemas.microsoft.com/office/drawing/2014/main" id="{D710AC62-49D8-40DD-A5CC-A8B84A460576}"/>
                </a:ext>
              </a:extLst>
            </p:cNvPr>
            <p:cNvGrpSpPr/>
            <p:nvPr/>
          </p:nvGrpSpPr>
          <p:grpSpPr>
            <a:xfrm>
              <a:off x="412526" y="3356992"/>
              <a:ext cx="10556197" cy="1502780"/>
              <a:chOff x="412526" y="3406524"/>
              <a:chExt cx="10556197" cy="1502780"/>
            </a:xfrm>
          </p:grpSpPr>
          <p:grpSp>
            <p:nvGrpSpPr>
              <p:cNvPr id="8" name="Group 7">
                <a:extLst>
                  <a:ext uri="{FF2B5EF4-FFF2-40B4-BE49-F238E27FC236}">
                    <a16:creationId xmlns:a16="http://schemas.microsoft.com/office/drawing/2014/main" id="{DABCC675-65EC-4680-94CF-83EF6CDAAEA2}"/>
                  </a:ext>
                </a:extLst>
              </p:cNvPr>
              <p:cNvGrpSpPr/>
              <p:nvPr/>
            </p:nvGrpSpPr>
            <p:grpSpPr>
              <a:xfrm>
                <a:off x="412526" y="3501008"/>
                <a:ext cx="8959443" cy="1304978"/>
                <a:chOff x="267703" y="1600839"/>
                <a:chExt cx="8959443" cy="1304978"/>
              </a:xfrm>
            </p:grpSpPr>
            <p:sp>
              <p:nvSpPr>
                <p:cNvPr id="13" name="Rectangle 12">
                  <a:extLst>
                    <a:ext uri="{FF2B5EF4-FFF2-40B4-BE49-F238E27FC236}">
                      <a16:creationId xmlns:a16="http://schemas.microsoft.com/office/drawing/2014/main" id="{774B0448-BC65-40CF-965F-BE874B439DF4}"/>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9" name="Group 8">
                  <a:extLst>
                    <a:ext uri="{FF2B5EF4-FFF2-40B4-BE49-F238E27FC236}">
                      <a16:creationId xmlns:a16="http://schemas.microsoft.com/office/drawing/2014/main" id="{0B8C6AB2-3EE1-4365-9530-4DFE631A6BBD}"/>
                    </a:ext>
                  </a:extLst>
                </p:cNvPr>
                <p:cNvGrpSpPr/>
                <p:nvPr/>
              </p:nvGrpSpPr>
              <p:grpSpPr>
                <a:xfrm>
                  <a:off x="1651832" y="1600839"/>
                  <a:ext cx="7575314" cy="1296144"/>
                  <a:chOff x="31591" y="1556792"/>
                  <a:chExt cx="7575314" cy="1296144"/>
                </a:xfrm>
              </p:grpSpPr>
              <p:grpSp>
                <p:nvGrpSpPr>
                  <p:cNvPr id="16" name="Group 15">
                    <a:extLst>
                      <a:ext uri="{FF2B5EF4-FFF2-40B4-BE49-F238E27FC236}">
                        <a16:creationId xmlns:a16="http://schemas.microsoft.com/office/drawing/2014/main" id="{ACED14D2-CD51-46C7-9BC9-DB56FD4219BA}"/>
                      </a:ext>
                    </a:extLst>
                  </p:cNvPr>
                  <p:cNvGrpSpPr/>
                  <p:nvPr/>
                </p:nvGrpSpPr>
                <p:grpSpPr>
                  <a:xfrm>
                    <a:off x="669977" y="1556792"/>
                    <a:ext cx="6236548" cy="1296144"/>
                    <a:chOff x="669977" y="1556792"/>
                    <a:chExt cx="6236548" cy="1296144"/>
                  </a:xfrm>
                </p:grpSpPr>
                <p:sp>
                  <p:nvSpPr>
                    <p:cNvPr id="19" name="Rectangle 18">
                      <a:extLst>
                        <a:ext uri="{FF2B5EF4-FFF2-40B4-BE49-F238E27FC236}">
                          <a16:creationId xmlns:a16="http://schemas.microsoft.com/office/drawing/2014/main" id="{48CE68AC-7BFD-49BD-88C9-4E36689F7AB8}"/>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a:extLst>
                        <a:ext uri="{FF2B5EF4-FFF2-40B4-BE49-F238E27FC236}">
                          <a16:creationId xmlns:a16="http://schemas.microsoft.com/office/drawing/2014/main" id="{278ECDA3-147F-4DC1-8481-1B369EC5D08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1" name="TextBox 20">
                      <a:extLst>
                        <a:ext uri="{FF2B5EF4-FFF2-40B4-BE49-F238E27FC236}">
                          <a16:creationId xmlns:a16="http://schemas.microsoft.com/office/drawing/2014/main" id="{402E2D42-6CBF-496F-811B-A8A24EEA6F36}"/>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0" name="TextBox 29">
                      <a:extLst>
                        <a:ext uri="{FF2B5EF4-FFF2-40B4-BE49-F238E27FC236}">
                          <a16:creationId xmlns:a16="http://schemas.microsoft.com/office/drawing/2014/main" id="{05A4E335-48F1-45E2-9B05-671108E6B151}"/>
                        </a:ext>
                      </a:extLst>
                    </p:cNvPr>
                    <p:cNvSpPr txBox="1"/>
                    <p:nvPr/>
                  </p:nvSpPr>
                  <p:spPr>
                    <a:xfrm>
                      <a:off x="4202827" y="2159890"/>
                      <a:ext cx="270369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SUM</a:t>
                      </a:r>
                      <a:r>
                        <a:rPr lang="en-IN" sz="2000" dirty="0">
                          <a:latin typeface="Liberation Mono"/>
                          <a:cs typeface="Arial" panose="020B0604020202020204" pitchFamily="34" charset="0"/>
                        </a:rPr>
                        <a:t>(sal)</a:t>
                      </a:r>
                      <a:endParaRPr lang="en-IN" sz="2000" dirty="0"/>
                    </a:p>
                  </p:txBody>
                </p:sp>
              </p:grpSp>
              <p:sp>
                <p:nvSpPr>
                  <p:cNvPr id="17" name="Arrow: Right 16">
                    <a:extLst>
                      <a:ext uri="{FF2B5EF4-FFF2-40B4-BE49-F238E27FC236}">
                        <a16:creationId xmlns:a16="http://schemas.microsoft.com/office/drawing/2014/main" id="{4279E86E-5999-4B7D-A3B1-EBB26872159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AE790C6D-C04C-4E86-9058-CD225BB76E01}"/>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Arrow: Right 25">
                    <a:extLst>
                      <a:ext uri="{FF2B5EF4-FFF2-40B4-BE49-F238E27FC236}">
                        <a16:creationId xmlns:a16="http://schemas.microsoft.com/office/drawing/2014/main" id="{FE9BA234-8130-46DE-9192-B1964E3E1CD9}"/>
                      </a:ext>
                    </a:extLst>
                  </p:cNvPr>
                  <p:cNvSpPr/>
                  <p:nvPr/>
                </p:nvSpPr>
                <p:spPr>
                  <a:xfrm>
                    <a:off x="7000499"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7BEF2218-8779-421F-A5F0-1B09A8939B2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ADA3F2E6-FEB8-414D-A720-E2453C788FE4}"/>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7" name="Oval 26">
                <a:extLst>
                  <a:ext uri="{FF2B5EF4-FFF2-40B4-BE49-F238E27FC236}">
                    <a16:creationId xmlns:a16="http://schemas.microsoft.com/office/drawing/2014/main" id="{E1559D8F-9700-4AE2-97E7-0448BF309EC2}"/>
                  </a:ext>
                </a:extLst>
              </p:cNvPr>
              <p:cNvSpPr/>
              <p:nvPr/>
            </p:nvSpPr>
            <p:spPr>
              <a:xfrm>
                <a:off x="9465943"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8" name="TextBox 27">
                <a:extLst>
                  <a:ext uri="{FF2B5EF4-FFF2-40B4-BE49-F238E27FC236}">
                    <a16:creationId xmlns:a16="http://schemas.microsoft.com/office/drawing/2014/main" id="{7B3B8AA1-CBBA-4EDD-9B88-F8FCF402B63E}"/>
                  </a:ext>
                </a:extLst>
              </p:cNvPr>
              <p:cNvSpPr txBox="1"/>
              <p:nvPr/>
            </p:nvSpPr>
            <p:spPr>
              <a:xfrm>
                <a:off x="9488927"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7" name="TextBox 6">
              <a:extLst>
                <a:ext uri="{FF2B5EF4-FFF2-40B4-BE49-F238E27FC236}">
                  <a16:creationId xmlns:a16="http://schemas.microsoft.com/office/drawing/2014/main" id="{03584EE4-FE15-44E7-B9B5-E669472CFB04}"/>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5" name="TextBox 14">
              <a:extLst>
                <a:ext uri="{FF2B5EF4-FFF2-40B4-BE49-F238E27FC236}">
                  <a16:creationId xmlns:a16="http://schemas.microsoft.com/office/drawing/2014/main" id="{9E45AF3E-2EED-4B97-9352-AD3D9366363C}"/>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grpSp>
        <p:nvGrpSpPr>
          <p:cNvPr id="32" name="Group 31">
            <a:extLst>
              <a:ext uri="{FF2B5EF4-FFF2-40B4-BE49-F238E27FC236}">
                <a16:creationId xmlns:a16="http://schemas.microsoft.com/office/drawing/2014/main" id="{EEAE92F1-2CBC-4CDE-8195-0FB5F5904722}"/>
              </a:ext>
            </a:extLst>
          </p:cNvPr>
          <p:cNvGrpSpPr/>
          <p:nvPr/>
        </p:nvGrpSpPr>
        <p:grpSpPr>
          <a:xfrm>
            <a:off x="407367" y="5047456"/>
            <a:ext cx="5184577" cy="1765920"/>
            <a:chOff x="407367" y="5047456"/>
            <a:chExt cx="5184577" cy="1765920"/>
          </a:xfrm>
        </p:grpSpPr>
        <p:pic>
          <p:nvPicPr>
            <p:cNvPr id="12" name="Picture 11">
              <a:extLst>
                <a:ext uri="{FF2B5EF4-FFF2-40B4-BE49-F238E27FC236}">
                  <a16:creationId xmlns:a16="http://schemas.microsoft.com/office/drawing/2014/main" id="{544E9A64-307D-46FB-8B3C-9A920ED99676}"/>
                </a:ext>
              </a:extLst>
            </p:cNvPr>
            <p:cNvPicPr>
              <a:picLocks noChangeAspect="1"/>
            </p:cNvPicPr>
            <p:nvPr/>
          </p:nvPicPr>
          <p:blipFill>
            <a:blip r:embed="rId2"/>
            <a:stretch>
              <a:fillRect/>
            </a:stretch>
          </p:blipFill>
          <p:spPr>
            <a:xfrm>
              <a:off x="407367" y="5054914"/>
              <a:ext cx="2389636" cy="1715636"/>
            </a:xfrm>
            <a:prstGeom prst="rect">
              <a:avLst/>
            </a:prstGeom>
          </p:spPr>
        </p:pic>
        <p:pic>
          <p:nvPicPr>
            <p:cNvPr id="31" name="Picture 30">
              <a:extLst>
                <a:ext uri="{FF2B5EF4-FFF2-40B4-BE49-F238E27FC236}">
                  <a16:creationId xmlns:a16="http://schemas.microsoft.com/office/drawing/2014/main" id="{C3436928-BAB0-49E2-A6F0-C856AC6AA96A}"/>
                </a:ext>
              </a:extLst>
            </p:cNvPr>
            <p:cNvPicPr>
              <a:picLocks noChangeAspect="1"/>
            </p:cNvPicPr>
            <p:nvPr/>
          </p:nvPicPr>
          <p:blipFill>
            <a:blip r:embed="rId3"/>
            <a:stretch>
              <a:fillRect/>
            </a:stretch>
          </p:blipFill>
          <p:spPr>
            <a:xfrm>
              <a:off x="3363522" y="5047456"/>
              <a:ext cx="2228422" cy="1765920"/>
            </a:xfrm>
            <a:prstGeom prst="rect">
              <a:avLst/>
            </a:prstGeom>
          </p:spPr>
        </p:pic>
      </p:grpSp>
      <p:sp>
        <p:nvSpPr>
          <p:cNvPr id="11" name="Rectangle 10">
            <a:extLst>
              <a:ext uri="{FF2B5EF4-FFF2-40B4-BE49-F238E27FC236}">
                <a16:creationId xmlns:a16="http://schemas.microsoft.com/office/drawing/2014/main" id="{151945C1-17F9-4485-FA75-8E72016B2585}"/>
              </a:ext>
            </a:extLst>
          </p:cNvPr>
          <p:cNvSpPr/>
          <p:nvPr/>
        </p:nvSpPr>
        <p:spPr>
          <a:xfrm>
            <a:off x="335360" y="1524939"/>
            <a:ext cx="1018024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endParaRPr lang="en-US" sz="2000" dirty="0">
              <a:solidFill>
                <a:srgbClr val="0077AA"/>
              </a:solidFill>
              <a:latin typeface="Liberation Mono"/>
            </a:endParaRPr>
          </a:p>
        </p:txBody>
      </p:sp>
    </p:spTree>
    <p:extLst>
      <p:ext uri="{BB962C8B-B14F-4D97-AF65-F5344CB8AC3E}">
        <p14:creationId xmlns:p14="http://schemas.microsoft.com/office/powerpoint/2010/main" val="1256834162"/>
      </p:ext>
    </p:extLst>
  </p:cSld>
  <p:clrMapOvr>
    <a:masterClrMapping/>
  </p:clrMapOvr>
</p:sld>
</file>

<file path=ppt/slides/slide5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9" name="Rectangle 8"/>
          <p:cNvSpPr/>
          <p:nvPr/>
        </p:nvSpPr>
        <p:spPr>
          <a:xfrm>
            <a:off x="551384" y="1390693"/>
            <a:ext cx="11161240" cy="2542363"/>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000000"/>
                </a:solidFill>
                <a:latin typeface="Liberation Mono"/>
                <a:ea typeface="Times New Roman" panose="02020603050405020304" pitchFamily="18" charset="0"/>
              </a:rPr>
              <a:t>sal </a:t>
            </a:r>
            <a:r>
              <a:rPr lang="en-US" dirty="0">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1001</a:t>
            </a:r>
            <a:r>
              <a:rPr lang="en-IN"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dirty="0">
                <a:solidFill>
                  <a:srgbClr val="0077AA"/>
                </a:solidFill>
                <a:latin typeface="Liberation Mono"/>
              </a:rPr>
              <a:t>COUNT</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a:t>
            </a:r>
            <a:r>
              <a:rPr lang="en-US" dirty="0">
                <a:latin typeface="Liberation Mono"/>
                <a:ea typeface="Times New Roman" panose="02020603050405020304" pitchFamily="18" charset="0"/>
              </a:rPr>
              <a:t>b</a:t>
            </a:r>
            <a:r>
              <a:rPr lang="en-IN" dirty="0">
                <a:latin typeface="Liberation Mono"/>
                <a:ea typeface="Times New Roman" panose="02020603050405020304" pitchFamily="18" charset="0"/>
              </a:rPr>
              <a:t>, </a:t>
            </a:r>
            <a:r>
              <a:rPr lang="en-US" dirty="0">
                <a:latin typeface="Liberation Mono"/>
                <a:ea typeface="Times New Roman" panose="02020603050405020304" pitchFamily="18" charset="0"/>
              </a:rPr>
              <a:t>sal</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latin typeface="Liberation Mono"/>
                <a:ea typeface="Times New Roman" panose="02020603050405020304" pitchFamily="18" charset="0"/>
              </a:rPr>
              <a:t> sal +</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LENGTH</a:t>
            </a:r>
            <a:r>
              <a:rPr lang="en-IN" dirty="0">
                <a:latin typeface="Liberation Mono"/>
                <a:ea typeface="Times New Roman" panose="02020603050405020304" pitchFamily="18" charset="0"/>
              </a:rPr>
              <a:t>(ename)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COALESCE</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669900"/>
                </a:solidFill>
                <a:latin typeface="Liberation Mono"/>
              </a:rPr>
              <a:t>'Total'</a:t>
            </a:r>
            <a:r>
              <a:rPr lang="en-IN" dirty="0">
                <a:latin typeface="Liberation Mono"/>
                <a:cs typeface="Arial" panose="020B0604020202020204" pitchFamily="34" charset="0"/>
              </a:rPr>
              <a:t>)</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p:txBody>
      </p:sp>
      <p:sp>
        <p:nvSpPr>
          <p:cNvPr id="10" name="Rectangle 9"/>
          <p:cNvSpPr/>
          <p:nvPr/>
        </p:nvSpPr>
        <p:spPr>
          <a:xfrm>
            <a:off x="551384" y="931221"/>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
        <p:nvSpPr>
          <p:cNvPr id="6" name="Rectangle 5">
            <a:extLst>
              <a:ext uri="{FF2B5EF4-FFF2-40B4-BE49-F238E27FC236}">
                <a16:creationId xmlns:a16="http://schemas.microsoft.com/office/drawing/2014/main" id="{B0B890DD-1711-418F-88CF-4FBE56E5CD28}"/>
              </a:ext>
            </a:extLst>
          </p:cNvPr>
          <p:cNvSpPr/>
          <p:nvPr/>
        </p:nvSpPr>
        <p:spPr>
          <a:xfrm>
            <a:off x="530243" y="190381"/>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sp>
        <p:nvSpPr>
          <p:cNvPr id="3" name="TextBox 2">
            <a:extLst>
              <a:ext uri="{FF2B5EF4-FFF2-40B4-BE49-F238E27FC236}">
                <a16:creationId xmlns:a16="http://schemas.microsoft.com/office/drawing/2014/main" id="{4CB22E67-18E0-ECC2-D77C-31ED13F43268}"/>
              </a:ext>
            </a:extLst>
          </p:cNvPr>
          <p:cNvSpPr txBox="1"/>
          <p:nvPr/>
        </p:nvSpPr>
        <p:spPr>
          <a:xfrm>
            <a:off x="551384" y="5144141"/>
            <a:ext cx="1137726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a:t>
            </a:r>
          </a:p>
        </p:txBody>
      </p:sp>
    </p:spTree>
    <p:extLst>
      <p:ext uri="{BB962C8B-B14F-4D97-AF65-F5344CB8AC3E}">
        <p14:creationId xmlns:p14="http://schemas.microsoft.com/office/powerpoint/2010/main" val="2471028438"/>
      </p:ext>
    </p:extLst>
  </p:cSld>
  <p:clrMapOvr>
    <a:masterClrMapping/>
  </p:clrMapOvr>
</p:sld>
</file>

<file path=ppt/slides/slide5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having clause</a:t>
            </a:r>
          </a:p>
        </p:txBody>
      </p:sp>
      <p:sp>
        <p:nvSpPr>
          <p:cNvPr id="5" name="Rectangle 4">
            <a:extLst>
              <a:ext uri="{FF2B5EF4-FFF2-40B4-BE49-F238E27FC236}">
                <a16:creationId xmlns:a16="http://schemas.microsoft.com/office/drawing/2014/main" id="{218112A8-A5F5-414F-B8FB-1BCC09DB2104}"/>
              </a:ext>
            </a:extLst>
          </p:cNvPr>
          <p:cNvSpPr/>
          <p:nvPr/>
        </p:nvSpPr>
        <p:spPr>
          <a:xfrm>
            <a:off x="310455" y="4402266"/>
            <a:ext cx="11546186" cy="2369880"/>
          </a:xfrm>
          <a:prstGeom prst="rect">
            <a:avLst/>
          </a:prstGeom>
        </p:spPr>
        <p:txBody>
          <a:bodyPr wrap="square">
            <a:spAutoFit/>
          </a:bodyPr>
          <a:lstStyle/>
          <a:p>
            <a:r>
              <a:rPr lang="en-US" sz="2200" dirty="0">
                <a:solidFill>
                  <a:srgbClr val="FF0000"/>
                </a:solidFill>
                <a:latin typeface="Arial" pitchFamily="34" charset="0"/>
                <a:cs typeface="Arial" pitchFamily="34" charset="0"/>
              </a:rPr>
              <a:t>Note:</a:t>
            </a:r>
          </a:p>
          <a:p>
            <a:endParaRPr lang="en-US" sz="400" dirty="0">
              <a:solidFill>
                <a:srgbClr val="FF0000"/>
              </a:solidFill>
              <a:latin typeface="Arial" pitchFamily="34" charset="0"/>
              <a:cs typeface="Arial"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Columns given in </a:t>
            </a: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must be present in selection-list.</a:t>
            </a:r>
          </a:p>
          <a:p>
            <a:r>
              <a:rPr lang="en-US" sz="1600" dirty="0">
                <a:solidFill>
                  <a:srgbClr val="C00000"/>
                </a:solidFill>
                <a:latin typeface="Arial" panose="020B0604020202020204" pitchFamily="34" charset="0"/>
                <a:cs typeface="Arial" panose="020B0604020202020204" pitchFamily="34" charset="0"/>
              </a:rPr>
              <a:t>e.g.</a:t>
            </a: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IN"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deptno=</a:t>
            </a:r>
            <a:r>
              <a:rPr lang="en-US" dirty="0">
                <a:solidFill>
                  <a:srgbClr val="990055"/>
                </a:solidFill>
                <a:latin typeface="Liberation Mono"/>
              </a:rPr>
              <a:t>10</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 </a:t>
            </a:r>
            <a:r>
              <a:rPr lang="en-US" dirty="0">
                <a:latin typeface="Liberation Mono"/>
                <a:cs typeface="Arial" panose="020B0604020202020204" pitchFamily="34" charset="0"/>
              </a:rPr>
              <a:t>                         </a:t>
            </a:r>
            <a:r>
              <a:rPr lang="en-US" sz="2400" dirty="0">
                <a:solidFill>
                  <a:srgbClr val="FF0000"/>
                </a:solidFill>
                <a:latin typeface="Liberation Mono"/>
                <a:cs typeface="Arial" panose="020B0604020202020204" pitchFamily="34" charset="0"/>
              </a:rPr>
              <a:t> </a:t>
            </a:r>
            <a:endParaRPr lang="en-US" dirty="0">
              <a:solidFill>
                <a:srgbClr val="00B050"/>
              </a:solidFill>
              <a:latin typeface="Arial" panose="020B0604020202020204" pitchFamily="34" charset="0"/>
              <a:cs typeface="Arial" panose="020B0604020202020204" pitchFamily="34" charset="0"/>
            </a:endParaRP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deptno, </a:t>
            </a:r>
            <a:r>
              <a:rPr lang="en-US"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Arial" panose="020B0604020202020204" pitchFamily="34" charset="0"/>
              </a:rPr>
              <a:t> deptno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job=</a:t>
            </a:r>
            <a:r>
              <a:rPr lang="en-US" dirty="0">
                <a:solidFill>
                  <a:srgbClr val="669900"/>
                </a:solidFill>
                <a:latin typeface="Liberation Mono"/>
              </a:rPr>
              <a:t>'manager'</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a:t>
            </a:r>
          </a:p>
          <a:p>
            <a:endParaRPr lang="en-US" sz="400" dirty="0">
              <a:solidFill>
                <a:srgbClr val="DD4A68"/>
              </a:solidFill>
              <a:latin typeface="Liberation Mono"/>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merged with </a:t>
            </a:r>
            <a:r>
              <a:rPr lang="en-US" b="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if you do not use GROUP BY or Aggregate Functions (COUNT(), </a:t>
            </a:r>
            <a:r>
              <a:rPr lang="en-US" sz="2400" dirty="0">
                <a:solidFill>
                  <a:schemeClr val="bg1">
                    <a:lumMod val="50000"/>
                  </a:schemeClr>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772C9378-D946-4C39-9AFB-D5F4D2DAC2C9}"/>
              </a:ext>
            </a:extLst>
          </p:cNvPr>
          <p:cNvSpPr/>
          <p:nvPr/>
        </p:nvSpPr>
        <p:spPr>
          <a:xfrm>
            <a:off x="310455" y="3369766"/>
            <a:ext cx="11546185" cy="101566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MySQL</a:t>
            </a:r>
            <a:r>
              <a:rPr lang="en-IN" sz="2000" b="1" dirty="0">
                <a:latin typeface="Palatino Linotype" panose="02040502050505030304" pitchFamily="18" charset="0"/>
                <a:cs typeface="Arial" panose="020B0604020202020204" pitchFamily="34" charset="0"/>
              </a:rPr>
              <a:t> HAVING clause</a:t>
            </a:r>
            <a:r>
              <a:rPr lang="en-IN" sz="2000" dirty="0">
                <a:latin typeface="Palatino Linotype" panose="02040502050505030304" pitchFamily="18" charset="0"/>
                <a:cs typeface="Arial" panose="020B0604020202020204" pitchFamily="34" charset="0"/>
              </a:rPr>
              <a:t> is used in the SELECT statement to specify filter conditions for a group of rows. </a:t>
            </a:r>
            <a:r>
              <a:rPr lang="en-IN" sz="2000" b="1" dirty="0">
                <a:latin typeface="Palatino Linotype" panose="02040502050505030304" pitchFamily="18" charset="0"/>
                <a:cs typeface="Arial" panose="020B0604020202020204" pitchFamily="34" charset="0"/>
              </a:rPr>
              <a:t>HAVING clause</a:t>
            </a:r>
            <a:r>
              <a:rPr lang="en-IN" sz="2000" dirty="0">
                <a:latin typeface="Palatino Linotype" panose="02040502050505030304" pitchFamily="18" charset="0"/>
                <a:cs typeface="Arial" panose="020B0604020202020204" pitchFamily="34" charset="0"/>
              </a:rPr>
              <a:t> is often used with the GROUP BY clause. When using with the GROUP BY clause, we can apply a filter condition to the columns that appear in the GROUP BY clause.</a:t>
            </a:r>
            <a:endParaRPr lang="en-IN" sz="2000" b="1"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095A94DC-D398-4FA3-90A9-980A40E0123C}"/>
              </a:ext>
            </a:extLst>
          </p:cNvPr>
          <p:cNvSpPr/>
          <p:nvPr/>
        </p:nvSpPr>
        <p:spPr>
          <a:xfrm>
            <a:off x="310455" y="327169"/>
            <a:ext cx="11233248" cy="1169551"/>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WHERE</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cannot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WHERE</a:t>
            </a:r>
            <a:r>
              <a:rPr lang="en-IN" dirty="0">
                <a:solidFill>
                  <a:schemeClr val="accent2"/>
                </a:solidFill>
                <a:latin typeface="Liberation Mono"/>
              </a:rPr>
              <a:t> </a:t>
            </a:r>
            <a:r>
              <a:rPr lang="en-IN" dirty="0">
                <a:solidFill>
                  <a:srgbClr val="E75C0F"/>
                </a:solidFill>
                <a:latin typeface="Liberation Mono"/>
              </a:rPr>
              <a:t>SUM</a:t>
            </a:r>
            <a:r>
              <a:rPr lang="en-IN" dirty="0">
                <a:solidFill>
                  <a:schemeClr val="tx1">
                    <a:lumMod val="75000"/>
                    <a:lumOff val="25000"/>
                  </a:schemeClr>
                </a:solidFill>
                <a:latin typeface="Liberation Mono"/>
              </a:rPr>
              <a:t>(sal) =</a:t>
            </a:r>
            <a:r>
              <a:rPr lang="en-IN" dirty="0">
                <a:solidFill>
                  <a:srgbClr val="E75C0F"/>
                </a:solidFill>
                <a:latin typeface="Liberation Mono"/>
              </a:rPr>
              <a:t> 5000        </a:t>
            </a:r>
            <a:r>
              <a:rPr lang="en-IN" dirty="0">
                <a:solidFill>
                  <a:srgbClr val="00B050"/>
                </a:solidFill>
                <a:latin typeface="Palatino Linotype" panose="02040502050505030304" pitchFamily="18" charset="0"/>
              </a:rPr>
              <a:t>#  Error </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HAVING</a:t>
            </a:r>
            <a:r>
              <a:rPr lang="en-IN" sz="2000" dirty="0">
                <a:solidFill>
                  <a:schemeClr val="accent2"/>
                </a:solidFill>
                <a:latin typeface="Liberation Mono"/>
              </a:rPr>
              <a:t> </a:t>
            </a:r>
            <a:r>
              <a:rPr lang="en-IN" sz="2000" dirty="0">
                <a:solidFill>
                  <a:srgbClr val="E75C0F"/>
                </a:solidFill>
                <a:latin typeface="Liberation Mono"/>
              </a:rPr>
              <a:t>SUM</a:t>
            </a:r>
            <a:r>
              <a:rPr lang="en-IN" sz="2000" dirty="0">
                <a:solidFill>
                  <a:schemeClr val="tx1">
                    <a:lumMod val="75000"/>
                    <a:lumOff val="25000"/>
                  </a:schemeClr>
                </a:solidFill>
                <a:latin typeface="Liberation Mono"/>
              </a:rPr>
              <a:t>(sal) =</a:t>
            </a:r>
            <a:r>
              <a:rPr lang="en-IN" sz="2000" dirty="0">
                <a:solidFill>
                  <a:srgbClr val="E75C0F"/>
                </a:solidFill>
                <a:latin typeface="Liberation Mono"/>
              </a:rPr>
              <a:t> 5000</a:t>
            </a:r>
            <a:r>
              <a:rPr lang="en-IN" dirty="0">
                <a:solidFill>
                  <a:srgbClr val="E75C0F"/>
                </a:solidFill>
                <a:latin typeface="Liberation Mono"/>
              </a:rPr>
              <a:t>   </a:t>
            </a:r>
            <a:r>
              <a:rPr lang="en-IN" dirty="0">
                <a:solidFill>
                  <a:srgbClr val="00B050"/>
                </a:solidFill>
                <a:latin typeface="Palatino Linotype" panose="02040502050505030304" pitchFamily="18" charset="0"/>
              </a:rPr>
              <a:t>#  No Error </a:t>
            </a:r>
            <a:r>
              <a:rPr lang="en-IN" dirty="0">
                <a:solidFill>
                  <a:schemeClr val="tx1">
                    <a:lumMod val="85000"/>
                    <a:lumOff val="15000"/>
                  </a:schemeClr>
                </a:solidFill>
                <a:latin typeface="Arial" panose="020B0604020202020204" pitchFamily="34" charset="0"/>
                <a:cs typeface="Arial" panose="020B0604020202020204" pitchFamily="34" charset="0"/>
              </a:rPr>
              <a:t>]</a:t>
            </a:r>
            <a:endParaRPr lang="en-IN" dirty="0"/>
          </a:p>
        </p:txBody>
      </p:sp>
      <p:sp>
        <p:nvSpPr>
          <p:cNvPr id="7" name="TextBox 6">
            <a:extLst>
              <a:ext uri="{FF2B5EF4-FFF2-40B4-BE49-F238E27FC236}">
                <a16:creationId xmlns:a16="http://schemas.microsoft.com/office/drawing/2014/main" id="{9574D9E1-1FD4-4C10-94B1-CE182868C9BE}"/>
              </a:ext>
            </a:extLst>
          </p:cNvPr>
          <p:cNvSpPr txBox="1"/>
          <p:nvPr/>
        </p:nvSpPr>
        <p:spPr>
          <a:xfrm>
            <a:off x="8400256" y="4789021"/>
            <a:ext cx="3744416" cy="830997"/>
          </a:xfrm>
          <a:prstGeom prst="rect">
            <a:avLst/>
          </a:prstGeom>
          <a:noFill/>
        </p:spPr>
        <p:txBody>
          <a:bodyPr wrap="square">
            <a:spAutoFit/>
          </a:bodyPr>
          <a:lstStyle/>
          <a:p>
            <a:pPr marL="273050" indent="-273050"/>
            <a:r>
              <a:rPr lang="en-US" sz="2800" dirty="0">
                <a:solidFill>
                  <a:srgbClr val="FF0000"/>
                </a:solidFill>
                <a:latin typeface="Liberation Mono"/>
                <a:cs typeface="Arial" panose="020B0604020202020204" pitchFamily="34" charset="0"/>
              </a:rPr>
              <a:t>*</a:t>
            </a:r>
            <a:r>
              <a:rPr lang="en-US" sz="2400" dirty="0">
                <a:solidFill>
                  <a:srgbClr val="FF0000"/>
                </a:solidFill>
                <a:latin typeface="Liberation Mono"/>
                <a:cs typeface="Arial" panose="020B0604020202020204" pitchFamily="34" charset="0"/>
              </a:rPr>
              <a:t> </a:t>
            </a:r>
            <a:r>
              <a:rPr lang="en-US" sz="2000" dirty="0">
                <a:solidFill>
                  <a:srgbClr val="FF0000"/>
                </a:solidFill>
                <a:latin typeface="Liberation Mono"/>
                <a:cs typeface="Arial" panose="020B0604020202020204" pitchFamily="34" charset="0"/>
              </a:rPr>
              <a:t>ERROR</a:t>
            </a:r>
            <a:r>
              <a:rPr lang="en-US" sz="2000" dirty="0">
                <a:latin typeface="Liberation Mono"/>
                <a:cs typeface="Arial" panose="020B0604020202020204" pitchFamily="34" charset="0"/>
              </a:rPr>
              <a:t>: </a:t>
            </a:r>
            <a:r>
              <a:rPr lang="en-US" sz="2000" dirty="0">
                <a:solidFill>
                  <a:srgbClr val="00B050"/>
                </a:solidFill>
                <a:latin typeface="Arial" panose="020B0604020202020204" pitchFamily="34" charset="0"/>
                <a:cs typeface="Arial" panose="020B0604020202020204" pitchFamily="34" charset="0"/>
              </a:rPr>
              <a:t>Unknown column '</a:t>
            </a:r>
            <a:r>
              <a:rPr lang="en-US" sz="2000" dirty="0">
                <a:solidFill>
                  <a:schemeClr val="bg1">
                    <a:lumMod val="50000"/>
                  </a:schemeClr>
                </a:solidFill>
                <a:latin typeface="Arial" panose="020B0604020202020204" pitchFamily="34" charset="0"/>
                <a:cs typeface="Arial" panose="020B0604020202020204" pitchFamily="34" charset="0"/>
              </a:rPr>
              <a:t>. . .</a:t>
            </a:r>
            <a:r>
              <a:rPr lang="en-US" sz="2000" dirty="0">
                <a:solidFill>
                  <a:srgbClr val="00B050"/>
                </a:solidFill>
                <a:latin typeface="Arial" panose="020B0604020202020204" pitchFamily="34" charset="0"/>
                <a:cs typeface="Arial" panose="020B0604020202020204" pitchFamily="34" charset="0"/>
              </a:rPr>
              <a:t>'  in 'having clause'</a:t>
            </a:r>
            <a:endParaRPr lang="en-IN" sz="2000" dirty="0">
              <a:solidFill>
                <a:srgbClr val="00B050"/>
              </a:solidFill>
            </a:endParaRPr>
          </a:p>
        </p:txBody>
      </p:sp>
    </p:spTree>
    <p:extLst>
      <p:ext uri="{BB962C8B-B14F-4D97-AF65-F5344CB8AC3E}">
        <p14:creationId xmlns:p14="http://schemas.microsoft.com/office/powerpoint/2010/main" val="3272451836"/>
      </p:ext>
    </p:extLst>
  </p:cSld>
  <p:clrMapOvr>
    <a:masterClrMapping/>
  </p:clrMapOvr>
</p:sld>
</file>

<file path=ppt/slides/slide5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having</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3C7E95CE-C024-4B55-8CDD-2903CC905E33}"/>
              </a:ext>
            </a:extLst>
          </p:cNvPr>
          <p:cNvSpPr txBox="1"/>
          <p:nvPr/>
        </p:nvSpPr>
        <p:spPr>
          <a:xfrm>
            <a:off x="412525" y="2245451"/>
            <a:ext cx="7267650"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cs typeface="Times New Roman" panose="02020603050405020304" pitchFamily="18" charset="0"/>
              </a:rPr>
              <a:t>HAVING</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a:t>
            </a:r>
            <a:r>
              <a:rPr lang="en-US" dirty="0">
                <a:solidFill>
                  <a:srgbClr val="000000"/>
                </a:solidFill>
                <a:latin typeface="Liberation Mono"/>
                <a:ea typeface="Times New Roman" panose="02020603050405020304" pitchFamily="18" charset="0"/>
              </a:rPr>
              <a:t>;</a:t>
            </a:r>
            <a:endParaRPr lang="en-IN" dirty="0"/>
          </a:p>
        </p:txBody>
      </p:sp>
      <p:pic>
        <p:nvPicPr>
          <p:cNvPr id="41" name="Picture 40">
            <a:extLst>
              <a:ext uri="{FF2B5EF4-FFF2-40B4-BE49-F238E27FC236}">
                <a16:creationId xmlns:a16="http://schemas.microsoft.com/office/drawing/2014/main" id="{B8514AD0-E0FC-4B5A-BBB4-6A4894FE838F}"/>
              </a:ext>
            </a:extLst>
          </p:cNvPr>
          <p:cNvPicPr>
            <a:picLocks noChangeAspect="1"/>
          </p:cNvPicPr>
          <p:nvPr/>
        </p:nvPicPr>
        <p:blipFill>
          <a:blip r:embed="rId2"/>
          <a:stretch>
            <a:fillRect/>
          </a:stretch>
        </p:blipFill>
        <p:spPr>
          <a:xfrm>
            <a:off x="412525" y="4638887"/>
            <a:ext cx="3013798" cy="1429622"/>
          </a:xfrm>
          <a:prstGeom prst="rect">
            <a:avLst/>
          </a:prstGeom>
        </p:spPr>
      </p:pic>
      <p:grpSp>
        <p:nvGrpSpPr>
          <p:cNvPr id="4" name="Group 3">
            <a:extLst>
              <a:ext uri="{FF2B5EF4-FFF2-40B4-BE49-F238E27FC236}">
                <a16:creationId xmlns:a16="http://schemas.microsoft.com/office/drawing/2014/main" id="{FDBD383D-443A-44AC-AD52-C132DADD6B1F}"/>
              </a:ext>
            </a:extLst>
          </p:cNvPr>
          <p:cNvGrpSpPr/>
          <p:nvPr/>
        </p:nvGrpSpPr>
        <p:grpSpPr>
          <a:xfrm>
            <a:off x="407368" y="2852936"/>
            <a:ext cx="11490757" cy="1502780"/>
            <a:chOff x="407368" y="2852936"/>
            <a:chExt cx="11490757" cy="1502780"/>
          </a:xfrm>
        </p:grpSpPr>
        <p:grpSp>
          <p:nvGrpSpPr>
            <p:cNvPr id="8" name="Group 7">
              <a:extLst>
                <a:ext uri="{FF2B5EF4-FFF2-40B4-BE49-F238E27FC236}">
                  <a16:creationId xmlns:a16="http://schemas.microsoft.com/office/drawing/2014/main" id="{334B9988-1895-4A5C-8E02-0DC162CF923E}"/>
                </a:ext>
              </a:extLst>
            </p:cNvPr>
            <p:cNvGrpSpPr/>
            <p:nvPr/>
          </p:nvGrpSpPr>
          <p:grpSpPr>
            <a:xfrm>
              <a:off x="412526" y="2852936"/>
              <a:ext cx="11485599" cy="1502780"/>
              <a:chOff x="412526" y="3406524"/>
              <a:chExt cx="11485599" cy="1502780"/>
            </a:xfrm>
          </p:grpSpPr>
          <p:grpSp>
            <p:nvGrpSpPr>
              <p:cNvPr id="9" name="Group 8">
                <a:extLst>
                  <a:ext uri="{FF2B5EF4-FFF2-40B4-BE49-F238E27FC236}">
                    <a16:creationId xmlns:a16="http://schemas.microsoft.com/office/drawing/2014/main" id="{A58BCE00-011D-40AF-8142-FF48AEE8FF1B}"/>
                  </a:ext>
                </a:extLst>
              </p:cNvPr>
              <p:cNvGrpSpPr/>
              <p:nvPr/>
            </p:nvGrpSpPr>
            <p:grpSpPr>
              <a:xfrm>
                <a:off x="412526" y="3501008"/>
                <a:ext cx="9888845" cy="1304978"/>
                <a:chOff x="267703" y="1600839"/>
                <a:chExt cx="9888845" cy="1304978"/>
              </a:xfrm>
            </p:grpSpPr>
            <p:sp>
              <p:nvSpPr>
                <p:cNvPr id="37" name="Rectangle 36">
                  <a:extLst>
                    <a:ext uri="{FF2B5EF4-FFF2-40B4-BE49-F238E27FC236}">
                      <a16:creationId xmlns:a16="http://schemas.microsoft.com/office/drawing/2014/main" id="{51E38F3A-9D51-4985-AC89-FC38A26B9404}"/>
                    </a:ext>
                  </a:extLst>
                </p:cNvPr>
                <p:cNvSpPr/>
                <p:nvPr/>
              </p:nvSpPr>
              <p:spPr>
                <a:xfrm>
                  <a:off x="7589985"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15">
                  <a:extLst>
                    <a:ext uri="{FF2B5EF4-FFF2-40B4-BE49-F238E27FC236}">
                      <a16:creationId xmlns:a16="http://schemas.microsoft.com/office/drawing/2014/main" id="{A90793E6-9AF2-4CB9-B8DD-0217DA8C8A59}"/>
                    </a:ext>
                  </a:extLst>
                </p:cNvPr>
                <p:cNvSpPr/>
                <p:nvPr/>
              </p:nvSpPr>
              <p:spPr>
                <a:xfrm>
                  <a:off x="4935656"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2" name="Group 11">
                  <a:extLst>
                    <a:ext uri="{FF2B5EF4-FFF2-40B4-BE49-F238E27FC236}">
                      <a16:creationId xmlns:a16="http://schemas.microsoft.com/office/drawing/2014/main" id="{F22CE856-CEF4-4DBC-A8E6-5BC31D41BC14}"/>
                    </a:ext>
                  </a:extLst>
                </p:cNvPr>
                <p:cNvGrpSpPr/>
                <p:nvPr/>
              </p:nvGrpSpPr>
              <p:grpSpPr>
                <a:xfrm>
                  <a:off x="1651832" y="1600839"/>
                  <a:ext cx="8504716" cy="1296144"/>
                  <a:chOff x="31591" y="1556792"/>
                  <a:chExt cx="8504716" cy="1296144"/>
                </a:xfrm>
              </p:grpSpPr>
              <p:grpSp>
                <p:nvGrpSpPr>
                  <p:cNvPr id="18" name="Group 17">
                    <a:extLst>
                      <a:ext uri="{FF2B5EF4-FFF2-40B4-BE49-F238E27FC236}">
                        <a16:creationId xmlns:a16="http://schemas.microsoft.com/office/drawing/2014/main" id="{233832D2-AE9E-4CC7-9743-16D3B0E0C597}"/>
                      </a:ext>
                    </a:extLst>
                  </p:cNvPr>
                  <p:cNvGrpSpPr/>
                  <p:nvPr/>
                </p:nvGrpSpPr>
                <p:grpSpPr>
                  <a:xfrm>
                    <a:off x="669977" y="1556792"/>
                    <a:ext cx="7208035" cy="1296144"/>
                    <a:chOff x="669977" y="1556792"/>
                    <a:chExt cx="7208035" cy="1296144"/>
                  </a:xfrm>
                </p:grpSpPr>
                <p:sp>
                  <p:nvSpPr>
                    <p:cNvPr id="22" name="Rectangle 21">
                      <a:extLst>
                        <a:ext uri="{FF2B5EF4-FFF2-40B4-BE49-F238E27FC236}">
                          <a16:creationId xmlns:a16="http://schemas.microsoft.com/office/drawing/2014/main" id="{EF5F7036-5BFD-4127-B726-0C3049D6C119}"/>
                        </a:ext>
                      </a:extLst>
                    </p:cNvPr>
                    <p:cNvSpPr/>
                    <p:nvPr/>
                  </p:nvSpPr>
                  <p:spPr>
                    <a:xfrm>
                      <a:off x="669977" y="1556792"/>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42C69D40-8EF9-4584-A465-6E06AF88DECA}"/>
                        </a:ext>
                      </a:extLst>
                    </p:cNvPr>
                    <p:cNvSpPr txBox="1"/>
                    <p:nvPr/>
                  </p:nvSpPr>
                  <p:spPr>
                    <a:xfrm>
                      <a:off x="704660" y="1592660"/>
                      <a:ext cx="1908268"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4" name="TextBox 23">
                      <a:extLst>
                        <a:ext uri="{FF2B5EF4-FFF2-40B4-BE49-F238E27FC236}">
                          <a16:creationId xmlns:a16="http://schemas.microsoft.com/office/drawing/2014/main" id="{45F02DD6-D7E2-443A-9287-85D81AA8D288}"/>
                        </a:ext>
                      </a:extLst>
                    </p:cNvPr>
                    <p:cNvSpPr txBox="1"/>
                    <p:nvPr/>
                  </p:nvSpPr>
                  <p:spPr>
                    <a:xfrm>
                      <a:off x="702999" y="2094630"/>
                      <a:ext cx="185856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1" name="TextBox 30">
                      <a:extLst>
                        <a:ext uri="{FF2B5EF4-FFF2-40B4-BE49-F238E27FC236}">
                          <a16:creationId xmlns:a16="http://schemas.microsoft.com/office/drawing/2014/main" id="{CB6A347F-6140-44C7-8B22-B3A2B4A5B90E}"/>
                        </a:ext>
                      </a:extLst>
                    </p:cNvPr>
                    <p:cNvSpPr txBox="1"/>
                    <p:nvPr/>
                  </p:nvSpPr>
                  <p:spPr>
                    <a:xfrm>
                      <a:off x="3338293" y="2094630"/>
                      <a:ext cx="1850495" cy="400110"/>
                    </a:xfrm>
                    <a:prstGeom prst="rect">
                      <a:avLst/>
                    </a:prstGeom>
                    <a:noFill/>
                  </p:spPr>
                  <p:txBody>
                    <a:bodyPr wrap="square">
                      <a:spAutoFit/>
                    </a:bodyPr>
                    <a:lstStyle/>
                    <a:p>
                      <a:pPr algn="ct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 &gt; 2</a:t>
                      </a:r>
                      <a:endParaRPr lang="en-IN" sz="2000" dirty="0"/>
                    </a:p>
                  </p:txBody>
                </p:sp>
                <p:sp>
                  <p:nvSpPr>
                    <p:cNvPr id="40" name="TextBox 39">
                      <a:extLst>
                        <a:ext uri="{FF2B5EF4-FFF2-40B4-BE49-F238E27FC236}">
                          <a16:creationId xmlns:a16="http://schemas.microsoft.com/office/drawing/2014/main" id="{3AE58C0A-5650-4935-9A93-411B8BD2C982}"/>
                        </a:ext>
                      </a:extLst>
                    </p:cNvPr>
                    <p:cNvSpPr txBox="1"/>
                    <p:nvPr/>
                  </p:nvSpPr>
                  <p:spPr>
                    <a:xfrm>
                      <a:off x="6010246" y="2094630"/>
                      <a:ext cx="186776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a:t>
                      </a:r>
                      <a:endParaRPr lang="en-IN" sz="2000" dirty="0"/>
                    </a:p>
                  </p:txBody>
                </p:sp>
              </p:grpSp>
              <p:sp>
                <p:nvSpPr>
                  <p:cNvPr id="19" name="Arrow: Right 18">
                    <a:extLst>
                      <a:ext uri="{FF2B5EF4-FFF2-40B4-BE49-F238E27FC236}">
                        <a16:creationId xmlns:a16="http://schemas.microsoft.com/office/drawing/2014/main" id="{6A4C86A0-02B0-4B87-AC75-D7F99B51E7F7}"/>
                      </a:ext>
                    </a:extLst>
                  </p:cNvPr>
                  <p:cNvSpPr/>
                  <p:nvPr/>
                </p:nvSpPr>
                <p:spPr>
                  <a:xfrm>
                    <a:off x="2655537"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Arrow: Right 19">
                    <a:extLst>
                      <a:ext uri="{FF2B5EF4-FFF2-40B4-BE49-F238E27FC236}">
                        <a16:creationId xmlns:a16="http://schemas.microsoft.com/office/drawing/2014/main" id="{5668DB40-5846-4FEC-A8E0-E81D21B38906}"/>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6BB19EFD-665A-4452-AE96-9C0574F88502}"/>
                      </a:ext>
                    </a:extLst>
                  </p:cNvPr>
                  <p:cNvSpPr/>
                  <p:nvPr/>
                </p:nvSpPr>
                <p:spPr>
                  <a:xfrm>
                    <a:off x="792990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3744D43E-8C2C-4008-8432-E02F828E5F71}"/>
                      </a:ext>
                    </a:extLst>
                  </p:cNvPr>
                  <p:cNvSpPr/>
                  <p:nvPr/>
                </p:nvSpPr>
                <p:spPr>
                  <a:xfrm>
                    <a:off x="530986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Flowchart: Magnetic Disk 12">
                  <a:extLst>
                    <a:ext uri="{FF2B5EF4-FFF2-40B4-BE49-F238E27FC236}">
                      <a16:creationId xmlns:a16="http://schemas.microsoft.com/office/drawing/2014/main" id="{BF62D7F2-0E83-4FA2-B14A-EF3EA2CDBCE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C987C3FB-A619-44D4-8439-A4EDB1E99F0E}"/>
                    </a:ext>
                  </a:extLst>
                </p:cNvPr>
                <p:cNvSpPr txBox="1"/>
                <p:nvPr/>
              </p:nvSpPr>
              <p:spPr>
                <a:xfrm>
                  <a:off x="4993429" y="1672970"/>
                  <a:ext cx="1815600" cy="584775"/>
                </a:xfrm>
                <a:prstGeom prst="rect">
                  <a:avLst/>
                </a:prstGeom>
                <a:noFill/>
              </p:spPr>
              <p:txBody>
                <a:bodyPr wrap="square">
                  <a:spAutoFit/>
                </a:bodyPr>
                <a:lstStyle/>
                <a:p>
                  <a:pPr algn="ctr"/>
                  <a:r>
                    <a:rPr lang="en-IN" sz="3200" dirty="0">
                      <a:latin typeface="Liberation Mono"/>
                    </a:rPr>
                    <a:t>HAVING</a:t>
                  </a:r>
                  <a:endParaRPr lang="en-IN" sz="3200" dirty="0"/>
                </a:p>
              </p:txBody>
            </p:sp>
            <p:sp>
              <p:nvSpPr>
                <p:cNvPr id="39" name="TextBox 38">
                  <a:extLst>
                    <a:ext uri="{FF2B5EF4-FFF2-40B4-BE49-F238E27FC236}">
                      <a16:creationId xmlns:a16="http://schemas.microsoft.com/office/drawing/2014/main" id="{8231A59D-C0DC-4BCA-8DAE-30A0A9F2C2DA}"/>
                    </a:ext>
                  </a:extLst>
                </p:cNvPr>
                <p:cNvSpPr txBox="1"/>
                <p:nvPr/>
              </p:nvSpPr>
              <p:spPr>
                <a:xfrm>
                  <a:off x="7638866" y="1672970"/>
                  <a:ext cx="1817301"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10" name="Oval 9">
                <a:extLst>
                  <a:ext uri="{FF2B5EF4-FFF2-40B4-BE49-F238E27FC236}">
                    <a16:creationId xmlns:a16="http://schemas.microsoft.com/office/drawing/2014/main" id="{CDF0265D-6276-43C6-ACFE-1ADD7EF95A31}"/>
                  </a:ext>
                </a:extLst>
              </p:cNvPr>
              <p:cNvSpPr/>
              <p:nvPr/>
            </p:nvSpPr>
            <p:spPr>
              <a:xfrm>
                <a:off x="1039534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711A954-E805-4816-9698-E20FEF9F15EA}"/>
                  </a:ext>
                </a:extLst>
              </p:cNvPr>
              <p:cNvSpPr txBox="1"/>
              <p:nvPr/>
            </p:nvSpPr>
            <p:spPr>
              <a:xfrm>
                <a:off x="10515600" y="3944785"/>
                <a:ext cx="1263874"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 name="TextBox 1">
              <a:extLst>
                <a:ext uri="{FF2B5EF4-FFF2-40B4-BE49-F238E27FC236}">
                  <a16:creationId xmlns:a16="http://schemas.microsoft.com/office/drawing/2014/main" id="{F104FBC2-1A4B-4598-99DA-7D52C868BD82}"/>
                </a:ext>
              </a:extLst>
            </p:cNvPr>
            <p:cNvSpPr txBox="1"/>
            <p:nvPr/>
          </p:nvSpPr>
          <p:spPr>
            <a:xfrm>
              <a:off x="407368" y="288690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 name="TextBox 2">
              <a:extLst>
                <a:ext uri="{FF2B5EF4-FFF2-40B4-BE49-F238E27FC236}">
                  <a16:creationId xmlns:a16="http://schemas.microsoft.com/office/drawing/2014/main" id="{D6D1E6E4-A3B7-470B-BDCC-078D583F39BF}"/>
                </a:ext>
              </a:extLst>
            </p:cNvPr>
            <p:cNvSpPr txBox="1"/>
            <p:nvPr/>
          </p:nvSpPr>
          <p:spPr>
            <a:xfrm>
              <a:off x="407368" y="3708026"/>
              <a:ext cx="1301302"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14" name="Rectangle 13">
            <a:extLst>
              <a:ext uri="{FF2B5EF4-FFF2-40B4-BE49-F238E27FC236}">
                <a16:creationId xmlns:a16="http://schemas.microsoft.com/office/drawing/2014/main" id="{70DA7E2E-51CB-B9F2-E718-A2FC64A7353E}"/>
              </a:ext>
            </a:extLst>
          </p:cNvPr>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Tree>
    <p:extLst>
      <p:ext uri="{BB962C8B-B14F-4D97-AF65-F5344CB8AC3E}">
        <p14:creationId xmlns:p14="http://schemas.microsoft.com/office/powerpoint/2010/main" val="1407343680"/>
      </p:ext>
    </p:extLst>
  </p:cSld>
  <p:clrMapOvr>
    <a:masterClrMapping/>
  </p:clrMapOvr>
</p:sld>
</file>

<file path=ppt/slides/slide5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having example </a:t>
            </a:r>
            <a:endParaRPr lang="en-IN" sz="3200" i="1" dirty="0">
              <a:solidFill>
                <a:srgbClr val="FF9900"/>
              </a:solidFill>
              <a:latin typeface="Arial" pitchFamily="34" charset="0"/>
              <a:cs typeface="Arial" pitchFamily="34" charset="0"/>
            </a:endParaRPr>
          </a:p>
        </p:txBody>
      </p:sp>
      <p:sp>
        <p:nvSpPr>
          <p:cNvPr id="6" name="Rectangle 5"/>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dirty="0">
                <a:latin typeface="Liberation Mono"/>
              </a:rPr>
              <a:t>,</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
        <p:nvSpPr>
          <p:cNvPr id="7" name="TextBox 6">
            <a:extLst>
              <a:ext uri="{FF2B5EF4-FFF2-40B4-BE49-F238E27FC236}">
                <a16:creationId xmlns:a16="http://schemas.microsoft.com/office/drawing/2014/main" id="{3C7E95CE-C024-4B55-8CDD-2903CC905E33}"/>
              </a:ext>
            </a:extLst>
          </p:cNvPr>
          <p:cNvSpPr txBox="1"/>
          <p:nvPr/>
        </p:nvSpPr>
        <p:spPr>
          <a:xfrm>
            <a:off x="412524" y="2350621"/>
            <a:ext cx="1130009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descrip,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a:t>
            </a:r>
            <a:r>
              <a:rPr lang="en-US" dirty="0">
                <a:latin typeface="Liberation Mono"/>
              </a:rPr>
              <a:t> </a:t>
            </a:r>
            <a:r>
              <a:rPr lang="en-US" dirty="0">
                <a:solidFill>
                  <a:srgbClr val="0077AA"/>
                </a:solidFill>
                <a:latin typeface="Liberation Mono"/>
              </a:rPr>
              <a:t>FROM</a:t>
            </a:r>
            <a:r>
              <a:rPr lang="en-US" dirty="0">
                <a:latin typeface="Liberation Mono"/>
              </a:rPr>
              <a:t> product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descrip </a:t>
            </a:r>
            <a:r>
              <a:rPr lang="en-US" dirty="0">
                <a:solidFill>
                  <a:srgbClr val="0077AA"/>
                </a:solidFill>
                <a:latin typeface="Liberation Mono"/>
              </a:rPr>
              <a:t>HAVING</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0077AA"/>
                </a:solidFill>
                <a:latin typeface="Liberation Mono"/>
                <a:cs typeface="Times New Roman" panose="02020603050405020304" pitchFamily="18" charset="0"/>
              </a:rPr>
              <a:t>DISTINCT</a:t>
            </a:r>
            <a:r>
              <a:rPr lang="en-US" dirty="0">
                <a:latin typeface="Liberation Mono"/>
              </a:rPr>
              <a:t> price)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a:t>
            </a:r>
            <a:r>
              <a:rPr lang="en-US" dirty="0">
                <a:latin typeface="Liberation Mono"/>
              </a:rPr>
              <a:t>;   </a:t>
            </a:r>
            <a:r>
              <a:rPr lang="en-US" dirty="0">
                <a:solidFill>
                  <a:srgbClr val="00B050"/>
                </a:solidFill>
                <a:latin typeface="Liberation Mono"/>
              </a:rPr>
              <a:t>// </a:t>
            </a:r>
            <a:r>
              <a:rPr lang="en-US" i="0" dirty="0">
                <a:solidFill>
                  <a:srgbClr val="00B050"/>
                </a:solidFill>
                <a:effectLst/>
                <a:latin typeface="Liberation Mono"/>
              </a:rPr>
              <a:t>retrieves products with the same name but different prices.</a:t>
            </a:r>
          </a:p>
        </p:txBody>
      </p:sp>
    </p:spTree>
    <p:extLst>
      <p:ext uri="{BB962C8B-B14F-4D97-AF65-F5344CB8AC3E}">
        <p14:creationId xmlns:p14="http://schemas.microsoft.com/office/powerpoint/2010/main" val="4201404727"/>
      </p:ext>
    </p:extLst>
  </p:cSld>
  <p:clrMapOvr>
    <a:masterClrMapping/>
  </p:clrMapOvr>
</p:sld>
</file>

<file path=ppt/slides/slide5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752600" y="2362200"/>
            <a:ext cx="86868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difference between where and having clause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7369"/>
            <a:ext cx="11521280" cy="1323439"/>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When WHERE and HAVING clause are used together in a SELECT query with aggregate function,  WHERE clause is applied first on individual rows and only rows which pass the condition is included for creating groups. Once group is created, HAVING clause is used to filter groups based upon condition specified.</a:t>
            </a:r>
          </a:p>
        </p:txBody>
      </p:sp>
    </p:spTree>
    <p:extLst>
      <p:ext uri="{BB962C8B-B14F-4D97-AF65-F5344CB8AC3E}">
        <p14:creationId xmlns:p14="http://schemas.microsoft.com/office/powerpoint/2010/main" val="1633759441"/>
      </p:ext>
    </p:extLst>
  </p:cSld>
  <p:clrMapOvr>
    <a:masterClrMapping/>
  </p:clrMapOvr>
</p:sld>
</file>

<file path=ppt/slides/slide5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and having clause</a:t>
            </a:r>
            <a:endParaRPr lang="en-IN" sz="3200" i="1" dirty="0">
              <a:solidFill>
                <a:srgbClr val="FF9900"/>
              </a:solidFill>
              <a:latin typeface="Arial" pitchFamily="34" charset="0"/>
              <a:cs typeface="Arial" pitchFamily="34" charset="0"/>
            </a:endParaRPr>
          </a:p>
        </p:txBody>
      </p:sp>
      <p:sp>
        <p:nvSpPr>
          <p:cNvPr id="4" name="Rectangle 3"/>
          <p:cNvSpPr/>
          <p:nvPr/>
        </p:nvSpPr>
        <p:spPr>
          <a:xfrm>
            <a:off x="622598" y="5694347"/>
            <a:ext cx="10945216"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The </a:t>
            </a:r>
            <a:r>
              <a:rPr lang="en-US" dirty="0">
                <a:solidFill>
                  <a:srgbClr val="0070C0"/>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itchFamily="34" charset="0"/>
                <a:cs typeface="Arial" pitchFamily="34" charset="0"/>
              </a:rPr>
              <a:t> clause acts as a pre-filter where as </a:t>
            </a:r>
            <a:r>
              <a:rPr lang="en-US" dirty="0">
                <a:solidFill>
                  <a:srgbClr val="0070C0"/>
                </a:solidFill>
                <a:latin typeface="Arial" panose="020B0604020202020204" pitchFamily="34" charset="0"/>
                <a:cs typeface="Arial" panose="020B0604020202020204" pitchFamily="34" charset="0"/>
              </a:rPr>
              <a:t>HAVING</a:t>
            </a:r>
            <a:r>
              <a:rPr lang="en-US" dirty="0">
                <a:solidFill>
                  <a:schemeClr val="tx1">
                    <a:lumMod val="85000"/>
                    <a:lumOff val="15000"/>
                  </a:schemeClr>
                </a:solidFill>
                <a:latin typeface="Arial" pitchFamily="34" charset="0"/>
                <a:cs typeface="Arial" pitchFamily="34" charset="0"/>
              </a:rPr>
              <a:t> clause acts as a post-filter.</a:t>
            </a:r>
          </a:p>
        </p:txBody>
      </p:sp>
      <p:sp>
        <p:nvSpPr>
          <p:cNvPr id="9" name="Rectangle 8">
            <a:extLst>
              <a:ext uri="{FF2B5EF4-FFF2-40B4-BE49-F238E27FC236}">
                <a16:creationId xmlns:a16="http://schemas.microsoft.com/office/drawing/2014/main" id="{CB3FBF1C-D6B5-42E3-982F-33A1D18FCA92}"/>
              </a:ext>
            </a:extLst>
          </p:cNvPr>
          <p:cNvSpPr/>
          <p:nvPr/>
        </p:nvSpPr>
        <p:spPr>
          <a:xfrm>
            <a:off x="335360" y="1268760"/>
            <a:ext cx="11521280" cy="360098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b="1" i="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can be used with -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and </a:t>
            </a:r>
            <a:r>
              <a:rPr lang="en-IN" dirty="0">
                <a:solidFill>
                  <a:srgbClr val="0070C0"/>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statements,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can only be used with the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statement.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filters rows </a:t>
            </a:r>
            <a:r>
              <a:rPr lang="en-IN" dirty="0">
                <a:solidFill>
                  <a:srgbClr val="FF0000"/>
                </a:solidFill>
                <a:latin typeface="Arial" panose="020B0604020202020204" pitchFamily="34" charset="0"/>
                <a:cs typeface="Arial" panose="020B0604020202020204" pitchFamily="34" charset="0"/>
              </a:rPr>
              <a:t>before</a:t>
            </a:r>
            <a:r>
              <a:rPr lang="en-IN" dirty="0">
                <a:latin typeface="Arial" panose="020B0604020202020204" pitchFamily="34" charset="0"/>
                <a:cs typeface="Arial" panose="020B0604020202020204" pitchFamily="34" charset="0"/>
              </a:rPr>
              <a:t> aggregation (GROUPING),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filters groups, </a:t>
            </a:r>
            <a:r>
              <a:rPr lang="en-IN" dirty="0">
                <a:solidFill>
                  <a:srgbClr val="FF0000"/>
                </a:solidFill>
                <a:latin typeface="Arial" panose="020B0604020202020204" pitchFamily="34" charset="0"/>
                <a:cs typeface="Arial" panose="020B0604020202020204" pitchFamily="34" charset="0"/>
              </a:rPr>
              <a:t>after</a:t>
            </a:r>
            <a:r>
              <a:rPr lang="en-IN" dirty="0">
                <a:latin typeface="Arial" panose="020B0604020202020204" pitchFamily="34" charset="0"/>
                <a:cs typeface="Arial" panose="020B0604020202020204" pitchFamily="34" charset="0"/>
              </a:rPr>
              <a:t> the aggregations are performed.</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before</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a:t>
            </a:r>
            <a:r>
              <a:rPr lang="en-US" dirty="0">
                <a:latin typeface="Arial" panose="020B0604020202020204" pitchFamily="34" charset="0"/>
                <a:cs typeface="Arial" panose="020B0604020202020204" pitchFamily="34" charset="0"/>
              </a:rPr>
              <a:t> </a:t>
            </a:r>
            <a:r>
              <a:rPr lang="en-US" dirty="0">
                <a:solidFill>
                  <a:srgbClr val="0070C0"/>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clause if required and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after</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 BY’ </a:t>
            </a:r>
            <a:r>
              <a:rPr lang="en-US" dirty="0">
                <a:latin typeface="Arial" panose="020B0604020202020204" pitchFamily="34" charset="0"/>
                <a:cs typeface="Arial" panose="020B0604020202020204" pitchFamily="34" charset="0"/>
              </a:rPr>
              <a:t>clause.</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Aggregate functions (</a:t>
            </a:r>
            <a:r>
              <a:rPr lang="en-IN" dirty="0">
                <a:solidFill>
                  <a:srgbClr val="DD4A68"/>
                </a:solidFill>
                <a:latin typeface="Arial" panose="020B0604020202020204" pitchFamily="34" charset="0"/>
                <a:cs typeface="Arial" panose="020B0604020202020204" pitchFamily="34" charset="0"/>
              </a:rPr>
              <a:t>SUM</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MIN</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MAX</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AVG</a:t>
            </a:r>
            <a:r>
              <a:rPr lang="en-IN" dirty="0">
                <a:latin typeface="Arial" panose="020B0604020202020204" pitchFamily="34" charset="0"/>
                <a:cs typeface="Arial" panose="020B0604020202020204" pitchFamily="34" charset="0"/>
              </a:rPr>
              <a:t> and </a:t>
            </a:r>
            <a:r>
              <a:rPr lang="en-IN" dirty="0">
                <a:solidFill>
                  <a:srgbClr val="DD4A68"/>
                </a:solidFill>
                <a:latin typeface="Arial" panose="020B0604020202020204" pitchFamily="34" charset="0"/>
                <a:cs typeface="Arial" panose="020B0604020202020204" pitchFamily="34" charset="0"/>
              </a:rPr>
              <a:t>COUNT</a:t>
            </a:r>
            <a:r>
              <a:rPr lang="en-IN" dirty="0">
                <a:latin typeface="Arial" panose="020B0604020202020204" pitchFamily="34" charset="0"/>
                <a:cs typeface="Arial" panose="020B0604020202020204" pitchFamily="34" charset="0"/>
              </a:rPr>
              <a:t>) cannot be used in the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unless it is in a sub query contained in a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whereas, aggregate functions can be used in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cxnSp>
        <p:nvCxnSpPr>
          <p:cNvPr id="10" name="Straight Connector 9">
            <a:extLst>
              <a:ext uri="{FF2B5EF4-FFF2-40B4-BE49-F238E27FC236}">
                <a16:creationId xmlns:a16="http://schemas.microsoft.com/office/drawing/2014/main" id="{B48D64FB-84C6-44B8-8EAB-58345CA4C247}"/>
              </a:ext>
            </a:extLst>
          </p:cNvPr>
          <p:cNvCxnSpPr>
            <a:cxnSpLocks/>
          </p:cNvCxnSpPr>
          <p:nvPr/>
        </p:nvCxnSpPr>
        <p:spPr>
          <a:xfrm>
            <a:off x="550590" y="5157192"/>
            <a:ext cx="113060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5660840"/>
      </p:ext>
    </p:extLst>
  </p:cSld>
  <p:clrMapOvr>
    <a:masterClrMapping/>
  </p:clrMapOvr>
</p:sld>
</file>

<file path=ppt/slides/slide5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vs having</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3059452630"/>
              </p:ext>
            </p:extLst>
          </p:nvPr>
        </p:nvGraphicFramePr>
        <p:xfrm>
          <a:off x="119336" y="1432338"/>
          <a:ext cx="11953328" cy="3954590"/>
        </p:xfrm>
        <a:graphic>
          <a:graphicData uri="http://schemas.openxmlformats.org/drawingml/2006/table">
            <a:tbl>
              <a:tblPr>
                <a:tableStyleId>{BDBED569-4797-4DF1-A0F4-6AAB3CD982D8}</a:tableStyleId>
              </a:tblPr>
              <a:tblGrid>
                <a:gridCol w="5933039">
                  <a:extLst>
                    <a:ext uri="{9D8B030D-6E8A-4147-A177-3AD203B41FA5}">
                      <a16:colId xmlns:a16="http://schemas.microsoft.com/office/drawing/2014/main" val="422065344"/>
                    </a:ext>
                  </a:extLst>
                </a:gridCol>
                <a:gridCol w="602028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WHERE</a:t>
                      </a:r>
                    </a:p>
                  </a:txBody>
                  <a:tcPr marL="53604" marR="53604" marT="53604" marB="53604" anchor="ctr"/>
                </a:tc>
                <a:tc>
                  <a:txBody>
                    <a:bodyPr/>
                    <a:lstStyle/>
                    <a:p>
                      <a:pPr algn="ctr" fontAlgn="ctr"/>
                      <a:r>
                        <a:rPr lang="en-IN" sz="1800" b="1" cap="all" dirty="0">
                          <a:effectLst/>
                          <a:latin typeface="Palatino Linotype" panose="02040502050505030304" pitchFamily="18" charset="0"/>
                        </a:rPr>
                        <a:t>HAVING</a:t>
                      </a:r>
                    </a:p>
                  </a:txBody>
                  <a:tcPr marL="53604" marR="53604" marT="53604" marB="53604" anchor="ctr"/>
                </a:tc>
                <a:extLst>
                  <a:ext uri="{0D108BD9-81ED-4DB2-BD59-A6C34878D82A}">
                    <a16:rowId xmlns:a16="http://schemas.microsoft.com/office/drawing/2014/main" val="2493218137"/>
                  </a:ext>
                </a:extLst>
              </a:tr>
              <a:tr h="381600">
                <a:tc>
                  <a:txBody>
                    <a:bodyPr/>
                    <a:lstStyle/>
                    <a:p>
                      <a:pPr algn="l" fontAlgn="t"/>
                      <a:r>
                        <a:rPr lang="en-IN" sz="1800" dirty="0">
                          <a:effectLst/>
                          <a:latin typeface="Palatino Linotype" panose="02040502050505030304" pitchFamily="18" charset="0"/>
                        </a:rPr>
                        <a:t>Implemented in row operations.</a:t>
                      </a:r>
                    </a:p>
                  </a:txBody>
                  <a:tcPr marL="53604" marR="53604" marT="53604" marB="53604"/>
                </a:tc>
                <a:tc>
                  <a:txBody>
                    <a:bodyPr/>
                    <a:lstStyle/>
                    <a:p>
                      <a:pPr algn="l" fontAlgn="t"/>
                      <a:r>
                        <a:rPr lang="en-IN" sz="1800" dirty="0">
                          <a:effectLst/>
                          <a:latin typeface="Palatino Linotype" panose="02040502050505030304" pitchFamily="18" charset="0"/>
                        </a:rPr>
                        <a:t>Implemented in column operations.</a:t>
                      </a:r>
                    </a:p>
                  </a:txBody>
                  <a:tcPr marL="53604" marR="53604" marT="53604" marB="53604"/>
                </a:tc>
                <a:extLst>
                  <a:ext uri="{0D108BD9-81ED-4DB2-BD59-A6C34878D82A}">
                    <a16:rowId xmlns:a16="http://schemas.microsoft.com/office/drawing/2014/main" val="853356393"/>
                  </a:ext>
                </a:extLst>
              </a:tr>
              <a:tr h="381600">
                <a:tc>
                  <a:txBody>
                    <a:bodyPr/>
                    <a:lstStyle/>
                    <a:p>
                      <a:pPr algn="l" fontAlgn="t"/>
                      <a:r>
                        <a:rPr lang="en-IN" sz="1800" dirty="0">
                          <a:effectLst/>
                          <a:latin typeface="Palatino Linotype" panose="02040502050505030304" pitchFamily="18" charset="0"/>
                        </a:rPr>
                        <a:t>Single row</a:t>
                      </a:r>
                    </a:p>
                  </a:txBody>
                  <a:tcPr marL="53604" marR="53604" marT="53604" marB="53604"/>
                </a:tc>
                <a:tc>
                  <a:txBody>
                    <a:bodyPr/>
                    <a:lstStyle/>
                    <a:p>
                      <a:pPr algn="l" fontAlgn="t"/>
                      <a:r>
                        <a:rPr lang="en-IN" sz="1800" dirty="0">
                          <a:effectLst/>
                          <a:latin typeface="Palatino Linotype" panose="02040502050505030304" pitchFamily="18" charset="0"/>
                        </a:rPr>
                        <a:t>Summarized row or group or rows.</a:t>
                      </a:r>
                    </a:p>
                  </a:txBody>
                  <a:tcPr marL="53604" marR="53604" marT="53604" marB="53604"/>
                </a:tc>
                <a:extLst>
                  <a:ext uri="{0D108BD9-81ED-4DB2-BD59-A6C34878D82A}">
                    <a16:rowId xmlns:a16="http://schemas.microsoft.com/office/drawing/2014/main" val="588869355"/>
                  </a:ext>
                </a:extLst>
              </a:tr>
              <a:tr h="750518">
                <a:tc>
                  <a:txBody>
                    <a:bodyPr/>
                    <a:lstStyle/>
                    <a:p>
                      <a:pPr algn="l" fontAlgn="t"/>
                      <a:r>
                        <a:rPr lang="en-US" sz="1800" dirty="0">
                          <a:effectLst/>
                          <a:latin typeface="Palatino Linotype" panose="02040502050505030304" pitchFamily="18" charset="0"/>
                        </a:rPr>
                        <a:t>It only fetches the data from particular rows or table according to the condition.</a:t>
                      </a:r>
                    </a:p>
                  </a:txBody>
                  <a:tcPr marL="53604" marR="53604" marT="53604" marB="53604"/>
                </a:tc>
                <a:tc>
                  <a:txBody>
                    <a:bodyPr/>
                    <a:lstStyle/>
                    <a:p>
                      <a:pPr algn="l" fontAlgn="t"/>
                      <a:r>
                        <a:rPr lang="en-US" sz="1800" dirty="0">
                          <a:effectLst/>
                          <a:latin typeface="Palatino Linotype" panose="02040502050505030304" pitchFamily="18" charset="0"/>
                        </a:rPr>
                        <a:t>It only fetches the data from grouped data according to the condition.</a:t>
                      </a:r>
                    </a:p>
                  </a:txBody>
                  <a:tcPr marL="53604" marR="53604" marT="53604" marB="53604"/>
                </a:tc>
                <a:extLst>
                  <a:ext uri="{0D108BD9-81ED-4DB2-BD59-A6C34878D82A}">
                    <a16:rowId xmlns:a16="http://schemas.microsoft.com/office/drawing/2014/main" val="2820917763"/>
                  </a:ext>
                </a:extLst>
              </a:tr>
              <a:tr h="36000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IN" sz="1800" b="0" dirty="0">
                          <a:effectLst/>
                          <a:latin typeface="Palatino Linotype" panose="02040502050505030304" pitchFamily="18" charset="0"/>
                        </a:rPr>
                        <a:t>Aggregate Functions </a:t>
                      </a:r>
                      <a:r>
                        <a:rPr lang="en-IN" sz="1800" b="1" dirty="0">
                          <a:effectLst/>
                          <a:latin typeface="Palatino Linotype" panose="02040502050505030304" pitchFamily="18" charset="0"/>
                        </a:rPr>
                        <a:t>c</a:t>
                      </a:r>
                      <a:r>
                        <a:rPr lang="en-US" sz="1800" dirty="0">
                          <a:effectLst/>
                          <a:latin typeface="Palatino Linotype" panose="02040502050505030304" pitchFamily="18" charset="0"/>
                        </a:rPr>
                        <a:t>cannot appear in WHERE clause.</a:t>
                      </a:r>
                    </a:p>
                  </a:txBody>
                  <a:tcPr marL="53604" marR="53604" marT="53604" marB="53604"/>
                </a:tc>
                <a:tc>
                  <a:txBody>
                    <a:bodyPr/>
                    <a:lstStyle/>
                    <a:p>
                      <a:pPr algn="l" fontAlgn="t"/>
                      <a:r>
                        <a:rPr lang="en-IN" sz="1800" b="0" dirty="0">
                          <a:effectLst/>
                          <a:latin typeface="Palatino Linotype" panose="02040502050505030304" pitchFamily="18" charset="0"/>
                        </a:rPr>
                        <a:t>Aggregate Functions </a:t>
                      </a:r>
                      <a:r>
                        <a:rPr lang="en-US" sz="1800" dirty="0">
                          <a:effectLst/>
                          <a:latin typeface="Palatino Linotype" panose="02040502050505030304" pitchFamily="18" charset="0"/>
                        </a:rPr>
                        <a:t>Can appear in HAVING clause.</a:t>
                      </a:r>
                    </a:p>
                  </a:txBody>
                  <a:tcPr marL="53604" marR="53604" marT="53604" marB="53604"/>
                </a:tc>
                <a:extLst>
                  <a:ext uri="{0D108BD9-81ED-4DB2-BD59-A6C34878D82A}">
                    <a16:rowId xmlns:a16="http://schemas.microsoft.com/office/drawing/2014/main" val="3579491206"/>
                  </a:ext>
                </a:extLst>
              </a:tr>
              <a:tr h="725585">
                <a:tc>
                  <a:txBody>
                    <a:bodyPr/>
                    <a:lstStyle/>
                    <a:p>
                      <a:pPr algn="l" fontAlgn="t"/>
                      <a:r>
                        <a:rPr lang="en-US" sz="1800" dirty="0">
                          <a:effectLst/>
                          <a:latin typeface="Palatino Linotype" panose="02040502050505030304" pitchFamily="18" charset="0"/>
                        </a:rPr>
                        <a:t>Used with SELECT and other statements such as UPDATE, DELETE or either one of them.</a:t>
                      </a:r>
                    </a:p>
                  </a:txBody>
                  <a:tcPr marL="53604" marR="53604" marT="53604" marB="53604"/>
                </a:tc>
                <a:tc>
                  <a:txBody>
                    <a:bodyPr/>
                    <a:lstStyle/>
                    <a:p>
                      <a:pPr algn="l" fontAlgn="t"/>
                      <a:r>
                        <a:rPr lang="en-US" sz="1800" dirty="0">
                          <a:effectLst/>
                          <a:latin typeface="Palatino Linotype" panose="02040502050505030304" pitchFamily="18" charset="0"/>
                        </a:rPr>
                        <a:t>Used with SELECT statement only.</a:t>
                      </a:r>
                    </a:p>
                  </a:txBody>
                  <a:tcPr marL="53604" marR="53604" marT="53604" marB="53604"/>
                </a:tc>
                <a:extLst>
                  <a:ext uri="{0D108BD9-81ED-4DB2-BD59-A6C34878D82A}">
                    <a16:rowId xmlns:a16="http://schemas.microsoft.com/office/drawing/2014/main" val="3128323809"/>
                  </a:ext>
                </a:extLst>
              </a:tr>
              <a:tr h="381600">
                <a:tc>
                  <a:txBody>
                    <a:bodyPr/>
                    <a:lstStyle/>
                    <a:p>
                      <a:pPr algn="l" fontAlgn="t"/>
                      <a:r>
                        <a:rPr lang="en-IN" sz="1800" dirty="0">
                          <a:effectLst/>
                          <a:latin typeface="Palatino Linotype" panose="02040502050505030304" pitchFamily="18" charset="0"/>
                        </a:rPr>
                        <a:t>Pre-filter</a:t>
                      </a:r>
                    </a:p>
                  </a:txBody>
                  <a:tcPr marL="53604" marR="53604" marT="53604" marB="53604"/>
                </a:tc>
                <a:tc>
                  <a:txBody>
                    <a:bodyPr/>
                    <a:lstStyle/>
                    <a:p>
                      <a:pPr algn="l" fontAlgn="t"/>
                      <a:r>
                        <a:rPr lang="en-IN" sz="1800" dirty="0">
                          <a:effectLst/>
                          <a:latin typeface="Palatino Linotype" panose="02040502050505030304" pitchFamily="18" charset="0"/>
                        </a:rPr>
                        <a:t>Post-filter</a:t>
                      </a:r>
                    </a:p>
                  </a:txBody>
                  <a:tcPr marL="53604" marR="53604" marT="53604" marB="53604"/>
                </a:tc>
                <a:extLst>
                  <a:ext uri="{0D108BD9-81ED-4DB2-BD59-A6C34878D82A}">
                    <a16:rowId xmlns:a16="http://schemas.microsoft.com/office/drawing/2014/main" val="1779799738"/>
                  </a:ext>
                </a:extLst>
              </a:tr>
              <a:tr h="381600">
                <a:tc>
                  <a:txBody>
                    <a:bodyPr/>
                    <a:lstStyle/>
                    <a:p>
                      <a:pPr algn="l" fontAlgn="t"/>
                      <a:r>
                        <a:rPr lang="en-IN" sz="1800" dirty="0">
                          <a:effectLst/>
                          <a:latin typeface="Palatino Linotype" panose="02040502050505030304" pitchFamily="18" charset="0"/>
                        </a:rPr>
                        <a:t>GROUP BY Comes after WHERE.</a:t>
                      </a:r>
                    </a:p>
                  </a:txBody>
                  <a:tcPr marL="53604" marR="53604" marT="53604" marB="53604"/>
                </a:tc>
                <a:tc>
                  <a:txBody>
                    <a:bodyPr/>
                    <a:lstStyle/>
                    <a:p>
                      <a:pPr algn="l" fontAlgn="t"/>
                      <a:r>
                        <a:rPr lang="en-IN" sz="1800" dirty="0">
                          <a:effectLst/>
                          <a:latin typeface="Palatino Linotype" panose="02040502050505030304" pitchFamily="18" charset="0"/>
                        </a:rPr>
                        <a:t>GROUP BY Comes before HAVING.</a:t>
                      </a:r>
                    </a:p>
                  </a:txBody>
                  <a:tcPr marL="53604" marR="53604" marT="53604" marB="53604"/>
                </a:tc>
                <a:extLst>
                  <a:ext uri="{0D108BD9-81ED-4DB2-BD59-A6C34878D82A}">
                    <a16:rowId xmlns:a16="http://schemas.microsoft.com/office/drawing/2014/main" val="2771116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80520" cy="863914"/>
            <a:chOff x="119336" y="188822"/>
            <a:chExt cx="468052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05812" y="350795"/>
              <a:ext cx="1483098" cy="553998"/>
            </a:xfrm>
            <a:prstGeom prst="rect">
              <a:avLst/>
            </a:prstGeom>
            <a:noFill/>
          </p:spPr>
          <p:txBody>
            <a:bodyPr wrap="none" rtlCol="0">
              <a:spAutoFit/>
            </a:bodyPr>
            <a:lstStyle/>
            <a:p>
              <a:r>
                <a:rPr lang="en-US" sz="3000" dirty="0"/>
                <a:t>WHERE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3042116" y="350795"/>
              <a:ext cx="1604606" cy="553998"/>
            </a:xfrm>
            <a:prstGeom prst="rect">
              <a:avLst/>
            </a:prstGeom>
            <a:noFill/>
          </p:spPr>
          <p:txBody>
            <a:bodyPr wrap="none" rtlCol="0">
              <a:spAutoFit/>
            </a:bodyPr>
            <a:lstStyle/>
            <a:p>
              <a:r>
                <a:rPr lang="en-US" sz="3000" dirty="0"/>
                <a:t>HAVING</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2470279306"/>
      </p:ext>
    </p:extLst>
  </p:cSld>
  <p:clrMapOvr>
    <a:masterClrMapping/>
  </p:clrMapOvr>
</p:sld>
</file>

<file path=ppt/slides/slide5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window function</a:t>
            </a:r>
          </a:p>
        </p:txBody>
      </p:sp>
      <p:sp>
        <p:nvSpPr>
          <p:cNvPr id="3" name="Rectangle 2">
            <a:extLst>
              <a:ext uri="{FF2B5EF4-FFF2-40B4-BE49-F238E27FC236}">
                <a16:creationId xmlns:a16="http://schemas.microsoft.com/office/drawing/2014/main" id="{EB144C97-AE8F-7D5C-2170-CB436B94174B}"/>
              </a:ext>
            </a:extLst>
          </p:cNvPr>
          <p:cNvSpPr/>
          <p:nvPr/>
        </p:nvSpPr>
        <p:spPr>
          <a:xfrm>
            <a:off x="238401" y="4186242"/>
            <a:ext cx="11521280" cy="233910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MySQL does not support these window function features.</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DISTINCT syntax for aggregate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Nested window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Window function cannot be the part of </a:t>
            </a:r>
            <a:r>
              <a:rPr lang="en-US" dirty="0">
                <a:solidFill>
                  <a:srgbClr val="0077AA"/>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anose="020B0604020202020204" pitchFamily="34" charset="0"/>
                <a:cs typeface="Arial" pitchFamily="34" charset="0"/>
              </a:rPr>
              <a:t> condition</a:t>
            </a:r>
          </a:p>
          <a:p>
            <a:pPr marL="285750" indent="-285750">
              <a:buFont typeface="Arial" panose="020B0604020202020204" pitchFamily="34" charset="0"/>
              <a:buChar char="•"/>
            </a:pPr>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dirty="0">
                <a:latin typeface="Arial" panose="020B0604020202020204" pitchFamily="34" charset="0"/>
                <a:cs typeface="Arial" pitchFamily="34" charset="0"/>
              </a:rPr>
              <a:t>OVER() function apply aggregate functions row by row without collapsing rows like GROUP BY does.</a:t>
            </a:r>
          </a:p>
        </p:txBody>
      </p:sp>
    </p:spTree>
    <p:extLst>
      <p:ext uri="{BB962C8B-B14F-4D97-AF65-F5344CB8AC3E}">
        <p14:creationId xmlns:p14="http://schemas.microsoft.com/office/powerpoint/2010/main" val="3791859850"/>
      </p:ext>
    </p:extLst>
  </p:cSld>
  <p:clrMapOvr>
    <a:masterClrMapping/>
  </p:clrMapOvr>
</p:sld>
</file>

<file path=ppt/slides/slide5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238402" y="764704"/>
            <a:ext cx="11762254" cy="3508653"/>
          </a:xfrm>
          <a:prstGeom prst="rect">
            <a:avLst/>
          </a:prstGeom>
        </p:spPr>
        <p:txBody>
          <a:bodyPr wrap="square">
            <a:spAutoFit/>
          </a:bodyPr>
          <a:lstStyle/>
          <a:p>
            <a:pPr marL="342900" indent="-342900">
              <a:buFont typeface="Wingdings" panose="05000000000000000000" pitchFamily="2" charset="2"/>
              <a:buChar char="Ø"/>
            </a:pPr>
            <a:r>
              <a:rPr lang="en-US" dirty="0">
                <a:solidFill>
                  <a:srgbClr val="DD4A68"/>
                </a:solidFill>
                <a:latin typeface="Liberation Mono"/>
              </a:rPr>
              <a:t>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ROW_NUMBER()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LAG</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LEAD</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FIRST_VALUE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NTH_VALUE</a:t>
            </a:r>
            <a:r>
              <a:rPr lang="en-US" dirty="0">
                <a:latin typeface="Liberation Mono"/>
              </a:rPr>
              <a:t>(</a:t>
            </a:r>
            <a:r>
              <a:rPr lang="en-US" i="1" dirty="0">
                <a:latin typeface="Liberation Mono"/>
              </a:rPr>
              <a:t>expr</a:t>
            </a:r>
            <a:r>
              <a:rPr lang="en-US" dirty="0">
                <a:latin typeface="Liberation Mono"/>
              </a:rPr>
              <a:t>, </a:t>
            </a:r>
            <a:r>
              <a:rPr lang="en-US" i="1" dirty="0">
                <a:latin typeface="Liberation Mono"/>
              </a:rPr>
              <a:t>N</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 . . ]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 . . )</a:t>
            </a:r>
          </a:p>
        </p:txBody>
      </p:sp>
      <p:sp>
        <p:nvSpPr>
          <p:cNvPr id="6" name="Rectangle 5">
            <a:extLst>
              <a:ext uri="{FF2B5EF4-FFF2-40B4-BE49-F238E27FC236}">
                <a16:creationId xmlns:a16="http://schemas.microsoft.com/office/drawing/2014/main" id="{0075F367-747F-437F-9E98-4410C42574F9}"/>
              </a:ext>
            </a:extLst>
          </p:cNvPr>
          <p:cNvSpPr/>
          <p:nvPr/>
        </p:nvSpPr>
        <p:spPr>
          <a:xfrm>
            <a:off x="191344" y="4351163"/>
            <a:ext cx="11690248" cy="2462213"/>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4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The N and default argument in the function is optional.</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expr</a:t>
            </a:r>
            <a:r>
              <a:rPr lang="en-US" dirty="0">
                <a:solidFill>
                  <a:schemeClr val="tx1">
                    <a:lumMod val="85000"/>
                    <a:lumOff val="15000"/>
                  </a:schemeClr>
                </a:solidFill>
                <a:latin typeface="Arial" panose="020B0604020202020204" pitchFamily="34" charset="0"/>
                <a:cs typeface="Arial" pitchFamily="34" charset="0"/>
              </a:rPr>
              <a:t>: It can be a column or any built-in function.</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N</a:t>
            </a:r>
            <a:r>
              <a:rPr lang="en-US" dirty="0">
                <a:solidFill>
                  <a:schemeClr val="tx1">
                    <a:lumMod val="85000"/>
                    <a:lumOff val="15000"/>
                  </a:schemeClr>
                </a:solidFill>
                <a:latin typeface="Arial" panose="020B0604020202020204" pitchFamily="34" charset="0"/>
                <a:cs typeface="Arial" pitchFamily="34" charset="0"/>
              </a:rPr>
              <a:t>: It is a positive value which determine number of rows preceding/succeeding the current row. If it is omitted in query then its default value is 1.</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default</a:t>
            </a:r>
            <a:r>
              <a:rPr lang="en-US" dirty="0">
                <a:solidFill>
                  <a:schemeClr val="tx1">
                    <a:lumMod val="85000"/>
                    <a:lumOff val="15000"/>
                  </a:schemeClr>
                </a:solidFill>
                <a:latin typeface="Arial" panose="020B0604020202020204" pitchFamily="34" charset="0"/>
                <a:cs typeface="Arial" pitchFamily="34" charset="0"/>
              </a:rPr>
              <a:t>: It is the default value return by function in-case no row precedes/succeeds the current row by N rows. If it is missing then it is by default NULL.</a:t>
            </a:r>
          </a:p>
        </p:txBody>
      </p:sp>
      <p:sp>
        <p:nvSpPr>
          <p:cNvPr id="7" name="TextBox 6">
            <a:extLst>
              <a:ext uri="{FF2B5EF4-FFF2-40B4-BE49-F238E27FC236}">
                <a16:creationId xmlns:a16="http://schemas.microsoft.com/office/drawing/2014/main" id="{456F6CF4-AFE2-423C-B66F-E237CE2F718A}"/>
              </a:ext>
            </a:extLst>
          </p:cNvPr>
          <p:cNvSpPr txBox="1"/>
          <p:nvPr/>
        </p:nvSpPr>
        <p:spPr>
          <a:xfrm>
            <a:off x="238401" y="118474"/>
            <a:ext cx="7081734" cy="646331"/>
          </a:xfrm>
          <a:prstGeom prst="rect">
            <a:avLst/>
          </a:prstGeom>
          <a:noFill/>
        </p:spPr>
        <p:txBody>
          <a:bodyPr wrap="square">
            <a:spAutoFit/>
          </a:bodyPr>
          <a:lstStyle/>
          <a:p>
            <a:r>
              <a:rPr lang="en-US" dirty="0">
                <a:solidFill>
                  <a:schemeClr val="tx1">
                    <a:lumMod val="85000"/>
                    <a:lumOff val="15000"/>
                  </a:schemeClr>
                </a:solidFill>
                <a:latin typeface="Arial" panose="020B0604020202020204" pitchFamily="34" charset="0"/>
                <a:cs typeface="Arial" pitchFamily="34" charset="0"/>
              </a:rPr>
              <a:t>Use </a:t>
            </a:r>
            <a:r>
              <a:rPr lang="en-US" dirty="0">
                <a:solidFill>
                  <a:srgbClr val="0077AA"/>
                </a:solidFill>
                <a:latin typeface="Arial" panose="020B0604020202020204" pitchFamily="34" charset="0"/>
                <a:cs typeface="Arial" panose="020B0604020202020204" pitchFamily="34" charset="0"/>
              </a:rPr>
              <a:t>ORDER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 with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latin typeface="Arial" panose="020B0604020202020204" pitchFamily="34" charset="0"/>
                <a:cs typeface="Arial" panose="020B0604020202020204" pitchFamily="34" charset="0"/>
              </a:rPr>
              <a:t> </a:t>
            </a:r>
            <a:r>
              <a:rPr lang="en-US" dirty="0">
                <a:solidFill>
                  <a:schemeClr val="tx1">
                    <a:lumMod val="85000"/>
                    <a:lumOff val="15000"/>
                  </a:schemeClr>
                </a:solidFill>
                <a:latin typeface="Arial" panose="020B0604020202020204" pitchFamily="34" charset="0"/>
                <a:cs typeface="Arial" pitchFamily="34" charset="0"/>
              </a:rPr>
              <a:t>to see the effect of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a:t>
            </a:r>
            <a:endParaRPr lang="en-IN"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9A50EB32-6D29-4E08-477B-811B1ADF3AA1}"/>
              </a:ext>
            </a:extLst>
          </p:cNvPr>
          <p:cNvSpPr txBox="1"/>
          <p:nvPr/>
        </p:nvSpPr>
        <p:spPr>
          <a:xfrm>
            <a:off x="6312024" y="4316903"/>
            <a:ext cx="5852747" cy="1200329"/>
          </a:xfrm>
          <a:prstGeom prst="rect">
            <a:avLst/>
          </a:prstGeom>
          <a:solidFill>
            <a:schemeClr val="accent3">
              <a:lumMod val="20000"/>
              <a:lumOff val="80000"/>
            </a:schemeClr>
          </a:solidFill>
        </p:spPr>
        <p:txBody>
          <a:bodyPr wrap="square">
            <a:spAutoFit/>
          </a:bodyPr>
          <a:lstStyle/>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PRECEDING</a:t>
            </a:r>
            <a:r>
              <a:rPr lang="en-IN" dirty="0"/>
              <a:t>: Start from the first row in the partition.</a:t>
            </a:r>
          </a:p>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FOLLOWING</a:t>
            </a:r>
            <a:r>
              <a:rPr lang="en-IN" dirty="0"/>
              <a:t>: End at the last row in the partition.</a:t>
            </a:r>
          </a:p>
        </p:txBody>
      </p:sp>
    </p:spTree>
    <p:extLst>
      <p:ext uri="{BB962C8B-B14F-4D97-AF65-F5344CB8AC3E}">
        <p14:creationId xmlns:p14="http://schemas.microsoft.com/office/powerpoint/2010/main" val="1603374250"/>
      </p:ext>
    </p:extLst>
  </p:cSld>
  <p:clrMapOvr>
    <a:masterClrMapping/>
  </p:clrMapOvr>
</p:sld>
</file>

<file path=ppt/slides/slide5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66B60-20CE-53E0-9DE0-E9C2E1D3A70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B4D51AA-A603-6668-7B77-61847992D5B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89834977-ADD7-8C45-FAA6-31A1F0A98116}"/>
              </a:ext>
            </a:extLst>
          </p:cNvPr>
          <p:cNvSpPr txBox="1"/>
          <p:nvPr/>
        </p:nvSpPr>
        <p:spPr>
          <a:xfrm>
            <a:off x="119336" y="6024225"/>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 </a:t>
            </a:r>
            <a:r>
              <a:rPr lang="en-US" dirty="0">
                <a:solidFill>
                  <a:schemeClr val="accent5">
                    <a:lumMod val="75000"/>
                  </a:schemeClr>
                </a:solidFill>
                <a:latin typeface="Liberation Mono"/>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Output1</a:t>
            </a:r>
            <a:r>
              <a:rPr lang="en-US" dirty="0">
                <a:latin typeface="Liberation Mono"/>
              </a:rPr>
              <a:t>,</a:t>
            </a:r>
            <a:r>
              <a:rPr lang="en-US" i="1" dirty="0">
                <a:solidFill>
                  <a:schemeClr val="bg1">
                    <a:lumMod val="50000"/>
                  </a:schemeClr>
                </a:solidFill>
                <a:latin typeface="Liberation Mono"/>
              </a:rPr>
              <a:t> </a:t>
            </a:r>
            <a:r>
              <a:rPr lang="en-US" dirty="0">
                <a:solidFill>
                  <a:srgbClr val="DD4A68"/>
                </a:solidFill>
                <a:latin typeface="Liberation Mono"/>
              </a:rPr>
              <a:t>CEIL</a:t>
            </a:r>
            <a:r>
              <a:rPr lang="en-US" dirty="0">
                <a:latin typeface="Liberation Mono"/>
              </a:rPr>
              <a:t>(</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Output2</a:t>
            </a:r>
            <a:r>
              <a:rPr lang="en-US" dirty="0">
                <a:latin typeface="Liberation Mono"/>
              </a:rPr>
              <a:t>,</a:t>
            </a:r>
            <a:r>
              <a:rPr lang="en-US" i="1" dirty="0">
                <a:solidFill>
                  <a:schemeClr val="bg1">
                    <a:lumMod val="50000"/>
                  </a:schemeClr>
                </a:solidFill>
                <a:latin typeface="Liberation Mono"/>
              </a:rPr>
              <a:t> </a:t>
            </a:r>
            <a:r>
              <a:rPr lang="en-US" dirty="0">
                <a:latin typeface="Liberation Mono"/>
              </a:rPr>
              <a:t>item_name, item_unit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chemeClr val="accent5">
                    <a:lumMod val="75000"/>
                  </a:schemeClr>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item_name, item_unit </a:t>
            </a:r>
            <a:r>
              <a:rPr lang="en-US" dirty="0">
                <a:solidFill>
                  <a:srgbClr val="0077AA"/>
                </a:solidFill>
                <a:latin typeface="Liberation Mono"/>
              </a:rPr>
              <a:t>FROM</a:t>
            </a:r>
            <a:r>
              <a:rPr lang="en-US" dirty="0">
                <a:latin typeface="Liberation Mono"/>
              </a:rPr>
              <a:t> food) t1;</a:t>
            </a:r>
          </a:p>
        </p:txBody>
      </p:sp>
      <p:sp>
        <p:nvSpPr>
          <p:cNvPr id="10" name="TextBox 9">
            <a:extLst>
              <a:ext uri="{FF2B5EF4-FFF2-40B4-BE49-F238E27FC236}">
                <a16:creationId xmlns:a16="http://schemas.microsoft.com/office/drawing/2014/main" id="{D57158DD-317F-22A5-A5EC-0A7432EF5F96}"/>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ROW_NUMBER</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dirty="0">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US" sz="2000" i="1" dirty="0">
                <a:solidFill>
                  <a:schemeClr val="bg1">
                    <a:lumMod val="50000"/>
                  </a:schemeClr>
                </a:solidFill>
                <a:latin typeface="Liberation Mono"/>
              </a:rPr>
              <a:t>repeating numbers 1 to 5 cyclically</a:t>
            </a:r>
            <a:endParaRPr lang="en-IN" sz="2000" i="1" dirty="0">
              <a:solidFill>
                <a:schemeClr val="bg1">
                  <a:lumMod val="50000"/>
                </a:schemeClr>
              </a:solidFill>
              <a:latin typeface="Liberation Mono"/>
            </a:endParaRPr>
          </a:p>
        </p:txBody>
      </p:sp>
      <p:graphicFrame>
        <p:nvGraphicFramePr>
          <p:cNvPr id="3" name="Table 2">
            <a:extLst>
              <a:ext uri="{FF2B5EF4-FFF2-40B4-BE49-F238E27FC236}">
                <a16:creationId xmlns:a16="http://schemas.microsoft.com/office/drawing/2014/main" id="{B764050C-4D0E-2169-D787-BB4B1E1997D3}"/>
              </a:ext>
            </a:extLst>
          </p:cNvPr>
          <p:cNvGraphicFramePr>
            <a:graphicFrameLocks noGrp="1"/>
          </p:cNvGraphicFramePr>
          <p:nvPr>
            <p:extLst>
              <p:ext uri="{D42A27DB-BD31-4B8C-83A1-F6EECF244321}">
                <p14:modId xmlns:p14="http://schemas.microsoft.com/office/powerpoint/2010/main" val="1952722577"/>
              </p:ext>
            </p:extLst>
          </p:nvPr>
        </p:nvGraphicFramePr>
        <p:xfrm>
          <a:off x="6960096" y="629564"/>
          <a:ext cx="4896542" cy="519176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735722360"/>
                    </a:ext>
                  </a:extLst>
                </a:gridCol>
                <a:gridCol w="1179822">
                  <a:extLst>
                    <a:ext uri="{9D8B030D-6E8A-4147-A177-3AD203B41FA5}">
                      <a16:colId xmlns:a16="http://schemas.microsoft.com/office/drawing/2014/main" val="3455327885"/>
                    </a:ext>
                  </a:extLst>
                </a:gridCol>
                <a:gridCol w="1381076">
                  <a:extLst>
                    <a:ext uri="{9D8B030D-6E8A-4147-A177-3AD203B41FA5}">
                      <a16:colId xmlns:a16="http://schemas.microsoft.com/office/drawing/2014/main" val="644477397"/>
                    </a:ext>
                  </a:extLst>
                </a:gridCol>
                <a:gridCol w="1255524">
                  <a:extLst>
                    <a:ext uri="{9D8B030D-6E8A-4147-A177-3AD203B41FA5}">
                      <a16:colId xmlns:a16="http://schemas.microsoft.com/office/drawing/2014/main" val="2605674656"/>
                    </a:ext>
                  </a:extLst>
                </a:gridCol>
              </a:tblGrid>
              <a:tr h="370840">
                <a:tc>
                  <a:txBody>
                    <a:bodyPr/>
                    <a:lstStyle/>
                    <a:p>
                      <a:pPr algn="ctr"/>
                      <a:r>
                        <a:rPr lang="en-IN" b="1" dirty="0">
                          <a:latin typeface="Arial" panose="020B0604020202020204" pitchFamily="34" charset="0"/>
                          <a:cs typeface="Arial" panose="020B0604020202020204" pitchFamily="34" charset="0"/>
                        </a:rPr>
                        <a:t>Output1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Output2</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item_unit</a:t>
                      </a:r>
                    </a:p>
                  </a:txBody>
                  <a:tcPr>
                    <a:solidFill>
                      <a:srgbClr val="92D050"/>
                    </a:solidFill>
                  </a:tcPr>
                </a:tc>
                <a:extLst>
                  <a:ext uri="{0D108BD9-81ED-4DB2-BD59-A6C34878D82A}">
                    <a16:rowId xmlns:a16="http://schemas.microsoft.com/office/drawing/2014/main" val="2602772264"/>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100073424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cakes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9909301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cheese</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95676153"/>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94573892"/>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311546108"/>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eggs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2286607"/>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salt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56616710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jam</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96930218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165762081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burger</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46692960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juice</a:t>
                      </a:r>
                    </a:p>
                  </a:txBody>
                  <a:tcPr/>
                </a:tc>
                <a:tc>
                  <a:txBody>
                    <a:bodyPr/>
                    <a:lstStyle/>
                    <a:p>
                      <a:r>
                        <a:rPr lang="en-IN">
                          <a:latin typeface="Arial" panose="020B0604020202020204" pitchFamily="34" charset="0"/>
                          <a:cs typeface="Arial" panose="020B0604020202020204" pitchFamily="34" charset="0"/>
                        </a:rPr>
                        <a:t>bottle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7396946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milk</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829497283"/>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ice-cream</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2258893357"/>
                  </a:ext>
                </a:extLst>
              </a:tr>
            </a:tbl>
          </a:graphicData>
        </a:graphic>
      </p:graphicFrame>
      <p:sp>
        <p:nvSpPr>
          <p:cNvPr id="7" name="TextBox 6">
            <a:extLst>
              <a:ext uri="{FF2B5EF4-FFF2-40B4-BE49-F238E27FC236}">
                <a16:creationId xmlns:a16="http://schemas.microsoft.com/office/drawing/2014/main" id="{BC76CE3D-B2B4-AA43-3D75-E2894F174793}"/>
              </a:ext>
            </a:extLst>
          </p:cNvPr>
          <p:cNvSpPr txBox="1"/>
          <p:nvPr/>
        </p:nvSpPr>
        <p:spPr>
          <a:xfrm>
            <a:off x="335362" y="2867657"/>
            <a:ext cx="6143016"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This pattern is useful for </a:t>
            </a:r>
            <a:r>
              <a:rPr lang="en-US" b="1" dirty="0">
                <a:latin typeface="Arial" panose="020B0604020202020204" pitchFamily="34" charset="0"/>
                <a:cs typeface="Arial" panose="020B0604020202020204" pitchFamily="34" charset="0"/>
              </a:rPr>
              <a:t>grouping into buckets</a:t>
            </a:r>
            <a:r>
              <a:rPr lang="en-US" dirty="0">
                <a:latin typeface="Arial" panose="020B0604020202020204" pitchFamily="34" charset="0"/>
                <a:cs typeface="Arial" panose="020B0604020202020204" pitchFamily="34" charset="0"/>
              </a:rPr>
              <a:t> of 5 (like food groupings, shift rotations, etc.).</a:t>
            </a:r>
            <a:endParaRPr lang="en-IN"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94A00C4E-BE5F-22A1-7F17-91DD9EC29CE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Repeating numbers 1 to 5 cyclically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EB0318B3-34B2-98EA-3D31-A3D05EB26EB7}"/>
              </a:ext>
            </a:extLst>
          </p:cNvPr>
          <p:cNvSpPr txBox="1"/>
          <p:nvPr/>
        </p:nvSpPr>
        <p:spPr>
          <a:xfrm>
            <a:off x="119336" y="4349194"/>
            <a:ext cx="669674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 </a:t>
            </a:r>
            <a:r>
              <a:rPr lang="en-IN" i="1" dirty="0">
                <a:solidFill>
                  <a:schemeClr val="bg1">
                    <a:lumMod val="50000"/>
                  </a:schemeClr>
                </a:solidFill>
                <a:latin typeface="Liberation Mono"/>
              </a:rPr>
              <a:t>R1</a:t>
            </a:r>
            <a:r>
              <a:rPr lang="en-IN" dirty="0">
                <a:latin typeface="Liberation Mono"/>
              </a:rPr>
              <a:t>, ename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CEIL</a:t>
            </a:r>
            <a:r>
              <a:rPr lang="en-IN" dirty="0">
                <a:latin typeface="Liberation Mono"/>
              </a:rPr>
              <a:t>(</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solidFill>
                  <a:srgbClr val="0077AA"/>
                </a:solidFill>
                <a:latin typeface="Liberation Mono"/>
              </a:rPr>
              <a:t>)</a:t>
            </a:r>
            <a:r>
              <a:rPr lang="en-IN" dirty="0">
                <a:latin typeface="Liberation Mono"/>
              </a:rPr>
              <a:t> </a:t>
            </a:r>
            <a:r>
              <a:rPr lang="en-IN" i="1" dirty="0">
                <a:solidFill>
                  <a:schemeClr val="bg1">
                    <a:lumMod val="50000"/>
                  </a:schemeClr>
                </a:solidFill>
                <a:latin typeface="Liberation Mono"/>
              </a:rPr>
              <a:t>a</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ELSE</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066924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5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8FDAC-ABC6-5487-A285-E2A57A4C23D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986D02FA-A02F-E038-6204-DC30A9BA9FB7}"/>
              </a:ext>
            </a:extLst>
          </p:cNvPr>
          <p:cNvSpPr txBox="1"/>
          <p:nvPr/>
        </p:nvSpPr>
        <p:spPr>
          <a:xfrm>
            <a:off x="119336" y="5951021"/>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temperature desc)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R2=1</a:t>
            </a:r>
            <a:r>
              <a:rPr lang="en-US" dirty="0">
                <a:latin typeface="Liberation Mono"/>
              </a:rPr>
              <a:t>;</a:t>
            </a:r>
          </a:p>
        </p:txBody>
      </p:sp>
      <p:sp>
        <p:nvSpPr>
          <p:cNvPr id="4" name="Rectangle 3">
            <a:extLst>
              <a:ext uri="{FF2B5EF4-FFF2-40B4-BE49-F238E27FC236}">
                <a16:creationId xmlns:a16="http://schemas.microsoft.com/office/drawing/2014/main" id="{68BE8FAF-8B4F-99CA-842A-670A39FF3C6A}"/>
              </a:ext>
            </a:extLst>
          </p:cNvPr>
          <p:cNvSpPr/>
          <p:nvPr/>
        </p:nvSpPr>
        <p:spPr>
          <a:xfrm>
            <a:off x="25176" y="44624"/>
            <a:ext cx="5516912"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temperature between (1-&gt;2, 3-&gt;4, 5-&gt;6)</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FD5B7C36-0B22-9BEC-62DB-F8B11031940F}"/>
              </a:ext>
            </a:extLst>
          </p:cNvPr>
          <p:cNvGraphicFramePr>
            <a:graphicFrameLocks noGrp="1"/>
          </p:cNvGraphicFramePr>
          <p:nvPr>
            <p:extLst>
              <p:ext uri="{D42A27DB-BD31-4B8C-83A1-F6EECF244321}">
                <p14:modId xmlns:p14="http://schemas.microsoft.com/office/powerpoint/2010/main" val="3006201372"/>
              </p:ext>
            </p:extLst>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9DA61E6-3B7E-2121-A82D-27080D72F5E7}"/>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7AD5EC54-C263-FF00-3196-2F6882B97BC5}"/>
              </a:ext>
            </a:extLst>
          </p:cNvPr>
          <p:cNvGraphicFramePr>
            <a:graphicFrameLocks noGrp="1"/>
          </p:cNvGraphicFramePr>
          <p:nvPr>
            <p:extLst>
              <p:ext uri="{D42A27DB-BD31-4B8C-83A1-F6EECF244321}">
                <p14:modId xmlns:p14="http://schemas.microsoft.com/office/powerpoint/2010/main" val="3679537079"/>
              </p:ext>
            </p:extLst>
          </p:nvPr>
        </p:nvGraphicFramePr>
        <p:xfrm>
          <a:off x="5519936" y="1209144"/>
          <a:ext cx="3910583" cy="4343400"/>
        </p:xfrm>
        <a:graphic>
          <a:graphicData uri="http://schemas.openxmlformats.org/drawingml/2006/table">
            <a:tbl>
              <a:tblPr firstRow="1" bandRow="1">
                <a:tableStyleId>{5940675A-B579-460E-94D1-54222C63F5DA}</a:tableStyleId>
              </a:tblPr>
              <a:tblGrid>
                <a:gridCol w="785057">
                  <a:extLst>
                    <a:ext uri="{9D8B030D-6E8A-4147-A177-3AD203B41FA5}">
                      <a16:colId xmlns:a16="http://schemas.microsoft.com/office/drawing/2014/main" val="2582179302"/>
                    </a:ext>
                  </a:extLst>
                </a:gridCol>
                <a:gridCol w="1469342">
                  <a:extLst>
                    <a:ext uri="{9D8B030D-6E8A-4147-A177-3AD203B41FA5}">
                      <a16:colId xmlns:a16="http://schemas.microsoft.com/office/drawing/2014/main" val="238751449"/>
                    </a:ext>
                  </a:extLst>
                </a:gridCol>
                <a:gridCol w="1656184">
                  <a:extLst>
                    <a:ext uri="{9D8B030D-6E8A-4147-A177-3AD203B41FA5}">
                      <a16:colId xmlns:a16="http://schemas.microsoft.com/office/drawing/2014/main" val="62147385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temperature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B9F2A647-94D5-D2D2-2C5A-A66F178EE5AE}"/>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84AD4532-ED1E-BFB9-B9D2-404F96012784}"/>
              </a:ext>
            </a:extLst>
          </p:cNvPr>
          <p:cNvSpPr txBox="1"/>
          <p:nvPr/>
        </p:nvSpPr>
        <p:spPr>
          <a:xfrm>
            <a:off x="4127509"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Rectangle 1">
            <a:extLst>
              <a:ext uri="{FF2B5EF4-FFF2-40B4-BE49-F238E27FC236}">
                <a16:creationId xmlns:a16="http://schemas.microsoft.com/office/drawing/2014/main" id="{7D7EF67B-7A2B-571B-168A-1493706814FB}"/>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409848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5436A-4F75-1711-5D22-ECC75C19227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080F6E3B-DA10-1017-138B-19706305C4EA}"/>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LEAD</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2888CD-2CEE-F108-3D05-E00DA2C9FB40}"/>
              </a:ext>
            </a:extLst>
          </p:cNvPr>
          <p:cNvSpPr txBox="1"/>
          <p:nvPr/>
        </p:nvSpPr>
        <p:spPr>
          <a:xfrm>
            <a:off x="119336" y="5818038"/>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i="1" dirty="0">
                <a:solidFill>
                  <a:schemeClr val="bg1">
                    <a:lumMod val="50000"/>
                  </a:schemeClr>
                </a:solidFill>
                <a:latin typeface="Liberation Mono"/>
              </a:rPr>
              <a:t>'Current Temperature',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'Next Day Temperature'</a:t>
            </a:r>
            <a:r>
              <a:rPr lang="en-US" dirty="0">
                <a:latin typeface="Liberation Mono"/>
              </a:rPr>
              <a:t>, temperature </a:t>
            </a:r>
            <a:r>
              <a:rPr lang="en-US" dirty="0">
                <a:solidFill>
                  <a:schemeClr val="accent5">
                    <a:lumMod val="75000"/>
                  </a:schemeClr>
                </a:solidFill>
                <a:latin typeface="Liberation Mono"/>
              </a:rPr>
              <a:t>&lt;</a:t>
            </a:r>
            <a:r>
              <a:rPr lang="en-US" dirty="0">
                <a:latin typeface="Liberation Mono"/>
              </a:rPr>
              <a:t>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a:t>
            </a:r>
          </a:p>
        </p:txBody>
      </p:sp>
      <p:sp>
        <p:nvSpPr>
          <p:cNvPr id="4" name="Rectangle 3">
            <a:extLst>
              <a:ext uri="{FF2B5EF4-FFF2-40B4-BE49-F238E27FC236}">
                <a16:creationId xmlns:a16="http://schemas.microsoft.com/office/drawing/2014/main" id="{674F5CE6-5FCA-AB37-27EE-5B0D2D81D879}"/>
              </a:ext>
            </a:extLst>
          </p:cNvPr>
          <p:cNvSpPr/>
          <p:nvPr/>
        </p:nvSpPr>
        <p:spPr>
          <a:xfrm>
            <a:off x="25176" y="44624"/>
            <a:ext cx="5516912"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the temperature which is higher on next day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4BEC61DB-AC7D-6FD3-C7B1-BD7BDDEAA30F}"/>
              </a:ext>
            </a:extLst>
          </p:cNvPr>
          <p:cNvGraphicFramePr>
            <a:graphicFrameLocks noGrp="1"/>
          </p:cNvGraphicFramePr>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C2ED581-4CC6-773B-A262-6AFCA556F676}"/>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88B0D8A5-3C6E-4F4D-8EDF-4CFF1E86296E}"/>
              </a:ext>
            </a:extLst>
          </p:cNvPr>
          <p:cNvGraphicFramePr>
            <a:graphicFrameLocks noGrp="1"/>
          </p:cNvGraphicFramePr>
          <p:nvPr>
            <p:extLst>
              <p:ext uri="{D42A27DB-BD31-4B8C-83A1-F6EECF244321}">
                <p14:modId xmlns:p14="http://schemas.microsoft.com/office/powerpoint/2010/main" val="587751162"/>
              </p:ext>
            </p:extLst>
          </p:nvPr>
        </p:nvGraphicFramePr>
        <p:xfrm>
          <a:off x="5303912" y="1120616"/>
          <a:ext cx="6646887" cy="4612640"/>
        </p:xfrm>
        <a:graphic>
          <a:graphicData uri="http://schemas.openxmlformats.org/drawingml/2006/table">
            <a:tbl>
              <a:tblPr firstRow="1" bandRow="1">
                <a:tableStyleId>{5940675A-B579-460E-94D1-54222C63F5DA}</a:tableStyleId>
              </a:tblPr>
              <a:tblGrid>
                <a:gridCol w="755328">
                  <a:extLst>
                    <a:ext uri="{9D8B030D-6E8A-4147-A177-3AD203B41FA5}">
                      <a16:colId xmlns:a16="http://schemas.microsoft.com/office/drawing/2014/main" val="2582179302"/>
                    </a:ext>
                  </a:extLst>
                </a:gridCol>
                <a:gridCol w="1435123">
                  <a:extLst>
                    <a:ext uri="{9D8B030D-6E8A-4147-A177-3AD203B41FA5}">
                      <a16:colId xmlns:a16="http://schemas.microsoft.com/office/drawing/2014/main" val="238751449"/>
                    </a:ext>
                  </a:extLst>
                </a:gridCol>
                <a:gridCol w="1586189">
                  <a:extLst>
                    <a:ext uri="{9D8B030D-6E8A-4147-A177-3AD203B41FA5}">
                      <a16:colId xmlns:a16="http://schemas.microsoft.com/office/drawing/2014/main" val="621473857"/>
                    </a:ext>
                  </a:extLst>
                </a:gridCol>
                <a:gridCol w="1812787">
                  <a:extLst>
                    <a:ext uri="{9D8B030D-6E8A-4147-A177-3AD203B41FA5}">
                      <a16:colId xmlns:a16="http://schemas.microsoft.com/office/drawing/2014/main" val="2710957393"/>
                    </a:ext>
                  </a:extLst>
                </a:gridCol>
                <a:gridCol w="1057460">
                  <a:extLst>
                    <a:ext uri="{9D8B030D-6E8A-4147-A177-3AD203B41FA5}">
                      <a16:colId xmlns:a16="http://schemas.microsoft.com/office/drawing/2014/main" val="365552932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Current Temperature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Day Temperature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R1</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17</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45</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2025-12-05</a:t>
                      </a:r>
                    </a:p>
                  </a:txBody>
                  <a:tcPr/>
                </a:tc>
                <a:tc>
                  <a:txBody>
                    <a:bodyPr/>
                    <a:lstStyle/>
                    <a:p>
                      <a:pPr algn="ctr"/>
                      <a:r>
                        <a:rPr lang="en-US" sz="1800" b="0" dirty="0">
                          <a:latin typeface="Arial" panose="020B0604020202020204" pitchFamily="34" charset="0"/>
                          <a:cs typeface="Arial" panose="020B0604020202020204" pitchFamily="34" charset="0"/>
                        </a:rPr>
                        <a:t>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9</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2025-12-09</a:t>
                      </a:r>
                    </a:p>
                  </a:txBody>
                  <a:tcPr/>
                </a:tc>
                <a:tc>
                  <a:txBody>
                    <a:bodyPr/>
                    <a:lstStyle/>
                    <a:p>
                      <a:pPr algn="ctr"/>
                      <a:r>
                        <a:rPr lang="en-US" sz="1800" b="0" dirty="0">
                          <a:latin typeface="Arial" panose="020B0604020202020204" pitchFamily="34" charset="0"/>
                          <a:cs typeface="Arial" panose="020B0604020202020204" pitchFamily="34" charset="0"/>
                        </a:rPr>
                        <a:t>23</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2025-12-28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42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a:solidFill>
                            <a:schemeClr val="tx1"/>
                          </a:solidFill>
                          <a:latin typeface="Arial" panose="020B0604020202020204" pitchFamily="34" charset="0"/>
                          <a:ea typeface="+mn-ea"/>
                          <a:cs typeface="Arial" panose="020B0604020202020204" pitchFamily="34" charset="0"/>
                        </a:rPr>
                        <a:t>30</a:t>
                      </a:r>
                      <a:endParaRPr kumimoji="0" lang="en-US"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18D172D7-8758-54B5-6C49-5F89BD7733E0}"/>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69C7D71C-042E-BD0A-6C59-D1F83F5EEA59}"/>
              </a:ext>
            </a:extLst>
          </p:cNvPr>
          <p:cNvSpPr txBox="1"/>
          <p:nvPr/>
        </p:nvSpPr>
        <p:spPr>
          <a:xfrm>
            <a:off x="4031226"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3168471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examples</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014A08B8-C05B-4762-B441-3D1257C72582}"/>
              </a:ext>
            </a:extLst>
          </p:cNvPr>
          <p:cNvSpPr txBox="1"/>
          <p:nvPr/>
        </p:nvSpPr>
        <p:spPr>
          <a:xfrm>
            <a:off x="241261" y="1765260"/>
            <a:ext cx="11687387" cy="48320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IN" dirty="0">
                <a:solidFill>
                  <a:srgbClr val="DD4A68"/>
                </a:solidFill>
                <a:latin typeface="Liberation Mono"/>
              </a:rPr>
              <a:t> </a:t>
            </a:r>
            <a:r>
              <a:rPr lang="en-IN" i="1" dirty="0">
                <a:solidFill>
                  <a:schemeClr val="bg1">
                    <a:lumMod val="50000"/>
                  </a:schemeClr>
                </a:solidFill>
                <a:latin typeface="Liberation Mono"/>
              </a:rPr>
              <a:t>R1</a:t>
            </a:r>
            <a:r>
              <a:rPr lang="en-IN" dirty="0">
                <a:latin typeface="Liberation Mono"/>
              </a:rPr>
              <a:t>, emp.</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RANK() </a:t>
            </a:r>
            <a:r>
              <a:rPr lang="en-US" dirty="0">
                <a:solidFill>
                  <a:srgbClr val="B212AA"/>
                </a:solidFill>
                <a:latin typeface="Liberation Mono"/>
              </a:rPr>
              <a:t>OVER</a:t>
            </a:r>
            <a:r>
              <a:rPr lang="en-US" dirty="0">
                <a:solidFill>
                  <a:schemeClr val="tx1">
                    <a:lumMod val="65000"/>
                    <a:lumOff val="35000"/>
                  </a:schemeClr>
                </a:solidFill>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solidFill>
                  <a:srgbClr val="0077AA"/>
                </a:solidFill>
                <a:latin typeface="Liberation Mono"/>
              </a:rPr>
              <a:t> </a:t>
            </a:r>
            <a:r>
              <a:rPr lang="en-US" dirty="0">
                <a:solidFill>
                  <a:srgbClr val="B212AA"/>
                </a:solidFill>
                <a:latin typeface="Liberation Mono"/>
              </a:rPr>
              <a:t>BY</a:t>
            </a:r>
            <a:r>
              <a:rPr lang="en-US" dirty="0">
                <a:solidFill>
                  <a:srgbClr val="0077AA"/>
                </a:solidFill>
                <a:latin typeface="Liberation Mono"/>
              </a:rPr>
              <a:t> </a:t>
            </a:r>
            <a:r>
              <a:rPr lang="en-US" dirty="0">
                <a:latin typeface="Liberation Mono"/>
              </a:rPr>
              <a:t>ordid</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ord;</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US" dirty="0">
                <a:latin typeface="Liberation Mono"/>
              </a:rPr>
              <a:t> </a:t>
            </a:r>
            <a:r>
              <a:rPr lang="en-US" i="1" dirty="0">
                <a:solidFill>
                  <a:schemeClr val="bg1">
                    <a:lumMod val="50000"/>
                  </a:schemeClr>
                </a:solidFill>
                <a:latin typeface="Liberation Mono"/>
              </a:rPr>
              <a:t>'last N records'</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d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`last N records`  </a:t>
            </a:r>
            <a:r>
              <a:rPr lang="en-US" dirty="0">
                <a:solidFill>
                  <a:schemeClr val="accent5">
                    <a:lumMod val="75000"/>
                  </a:schemeClr>
                </a:solidFill>
                <a:latin typeface="Liberation Mono"/>
              </a:rPr>
              <a:t>&gt;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B050"/>
                </a:solidFill>
                <a:latin typeface="Liberation Mono"/>
              </a:rPr>
              <a:t>// Print last </a:t>
            </a:r>
            <a:r>
              <a:rPr lang="en-US" i="1" dirty="0">
                <a:solidFill>
                  <a:srgbClr val="00B050"/>
                </a:solidFill>
                <a:latin typeface="Liberation Mono"/>
              </a:rPr>
              <a:t>n</a:t>
            </a:r>
            <a:r>
              <a:rPr lang="en-US" dirty="0">
                <a:solidFill>
                  <a:srgbClr val="00B050"/>
                </a:solidFill>
                <a:latin typeface="Liberation Mono"/>
              </a:rPr>
              <a:t> records </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timing, </a:t>
            </a:r>
            <a:r>
              <a:rPr lang="en-US" dirty="0">
                <a:solidFill>
                  <a:srgbClr val="DD4A68"/>
                </a:solidFill>
                <a:latin typeface="Liberation Mono"/>
              </a:rPr>
              <a:t>TIMEDIFF</a:t>
            </a:r>
            <a:r>
              <a:rPr lang="en-US" dirty="0">
                <a:latin typeface="Liberation Mono"/>
              </a:rPr>
              <a:t>(</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timing), timing) </a:t>
            </a:r>
            <a:r>
              <a:rPr lang="en-US" i="1" dirty="0">
                <a:solidFill>
                  <a:schemeClr val="bg1">
                    <a:lumMod val="50000"/>
                  </a:schemeClr>
                </a:solidFill>
                <a:latin typeface="Liberation Mono"/>
              </a:rPr>
              <a:t>trainTimeDifference</a:t>
            </a:r>
            <a:r>
              <a:rPr lang="en-US" dirty="0">
                <a:latin typeface="Liberation Mono"/>
              </a:rPr>
              <a:t> </a:t>
            </a:r>
            <a:r>
              <a:rPr lang="en-US" dirty="0">
                <a:solidFill>
                  <a:srgbClr val="0077AA"/>
                </a:solidFill>
                <a:latin typeface="Liberation Mono"/>
              </a:rPr>
              <a:t>FROM</a:t>
            </a:r>
            <a:r>
              <a:rPr lang="en-US" dirty="0">
                <a:latin typeface="Liberation Mono"/>
              </a:rPr>
              <a:t> traintimetable; </a:t>
            </a:r>
            <a:r>
              <a:rPr lang="en-US" dirty="0">
                <a:solidFill>
                  <a:srgbClr val="00B050"/>
                </a:solidFill>
                <a:latin typeface="Liberation Mono"/>
              </a:rPr>
              <a:t>// train time difference between to stations.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a:t>
            </a:r>
            <a:r>
              <a:rPr lang="en-US" i="1" dirty="0">
                <a:solidFill>
                  <a:schemeClr val="bg1">
                    <a:lumMod val="50000"/>
                  </a:schemeClr>
                </a:solidFill>
                <a:latin typeface="Liberation Mono"/>
              </a:rPr>
              <a:t>'From</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timing   </a:t>
            </a:r>
            <a:r>
              <a:rPr lang="en-US" i="1" dirty="0">
                <a:solidFill>
                  <a:schemeClr val="bg1">
                    <a:lumMod val="50000"/>
                  </a:schemeClr>
                </a:solidFill>
                <a:latin typeface="Liberation Mono"/>
              </a:rPr>
              <a:t>'Departure</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   </a:t>
            </a:r>
            <a:r>
              <a:rPr lang="en-US" dirty="0">
                <a:solidFill>
                  <a:srgbClr val="DD4A68"/>
                </a:solidFill>
                <a:latin typeface="Liberation Mono"/>
              </a:rPr>
              <a:t>LEAD</a:t>
            </a:r>
            <a:r>
              <a:rPr lang="en-US" dirty="0">
                <a:latin typeface="Liberation Mono"/>
              </a:rPr>
              <a:t>(stationname)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'To</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'Arrival</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a:t>
            </a:r>
            <a:r>
              <a:rPr lang="en-US" dirty="0">
                <a:solidFill>
                  <a:srgbClr val="0077AA"/>
                </a:solidFill>
                <a:latin typeface="Liberation Mono"/>
              </a:rPr>
              <a:t>FROM</a:t>
            </a:r>
            <a:r>
              <a:rPr lang="en-US" dirty="0">
                <a:latin typeface="Liberation Mono"/>
              </a:rPr>
              <a:t> traintimetable;</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Leelawadee UI Semilight" panose="020B0402040204020203" pitchFamily="34" charset="-34"/>
              </a:rPr>
              <a:t> </a:t>
            </a:r>
            <a:r>
              <a:rPr lang="en-IN" dirty="0">
                <a:solidFill>
                  <a:srgbClr val="A67F59"/>
                </a:solidFill>
                <a:latin typeface="Liberation Mono"/>
              </a:rPr>
              <a:t>*</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AS </a:t>
            </a:r>
            <a:r>
              <a:rPr lang="en-IN" i="1" dirty="0">
                <a:solidFill>
                  <a:schemeClr val="bg1">
                    <a:lumMod val="50000"/>
                  </a:schemeClr>
                </a:solidFill>
                <a:latin typeface="Liberation Mono"/>
              </a:rPr>
              <a:t>"Stay Duration"</a:t>
            </a:r>
            <a:r>
              <a:rPr lang="en-IN" dirty="0">
                <a:latin typeface="Liberation Mono"/>
                <a:cs typeface="Leelawadee UI Semilight" panose="020B0402040204020203" pitchFamily="34" charset="-34"/>
              </a:rPr>
              <a:t>, </a:t>
            </a:r>
            <a:r>
              <a:rPr lang="en-IN" dirty="0">
                <a:solidFill>
                  <a:srgbClr val="DD4A68"/>
                </a:solidFill>
                <a:latin typeface="Liberation Mono"/>
              </a:rPr>
              <a:t>RANK</a:t>
            </a:r>
            <a:r>
              <a:rPr lang="en-IN" dirty="0">
                <a:latin typeface="Liberation Mono"/>
                <a:cs typeface="Leelawadee UI Semilight" panose="020B0402040204020203" pitchFamily="34" charset="-34"/>
              </a:rPr>
              <a:t>() </a:t>
            </a:r>
            <a:r>
              <a:rPr lang="en-IN" dirty="0">
                <a:solidFill>
                  <a:srgbClr val="B212AA"/>
                </a:solidFill>
                <a:latin typeface="Liberation Mono"/>
              </a:rPr>
              <a:t>OVER</a:t>
            </a:r>
            <a:r>
              <a:rPr lang="en-IN" dirty="0">
                <a:latin typeface="Liberation Mono"/>
                <a:cs typeface="Leelawadee UI Semilight" panose="020B0402040204020203" pitchFamily="34" charset="-34"/>
              </a:rPr>
              <a:t> (</a:t>
            </a:r>
            <a:r>
              <a:rPr lang="en-IN" dirty="0">
                <a:solidFill>
                  <a:srgbClr val="B212AA"/>
                </a:solidFill>
                <a:latin typeface="Liberation Mono"/>
              </a:rPr>
              <a:t>ORDER</a:t>
            </a:r>
            <a:r>
              <a:rPr lang="en-IN" dirty="0">
                <a:latin typeface="Liberation Mono"/>
                <a:cs typeface="Leelawadee UI Semilight" panose="020B0402040204020203" pitchFamily="34" charset="-34"/>
              </a:rPr>
              <a:t> </a:t>
            </a:r>
            <a:r>
              <a:rPr lang="en-IN" dirty="0">
                <a:solidFill>
                  <a:srgbClr val="B212AA"/>
                </a:solidFill>
                <a:latin typeface="Liberation Mono"/>
              </a:rPr>
              <a:t>BY</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t>
            </a:r>
            <a:r>
              <a:rPr lang="en-IN" dirty="0">
                <a:solidFill>
                  <a:srgbClr val="B212AA"/>
                </a:solidFill>
                <a:latin typeface="Liberation Mono"/>
              </a:rPr>
              <a:t>DESC</a:t>
            </a:r>
            <a:r>
              <a:rPr lang="en-IN" dirty="0">
                <a:latin typeface="Liberation Mono"/>
                <a:cs typeface="Leelawadee UI Semilight" panose="020B0402040204020203" pitchFamily="34" charset="-34"/>
              </a:rPr>
              <a:t>) AS </a:t>
            </a:r>
            <a:r>
              <a:rPr lang="en-IN" i="1" dirty="0">
                <a:solidFill>
                  <a:schemeClr val="bg1">
                    <a:lumMod val="50000"/>
                  </a:schemeClr>
                </a:solidFill>
                <a:latin typeface="Liberation Mono"/>
              </a:rPr>
              <a:t>room_rank </a:t>
            </a:r>
            <a:r>
              <a:rPr lang="en-IN" dirty="0">
                <a:solidFill>
                  <a:srgbClr val="0077AA"/>
                </a:solidFill>
                <a:latin typeface="Liberation Mono"/>
              </a:rPr>
              <a:t>FROM</a:t>
            </a:r>
            <a:r>
              <a:rPr lang="en-IN" dirty="0">
                <a:latin typeface="Liberation Mono"/>
                <a:cs typeface="Leelawadee UI Semilight" panose="020B0402040204020203" pitchFamily="34" charset="-34"/>
              </a:rPr>
              <a:t> student a,  room_assigned b </a:t>
            </a:r>
            <a:r>
              <a:rPr lang="en-IN" dirty="0">
                <a:solidFill>
                  <a:srgbClr val="0077AA"/>
                </a:solidFill>
                <a:latin typeface="Liberation Mono"/>
              </a:rPr>
              <a:t>WHERE</a:t>
            </a:r>
            <a:r>
              <a:rPr lang="en-IN" dirty="0">
                <a:latin typeface="Liberation Mono"/>
                <a:cs typeface="Leelawadee UI Semilight" panose="020B0402040204020203" pitchFamily="34" charset="-34"/>
              </a:rPr>
              <a:t> a.studentID </a:t>
            </a:r>
            <a:r>
              <a:rPr lang="en-IN" dirty="0">
                <a:solidFill>
                  <a:schemeClr val="accent5">
                    <a:lumMod val="75000"/>
                  </a:schemeClr>
                </a:solidFill>
                <a:latin typeface="Liberation Mono"/>
              </a:rPr>
              <a:t>=</a:t>
            </a:r>
            <a:r>
              <a:rPr lang="en-IN" dirty="0">
                <a:latin typeface="Liberation Mono"/>
                <a:cs typeface="Leelawadee UI Semilight" panose="020B0402040204020203" pitchFamily="34" charset="-34"/>
              </a:rPr>
              <a:t> b.studentID; </a:t>
            </a:r>
            <a:r>
              <a:rPr lang="en-IN" dirty="0">
                <a:solidFill>
                  <a:srgbClr val="00B050"/>
                </a:solidFill>
                <a:latin typeface="Liberation Mono"/>
              </a:rPr>
              <a:t>// </a:t>
            </a:r>
            <a:r>
              <a:rPr lang="en-US" dirty="0">
                <a:solidFill>
                  <a:srgbClr val="00B050"/>
                </a:solidFill>
                <a:latin typeface="Liberation Mono"/>
              </a:rPr>
              <a:t>Which room a student stayed in the longest</a:t>
            </a:r>
            <a:endParaRPr lang="en-IN" dirty="0">
              <a:solidFill>
                <a:srgbClr val="00B050"/>
              </a:solidFill>
              <a:latin typeface="Liberation Mono"/>
            </a:endParaRPr>
          </a:p>
        </p:txBody>
      </p:sp>
      <p:sp>
        <p:nvSpPr>
          <p:cNvPr id="2" name="Rectangle 1">
            <a:extLst>
              <a:ext uri="{FF2B5EF4-FFF2-40B4-BE49-F238E27FC236}">
                <a16:creationId xmlns:a16="http://schemas.microsoft.com/office/drawing/2014/main" id="{2509A5C6-DD69-4AEB-4101-2E42D577DA44}"/>
              </a:ext>
            </a:extLst>
          </p:cNvPr>
          <p:cNvSpPr/>
          <p:nvPr/>
        </p:nvSpPr>
        <p:spPr>
          <a:xfrm>
            <a:off x="47329" y="161345"/>
            <a:ext cx="5472608" cy="1323439"/>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Last N Records.</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Time Difference</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Departure Time and Arrival Time</a:t>
            </a:r>
          </a:p>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Which room a student stayed in the longest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26713172"/>
      </p:ext>
    </p:extLst>
  </p:cSld>
  <p:clrMapOvr>
    <a:masterClrMapping/>
  </p:clrMapOvr>
</p:sld>
</file>

<file path=ppt/slides/slide5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with SUM</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C43183B-F463-4494-9D23-AA20A8BA15F6}"/>
              </a:ext>
            </a:extLst>
          </p:cNvPr>
          <p:cNvSpPr txBox="1"/>
          <p:nvPr/>
        </p:nvSpPr>
        <p:spPr>
          <a:xfrm>
            <a:off x="241201" y="3249558"/>
            <a:ext cx="11687448" cy="215443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year, quarter,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year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quarter)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quarter_revenue;</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latin typeface="Liberation Mono"/>
              </a:rPr>
              <a:t>custId, type, amount,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type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'd'</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'c'</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_id) </a:t>
            </a:r>
            <a:r>
              <a:rPr lang="en-US" i="1" dirty="0">
                <a:solidFill>
                  <a:schemeClr val="bg1">
                    <a:lumMod val="50000"/>
                  </a:schemeClr>
                </a:solidFill>
                <a:latin typeface="Liberation Mono"/>
              </a:rPr>
              <a:t>Balance</a:t>
            </a:r>
            <a:r>
              <a:rPr lang="en-US" dirty="0">
                <a:latin typeface="Liberation Mono"/>
              </a:rPr>
              <a:t> </a:t>
            </a:r>
            <a:r>
              <a:rPr lang="en-US" dirty="0">
                <a:solidFill>
                  <a:srgbClr val="0077AA"/>
                </a:solidFill>
                <a:latin typeface="Liberation Mono"/>
              </a:rPr>
              <a:t>FROM</a:t>
            </a:r>
            <a:r>
              <a:rPr lang="en-US" dirty="0">
                <a:latin typeface="Liberation Mono"/>
              </a:rPr>
              <a:t> transactions;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custid,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a:t>
            </a:r>
          </a:p>
        </p:txBody>
      </p:sp>
      <p:sp>
        <p:nvSpPr>
          <p:cNvPr id="10" name="TextBox 9">
            <a:extLst>
              <a:ext uri="{FF2B5EF4-FFF2-40B4-BE49-F238E27FC236}">
                <a16:creationId xmlns:a16="http://schemas.microsoft.com/office/drawing/2014/main" id="{831962EA-9CAE-51B2-055C-97ABC760FD54}"/>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SUM</a:t>
            </a:r>
            <a:r>
              <a:rPr lang="en-IN" sz="2000" dirty="0">
                <a:latin typeface="Liberation Mono"/>
              </a:rPr>
              <a:t>(column_name)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b="1" i="1" dirty="0">
              <a:solidFill>
                <a:srgbClr val="00B050"/>
              </a:solidFill>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IN" sz="2000" i="1" dirty="0">
                <a:solidFill>
                  <a:schemeClr val="bg1">
                    <a:lumMod val="50000"/>
                  </a:schemeClr>
                </a:solidFill>
                <a:latin typeface="Liberation Mono"/>
              </a:rPr>
              <a:t>running_total</a:t>
            </a:r>
          </a:p>
        </p:txBody>
      </p:sp>
      <p:sp>
        <p:nvSpPr>
          <p:cNvPr id="3" name="Rectangle 2">
            <a:extLst>
              <a:ext uri="{FF2B5EF4-FFF2-40B4-BE49-F238E27FC236}">
                <a16:creationId xmlns:a16="http://schemas.microsoft.com/office/drawing/2014/main" id="{82E89207-93BE-BEEB-8D7F-D8110827BAF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Tree>
    <p:extLst>
      <p:ext uri="{BB962C8B-B14F-4D97-AF65-F5344CB8AC3E}">
        <p14:creationId xmlns:p14="http://schemas.microsoft.com/office/powerpoint/2010/main" val="2961363709"/>
      </p:ext>
    </p:extLst>
  </p:cSld>
  <p:clrMapOvr>
    <a:masterClrMapping/>
  </p:clrMapOvr>
</p:sld>
</file>

<file path=ppt/slides/slide5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F7819-621B-FFA0-1B86-A16BC229A7B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F28C609A-E00C-2EF8-2DBD-3C1B035AE6D7}"/>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3B3C299-542D-3E36-97AB-E42FADC9362E}"/>
              </a:ext>
            </a:extLst>
          </p:cNvPr>
          <p:cNvSpPr/>
          <p:nvPr/>
        </p:nvSpPr>
        <p:spPr>
          <a:xfrm>
            <a:off x="47328" y="44624"/>
            <a:ext cx="597666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graphicFrame>
        <p:nvGraphicFramePr>
          <p:cNvPr id="3" name="Table 2">
            <a:extLst>
              <a:ext uri="{FF2B5EF4-FFF2-40B4-BE49-F238E27FC236}">
                <a16:creationId xmlns:a16="http://schemas.microsoft.com/office/drawing/2014/main" id="{5985A84A-926D-02E4-00B0-C1948561DF83}"/>
              </a:ext>
            </a:extLst>
          </p:cNvPr>
          <p:cNvGraphicFramePr>
            <a:graphicFrameLocks noGrp="1"/>
          </p:cNvGraphicFramePr>
          <p:nvPr>
            <p:extLst>
              <p:ext uri="{D42A27DB-BD31-4B8C-83A1-F6EECF244321}">
                <p14:modId xmlns:p14="http://schemas.microsoft.com/office/powerpoint/2010/main" val="1172945400"/>
              </p:ext>
            </p:extLst>
          </p:nvPr>
        </p:nvGraphicFramePr>
        <p:xfrm>
          <a:off x="241201" y="1401222"/>
          <a:ext cx="4054599"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4">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car</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day</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cumulative_distance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0DB1EDB6-9096-9F16-1783-0CDEB07DBF5A}"/>
              </a:ext>
            </a:extLst>
          </p:cNvPr>
          <p:cNvSpPr txBox="1"/>
          <p:nvPr/>
        </p:nvSpPr>
        <p:spPr>
          <a:xfrm>
            <a:off x="263353" y="908720"/>
            <a:ext cx="1440160" cy="400110"/>
          </a:xfrm>
          <a:prstGeom prst="rect">
            <a:avLst/>
          </a:prstGeom>
          <a:noFill/>
        </p:spPr>
        <p:txBody>
          <a:bodyPr wrap="square">
            <a:spAutoFit/>
          </a:bodyPr>
          <a:lstStyle/>
          <a:p>
            <a:r>
              <a:rPr lang="en-IN" sz="2000" b="1" dirty="0">
                <a:latin typeface="Liberation Mono"/>
              </a:rPr>
              <a:t>Table:- cars</a:t>
            </a:r>
            <a:endParaRPr lang="en-IN" sz="2000" b="1" dirty="0"/>
          </a:p>
        </p:txBody>
      </p:sp>
      <p:sp>
        <p:nvSpPr>
          <p:cNvPr id="7" name="TextBox 6">
            <a:extLst>
              <a:ext uri="{FF2B5EF4-FFF2-40B4-BE49-F238E27FC236}">
                <a16:creationId xmlns:a16="http://schemas.microsoft.com/office/drawing/2014/main" id="{3AD8186C-A747-FD67-333F-C4076E85E1AE}"/>
              </a:ext>
            </a:extLst>
          </p:cNvPr>
          <p:cNvSpPr txBox="1"/>
          <p:nvPr/>
        </p:nvSpPr>
        <p:spPr>
          <a:xfrm>
            <a:off x="4871864" y="908720"/>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7">
            <a:extLst>
              <a:ext uri="{FF2B5EF4-FFF2-40B4-BE49-F238E27FC236}">
                <a16:creationId xmlns:a16="http://schemas.microsoft.com/office/drawing/2014/main" id="{50BFA23B-0FA3-A62F-398B-3D04A0622468}"/>
              </a:ext>
            </a:extLst>
          </p:cNvPr>
          <p:cNvGraphicFramePr>
            <a:graphicFrameLocks noGrp="1"/>
          </p:cNvGraphicFramePr>
          <p:nvPr>
            <p:extLst>
              <p:ext uri="{D42A27DB-BD31-4B8C-83A1-F6EECF244321}">
                <p14:modId xmlns:p14="http://schemas.microsoft.com/office/powerpoint/2010/main" val="456552613"/>
              </p:ext>
            </p:extLst>
          </p:nvPr>
        </p:nvGraphicFramePr>
        <p:xfrm>
          <a:off x="4871865" y="1401222"/>
          <a:ext cx="4054600"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5">
                  <a:extLst>
                    <a:ext uri="{9D8B030D-6E8A-4147-A177-3AD203B41FA5}">
                      <a16:colId xmlns:a16="http://schemas.microsoft.com/office/drawing/2014/main" val="621473857"/>
                    </a:ext>
                  </a:extLst>
                </a:gridCol>
              </a:tblGrid>
              <a:tr h="370840">
                <a:tc>
                  <a:txBody>
                    <a:bodyPr/>
                    <a:lstStyle/>
                    <a:p>
                      <a:pPr algn="ctr"/>
                      <a:r>
                        <a:rPr lang="en-IN" sz="1800" b="0" dirty="0">
                          <a:latin typeface="Arial" panose="020B0604020202020204" pitchFamily="34" charset="0"/>
                          <a:cs typeface="Arial" panose="020B0604020202020204" pitchFamily="34" charset="0"/>
                        </a:rPr>
                        <a:t>car</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day</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cumulative_distance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1356049217"/>
      </p:ext>
    </p:extLst>
  </p:cSld>
  <p:clrMapOvr>
    <a:masterClrMapping/>
  </p:clrMapOvr>
</p:sld>
</file>

<file path=ppt/slides/slide5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5945A-184A-488A-2E5B-848C462E6E5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F6FC2B-358D-9D1F-AB59-391F7535310D}"/>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0FE28D74-DA8F-E6C3-F2B3-07C3D62AC0BD}"/>
              </a:ext>
            </a:extLst>
          </p:cNvPr>
          <p:cNvSpPr txBox="1"/>
          <p:nvPr/>
        </p:nvSpPr>
        <p:spPr>
          <a:xfrm>
            <a:off x="241201" y="5879013"/>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chemeClr val="accent5">
                    <a:lumMod val="75000"/>
                  </a:schemeClr>
                </a:solidFill>
                <a:latin typeface="Liberation Mono"/>
                <a:cs typeface="Arial" panose="020B0604020202020204" pitchFamily="34" charset="0"/>
              </a:rPr>
              <a:t>*</a:t>
            </a:r>
            <a:r>
              <a:rPr lang="en-IN" dirty="0">
                <a:latin typeface="Liberation Mono"/>
              </a:rPr>
              <a:t>, `Current Row Value` </a:t>
            </a:r>
            <a:r>
              <a:rPr lang="en-IN" dirty="0">
                <a:solidFill>
                  <a:srgbClr val="990055"/>
                </a:solidFill>
                <a:latin typeface="Liberation Mono"/>
              </a:rPr>
              <a:t>-</a:t>
            </a:r>
            <a:r>
              <a:rPr lang="en-IN" dirty="0">
                <a:latin typeface="Liberation Mono"/>
              </a:rPr>
              <a:t> `Next Row Value`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ordid, custid, orderDate, total </a:t>
            </a:r>
            <a:r>
              <a:rPr lang="en-IN" i="1" dirty="0">
                <a:solidFill>
                  <a:schemeClr val="bg1">
                    <a:lumMod val="50000"/>
                  </a:schemeClr>
                </a:solidFill>
                <a:latin typeface="Liberation Mono"/>
              </a:rPr>
              <a:t>"Current Row Value"</a:t>
            </a:r>
            <a:r>
              <a:rPr lang="en-IN" dirty="0">
                <a:latin typeface="Liberation Mono"/>
              </a:rPr>
              <a:t>, </a:t>
            </a:r>
            <a:r>
              <a:rPr lang="en-IN" dirty="0">
                <a:solidFill>
                  <a:srgbClr val="DD4A68"/>
                </a:solidFill>
                <a:latin typeface="Liberation Mono"/>
              </a:rPr>
              <a:t>LAG</a:t>
            </a:r>
            <a:r>
              <a:rPr lang="en-IN" dirty="0">
                <a:latin typeface="Liberation Mono"/>
              </a:rPr>
              <a:t>(total, </a:t>
            </a:r>
            <a:r>
              <a:rPr lang="en-IN" dirty="0">
                <a:solidFill>
                  <a:srgbClr val="990055"/>
                </a:solidFill>
                <a:latin typeface="Liberation Mono"/>
              </a:rPr>
              <a:t>1, </a:t>
            </a:r>
            <a:r>
              <a:rPr lang="en-IN" dirty="0">
                <a:latin typeface="Liberation Mono"/>
              </a:rPr>
              <a:t>total)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ordid) </a:t>
            </a:r>
            <a:r>
              <a:rPr lang="en-IN" i="1" dirty="0">
                <a:solidFill>
                  <a:schemeClr val="bg1">
                    <a:lumMod val="50000"/>
                  </a:schemeClr>
                </a:solidFill>
                <a:latin typeface="Liberation Mono"/>
              </a:rPr>
              <a:t>"Next Row Value"</a:t>
            </a:r>
            <a:r>
              <a:rPr lang="en-IN" dirty="0">
                <a:latin typeface="Liberation Mono"/>
              </a:rPr>
              <a:t> </a:t>
            </a:r>
            <a:r>
              <a:rPr lang="en-IN" dirty="0">
                <a:solidFill>
                  <a:srgbClr val="0077AA"/>
                </a:solidFill>
                <a:latin typeface="Liberation Mono"/>
              </a:rPr>
              <a:t>FROM</a:t>
            </a:r>
            <a:r>
              <a:rPr lang="en-IN" dirty="0">
                <a:latin typeface="Liberation Mono"/>
              </a:rPr>
              <a:t> ord) T1;</a:t>
            </a:r>
          </a:p>
        </p:txBody>
      </p:sp>
      <p:sp>
        <p:nvSpPr>
          <p:cNvPr id="2" name="Rectangle 1">
            <a:extLst>
              <a:ext uri="{FF2B5EF4-FFF2-40B4-BE49-F238E27FC236}">
                <a16:creationId xmlns:a16="http://schemas.microsoft.com/office/drawing/2014/main" id="{8A4E1B2D-77C0-D50A-F03B-EC954B55DEF1}"/>
              </a:ext>
            </a:extLst>
          </p:cNvPr>
          <p:cNvSpPr/>
          <p:nvPr/>
        </p:nvSpPr>
        <p:spPr>
          <a:xfrm>
            <a:off x="47328" y="44624"/>
            <a:ext cx="5976664"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Difference between first row of total column  and immediate next row of total customer wise.</a:t>
            </a:r>
          </a:p>
        </p:txBody>
      </p:sp>
      <p:graphicFrame>
        <p:nvGraphicFramePr>
          <p:cNvPr id="3" name="Table 2">
            <a:extLst>
              <a:ext uri="{FF2B5EF4-FFF2-40B4-BE49-F238E27FC236}">
                <a16:creationId xmlns:a16="http://schemas.microsoft.com/office/drawing/2014/main" id="{E87EC2DA-FFA7-F0B0-77B3-1E08CDEB7DBF}"/>
              </a:ext>
            </a:extLst>
          </p:cNvPr>
          <p:cNvGraphicFramePr>
            <a:graphicFrameLocks noGrp="1"/>
          </p:cNvGraphicFramePr>
          <p:nvPr>
            <p:extLst>
              <p:ext uri="{D42A27DB-BD31-4B8C-83A1-F6EECF244321}">
                <p14:modId xmlns:p14="http://schemas.microsoft.com/office/powerpoint/2010/main" val="1799671213"/>
              </p:ext>
            </p:extLst>
          </p:nvPr>
        </p:nvGraphicFramePr>
        <p:xfrm>
          <a:off x="241201" y="1577176"/>
          <a:ext cx="4270623" cy="3876040"/>
        </p:xfrm>
        <a:graphic>
          <a:graphicData uri="http://schemas.openxmlformats.org/drawingml/2006/table">
            <a:tbl>
              <a:tblPr firstRow="1" bandRow="1">
                <a:tableStyleId>{5940675A-B579-460E-94D1-54222C63F5DA}</a:tableStyleId>
              </a:tblPr>
              <a:tblGrid>
                <a:gridCol w="759915">
                  <a:extLst>
                    <a:ext uri="{9D8B030D-6E8A-4147-A177-3AD203B41FA5}">
                      <a16:colId xmlns:a16="http://schemas.microsoft.com/office/drawing/2014/main" val="2582179302"/>
                    </a:ext>
                  </a:extLst>
                </a:gridCol>
                <a:gridCol w="816444">
                  <a:extLst>
                    <a:ext uri="{9D8B030D-6E8A-4147-A177-3AD203B41FA5}">
                      <a16:colId xmlns:a16="http://schemas.microsoft.com/office/drawing/2014/main" val="238751449"/>
                    </a:ext>
                  </a:extLst>
                </a:gridCol>
                <a:gridCol w="1387954">
                  <a:extLst>
                    <a:ext uri="{9D8B030D-6E8A-4147-A177-3AD203B41FA5}">
                      <a16:colId xmlns:a16="http://schemas.microsoft.com/office/drawing/2014/main" val="621473857"/>
                    </a:ext>
                  </a:extLst>
                </a:gridCol>
                <a:gridCol w="1306310">
                  <a:extLst>
                    <a:ext uri="{9D8B030D-6E8A-4147-A177-3AD203B41FA5}">
                      <a16:colId xmlns:a16="http://schemas.microsoft.com/office/drawing/2014/main" val="682301605"/>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total</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latin typeface="Arial" panose="020B0604020202020204" pitchFamily="34" charset="0"/>
                          <a:cs typeface="Arial" panose="020B0604020202020204" pitchFamily="34" charset="0"/>
                        </a:rPr>
                        <a:t> 3.40</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224.00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C414042A-6F15-96C9-0E75-B1B7F6CDDE7D}"/>
              </a:ext>
            </a:extLst>
          </p:cNvPr>
          <p:cNvSpPr txBox="1"/>
          <p:nvPr/>
        </p:nvSpPr>
        <p:spPr>
          <a:xfrm>
            <a:off x="263353" y="1084674"/>
            <a:ext cx="144016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7" name="TextBox 6">
            <a:extLst>
              <a:ext uri="{FF2B5EF4-FFF2-40B4-BE49-F238E27FC236}">
                <a16:creationId xmlns:a16="http://schemas.microsoft.com/office/drawing/2014/main" id="{4082E4B2-C01D-5720-4A04-F7BB492F7810}"/>
              </a:ext>
            </a:extLst>
          </p:cNvPr>
          <p:cNvSpPr txBox="1"/>
          <p:nvPr/>
        </p:nvSpPr>
        <p:spPr>
          <a:xfrm>
            <a:off x="4871864" y="1084674"/>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9" name="Table 8">
            <a:extLst>
              <a:ext uri="{FF2B5EF4-FFF2-40B4-BE49-F238E27FC236}">
                <a16:creationId xmlns:a16="http://schemas.microsoft.com/office/drawing/2014/main" id="{719A4B66-B73B-3414-DC7B-8C18C9C84877}"/>
              </a:ext>
            </a:extLst>
          </p:cNvPr>
          <p:cNvGraphicFramePr>
            <a:graphicFrameLocks noGrp="1"/>
          </p:cNvGraphicFramePr>
          <p:nvPr>
            <p:extLst>
              <p:ext uri="{D42A27DB-BD31-4B8C-83A1-F6EECF244321}">
                <p14:modId xmlns:p14="http://schemas.microsoft.com/office/powerpoint/2010/main" val="114541333"/>
              </p:ext>
            </p:extLst>
          </p:nvPr>
        </p:nvGraphicFramePr>
        <p:xfrm>
          <a:off x="4799857" y="1577176"/>
          <a:ext cx="7200800" cy="4145280"/>
        </p:xfrm>
        <a:graphic>
          <a:graphicData uri="http://schemas.openxmlformats.org/drawingml/2006/table">
            <a:tbl>
              <a:tblPr firstRow="1" bandRow="1">
                <a:tableStyleId>{5940675A-B579-460E-94D1-54222C63F5DA}</a:tableStyleId>
              </a:tblPr>
              <a:tblGrid>
                <a:gridCol w="791533">
                  <a:extLst>
                    <a:ext uri="{9D8B030D-6E8A-4147-A177-3AD203B41FA5}">
                      <a16:colId xmlns:a16="http://schemas.microsoft.com/office/drawing/2014/main" val="2582179302"/>
                    </a:ext>
                  </a:extLst>
                </a:gridCol>
                <a:gridCol w="851110">
                  <a:extLst>
                    <a:ext uri="{9D8B030D-6E8A-4147-A177-3AD203B41FA5}">
                      <a16:colId xmlns:a16="http://schemas.microsoft.com/office/drawing/2014/main" val="238751449"/>
                    </a:ext>
                  </a:extLst>
                </a:gridCol>
                <a:gridCol w="1446888">
                  <a:extLst>
                    <a:ext uri="{9D8B030D-6E8A-4147-A177-3AD203B41FA5}">
                      <a16:colId xmlns:a16="http://schemas.microsoft.com/office/drawing/2014/main" val="621473857"/>
                    </a:ext>
                  </a:extLst>
                </a:gridCol>
                <a:gridCol w="1361778">
                  <a:extLst>
                    <a:ext uri="{9D8B030D-6E8A-4147-A177-3AD203B41FA5}">
                      <a16:colId xmlns:a16="http://schemas.microsoft.com/office/drawing/2014/main" val="682301605"/>
                    </a:ext>
                  </a:extLst>
                </a:gridCol>
                <a:gridCol w="1446888">
                  <a:extLst>
                    <a:ext uri="{9D8B030D-6E8A-4147-A177-3AD203B41FA5}">
                      <a16:colId xmlns:a16="http://schemas.microsoft.com/office/drawing/2014/main" val="2919703024"/>
                    </a:ext>
                  </a:extLst>
                </a:gridCol>
                <a:gridCol w="1302603">
                  <a:extLst>
                    <a:ext uri="{9D8B030D-6E8A-4147-A177-3AD203B41FA5}">
                      <a16:colId xmlns:a16="http://schemas.microsoft.com/office/drawing/2014/main" val="180850577"/>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Current Row Value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Row Value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Difference</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a:latin typeface="Arial" panose="020B0604020202020204" pitchFamily="34" charset="0"/>
                          <a:cs typeface="Arial" panose="020B0604020202020204" pitchFamily="34" charset="0"/>
                        </a:rPr>
                        <a:t>100</a:t>
                      </a:r>
                      <a:endParaRPr lang="en-IN" sz="1800" dirty="0">
                        <a:latin typeface="Arial" panose="020B0604020202020204" pitchFamily="34" charset="0"/>
                        <a:cs typeface="Arial" panose="020B0604020202020204" pitchFamily="34" charset="0"/>
                      </a:endParaRP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3.40</a:t>
                      </a:r>
                    </a:p>
                  </a:txBody>
                  <a:tcPr/>
                </a:tc>
                <a:tc>
                  <a:txBody>
                    <a:bodyPr/>
                    <a:lstStyle/>
                    <a:p>
                      <a:pPr algn="r"/>
                      <a:r>
                        <a:rPr lang="en-IN" sz="1800">
                          <a:solidFill>
                            <a:srgbClr val="B212AA"/>
                          </a:solidFill>
                          <a:latin typeface="Arial" panose="020B0604020202020204" pitchFamily="34" charset="0"/>
                          <a:cs typeface="Arial" panose="020B0604020202020204" pitchFamily="34" charset="0"/>
                        </a:rPr>
                        <a:t>3.40</a:t>
                      </a:r>
                      <a:endParaRPr lang="en-IN" sz="180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0.00  </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97.50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3.40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94.10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0.00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solidFill>
                            <a:srgbClr val="B212AA"/>
                          </a:solidFill>
                          <a:latin typeface="Arial" panose="020B0604020202020204" pitchFamily="34" charset="0"/>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B212AA"/>
                          </a:solidFill>
                          <a:effectLst/>
                          <a:uLnTx/>
                          <a:uFillTx/>
                          <a:latin typeface="Arial" panose="020B0604020202020204" pitchFamily="34" charset="0"/>
                          <a:ea typeface="+mn-ea"/>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168.00  </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224.00</a:t>
                      </a:r>
                      <a:endParaRPr lang="en-IN" sz="1800"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b="0" dirty="0">
                          <a:solidFill>
                            <a:srgbClr val="B212AA"/>
                          </a:solidFill>
                          <a:latin typeface="Arial" panose="020B0604020202020204" pitchFamily="34" charset="0"/>
                          <a:cs typeface="Arial" panose="020B0604020202020204" pitchFamily="34" charset="0"/>
                        </a:rPr>
                        <a:t>56.00</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-179.00</a:t>
                      </a:r>
                      <a:endParaRPr lang="en-IN" sz="1800"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2729636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8287B-B3A8-BF05-CDC1-3491EE7D8212}"/>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52A4F99-E311-3222-FF83-8CC05D883A5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DCDEE40C-E2A6-69B8-90ED-A0B74432060F}"/>
              </a:ext>
            </a:extLst>
          </p:cNvPr>
          <p:cNvSpPr txBox="1"/>
          <p:nvPr/>
        </p:nvSpPr>
        <p:spPr>
          <a:xfrm>
            <a:off x="241201" y="537321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0077AA"/>
                </a:solidFill>
                <a:latin typeface="Liberation Mono"/>
              </a:rPr>
              <a:t>DISTINCT</a:t>
            </a:r>
            <a:r>
              <a:rPr lang="en-IN" dirty="0">
                <a:latin typeface="Liberation Mono"/>
              </a:rPr>
              <a:t> trainid, </a:t>
            </a:r>
            <a:r>
              <a:rPr lang="en-IN" dirty="0">
                <a:solidFill>
                  <a:srgbClr val="DD4A68"/>
                </a:solidFill>
                <a:latin typeface="Liberation Mono"/>
              </a:rPr>
              <a:t>FIRST_VALUE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"From Station"</a:t>
            </a:r>
            <a:r>
              <a:rPr lang="en-IN" dirty="0">
                <a:latin typeface="Liberation Mono"/>
              </a:rPr>
              <a:t>, </a:t>
            </a:r>
            <a:r>
              <a:rPr lang="en-IN" dirty="0">
                <a:solidFill>
                  <a:srgbClr val="DD4A68"/>
                </a:solidFill>
                <a:latin typeface="Liberation Mono"/>
              </a:rPr>
              <a:t>LAST_VALUE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dirty="0">
                <a:solidFill>
                  <a:srgbClr val="B212AA"/>
                </a:solidFill>
                <a:latin typeface="Liberation Mono"/>
              </a:rPr>
              <a:t>ROWS</a:t>
            </a:r>
            <a:r>
              <a:rPr lang="en-IN" dirty="0">
                <a:latin typeface="Liberation Mono"/>
              </a:rPr>
              <a:t> </a:t>
            </a:r>
            <a:r>
              <a:rPr lang="en-IN" dirty="0">
                <a:solidFill>
                  <a:srgbClr val="B212AA"/>
                </a:solidFill>
                <a:latin typeface="Liberation Mono"/>
              </a:rPr>
              <a:t>BETWEEN</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PRECEDING</a:t>
            </a:r>
            <a:r>
              <a:rPr lang="en-IN" dirty="0">
                <a:latin typeface="Liberation Mono"/>
              </a:rPr>
              <a:t> </a:t>
            </a:r>
            <a:r>
              <a:rPr lang="en-IN" dirty="0">
                <a:solidFill>
                  <a:srgbClr val="B212AA"/>
                </a:solidFill>
                <a:latin typeface="Liberation Mono"/>
              </a:rPr>
              <a:t>AND</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FOLLOWING</a:t>
            </a:r>
            <a:r>
              <a:rPr lang="en-IN" dirty="0">
                <a:latin typeface="Liberation Mono"/>
              </a:rPr>
              <a:t>) </a:t>
            </a:r>
            <a:r>
              <a:rPr lang="en-IN" i="1" dirty="0">
                <a:solidFill>
                  <a:schemeClr val="bg1">
                    <a:lumMod val="50000"/>
                  </a:schemeClr>
                </a:solidFill>
                <a:latin typeface="Liberation Mono"/>
              </a:rPr>
              <a:t>"To Station"</a:t>
            </a:r>
            <a:r>
              <a:rPr lang="en-IN" dirty="0">
                <a:latin typeface="Liberation Mono"/>
              </a:rPr>
              <a:t> </a:t>
            </a:r>
            <a:r>
              <a:rPr lang="en-IN" dirty="0">
                <a:solidFill>
                  <a:srgbClr val="0077AA"/>
                </a:solidFill>
                <a:latin typeface="Liberation Mono"/>
              </a:rPr>
              <a:t>FROM</a:t>
            </a:r>
            <a:r>
              <a:rPr lang="en-IN" dirty="0">
                <a:latin typeface="Liberation Mono"/>
              </a:rPr>
              <a:t> traintimetable;</a:t>
            </a:r>
          </a:p>
        </p:txBody>
      </p:sp>
      <p:graphicFrame>
        <p:nvGraphicFramePr>
          <p:cNvPr id="2" name="Table 2">
            <a:extLst>
              <a:ext uri="{FF2B5EF4-FFF2-40B4-BE49-F238E27FC236}">
                <a16:creationId xmlns:a16="http://schemas.microsoft.com/office/drawing/2014/main" id="{C6844413-1333-D8AD-F016-132C226C1242}"/>
              </a:ext>
            </a:extLst>
          </p:cNvPr>
          <p:cNvGraphicFramePr>
            <a:graphicFrameLocks noGrp="1"/>
          </p:cNvGraphicFramePr>
          <p:nvPr>
            <p:extLst>
              <p:ext uri="{D42A27DB-BD31-4B8C-83A1-F6EECF244321}">
                <p14:modId xmlns:p14="http://schemas.microsoft.com/office/powerpoint/2010/main" val="1027775471"/>
              </p:ext>
            </p:extLst>
          </p:nvPr>
        </p:nvGraphicFramePr>
        <p:xfrm>
          <a:off x="407369" y="1256341"/>
          <a:ext cx="4176463" cy="3708400"/>
        </p:xfrm>
        <a:graphic>
          <a:graphicData uri="http://schemas.openxmlformats.org/drawingml/2006/table">
            <a:tbl>
              <a:tblPr firstRow="1" bandRow="1">
                <a:tableStyleId>{5940675A-B579-460E-94D1-54222C63F5DA}</a:tableStyleId>
              </a:tblPr>
              <a:tblGrid>
                <a:gridCol w="823527">
                  <a:extLst>
                    <a:ext uri="{9D8B030D-6E8A-4147-A177-3AD203B41FA5}">
                      <a16:colId xmlns:a16="http://schemas.microsoft.com/office/drawing/2014/main" val="928063234"/>
                    </a:ext>
                  </a:extLst>
                </a:gridCol>
                <a:gridCol w="1048680">
                  <a:extLst>
                    <a:ext uri="{9D8B030D-6E8A-4147-A177-3AD203B41FA5}">
                      <a16:colId xmlns:a16="http://schemas.microsoft.com/office/drawing/2014/main" val="790049539"/>
                    </a:ext>
                  </a:extLst>
                </a:gridCol>
                <a:gridCol w="2304256">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stationname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Mumbai central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Ahmedabad JN</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solidFill>
                            <a:srgbClr val="C00000"/>
                          </a:solidFill>
                          <a:latin typeface="Arial" panose="020B0604020202020204" pitchFamily="34" charset="0"/>
                          <a:cs typeface="Arial" panose="020B0604020202020204" pitchFamily="34" charset="0"/>
                        </a:rPr>
                        <a:t>Pune JN</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Uruli</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Daund chord line</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Ahmednagar</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9EFED363-3E95-8F43-3ABE-BDC9B67591CF}"/>
              </a:ext>
            </a:extLst>
          </p:cNvPr>
          <p:cNvSpPr txBox="1"/>
          <p:nvPr/>
        </p:nvSpPr>
        <p:spPr>
          <a:xfrm>
            <a:off x="4727848" y="2346122"/>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27F5BC1B-1301-7EFA-D589-FFD218E2277E}"/>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traintimetable</a:t>
            </a:r>
            <a:endParaRPr lang="en-IN" sz="2000" b="1" dirty="0"/>
          </a:p>
        </p:txBody>
      </p:sp>
      <p:graphicFrame>
        <p:nvGraphicFramePr>
          <p:cNvPr id="7" name="Table 2">
            <a:extLst>
              <a:ext uri="{FF2B5EF4-FFF2-40B4-BE49-F238E27FC236}">
                <a16:creationId xmlns:a16="http://schemas.microsoft.com/office/drawing/2014/main" id="{99298B07-34E9-CD9F-9576-C716F65EE62E}"/>
              </a:ext>
            </a:extLst>
          </p:cNvPr>
          <p:cNvGraphicFramePr>
            <a:graphicFrameLocks noGrp="1"/>
          </p:cNvGraphicFramePr>
          <p:nvPr>
            <p:extLst>
              <p:ext uri="{D42A27DB-BD31-4B8C-83A1-F6EECF244321}">
                <p14:modId xmlns:p14="http://schemas.microsoft.com/office/powerpoint/2010/main" val="178410603"/>
              </p:ext>
            </p:extLst>
          </p:nvPr>
        </p:nvGraphicFramePr>
        <p:xfrm>
          <a:off x="6119459" y="1256341"/>
          <a:ext cx="5655600" cy="2423160"/>
        </p:xfrm>
        <a:graphic>
          <a:graphicData uri="http://schemas.openxmlformats.org/drawingml/2006/table">
            <a:tbl>
              <a:tblPr firstRow="1" bandRow="1">
                <a:tableStyleId>{5940675A-B579-460E-94D1-54222C63F5DA}</a:tableStyleId>
              </a:tblPr>
              <a:tblGrid>
                <a:gridCol w="1047600">
                  <a:extLst>
                    <a:ext uri="{9D8B030D-6E8A-4147-A177-3AD203B41FA5}">
                      <a16:colId xmlns:a16="http://schemas.microsoft.com/office/drawing/2014/main" val="928063234"/>
                    </a:ext>
                  </a:extLst>
                </a:gridCol>
                <a:gridCol w="2304000">
                  <a:extLst>
                    <a:ext uri="{9D8B030D-6E8A-4147-A177-3AD203B41FA5}">
                      <a16:colId xmlns:a16="http://schemas.microsoft.com/office/drawing/2014/main" val="790049539"/>
                    </a:ext>
                  </a:extLst>
                </a:gridCol>
                <a:gridCol w="2304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From Station</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 Station</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Mumbai central</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Ahmedabad JN</a:t>
                      </a:r>
                    </a:p>
                  </a:txBody>
                  <a:tcPr/>
                </a:tc>
                <a:extLst>
                  <a:ext uri="{0D108BD9-81ED-4DB2-BD59-A6C34878D82A}">
                    <a16:rowId xmlns:a16="http://schemas.microsoft.com/office/drawing/2014/main" val="3858505310"/>
                  </a:ext>
                </a:extLst>
              </a:tr>
              <a:tr h="370840">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Pune JN</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358421629"/>
                  </a:ext>
                </a:extLst>
              </a:tr>
            </a:tbl>
          </a:graphicData>
        </a:graphic>
      </p:graphicFrame>
      <p:sp>
        <p:nvSpPr>
          <p:cNvPr id="8" name="TextBox 7">
            <a:extLst>
              <a:ext uri="{FF2B5EF4-FFF2-40B4-BE49-F238E27FC236}">
                <a16:creationId xmlns:a16="http://schemas.microsoft.com/office/drawing/2014/main" id="{D0C41406-87ED-D8AE-346A-8A7F02C60B18}"/>
              </a:ext>
            </a:extLst>
          </p:cNvPr>
          <p:cNvSpPr txBox="1"/>
          <p:nvPr/>
        </p:nvSpPr>
        <p:spPr>
          <a:xfrm>
            <a:off x="6096001"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8A3F81C5-7146-0225-AE2E-3C77C78E7C3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Get First Value and Last Value of partition.</a:t>
            </a:r>
          </a:p>
        </p:txBody>
      </p:sp>
    </p:spTree>
    <p:extLst>
      <p:ext uri="{BB962C8B-B14F-4D97-AF65-F5344CB8AC3E}">
        <p14:creationId xmlns:p14="http://schemas.microsoft.com/office/powerpoint/2010/main" val="4106866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00A75-16BA-F5F1-069E-56081314B3A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6FE053E-85B3-7C46-2195-35CF10EDFC06}"/>
              </a:ext>
            </a:extLst>
          </p:cNvPr>
          <p:cNvSpPr txBox="1"/>
          <p:nvPr/>
        </p:nvSpPr>
        <p:spPr>
          <a:xfrm>
            <a:off x="241201" y="5662989"/>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a:t>
            </a:r>
            <a:r>
              <a:rPr lang="en-US" dirty="0">
                <a:solidFill>
                  <a:srgbClr val="DD4A68"/>
                </a:solidFill>
                <a:latin typeface="Liberation Mono"/>
              </a:rPr>
              <a:t> 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COUNT</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5F42C41-42A8-A74C-FC1E-A766662927B2}"/>
              </a:ext>
            </a:extLst>
          </p:cNvPr>
          <p:cNvGraphicFramePr>
            <a:graphicFrameLocks noGrp="1"/>
          </p:cNvGraphicFramePr>
          <p:nvPr>
            <p:extLst>
              <p:ext uri="{D42A27DB-BD31-4B8C-83A1-F6EECF244321}">
                <p14:modId xmlns:p14="http://schemas.microsoft.com/office/powerpoint/2010/main" val="1636953278"/>
              </p:ext>
            </p:extLst>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812F9ABE-8A37-0A11-2AC7-D138AEC3839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85463673-AC18-D9B7-C86D-7EF8A4A08D30}"/>
              </a:ext>
            </a:extLst>
          </p:cNvPr>
          <p:cNvGraphicFramePr>
            <a:graphicFrameLocks noGrp="1"/>
          </p:cNvGraphicFramePr>
          <p:nvPr>
            <p:extLst>
              <p:ext uri="{D42A27DB-BD31-4B8C-83A1-F6EECF244321}">
                <p14:modId xmlns:p14="http://schemas.microsoft.com/office/powerpoint/2010/main" val="2354389249"/>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9EFD1104-E464-7B21-1FD7-C643A37F8589}"/>
              </a:ext>
            </a:extLst>
          </p:cNvPr>
          <p:cNvSpPr txBox="1"/>
          <p:nvPr/>
        </p:nvSpPr>
        <p:spPr>
          <a:xfrm>
            <a:off x="6888087"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2AC7BEA-0D3B-401C-4DC2-CAA357A7E2A9}"/>
              </a:ext>
            </a:extLst>
          </p:cNvPr>
          <p:cNvSpPr txBox="1"/>
          <p:nvPr/>
        </p:nvSpPr>
        <p:spPr>
          <a:xfrm>
            <a:off x="407367" y="5167579"/>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13" name="TextBox 12">
            <a:extLst>
              <a:ext uri="{FF2B5EF4-FFF2-40B4-BE49-F238E27FC236}">
                <a16:creationId xmlns:a16="http://schemas.microsoft.com/office/drawing/2014/main" id="{1C971733-CA2C-9990-071E-4E78D1F877F7}"/>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B4867BFB-B333-033A-D43C-87E2A0ED1FE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7DA6906-2087-17FF-1923-B606081D3F4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350612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6C08E-3C36-4B05-A38A-D08CBCDD753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11B9DB9-2D09-52BC-EFBF-358A52F4A661}"/>
              </a:ext>
            </a:extLst>
          </p:cNvPr>
          <p:cNvSpPr txBox="1"/>
          <p:nvPr/>
        </p:nvSpPr>
        <p:spPr>
          <a:xfrm>
            <a:off x="241201" y="5662800"/>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D4A68"/>
                </a:solidFill>
                <a:latin typeface="Liberation Mono"/>
              </a:rPr>
              <a:t>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jobRole </a:t>
            </a:r>
            <a:r>
              <a:rPr lang="en-IN" dirty="0">
                <a:solidFill>
                  <a:schemeClr val="accent5">
                    <a:lumMod val="75000"/>
                  </a:schemeClr>
                </a:solidFill>
                <a:latin typeface="Liberation Mono"/>
              </a:rPr>
              <a:t>IS NULL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215E59D-2956-6E41-B0DC-1FA1ADB8FC47}"/>
              </a:ext>
            </a:extLst>
          </p:cNvPr>
          <p:cNvGraphicFramePr>
            <a:graphicFrameLocks noGrp="1"/>
          </p:cNvGraphicFramePr>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8DF5D240-684A-F8DD-68DB-F69B864FBBD9}"/>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D07EA2D9-C7EC-6D9E-0ED9-C9CB87F704D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68E70B2C-8D9F-5ADA-1CE0-CA5BC611E874}"/>
              </a:ext>
            </a:extLst>
          </p:cNvPr>
          <p:cNvGraphicFramePr>
            <a:graphicFrameLocks noGrp="1"/>
          </p:cNvGraphicFramePr>
          <p:nvPr>
            <p:extLst>
              <p:ext uri="{D42A27DB-BD31-4B8C-83A1-F6EECF244321}">
                <p14:modId xmlns:p14="http://schemas.microsoft.com/office/powerpoint/2010/main" val="3923550841"/>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CA6F3A4B-C408-E08B-8AEF-C15E3ECE8D8E}"/>
              </a:ext>
            </a:extLst>
          </p:cNvPr>
          <p:cNvSpPr txBox="1"/>
          <p:nvPr/>
        </p:nvSpPr>
        <p:spPr>
          <a:xfrm>
            <a:off x="6888088"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1C2887C0-BC50-24A2-2376-8109C12C0E8F}"/>
              </a:ext>
            </a:extLst>
          </p:cNvPr>
          <p:cNvSpPr txBox="1"/>
          <p:nvPr/>
        </p:nvSpPr>
        <p:spPr>
          <a:xfrm>
            <a:off x="407367" y="5166000"/>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8" name="Rectangle 7">
            <a:extLst>
              <a:ext uri="{FF2B5EF4-FFF2-40B4-BE49-F238E27FC236}">
                <a16:creationId xmlns:a16="http://schemas.microsoft.com/office/drawing/2014/main" id="{8436ABA9-382C-246E-16F1-C5B968FF4E0E}"/>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 </a:t>
            </a:r>
            <a:r>
              <a:rPr lang="en-US" sz="2000">
                <a:solidFill>
                  <a:schemeClr val="accent2">
                    <a:lumMod val="50000"/>
                  </a:schemeClr>
                </a:solidFill>
                <a:latin typeface="Arial" panose="020B0604020202020204" pitchFamily="34" charset="0"/>
                <a:cs typeface="Arial" panose="020B0604020202020204" pitchFamily="34" charset="0"/>
              </a:rPr>
              <a:t>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F73921A7-1692-AA81-D010-8F1DF3F19F7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14425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0342C9-96B8-71A8-120B-116F24A0C9F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67F70F5-59D7-40AB-E0DC-9CFCB64DB553}"/>
              </a:ext>
            </a:extLst>
          </p:cNvPr>
          <p:cNvSpPr txBox="1"/>
          <p:nvPr/>
        </p:nvSpPr>
        <p:spPr>
          <a:xfrm>
            <a:off x="241201" y="480992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FIRST_VALUE</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category, brandName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brandName, </a:t>
            </a:r>
            <a:r>
              <a:rPr lang="en-IN" dirty="0">
                <a:solidFill>
                  <a:srgbClr val="DD4A68"/>
                </a:solidFill>
                <a:latin typeface="Liberation Mono"/>
              </a:rPr>
              <a:t>COUNT</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category, brandName </a:t>
            </a:r>
            <a:r>
              <a:rPr lang="en-IN" dirty="0">
                <a:solidFill>
                  <a:srgbClr val="0077AA"/>
                </a:solidFill>
                <a:latin typeface="Liberation Mono"/>
              </a:rPr>
              <a:t>FROM</a:t>
            </a:r>
            <a:r>
              <a:rPr lang="en-IN" dirty="0">
                <a:latin typeface="Liberation Mono"/>
              </a:rPr>
              <a:t> brands) T1) T1;</a:t>
            </a:r>
          </a:p>
        </p:txBody>
      </p:sp>
      <p:graphicFrame>
        <p:nvGraphicFramePr>
          <p:cNvPr id="2" name="Table 2">
            <a:extLst>
              <a:ext uri="{FF2B5EF4-FFF2-40B4-BE49-F238E27FC236}">
                <a16:creationId xmlns:a16="http://schemas.microsoft.com/office/drawing/2014/main" id="{CE568964-0072-B2BC-C61B-180A3C705DED}"/>
              </a:ext>
            </a:extLst>
          </p:cNvPr>
          <p:cNvGraphicFramePr>
            <a:graphicFrameLocks noGrp="1"/>
          </p:cNvGraphicFramePr>
          <p:nvPr>
            <p:extLst>
              <p:ext uri="{D42A27DB-BD31-4B8C-83A1-F6EECF244321}">
                <p14:modId xmlns:p14="http://schemas.microsoft.com/office/powerpoint/2010/main" val="2478652783"/>
              </p:ext>
            </p:extLst>
          </p:nvPr>
        </p:nvGraphicFramePr>
        <p:xfrm>
          <a:off x="407369"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category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lang="en-IN" dirty="0">
                          <a:latin typeface="Arial" panose="020B0604020202020204" pitchFamily="34" charset="0"/>
                          <a:cs typeface="Arial" panose="020B0604020202020204" pitchFamily="34" charset="0"/>
                        </a:rPr>
                        <a:t>Biscuits</a:t>
                      </a: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 boost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90128946"/>
                  </a:ext>
                </a:extLst>
              </a:tr>
            </a:tbl>
          </a:graphicData>
        </a:graphic>
      </p:graphicFrame>
      <p:sp>
        <p:nvSpPr>
          <p:cNvPr id="3" name="TextBox 2">
            <a:extLst>
              <a:ext uri="{FF2B5EF4-FFF2-40B4-BE49-F238E27FC236}">
                <a16:creationId xmlns:a16="http://schemas.microsoft.com/office/drawing/2014/main" id="{7E29F7FE-8B2A-E0CF-426E-5072C0FA806B}"/>
              </a:ext>
            </a:extLst>
          </p:cNvPr>
          <p:cNvSpPr txBox="1"/>
          <p:nvPr/>
        </p:nvSpPr>
        <p:spPr>
          <a:xfrm>
            <a:off x="4778940" y="253964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8E69FB8-B0D0-94AB-4537-20F43A574158}"/>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brands</a:t>
            </a:r>
            <a:endParaRPr lang="en-IN" sz="2000" b="1" dirty="0"/>
          </a:p>
        </p:txBody>
      </p:sp>
      <p:sp>
        <p:nvSpPr>
          <p:cNvPr id="11" name="TextBox 10">
            <a:extLst>
              <a:ext uri="{FF2B5EF4-FFF2-40B4-BE49-F238E27FC236}">
                <a16:creationId xmlns:a16="http://schemas.microsoft.com/office/drawing/2014/main" id="{2DE8D297-6957-027A-384B-D5F8E8C018C7}"/>
              </a:ext>
            </a:extLst>
          </p:cNvPr>
          <p:cNvSpPr txBox="1"/>
          <p:nvPr/>
        </p:nvSpPr>
        <p:spPr>
          <a:xfrm>
            <a:off x="6672064" y="777015"/>
            <a:ext cx="108012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2">
            <a:extLst>
              <a:ext uri="{FF2B5EF4-FFF2-40B4-BE49-F238E27FC236}">
                <a16:creationId xmlns:a16="http://schemas.microsoft.com/office/drawing/2014/main" id="{7A7BBFE0-DEAA-5979-ACD8-CA47CC9C6761}"/>
              </a:ext>
            </a:extLst>
          </p:cNvPr>
          <p:cNvGraphicFramePr>
            <a:graphicFrameLocks noGrp="1"/>
          </p:cNvGraphicFramePr>
          <p:nvPr>
            <p:extLst>
              <p:ext uri="{D42A27DB-BD31-4B8C-83A1-F6EECF244321}">
                <p14:modId xmlns:p14="http://schemas.microsoft.com/office/powerpoint/2010/main" val="808366824"/>
              </p:ext>
            </p:extLst>
          </p:nvPr>
        </p:nvGraphicFramePr>
        <p:xfrm>
          <a:off x="6672064"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category</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Biscuits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boost</a:t>
                      </a:r>
                    </a:p>
                  </a:txBody>
                  <a:tcPr/>
                </a:tc>
                <a:extLst>
                  <a:ext uri="{0D108BD9-81ED-4DB2-BD59-A6C34878D82A}">
                    <a16:rowId xmlns:a16="http://schemas.microsoft.com/office/drawing/2014/main" val="2890128946"/>
                  </a:ext>
                </a:extLst>
              </a:tr>
            </a:tbl>
          </a:graphicData>
        </a:graphic>
      </p:graphicFrame>
      <p:sp>
        <p:nvSpPr>
          <p:cNvPr id="7" name="Rectangle 6">
            <a:extLst>
              <a:ext uri="{FF2B5EF4-FFF2-40B4-BE49-F238E27FC236}">
                <a16:creationId xmlns:a16="http://schemas.microsoft.com/office/drawing/2014/main" id="{AA06DF21-617B-A435-6886-F3A82511D6A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without 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DEAEC2F9-9AB4-B7F5-5DCD-E4FC692871A1}"/>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5079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0DCE5-6F99-8152-C439-4AF37F6F04EA}"/>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EB9B83C2-E235-868E-A5C5-3C255B377C82}"/>
              </a:ext>
            </a:extLst>
          </p:cNvPr>
          <p:cNvSpPr txBox="1"/>
          <p:nvPr/>
        </p:nvSpPr>
        <p:spPr>
          <a:xfrm>
            <a:off x="479376" y="665401"/>
            <a:ext cx="11305256" cy="1015663"/>
          </a:xfrm>
          <a:prstGeom prst="rect">
            <a:avLst/>
          </a:prstGeom>
          <a:noFill/>
        </p:spPr>
        <p:txBody>
          <a:bodyPr wrap="square">
            <a:spAutoFit/>
          </a:bodyPr>
          <a:lstStyle/>
          <a:p>
            <a:r>
              <a:rPr lang="en-IN" sz="2000" dirty="0">
                <a:solidFill>
                  <a:srgbClr val="DD4A68"/>
                </a:solidFill>
                <a:latin typeface="Liberation Mono"/>
              </a:rPr>
              <a:t>LEAD</a:t>
            </a:r>
            <a:r>
              <a:rPr lang="en-IN" sz="2000" dirty="0">
                <a:latin typeface="Liberation Mono"/>
              </a:rPr>
              <a:t>(</a:t>
            </a:r>
            <a:r>
              <a:rPr lang="en-US" sz="2000" i="1" dirty="0">
                <a:latin typeface="Liberation Mono"/>
              </a:rPr>
              <a:t>expr </a:t>
            </a:r>
            <a:r>
              <a:rPr lang="en-US" sz="2000" dirty="0">
                <a:latin typeface="Liberation Mono"/>
              </a:rPr>
              <a:t>[, </a:t>
            </a:r>
            <a:r>
              <a:rPr lang="en-US" sz="2000" i="1" dirty="0">
                <a:latin typeface="Liberation Mono"/>
              </a:rPr>
              <a:t>N</a:t>
            </a:r>
            <a:r>
              <a:rPr lang="en-US" sz="2000" dirty="0">
                <a:latin typeface="Liberation Mono"/>
              </a:rPr>
              <a:t> [, </a:t>
            </a:r>
            <a:r>
              <a:rPr lang="en-US" sz="2000" i="1" dirty="0">
                <a:latin typeface="Liberation Mono"/>
              </a:rPr>
              <a:t>default</a:t>
            </a:r>
            <a:r>
              <a:rPr lang="en-US" sz="2000" dirty="0">
                <a:latin typeface="Liberation Mono"/>
              </a:rPr>
              <a:t> ] ] </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US"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 AS </a:t>
            </a:r>
            <a:r>
              <a:rPr lang="en-US" sz="2000" i="1" dirty="0">
                <a:solidFill>
                  <a:schemeClr val="bg1">
                    <a:lumMod val="50000"/>
                  </a:schemeClr>
                </a:solidFill>
                <a:latin typeface="Liberation Mono"/>
              </a:rPr>
              <a:t>R1</a:t>
            </a:r>
            <a:endParaRPr lang="en-IN" sz="2000" i="1" dirty="0">
              <a:solidFill>
                <a:schemeClr val="bg1">
                  <a:lumMod val="50000"/>
                </a:schemeClr>
              </a:solidFill>
              <a:latin typeface="Liberation Mono"/>
            </a:endParaRPr>
          </a:p>
        </p:txBody>
      </p:sp>
      <p:sp>
        <p:nvSpPr>
          <p:cNvPr id="4" name="Rectangle 3">
            <a:extLst>
              <a:ext uri="{FF2B5EF4-FFF2-40B4-BE49-F238E27FC236}">
                <a16:creationId xmlns:a16="http://schemas.microsoft.com/office/drawing/2014/main" id="{85293D79-4CF5-02B3-AFCC-CCF3BACCB43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a:solidFill>
                  <a:schemeClr val="accent2">
                    <a:lumMod val="50000"/>
                  </a:schemeClr>
                </a:solidFill>
                <a:latin typeface="Arial" panose="020B0604020202020204" pitchFamily="34" charset="0"/>
                <a:cs typeface="Arial" panose="020B0604020202020204" pitchFamily="34" charset="0"/>
              </a:rPr>
              <a:t>next </a:t>
            </a:r>
            <a:r>
              <a:rPr lang="en-US" sz="2000" dirty="0">
                <a:solidFill>
                  <a:schemeClr val="accent2">
                    <a:lumMod val="50000"/>
                  </a:schemeClr>
                </a:solidFill>
                <a:latin typeface="Arial" panose="020B0604020202020204" pitchFamily="34" charset="0"/>
                <a:cs typeface="Arial" panose="020B0604020202020204" pitchFamily="34" charset="0"/>
              </a:rPr>
              <a:t>metro station.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708DD136-3E7B-B960-157D-E3C5AACA5FB7}"/>
              </a:ext>
            </a:extLst>
          </p:cNvPr>
          <p:cNvSpPr txBox="1"/>
          <p:nvPr/>
        </p:nvSpPr>
        <p:spPr>
          <a:xfrm>
            <a:off x="191345" y="5949280"/>
            <a:ext cx="11305257"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route_no, stop_name AS </a:t>
            </a:r>
            <a:r>
              <a:rPr lang="en-US" i="1" dirty="0">
                <a:solidFill>
                  <a:schemeClr val="bg1">
                    <a:lumMod val="50000"/>
                  </a:schemeClr>
                </a:solidFill>
                <a:latin typeface="Liberation Mono"/>
              </a:rPr>
              <a:t>current_stop</a:t>
            </a:r>
            <a:r>
              <a:rPr lang="en-US" dirty="0">
                <a:latin typeface="Liberation Mono"/>
              </a:rPr>
              <a:t>, </a:t>
            </a:r>
            <a:r>
              <a:rPr lang="en-US" dirty="0">
                <a:solidFill>
                  <a:srgbClr val="DD4A68"/>
                </a:solidFill>
                <a:latin typeface="Liberation Mono"/>
              </a:rPr>
              <a:t>LEAD</a:t>
            </a:r>
            <a:r>
              <a:rPr lang="en-US" dirty="0">
                <a:latin typeface="Liberation Mono"/>
              </a:rPr>
              <a:t>(stop_name)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route_no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stop_id) AS </a:t>
            </a:r>
            <a:r>
              <a:rPr lang="en-US" i="1" dirty="0">
                <a:solidFill>
                  <a:schemeClr val="bg1">
                    <a:lumMod val="50000"/>
                  </a:schemeClr>
                </a:solidFill>
                <a:latin typeface="Liberation Mono"/>
              </a:rPr>
              <a:t>next_stop </a:t>
            </a:r>
            <a:r>
              <a:rPr lang="en-US" dirty="0">
                <a:solidFill>
                  <a:srgbClr val="0077AA"/>
                </a:solidFill>
                <a:latin typeface="Liberation Mono"/>
              </a:rPr>
              <a:t>FROM</a:t>
            </a:r>
            <a:r>
              <a:rPr lang="en-US" dirty="0">
                <a:latin typeface="Liberation Mono"/>
              </a:rPr>
              <a:t> pune_metro_stations;</a:t>
            </a:r>
          </a:p>
        </p:txBody>
      </p:sp>
      <p:graphicFrame>
        <p:nvGraphicFramePr>
          <p:cNvPr id="12" name="Table 2">
            <a:extLst>
              <a:ext uri="{FF2B5EF4-FFF2-40B4-BE49-F238E27FC236}">
                <a16:creationId xmlns:a16="http://schemas.microsoft.com/office/drawing/2014/main" id="{5E9831CE-53EA-11E0-F969-8F6CDAD37C49}"/>
              </a:ext>
            </a:extLst>
          </p:cNvPr>
          <p:cNvGraphicFramePr>
            <a:graphicFrameLocks noGrp="1"/>
          </p:cNvGraphicFramePr>
          <p:nvPr>
            <p:extLst>
              <p:ext uri="{D42A27DB-BD31-4B8C-83A1-F6EECF244321}">
                <p14:modId xmlns:p14="http://schemas.microsoft.com/office/powerpoint/2010/main" val="3219531480"/>
              </p:ext>
            </p:extLst>
          </p:nvPr>
        </p:nvGraphicFramePr>
        <p:xfrm>
          <a:off x="191346" y="2312888"/>
          <a:ext cx="4608510" cy="3357880"/>
        </p:xfrm>
        <a:graphic>
          <a:graphicData uri="http://schemas.openxmlformats.org/drawingml/2006/table">
            <a:tbl>
              <a:tblPr firstRow="1" bandRow="1">
                <a:tableStyleId>{5940675A-B579-460E-94D1-54222C63F5DA}</a:tableStyleId>
              </a:tblPr>
              <a:tblGrid>
                <a:gridCol w="1020246">
                  <a:extLst>
                    <a:ext uri="{9D8B030D-6E8A-4147-A177-3AD203B41FA5}">
                      <a16:colId xmlns:a16="http://schemas.microsoft.com/office/drawing/2014/main" val="928063234"/>
                    </a:ext>
                  </a:extLst>
                </a:gridCol>
                <a:gridCol w="1716056">
                  <a:extLst>
                    <a:ext uri="{9D8B030D-6E8A-4147-A177-3AD203B41FA5}">
                      <a16:colId xmlns:a16="http://schemas.microsoft.com/office/drawing/2014/main" val="790049539"/>
                    </a:ext>
                  </a:extLst>
                </a:gridCol>
                <a:gridCol w="360040">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2333558815"/>
                    </a:ext>
                  </a:extLst>
                </a:gridCol>
              </a:tblGrid>
              <a:tr h="370840">
                <a:tc>
                  <a:txBody>
                    <a:bodyPr/>
                    <a:lstStyle/>
                    <a:p>
                      <a:pPr algn="ctr"/>
                      <a:r>
                        <a:rPr lang="en-IN" dirty="0">
                          <a:latin typeface="Arial" panose="020B0604020202020204" pitchFamily="34" charset="0"/>
                          <a:cs typeface="Arial" panose="020B0604020202020204" pitchFamily="34" charset="0"/>
                        </a:rPr>
                        <a:t>stop_id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stop_name</a:t>
                      </a:r>
                    </a:p>
                  </a:txBody>
                  <a:tcPr>
                    <a:solidFill>
                      <a:srgbClr val="FFFF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next_stop_id</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3" name="TextBox 12">
            <a:extLst>
              <a:ext uri="{FF2B5EF4-FFF2-40B4-BE49-F238E27FC236}">
                <a16:creationId xmlns:a16="http://schemas.microsoft.com/office/drawing/2014/main" id="{ED22E4E2-C1A5-C26D-BF14-54219EA2B4CC}"/>
              </a:ext>
            </a:extLst>
          </p:cNvPr>
          <p:cNvSpPr txBox="1"/>
          <p:nvPr/>
        </p:nvSpPr>
        <p:spPr>
          <a:xfrm>
            <a:off x="191345" y="1833562"/>
            <a:ext cx="3240360" cy="400110"/>
          </a:xfrm>
          <a:prstGeom prst="rect">
            <a:avLst/>
          </a:prstGeom>
          <a:noFill/>
        </p:spPr>
        <p:txBody>
          <a:bodyPr wrap="square">
            <a:spAutoFit/>
          </a:bodyPr>
          <a:lstStyle/>
          <a:p>
            <a:r>
              <a:rPr lang="en-IN" sz="2000" b="1" dirty="0">
                <a:latin typeface="Liberation Mono"/>
              </a:rPr>
              <a:t>Table:- pune_metro_stations</a:t>
            </a:r>
            <a:endParaRPr lang="en-IN" sz="2000" b="1" dirty="0"/>
          </a:p>
        </p:txBody>
      </p:sp>
      <p:graphicFrame>
        <p:nvGraphicFramePr>
          <p:cNvPr id="15" name="Table 2">
            <a:extLst>
              <a:ext uri="{FF2B5EF4-FFF2-40B4-BE49-F238E27FC236}">
                <a16:creationId xmlns:a16="http://schemas.microsoft.com/office/drawing/2014/main" id="{B54C33C9-251C-0D00-D4C1-393C70C1D2A9}"/>
              </a:ext>
            </a:extLst>
          </p:cNvPr>
          <p:cNvGraphicFramePr>
            <a:graphicFrameLocks noGrp="1"/>
          </p:cNvGraphicFramePr>
          <p:nvPr>
            <p:extLst>
              <p:ext uri="{D42A27DB-BD31-4B8C-83A1-F6EECF244321}">
                <p14:modId xmlns:p14="http://schemas.microsoft.com/office/powerpoint/2010/main" val="4269394548"/>
              </p:ext>
            </p:extLst>
          </p:nvPr>
        </p:nvGraphicFramePr>
        <p:xfrm>
          <a:off x="6096000" y="2312888"/>
          <a:ext cx="5328591" cy="3230880"/>
        </p:xfrm>
        <a:graphic>
          <a:graphicData uri="http://schemas.openxmlformats.org/drawingml/2006/table">
            <a:tbl>
              <a:tblPr firstRow="1" bandRow="1">
                <a:tableStyleId>{5940675A-B579-460E-94D1-54222C63F5DA}</a:tableStyleId>
              </a:tblPr>
              <a:tblGrid>
                <a:gridCol w="1279631">
                  <a:extLst>
                    <a:ext uri="{9D8B030D-6E8A-4147-A177-3AD203B41FA5}">
                      <a16:colId xmlns:a16="http://schemas.microsoft.com/office/drawing/2014/main" val="928063234"/>
                    </a:ext>
                  </a:extLst>
                </a:gridCol>
                <a:gridCol w="2152342">
                  <a:extLst>
                    <a:ext uri="{9D8B030D-6E8A-4147-A177-3AD203B41FA5}">
                      <a16:colId xmlns:a16="http://schemas.microsoft.com/office/drawing/2014/main" val="790049539"/>
                    </a:ext>
                  </a:extLst>
                </a:gridCol>
                <a:gridCol w="1896618">
                  <a:extLst>
                    <a:ext uri="{9D8B030D-6E8A-4147-A177-3AD203B41FA5}">
                      <a16:colId xmlns:a16="http://schemas.microsoft.com/office/drawing/2014/main" val="2333558815"/>
                    </a:ext>
                  </a:extLst>
                </a:gridCol>
              </a:tblGrid>
              <a:tr h="370840">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stop_id</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current_stop</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next_stop</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Anand Nagar</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Ideal Colony</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Ramwadi</a:t>
                      </a: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algn="l"/>
                      <a:r>
                        <a:rPr lang="en-US" dirty="0">
                          <a:solidFill>
                            <a:srgbClr val="B212AA"/>
                          </a:solidFill>
                          <a:latin typeface="Arial" panose="020B0604020202020204" pitchFamily="34" charset="0"/>
                          <a:cs typeface="Arial" panose="020B0604020202020204" pitchFamily="34" charset="0"/>
                        </a:rPr>
                        <a:t>NULL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6" name="TextBox 15">
            <a:extLst>
              <a:ext uri="{FF2B5EF4-FFF2-40B4-BE49-F238E27FC236}">
                <a16:creationId xmlns:a16="http://schemas.microsoft.com/office/drawing/2014/main" id="{110BC27E-3D17-1CE8-22E6-CC31D4757618}"/>
              </a:ext>
            </a:extLst>
          </p:cNvPr>
          <p:cNvSpPr txBox="1"/>
          <p:nvPr/>
        </p:nvSpPr>
        <p:spPr>
          <a:xfrm>
            <a:off x="6095999" y="1833562"/>
            <a:ext cx="1080121"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Rectangle 1">
            <a:extLst>
              <a:ext uri="{FF2B5EF4-FFF2-40B4-BE49-F238E27FC236}">
                <a16:creationId xmlns:a16="http://schemas.microsoft.com/office/drawing/2014/main" id="{AF81826D-4FBC-CF1E-F39F-E6DDD56732DF}"/>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LEAD</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286602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user-defined variables</a:t>
            </a:r>
          </a:p>
        </p:txBody>
      </p:sp>
    </p:spTree>
    <p:extLst>
      <p:ext uri="{BB962C8B-B14F-4D97-AF65-F5344CB8AC3E}">
        <p14:creationId xmlns:p14="http://schemas.microsoft.com/office/powerpoint/2010/main" val="3791859850"/>
      </p:ext>
    </p:extLst>
  </p:cSld>
  <p:clrMapOvr>
    <a:masterClrMapping/>
  </p:clrMapOvr>
</p:sld>
</file>

<file path=ppt/slides/slide5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C9F1F6F-8F83-457B-A3AB-0B8009F438C0}"/>
              </a:ext>
            </a:extLst>
          </p:cNvPr>
          <p:cNvSpPr/>
          <p:nvPr/>
        </p:nvSpPr>
        <p:spPr>
          <a:xfrm>
            <a:off x="406400" y="1463873"/>
            <a:ext cx="11377438" cy="350865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 user variable name can contain other characters if you quote it as a string or identifier (for example, @'my-var', @"my-var", or @`my-var`).</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User-defined variables are session specific. A user variable defined by one client cannot be seen or used by other clients.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All variables for a given client session are automatically freed when that client exits.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 names are not case sensitive. Names have a maximum length of 64 characters.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 value of a user variable is selected in a result set, it is returned to the client as a string.</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you refer to a variable that has not been initialized, it has a value of NULL and a type of string.</a:t>
            </a:r>
          </a:p>
          <a:p>
            <a:r>
              <a:rPr lang="en-IN" dirty="0">
                <a:latin typeface="Palatino Linotype" panose="02040502050505030304" pitchFamily="18" charset="0"/>
                <a:cs typeface="Arial" panose="020B0604020202020204" pitchFamily="34" charset="0"/>
              </a:rPr>
              <a:t>    </a:t>
            </a:r>
            <a:r>
              <a:rPr lang="en-IN" dirty="0">
                <a:solidFill>
                  <a:srgbClr val="FF0000"/>
                </a:solidFill>
                <a:latin typeface="Palatino Linotype" panose="02040502050505030304" pitchFamily="18" charset="0"/>
                <a:cs typeface="Arial" panose="020B0604020202020204" pitchFamily="34" charset="0"/>
              </a:rPr>
              <a:t>e.g. </a:t>
            </a:r>
            <a:r>
              <a:rPr lang="en-IN" dirty="0">
                <a:solidFill>
                  <a:srgbClr val="0077AA"/>
                </a:solidFill>
                <a:latin typeface="Liberation Mono"/>
              </a:rPr>
              <a:t>SELECT</a:t>
            </a:r>
            <a:r>
              <a:rPr lang="en-IN" dirty="0">
                <a:solidFill>
                  <a:srgbClr val="000000"/>
                </a:solidFill>
                <a:latin typeface="Liberation Mono"/>
              </a:rPr>
              <a:t> </a:t>
            </a:r>
            <a:r>
              <a:rPr lang="en-IN" dirty="0">
                <a:solidFill>
                  <a:srgbClr val="EE9900"/>
                </a:solidFill>
                <a:latin typeface="Liberation Mono"/>
              </a:rPr>
              <a:t>@variable_name</a:t>
            </a:r>
            <a:r>
              <a:rPr lang="en-IN" dirty="0">
                <a:latin typeface="Liberation Mono"/>
              </a:rPr>
              <a:t>;</a:t>
            </a:r>
            <a:endParaRPr lang="en-IN" sz="2200" dirty="0">
              <a:latin typeface="Liberation Mono"/>
            </a:endParaRPr>
          </a:p>
        </p:txBody>
      </p:sp>
      <p:cxnSp>
        <p:nvCxnSpPr>
          <p:cNvPr id="7" name="Straight Connector 6">
            <a:extLst>
              <a:ext uri="{FF2B5EF4-FFF2-40B4-BE49-F238E27FC236}">
                <a16:creationId xmlns:a16="http://schemas.microsoft.com/office/drawing/2014/main" id="{64B7EF33-5AE4-491D-BBD9-27B21C94B0D8}"/>
              </a:ext>
            </a:extLst>
          </p:cNvPr>
          <p:cNvCxnSpPr>
            <a:cxnSpLocks/>
          </p:cNvCxnSpPr>
          <p:nvPr/>
        </p:nvCxnSpPr>
        <p:spPr>
          <a:xfrm>
            <a:off x="336154" y="5157192"/>
            <a:ext cx="11520486"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55363BD-1718-45C6-99DF-F5FAB5F1FE09}"/>
              </a:ext>
            </a:extLst>
          </p:cNvPr>
          <p:cNvSpPr txBox="1"/>
          <p:nvPr/>
        </p:nvSpPr>
        <p:spPr>
          <a:xfrm>
            <a:off x="263352" y="692696"/>
            <a:ext cx="11592493"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34F67290-94D2-4E48-4B90-B3922ECFCB6F}"/>
              </a:ext>
            </a:extLst>
          </p:cNvPr>
          <p:cNvSpPr txBox="1"/>
          <p:nvPr/>
        </p:nvSpPr>
        <p:spPr>
          <a:xfrm>
            <a:off x="8472264" y="708952"/>
            <a:ext cx="2195736" cy="430887"/>
          </a:xfrm>
          <a:prstGeom prst="rect">
            <a:avLst/>
          </a:prstGeom>
          <a:noFill/>
        </p:spPr>
        <p:txBody>
          <a:bodyPr wrap="square">
            <a:spAutoFit/>
          </a:bodyPr>
          <a:lstStyle>
            <a:defPPr>
              <a:defRPr lang="en-US"/>
            </a:defPPr>
            <a:lvl1pPr algn="r">
              <a:defRPr sz="2200">
                <a:solidFill>
                  <a:srgbClr val="C00000"/>
                </a:solidFill>
                <a:latin typeface="Arial" panose="020B0604020202020204" pitchFamily="34" charset="0"/>
                <a:cs typeface="Arial" panose="020B0604020202020204" pitchFamily="34" charset="0"/>
              </a:defRPr>
            </a:lvl1pPr>
          </a:lstStyle>
          <a:p>
            <a:r>
              <a:rPr lang="en-IN" dirty="0"/>
              <a:t>session variable</a:t>
            </a:r>
          </a:p>
        </p:txBody>
      </p:sp>
    </p:spTree>
    <p:extLst>
      <p:ext uri="{BB962C8B-B14F-4D97-AF65-F5344CB8AC3E}">
        <p14:creationId xmlns:p14="http://schemas.microsoft.com/office/powerpoint/2010/main" val="62842086"/>
      </p:ext>
    </p:extLst>
  </p:cSld>
  <p:clrMapOvr>
    <a:masterClrMapping/>
  </p:clrMapOvr>
</p:sld>
</file>

<file path=ppt/slides/slide5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11" name="Picture 10"/>
          <p:cNvPicPr>
            <a:picLocks noChangeAspect="1"/>
          </p:cNvPicPr>
          <p:nvPr/>
        </p:nvPicPr>
        <p:blipFill>
          <a:blip r:embed="rId2" cstate="print"/>
          <a:stretch>
            <a:fillRect/>
          </a:stretch>
        </p:blipFill>
        <p:spPr>
          <a:xfrm>
            <a:off x="5089478" y="5687382"/>
            <a:ext cx="6780271" cy="875871"/>
          </a:xfrm>
          <a:prstGeom prst="rect">
            <a:avLst/>
          </a:prstGeom>
        </p:spPr>
      </p:pic>
      <p:sp>
        <p:nvSpPr>
          <p:cNvPr id="12" name="Rectangle 11">
            <a:extLst>
              <a:ext uri="{FF2B5EF4-FFF2-40B4-BE49-F238E27FC236}">
                <a16:creationId xmlns:a16="http://schemas.microsoft.com/office/drawing/2014/main" id="{26F9AFF1-73A9-43D9-8195-8477F3EA2C2E}"/>
              </a:ext>
            </a:extLst>
          </p:cNvPr>
          <p:cNvSpPr/>
          <p:nvPr/>
        </p:nvSpPr>
        <p:spPr>
          <a:xfrm>
            <a:off x="406574" y="838202"/>
            <a:ext cx="11449272" cy="646331"/>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You can store a value in a user-defined variable in one statement and refer to it later in another statement. This enables you to pass values from one statement to another.</a:t>
            </a:r>
          </a:p>
        </p:txBody>
      </p:sp>
      <p:sp>
        <p:nvSpPr>
          <p:cNvPr id="13" name="Rectangle 12">
            <a:extLst>
              <a:ext uri="{FF2B5EF4-FFF2-40B4-BE49-F238E27FC236}">
                <a16:creationId xmlns:a16="http://schemas.microsoft.com/office/drawing/2014/main" id="{E40EC3BD-1EFE-4DB1-AD41-BB513B1CB31B}"/>
              </a:ext>
            </a:extLst>
          </p:cNvPr>
          <p:cNvSpPr/>
          <p:nvPr/>
        </p:nvSpPr>
        <p:spPr>
          <a:xfrm>
            <a:off x="370570" y="2204864"/>
            <a:ext cx="11449272" cy="1631216"/>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Palatino Linotype" panose="02040502050505030304" pitchFamily="18" charset="0"/>
                <a:cs typeface="Arial" panose="020B0604020202020204" pitchFamily="34" charset="0"/>
              </a:rPr>
              <a:t>:</a:t>
            </a: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for SET, either </a:t>
            </a:r>
            <a:r>
              <a:rPr lang="en-IN" dirty="0">
                <a:solidFill>
                  <a:srgbClr val="A67F59"/>
                </a:solidFill>
                <a:latin typeface="Liberation Mono"/>
              </a:rPr>
              <a:t>=</a:t>
            </a:r>
            <a:r>
              <a:rPr lang="en-IN" dirty="0">
                <a:solidFill>
                  <a:srgbClr val="FF0000"/>
                </a:solidFill>
                <a:latin typeface="Palatino Linotype" panose="02040502050505030304" pitchFamily="18" charset="0"/>
                <a:cs typeface="Arial" panose="020B0604020202020204" pitchFamily="34" charset="0"/>
              </a:rPr>
              <a:t> </a:t>
            </a:r>
            <a:r>
              <a:rPr lang="en-IN" sz="2400" dirty="0">
                <a:latin typeface="Palatino Linotype" panose="02040502050505030304" pitchFamily="18" charset="0"/>
                <a:cs typeface="Arial" panose="020B0604020202020204" pitchFamily="34" charset="0"/>
              </a:rPr>
              <a:t>or </a:t>
            </a:r>
            <a:r>
              <a:rPr lang="en-IN" dirty="0">
                <a:solidFill>
                  <a:srgbClr val="A67F59"/>
                </a:solidFill>
                <a:latin typeface="Liberation Mono"/>
              </a:rPr>
              <a:t>:=</a:t>
            </a:r>
            <a:r>
              <a:rPr lang="en-IN" sz="24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can be used as the assignment operator.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You can also assign a value to a user variable in statements (SELECT, …) other than SET. In this case, the assignment operator must be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not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because latter is treated as the </a:t>
            </a:r>
            <a:r>
              <a:rPr lang="en-IN" b="1" dirty="0">
                <a:latin typeface="Palatino Linotype" panose="02040502050505030304" pitchFamily="18" charset="0"/>
                <a:cs typeface="Arial" panose="020B0604020202020204" pitchFamily="34" charset="0"/>
              </a:rPr>
              <a:t>comparison operator =</a:t>
            </a:r>
            <a:r>
              <a:rPr lang="en-IN" dirty="0">
                <a:latin typeface="Palatino Linotype" panose="02040502050505030304" pitchFamily="18" charset="0"/>
                <a:cs typeface="Arial" panose="020B0604020202020204" pitchFamily="34" charset="0"/>
              </a:rPr>
              <a:t>.</a:t>
            </a:r>
          </a:p>
        </p:txBody>
      </p:sp>
      <p:sp>
        <p:nvSpPr>
          <p:cNvPr id="14" name="Rectangle 13">
            <a:extLst>
              <a:ext uri="{FF2B5EF4-FFF2-40B4-BE49-F238E27FC236}">
                <a16:creationId xmlns:a16="http://schemas.microsoft.com/office/drawing/2014/main" id="{E1E43AF7-41E2-4540-9C58-41BF03EA72F6}"/>
              </a:ext>
            </a:extLst>
          </p:cNvPr>
          <p:cNvSpPr/>
          <p:nvPr/>
        </p:nvSpPr>
        <p:spPr>
          <a:xfrm>
            <a:off x="404358" y="1607746"/>
            <a:ext cx="8872681" cy="430887"/>
          </a:xfrm>
          <a:prstGeom prst="rect">
            <a:avLst/>
          </a:prstGeom>
        </p:spPr>
        <p:txBody>
          <a:bodyPr wrap="square">
            <a:spAutoFit/>
          </a:bodyPr>
          <a:lstStyle/>
          <a:p>
            <a:r>
              <a:rPr lang="en-IN" sz="2200" dirty="0">
                <a:solidFill>
                  <a:srgbClr val="0077AA"/>
                </a:solidFill>
                <a:latin typeface="Liberation Mono"/>
              </a:rPr>
              <a:t>SET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solidFill>
                  <a:srgbClr val="000000"/>
                </a:solidFill>
                <a:latin typeface="Liberation Mono"/>
              </a:rPr>
              <a:t> </a:t>
            </a:r>
            <a:r>
              <a:rPr lang="en-IN" sz="2200" dirty="0">
                <a:latin typeface="Liberation Mono"/>
              </a:rPr>
              <a: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latin typeface="Liberation Mono"/>
              </a:rPr>
              <a:t>] </a:t>
            </a:r>
            <a:r>
              <a:rPr lang="en-US" sz="2200" dirty="0">
                <a:latin typeface="Liberation Mono"/>
              </a:rPr>
              <a:t>. . .</a:t>
            </a:r>
            <a:endParaRPr lang="en-IN" sz="2200" dirty="0">
              <a:latin typeface="Liberation Mono"/>
            </a:endParaRPr>
          </a:p>
        </p:txBody>
      </p:sp>
      <p:sp>
        <p:nvSpPr>
          <p:cNvPr id="15" name="Rectangle 14">
            <a:extLst>
              <a:ext uri="{FF2B5EF4-FFF2-40B4-BE49-F238E27FC236}">
                <a16:creationId xmlns:a16="http://schemas.microsoft.com/office/drawing/2014/main" id="{FE251096-0918-46D1-B670-7A549E1807EC}"/>
              </a:ext>
            </a:extLst>
          </p:cNvPr>
          <p:cNvSpPr/>
          <p:nvPr/>
        </p:nvSpPr>
        <p:spPr>
          <a:xfrm>
            <a:off x="427610" y="3933056"/>
            <a:ext cx="8826175" cy="175432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000000"/>
                </a:solidFill>
                <a:latin typeface="Liberation Mono"/>
              </a:rPr>
              <a:t> </a:t>
            </a:r>
            <a:r>
              <a:rPr lang="en-IN" dirty="0">
                <a:solidFill>
                  <a:srgbClr val="990055"/>
                </a:solidFill>
                <a:latin typeface="Liberation Mono"/>
              </a:rPr>
              <a:t>1001</a:t>
            </a:r>
            <a:r>
              <a:rPr lang="en-IN" dirty="0">
                <a:latin typeface="Liberation Mono"/>
              </a:rPr>
              <a:t>, @v2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@v3 </a:t>
            </a:r>
            <a:r>
              <a:rPr lang="en-IN" dirty="0">
                <a:solidFill>
                  <a:srgbClr val="A67F59"/>
                </a:solidFill>
                <a:latin typeface="Liberation Mono"/>
              </a:rPr>
              <a:t>=</a:t>
            </a:r>
            <a:r>
              <a:rPr lang="en-IN" dirty="0">
                <a:solidFill>
                  <a:srgbClr val="669900"/>
                </a:solidFill>
                <a:latin typeface="Liberation Mono"/>
              </a:rPr>
              <a:t> 'Saleel'</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1001</a:t>
            </a:r>
            <a:r>
              <a:rPr lang="en-IN" dirty="0">
                <a:latin typeface="Liberation Mono"/>
              </a:rPr>
              <a:t>,</a:t>
            </a:r>
            <a:r>
              <a:rPr lang="en-IN" dirty="0">
                <a:solidFill>
                  <a:srgbClr val="669900"/>
                </a:solidFill>
                <a:latin typeface="Liberation Mono"/>
              </a:rPr>
              <a:t> </a:t>
            </a:r>
            <a:r>
              <a:rPr lang="en-IN" dirty="0">
                <a:latin typeface="Liberation Mono"/>
              </a:rPr>
              <a:t>@v2 = </a:t>
            </a:r>
            <a:r>
              <a:rPr lang="en-IN" dirty="0">
                <a:solidFill>
                  <a:srgbClr val="990055"/>
                </a:solidFill>
                <a:latin typeface="Liberation Mono"/>
              </a:rPr>
              <a:t>2</a:t>
            </a:r>
            <a:r>
              <a:rPr lang="en-IN" dirty="0">
                <a:solidFill>
                  <a:srgbClr val="999999"/>
                </a:solidFill>
                <a:latin typeface="Liberation Mono"/>
              </a:rPr>
              <a:t>,</a:t>
            </a:r>
            <a:r>
              <a:rPr lang="en-IN" dirty="0">
                <a:solidFill>
                  <a:srgbClr val="669900"/>
                </a:solidFill>
                <a:latin typeface="Liberation Mono"/>
              </a:rPr>
              <a:t> </a:t>
            </a:r>
            <a:r>
              <a:rPr lang="en-IN" dirty="0">
                <a:latin typeface="Liberation Mono"/>
              </a:rPr>
              <a:t>@v3 </a:t>
            </a:r>
            <a:r>
              <a:rPr lang="en-IN" dirty="0">
                <a:solidFill>
                  <a:srgbClr val="A67F59"/>
                </a:solidFill>
                <a:latin typeface="Liberation Mono"/>
              </a:rPr>
              <a:t>:=</a:t>
            </a:r>
            <a:r>
              <a:rPr lang="en-IN" dirty="0">
                <a:solidFill>
                  <a:srgbClr val="6699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EE9900"/>
                </a:solidFill>
                <a:latin typeface="Liberation Mono"/>
              </a:rPr>
              <a:t> </a:t>
            </a:r>
            <a:r>
              <a:rPr lang="en-IN" dirty="0">
                <a:latin typeface="Liberation Mono"/>
              </a:rPr>
              <a:t>@v2;</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a:t>
            </a:r>
            <a:r>
              <a:rPr lang="en-IN" dirty="0">
                <a:solidFill>
                  <a:srgbClr val="A67F59"/>
                </a:solidFill>
                <a:latin typeface="Liberation Mono"/>
              </a:rPr>
              <a:t> :=</a:t>
            </a:r>
            <a:r>
              <a:rPr lang="en-IN" dirty="0">
                <a:solidFill>
                  <a:srgbClr val="000000"/>
                </a:solidFill>
                <a:latin typeface="Liberation Mono"/>
              </a:rPr>
              <a:t> </a:t>
            </a:r>
            <a:r>
              <a:rPr lang="en-IN" dirty="0">
                <a:solidFill>
                  <a:srgbClr val="DD4A68"/>
                </a:solidFill>
                <a:latin typeface="Liberation Mono"/>
              </a:rPr>
              <a:t>MIN</a:t>
            </a:r>
            <a:r>
              <a:rPr lang="en-IN" dirty="0">
                <a:latin typeface="Liberation Mono"/>
              </a:rPr>
              <a:t>(sal), @v2 </a:t>
            </a:r>
            <a:r>
              <a:rPr lang="en-IN" dirty="0">
                <a:solidFill>
                  <a:srgbClr val="A67F59"/>
                </a:solidFill>
                <a:latin typeface="Liberation Mono"/>
              </a:rPr>
              <a:t>:= </a:t>
            </a:r>
            <a:r>
              <a:rPr lang="en-IN" dirty="0">
                <a:solidFill>
                  <a:srgbClr val="DD4A68"/>
                </a:solidFill>
                <a:latin typeface="Liberation Mono"/>
              </a:rPr>
              <a:t>MAX</a:t>
            </a:r>
            <a:r>
              <a:rPr lang="en-IN" dirty="0">
                <a:latin typeface="Liberation Mono"/>
              </a:rPr>
              <a:t>(SAL) </a:t>
            </a:r>
            <a:r>
              <a:rPr lang="en-IN" dirty="0">
                <a:solidFill>
                  <a:srgbClr val="0077AA"/>
                </a:solidFill>
                <a:latin typeface="Liberation Mono"/>
              </a:rPr>
              <a:t>FROM </a:t>
            </a:r>
            <a:r>
              <a:rPr lang="en-IN" dirty="0">
                <a:latin typeface="Liberation Mono"/>
              </a:rPr>
              <a:t>emp;</a:t>
            </a:r>
            <a:r>
              <a:rPr lang="en-IN" dirty="0">
                <a:solidFill>
                  <a:srgbClr val="0077AA"/>
                </a:solidFill>
                <a:latin typeface="Liberation Mono"/>
              </a:rPr>
              <a:t> </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 @v2, @v3;</a:t>
            </a:r>
            <a:endParaRPr lang="en-IN" dirty="0"/>
          </a:p>
        </p:txBody>
      </p:sp>
    </p:spTree>
    <p:extLst>
      <p:ext uri="{BB962C8B-B14F-4D97-AF65-F5344CB8AC3E}">
        <p14:creationId xmlns:p14="http://schemas.microsoft.com/office/powerpoint/2010/main" val="2120274538"/>
      </p:ext>
    </p:extLst>
  </p:cSld>
  <p:clrMapOvr>
    <a:masterClrMapping/>
  </p:clrMapOvr>
</p:sld>
</file>

<file path=ppt/slides/slide5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4DF6E637-B798-4827-B415-D8D7A5113E83}"/>
              </a:ext>
            </a:extLst>
          </p:cNvPr>
          <p:cNvPicPr>
            <a:picLocks noChangeAspect="1"/>
          </p:cNvPicPr>
          <p:nvPr/>
        </p:nvPicPr>
        <p:blipFill>
          <a:blip r:embed="rId2" cstate="print"/>
          <a:stretch>
            <a:fillRect/>
          </a:stretch>
        </p:blipFill>
        <p:spPr>
          <a:xfrm>
            <a:off x="911424" y="3182894"/>
            <a:ext cx="1523802" cy="3048000"/>
          </a:xfrm>
          <a:prstGeom prst="rect">
            <a:avLst/>
          </a:prstGeom>
        </p:spPr>
      </p:pic>
      <p:sp>
        <p:nvSpPr>
          <p:cNvPr id="8" name="Rectangle 7">
            <a:extLst>
              <a:ext uri="{FF2B5EF4-FFF2-40B4-BE49-F238E27FC236}">
                <a16:creationId xmlns:a16="http://schemas.microsoft.com/office/drawing/2014/main" id="{B6437AA2-84F3-49FB-A81F-1493F7E900A3}"/>
              </a:ext>
            </a:extLst>
          </p:cNvPr>
          <p:cNvSpPr/>
          <p:nvPr/>
        </p:nvSpPr>
        <p:spPr>
          <a:xfrm>
            <a:off x="406574" y="838202"/>
            <a:ext cx="11449272" cy="236988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variables are intended to provide data values. They cannot be used directly in an SQL statement as an identifier or as part of an identifier.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    e.g.    </a:t>
            </a:r>
          </a:p>
          <a:p>
            <a:r>
              <a:rPr lang="en-IN" dirty="0">
                <a:solidFill>
                  <a:srgbClr val="0077AA"/>
                </a:solidFill>
                <a:latin typeface="Liberation Mono"/>
                <a:cs typeface="Arial" panose="020B0604020202020204" pitchFamily="34" charset="0"/>
              </a:rPr>
              <a:t>      SET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'ENAME'</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#WHERE </a:t>
            </a:r>
            <a:r>
              <a:rPr lang="en-IN" dirty="0">
                <a:latin typeface="Liberation Mono"/>
                <a:cs typeface="Arial" panose="020B0604020202020204" pitchFamily="34" charset="0"/>
              </a:rPr>
              <a:t>ENAME</a:t>
            </a:r>
            <a:r>
              <a:rPr lang="en-IN" dirty="0">
                <a:solidFill>
                  <a:srgbClr val="00B050"/>
                </a:solidFill>
                <a:latin typeface="Liberation Mono"/>
                <a:cs typeface="Arial" panose="020B0604020202020204" pitchFamily="34" charset="0"/>
              </a:rPr>
              <a:t> IS COLUMN NAME</a:t>
            </a:r>
            <a:r>
              <a:rPr lang="en-IN" dirty="0">
                <a:solidFill>
                  <a:schemeClr val="accent3">
                    <a:lumMod val="50000"/>
                  </a:schemeClr>
                </a:solidFill>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SELECT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r>
              <a:rPr lang="en-IN" dirty="0">
                <a:solidFill>
                  <a:srgbClr val="0077AA"/>
                </a:solidFill>
                <a:latin typeface="Liberation Mono"/>
                <a:cs typeface="Arial" panose="020B0604020202020204" pitchFamily="34" charset="0"/>
              </a:rPr>
              <a:t> </a:t>
            </a:r>
          </a:p>
          <a:p>
            <a:endParaRPr lang="en-IN" dirty="0">
              <a:solidFill>
                <a:srgbClr val="FF0000"/>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123074349"/>
      </p:ext>
    </p:extLst>
  </p:cSld>
  <p:clrMapOvr>
    <a:masterClrMapping/>
  </p:clrMapOvr>
</p:sld>
</file>

<file path=ppt/slides/slide5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rownum</a:t>
            </a:r>
          </a:p>
        </p:txBody>
      </p:sp>
      <p:sp>
        <p:nvSpPr>
          <p:cNvPr id="3" name="Rectangle 2"/>
          <p:cNvSpPr/>
          <p:nvPr/>
        </p:nvSpPr>
        <p:spPr>
          <a:xfrm>
            <a:off x="119336" y="3717032"/>
            <a:ext cx="11881320" cy="369332"/>
          </a:xfrm>
          <a:prstGeom prst="rect">
            <a:avLst/>
          </a:prstGeom>
        </p:spPr>
        <p:txBody>
          <a:bodyPr wrap="square">
            <a:spAutoFit/>
          </a:bodyPr>
          <a:lstStyle/>
          <a:p>
            <a:r>
              <a:rPr lang="en-IN" dirty="0">
                <a:solidFill>
                  <a:srgbClr val="A67F59"/>
                </a:solidFill>
                <a:latin typeface="Liberation Mono"/>
              </a:rPr>
              <a:t>mysql&gt;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a:t>
            </a:r>
            <a:r>
              <a:rPr lang="en-US" dirty="0">
                <a:solidFill>
                  <a:schemeClr val="accent5">
                    <a:lumMod val="50000"/>
                  </a:schemeClr>
                </a:solidFill>
                <a:latin typeface="Liberation Mono"/>
              </a:rPr>
              <a: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"R1"</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669900"/>
                </a:solidFill>
                <a:latin typeface="Liberation Mono"/>
              </a:rPr>
              <a:t>0</a:t>
            </a:r>
            <a:r>
              <a:rPr lang="en-US" dirty="0">
                <a:latin typeface="Liberation Mono"/>
              </a:rPr>
              <a:t>) T1) T2 </a:t>
            </a:r>
            <a:r>
              <a:rPr lang="en-US" dirty="0">
                <a:solidFill>
                  <a:srgbClr val="0077AA"/>
                </a:solidFill>
                <a:latin typeface="Liberation Mono"/>
                <a:ea typeface="Times New Roman" panose="02020603050405020304" pitchFamily="18" charset="0"/>
              </a:rPr>
              <a:t>WHERE</a:t>
            </a:r>
            <a:r>
              <a:rPr lang="en-US" dirty="0">
                <a:latin typeface="Liberation Mono"/>
              </a:rPr>
              <a:t> </a:t>
            </a:r>
            <a:r>
              <a:rPr lang="en-US" dirty="0">
                <a:solidFill>
                  <a:srgbClr val="669900"/>
                </a:solidFill>
                <a:latin typeface="Liberation Mono"/>
              </a:rPr>
              <a:t>"R1"</a:t>
            </a:r>
            <a:r>
              <a:rPr lang="en-US" dirty="0">
                <a:solidFill>
                  <a:srgbClr val="A67F59"/>
                </a:solidFill>
                <a:latin typeface="Liberation Mono"/>
              </a:rPr>
              <a:t> &gt;</a:t>
            </a:r>
            <a:r>
              <a:rPr lang="en-US" dirty="0">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7</a:t>
            </a:r>
            <a:r>
              <a:rPr lang="en-US" dirty="0">
                <a:latin typeface="Liberation Mono"/>
              </a:rPr>
              <a:t>;</a:t>
            </a:r>
          </a:p>
        </p:txBody>
      </p:sp>
    </p:spTree>
  </p:cSld>
  <p:clrMapOvr>
    <a:masterClrMapping/>
  </p:clrMapOvr>
</p:sld>
</file>

<file path=ppt/slides/slide5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rownum</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4100093E-E386-406E-830D-9CA04CABBA2F}"/>
              </a:ext>
            </a:extLst>
          </p:cNvPr>
          <p:cNvSpPr/>
          <p:nvPr/>
        </p:nvSpPr>
        <p:spPr>
          <a:xfrm>
            <a:off x="263352" y="945302"/>
            <a:ext cx="11593288" cy="1477328"/>
          </a:xfrm>
          <a:prstGeom prst="rect">
            <a:avLst/>
          </a:prstGeom>
        </p:spPr>
        <p:txBody>
          <a:bodyPr wrap="square">
            <a:spAutoFit/>
          </a:bodyPr>
          <a:lstStyle/>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solidFill>
                  <a:srgbClr val="000000"/>
                </a:solidFill>
                <a:latin typeface="Liberation Mono"/>
                <a:cs typeface="Arial" panose="020B0604020202020204" pitchFamily="34" charset="0"/>
              </a:rPr>
              <a:t> </a:t>
            </a:r>
            <a:r>
              <a:rPr lang="en-IN" dirty="0">
                <a:solidFill>
                  <a:srgbClr val="EE9900"/>
                </a:solidFill>
                <a:latin typeface="Liberation Mono"/>
                <a:cs typeface="Arial" panose="020B0604020202020204" pitchFamily="34" charset="0"/>
              </a:rPr>
              <a:t>@rank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r>
              <a:rPr lang="en-IN" dirty="0">
                <a:solidFill>
                  <a:srgbClr val="999999"/>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E;</a:t>
            </a:r>
            <a:r>
              <a:rPr lang="en-IN" dirty="0">
                <a:solidFill>
                  <a:srgbClr val="0077AA"/>
                </a:solidFill>
                <a:latin typeface="Liberation Mono"/>
                <a:cs typeface="Arial" panose="020B0604020202020204" pitchFamily="34" charset="0"/>
              </a:rPr>
              <a:t> </a:t>
            </a:r>
          </a:p>
          <a:p>
            <a:pPr marL="711200" indent="-711200"/>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anose="020B0604020202020204" pitchFamily="34" charset="0"/>
              </a:rPr>
              <a:t>job, sal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GROUP BY </a:t>
            </a:r>
            <a:r>
              <a:rPr lang="en-IN" dirty="0">
                <a:latin typeface="Liberation Mono"/>
                <a:ea typeface="Times New Roman" panose="02020603050405020304" pitchFamily="18" charset="0"/>
                <a:cs typeface="Arial" panose="020B0604020202020204" pitchFamily="34" charset="0"/>
              </a:rPr>
              <a:t>job</a:t>
            </a:r>
            <a:r>
              <a:rPr lang="en-IN"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SAL</a:t>
            </a:r>
            <a:r>
              <a:rPr lang="en-IN" dirty="0">
                <a:solidFill>
                  <a:srgbClr val="0077AA"/>
                </a:solidFill>
                <a:latin typeface="Liberation Mono"/>
                <a:ea typeface="Times New Roman" panose="02020603050405020304" pitchFamily="18" charset="0"/>
                <a:cs typeface="Arial" panose="020B0604020202020204" pitchFamily="34" charset="0"/>
              </a:rPr>
              <a:t> DESC</a:t>
            </a:r>
            <a:r>
              <a:rPr lang="en-IN" dirty="0">
                <a:latin typeface="Liberation Mono"/>
                <a:cs typeface="Arial" panose="020B0604020202020204" pitchFamily="34" charset="0"/>
              </a:rPr>
              <a:t>) E ,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 EE;</a:t>
            </a:r>
          </a:p>
        </p:txBody>
      </p:sp>
      <p:grpSp>
        <p:nvGrpSpPr>
          <p:cNvPr id="11" name="Group 8">
            <a:extLst>
              <a:ext uri="{FF2B5EF4-FFF2-40B4-BE49-F238E27FC236}">
                <a16:creationId xmlns:a16="http://schemas.microsoft.com/office/drawing/2014/main" id="{EC309DC9-62C8-4421-8063-52BAECD81FA0}"/>
              </a:ext>
            </a:extLst>
          </p:cNvPr>
          <p:cNvGrpSpPr/>
          <p:nvPr/>
        </p:nvGrpSpPr>
        <p:grpSpPr>
          <a:xfrm>
            <a:off x="273358" y="2783156"/>
            <a:ext cx="10719185" cy="3814196"/>
            <a:chOff x="130629" y="2935069"/>
            <a:chExt cx="8860971" cy="3160931"/>
          </a:xfrm>
        </p:grpSpPr>
        <p:grpSp>
          <p:nvGrpSpPr>
            <p:cNvPr id="12" name="Group 11">
              <a:extLst>
                <a:ext uri="{FF2B5EF4-FFF2-40B4-BE49-F238E27FC236}">
                  <a16:creationId xmlns:a16="http://schemas.microsoft.com/office/drawing/2014/main" id="{69C96EFB-3517-4256-B17F-287DDEB4DEEC}"/>
                </a:ext>
              </a:extLst>
            </p:cNvPr>
            <p:cNvGrpSpPr/>
            <p:nvPr/>
          </p:nvGrpSpPr>
          <p:grpSpPr>
            <a:xfrm>
              <a:off x="130629" y="2935069"/>
              <a:ext cx="8860971" cy="3160931"/>
              <a:chOff x="130629" y="2935069"/>
              <a:chExt cx="8860971" cy="3160931"/>
            </a:xfrm>
          </p:grpSpPr>
          <p:sp>
            <p:nvSpPr>
              <p:cNvPr id="14" name="Rectangle 13">
                <a:extLst>
                  <a:ext uri="{FF2B5EF4-FFF2-40B4-BE49-F238E27FC236}">
                    <a16:creationId xmlns:a16="http://schemas.microsoft.com/office/drawing/2014/main" id="{65D33BC5-149E-44F3-A278-8D202C3331ED}"/>
                  </a:ext>
                </a:extLst>
              </p:cNvPr>
              <p:cNvSpPr/>
              <p:nvPr/>
            </p:nvSpPr>
            <p:spPr>
              <a:xfrm>
                <a:off x="152400" y="2935069"/>
                <a:ext cx="8839200" cy="369332"/>
              </a:xfrm>
              <a:prstGeom prst="rect">
                <a:avLst/>
              </a:prstGeom>
            </p:spPr>
            <p:txBody>
              <a:bodyPr wrap="square">
                <a:spAutoFit/>
              </a:bodyPr>
              <a:lstStyle/>
              <a:p>
                <a:endParaRPr lang="en-IN" dirty="0">
                  <a:latin typeface="Liberation Mono"/>
                  <a:cs typeface="Arial" panose="020B0604020202020204" pitchFamily="34" charset="0"/>
                </a:endParaRPr>
              </a:p>
            </p:txBody>
          </p:sp>
          <p:pic>
            <p:nvPicPr>
              <p:cNvPr id="15" name="Picture 14">
                <a:extLst>
                  <a:ext uri="{FF2B5EF4-FFF2-40B4-BE49-F238E27FC236}">
                    <a16:creationId xmlns:a16="http://schemas.microsoft.com/office/drawing/2014/main" id="{C0B4DABB-35EE-4D06-ACB8-4A5072288EEA}"/>
                  </a:ext>
                </a:extLst>
              </p:cNvPr>
              <p:cNvPicPr>
                <a:picLocks noChangeAspect="1"/>
              </p:cNvPicPr>
              <p:nvPr/>
            </p:nvPicPr>
            <p:blipFill>
              <a:blip r:embed="rId2" cstate="print"/>
              <a:stretch>
                <a:fillRect/>
              </a:stretch>
            </p:blipFill>
            <p:spPr>
              <a:xfrm>
                <a:off x="130629" y="3215283"/>
                <a:ext cx="8816105" cy="2880717"/>
              </a:xfrm>
              <a:prstGeom prst="rect">
                <a:avLst/>
              </a:prstGeom>
            </p:spPr>
          </p:pic>
        </p:grpSp>
        <p:sp>
          <p:nvSpPr>
            <p:cNvPr id="13" name="Rectangle 12">
              <a:extLst>
                <a:ext uri="{FF2B5EF4-FFF2-40B4-BE49-F238E27FC236}">
                  <a16:creationId xmlns:a16="http://schemas.microsoft.com/office/drawing/2014/main" id="{20A1422B-7206-44FF-B62E-8FB45D92531F}"/>
                </a:ext>
              </a:extLst>
            </p:cNvPr>
            <p:cNvSpPr/>
            <p:nvPr/>
          </p:nvSpPr>
          <p:spPr>
            <a:xfrm>
              <a:off x="436486" y="3215283"/>
              <a:ext cx="685800" cy="2880717"/>
            </a:xfrm>
            <a:prstGeom prst="rect">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634129302"/>
      </p:ext>
    </p:extLst>
  </p:cSld>
  <p:clrMapOvr>
    <a:masterClrMapping/>
  </p:clrMapOvr>
</p:sld>
</file>

<file path=ppt/slides/slide5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sql statements mistakes</a:t>
            </a:r>
          </a:p>
        </p:txBody>
      </p:sp>
      <p:sp>
        <p:nvSpPr>
          <p:cNvPr id="9" name="Rectangle 8"/>
          <p:cNvSpPr/>
          <p:nvPr/>
        </p:nvSpPr>
        <p:spPr>
          <a:xfrm>
            <a:off x="191344" y="682818"/>
            <a:ext cx="11809312" cy="464742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sal, comm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comm </a:t>
            </a:r>
            <a:r>
              <a:rPr lang="en-US" dirty="0">
                <a:solidFill>
                  <a:schemeClr val="accent5">
                    <a:lumMod val="75000"/>
                  </a:schemeClr>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NULL</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#using comparison operator to check NULL  </a:t>
            </a:r>
            <a:endParaRPr lang="en-US"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ea typeface="Times New Roman" panose="02020603050405020304" pitchFamily="18" charset="0"/>
              </a:rPr>
              <a:t>; </a:t>
            </a:r>
            <a:r>
              <a:rPr lang="en-IN" dirty="0">
                <a:solidFill>
                  <a:srgbClr val="41C60C"/>
                </a:solidFill>
                <a:latin typeface="Liberation Mono"/>
              </a:rPr>
              <a:t>#not giving group by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rPr>
              <a:t>(</a:t>
            </a:r>
            <a:r>
              <a:rPr lang="en-US" dirty="0">
                <a:latin typeface="Liberation Mono"/>
                <a:ea typeface="Times New Roman" panose="02020603050405020304" pitchFamily="18" charset="0"/>
              </a:rPr>
              <a:t>job</a:t>
            </a:r>
            <a:r>
              <a:rPr lang="en-US" dirty="0">
                <a:latin typeface="Liberation Mono"/>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a:t>
            </a:r>
            <a:r>
              <a:rPr lang="en-IN" dirty="0">
                <a:latin typeface="Liberation Mono"/>
                <a:ea typeface="Times New Roman" panose="02020603050405020304" pitchFamily="18" charset="0"/>
              </a:rPr>
              <a:t>; </a:t>
            </a:r>
            <a:r>
              <a:rPr lang="en-IN" dirty="0">
                <a:solidFill>
                  <a:srgbClr val="41C60C"/>
                </a:solidFill>
                <a:latin typeface="Liberation Mono"/>
              </a:rPr>
              <a:t>#use of aggregate function in where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deptno,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job</a:t>
            </a:r>
            <a:r>
              <a:rPr lang="en-IN" dirty="0">
                <a:latin typeface="Liberation Mono"/>
                <a:ea typeface="Times New Roman" panose="02020603050405020304" pitchFamily="18" charset="0"/>
              </a:rPr>
              <a:t>; </a:t>
            </a:r>
            <a:r>
              <a:rPr lang="en-IN" dirty="0">
                <a:solidFill>
                  <a:srgbClr val="41C60C"/>
                </a:solidFill>
                <a:latin typeface="Liberation Mono"/>
              </a:rPr>
              <a:t>#not giving all the columns in group by clause </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grouping by a unique key</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sal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2400</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alias name in where clause</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sal </a:t>
            </a:r>
            <a:r>
              <a:rPr lang="en-US" dirty="0">
                <a:solidFill>
                  <a:schemeClr val="accent5">
                    <a:lumMod val="75000"/>
                  </a:schemeClr>
                </a:solidFill>
                <a:latin typeface="Liberation Mono"/>
                <a:cs typeface="Arial" panose="020B0604020202020204" pitchFamily="34" charset="0"/>
              </a:rPr>
              <a:t>BETWEEN</a:t>
            </a:r>
            <a:r>
              <a:rPr lang="en-US" dirty="0">
                <a:solidFill>
                  <a:srgbClr val="000000"/>
                </a:solidFill>
                <a:latin typeface="Liberation Mono"/>
                <a:ea typeface="Times New Roman" panose="02020603050405020304" pitchFamily="18" charset="0"/>
              </a:rPr>
              <a:t> </a:t>
            </a:r>
            <a:r>
              <a:rPr lang="en-US" dirty="0">
                <a:latin typeface="Liberation Mono"/>
              </a:rPr>
              <a:t>(</a:t>
            </a:r>
            <a:r>
              <a:rPr lang="en-US" dirty="0">
                <a:solidFill>
                  <a:srgbClr val="990055"/>
                </a:solidFill>
                <a:latin typeface="Liberation Mono"/>
              </a:rPr>
              <a:t>1000</a:t>
            </a:r>
            <a:r>
              <a:rPr lang="en-US" dirty="0">
                <a:solidFill>
                  <a:srgbClr val="000000"/>
                </a:solidFill>
                <a:latin typeface="Liberation Mono"/>
                <a:ea typeface="Times New Roman" panose="02020603050405020304" pitchFamily="18" charset="0"/>
              </a:rPr>
              <a:t> </a:t>
            </a:r>
            <a:r>
              <a:rPr lang="en-US" dirty="0">
                <a:solidFill>
                  <a:srgbClr val="A67F59"/>
                </a:solidFill>
                <a:latin typeface="Liberation Mono"/>
              </a:rPr>
              <a:t>and</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4000</a:t>
            </a:r>
            <a:r>
              <a:rPr lang="en-US" dirty="0">
                <a:latin typeface="Liberation Mono"/>
              </a:rPr>
              <a:t>)</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 in between </a:t>
            </a:r>
            <a:r>
              <a:rPr lang="en-IN" dirty="0">
                <a:solidFill>
                  <a:srgbClr val="41C60C"/>
                </a:solidFill>
                <a:latin typeface="Liberation Mono"/>
                <a:ea typeface="Times New Roman" panose="02020603050405020304" pitchFamily="18" charset="0"/>
              </a:rPr>
              <a:t>comparison </a:t>
            </a:r>
            <a:r>
              <a:rPr lang="en-US" dirty="0">
                <a:solidFill>
                  <a:srgbClr val="41C60C"/>
                </a:solidFill>
                <a:latin typeface="Liberation Mono"/>
                <a:ea typeface="Times New Roman" panose="02020603050405020304" pitchFamily="18" charset="0"/>
              </a:rPr>
              <a:t>operator</a:t>
            </a:r>
          </a:p>
          <a:p>
            <a:pPr marL="285750" indent="-285750">
              <a:buFont typeface="Arial" panose="020B0604020202020204" pitchFamily="34" charset="0"/>
              <a:buChar char="•"/>
            </a:pPr>
            <a:endParaRPr lang="en-US" dirty="0">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r>
              <a:rPr lang="en-IN" b="1" i="1" dirty="0">
                <a:solidFill>
                  <a:srgbClr val="000000"/>
                </a:solidFill>
                <a:latin typeface="Liberation Mono"/>
              </a:rPr>
              <a:t>r1 = { col1, col2, col3 } </a:t>
            </a:r>
          </a:p>
          <a:p>
            <a:endParaRPr lang="en-IN"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less than the number of columns in the table</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more than the number of columns in the table </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0000"/>
              </a:solidFill>
              <a:latin typeface="Liberation Mono"/>
            </a:endParaRPr>
          </a:p>
          <a:p>
            <a:pPr marL="285750" indent="-285750">
              <a:buFont typeface="Arial" panose="020B0604020202020204" pitchFamily="34" charset="0"/>
              <a:buChar char="•"/>
            </a:pPr>
            <a:endParaRPr lang="en-IN" dirty="0">
              <a:solidFill>
                <a:srgbClr val="000000"/>
              </a:solidFill>
              <a:latin typeface="Liberation Mono"/>
            </a:endParaRPr>
          </a:p>
        </p:txBody>
      </p:sp>
      <p:sp>
        <p:nvSpPr>
          <p:cNvPr id="10" name="Rectangle 9"/>
          <p:cNvSpPr/>
          <p:nvPr/>
        </p:nvSpPr>
        <p:spPr>
          <a:xfrm>
            <a:off x="263352" y="223346"/>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Tree>
    <p:extLst>
      <p:ext uri="{BB962C8B-B14F-4D97-AF65-F5344CB8AC3E}">
        <p14:creationId xmlns:p14="http://schemas.microsoft.com/office/powerpoint/2010/main" val="424837642"/>
      </p:ext>
    </p:extLst>
  </p:cSld>
  <p:clrMapOvr>
    <a:masterClrMapping/>
  </p:clrMapOvr>
</p:sld>
</file>

<file path=ppt/slides/slide5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521598" y="3084481"/>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sub-queries</a:t>
            </a:r>
          </a:p>
        </p:txBody>
      </p:sp>
      <p:sp>
        <p:nvSpPr>
          <p:cNvPr id="3" name="Rectangle 2"/>
          <p:cNvSpPr/>
          <p:nvPr/>
        </p:nvSpPr>
        <p:spPr>
          <a:xfrm>
            <a:off x="335360" y="44624"/>
            <a:ext cx="1152128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subquery must be enclosed in parentheses.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Use single-row operators with single-row subqueries, and use multiple-row operators with multiple-row subqueries.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 subquery (inner query) returns a </a:t>
            </a:r>
            <a:r>
              <a:rPr lang="en-IN" b="1" dirty="0">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value to the outer query, the outer query will not return any rows when using certain comparison operators in a </a:t>
            </a:r>
            <a:r>
              <a:rPr lang="en-IN" dirty="0">
                <a:solidFill>
                  <a:srgbClr val="0070C0"/>
                </a:solidFill>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takes precedence.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takes precedence.</a:t>
            </a:r>
          </a:p>
        </p:txBody>
      </p:sp>
      <p:sp>
        <p:nvSpPr>
          <p:cNvPr id="5" name="Rectangle 4"/>
          <p:cNvSpPr/>
          <p:nvPr/>
        </p:nvSpPr>
        <p:spPr>
          <a:xfrm>
            <a:off x="335360" y="5017239"/>
            <a:ext cx="11521280" cy="150810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may use comparison operators such as </a:t>
            </a:r>
            <a:r>
              <a:rPr lang="en-IN" b="1" dirty="0">
                <a:solidFill>
                  <a:schemeClr val="accent5">
                    <a:lumMod val="75000"/>
                  </a:schemeClr>
                </a:solidFill>
                <a:latin typeface="Arial" panose="020B0604020202020204" pitchFamily="34" charset="0"/>
                <a:cs typeface="Arial" panose="020B0604020202020204" pitchFamily="34" charset="0"/>
              </a:rPr>
              <a:t>&lt;&gt;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with a single row subquery.</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row subquery returns one or more rows to the outer SQL statement. You may use the </a:t>
            </a:r>
            <a:r>
              <a:rPr lang="en-IN" b="1" dirty="0">
                <a:solidFill>
                  <a:schemeClr val="accent5">
                    <a:lumMod val="75000"/>
                  </a:schemeClr>
                </a:solidFill>
                <a:latin typeface="Arial" panose="020B0604020202020204" pitchFamily="34" charset="0"/>
                <a:cs typeface="Arial" panose="020B0604020202020204" pitchFamily="34" charset="0"/>
              </a:rPr>
              <a:t>IN</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or </a:t>
            </a:r>
            <a:r>
              <a:rPr lang="en-IN" b="1" dirty="0">
                <a:solidFill>
                  <a:schemeClr val="accent5">
                    <a:lumMod val="75000"/>
                  </a:schemeClr>
                </a:solidFill>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operator in outer query to handle a subquery that returns multiple rows.</a:t>
            </a:r>
          </a:p>
        </p:txBody>
      </p:sp>
      <p:sp>
        <p:nvSpPr>
          <p:cNvPr id="6" name="Rectangle 5">
            <a:extLst>
              <a:ext uri="{FF2B5EF4-FFF2-40B4-BE49-F238E27FC236}">
                <a16:creationId xmlns:a16="http://schemas.microsoft.com/office/drawing/2014/main" id="{D957517D-6CB1-4177-82F4-D0B5B31CFA01}"/>
              </a:ext>
            </a:extLst>
          </p:cNvPr>
          <p:cNvSpPr/>
          <p:nvPr/>
        </p:nvSpPr>
        <p:spPr>
          <a:xfrm>
            <a:off x="2283842" y="3933056"/>
            <a:ext cx="7111242" cy="400110"/>
          </a:xfrm>
          <a:prstGeom prst="rect">
            <a:avLst/>
          </a:prstGeom>
        </p:spPr>
        <p:txBody>
          <a:bodyPr wrap="none">
            <a:spAutoFit/>
          </a:bodyPr>
          <a:lstStyle/>
          <a:p>
            <a:r>
              <a:rPr lang="en-US" sz="2000" dirty="0">
                <a:solidFill>
                  <a:srgbClr val="222222"/>
                </a:solidFill>
                <a:latin typeface="Palatino Linotype" panose="02040502050505030304" pitchFamily="18" charset="0"/>
                <a:cs typeface="Segoe UI Light" panose="020B0502040204020203" pitchFamily="34" charset="0"/>
              </a:rPr>
              <a:t>A subquery is a </a:t>
            </a:r>
            <a:r>
              <a:rPr lang="en-US" sz="2000" dirty="0">
                <a:solidFill>
                  <a:srgbClr val="0070C0"/>
                </a:solidFill>
                <a:latin typeface="Palatino Linotype" panose="02040502050505030304" pitchFamily="18" charset="0"/>
                <a:cs typeface="Arial" panose="020B0604020202020204" pitchFamily="34" charset="0"/>
              </a:rPr>
              <a:t>SELECT</a:t>
            </a:r>
            <a:r>
              <a:rPr lang="en-US" sz="2000" dirty="0">
                <a:solidFill>
                  <a:srgbClr val="222222"/>
                </a:solidFill>
                <a:latin typeface="Palatino Linotype" panose="02040502050505030304" pitchFamily="18" charset="0"/>
                <a:cs typeface="Segoe UI Light" panose="020B0502040204020203" pitchFamily="34" charset="0"/>
              </a:rPr>
              <a:t> statement within another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987572944"/>
      </p:ext>
    </p:extLst>
  </p:cSld>
  <p:clrMapOvr>
    <a:masterClrMapping/>
  </p:clrMapOvr>
</p:sld>
</file>

<file path=ppt/slides/slide5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908720"/>
            <a:ext cx="10585176" cy="259558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 may occur in:</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SELECT</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FROM</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WHERE</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 </a:t>
            </a:r>
            <a:r>
              <a:rPr lang="en-IN" dirty="0">
                <a:solidFill>
                  <a:schemeClr val="bg2">
                    <a:lumMod val="50000"/>
                  </a:schemeClr>
                </a:solidFill>
                <a:latin typeface="Arial" panose="020B0604020202020204" pitchFamily="34" charset="0"/>
                <a:cs typeface="Arial" panose="020B0604020202020204" pitchFamily="34" charset="0"/>
              </a:rPr>
              <a:t>HAVING</a:t>
            </a:r>
            <a:r>
              <a:rPr lang="en-IN" dirty="0">
                <a:solidFill>
                  <a:schemeClr val="tx2">
                    <a:lumMod val="50000"/>
                  </a:schemeClr>
                </a:solidFill>
                <a:latin typeface="Arial" panose="020B0604020202020204" pitchFamily="34" charset="0"/>
                <a:cs typeface="Arial" panose="020B0604020202020204" pitchFamily="34" charset="0"/>
              </a:rPr>
              <a:t> clause</a:t>
            </a:r>
          </a:p>
        </p:txBody>
      </p:sp>
      <p:sp>
        <p:nvSpPr>
          <p:cNvPr id="10" name="Rectangle 9">
            <a:extLst>
              <a:ext uri="{FF2B5EF4-FFF2-40B4-BE49-F238E27FC236}">
                <a16:creationId xmlns:a16="http://schemas.microsoft.com/office/drawing/2014/main" id="{0ACFCB24-6937-45BD-B5FA-73C94D1B45F2}"/>
              </a:ext>
            </a:extLst>
          </p:cNvPr>
          <p:cNvSpPr/>
          <p:nvPr/>
        </p:nvSpPr>
        <p:spPr>
          <a:xfrm>
            <a:off x="335360" y="3573017"/>
            <a:ext cx="10585176" cy="301108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subquery's outer statement can be any one of:</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SELECT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INSERT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UPDATE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DELETE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CREATE</a:t>
            </a:r>
          </a:p>
        </p:txBody>
      </p:sp>
      <p:pic>
        <p:nvPicPr>
          <p:cNvPr id="8" name="Picture 7">
            <a:extLst>
              <a:ext uri="{FF2B5EF4-FFF2-40B4-BE49-F238E27FC236}">
                <a16:creationId xmlns:a16="http://schemas.microsoft.com/office/drawing/2014/main" id="{9E4963D5-C5D7-4665-A966-D1AF5B3615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15681" y="4785181"/>
            <a:ext cx="8114203" cy="1914956"/>
          </a:xfrm>
          <a:prstGeom prst="rect">
            <a:avLst/>
          </a:prstGeom>
        </p:spPr>
      </p:pic>
      <p:sp>
        <p:nvSpPr>
          <p:cNvPr id="9" name="Rectangle 8">
            <a:extLst>
              <a:ext uri="{FF2B5EF4-FFF2-40B4-BE49-F238E27FC236}">
                <a16:creationId xmlns:a16="http://schemas.microsoft.com/office/drawing/2014/main" id="{38E668E6-D763-4DD7-AB71-D43E411C0A17}"/>
              </a:ext>
            </a:extLst>
          </p:cNvPr>
          <p:cNvSpPr/>
          <p:nvPr/>
        </p:nvSpPr>
        <p:spPr>
          <a:xfrm>
            <a:off x="335360" y="268796"/>
            <a:ext cx="7622728" cy="400110"/>
          </a:xfrm>
          <a:prstGeom prst="rect">
            <a:avLst/>
          </a:prstGeom>
        </p:spPr>
        <p:txBody>
          <a:bodyPr wrap="none">
            <a:spAutoFit/>
          </a:bodyPr>
          <a:lstStyle/>
          <a:p>
            <a:r>
              <a:rPr lang="en-US" sz="2000" b="1" dirty="0">
                <a:solidFill>
                  <a:srgbClr val="222222"/>
                </a:solidFill>
                <a:latin typeface="arial" panose="020B0604020202020204" pitchFamily="34" charset="0"/>
              </a:rPr>
              <a:t>A subquery is a SELECT statement within another statement.</a:t>
            </a:r>
            <a:endParaRPr lang="en-IN" sz="2000" dirty="0"/>
          </a:p>
        </p:txBody>
      </p:sp>
      <p:sp>
        <p:nvSpPr>
          <p:cNvPr id="11" name="TextBox 10">
            <a:extLst>
              <a:ext uri="{FF2B5EF4-FFF2-40B4-BE49-F238E27FC236}">
                <a16:creationId xmlns:a16="http://schemas.microsoft.com/office/drawing/2014/main" id="{450AC769-D0FF-4978-9ED0-FE91EA469A93}"/>
              </a:ext>
            </a:extLst>
          </p:cNvPr>
          <p:cNvSpPr txBox="1"/>
          <p:nvPr/>
        </p:nvSpPr>
        <p:spPr>
          <a:xfrm>
            <a:off x="7464152" y="745259"/>
            <a:ext cx="4464496" cy="327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INSERT</a:t>
            </a:r>
            <a:r>
              <a:rPr lang="en-US" sz="2000" b="0" i="0" dirty="0">
                <a:effectLst/>
                <a:latin typeface="Liberation Mono"/>
              </a:rPr>
              <a:t> .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TABLE</a:t>
            </a:r>
            <a:r>
              <a:rPr lang="en-US" sz="2000" b="0" i="0" dirty="0">
                <a:solidFill>
                  <a:srgbClr val="000000"/>
                </a:solidFill>
                <a:effectLst/>
                <a:latin typeface="Liberation Mono"/>
              </a:rPr>
              <a:t> </a:t>
            </a:r>
            <a:r>
              <a:rPr lang="en-US" sz="2000" b="0" i="0" dirty="0">
                <a:effectLst/>
                <a:latin typeface="Liberation Mono"/>
              </a:rPr>
              <a:t>. . . 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VIEW</a:t>
            </a:r>
            <a:r>
              <a:rPr lang="en-US" sz="2000" b="0" i="0" dirty="0">
                <a:solidFill>
                  <a:srgbClr val="000000"/>
                </a:solidFill>
                <a:effectLst/>
                <a:latin typeface="Liberation Mono"/>
              </a:rPr>
              <a:t> </a:t>
            </a:r>
            <a:r>
              <a:rPr lang="en-US" sz="2000" b="0" i="0" dirty="0">
                <a:effectLst/>
                <a:latin typeface="Liberation Mono"/>
              </a:rPr>
              <a:t>. . . </a:t>
            </a:r>
            <a:r>
              <a:rPr lang="en-US" sz="2000" dirty="0">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DECLARE</a:t>
            </a:r>
            <a:r>
              <a:rPr lang="en-US" sz="2000" b="0" i="0" dirty="0">
                <a:solidFill>
                  <a:srgbClr val="000000"/>
                </a:solidFill>
                <a:effectLst/>
                <a:latin typeface="Liberation Mono"/>
              </a:rPr>
              <a:t> </a:t>
            </a:r>
            <a:r>
              <a:rPr lang="en-US" sz="2000" b="0" i="0" dirty="0">
                <a:solidFill>
                  <a:srgbClr val="0077AA"/>
                </a:solidFill>
                <a:effectLst/>
                <a:latin typeface="Liberation Mono"/>
              </a:rPr>
              <a:t>CURSOR</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r>
              <a:rPr lang="en-US" sz="2000" b="0" i="0" dirty="0">
                <a:effectLst/>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EXPLAIN</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IN" sz="2000" dirty="0">
              <a:solidFill>
                <a:schemeClr val="bg1">
                  <a:lumMod val="50000"/>
                </a:schemeClr>
              </a:solidFill>
            </a:endParaRPr>
          </a:p>
        </p:txBody>
      </p:sp>
    </p:spTree>
    <p:extLst>
      <p:ext uri="{BB962C8B-B14F-4D97-AF65-F5344CB8AC3E}">
        <p14:creationId xmlns:p14="http://schemas.microsoft.com/office/powerpoint/2010/main" val="2837448133"/>
      </p:ext>
    </p:extLst>
  </p:cSld>
  <p:clrMapOvr>
    <a:masterClrMapping/>
  </p:clrMapOvr>
</p:sld>
</file>

<file path=ppt/slides/slide5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 row subqueries</a:t>
            </a:r>
            <a:endParaRPr lang="en-IN" sz="3200" i="1" dirty="0">
              <a:solidFill>
                <a:srgbClr val="FF9900"/>
              </a:solidFill>
              <a:latin typeface="Arial" pitchFamily="34" charset="0"/>
              <a:cs typeface="Arial" pitchFamily="34" charset="0"/>
            </a:endParaRPr>
          </a:p>
        </p:txBody>
      </p:sp>
      <p:sp>
        <p:nvSpPr>
          <p:cNvPr id="6" name="Rectangle 5"/>
          <p:cNvSpPr/>
          <p:nvPr/>
        </p:nvSpPr>
        <p:spPr>
          <a:xfrm>
            <a:off x="551384" y="857072"/>
            <a:ext cx="11089232" cy="707886"/>
          </a:xfrm>
          <a:prstGeom prst="rect">
            <a:avLst/>
          </a:prstGeom>
        </p:spPr>
        <p:txBody>
          <a:bodyPr wrap="square">
            <a:spAutoFit/>
          </a:bodyPr>
          <a:lstStyle/>
          <a:p>
            <a:pPr algn="just"/>
            <a:r>
              <a:rPr lang="en-IN" sz="2000" dirty="0">
                <a:latin typeface="Arial" panose="020B0604020202020204" pitchFamily="34" charset="0"/>
                <a:cs typeface="Arial" panose="020B0604020202020204" pitchFamily="34" charset="0"/>
              </a:rPr>
              <a:t>A single row subquery returns </a:t>
            </a:r>
            <a:r>
              <a:rPr lang="en-IN" sz="2000" b="1" i="1" dirty="0">
                <a:solidFill>
                  <a:srgbClr val="FFC000"/>
                </a:solidFill>
                <a:latin typeface="Arial" panose="020B0604020202020204" pitchFamily="34" charset="0"/>
                <a:cs typeface="Arial" panose="020B0604020202020204" pitchFamily="34" charset="0"/>
              </a:rPr>
              <a:t>zero or one row </a:t>
            </a:r>
            <a:r>
              <a:rPr lang="en-IN" sz="2000" dirty="0">
                <a:latin typeface="Arial" panose="020B0604020202020204" pitchFamily="34" charset="0"/>
                <a:cs typeface="Arial" panose="020B0604020202020204" pitchFamily="34" charset="0"/>
              </a:rPr>
              <a:t>to the outer SQL statement. You can place a subquery in a </a:t>
            </a:r>
            <a:r>
              <a:rPr lang="en-IN" sz="2000" b="1" i="1" dirty="0">
                <a:solidFill>
                  <a:srgbClr val="C41A1A"/>
                </a:solidFill>
                <a:latin typeface="Arial" panose="020B0604020202020204" pitchFamily="34" charset="0"/>
                <a:cs typeface="Arial" panose="020B0604020202020204" pitchFamily="34" charset="0"/>
              </a:rPr>
              <a:t>WHERE</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a </a:t>
            </a:r>
            <a:r>
              <a:rPr lang="en-IN" sz="2000" b="1" i="1" dirty="0">
                <a:solidFill>
                  <a:srgbClr val="C41A1A"/>
                </a:solidFill>
                <a:latin typeface="Arial" panose="020B0604020202020204" pitchFamily="34" charset="0"/>
                <a:cs typeface="Arial" panose="020B0604020202020204" pitchFamily="34" charset="0"/>
              </a:rPr>
              <a:t>HAVING</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or a </a:t>
            </a:r>
            <a:r>
              <a:rPr lang="en-IN" sz="2000" b="1" i="1" dirty="0">
                <a:solidFill>
                  <a:srgbClr val="C41A1A"/>
                </a:solidFill>
                <a:latin typeface="Arial" panose="020B0604020202020204" pitchFamily="34" charset="0"/>
                <a:cs typeface="Arial" panose="020B0604020202020204" pitchFamily="34" charset="0"/>
              </a:rPr>
              <a:t>FROM</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of a SELECT statement.</a:t>
            </a:r>
          </a:p>
        </p:txBody>
      </p:sp>
      <p:grpSp>
        <p:nvGrpSpPr>
          <p:cNvPr id="3" name="Group 2"/>
          <p:cNvGrpSpPr/>
          <p:nvPr/>
        </p:nvGrpSpPr>
        <p:grpSpPr>
          <a:xfrm>
            <a:off x="1652207" y="2307926"/>
            <a:ext cx="8916763" cy="2706759"/>
            <a:chOff x="128206" y="2307925"/>
            <a:chExt cx="8916763" cy="2706759"/>
          </a:xfrm>
        </p:grpSpPr>
        <p:sp>
          <p:nvSpPr>
            <p:cNvPr id="11" name="TextBox 10"/>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2" name="Straight Arrow Connector 11"/>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pic>
          <p:nvPicPr>
            <p:cNvPr id="2" name="Picture 1"/>
            <p:cNvPicPr>
              <a:picLocks noChangeAspect="1"/>
            </p:cNvPicPr>
            <p:nvPr/>
          </p:nvPicPr>
          <p:blipFill>
            <a:blip r:embed="rId2" cstate="print"/>
            <a:stretch>
              <a:fillRect/>
            </a:stretch>
          </p:blipFill>
          <p:spPr>
            <a:xfrm>
              <a:off x="128206" y="3560009"/>
              <a:ext cx="8916763" cy="1454675"/>
            </a:xfrm>
            <a:prstGeom prst="rect">
              <a:avLst/>
            </a:prstGeom>
          </p:spPr>
        </p:pic>
        <p:cxnSp>
          <p:nvCxnSpPr>
            <p:cNvPr id="16" name="Straight Arrow Connector 15"/>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33475096"/>
      </p:ext>
    </p:extLst>
  </p:cSld>
  <p:clrMapOvr>
    <a:masterClrMapping/>
  </p:clrMapOvr>
</p:sld>
</file>

<file path=ppt/slides/slide5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multiple row and column subqueries</a:t>
            </a:r>
          </a:p>
        </p:txBody>
      </p:sp>
      <p:grpSp>
        <p:nvGrpSpPr>
          <p:cNvPr id="7" name="Group 6"/>
          <p:cNvGrpSpPr/>
          <p:nvPr/>
        </p:nvGrpSpPr>
        <p:grpSpPr>
          <a:xfrm>
            <a:off x="1600201" y="2307925"/>
            <a:ext cx="9016905" cy="3117274"/>
            <a:chOff x="76200" y="2307925"/>
            <a:chExt cx="9016905" cy="3117274"/>
          </a:xfrm>
        </p:grpSpPr>
        <p:pic>
          <p:nvPicPr>
            <p:cNvPr id="6" name="Picture 5"/>
            <p:cNvPicPr>
              <a:picLocks noChangeAspect="1"/>
            </p:cNvPicPr>
            <p:nvPr/>
          </p:nvPicPr>
          <p:blipFill>
            <a:blip r:embed="rId2" cstate="print"/>
            <a:stretch>
              <a:fillRect/>
            </a:stretch>
          </p:blipFill>
          <p:spPr>
            <a:xfrm>
              <a:off x="76200" y="3657600"/>
              <a:ext cx="9016905" cy="1767599"/>
            </a:xfrm>
            <a:prstGeom prst="rect">
              <a:avLst/>
            </a:prstGeom>
          </p:spPr>
        </p:pic>
        <p:sp>
          <p:nvSpPr>
            <p:cNvPr id="12" name="TextBox 11"/>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3" name="Straight Arrow Connector 12"/>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cxnSp>
          <p:nvCxnSpPr>
            <p:cNvPr id="15" name="Straight Arrow Connector 14"/>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
        <p:nvSpPr>
          <p:cNvPr id="11" name="Rectangle 10">
            <a:extLst>
              <a:ext uri="{FF2B5EF4-FFF2-40B4-BE49-F238E27FC236}">
                <a16:creationId xmlns:a16="http://schemas.microsoft.com/office/drawing/2014/main" id="{104D1290-0E6C-41D6-ABFE-BD164602A600}"/>
              </a:ext>
            </a:extLst>
          </p:cNvPr>
          <p:cNvSpPr/>
          <p:nvPr/>
        </p:nvSpPr>
        <p:spPr>
          <a:xfrm>
            <a:off x="551384" y="857072"/>
            <a:ext cx="11089232" cy="1200329"/>
          </a:xfrm>
          <a:prstGeom prst="rect">
            <a:avLst/>
          </a:prstGeom>
        </p:spPr>
        <p:txBody>
          <a:bodyPr wrap="square">
            <a:spAutoFit/>
          </a:bodyPr>
          <a:lstStyle/>
          <a:p>
            <a:pPr algn="just"/>
            <a:r>
              <a:rPr lang="en-IN" sz="2400" dirty="0">
                <a:latin typeface="Arial" panose="020B0604020202020204" pitchFamily="34" charset="0"/>
                <a:cs typeface="Arial" panose="020B0604020202020204" pitchFamily="34" charset="0"/>
              </a:rPr>
              <a:t>A multiple row subquery returns </a:t>
            </a:r>
            <a:r>
              <a:rPr lang="en-IN" sz="2400" b="1" i="1" dirty="0">
                <a:solidFill>
                  <a:srgbClr val="FFC000"/>
                </a:solidFill>
                <a:latin typeface="Arial" panose="020B0604020202020204" pitchFamily="34" charset="0"/>
                <a:cs typeface="Arial" panose="020B0604020202020204" pitchFamily="34" charset="0"/>
              </a:rPr>
              <a:t>one or more rows </a:t>
            </a:r>
            <a:r>
              <a:rPr lang="en-IN" sz="2400" dirty="0">
                <a:latin typeface="Arial" panose="020B0604020202020204" pitchFamily="34" charset="0"/>
                <a:cs typeface="Arial" panose="020B0604020202020204" pitchFamily="34" charset="0"/>
              </a:rPr>
              <a:t>to the outer SQL statement. You may use the </a:t>
            </a:r>
            <a:r>
              <a:rPr lang="en-IN" sz="2400" b="1" i="1" dirty="0">
                <a:solidFill>
                  <a:schemeClr val="accent5">
                    <a:lumMod val="75000"/>
                  </a:schemeClr>
                </a:solidFill>
                <a:latin typeface="Arial" panose="020B0604020202020204" pitchFamily="34" charset="0"/>
                <a:cs typeface="Arial" panose="020B0604020202020204" pitchFamily="34" charset="0"/>
              </a:rPr>
              <a:t>IN</a:t>
            </a:r>
            <a:r>
              <a:rPr lang="en-IN" sz="2400" dirty="0">
                <a:latin typeface="Arial" panose="020B0604020202020204" pitchFamily="34" charset="0"/>
                <a:cs typeface="Arial" panose="020B0604020202020204" pitchFamily="34" charset="0"/>
              </a:rPr>
              <a:t>, </a:t>
            </a:r>
            <a:r>
              <a:rPr lang="en-IN" sz="2400" b="1" i="1" dirty="0">
                <a:solidFill>
                  <a:schemeClr val="accent5">
                    <a:lumMod val="75000"/>
                  </a:schemeClr>
                </a:solidFill>
                <a:latin typeface="Arial" panose="020B0604020202020204" pitchFamily="34" charset="0"/>
                <a:cs typeface="Arial" panose="020B0604020202020204" pitchFamily="34" charset="0"/>
              </a:rPr>
              <a:t>ANY</a:t>
            </a:r>
            <a:r>
              <a:rPr lang="en-IN" sz="2400" dirty="0">
                <a:latin typeface="Arial" panose="020B0604020202020204" pitchFamily="34" charset="0"/>
                <a:cs typeface="Arial" panose="020B0604020202020204" pitchFamily="34" charset="0"/>
              </a:rPr>
              <a:t>, or </a:t>
            </a:r>
            <a:r>
              <a:rPr lang="en-IN" sz="2400" b="1" i="1" dirty="0">
                <a:solidFill>
                  <a:schemeClr val="accent5">
                    <a:lumMod val="75000"/>
                  </a:schemeClr>
                </a:solidFill>
                <a:latin typeface="Arial" panose="020B0604020202020204" pitchFamily="34" charset="0"/>
                <a:cs typeface="Arial" panose="020B0604020202020204" pitchFamily="34" charset="0"/>
              </a:rPr>
              <a:t>ALL</a:t>
            </a:r>
            <a:r>
              <a:rPr lang="en-IN" sz="2400" dirty="0">
                <a:latin typeface="Arial" panose="020B0604020202020204" pitchFamily="34" charset="0"/>
                <a:cs typeface="Arial" panose="020B0604020202020204" pitchFamily="34" charset="0"/>
              </a:rPr>
              <a:t> operator in outer query to handle a subquery that returns multiple rows.</a:t>
            </a:r>
          </a:p>
        </p:txBody>
      </p:sp>
    </p:spTree>
    <p:extLst>
      <p:ext uri="{BB962C8B-B14F-4D97-AF65-F5344CB8AC3E}">
        <p14:creationId xmlns:p14="http://schemas.microsoft.com/office/powerpoint/2010/main" val="148897667"/>
      </p:ext>
    </p:extLst>
  </p:cSld>
  <p:clrMapOvr>
    <a:masterClrMapping/>
  </p:clrMapOvr>
</p:sld>
</file>

<file path=ppt/slides/slide5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insert</a:t>
            </a:r>
            <a:endParaRPr lang="en-IN" sz="3200" i="1" dirty="0">
              <a:solidFill>
                <a:srgbClr val="FF9900"/>
              </a:solidFill>
              <a:latin typeface="Arial" pitchFamily="34" charset="0"/>
              <a:cs typeface="Arial" pitchFamily="34" charset="0"/>
            </a:endParaRPr>
          </a:p>
        </p:txBody>
      </p:sp>
      <p:grpSp>
        <p:nvGrpSpPr>
          <p:cNvPr id="13" name="Group 12">
            <a:extLst>
              <a:ext uri="{FF2B5EF4-FFF2-40B4-BE49-F238E27FC236}">
                <a16:creationId xmlns:a16="http://schemas.microsoft.com/office/drawing/2014/main" id="{08C7A7C7-EC08-4C50-A028-1E5B883210BD}"/>
              </a:ext>
            </a:extLst>
          </p:cNvPr>
          <p:cNvGrpSpPr/>
          <p:nvPr/>
        </p:nvGrpSpPr>
        <p:grpSpPr>
          <a:xfrm>
            <a:off x="551385" y="2974147"/>
            <a:ext cx="7165827" cy="2039029"/>
            <a:chOff x="1672223" y="2939146"/>
            <a:chExt cx="7165827" cy="2039029"/>
          </a:xfrm>
        </p:grpSpPr>
        <p:grpSp>
          <p:nvGrpSpPr>
            <p:cNvPr id="2" name="Group 1">
              <a:extLst>
                <a:ext uri="{FF2B5EF4-FFF2-40B4-BE49-F238E27FC236}">
                  <a16:creationId xmlns:a16="http://schemas.microsoft.com/office/drawing/2014/main" id="{E0C7D552-A73D-448F-B080-F756F35E630F}"/>
                </a:ext>
              </a:extLst>
            </p:cNvPr>
            <p:cNvGrpSpPr/>
            <p:nvPr/>
          </p:nvGrpSpPr>
          <p:grpSpPr>
            <a:xfrm>
              <a:off x="1672225" y="2939146"/>
              <a:ext cx="6980916" cy="547687"/>
              <a:chOff x="1672225" y="2939146"/>
              <a:chExt cx="6980916" cy="547687"/>
            </a:xfrm>
          </p:grpSpPr>
          <p:pic>
            <p:nvPicPr>
              <p:cNvPr id="3" name="Picture 2"/>
              <p:cNvPicPr>
                <a:picLocks noChangeAspect="1"/>
              </p:cNvPicPr>
              <p:nvPr/>
            </p:nvPicPr>
            <p:blipFill>
              <a:blip r:embed="rId2" cstate="print"/>
              <a:stretch>
                <a:fillRect/>
              </a:stretch>
            </p:blipFill>
            <p:spPr>
              <a:xfrm>
                <a:off x="1672225" y="3033714"/>
                <a:ext cx="6980916" cy="409575"/>
              </a:xfrm>
              <a:prstGeom prst="rect">
                <a:avLst/>
              </a:prstGeom>
            </p:spPr>
          </p:pic>
          <p:sp>
            <p:nvSpPr>
              <p:cNvPr id="7" name="Rectangle 6"/>
              <p:cNvSpPr/>
              <p:nvPr/>
            </p:nvSpPr>
            <p:spPr>
              <a:xfrm>
                <a:off x="5430042" y="2939146"/>
                <a:ext cx="3223099"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8" name="Group 7">
              <a:extLst>
                <a:ext uri="{FF2B5EF4-FFF2-40B4-BE49-F238E27FC236}">
                  <a16:creationId xmlns:a16="http://schemas.microsoft.com/office/drawing/2014/main" id="{B51265A7-C7F3-4AA7-B090-E77182500CC4}"/>
                </a:ext>
              </a:extLst>
            </p:cNvPr>
            <p:cNvGrpSpPr/>
            <p:nvPr/>
          </p:nvGrpSpPr>
          <p:grpSpPr>
            <a:xfrm>
              <a:off x="1672223" y="4038602"/>
              <a:ext cx="7165827" cy="939573"/>
              <a:chOff x="1672223" y="4038602"/>
              <a:chExt cx="7165827" cy="939573"/>
            </a:xfrm>
          </p:grpSpPr>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72223" y="4038602"/>
                <a:ext cx="7165827" cy="860503"/>
              </a:xfrm>
              <a:prstGeom prst="rect">
                <a:avLst/>
              </a:prstGeom>
            </p:spPr>
          </p:pic>
          <p:sp>
            <p:nvSpPr>
              <p:cNvPr id="9" name="Rectangle 8"/>
              <p:cNvSpPr/>
              <p:nvPr/>
            </p:nvSpPr>
            <p:spPr>
              <a:xfrm>
                <a:off x="2215290" y="4430488"/>
                <a:ext cx="6280908"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sp>
        <p:nvSpPr>
          <p:cNvPr id="11" name="Rectangle 3">
            <a:extLst>
              <a:ext uri="{FF2B5EF4-FFF2-40B4-BE49-F238E27FC236}">
                <a16:creationId xmlns:a16="http://schemas.microsoft.com/office/drawing/2014/main" id="{4FB691BA-6DAD-4E05-B03B-DCE141A6A6DC}"/>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0C0"/>
                </a:solidFill>
                <a:latin typeface="Liberation Mono"/>
                <a:cs typeface="Arial" panose="020B0604020202020204" pitchFamily="34" charset="0"/>
              </a:rPr>
              <a:t>INSERT</a:t>
            </a:r>
            <a:r>
              <a:rPr lang="en-US" sz="2000" dirty="0">
                <a:solidFill>
                  <a:srgbClr val="0077AA"/>
                </a:solidFill>
                <a:latin typeface="Liberation Mono"/>
                <a:cs typeface="Arial" panose="020B0604020202020204" pitchFamily="34" charset="0"/>
              </a:rPr>
              <a:t> </a:t>
            </a:r>
            <a:r>
              <a:rPr lang="en-US" sz="2000" dirty="0">
                <a:solidFill>
                  <a:srgbClr val="0070C0"/>
                </a:solidFill>
                <a:latin typeface="Liberation Mono"/>
                <a:cs typeface="Arial" panose="020B0604020202020204" pitchFamily="34" charset="0"/>
              </a:rPr>
              <a:t>INTO</a:t>
            </a:r>
            <a:r>
              <a:rPr lang="en-US" sz="2000" dirty="0">
                <a:latin typeface="Liberation Mono"/>
                <a:cs typeface="Arial" panose="020B0604020202020204" pitchFamily="34" charset="0"/>
              </a:rPr>
              <a:t> table_name </a:t>
            </a:r>
            <a:r>
              <a:rPr lang="en-US" sz="2000" dirty="0">
                <a:latin typeface="Arial" panose="020B0604020202020204" pitchFamily="34" charset="0"/>
                <a:cs typeface="Arial" panose="020B0604020202020204" pitchFamily="34" charset="0"/>
              </a:rPr>
              <a:t>[(column1 [, column2 ])]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04A8B461-D3B5-4F55-B238-CE1780AB777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034304229"/>
      </p:ext>
    </p:extLst>
  </p:cSld>
  <p:clrMapOvr>
    <a:masterClrMapping/>
  </p:clrMapOvr>
</p:sld>
</file>

<file path=ppt/slides/slide5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update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E3B07CA7-F5E4-486E-80DA-EA61D87A51F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UPDATE</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SET</a:t>
            </a:r>
            <a:r>
              <a:rPr lang="en-US" sz="2000" dirty="0">
                <a:latin typeface="Liberation Mono"/>
                <a:cs typeface="Arial" panose="020B0604020202020204" pitchFamily="34" charset="0"/>
              </a:rPr>
              <a:t> column_name =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chemeClr val="bg1">
                    <a:lumMod val="65000"/>
                  </a:schemeClr>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endParaRPr lang="en-US" sz="2000" dirty="0">
              <a:solidFill>
                <a:srgbClr val="0077AA"/>
              </a:solidFill>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00058839-D228-4457-A1FB-8B627B3490D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705078708"/>
      </p:ext>
    </p:extLst>
  </p:cSld>
  <p:clrMapOvr>
    <a:masterClrMapping/>
  </p:clrMapOvr>
</p:sld>
</file>

<file path=ppt/slides/slide5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delete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1C2F5556-BE3F-467D-A406-FADD2D1F6D1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DELETE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solidFill>
                  <a:srgbClr val="0077AA"/>
                </a:solidFill>
                <a:latin typeface="Liberation Mono"/>
                <a:cs typeface="Arial" panose="020B0604020202020204" pitchFamily="34" charset="0"/>
              </a:rPr>
              <a:t>)</a:t>
            </a:r>
            <a:r>
              <a:rPr lang="en-US" sz="2000" dirty="0">
                <a:latin typeface="Liberation Mono"/>
                <a:cs typeface="Arial" panose="020B0604020202020204" pitchFamily="34" charset="0"/>
              </a:rPr>
              <a:t> ]</a:t>
            </a:r>
          </a:p>
        </p:txBody>
      </p:sp>
      <p:sp>
        <p:nvSpPr>
          <p:cNvPr id="5" name="TextBox 4">
            <a:extLst>
              <a:ext uri="{FF2B5EF4-FFF2-40B4-BE49-F238E27FC236}">
                <a16:creationId xmlns:a16="http://schemas.microsoft.com/office/drawing/2014/main" id="{1642242E-C5A3-497D-9356-6DCEA9F11C3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087056985"/>
      </p:ext>
    </p:extLst>
  </p:cSld>
  <p:clrMapOvr>
    <a:masterClrMapping/>
  </p:clrMapOvr>
</p:sld>
</file>

<file path=ppt/slides/slide5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subqueries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D5FC8C6F-A860-4B65-9F3C-1DF9E7AE9598}"/>
              </a:ext>
            </a:extLst>
          </p:cNvPr>
          <p:cNvSpPr/>
          <p:nvPr/>
        </p:nvSpPr>
        <p:spPr>
          <a:xfrm>
            <a:off x="191344" y="1117188"/>
            <a:ext cx="11809312" cy="3477875"/>
          </a:xfrm>
          <a:prstGeom prst="rect">
            <a:avLst/>
          </a:prstGeom>
        </p:spPr>
        <p:txBody>
          <a:bodyPr wrap="square">
            <a:spAutoFit/>
          </a:bodyPr>
          <a:lstStyle/>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The Subquery as Scalar Operand</a:t>
            </a:r>
            <a:r>
              <a:rPr lang="en-IN" sz="2000" dirty="0">
                <a:solidFill>
                  <a:srgbClr val="C00000"/>
                </a:solidFill>
                <a:latin typeface="Arial" panose="020B0604020202020204" pitchFamily="34" charset="0"/>
                <a:cs typeface="Arial" panose="020B0604020202020204" pitchFamily="34" charset="0"/>
              </a:rPr>
              <a:t> – </a:t>
            </a:r>
            <a:r>
              <a:rPr lang="en-IN" sz="2000" dirty="0">
                <a:solidFill>
                  <a:srgbClr val="0070C0"/>
                </a:solidFill>
                <a:latin typeface="Arial" panose="020B0604020202020204" pitchFamily="34" charset="0"/>
                <a:cs typeface="Arial" panose="020B0604020202020204" pitchFamily="34" charset="0"/>
              </a:rPr>
              <a:t>SELECT clause</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Comparisons using Subqueries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dirty="0">
                <a:solidFill>
                  <a:srgbClr val="0070C0"/>
                </a:solidFill>
                <a:latin typeface="Arial" panose="020B0604020202020204" pitchFamily="34" charset="0"/>
                <a:cs typeface="Arial" panose="020B0604020202020204" pitchFamily="34" charset="0"/>
              </a:rPr>
              <a:t>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Single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in the FROM Clause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INLINE VIEWS</a:t>
            </a:r>
            <a:r>
              <a:rPr lang="en-IN" sz="2000" dirty="0">
                <a:solidFill>
                  <a:schemeClr val="bg1">
                    <a:lumMod val="50000"/>
                  </a:schemeClr>
                </a:solidFill>
                <a:latin typeface="Arial" panose="020B0604020202020204" pitchFamily="34" charset="0"/>
                <a:cs typeface="Arial" panose="020B0604020202020204" pitchFamily="34" charset="0"/>
              </a:rPr>
              <a:t> (</a:t>
            </a:r>
            <a:r>
              <a:rPr lang="en-IN" sz="2000" i="1" dirty="0">
                <a:solidFill>
                  <a:schemeClr val="bg2">
                    <a:lumMod val="25000"/>
                  </a:schemeClr>
                </a:solidFill>
                <a:latin typeface="Arial" panose="020B0604020202020204" pitchFamily="34" charset="0"/>
                <a:cs typeface="Arial" panose="020B0604020202020204" pitchFamily="34" charset="0"/>
              </a:rPr>
              <a:t>Derived Tables</a:t>
            </a:r>
            <a:r>
              <a:rPr lang="en-IN" sz="2000" dirty="0">
                <a:solidFill>
                  <a:schemeClr val="bg1">
                    <a:lumMod val="50000"/>
                  </a:schemeClr>
                </a:solidFill>
                <a:latin typeface="Arial" panose="020B0604020202020204" pitchFamily="34" charset="0"/>
                <a:cs typeface="Arial" panose="020B0604020202020204" pitchFamily="34" charset="0"/>
              </a:rPr>
              <a:t>)</a:t>
            </a:r>
            <a:endParaRPr lang="en-IN" sz="2000" dirty="0">
              <a:solidFill>
                <a:schemeClr val="bg2">
                  <a:lumMod val="2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ALL, ANY, IN, or SOME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Multiple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EXISTS or NOT EXISTS</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chemeClr val="bg1"/>
                </a:solidFill>
                <a:latin typeface="Arial" panose="020B0604020202020204" pitchFamily="34" charset="0"/>
                <a:cs typeface="Arial" panose="020B0604020202020204" pitchFamily="34" charset="0"/>
              </a:rPr>
              <a:t>Row Subqueries</a:t>
            </a:r>
          </a:p>
        </p:txBody>
      </p:sp>
      <p:sp>
        <p:nvSpPr>
          <p:cNvPr id="5" name="TextBox 4">
            <a:extLst>
              <a:ext uri="{FF2B5EF4-FFF2-40B4-BE49-F238E27FC236}">
                <a16:creationId xmlns:a16="http://schemas.microsoft.com/office/drawing/2014/main" id="{A49E6E26-4AAF-40FD-81F6-12C3DFEAFC25}"/>
              </a:ext>
            </a:extLst>
          </p:cNvPr>
          <p:cNvSpPr txBox="1"/>
          <p:nvPr/>
        </p:nvSpPr>
        <p:spPr>
          <a:xfrm>
            <a:off x="191344" y="5611887"/>
            <a:ext cx="11665296" cy="769441"/>
          </a:xfrm>
          <a:prstGeom prst="rect">
            <a:avLst/>
          </a:prstGeom>
          <a:noFill/>
        </p:spPr>
        <p:txBody>
          <a:bodyPr wrap="square">
            <a:spAutoFit/>
          </a:bodyPr>
          <a:lstStyle/>
          <a:p>
            <a:r>
              <a:rPr lang="en-IN" sz="1800" dirty="0">
                <a:solidFill>
                  <a:schemeClr val="bg1">
                    <a:lumMod val="50000"/>
                  </a:schemeClr>
                </a:solidFill>
                <a:latin typeface="Arial" panose="020B0604020202020204" pitchFamily="34" charset="0"/>
                <a:cs typeface="Arial" panose="020B0604020202020204" pitchFamily="34" charset="0"/>
              </a:rPr>
              <a:t>WITH var(param) as (SELECT) [CTE] </a:t>
            </a:r>
            <a:r>
              <a:rPr lang="en-IN" sz="1800" dirty="0">
                <a:solidFill>
                  <a:schemeClr val="bg2">
                    <a:lumMod val="25000"/>
                  </a:schemeClr>
                </a:solidFill>
                <a:latin typeface="Arial" panose="020B0604020202020204" pitchFamily="34" charset="0"/>
                <a:cs typeface="Arial" panose="020B0604020202020204" pitchFamily="34" charset="0"/>
              </a:rPr>
              <a:t>Common Table Expressions</a:t>
            </a:r>
          </a:p>
          <a:p>
            <a:endParaRPr lang="en-IN" sz="800" dirty="0">
              <a:solidFill>
                <a:schemeClr val="bg2">
                  <a:lumMod val="25000"/>
                </a:schemeClr>
              </a:solidFill>
              <a:latin typeface="Arial" panose="020B0604020202020204" pitchFamily="34" charset="0"/>
              <a:cs typeface="Arial" panose="020B0604020202020204" pitchFamily="34" charset="0"/>
            </a:endParaRPr>
          </a:p>
          <a:p>
            <a:r>
              <a:rPr lang="en-US" dirty="0">
                <a:solidFill>
                  <a:srgbClr val="0077AA"/>
                </a:solidFill>
                <a:latin typeface="Liberation Mono"/>
              </a:rPr>
              <a:t>WITH</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 AS </a:t>
            </a:r>
            <a:r>
              <a:rPr lang="en-US" dirty="0">
                <a:solidFill>
                  <a:schemeClr val="bg1">
                    <a:lumMod val="50000"/>
                  </a:schemeClr>
                </a:solidFill>
                <a:latin typeface="Liberation Mono"/>
                <a:cs typeface="Arial" panose="020B0604020202020204" pitchFamily="34" charset="0"/>
              </a:rPr>
              <a:t>(</a:t>
            </a:r>
            <a:r>
              <a:rPr lang="en-US" dirty="0">
                <a:latin typeface="Liberation Mono"/>
                <a:cs typeface="Arial" panose="020B0604020202020204" pitchFamily="34" charset="0"/>
              </a:rPr>
              <a:t>p1, p2, p3, p4</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AS</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dept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p1, p2, p3, p4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a:t>
            </a:r>
            <a:endParaRPr lang="en-IN" dirty="0">
              <a:latin typeface="Liberation Mono"/>
              <a:cs typeface="Arial" panose="020B0604020202020204" pitchFamily="34" charset="0"/>
            </a:endParaRPr>
          </a:p>
        </p:txBody>
      </p:sp>
      <p:sp>
        <p:nvSpPr>
          <p:cNvPr id="2" name="TextBox 1">
            <a:extLst>
              <a:ext uri="{FF2B5EF4-FFF2-40B4-BE49-F238E27FC236}">
                <a16:creationId xmlns:a16="http://schemas.microsoft.com/office/drawing/2014/main" id="{E3E617CE-C0C3-C41B-D71D-D807A6E796BB}"/>
              </a:ext>
            </a:extLst>
          </p:cNvPr>
          <p:cNvSpPr txBox="1"/>
          <p:nvPr/>
        </p:nvSpPr>
        <p:spPr>
          <a:xfrm>
            <a:off x="551384" y="4510861"/>
            <a:ext cx="11161240" cy="707886"/>
          </a:xfrm>
          <a:prstGeom prst="rect">
            <a:avLst/>
          </a:prstGeom>
          <a:noFill/>
        </p:spPr>
        <p:txBody>
          <a:bodyPr wrap="square">
            <a:spAutoFit/>
          </a:bodyPr>
          <a:lstStyle/>
          <a:p>
            <a:r>
              <a:rPr lang="en-US" sz="2000" dirty="0">
                <a:latin typeface="Palatino Linotype" panose="02040502050505030304" pitchFamily="18" charset="0"/>
              </a:rPr>
              <a:t>A </a:t>
            </a:r>
            <a:r>
              <a:rPr lang="en-US" sz="2000" b="1" dirty="0">
                <a:latin typeface="Palatino Linotype" panose="02040502050505030304" pitchFamily="18" charset="0"/>
              </a:rPr>
              <a:t>scalar subquery</a:t>
            </a:r>
            <a:r>
              <a:rPr lang="en-US" sz="2000" dirty="0">
                <a:latin typeface="Palatino Linotype" panose="02040502050505030304" pitchFamily="18" charset="0"/>
              </a:rPr>
              <a:t> is a subquery that returns </a:t>
            </a:r>
            <a:r>
              <a:rPr lang="en-US" sz="2000" b="1" dirty="0">
                <a:latin typeface="Palatino Linotype" panose="02040502050505030304" pitchFamily="18" charset="0"/>
              </a:rPr>
              <a:t>exactly one value (one row, one column)</a:t>
            </a:r>
            <a:r>
              <a:rPr lang="en-US" sz="2000" dirty="0">
                <a:latin typeface="Palatino Linotype" panose="02040502050505030304" pitchFamily="18" charset="0"/>
              </a:rPr>
              <a:t> and is often used inside </a:t>
            </a:r>
            <a:r>
              <a:rPr lang="en-US" sz="2000" b="1" i="1" dirty="0">
                <a:solidFill>
                  <a:srgbClr val="3939F5"/>
                </a:solidFill>
                <a:latin typeface="Palatino Linotype" panose="02040502050505030304" pitchFamily="18" charset="0"/>
              </a:rPr>
              <a:t>SELECT</a:t>
            </a:r>
            <a:r>
              <a:rPr lang="en-US" sz="2000" dirty="0">
                <a:latin typeface="Palatino Linotype" panose="02040502050505030304" pitchFamily="18" charset="0"/>
              </a:rPr>
              <a:t>, </a:t>
            </a:r>
            <a:r>
              <a:rPr lang="en-US" sz="2000" b="1" i="1" dirty="0">
                <a:solidFill>
                  <a:srgbClr val="3939F5"/>
                </a:solidFill>
                <a:latin typeface="Palatino Linotype" panose="02040502050505030304" pitchFamily="18" charset="0"/>
              </a:rPr>
              <a:t>WHERE</a:t>
            </a:r>
            <a:r>
              <a:rPr lang="en-US" sz="2000" dirty="0">
                <a:latin typeface="Palatino Linotype" panose="02040502050505030304" pitchFamily="18" charset="0"/>
              </a:rPr>
              <a:t>, or </a:t>
            </a:r>
            <a:r>
              <a:rPr lang="en-US" sz="2000" b="1" i="1" dirty="0">
                <a:solidFill>
                  <a:srgbClr val="3939F5"/>
                </a:solidFill>
                <a:latin typeface="Palatino Linotype" panose="02040502050505030304" pitchFamily="18" charset="0"/>
              </a:rPr>
              <a:t>HAVING</a:t>
            </a:r>
            <a:r>
              <a:rPr lang="en-US" sz="2000" dirty="0">
                <a:latin typeface="Palatino Linotype" panose="02040502050505030304" pitchFamily="18" charset="0"/>
              </a:rPr>
              <a:t> clauses—just like a constant.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98604681"/>
      </p:ext>
    </p:extLst>
  </p:cSld>
  <p:clrMapOvr>
    <a:masterClrMapping/>
  </p:clrMapOvr>
</p:sld>
</file>

<file path=ppt/slides/slide5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the subquery as scalar operand</a:t>
            </a:r>
            <a:endParaRPr lang="en-US" sz="4800" b="0" i="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ECC3248A-ED0D-F733-6291-E1F5F734BE3F}"/>
              </a:ext>
            </a:extLst>
          </p:cNvPr>
          <p:cNvSpPr txBox="1"/>
          <p:nvPr/>
        </p:nvSpPr>
        <p:spPr>
          <a:xfrm>
            <a:off x="551384" y="3279682"/>
            <a:ext cx="11161240" cy="646331"/>
          </a:xfrm>
          <a:prstGeom prst="rect">
            <a:avLst/>
          </a:prstGeom>
          <a:noFill/>
        </p:spPr>
        <p:txBody>
          <a:bodyPr wrap="square">
            <a:spAutoFit/>
          </a:bodyPr>
          <a:lstStyle/>
          <a:p>
            <a:r>
              <a:rPr lang="en-US" dirty="0">
                <a:latin typeface="Palatino Linotype" panose="02040502050505030304" pitchFamily="18" charset="0"/>
              </a:rPr>
              <a:t>A </a:t>
            </a:r>
            <a:r>
              <a:rPr lang="en-US" b="1" dirty="0">
                <a:latin typeface="Palatino Linotype" panose="02040502050505030304" pitchFamily="18" charset="0"/>
              </a:rPr>
              <a:t>scalar subquery</a:t>
            </a:r>
            <a:r>
              <a:rPr lang="en-US" dirty="0">
                <a:latin typeface="Palatino Linotype" panose="02040502050505030304" pitchFamily="18" charset="0"/>
              </a:rPr>
              <a:t> is a subquery that returns </a:t>
            </a:r>
            <a:r>
              <a:rPr lang="en-US" b="1" dirty="0">
                <a:latin typeface="Palatino Linotype" panose="02040502050505030304" pitchFamily="18" charset="0"/>
              </a:rPr>
              <a:t>exactly one value (one row, one column)</a:t>
            </a:r>
            <a:r>
              <a:rPr lang="en-US" dirty="0">
                <a:latin typeface="Palatino Linotype" panose="02040502050505030304" pitchFamily="18" charset="0"/>
              </a:rPr>
              <a:t> and is often used inside </a:t>
            </a:r>
            <a:r>
              <a:rPr lang="en-US" b="1" i="1" dirty="0">
                <a:solidFill>
                  <a:srgbClr val="3939F5"/>
                </a:solidFill>
                <a:latin typeface="Palatino Linotype" panose="02040502050505030304" pitchFamily="18" charset="0"/>
              </a:rPr>
              <a:t>SELECT</a:t>
            </a:r>
            <a:r>
              <a:rPr lang="en-US" dirty="0">
                <a:latin typeface="Palatino Linotype" panose="02040502050505030304" pitchFamily="18" charset="0"/>
              </a:rPr>
              <a:t>, </a:t>
            </a:r>
            <a:r>
              <a:rPr lang="en-US" b="1" i="1" dirty="0">
                <a:solidFill>
                  <a:srgbClr val="3939F5"/>
                </a:solidFill>
                <a:latin typeface="Palatino Linotype" panose="02040502050505030304" pitchFamily="18" charset="0"/>
              </a:rPr>
              <a:t>WHERE</a:t>
            </a:r>
            <a:r>
              <a:rPr lang="en-US" dirty="0">
                <a:latin typeface="Palatino Linotype" panose="02040502050505030304" pitchFamily="18" charset="0"/>
              </a:rPr>
              <a:t>, or </a:t>
            </a:r>
            <a:r>
              <a:rPr lang="en-US" b="1" i="1" dirty="0">
                <a:solidFill>
                  <a:srgbClr val="3939F5"/>
                </a:solidFill>
                <a:latin typeface="Palatino Linotype" panose="02040502050505030304" pitchFamily="18" charset="0"/>
              </a:rPr>
              <a:t>HAVING</a:t>
            </a:r>
            <a:r>
              <a:rPr lang="en-US" dirty="0">
                <a:latin typeface="Palatino Linotype" panose="02040502050505030304" pitchFamily="18" charset="0"/>
              </a:rPr>
              <a:t> clauses—just like a constant.</a:t>
            </a:r>
            <a:endParaRPr lang="en-IN" dirty="0">
              <a:latin typeface="Palatino Linotype" panose="02040502050505030304" pitchFamily="18" charset="0"/>
            </a:endParaRPr>
          </a:p>
        </p:txBody>
      </p:sp>
    </p:spTree>
    <p:extLst>
      <p:ext uri="{BB962C8B-B14F-4D97-AF65-F5344CB8AC3E}">
        <p14:creationId xmlns:p14="http://schemas.microsoft.com/office/powerpoint/2010/main" val="4056381407"/>
      </p:ext>
    </p:extLst>
  </p:cSld>
  <p:clrMapOvr>
    <a:masterClrMapping/>
  </p:clrMapOvr>
</p:sld>
</file>

<file path=ppt/slides/slide5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393711" y="4653136"/>
            <a:ext cx="11449272" cy="196977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Think</a:t>
            </a:r>
            <a:r>
              <a:rPr lang="en-IN" sz="2400" dirty="0">
                <a:solidFill>
                  <a:srgbClr val="FF0000"/>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FF0000"/>
              </a:solidFill>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FF0000"/>
                </a:solidFill>
                <a:latin typeface="Liberation Mono"/>
                <a:cs typeface="Arial" panose="020B0604020202020204" pitchFamily="34" charset="0"/>
              </a:rPr>
              <a:t>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ename, sal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A67F59"/>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dname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0C0"/>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 ;</a:t>
            </a:r>
          </a:p>
        </p:txBody>
      </p:sp>
      <p:sp>
        <p:nvSpPr>
          <p:cNvPr id="6" name="Rectangle 5">
            <a:extLst>
              <a:ext uri="{FF2B5EF4-FFF2-40B4-BE49-F238E27FC236}">
                <a16:creationId xmlns:a16="http://schemas.microsoft.com/office/drawing/2014/main" id="{B9EF8C19-36F5-4FA6-BC72-2468C4F6F61A}"/>
              </a:ext>
            </a:extLst>
          </p:cNvPr>
          <p:cNvSpPr/>
          <p:nvPr/>
        </p:nvSpPr>
        <p:spPr>
          <a:xfrm>
            <a:off x="370570" y="1951092"/>
            <a:ext cx="11270046" cy="107721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subquery that returns </a:t>
            </a:r>
            <a:r>
              <a:rPr lang="en-IN" b="1" dirty="0">
                <a:solidFill>
                  <a:srgbClr val="0089A4"/>
                </a:solidFill>
                <a:latin typeface="Arial" panose="020B0604020202020204" pitchFamily="34" charset="0"/>
                <a:cs typeface="Arial" panose="020B0604020202020204" pitchFamily="34" charset="0"/>
              </a:rPr>
              <a:t>exactly one column value from one row</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simple operand, and you can use it almost anywhere a single column value is legal. </a:t>
            </a:r>
          </a:p>
        </p:txBody>
      </p:sp>
      <p:sp>
        <p:nvSpPr>
          <p:cNvPr id="7" name="Rectangle 6">
            <a:extLst>
              <a:ext uri="{FF2B5EF4-FFF2-40B4-BE49-F238E27FC236}">
                <a16:creationId xmlns:a16="http://schemas.microsoft.com/office/drawing/2014/main" id="{E17DFD44-BDA1-4D9B-9E9F-0849485627B0}"/>
              </a:ext>
            </a:extLst>
          </p:cNvPr>
          <p:cNvSpPr/>
          <p:nvPr/>
        </p:nvSpPr>
        <p:spPr>
          <a:xfrm>
            <a:off x="397989" y="3140968"/>
            <a:ext cx="11449272" cy="120032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0 rows then the value of scalar subquery expression is </a:t>
            </a:r>
            <a:r>
              <a:rPr lang="en-IN" b="1" dirty="0">
                <a:solidFill>
                  <a:srgbClr val="C00000"/>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more than one row then MySQL returns an </a:t>
            </a:r>
            <a:r>
              <a:rPr lang="en-IN" b="1" dirty="0">
                <a:solidFill>
                  <a:srgbClr val="C00000"/>
                </a:solidFill>
                <a:latin typeface="Arial" panose="020B0604020202020204" pitchFamily="34" charset="0"/>
                <a:cs typeface="Arial" panose="020B0604020202020204" pitchFamily="34" charset="0"/>
              </a:rPr>
              <a:t>error</a:t>
            </a:r>
            <a:r>
              <a:rPr lang="en-IN" dirty="0">
                <a:latin typeface="Arial" panose="020B060402020202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687FF894-F8BE-439C-9153-F332E606C665}"/>
              </a:ext>
            </a:extLst>
          </p:cNvPr>
          <p:cNvSpPr/>
          <p:nvPr/>
        </p:nvSpPr>
        <p:spPr>
          <a:xfrm>
            <a:off x="317732" y="1231200"/>
            <a:ext cx="10350268"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dirty="0">
                <a:solidFill>
                  <a:srgbClr val="0077AA"/>
                </a:solidFill>
                <a:latin typeface="Liberation Mono"/>
                <a:cs typeface="Arial" panose="020B0604020202020204" pitchFamily="34" charset="0"/>
              </a:rPr>
              <a:t> </a:t>
            </a:r>
          </a:p>
        </p:txBody>
      </p:sp>
      <p:sp>
        <p:nvSpPr>
          <p:cNvPr id="11" name="TextBox 10">
            <a:extLst>
              <a:ext uri="{FF2B5EF4-FFF2-40B4-BE49-F238E27FC236}">
                <a16:creationId xmlns:a16="http://schemas.microsoft.com/office/drawing/2014/main" id="{D21A6BBD-FB4B-4B93-912D-F7C069433FB1}"/>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555894142"/>
      </p:ext>
    </p:extLst>
  </p:cSld>
  <p:clrMapOvr>
    <a:masterClrMapping/>
  </p:clrMapOvr>
</p:sld>
</file>

<file path=ppt/slides/slide5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432995" y="1209526"/>
            <a:ext cx="11135613"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a:t>
            </a:r>
            <a:r>
              <a:rPr lang="en-US" dirty="0">
                <a:solidFill>
                  <a:schemeClr val="accent4">
                    <a:lumMod val="50000"/>
                  </a:schemeClr>
                </a:solidFill>
                <a:latin typeface="Liberation Mono"/>
                <a:cs typeface="Arial" panose="020B0604020202020204" pitchFamily="34" charset="0"/>
              </a:rPr>
              <a:t> </a:t>
            </a:r>
            <a:r>
              <a:rPr lang="en-US" i="1" dirty="0">
                <a:solidFill>
                  <a:schemeClr val="bg1">
                    <a:lumMod val="50000"/>
                  </a:schemeClr>
                </a:solidFill>
                <a:latin typeface="Liberation Mono"/>
              </a:rPr>
              <a:t>"Standard Price"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"Minimum Price"</a:t>
            </a:r>
            <a:r>
              <a:rPr lang="en-US" dirty="0">
                <a:latin typeface="Liberation Mono"/>
                <a:cs typeface="Arial" panose="020B0604020202020204" pitchFamily="34" charset="0"/>
              </a:rPr>
              <a:t>;</a:t>
            </a:r>
          </a:p>
        </p:txBody>
      </p:sp>
      <p:pic>
        <p:nvPicPr>
          <p:cNvPr id="6" name="Picture 5"/>
          <p:cNvPicPr>
            <a:picLocks noChangeAspect="1"/>
          </p:cNvPicPr>
          <p:nvPr/>
        </p:nvPicPr>
        <p:blipFill>
          <a:blip r:embed="rId2" cstate="print"/>
          <a:stretch>
            <a:fillRect/>
          </a:stretch>
        </p:blipFill>
        <p:spPr>
          <a:xfrm>
            <a:off x="432995" y="2034069"/>
            <a:ext cx="3430871" cy="732128"/>
          </a:xfrm>
          <a:prstGeom prst="rect">
            <a:avLst/>
          </a:prstGeom>
        </p:spPr>
      </p:pic>
      <p:sp>
        <p:nvSpPr>
          <p:cNvPr id="7" name="Rectangle 6"/>
          <p:cNvSpPr/>
          <p:nvPr/>
        </p:nvSpPr>
        <p:spPr>
          <a:xfrm>
            <a:off x="432483" y="3429000"/>
            <a:ext cx="11135614"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rgbClr val="DD4A68"/>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"Price Difference"</a:t>
            </a:r>
            <a:r>
              <a:rPr lang="en-US" dirty="0">
                <a:latin typeface="Liberation Mono"/>
                <a:cs typeface="Arial" panose="020B0604020202020204" pitchFamily="34" charset="0"/>
              </a:rPr>
              <a:t>;</a:t>
            </a:r>
          </a:p>
        </p:txBody>
      </p:sp>
      <p:pic>
        <p:nvPicPr>
          <p:cNvPr id="8" name="Picture 7"/>
          <p:cNvPicPr>
            <a:picLocks noChangeAspect="1"/>
          </p:cNvPicPr>
          <p:nvPr/>
        </p:nvPicPr>
        <p:blipFill>
          <a:blip r:embed="rId3" cstate="print"/>
          <a:stretch>
            <a:fillRect/>
          </a:stretch>
        </p:blipFill>
        <p:spPr>
          <a:xfrm>
            <a:off x="432483" y="4293096"/>
            <a:ext cx="3431269" cy="663595"/>
          </a:xfrm>
          <a:prstGeom prst="rect">
            <a:avLst/>
          </a:prstGeom>
        </p:spPr>
      </p:pic>
      <p:sp>
        <p:nvSpPr>
          <p:cNvPr id="9" name="Rectangle 8">
            <a:extLst>
              <a:ext uri="{FF2B5EF4-FFF2-40B4-BE49-F238E27FC236}">
                <a16:creationId xmlns:a16="http://schemas.microsoft.com/office/drawing/2014/main" id="{842280FC-EE84-4EAC-A5BB-97754368752C}"/>
              </a:ext>
            </a:extLst>
          </p:cNvPr>
          <p:cNvSpPr/>
          <p:nvPr/>
        </p:nvSpPr>
        <p:spPr>
          <a:xfrm>
            <a:off x="432996" y="748550"/>
            <a:ext cx="742949" cy="369332"/>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e.g.</a:t>
            </a:r>
          </a:p>
        </p:txBody>
      </p:sp>
      <p:sp>
        <p:nvSpPr>
          <p:cNvPr id="5" name="TextBox 4">
            <a:extLst>
              <a:ext uri="{FF2B5EF4-FFF2-40B4-BE49-F238E27FC236}">
                <a16:creationId xmlns:a16="http://schemas.microsoft.com/office/drawing/2014/main" id="{BB3C7472-8E10-15CC-9244-D6480E566943}"/>
              </a:ext>
            </a:extLst>
          </p:cNvPr>
          <p:cNvSpPr txBox="1"/>
          <p:nvPr/>
        </p:nvSpPr>
        <p:spPr>
          <a:xfrm>
            <a:off x="399940" y="5877272"/>
            <a:ext cx="1138469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128605411"/>
      </p:ext>
    </p:extLst>
  </p:cSld>
  <p:clrMapOvr>
    <a:masterClrMapping/>
  </p:clrMapOvr>
</p:sld>
</file>

<file path=ppt/slides/slide5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D8D7E-98AF-FA58-A64A-BFC748FE26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4C2AF66-E90A-5940-332B-ABE84ED1D2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11" name="TextBox 10">
            <a:extLst>
              <a:ext uri="{FF2B5EF4-FFF2-40B4-BE49-F238E27FC236}">
                <a16:creationId xmlns:a16="http://schemas.microsoft.com/office/drawing/2014/main" id="{EEEB94B2-667E-63A5-9B92-369062D08A19}"/>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
        <p:nvSpPr>
          <p:cNvPr id="5" name="TextBox 4">
            <a:extLst>
              <a:ext uri="{FF2B5EF4-FFF2-40B4-BE49-F238E27FC236}">
                <a16:creationId xmlns:a16="http://schemas.microsoft.com/office/drawing/2014/main" id="{3CD7C337-FA7F-BDAE-28FD-11BB9F399FE0}"/>
              </a:ext>
            </a:extLst>
          </p:cNvPr>
          <p:cNvSpPr txBox="1"/>
          <p:nvPr/>
        </p:nvSpPr>
        <p:spPr>
          <a:xfrm>
            <a:off x="263352" y="2060848"/>
            <a:ext cx="11665296" cy="2536528"/>
          </a:xfrm>
          <a:prstGeom prst="rect">
            <a:avLst/>
          </a:prstGeom>
          <a:noFill/>
        </p:spPr>
        <p:txBody>
          <a:bodyPr wrap="square">
            <a:spAutoFit/>
          </a:bodyPr>
          <a:lstStyle/>
          <a:p>
            <a:pPr marL="342900" indent="-342900">
              <a:lnSpc>
                <a:spcPct val="150000"/>
              </a:lnSpc>
              <a:buFont typeface="+mj-lt"/>
              <a:buAutoNum type="arabicPeriod"/>
            </a:pPr>
            <a:r>
              <a:rPr lang="en-IN" dirty="0"/>
              <a:t>Employee Salary vs Company Average</a:t>
            </a:r>
          </a:p>
          <a:p>
            <a:pPr marL="342900" indent="-342900">
              <a:lnSpc>
                <a:spcPct val="150000"/>
              </a:lnSpc>
              <a:buFont typeface="+mj-lt"/>
              <a:buAutoNum type="arabicPeriod"/>
            </a:pPr>
            <a:r>
              <a:rPr lang="en-IN" dirty="0"/>
              <a:t>Latest Order in E-commerce</a:t>
            </a:r>
          </a:p>
          <a:p>
            <a:pPr marL="342900" indent="-342900">
              <a:lnSpc>
                <a:spcPct val="150000"/>
              </a:lnSpc>
              <a:buFont typeface="+mj-lt"/>
              <a:buAutoNum type="arabicPeriod"/>
            </a:pPr>
            <a:r>
              <a:rPr lang="en-IN" dirty="0"/>
              <a:t>Highest-Paid Employee</a:t>
            </a:r>
          </a:p>
          <a:p>
            <a:pPr marL="342900" indent="-342900">
              <a:lnSpc>
                <a:spcPct val="150000"/>
              </a:lnSpc>
              <a:buFont typeface="+mj-lt"/>
              <a:buAutoNum type="arabicPeriod"/>
            </a:pPr>
            <a:r>
              <a:rPr lang="en-IN" dirty="0"/>
              <a:t>Product Price above average price.</a:t>
            </a:r>
          </a:p>
          <a:p>
            <a:pPr marL="342900" indent="-342900">
              <a:lnSpc>
                <a:spcPct val="150000"/>
              </a:lnSpc>
              <a:buFont typeface="+mj-lt"/>
              <a:buAutoNum type="arabicPeriod"/>
            </a:pPr>
            <a:r>
              <a:rPr lang="en-IN" dirty="0"/>
              <a:t>Customer with Highest Total Purchase</a:t>
            </a:r>
          </a:p>
          <a:p>
            <a:pPr marL="342900" indent="-342900">
              <a:lnSpc>
                <a:spcPct val="150000"/>
              </a:lnSpc>
              <a:buFont typeface="+mj-lt"/>
              <a:buAutoNum type="arabicPeriod"/>
            </a:pPr>
            <a:r>
              <a:rPr lang="en-IN" dirty="0"/>
              <a:t>. . . . . . . . . </a:t>
            </a:r>
            <a:r>
              <a:rPr lang="en-IN"/>
              <a:t>.</a:t>
            </a:r>
            <a:endParaRPr lang="en-IN" dirty="0"/>
          </a:p>
        </p:txBody>
      </p:sp>
    </p:spTree>
    <p:extLst>
      <p:ext uri="{BB962C8B-B14F-4D97-AF65-F5344CB8AC3E}">
        <p14:creationId xmlns:p14="http://schemas.microsoft.com/office/powerpoint/2010/main" val="1256365070"/>
      </p:ext>
    </p:extLst>
  </p:cSld>
  <p:clrMapOvr>
    <a:masterClrMapping/>
  </p:clrMapOvr>
</p:sld>
</file>

<file path=ppt/slides/slide5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in the from clause</a:t>
            </a:r>
          </a:p>
        </p:txBody>
      </p:sp>
    </p:spTree>
    <p:extLst>
      <p:ext uri="{BB962C8B-B14F-4D97-AF65-F5344CB8AC3E}">
        <p14:creationId xmlns:p14="http://schemas.microsoft.com/office/powerpoint/2010/main" val="892295387"/>
      </p:ext>
    </p:extLst>
  </p:cSld>
  <p:clrMapOvr>
    <a:masterClrMapping/>
  </p:clrMapOvr>
</p:sld>
</file>

<file path=ppt/slides/slide5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2" name="Rectangle 1"/>
          <p:cNvSpPr/>
          <p:nvPr/>
        </p:nvSpPr>
        <p:spPr>
          <a:xfrm>
            <a:off x="72008" y="2734469"/>
            <a:ext cx="12000656" cy="2123658"/>
          </a:xfrm>
          <a:prstGeom prst="rect">
            <a:avLst/>
          </a:prstGeom>
        </p:spPr>
        <p:txBody>
          <a:bodyPr wrap="square">
            <a:spAutoFit/>
          </a:bodyPr>
          <a:lstStyle/>
          <a:p>
            <a:pPr marL="342900" indent="-342900">
              <a:buFont typeface="Arial" panose="020B0604020202020204" pitchFamily="34" charset="0"/>
              <a:buChar char="•"/>
            </a:pPr>
            <a:r>
              <a:rPr lang="en-IN" dirty="0">
                <a:latin typeface="Liberation Mono"/>
                <a:cs typeface="Arial" panose="020B0604020202020204" pitchFamily="34" charset="0"/>
              </a:rPr>
              <a:t>SET @x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tx1">
                    <a:lumMod val="85000"/>
                    <a:lumOff val="15000"/>
                  </a:schemeClr>
                </a:solidFill>
                <a:latin typeface="Liberation Mono"/>
                <a:ea typeface="Times New Roman" panose="02020603050405020304" pitchFamily="18" charset="0"/>
              </a:rPr>
              <a:t> as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A67F59"/>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DT </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5</a:t>
            </a:r>
            <a:r>
              <a:rPr lang="en-IN" dirty="0">
                <a:solidFill>
                  <a:schemeClr val="tx1">
                    <a:lumMod val="85000"/>
                    <a:lumOff val="15000"/>
                  </a:schemeClr>
                </a:solidFill>
                <a:latin typeface="Liberation Mono"/>
                <a:ea typeface="Times New Roman" panose="02020603050405020304" pitchFamily="18"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1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DD4A68"/>
                </a:solidFill>
                <a:latin typeface="Liberation Mono"/>
              </a:rPr>
              <a:t>MOD</a:t>
            </a:r>
            <a:r>
              <a:rPr lang="en-IN" dirty="0">
                <a:solidFill>
                  <a:schemeClr val="bg1">
                    <a:lumMod val="6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@cnt,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emp.</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0</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DT1</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DT2</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DD4A68"/>
                </a:solidFill>
                <a:latin typeface="Liberation Mono"/>
              </a:rPr>
              <a:t>MIN</a:t>
            </a:r>
            <a:r>
              <a:rPr lang="en-IN" dirty="0">
                <a:latin typeface="Liberation Mono"/>
                <a:ea typeface="Times New Roman" panose="02020603050405020304" pitchFamily="18" charset="0"/>
              </a:rPr>
              <a:t>(</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 </a:t>
            </a:r>
            <a:r>
              <a:rPr lang="en-IN" i="1" dirty="0">
                <a:solidFill>
                  <a:schemeClr val="bg1">
                    <a:lumMod val="50000"/>
                  </a:schemeClr>
                </a:solidFill>
                <a:latin typeface="Liberation Mono"/>
              </a:rPr>
              <a:t>DT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 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DT</a:t>
            </a:r>
            <a:endParaRPr lang="en-IN" i="1" dirty="0">
              <a:solidFill>
                <a:schemeClr val="bg1">
                  <a:lumMod val="50000"/>
                </a:schemeClr>
              </a:solidFill>
              <a:latin typeface="Liberation Mono"/>
            </a:endParaRPr>
          </a:p>
        </p:txBody>
      </p:sp>
      <p:sp>
        <p:nvSpPr>
          <p:cNvPr id="3" name="Rectangle 1"/>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pic>
        <p:nvPicPr>
          <p:cNvPr id="8" name="Picture 7"/>
          <p:cNvPicPr>
            <a:picLocks noChangeAspect="1"/>
          </p:cNvPicPr>
          <p:nvPr/>
        </p:nvPicPr>
        <p:blipFill>
          <a:blip r:embed="rId2" cstate="print"/>
          <a:stretch>
            <a:fillRect/>
          </a:stretch>
        </p:blipFill>
        <p:spPr>
          <a:xfrm>
            <a:off x="224436" y="5125998"/>
            <a:ext cx="2599127" cy="895290"/>
          </a:xfrm>
          <a:prstGeom prst="rect">
            <a:avLst/>
          </a:prstGeom>
        </p:spPr>
      </p:pic>
      <p:sp>
        <p:nvSpPr>
          <p:cNvPr id="10" name="Rectangle 9">
            <a:extLst>
              <a:ext uri="{FF2B5EF4-FFF2-40B4-BE49-F238E27FC236}">
                <a16:creationId xmlns:a16="http://schemas.microsoft.com/office/drawing/2014/main" id="{F1AC34AE-65CB-4807-8585-F4B2095C0287}"/>
              </a:ext>
            </a:extLst>
          </p:cNvPr>
          <p:cNvSpPr/>
          <p:nvPr/>
        </p:nvSpPr>
        <p:spPr>
          <a:xfrm>
            <a:off x="317731" y="1231200"/>
            <a:ext cx="11250745"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 name, </a:t>
            </a:r>
            <a:r>
              <a:rPr lang="en-US" sz="2000" dirty="0">
                <a:latin typeface="Liberation Mono"/>
              </a:rPr>
              <a:t>. . .</a:t>
            </a:r>
            <a:r>
              <a:rPr lang="en-US" sz="2000" dirty="0">
                <a:latin typeface="Liberation Mono"/>
                <a:cs typeface="Arial" panose="020B0604020202020204" pitchFamily="34" charset="0"/>
              </a:rPr>
              <a:t>  </a:t>
            </a:r>
          </a:p>
        </p:txBody>
      </p:sp>
      <p:sp>
        <p:nvSpPr>
          <p:cNvPr id="11" name="Rectangle 10">
            <a:extLst>
              <a:ext uri="{FF2B5EF4-FFF2-40B4-BE49-F238E27FC236}">
                <a16:creationId xmlns:a16="http://schemas.microsoft.com/office/drawing/2014/main" id="{8781ACCE-E917-423E-AD57-A6717C4BFCBB}"/>
              </a:ext>
            </a:extLst>
          </p:cNvPr>
          <p:cNvSpPr/>
          <p:nvPr/>
        </p:nvSpPr>
        <p:spPr>
          <a:xfrm>
            <a:off x="192524" y="1772816"/>
            <a:ext cx="11663322"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Every table in a FROM clause must have a name, therefore the [AS] name clause is mandatory.</a:t>
            </a:r>
          </a:p>
        </p:txBody>
      </p:sp>
      <p:grpSp>
        <p:nvGrpSpPr>
          <p:cNvPr id="7" name="Group 6">
            <a:extLst>
              <a:ext uri="{FF2B5EF4-FFF2-40B4-BE49-F238E27FC236}">
                <a16:creationId xmlns:a16="http://schemas.microsoft.com/office/drawing/2014/main" id="{FBCC50FB-A554-4407-B96F-339EFDD351A1}"/>
              </a:ext>
            </a:extLst>
          </p:cNvPr>
          <p:cNvGrpSpPr/>
          <p:nvPr/>
        </p:nvGrpSpPr>
        <p:grpSpPr>
          <a:xfrm>
            <a:off x="5452966" y="5301208"/>
            <a:ext cx="6836230" cy="1314306"/>
            <a:chOff x="4989504" y="5198006"/>
            <a:chExt cx="6836230" cy="1314306"/>
          </a:xfrm>
        </p:grpSpPr>
        <p:sp>
          <p:nvSpPr>
            <p:cNvPr id="5" name="Rectangle 4">
              <a:extLst>
                <a:ext uri="{FF2B5EF4-FFF2-40B4-BE49-F238E27FC236}">
                  <a16:creationId xmlns:a16="http://schemas.microsoft.com/office/drawing/2014/main" id="{44E72057-276F-4181-8999-3BAF13E49F12}"/>
                </a:ext>
              </a:extLst>
            </p:cNvPr>
            <p:cNvSpPr/>
            <p:nvPr/>
          </p:nvSpPr>
          <p:spPr>
            <a:xfrm>
              <a:off x="4989504" y="5198006"/>
              <a:ext cx="683623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column1</a:t>
              </a:r>
              <a:r>
                <a:rPr lang="en-US" dirty="0">
                  <a:solidFill>
                    <a:srgbClr val="999999"/>
                  </a:solidFill>
                  <a:latin typeface="Liberation Mono"/>
                </a:rPr>
                <a:t>; </a:t>
              </a:r>
              <a:r>
                <a:rPr lang="en-US" dirty="0">
                  <a:solidFill>
                    <a:srgbClr val="FF0000"/>
                  </a:solidFill>
                  <a:latin typeface="Liberation Mono"/>
                </a:rPr>
                <a:t>//ERROR</a:t>
              </a:r>
              <a:endParaRPr lang="en-IN" dirty="0">
                <a:solidFill>
                  <a:srgbClr val="FF0000"/>
                </a:solidFill>
              </a:endParaRPr>
            </a:p>
          </p:txBody>
        </p:sp>
        <p:sp>
          <p:nvSpPr>
            <p:cNvPr id="6" name="Rectangle 5">
              <a:extLst>
                <a:ext uri="{FF2B5EF4-FFF2-40B4-BE49-F238E27FC236}">
                  <a16:creationId xmlns:a16="http://schemas.microsoft.com/office/drawing/2014/main" id="{22E7B41E-E674-4B98-8164-B5D755B24591}"/>
                </a:ext>
              </a:extLst>
            </p:cNvPr>
            <p:cNvSpPr/>
            <p:nvPr/>
          </p:nvSpPr>
          <p:spPr>
            <a:xfrm>
              <a:off x="4989504" y="5588982"/>
              <a:ext cx="6096000" cy="923330"/>
            </a:xfrm>
            <a:prstGeom prst="rect">
              <a:avLst/>
            </a:prstGeom>
          </p:spPr>
          <p:txBody>
            <a:bodyPr>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a:t>
              </a:r>
              <a:r>
                <a:rPr lang="en-US" dirty="0">
                  <a:latin typeface="Liberation Mono"/>
                </a:rPr>
                <a:t>(</a:t>
              </a: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a:t>
              </a:r>
              <a:r>
                <a:rPr lang="en-US" dirty="0">
                  <a:latin typeface="Liberation Mono"/>
                </a:rPr>
                <a:t>column1)</a:t>
              </a:r>
              <a:r>
                <a:rPr lang="en-US" dirty="0">
                  <a:solidFill>
                    <a:srgbClr val="000000"/>
                  </a:solidFill>
                  <a:latin typeface="Liberation Mono"/>
                </a:rPr>
                <a:t>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t1</a:t>
              </a:r>
              <a:r>
                <a:rPr lang="en-US" dirty="0">
                  <a:solidFill>
                    <a:srgbClr val="999999"/>
                  </a:solidFill>
                  <a:latin typeface="Liberation Mono"/>
                </a:rPr>
                <a:t>;</a:t>
              </a:r>
              <a:endParaRPr lang="en-IN" dirty="0"/>
            </a:p>
          </p:txBody>
        </p:sp>
      </p:grpSp>
      <p:sp>
        <p:nvSpPr>
          <p:cNvPr id="12" name="TextBox 11">
            <a:extLst>
              <a:ext uri="{FF2B5EF4-FFF2-40B4-BE49-F238E27FC236}">
                <a16:creationId xmlns:a16="http://schemas.microsoft.com/office/drawing/2014/main" id="{0B7BB87B-ADB4-4CA8-A501-B430328C56C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003054425"/>
      </p:ext>
    </p:extLst>
  </p:cSld>
  <p:clrMapOvr>
    <a:masterClrMapping/>
  </p:clrMapOvr>
</p:sld>
</file>

<file path=ppt/slides/slide5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ACFD2-737A-F92D-2452-6FEB2071039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FB89019-EE09-70B5-3D60-027552A2B3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43FA6962-20E0-B382-C918-A0A663CA7FA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13" name="TextBox 12">
            <a:extLst>
              <a:ext uri="{FF2B5EF4-FFF2-40B4-BE49-F238E27FC236}">
                <a16:creationId xmlns:a16="http://schemas.microsoft.com/office/drawing/2014/main" id="{9ABB7DAA-1761-D4A6-4586-0D4278C48106}"/>
              </a:ext>
            </a:extLst>
          </p:cNvPr>
          <p:cNvSpPr txBox="1"/>
          <p:nvPr/>
        </p:nvSpPr>
        <p:spPr>
          <a:xfrm>
            <a:off x="317731" y="1052736"/>
            <a:ext cx="11538114" cy="221599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 Employee"</a:t>
            </a:r>
            <a:r>
              <a:rPr lang="en-IN" dirty="0">
                <a:latin typeface="Liberation Mono"/>
              </a:rPr>
              <a:t>,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dirty="0">
                <a:solidFill>
                  <a:srgbClr val="0077AA"/>
                </a:solidFill>
                <a:latin typeface="Liberation Mono"/>
              </a:rPr>
              <a:t>DESC</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`First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`Last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DD4A68"/>
                </a:solidFill>
                <a:latin typeface="Liberation Mono"/>
              </a:rPr>
              <a:t>SUM</a:t>
            </a:r>
            <a:r>
              <a:rPr lang="en-US" dirty="0">
                <a:latin typeface="Liberation Mono"/>
              </a:rPr>
              <a:t>(total)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custid, total,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total </a:t>
            </a:r>
            <a:r>
              <a:rPr lang="en-US" dirty="0">
                <a:solidFill>
                  <a:srgbClr val="0077AA"/>
                </a:solidFill>
                <a:latin typeface="Liberation Mono"/>
              </a:rPr>
              <a:t>DESC</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custid;   </a:t>
            </a:r>
            <a:r>
              <a:rPr lang="en-US" dirty="0">
                <a:solidFill>
                  <a:srgbClr val="00B050"/>
                </a:solidFill>
                <a:latin typeface="Liberation Mono"/>
              </a:rPr>
              <a:t>// SUM of first two orders.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ordid, custid, orderdate, total, </a:t>
            </a:r>
            <a:r>
              <a:rPr lang="en-US" dirty="0">
                <a:solidFill>
                  <a:srgbClr val="DD4A68"/>
                </a:solidFill>
                <a:latin typeface="Liberation Mono"/>
              </a:rPr>
              <a:t>DENSE_RANK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//First order of every customers</a:t>
            </a:r>
          </a:p>
        </p:txBody>
      </p:sp>
      <p:sp>
        <p:nvSpPr>
          <p:cNvPr id="5" name="TextBox 4">
            <a:extLst>
              <a:ext uri="{FF2B5EF4-FFF2-40B4-BE49-F238E27FC236}">
                <a16:creationId xmlns:a16="http://schemas.microsoft.com/office/drawing/2014/main" id="{608DE2A9-6859-338A-F292-B57D8ECAF9BD}"/>
              </a:ext>
            </a:extLst>
          </p:cNvPr>
          <p:cNvSpPr txBox="1"/>
          <p:nvPr/>
        </p:nvSpPr>
        <p:spPr>
          <a:xfrm>
            <a:off x="317731" y="5205099"/>
            <a:ext cx="1153811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ename, t1.</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a:t>
            </a:r>
            <a:r>
              <a:rPr lang="en-IN" dirty="0">
                <a:latin typeface="Liberation Mono"/>
              </a:rPr>
              <a:t> </a:t>
            </a:r>
            <a:r>
              <a:rPr lang="en-IN" i="1" dirty="0">
                <a:solidFill>
                  <a:schemeClr val="bg1">
                    <a:lumMod val="50000"/>
                  </a:schemeClr>
                </a:solidFill>
                <a:latin typeface="Liberation Mono"/>
              </a:rPr>
              <a:t>Employee",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DESC) </a:t>
            </a:r>
            <a:r>
              <a:rPr lang="en-IN" i="1" dirty="0">
                <a:solidFill>
                  <a:schemeClr val="bg1">
                    <a:lumMod val="50000"/>
                  </a:schemeClr>
                </a:solidFill>
                <a:latin typeface="Liberation Mono"/>
              </a:rPr>
              <a:t>"Last Employee"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`First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emp </a:t>
            </a:r>
            <a:r>
              <a:rPr lang="en-IN" dirty="0">
                <a:solidFill>
                  <a:srgbClr val="0077AA"/>
                </a:solidFill>
                <a:latin typeface="Liberation Mono"/>
              </a:rPr>
              <a:t>WHERE</a:t>
            </a:r>
            <a:r>
              <a:rPr lang="en-IN" dirty="0">
                <a:latin typeface="Liberation Mono"/>
              </a:rPr>
              <a:t> (t1.job, t1.hiredate) </a:t>
            </a:r>
            <a:r>
              <a:rPr lang="en-IN" dirty="0">
                <a:solidFill>
                  <a:schemeClr val="accent5">
                    <a:lumMod val="75000"/>
                  </a:schemeClr>
                </a:solidFill>
                <a:latin typeface="Liberation Mono"/>
              </a:rPr>
              <a:t>=</a:t>
            </a:r>
            <a:r>
              <a:rPr lang="en-IN" dirty="0">
                <a:latin typeface="Liberation Mono"/>
              </a:rPr>
              <a:t> (emp.job, emp.hiredate)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a:t>
            </a:r>
          </a:p>
        </p:txBody>
      </p:sp>
    </p:spTree>
    <p:extLst>
      <p:ext uri="{BB962C8B-B14F-4D97-AF65-F5344CB8AC3E}">
        <p14:creationId xmlns:p14="http://schemas.microsoft.com/office/powerpoint/2010/main" val="3814275202"/>
      </p:ext>
    </p:extLst>
  </p:cSld>
  <p:clrMapOvr>
    <a:masterClrMapping/>
  </p:clrMapOvr>
</p:sld>
</file>

<file path=ppt/slides/slide5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450C8-5845-9895-CAAE-CBA06EA349C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4DBC405-F4A7-ABA0-C2E9-8EF143734FD4}"/>
              </a:ext>
            </a:extLst>
          </p:cNvPr>
          <p:cNvGraphicFramePr>
            <a:graphicFrameLocks noGrp="1"/>
          </p:cNvGraphicFramePr>
          <p:nvPr>
            <p:extLst>
              <p:ext uri="{D42A27DB-BD31-4B8C-83A1-F6EECF244321}">
                <p14:modId xmlns:p14="http://schemas.microsoft.com/office/powerpoint/2010/main" val="3457753365"/>
              </p:ext>
            </p:extLst>
          </p:nvPr>
        </p:nvGraphicFramePr>
        <p:xfrm>
          <a:off x="130000" y="1448792"/>
          <a:ext cx="4885880" cy="3566160"/>
        </p:xfrm>
        <a:graphic>
          <a:graphicData uri="http://schemas.openxmlformats.org/drawingml/2006/table">
            <a:tbl>
              <a:tblPr firstRow="1" bandRow="1">
                <a:tableStyleId>{5940675A-B579-460E-94D1-54222C63F5DA}</a:tableStyleId>
              </a:tblPr>
              <a:tblGrid>
                <a:gridCol w="565400">
                  <a:extLst>
                    <a:ext uri="{9D8B030D-6E8A-4147-A177-3AD203B41FA5}">
                      <a16:colId xmlns:a16="http://schemas.microsoft.com/office/drawing/2014/main" val="928063234"/>
                    </a:ext>
                  </a:extLst>
                </a:gridCol>
                <a:gridCol w="1512168">
                  <a:extLst>
                    <a:ext uri="{9D8B030D-6E8A-4147-A177-3AD203B41FA5}">
                      <a16:colId xmlns:a16="http://schemas.microsoft.com/office/drawing/2014/main" val="790049539"/>
                    </a:ext>
                  </a:extLst>
                </a:gridCol>
                <a:gridCol w="720080">
                  <a:extLst>
                    <a:ext uri="{9D8B030D-6E8A-4147-A177-3AD203B41FA5}">
                      <a16:colId xmlns:a16="http://schemas.microsoft.com/office/drawing/2014/main" val="2378467123"/>
                    </a:ext>
                  </a:extLst>
                </a:gridCol>
                <a:gridCol w="792088">
                  <a:extLst>
                    <a:ext uri="{9D8B030D-6E8A-4147-A177-3AD203B41FA5}">
                      <a16:colId xmlns:a16="http://schemas.microsoft.com/office/drawing/2014/main" val="3774136111"/>
                    </a:ext>
                  </a:extLst>
                </a:gridCol>
                <a:gridCol w="1296144">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City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population</a:t>
                      </a:r>
                      <a:endParaRPr lang="en-IN" sz="18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extLst>
                  <a:ext uri="{0D108BD9-81ED-4DB2-BD59-A6C34878D82A}">
                    <a16:rowId xmlns:a16="http://schemas.microsoft.com/office/drawing/2014/main" val="3858505310"/>
                  </a:ext>
                </a:extLst>
              </a:tr>
              <a:tr h="370840">
                <a:tc>
                  <a:txBody>
                    <a:bodyPr/>
                    <a:lstStyle/>
                    <a:p>
                      <a:pPr algn="l"/>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Surat</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Vadodara</a:t>
                      </a:r>
                    </a:p>
                  </a:txBody>
                  <a:tcPr anchor="ctr"/>
                </a:tc>
                <a:tc>
                  <a:txBody>
                    <a:bodyPr/>
                    <a:lstStyle/>
                    <a:p>
                      <a:pPr algn="r"/>
                      <a:r>
                        <a:rPr lang="en-IN" sz="1800" dirty="0">
                          <a:latin typeface="Arial" panose="020B0604020202020204" pitchFamily="34" charset="0"/>
                          <a:cs typeface="Arial" panose="020B0604020202020204" pitchFamily="34" charset="0"/>
                        </a:rPr>
                        <a:t>220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2233000</a:t>
                      </a:r>
                    </a:p>
                  </a:txBody>
                  <a:tcPr anchor="ctr"/>
                </a:tc>
                <a:extLst>
                  <a:ext uri="{0D108BD9-81ED-4DB2-BD59-A6C34878D82A}">
                    <a16:rowId xmlns:a16="http://schemas.microsoft.com/office/drawing/2014/main" val="3357013405"/>
                  </a:ext>
                </a:extLst>
              </a:tr>
              <a:tr h="370840">
                <a:tc>
                  <a:txBody>
                    <a:bodyPr/>
                    <a:lstStyle/>
                    <a:p>
                      <a:pPr algn="l"/>
                      <a:r>
                        <a:rPr lang="en-US" sz="1800" dirty="0">
                          <a:latin typeface="Arial" panose="020B0604020202020204" pitchFamily="34" charset="0"/>
                          <a:cs typeface="Arial" panose="020B0604020202020204" pitchFamily="34" charset="0"/>
                        </a:rPr>
                        <a:t>4</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Rajkot</a:t>
                      </a:r>
                    </a:p>
                  </a:txBody>
                  <a:tcPr anchor="ctr"/>
                </a:tc>
                <a:tc>
                  <a:txBody>
                    <a:bodyPr/>
                    <a:lstStyle/>
                    <a:p>
                      <a:pPr algn="r"/>
                      <a:r>
                        <a:rPr lang="en-IN" sz="1800" dirty="0">
                          <a:latin typeface="Arial" panose="020B0604020202020204" pitchFamily="34" charset="0"/>
                          <a:cs typeface="Arial" panose="020B0604020202020204" pitchFamily="34" charset="0"/>
                        </a:rPr>
                        <a:t>170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1934000</a:t>
                      </a:r>
                    </a:p>
                  </a:txBody>
                  <a:tcPr anchor="ctr"/>
                </a:tc>
                <a:extLst>
                  <a:ext uri="{0D108BD9-81ED-4DB2-BD59-A6C34878D82A}">
                    <a16:rowId xmlns:a16="http://schemas.microsoft.com/office/drawing/2014/main" val="621527498"/>
                  </a:ext>
                </a:extLst>
              </a:tr>
              <a:tr h="370840">
                <a:tc>
                  <a:txBody>
                    <a:bodyPr/>
                    <a:lstStyle/>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endParaRPr lang="en-IN" sz="24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l"/>
                      <a:r>
                        <a:rPr lang="en-US" sz="1800" dirty="0">
                          <a:latin typeface="Arial" panose="020B0604020202020204" pitchFamily="34" charset="0"/>
                          <a:cs typeface="Arial" panose="020B0604020202020204" pitchFamily="34" charset="0"/>
                        </a:rPr>
                        <a:t>31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err="1">
                          <a:latin typeface="Arial" panose="020B0604020202020204" pitchFamily="34" charset="0"/>
                          <a:cs typeface="Arial" panose="020B0604020202020204" pitchFamily="34" charset="0"/>
                        </a:rPr>
                        <a:t>Deesa</a:t>
                      </a:r>
                      <a:endParaRPr lang="en-IN" sz="1800" dirty="0">
                        <a:latin typeface="Arial" panose="020B0604020202020204" pitchFamily="34" charset="0"/>
                        <a:cs typeface="Arial" panose="020B0604020202020204" pitchFamily="34" charset="0"/>
                      </a:endParaRPr>
                    </a:p>
                  </a:txBody>
                  <a:tcPr anchor="ctr"/>
                </a:tc>
                <a:tc>
                  <a:txBody>
                    <a:bodyPr/>
                    <a:lstStyle/>
                    <a:p>
                      <a:pPr algn="r"/>
                      <a:r>
                        <a:rPr lang="en-US" sz="1800" dirty="0">
                          <a:latin typeface="Arial" panose="020B0604020202020204" pitchFamily="34" charset="0"/>
                          <a:cs typeface="Arial" panose="020B0604020202020204" pitchFamily="34" charset="0"/>
                        </a:rPr>
                        <a:t>20</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111160</a:t>
                      </a:r>
                    </a:p>
                  </a:txBody>
                  <a:tcPr anchor="ctr"/>
                </a:tc>
                <a:extLst>
                  <a:ext uri="{0D108BD9-81ED-4DB2-BD59-A6C34878D82A}">
                    <a16:rowId xmlns:a16="http://schemas.microsoft.com/office/drawing/2014/main" val="2581603051"/>
                  </a:ext>
                </a:extLst>
              </a:tr>
            </a:tbl>
          </a:graphicData>
        </a:graphic>
      </p:graphicFrame>
      <p:sp>
        <p:nvSpPr>
          <p:cNvPr id="4" name="TextBox 3">
            <a:extLst>
              <a:ext uri="{FF2B5EF4-FFF2-40B4-BE49-F238E27FC236}">
                <a16:creationId xmlns:a16="http://schemas.microsoft.com/office/drawing/2014/main" id="{048D2FAA-7169-1097-563A-EA10C156A786}"/>
              </a:ext>
            </a:extLst>
          </p:cNvPr>
          <p:cNvSpPr txBox="1"/>
          <p:nvPr/>
        </p:nvSpPr>
        <p:spPr>
          <a:xfrm>
            <a:off x="119336" y="961103"/>
            <a:ext cx="2520281" cy="400110"/>
          </a:xfrm>
          <a:prstGeom prst="rect">
            <a:avLst/>
          </a:prstGeom>
          <a:noFill/>
        </p:spPr>
        <p:txBody>
          <a:bodyPr wrap="square">
            <a:spAutoFit/>
          </a:bodyPr>
          <a:lstStyle/>
          <a:p>
            <a:r>
              <a:rPr lang="en-IN" sz="2000" b="1" dirty="0">
                <a:latin typeface="Liberation Mono"/>
              </a:rPr>
              <a:t>Table:- population</a:t>
            </a:r>
            <a:endParaRPr lang="en-IN" sz="2000" b="1" dirty="0"/>
          </a:p>
        </p:txBody>
      </p:sp>
      <p:sp>
        <p:nvSpPr>
          <p:cNvPr id="5" name="Rectangle 4">
            <a:extLst>
              <a:ext uri="{FF2B5EF4-FFF2-40B4-BE49-F238E27FC236}">
                <a16:creationId xmlns:a16="http://schemas.microsoft.com/office/drawing/2014/main" id="{5A68DAEF-E59B-02EC-FB97-B8C0084DFD0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top 3 densely populated cities.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F2FCD185-D78E-2A7F-3C1C-A9C94F4F8D3D}"/>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BC96DCE3-CD5A-D3A5-250E-EA5B51428308}"/>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CE59B9CB-A1DD-7834-3FDA-5890E9931CFB}"/>
              </a:ext>
            </a:extLst>
          </p:cNvPr>
          <p:cNvSpPr txBox="1"/>
          <p:nvPr/>
        </p:nvSpPr>
        <p:spPr>
          <a:xfrm>
            <a:off x="130000" y="5374957"/>
            <a:ext cx="1178798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city, area, population,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Density, </a:t>
            </a:r>
            <a:r>
              <a:rPr lang="en-US" dirty="0">
                <a:solidFill>
                  <a:srgbClr val="DD4A68"/>
                </a:solidFill>
                <a:latin typeface="Liberation Mono"/>
              </a:rPr>
              <a:t>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desc) </a:t>
            </a:r>
            <a:r>
              <a:rPr lang="en-US" i="1" dirty="0">
                <a:solidFill>
                  <a:schemeClr val="bg1">
                    <a:lumMod val="50000"/>
                  </a:schemeClr>
                </a:solidFill>
                <a:latin typeface="Liberation Mono"/>
              </a:rPr>
              <a:t>rnk</a:t>
            </a:r>
            <a:r>
              <a:rPr lang="en-US" dirty="0">
                <a:latin typeface="Liberation Mono"/>
              </a:rPr>
              <a:t> </a:t>
            </a:r>
            <a:r>
              <a:rPr lang="en-US" dirty="0">
                <a:solidFill>
                  <a:srgbClr val="0077AA"/>
                </a:solidFill>
                <a:latin typeface="Liberation Mono"/>
              </a:rPr>
              <a:t>FROM</a:t>
            </a:r>
            <a:r>
              <a:rPr lang="en-US" dirty="0">
                <a:latin typeface="Liberation Mono"/>
              </a:rPr>
              <a:t> population)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rnk</a:t>
            </a:r>
            <a:r>
              <a:rPr lang="en-US" dirty="0">
                <a:latin typeface="Liberation Mono"/>
              </a:rPr>
              <a:t>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a:t>
            </a:r>
            <a:r>
              <a:rPr lang="en-US" dirty="0">
                <a:latin typeface="Liberation Mono"/>
              </a:rPr>
              <a:t>;</a:t>
            </a:r>
            <a:endParaRPr lang="en-IN" dirty="0">
              <a:latin typeface="Liberation Mono"/>
            </a:endParaRPr>
          </a:p>
        </p:txBody>
      </p:sp>
      <p:graphicFrame>
        <p:nvGraphicFramePr>
          <p:cNvPr id="13" name="Table 2">
            <a:extLst>
              <a:ext uri="{FF2B5EF4-FFF2-40B4-BE49-F238E27FC236}">
                <a16:creationId xmlns:a16="http://schemas.microsoft.com/office/drawing/2014/main" id="{EC6CABD4-A333-085B-C6A6-760A01AE7E73}"/>
              </a:ext>
            </a:extLst>
          </p:cNvPr>
          <p:cNvGraphicFramePr>
            <a:graphicFrameLocks noGrp="1"/>
          </p:cNvGraphicFramePr>
          <p:nvPr>
            <p:extLst>
              <p:ext uri="{D42A27DB-BD31-4B8C-83A1-F6EECF244321}">
                <p14:modId xmlns:p14="http://schemas.microsoft.com/office/powerpoint/2010/main" val="2812001013"/>
              </p:ext>
            </p:extLst>
          </p:nvPr>
        </p:nvGraphicFramePr>
        <p:xfrm>
          <a:off x="5159896" y="1448792"/>
          <a:ext cx="6635224" cy="1483360"/>
        </p:xfrm>
        <a:graphic>
          <a:graphicData uri="http://schemas.openxmlformats.org/drawingml/2006/table">
            <a:tbl>
              <a:tblPr firstRow="1" bandRow="1">
                <a:tableStyleId>{5940675A-B579-460E-94D1-54222C63F5DA}</a:tableStyleId>
              </a:tblPr>
              <a:tblGrid>
                <a:gridCol w="1450648">
                  <a:extLst>
                    <a:ext uri="{9D8B030D-6E8A-4147-A177-3AD203B41FA5}">
                      <a16:colId xmlns:a16="http://schemas.microsoft.com/office/drawing/2014/main" val="928063234"/>
                    </a:ext>
                  </a:extLst>
                </a:gridCol>
                <a:gridCol w="937425">
                  <a:extLst>
                    <a:ext uri="{9D8B030D-6E8A-4147-A177-3AD203B41FA5}">
                      <a16:colId xmlns:a16="http://schemas.microsoft.com/office/drawing/2014/main" val="790049539"/>
                    </a:ext>
                  </a:extLst>
                </a:gridCol>
                <a:gridCol w="1510847">
                  <a:extLst>
                    <a:ext uri="{9D8B030D-6E8A-4147-A177-3AD203B41FA5}">
                      <a16:colId xmlns:a16="http://schemas.microsoft.com/office/drawing/2014/main" val="2378467123"/>
                    </a:ext>
                  </a:extLst>
                </a:gridCol>
                <a:gridCol w="1656184">
                  <a:extLst>
                    <a:ext uri="{9D8B030D-6E8A-4147-A177-3AD203B41FA5}">
                      <a16:colId xmlns:a16="http://schemas.microsoft.com/office/drawing/2014/main" val="3774136111"/>
                    </a:ext>
                  </a:extLst>
                </a:gridCol>
                <a:gridCol w="1080120">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city</a:t>
                      </a:r>
                      <a:endParaRPr lang="en-IN" sz="180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population</a:t>
                      </a:r>
                    </a:p>
                  </a:txBody>
                  <a:tcPr>
                    <a:solidFill>
                      <a:srgbClr val="92D050"/>
                    </a:solidFill>
                  </a:tcPr>
                </a:tc>
                <a:tc>
                  <a:txBody>
                    <a:bodyPr/>
                    <a:lstStyle/>
                    <a:p>
                      <a:pPr algn="ctr"/>
                      <a:r>
                        <a:rPr kumimoji="0" lang="en-US" sz="1800" b="1" kern="1200" dirty="0">
                          <a:solidFill>
                            <a:schemeClr val="tx1"/>
                          </a:solidFill>
                          <a:latin typeface="Arial" panose="020B0604020202020204" pitchFamily="34" charset="0"/>
                          <a:ea typeface="+mn-ea"/>
                          <a:cs typeface="Arial" panose="020B0604020202020204" pitchFamily="34" charset="0"/>
                        </a:rPr>
                        <a:t>Density</a:t>
                      </a:r>
                      <a:endParaRPr kumimoji="0" lang="en-IN" sz="1800" b="1"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rnk</a:t>
                      </a:r>
                      <a:endParaRPr lang="en-IN" sz="1800"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 Botad</a:t>
                      </a:r>
                    </a:p>
                  </a:txBody>
                  <a:tcPr anchor="ctr"/>
                </a:tc>
                <a:tc>
                  <a:txBody>
                    <a:bodyPr/>
                    <a:lstStyle/>
                    <a:p>
                      <a:pPr algn="r"/>
                      <a:r>
                        <a:rPr lang="en-IN" sz="1800" dirty="0">
                          <a:latin typeface="Arial" panose="020B0604020202020204" pitchFamily="34" charset="0"/>
                          <a:cs typeface="Arial" panose="020B0604020202020204" pitchFamily="34" charset="0"/>
                        </a:rPr>
                        <a:t> 10</a:t>
                      </a:r>
                    </a:p>
                  </a:txBody>
                  <a:tcPr anchor="ctr"/>
                </a:tc>
                <a:tc>
                  <a:txBody>
                    <a:bodyPr/>
                    <a:lstStyle/>
                    <a:p>
                      <a:pPr algn="r"/>
                      <a:r>
                        <a:rPr lang="en-IN" sz="1800" dirty="0">
                          <a:latin typeface="Arial" panose="020B0604020202020204" pitchFamily="34" charset="0"/>
                          <a:cs typeface="Arial" panose="020B0604020202020204" pitchFamily="34" charset="0"/>
                        </a:rPr>
                        <a:t> 169000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16900.0000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dirty="0">
                          <a:latin typeface="Arial" panose="020B0604020202020204" pitchFamily="34" charset="0"/>
                          <a:cs typeface="Arial" panose="020B0604020202020204" pitchFamily="34" charset="0"/>
                        </a:rPr>
                        <a:t>Surat</a:t>
                      </a: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16212.1212</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15571.6981</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bl>
          </a:graphicData>
        </a:graphic>
      </p:graphicFrame>
      <p:sp>
        <p:nvSpPr>
          <p:cNvPr id="14" name="TextBox 13">
            <a:extLst>
              <a:ext uri="{FF2B5EF4-FFF2-40B4-BE49-F238E27FC236}">
                <a16:creationId xmlns:a16="http://schemas.microsoft.com/office/drawing/2014/main" id="{C440DB3C-C442-B43B-9083-4AABF9BE57AC}"/>
              </a:ext>
            </a:extLst>
          </p:cNvPr>
          <p:cNvSpPr txBox="1"/>
          <p:nvPr/>
        </p:nvSpPr>
        <p:spPr>
          <a:xfrm>
            <a:off x="5160451" y="1027840"/>
            <a:ext cx="2520281"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682060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D0337-116A-ACB3-1391-78064283E0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E16D71C-56E9-69B5-2575-39D894E0069C}"/>
              </a:ext>
            </a:extLst>
          </p:cNvPr>
          <p:cNvGraphicFramePr>
            <a:graphicFrameLocks noGrp="1"/>
          </p:cNvGraphicFramePr>
          <p:nvPr>
            <p:extLst>
              <p:ext uri="{D42A27DB-BD31-4B8C-83A1-F6EECF244321}">
                <p14:modId xmlns:p14="http://schemas.microsoft.com/office/powerpoint/2010/main" val="2772204676"/>
              </p:ext>
            </p:extLst>
          </p:nvPr>
        </p:nvGraphicFramePr>
        <p:xfrm>
          <a:off x="274016" y="1448792"/>
          <a:ext cx="4237808" cy="3708400"/>
        </p:xfrm>
        <a:graphic>
          <a:graphicData uri="http://schemas.openxmlformats.org/drawingml/2006/table">
            <a:tbl>
              <a:tblPr firstRow="1" bandRow="1">
                <a:tableStyleId>{5940675A-B579-460E-94D1-54222C63F5DA}</a:tableStyleId>
              </a:tblPr>
              <a:tblGrid>
                <a:gridCol w="1357488">
                  <a:extLst>
                    <a:ext uri="{9D8B030D-6E8A-4147-A177-3AD203B41FA5}">
                      <a16:colId xmlns:a16="http://schemas.microsoft.com/office/drawing/2014/main" val="928063234"/>
                    </a:ext>
                  </a:extLst>
                </a:gridCol>
                <a:gridCol w="1619303">
                  <a:extLst>
                    <a:ext uri="{9D8B030D-6E8A-4147-A177-3AD203B41FA5}">
                      <a16:colId xmlns:a16="http://schemas.microsoft.com/office/drawing/2014/main" val="790049539"/>
                    </a:ext>
                  </a:extLst>
                </a:gridCol>
                <a:gridCol w="1261017">
                  <a:extLst>
                    <a:ext uri="{9D8B030D-6E8A-4147-A177-3AD203B41FA5}">
                      <a16:colId xmlns:a16="http://schemas.microsoft.com/office/drawing/2014/main" val="2378467123"/>
                    </a:ext>
                  </a:extLst>
                </a:gridCol>
              </a:tblGrid>
              <a:tr h="370840">
                <a:tc>
                  <a:txBody>
                    <a:bodyPr/>
                    <a:lstStyle/>
                    <a:p>
                      <a:pPr algn="ctr"/>
                      <a:r>
                        <a:rPr lang="en-US" sz="1800" dirty="0">
                          <a:latin typeface="Arial" panose="020B0604020202020204" pitchFamily="34" charset="0"/>
                          <a:cs typeface="Arial" panose="020B0604020202020204" pitchFamily="34" charset="0"/>
                        </a:rPr>
                        <a:t>Category</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SubCategory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Bingo</a:t>
                      </a:r>
                    </a:p>
                  </a:txBody>
                  <a:tcPr anchor="ctr"/>
                </a:tc>
                <a:tc>
                  <a:txBody>
                    <a:bodyPr/>
                    <a:lstStyle/>
                    <a:p>
                      <a:pPr algn="r"/>
                      <a:r>
                        <a:rPr lang="en-IN" sz="1800" dirty="0">
                          <a:latin typeface="Arial" panose="020B0604020202020204" pitchFamily="34" charset="0"/>
                          <a:cs typeface="Arial" panose="020B0604020202020204" pitchFamily="34" charset="0"/>
                        </a:rPr>
                        <a:t>10 </a:t>
                      </a:r>
                    </a:p>
                  </a:txBody>
                  <a:tcPr anchor="ctr"/>
                </a:tc>
                <a:extLst>
                  <a:ext uri="{0D108BD9-81ED-4DB2-BD59-A6C34878D82A}">
                    <a16:rowId xmlns:a16="http://schemas.microsoft.com/office/drawing/2014/main" val="3858505310"/>
                  </a:ext>
                </a:extLst>
              </a:tr>
              <a:tr h="370840">
                <a:tc>
                  <a:txBody>
                    <a:bodyPr/>
                    <a:lstStyle/>
                    <a:p>
                      <a:pPr algn="l"/>
                      <a:r>
                        <a:rPr lang="en-IN" sz="1800">
                          <a:latin typeface="Arial" panose="020B0604020202020204" pitchFamily="34" charset="0"/>
                          <a:cs typeface="Arial" panose="020B0604020202020204" pitchFamily="34" charset="0"/>
                        </a:rPr>
                        <a:t>Chips</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Lays</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Kurkure</a:t>
                      </a:r>
                    </a:p>
                  </a:txBody>
                  <a:tcPr anchor="ctr"/>
                </a:tc>
                <a:tc>
                  <a:txBody>
                    <a:bodyPr/>
                    <a:lstStyle/>
                    <a:p>
                      <a:pPr algn="r"/>
                      <a:r>
                        <a:rPr lang="en-IN" sz="1800" dirty="0">
                          <a:latin typeface="Arial" panose="020B0604020202020204" pitchFamily="34" charset="0"/>
                          <a:cs typeface="Arial" panose="020B0604020202020204" pitchFamily="34" charset="0"/>
                        </a:rPr>
                        <a:t>60</a:t>
                      </a:r>
                    </a:p>
                  </a:txBody>
                  <a:tcPr anchor="ctr"/>
                </a:tc>
                <a:extLst>
                  <a:ext uri="{0D108BD9-81ED-4DB2-BD59-A6C34878D82A}">
                    <a16:rowId xmlns:a16="http://schemas.microsoft.com/office/drawing/2014/main" val="3357013405"/>
                  </a:ext>
                </a:extLst>
              </a:tr>
              <a:tr h="370840">
                <a:tc>
                  <a:txBody>
                    <a:bodyPr/>
                    <a:lstStyle/>
                    <a:p>
                      <a:pPr algn="l"/>
                      <a:r>
                        <a:rPr lang="en-IN" sz="1800" dirty="0">
                          <a:latin typeface="Arial" panose="020B0604020202020204" pitchFamily="34" charset="0"/>
                          <a:cs typeface="Arial" panose="020B0604020202020204" pitchFamily="34" charset="0"/>
                        </a:rPr>
                        <a:t>Chocolate</a:t>
                      </a:r>
                    </a:p>
                  </a:txBody>
                  <a:tcPr anchor="ctr"/>
                </a:tc>
                <a:tc>
                  <a:txBody>
                    <a:bodyPr/>
                    <a:lstStyle/>
                    <a:p>
                      <a:r>
                        <a:rPr lang="en-IN" sz="1800" dirty="0">
                          <a:latin typeface="Arial" panose="020B0604020202020204" pitchFamily="34" charset="0"/>
                          <a:cs typeface="Arial" panose="020B0604020202020204" pitchFamily="34" charset="0"/>
                        </a:rPr>
                        <a:t>Dairy Milk</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621527498"/>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Five Star</a:t>
                      </a:r>
                    </a:p>
                  </a:txBody>
                  <a:tcPr anchor="ctr"/>
                </a:tc>
                <a:tc>
                  <a:txBody>
                    <a:bodyPr/>
                    <a:lstStyle/>
                    <a:p>
                      <a:pPr algn="r"/>
                      <a:r>
                        <a:rPr lang="en-IN" sz="1800" dirty="0">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2293820974"/>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Perk</a:t>
                      </a:r>
                    </a:p>
                  </a:txBody>
                  <a:tcPr anchor="ctr"/>
                </a:tc>
                <a:tc>
                  <a:txBody>
                    <a:bodyPr/>
                    <a:lstStyle/>
                    <a:p>
                      <a:pPr algn="r"/>
                      <a:r>
                        <a:rPr lang="en-IN" sz="1800" dirty="0">
                          <a:latin typeface="Arial" panose="020B0604020202020204" pitchFamily="34" charset="0"/>
                          <a:cs typeface="Arial" panose="020B0604020202020204" pitchFamily="34" charset="0"/>
                        </a:rPr>
                        <a:t>25</a:t>
                      </a:r>
                    </a:p>
                  </a:txBody>
                  <a:tcPr anchor="ctr"/>
                </a:tc>
                <a:extLst>
                  <a:ext uri="{0D108BD9-81ED-4DB2-BD59-A6C34878D82A}">
                    <a16:rowId xmlns:a16="http://schemas.microsoft.com/office/drawing/2014/main" val="2581603051"/>
                  </a:ext>
                </a:extLst>
              </a:tr>
              <a:tr h="370840">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Munch</a:t>
                      </a:r>
                    </a:p>
                  </a:txBody>
                  <a:tcPr anchor="ctr"/>
                </a:tc>
                <a:tc>
                  <a:txBody>
                    <a:bodyPr/>
                    <a:lstStyle/>
                    <a:p>
                      <a:pPr algn="r"/>
                      <a:r>
                        <a:rPr lang="en-IN" sz="1800" dirty="0">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890128946"/>
                  </a:ext>
                </a:extLst>
              </a:tr>
              <a:tr h="370840">
                <a:tc>
                  <a:txBody>
                    <a:bodyPr/>
                    <a:lstStyle/>
                    <a:p>
                      <a:pPr algn="l"/>
                      <a:r>
                        <a:rPr lang="en-IN" sz="1800" dirty="0">
                          <a:latin typeface="Arial" panose="020B0604020202020204" pitchFamily="34" charset="0"/>
                          <a:cs typeface="Arial" panose="020B0604020202020204" pitchFamily="34" charset="0"/>
                        </a:rPr>
                        <a:t>Biscuits</a:t>
                      </a:r>
                    </a:p>
                  </a:txBody>
                  <a:tcPr anchor="ctr"/>
                </a:tc>
                <a:tc>
                  <a:txBody>
                    <a:bodyPr/>
                    <a:lstStyle/>
                    <a:p>
                      <a:r>
                        <a:rPr lang="en-IN" sz="1800" dirty="0">
                          <a:latin typeface="Arial" panose="020B0604020202020204" pitchFamily="34" charset="0"/>
                          <a:cs typeface="Arial" panose="020B0604020202020204" pitchFamily="34" charset="0"/>
                        </a:rPr>
                        <a:t>Oreo</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2436298518"/>
                  </a:ext>
                </a:extLst>
              </a:tr>
              <a:tr h="370840">
                <a:tc>
                  <a:txBody>
                    <a:bodyPr/>
                    <a:lstStyle/>
                    <a:p>
                      <a:pPr algn="l"/>
                      <a:r>
                        <a:rPr lang="en-IN" sz="1800" dirty="0">
                          <a:latin typeface="Arial" panose="020B0604020202020204" pitchFamily="34" charset="0"/>
                          <a:cs typeface="Arial" panose="020B0604020202020204" pitchFamily="34" charset="0"/>
                        </a:rPr>
                        <a:t>Sauce</a:t>
                      </a:r>
                    </a:p>
                  </a:txBody>
                  <a:tcPr anchor="ctr"/>
                </a:tc>
                <a:tc>
                  <a:txBody>
                    <a:bodyPr/>
                    <a:lstStyle/>
                    <a:p>
                      <a:pPr algn="l"/>
                      <a:r>
                        <a:rPr lang="en-IN" sz="1800" dirty="0" err="1">
                          <a:latin typeface="Arial" panose="020B0604020202020204" pitchFamily="34" charset="0"/>
                          <a:cs typeface="Arial" panose="020B0604020202020204" pitchFamily="34" charset="0"/>
                        </a:rPr>
                        <a:t>Kissan</a:t>
                      </a:r>
                      <a:endParaRPr lang="en-IN" sz="1800" b="1" dirty="0">
                        <a:latin typeface="Arial" panose="020B0604020202020204" pitchFamily="34" charset="0"/>
                        <a:cs typeface="Arial" panose="020B0604020202020204" pitchFamily="34" charset="0"/>
                      </a:endParaRPr>
                    </a:p>
                  </a:txBody>
                  <a:tcPr anchor="ctr"/>
                </a:tc>
                <a:tc>
                  <a:txBody>
                    <a:bodyPr/>
                    <a:lstStyle/>
                    <a:p>
                      <a:pPr algn="r"/>
                      <a:r>
                        <a:rPr lang="en-IN" sz="1800" b="0" dirty="0">
                          <a:latin typeface="Arial" panose="020B0604020202020204" pitchFamily="34" charset="0"/>
                          <a:cs typeface="Arial" panose="020B0604020202020204" pitchFamily="34" charset="0"/>
                        </a:rPr>
                        <a:t>30</a:t>
                      </a:r>
                    </a:p>
                  </a:txBody>
                  <a:tcPr anchor="ct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6399AE77-7F86-80AA-2294-7AFA235449D1}"/>
              </a:ext>
            </a:extLst>
          </p:cNvPr>
          <p:cNvSpPr txBox="1"/>
          <p:nvPr/>
        </p:nvSpPr>
        <p:spPr>
          <a:xfrm>
            <a:off x="263352" y="961103"/>
            <a:ext cx="2520281" cy="400110"/>
          </a:xfrm>
          <a:prstGeom prst="rect">
            <a:avLst/>
          </a:prstGeom>
          <a:noFill/>
        </p:spPr>
        <p:txBody>
          <a:bodyPr wrap="square">
            <a:spAutoFit/>
          </a:bodyPr>
          <a:lstStyle/>
          <a:p>
            <a:r>
              <a:rPr lang="en-IN" sz="2000" b="1" dirty="0">
                <a:latin typeface="Liberation Mono"/>
              </a:rPr>
              <a:t>Table:- category</a:t>
            </a:r>
            <a:endParaRPr lang="en-IN" sz="2000" b="1" dirty="0"/>
          </a:p>
        </p:txBody>
      </p:sp>
      <p:graphicFrame>
        <p:nvGraphicFramePr>
          <p:cNvPr id="8" name="Table 2">
            <a:extLst>
              <a:ext uri="{FF2B5EF4-FFF2-40B4-BE49-F238E27FC236}">
                <a16:creationId xmlns:a16="http://schemas.microsoft.com/office/drawing/2014/main" id="{98D8F560-5639-7EEE-2DC8-1398DD4BED57}"/>
              </a:ext>
            </a:extLst>
          </p:cNvPr>
          <p:cNvGraphicFramePr>
            <a:graphicFrameLocks noGrp="1"/>
          </p:cNvGraphicFramePr>
          <p:nvPr>
            <p:extLst>
              <p:ext uri="{D42A27DB-BD31-4B8C-83A1-F6EECF244321}">
                <p14:modId xmlns:p14="http://schemas.microsoft.com/office/powerpoint/2010/main" val="829955908"/>
              </p:ext>
            </p:extLst>
          </p:nvPr>
        </p:nvGraphicFramePr>
        <p:xfrm>
          <a:off x="5375920" y="1448792"/>
          <a:ext cx="6542065" cy="2225040"/>
        </p:xfrm>
        <a:graphic>
          <a:graphicData uri="http://schemas.openxmlformats.org/drawingml/2006/table">
            <a:tbl>
              <a:tblPr firstRow="1" bandRow="1">
                <a:tableStyleId>{5940675A-B579-460E-94D1-54222C63F5DA}</a:tableStyleId>
              </a:tblPr>
              <a:tblGrid>
                <a:gridCol w="1313755">
                  <a:extLst>
                    <a:ext uri="{9D8B030D-6E8A-4147-A177-3AD203B41FA5}">
                      <a16:colId xmlns:a16="http://schemas.microsoft.com/office/drawing/2014/main" val="928063234"/>
                    </a:ext>
                  </a:extLst>
                </a:gridCol>
                <a:gridCol w="1623895">
                  <a:extLst>
                    <a:ext uri="{9D8B030D-6E8A-4147-A177-3AD203B41FA5}">
                      <a16:colId xmlns:a16="http://schemas.microsoft.com/office/drawing/2014/main" val="790049539"/>
                    </a:ext>
                  </a:extLst>
                </a:gridCol>
                <a:gridCol w="1163631">
                  <a:extLst>
                    <a:ext uri="{9D8B030D-6E8A-4147-A177-3AD203B41FA5}">
                      <a16:colId xmlns:a16="http://schemas.microsoft.com/office/drawing/2014/main" val="2378467123"/>
                    </a:ext>
                  </a:extLst>
                </a:gridCol>
                <a:gridCol w="1220392">
                  <a:extLst>
                    <a:ext uri="{9D8B030D-6E8A-4147-A177-3AD203B41FA5}">
                      <a16:colId xmlns:a16="http://schemas.microsoft.com/office/drawing/2014/main" val="2596882509"/>
                    </a:ext>
                  </a:extLst>
                </a:gridCol>
                <a:gridCol w="1220392">
                  <a:extLst>
                    <a:ext uri="{9D8B030D-6E8A-4147-A177-3AD203B41FA5}">
                      <a16:colId xmlns:a16="http://schemas.microsoft.com/office/drawing/2014/main" val="273729120"/>
                    </a:ext>
                  </a:extLst>
                </a:gridCol>
              </a:tblGrid>
              <a:tr h="370840">
                <a:tc>
                  <a:txBody>
                    <a:bodyPr/>
                    <a:lstStyle/>
                    <a:p>
                      <a:pPr algn="ctr"/>
                      <a:r>
                        <a:rPr lang="en-US" sz="1800" b="1" dirty="0">
                          <a:latin typeface="Arial" panose="020B0604020202020204" pitchFamily="34" charset="0"/>
                          <a:cs typeface="Arial" panose="020B0604020202020204" pitchFamily="34" charset="0"/>
                        </a:rPr>
                        <a:t>Category</a:t>
                      </a:r>
                      <a:endParaRPr lang="en-IN" sz="18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SubCategory</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Top</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cnt</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Biscuits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Oreo </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Chips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Kurkure</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60</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1</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77675717"/>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Chips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Lays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Choclate</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Dairy Milk</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621527498"/>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Chocolate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Five Star </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293820974"/>
                  </a:ext>
                </a:extLst>
              </a:tr>
            </a:tbl>
          </a:graphicData>
        </a:graphic>
      </p:graphicFrame>
      <p:sp>
        <p:nvSpPr>
          <p:cNvPr id="9" name="TextBox 8">
            <a:extLst>
              <a:ext uri="{FF2B5EF4-FFF2-40B4-BE49-F238E27FC236}">
                <a16:creationId xmlns:a16="http://schemas.microsoft.com/office/drawing/2014/main" id="{3C606F73-6AFF-5B28-32F9-FE42E50AA5AE}"/>
              </a:ext>
            </a:extLst>
          </p:cNvPr>
          <p:cNvSpPr txBox="1"/>
          <p:nvPr/>
        </p:nvSpPr>
        <p:spPr>
          <a:xfrm>
            <a:off x="5653289" y="961103"/>
            <a:ext cx="101877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1" name="TextBox 10">
            <a:extLst>
              <a:ext uri="{FF2B5EF4-FFF2-40B4-BE49-F238E27FC236}">
                <a16:creationId xmlns:a16="http://schemas.microsoft.com/office/drawing/2014/main" id="{8D01B6CF-748B-8AAD-EC1A-36F500BE2507}"/>
              </a:ext>
            </a:extLst>
          </p:cNvPr>
          <p:cNvSpPr txBox="1"/>
          <p:nvPr/>
        </p:nvSpPr>
        <p:spPr>
          <a:xfrm>
            <a:off x="263351" y="5457998"/>
            <a:ext cx="11654633" cy="923330"/>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category, subcategory, price, top,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subcategory, price,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price </a:t>
            </a:r>
            <a:r>
              <a:rPr lang="en-IN" dirty="0">
                <a:solidFill>
                  <a:srgbClr val="0077AA"/>
                </a:solidFill>
                <a:latin typeface="Liberation Mono"/>
              </a:rPr>
              <a:t>DESC</a:t>
            </a:r>
            <a:r>
              <a:rPr lang="en-IN" dirty="0">
                <a:latin typeface="Liberation Mono"/>
              </a:rPr>
              <a:t>) Top, </a:t>
            </a:r>
            <a:r>
              <a:rPr lang="en-IN" dirty="0">
                <a:solidFill>
                  <a:srgbClr val="DD4A68"/>
                </a:solidFill>
                <a:latin typeface="Liberation Mono"/>
              </a:rPr>
              <a:t>COUNT</a:t>
            </a:r>
            <a:r>
              <a:rPr lang="en-IN" dirty="0">
                <a:latin typeface="Liberation Mono"/>
              </a:rPr>
              <a:t>(subcategory)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category) t1 </a:t>
            </a:r>
            <a:r>
              <a:rPr lang="en-IN" dirty="0">
                <a:solidFill>
                  <a:srgbClr val="0077AA"/>
                </a:solidFill>
                <a:latin typeface="Liberation Mono"/>
              </a:rPr>
              <a:t>WHERE</a:t>
            </a:r>
            <a:r>
              <a:rPr lang="en-IN" dirty="0">
                <a:latin typeface="Liberation Mono"/>
              </a:rPr>
              <a:t> (top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A67F59"/>
                </a:solidFill>
                <a:latin typeface="Liberation Mono"/>
              </a:rPr>
              <a:t>AND</a:t>
            </a:r>
            <a:r>
              <a:rPr lang="en-IN" dirty="0">
                <a:latin typeface="Liberation Mono"/>
              </a:rPr>
              <a:t> cnt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a:t>
            </a:r>
            <a:r>
              <a:rPr lang="en-IN" dirty="0">
                <a:latin typeface="Liberation Mono"/>
              </a:rPr>
              <a:t>) or (</a:t>
            </a:r>
            <a:r>
              <a:rPr lang="en-IN" i="1" dirty="0">
                <a:solidFill>
                  <a:schemeClr val="bg1">
                    <a:lumMod val="50000"/>
                  </a:schemeClr>
                </a:solidFill>
                <a:latin typeface="Liberation Mono"/>
              </a:rPr>
              <a:t>cnt</a:t>
            </a:r>
            <a:r>
              <a:rPr lang="en-IN" dirty="0">
                <a:solidFill>
                  <a:schemeClr val="accent5">
                    <a:lumMod val="75000"/>
                  </a:schemeClr>
                </a:solidFill>
                <a:latin typeface="Liberation Mono"/>
                <a:cs typeface="Arial" panose="020B0604020202020204" pitchFamily="34" charset="0"/>
              </a:rPr>
              <a:t> =</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AND</a:t>
            </a:r>
            <a:r>
              <a:rPr lang="en-IN" dirty="0">
                <a:latin typeface="Liberation Mono"/>
              </a:rPr>
              <a:t> price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50</a:t>
            </a:r>
            <a:r>
              <a:rPr lang="en-IN" dirty="0">
                <a:latin typeface="Liberation Mono"/>
              </a:rPr>
              <a:t>);</a:t>
            </a:r>
          </a:p>
        </p:txBody>
      </p:sp>
      <p:sp>
        <p:nvSpPr>
          <p:cNvPr id="12" name="TextBox 11">
            <a:extLst>
              <a:ext uri="{FF2B5EF4-FFF2-40B4-BE49-F238E27FC236}">
                <a16:creationId xmlns:a16="http://schemas.microsoft.com/office/drawing/2014/main" id="{7CA0BD0C-5C22-DEB3-205C-35F29D84C03B}"/>
              </a:ext>
            </a:extLst>
          </p:cNvPr>
          <p:cNvSpPr txBox="1"/>
          <p:nvPr/>
        </p:nvSpPr>
        <p:spPr>
          <a:xfrm>
            <a:off x="5015880" y="3886596"/>
            <a:ext cx="6902104" cy="923330"/>
          </a:xfrm>
          <a:prstGeom prst="rect">
            <a:avLst/>
          </a:prstGeom>
          <a:solidFill>
            <a:schemeClr val="bg1">
              <a:lumMod val="85000"/>
            </a:schemeClr>
          </a:solidFill>
        </p:spPr>
        <p:txBody>
          <a:bodyPr wrap="square">
            <a:spAutoFit/>
          </a:bodyPr>
          <a:lstStyle/>
          <a:p>
            <a:pPr marL="447675" indent="-447675"/>
            <a:r>
              <a:rPr lang="en-US" dirty="0">
                <a:solidFill>
                  <a:srgbClr val="FF0000"/>
                </a:solidFill>
                <a:latin typeface="Arial" panose="020B0604020202020204" pitchFamily="34" charset="0"/>
                <a:cs typeface="Arial" panose="020B0604020202020204" pitchFamily="34" charset="0"/>
              </a:rPr>
              <a:t>Q1</a:t>
            </a:r>
            <a:r>
              <a:rPr lang="en-US" dirty="0">
                <a:latin typeface="Arial" panose="020B0604020202020204" pitchFamily="34" charset="0"/>
                <a:cs typeface="Arial" panose="020B0604020202020204" pitchFamily="34" charset="0"/>
              </a:rPr>
              <a:t>. Write a query selects the top 2 priced items per category </a:t>
            </a:r>
            <a:r>
              <a:rPr lang="en-US" i="1" dirty="0">
                <a:latin typeface="Arial" panose="020B0604020202020204" pitchFamily="34" charset="0"/>
                <a:cs typeface="Arial" panose="020B0604020202020204" pitchFamily="34" charset="0"/>
              </a:rPr>
              <a:t>if</a:t>
            </a:r>
            <a:r>
              <a:rPr lang="en-US" dirty="0">
                <a:latin typeface="Arial" panose="020B0604020202020204" pitchFamily="34" charset="0"/>
                <a:cs typeface="Arial" panose="020B0604020202020204" pitchFamily="34" charset="0"/>
              </a:rPr>
              <a:t> there are multiple items in the category, and includes items priced over 50 if they are the only item in the category.</a:t>
            </a:r>
            <a:endParaRPr lang="en-IN"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700CE7DF-5787-F7F6-F83C-7CCB1C2C380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12934B1B-BE5D-1DDA-7CBB-193EE4C12AE6}"/>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F9E4E67B-03A6-225E-F336-048176B696CB}"/>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93539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44DC3-F5EF-38A2-072D-CF28C4CE238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70A488AB-C50A-0FBB-9281-065ACC50DFE1}"/>
              </a:ext>
            </a:extLst>
          </p:cNvPr>
          <p:cNvGraphicFramePr>
            <a:graphicFrameLocks noGrp="1"/>
          </p:cNvGraphicFramePr>
          <p:nvPr>
            <p:extLst>
              <p:ext uri="{D42A27DB-BD31-4B8C-83A1-F6EECF244321}">
                <p14:modId xmlns:p14="http://schemas.microsoft.com/office/powerpoint/2010/main" val="149405402"/>
              </p:ext>
            </p:extLst>
          </p:nvPr>
        </p:nvGraphicFramePr>
        <p:xfrm>
          <a:off x="202010" y="676329"/>
          <a:ext cx="2520281" cy="471424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800202">
                  <a:extLst>
                    <a:ext uri="{9D8B030D-6E8A-4147-A177-3AD203B41FA5}">
                      <a16:colId xmlns:a16="http://schemas.microsoft.com/office/drawing/2014/main" val="790049539"/>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year_of_service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2020-09-23</a:t>
                      </a:r>
                    </a:p>
                  </a:txBody>
                  <a:tcPr anchor="ctr"/>
                </a:tc>
                <a:extLst>
                  <a:ext uri="{0D108BD9-81ED-4DB2-BD59-A6C34878D82A}">
                    <a16:rowId xmlns:a16="http://schemas.microsoft.com/office/drawing/2014/main" val="919731575"/>
                  </a:ext>
                </a:extLst>
              </a:tr>
            </a:tbl>
          </a:graphicData>
        </a:graphic>
      </p:graphicFrame>
      <p:sp>
        <p:nvSpPr>
          <p:cNvPr id="4" name="TextBox 3">
            <a:extLst>
              <a:ext uri="{FF2B5EF4-FFF2-40B4-BE49-F238E27FC236}">
                <a16:creationId xmlns:a16="http://schemas.microsoft.com/office/drawing/2014/main" id="{4EE0B329-C3F3-7B89-B028-31D8703833A3}"/>
              </a:ext>
            </a:extLst>
          </p:cNvPr>
          <p:cNvSpPr txBox="1"/>
          <p:nvPr/>
        </p:nvSpPr>
        <p:spPr>
          <a:xfrm>
            <a:off x="191344" y="188640"/>
            <a:ext cx="2664297" cy="400110"/>
          </a:xfrm>
          <a:prstGeom prst="rect">
            <a:avLst/>
          </a:prstGeom>
          <a:noFill/>
        </p:spPr>
        <p:txBody>
          <a:bodyPr wrap="square">
            <a:spAutoFit/>
          </a:bodyPr>
          <a:lstStyle/>
          <a:p>
            <a:r>
              <a:rPr lang="en-IN" sz="2000" b="1" dirty="0">
                <a:latin typeface="Liberation Mono"/>
              </a:rPr>
              <a:t>Table:- </a:t>
            </a:r>
            <a:r>
              <a:rPr lang="en-US" sz="2000" b="1" dirty="0">
                <a:latin typeface="Liberation Mono"/>
              </a:rPr>
              <a:t>year_of_service</a:t>
            </a:r>
            <a:endParaRPr lang="en-IN" sz="2000" b="1" dirty="0">
              <a:latin typeface="Liberation Mono"/>
            </a:endParaRPr>
          </a:p>
        </p:txBody>
      </p:sp>
      <p:sp>
        <p:nvSpPr>
          <p:cNvPr id="13" name="TextBox 12">
            <a:extLst>
              <a:ext uri="{FF2B5EF4-FFF2-40B4-BE49-F238E27FC236}">
                <a16:creationId xmlns:a16="http://schemas.microsoft.com/office/drawing/2014/main" id="{9008849B-BACA-5BE7-7C2B-1D1A34312BAD}"/>
              </a:ext>
            </a:extLst>
          </p:cNvPr>
          <p:cNvSpPr txBox="1"/>
          <p:nvPr/>
        </p:nvSpPr>
        <p:spPr>
          <a:xfrm>
            <a:off x="201867" y="5661248"/>
            <a:ext cx="11716258"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rPr>
              <a:t>SELECT</a:t>
            </a:r>
            <a:r>
              <a:rPr lang="en-US" dirty="0">
                <a:latin typeface="Liberation Mono"/>
              </a:rPr>
              <a:t> id, year_of_service,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'0-1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'2-3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'4-5 year'</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service_bucket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year_of_service,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 </a:t>
            </a:r>
            <a:r>
              <a:rPr lang="en-US" dirty="0">
                <a:solidFill>
                  <a:srgbClr val="3F6971"/>
                </a:solidFill>
                <a:latin typeface="Liberation Mono"/>
              </a:rPr>
              <a:t>YEAR</a:t>
            </a:r>
            <a:r>
              <a:rPr lang="en-US" dirty="0">
                <a:latin typeface="Liberation Mono"/>
              </a:rPr>
              <a:t>(year_of_service)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year_of_service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3F6971"/>
                </a:solidFill>
                <a:latin typeface="Liberation Mono"/>
              </a:rPr>
              <a:t>YEAR</a:t>
            </a:r>
            <a:r>
              <a:rPr lang="en-US" dirty="0">
                <a:latin typeface="Liberation Mono"/>
              </a:rPr>
              <a:t>(year_of_service)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t1;</a:t>
            </a:r>
            <a:endParaRPr lang="en-IN" dirty="0">
              <a:latin typeface="Liberation Mono"/>
            </a:endParaRPr>
          </a:p>
        </p:txBody>
      </p:sp>
      <p:sp>
        <p:nvSpPr>
          <p:cNvPr id="5" name="Rectangle 4">
            <a:extLst>
              <a:ext uri="{FF2B5EF4-FFF2-40B4-BE49-F238E27FC236}">
                <a16:creationId xmlns:a16="http://schemas.microsoft.com/office/drawing/2014/main" id="{6DD15A20-F534-D2F0-0EBE-A5A84A980AAE}"/>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graphicFrame>
        <p:nvGraphicFramePr>
          <p:cNvPr id="6" name="Table 2">
            <a:extLst>
              <a:ext uri="{FF2B5EF4-FFF2-40B4-BE49-F238E27FC236}">
                <a16:creationId xmlns:a16="http://schemas.microsoft.com/office/drawing/2014/main" id="{D81C7F30-54B1-05D2-4465-5A263035907E}"/>
              </a:ext>
            </a:extLst>
          </p:cNvPr>
          <p:cNvGraphicFramePr>
            <a:graphicFrameLocks noGrp="1"/>
          </p:cNvGraphicFramePr>
          <p:nvPr>
            <p:extLst>
              <p:ext uri="{D42A27DB-BD31-4B8C-83A1-F6EECF244321}">
                <p14:modId xmlns:p14="http://schemas.microsoft.com/office/powerpoint/2010/main" val="1749839299"/>
              </p:ext>
            </p:extLst>
          </p:nvPr>
        </p:nvGraphicFramePr>
        <p:xfrm>
          <a:off x="2855641" y="676329"/>
          <a:ext cx="4680521" cy="4714240"/>
        </p:xfrm>
        <a:graphic>
          <a:graphicData uri="http://schemas.openxmlformats.org/drawingml/2006/table">
            <a:tbl>
              <a:tblPr firstRow="1" bandRow="1">
                <a:tableStyleId>{5940675A-B579-460E-94D1-54222C63F5DA}</a:tableStyleId>
              </a:tblPr>
              <a:tblGrid>
                <a:gridCol w="780085">
                  <a:extLst>
                    <a:ext uri="{9D8B030D-6E8A-4147-A177-3AD203B41FA5}">
                      <a16:colId xmlns:a16="http://schemas.microsoft.com/office/drawing/2014/main" val="928063234"/>
                    </a:ext>
                  </a:extLst>
                </a:gridCol>
                <a:gridCol w="1950218">
                  <a:extLst>
                    <a:ext uri="{9D8B030D-6E8A-4147-A177-3AD203B41FA5}">
                      <a16:colId xmlns:a16="http://schemas.microsoft.com/office/drawing/2014/main" val="790049539"/>
                    </a:ext>
                  </a:extLst>
                </a:gridCol>
                <a:gridCol w="1950218">
                  <a:extLst>
                    <a:ext uri="{9D8B030D-6E8A-4147-A177-3AD203B41FA5}">
                      <a16:colId xmlns:a16="http://schemas.microsoft.com/office/drawing/2014/main" val="125354985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year_of_service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service_bucket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2-3 year</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4-5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2020-09-23</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8880222F-7F07-E375-00AD-19E75D031B4C}"/>
              </a:ext>
            </a:extLst>
          </p:cNvPr>
          <p:cNvSpPr txBox="1"/>
          <p:nvPr/>
        </p:nvSpPr>
        <p:spPr>
          <a:xfrm>
            <a:off x="7686774" y="2064688"/>
            <a:ext cx="1674375" cy="400110"/>
          </a:xfrm>
          <a:prstGeom prst="rect">
            <a:avLst/>
          </a:prstGeom>
          <a:noFill/>
        </p:spPr>
        <p:txBody>
          <a:bodyPr wrap="square">
            <a:spAutoFit/>
          </a:bodyPr>
          <a:lstStyle/>
          <a:p>
            <a:r>
              <a:rPr lang="en-IN" sz="2000" b="1" dirty="0">
                <a:latin typeface="Liberation Mono"/>
              </a:rPr>
              <a:t>If year is 2025</a:t>
            </a:r>
            <a:endParaRPr lang="en-IN" sz="2000" b="1" dirty="0"/>
          </a:p>
        </p:txBody>
      </p:sp>
      <p:sp>
        <p:nvSpPr>
          <p:cNvPr id="7" name="TextBox 6">
            <a:extLst>
              <a:ext uri="{FF2B5EF4-FFF2-40B4-BE49-F238E27FC236}">
                <a16:creationId xmlns:a16="http://schemas.microsoft.com/office/drawing/2014/main" id="{20855027-413B-1C38-B024-2242D4302AA4}"/>
              </a:ext>
            </a:extLst>
          </p:cNvPr>
          <p:cNvSpPr txBox="1"/>
          <p:nvPr/>
        </p:nvSpPr>
        <p:spPr>
          <a:xfrm>
            <a:off x="2855641" y="184666"/>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95E1FAB7-CCEA-B2D9-32F6-14BF995B506A}"/>
              </a:ext>
            </a:extLst>
          </p:cNvPr>
          <p:cNvSpPr txBox="1"/>
          <p:nvPr/>
        </p:nvSpPr>
        <p:spPr>
          <a:xfrm>
            <a:off x="7669512" y="863067"/>
            <a:ext cx="4475159" cy="923330"/>
          </a:xfrm>
          <a:prstGeom prst="rect">
            <a:avLst/>
          </a:prstGeom>
          <a:solidFill>
            <a:schemeClr val="bg1">
              <a:lumMod val="85000"/>
            </a:schemeClr>
          </a:solidFill>
        </p:spPr>
        <p:txBody>
          <a:bodyPr wrap="square">
            <a:spAutoFit/>
          </a:bodyPr>
          <a:lstStyle/>
          <a:p>
            <a:r>
              <a:rPr lang="en-IN" dirty="0">
                <a:solidFill>
                  <a:srgbClr val="FF0000"/>
                </a:solidFill>
                <a:latin typeface="Arial" panose="020B0604020202020204" pitchFamily="34" charset="0"/>
                <a:cs typeface="Arial" panose="020B0604020202020204" pitchFamily="34" charset="0"/>
              </a:rPr>
              <a:t>Q1. </a:t>
            </a:r>
            <a:r>
              <a:rPr lang="en-IN" dirty="0">
                <a:latin typeface="Arial" panose="020B0604020202020204" pitchFamily="34" charset="0"/>
                <a:cs typeface="Arial" panose="020B0604020202020204" pitchFamily="34" charset="0"/>
              </a:rPr>
              <a:t>Write a query to create service buckets based on the number of years of service.</a:t>
            </a:r>
          </a:p>
        </p:txBody>
      </p:sp>
    </p:spTree>
    <p:extLst>
      <p:ext uri="{BB962C8B-B14F-4D97-AF65-F5344CB8AC3E}">
        <p14:creationId xmlns:p14="http://schemas.microsoft.com/office/powerpoint/2010/main" val="1164013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795CC-27D6-1B35-A647-D0316D40DCE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5B6C0AC-E1CE-50A6-02FA-FA66C1FF42E1}"/>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23F444D8-34B9-0A66-6C76-4B847B4C818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0BD32785-737D-8C34-FA83-E8A3776A2FC4}"/>
              </a:ext>
            </a:extLst>
          </p:cNvPr>
          <p:cNvGraphicFramePr>
            <a:graphicFrameLocks noGrp="1"/>
          </p:cNvGraphicFramePr>
          <p:nvPr>
            <p:extLst>
              <p:ext uri="{D42A27DB-BD31-4B8C-83A1-F6EECF244321}">
                <p14:modId xmlns:p14="http://schemas.microsoft.com/office/powerpoint/2010/main" val="402719793"/>
              </p:ext>
            </p:extLst>
          </p:nvPr>
        </p:nvGraphicFramePr>
        <p:xfrm>
          <a:off x="84144" y="1045552"/>
          <a:ext cx="3059528" cy="5191760"/>
        </p:xfrm>
        <a:graphic>
          <a:graphicData uri="http://schemas.openxmlformats.org/drawingml/2006/table">
            <a:tbl>
              <a:tblPr firstRow="1" bandRow="1">
                <a:tableStyleId>{5940675A-B579-460E-94D1-54222C63F5DA}</a:tableStyleId>
              </a:tblPr>
              <a:tblGrid>
                <a:gridCol w="1298708">
                  <a:extLst>
                    <a:ext uri="{9D8B030D-6E8A-4147-A177-3AD203B41FA5}">
                      <a16:colId xmlns:a16="http://schemas.microsoft.com/office/drawing/2014/main" val="928063234"/>
                    </a:ext>
                  </a:extLst>
                </a:gridCol>
                <a:gridCol w="176082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SCOTT</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FORD</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77675717"/>
                  </a:ext>
                </a:extLst>
              </a:tr>
              <a:tr h="370840">
                <a:tc>
                  <a:txBody>
                    <a:bodyPr/>
                    <a:lstStyle/>
                    <a:p>
                      <a:pPr algn="l"/>
                      <a:r>
                        <a:rPr lang="en-IN" sz="1400" dirty="0">
                          <a:latin typeface="Arial" panose="020B0604020202020204" pitchFamily="34" charset="0"/>
                          <a:cs typeface="Arial" panose="020B0604020202020204" pitchFamily="34" charset="0"/>
                        </a:rPr>
                        <a:t>SUPRIYA</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SMITH</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AARAV</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489105953"/>
                  </a:ext>
                </a:extLst>
              </a:tr>
              <a:tr h="370840">
                <a:tc>
                  <a:txBody>
                    <a:bodyPr/>
                    <a:lstStyle/>
                    <a:p>
                      <a:pPr algn="l"/>
                      <a:r>
                        <a:rPr lang="en-IN" sz="1400" dirty="0">
                          <a:latin typeface="Arial" panose="020B0604020202020204" pitchFamily="34" charset="0"/>
                          <a:cs typeface="Arial" panose="020B0604020202020204" pitchFamily="34" charset="0"/>
                        </a:rPr>
                        <a:t>THOMAS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452885272"/>
                  </a:ext>
                </a:extLst>
              </a:tr>
              <a:tr h="370840">
                <a:tc>
                  <a:txBody>
                    <a:bodyPr/>
                    <a:lstStyle/>
                    <a:p>
                      <a:pPr algn="l"/>
                      <a:r>
                        <a:rPr lang="en-IN" sz="1400" dirty="0">
                          <a:latin typeface="Arial" panose="020B0604020202020204" pitchFamily="34" charset="0"/>
                          <a:cs typeface="Arial" panose="020B0604020202020204" pitchFamily="34" charset="0"/>
                        </a:rPr>
                        <a:t>ADAMS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834321889"/>
                  </a:ext>
                </a:extLst>
              </a:tr>
              <a:tr h="370840">
                <a:tc>
                  <a:txBody>
                    <a:bodyPr/>
                    <a:lstStyle/>
                    <a:p>
                      <a:pPr algn="l"/>
                      <a:r>
                        <a:rPr lang="en-IN" sz="1400" dirty="0">
                          <a:latin typeface="Arial" panose="020B0604020202020204" pitchFamily="34" charset="0"/>
                          <a:cs typeface="Arial" panose="020B0604020202020204" pitchFamily="34" charset="0"/>
                        </a:rPr>
                        <a:t>JAMES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969344275"/>
                  </a:ext>
                </a:extLst>
              </a:tr>
              <a:tr h="370840">
                <a:tc>
                  <a:txBody>
                    <a:bodyPr/>
                    <a:lstStyle/>
                    <a:p>
                      <a:pPr algn="l"/>
                      <a:r>
                        <a:rPr lang="en-IN" sz="1400" dirty="0">
                          <a:latin typeface="Arial" panose="020B0604020202020204" pitchFamily="34" charset="0"/>
                          <a:cs typeface="Arial" panose="020B0604020202020204" pitchFamily="34" charset="0"/>
                        </a:rPr>
                        <a:t>MILLER</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427491726"/>
                  </a:ext>
                </a:extLst>
              </a:tr>
              <a:tr h="370840">
                <a:tc>
                  <a:txBody>
                    <a:bodyPr/>
                    <a:lstStyle/>
                    <a:p>
                      <a:pPr algn="l"/>
                      <a:r>
                        <a:rPr lang="en-IN" sz="1400" dirty="0">
                          <a:latin typeface="Arial" panose="020B0604020202020204" pitchFamily="34" charset="0"/>
                          <a:cs typeface="Arial" panose="020B0604020202020204" pitchFamily="34" charset="0"/>
                        </a:rPr>
                        <a:t>NATASHA</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21142360"/>
                  </a:ext>
                </a:extLst>
              </a:tr>
              <a:tr h="370840">
                <a:tc>
                  <a:txBody>
                    <a:bodyPr/>
                    <a:lstStyle/>
                    <a:p>
                      <a:pPr algn="l"/>
                      <a:r>
                        <a:rPr lang="en-IN" sz="1400" dirty="0">
                          <a:latin typeface="Arial" panose="020B0604020202020204" pitchFamily="34" charset="0"/>
                          <a:cs typeface="Arial" panose="020B0604020202020204" pitchFamily="34" charset="0"/>
                        </a:rPr>
                        <a:t>GITA</a:t>
                      </a:r>
                    </a:p>
                  </a:txBody>
                  <a:tcPr/>
                </a:tc>
                <a:tc>
                  <a:txBody>
                    <a:bodyPr/>
                    <a:lstStyle/>
                    <a:p>
                      <a:pPr algn="l"/>
                      <a:r>
                        <a:rPr lang="en-IN" sz="1400" dirty="0">
                          <a:latin typeface="Arial" panose="020B0604020202020204" pitchFamily="34" charset="0"/>
                          <a:cs typeface="Arial" panose="020B0604020202020204" pitchFamily="34" charset="0"/>
                        </a:rPr>
                        <a:t>Compliance officers</a:t>
                      </a:r>
                    </a:p>
                  </a:txBody>
                  <a:tcPr/>
                </a:tc>
                <a:extLst>
                  <a:ext uri="{0D108BD9-81ED-4DB2-BD59-A6C34878D82A}">
                    <a16:rowId xmlns:a16="http://schemas.microsoft.com/office/drawing/2014/main" val="430710641"/>
                  </a:ext>
                </a:extLst>
              </a:tr>
              <a:tr h="370840">
                <a:tc>
                  <a:txBody>
                    <a:bodyPr/>
                    <a:lstStyle/>
                    <a:p>
                      <a:pPr algn="l"/>
                      <a:r>
                        <a:rPr lang="en-IN" sz="1400" dirty="0">
                          <a:latin typeface="Arial" panose="020B0604020202020204" pitchFamily="34" charset="0"/>
                          <a:cs typeface="Arial" panose="020B0604020202020204" pitchFamily="34" charset="0"/>
                        </a:rPr>
                        <a:t>VRUSHALI</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3073559303"/>
                  </a:ext>
                </a:extLst>
              </a:tr>
              <a:tr h="370840">
                <a:tc>
                  <a:txBody>
                    <a:bodyPr/>
                    <a:lstStyle/>
                    <a:p>
                      <a:pPr algn="l"/>
                      <a:r>
                        <a:rPr lang="en-IN" sz="140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2297923864"/>
                  </a:ext>
                </a:extLst>
              </a:tr>
            </a:tbl>
          </a:graphicData>
        </a:graphic>
      </p:graphicFrame>
      <p:sp>
        <p:nvSpPr>
          <p:cNvPr id="10" name="TextBox 9">
            <a:extLst>
              <a:ext uri="{FF2B5EF4-FFF2-40B4-BE49-F238E27FC236}">
                <a16:creationId xmlns:a16="http://schemas.microsoft.com/office/drawing/2014/main" id="{3606CA51-B342-556F-67EF-3CBFB24E79B2}"/>
              </a:ext>
            </a:extLst>
          </p:cNvPr>
          <p:cNvSpPr txBox="1"/>
          <p:nvPr/>
        </p:nvSpPr>
        <p:spPr>
          <a:xfrm>
            <a:off x="186586" y="571090"/>
            <a:ext cx="2160109" cy="400110"/>
          </a:xfrm>
          <a:prstGeom prst="rect">
            <a:avLst/>
          </a:prstGeom>
          <a:noFill/>
        </p:spPr>
        <p:txBody>
          <a:bodyPr wrap="square">
            <a:spAutoFit/>
          </a:bodyPr>
          <a:lstStyle/>
          <a:p>
            <a:r>
              <a:rPr lang="en-IN" sz="2000" b="1" dirty="0">
                <a:latin typeface="Liberation Mono"/>
              </a:rPr>
              <a:t>Table:- emp</a:t>
            </a:r>
            <a:endParaRPr lang="en-IN" sz="2000" b="1" dirty="0"/>
          </a:p>
        </p:txBody>
      </p:sp>
      <p:graphicFrame>
        <p:nvGraphicFramePr>
          <p:cNvPr id="5" name="Table 2">
            <a:extLst>
              <a:ext uri="{FF2B5EF4-FFF2-40B4-BE49-F238E27FC236}">
                <a16:creationId xmlns:a16="http://schemas.microsoft.com/office/drawing/2014/main" id="{16063309-35FF-ED66-26E4-E8130E5328BE}"/>
              </a:ext>
            </a:extLst>
          </p:cNvPr>
          <p:cNvGraphicFramePr>
            <a:graphicFrameLocks noGrp="1"/>
          </p:cNvGraphicFramePr>
          <p:nvPr>
            <p:extLst>
              <p:ext uri="{D42A27DB-BD31-4B8C-83A1-F6EECF244321}">
                <p14:modId xmlns:p14="http://schemas.microsoft.com/office/powerpoint/2010/main" val="2422223340"/>
              </p:ext>
            </p:extLst>
          </p:nvPr>
        </p:nvGraphicFramePr>
        <p:xfrm>
          <a:off x="3215680" y="1042386"/>
          <a:ext cx="8856983" cy="3779520"/>
        </p:xfrm>
        <a:graphic>
          <a:graphicData uri="http://schemas.openxmlformats.org/drawingml/2006/table">
            <a:tbl>
              <a:tblPr firstRow="1" bandRow="1">
                <a:tableStyleId>{5940675A-B579-460E-94D1-54222C63F5DA}</a:tableStyleId>
              </a:tblPr>
              <a:tblGrid>
                <a:gridCol w="1396668">
                  <a:extLst>
                    <a:ext uri="{9D8B030D-6E8A-4147-A177-3AD203B41FA5}">
                      <a16:colId xmlns:a16="http://schemas.microsoft.com/office/drawing/2014/main" val="928063234"/>
                    </a:ext>
                  </a:extLst>
                </a:gridCol>
                <a:gridCol w="1065759">
                  <a:extLst>
                    <a:ext uri="{9D8B030D-6E8A-4147-A177-3AD203B41FA5}">
                      <a16:colId xmlns:a16="http://schemas.microsoft.com/office/drawing/2014/main" val="2965238667"/>
                    </a:ext>
                  </a:extLst>
                </a:gridCol>
                <a:gridCol w="1139505">
                  <a:extLst>
                    <a:ext uri="{9D8B030D-6E8A-4147-A177-3AD203B41FA5}">
                      <a16:colId xmlns:a16="http://schemas.microsoft.com/office/drawing/2014/main" val="1022043813"/>
                    </a:ext>
                  </a:extLst>
                </a:gridCol>
                <a:gridCol w="992014">
                  <a:extLst>
                    <a:ext uri="{9D8B030D-6E8A-4147-A177-3AD203B41FA5}">
                      <a16:colId xmlns:a16="http://schemas.microsoft.com/office/drawing/2014/main" val="1341393751"/>
                    </a:ext>
                  </a:extLst>
                </a:gridCol>
                <a:gridCol w="1139742">
                  <a:extLst>
                    <a:ext uri="{9D8B030D-6E8A-4147-A177-3AD203B41FA5}">
                      <a16:colId xmlns:a16="http://schemas.microsoft.com/office/drawing/2014/main" val="811726526"/>
                    </a:ext>
                  </a:extLst>
                </a:gridCol>
                <a:gridCol w="991777">
                  <a:extLst>
                    <a:ext uri="{9D8B030D-6E8A-4147-A177-3AD203B41FA5}">
                      <a16:colId xmlns:a16="http://schemas.microsoft.com/office/drawing/2014/main" val="2372118111"/>
                    </a:ext>
                  </a:extLst>
                </a:gridCol>
                <a:gridCol w="1065759">
                  <a:extLst>
                    <a:ext uri="{9D8B030D-6E8A-4147-A177-3AD203B41FA5}">
                      <a16:colId xmlns:a16="http://schemas.microsoft.com/office/drawing/2014/main" val="2699221881"/>
                    </a:ext>
                  </a:extLst>
                </a:gridCol>
                <a:gridCol w="1065759">
                  <a:extLst>
                    <a:ext uri="{9D8B030D-6E8A-4147-A177-3AD203B41FA5}">
                      <a16:colId xmlns:a16="http://schemas.microsoft.com/office/drawing/2014/main" val="1665885695"/>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Col2</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Col3</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Col4</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Col5</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Col6</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Col7</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ANALYST</a:t>
                      </a:r>
                    </a:p>
                  </a:txBody>
                  <a:tcPr anchor="ctr"/>
                </a:tc>
                <a:tc>
                  <a:txBody>
                    <a:bodyPr/>
                    <a:lstStyle/>
                    <a:p>
                      <a:pPr algn="l"/>
                      <a:r>
                        <a:rPr lang="en-IN" sz="1400" dirty="0">
                          <a:latin typeface="Arial" panose="020B0604020202020204" pitchFamily="34" charset="0"/>
                          <a:cs typeface="Arial" panose="020B0604020202020204" pitchFamily="34" charset="0"/>
                        </a:rPr>
                        <a:t>SCOTT</a:t>
                      </a:r>
                    </a:p>
                  </a:txBody>
                  <a:tcPr anchor="ctr"/>
                </a:tc>
                <a:tc>
                  <a:txBody>
                    <a:bodyPr/>
                    <a:lstStyle/>
                    <a:p>
                      <a:pPr algn="l"/>
                      <a:r>
                        <a:rPr lang="en-IN" sz="1400" dirty="0">
                          <a:latin typeface="Arial" panose="020B0604020202020204" pitchFamily="34" charset="0"/>
                          <a:cs typeface="Arial" panose="020B0604020202020204" pitchFamily="34" charset="0"/>
                        </a:rPr>
                        <a:t>FORD</a:t>
                      </a:r>
                    </a:p>
                  </a:txBody>
                  <a:tcPr anchor="ctr"/>
                </a:tc>
                <a:tc>
                  <a:txBody>
                    <a:bodyPr/>
                    <a:lstStyle/>
                    <a:p>
                      <a:pPr algn="l"/>
                      <a:r>
                        <a:rPr lang="en-IN" sz="1400" dirty="0">
                          <a:latin typeface="Arial" panose="020B0604020202020204" pitchFamily="34" charset="0"/>
                          <a:cs typeface="Arial" panose="020B0604020202020204" pitchFamily="34" charset="0"/>
                        </a:rPr>
                        <a:t>SUPRIYA</a:t>
                      </a:r>
                    </a:p>
                  </a:txBody>
                  <a:tcPr anchor="ctr"/>
                </a:tc>
                <a:tc>
                  <a:txBody>
                    <a:bodyPr/>
                    <a:lstStyle/>
                    <a:p>
                      <a:pPr algn="l"/>
                      <a:r>
                        <a:rPr lang="en-IN" sz="1400" dirty="0">
                          <a:latin typeface="Arial" panose="020B0604020202020204" pitchFamily="34" charset="0"/>
                          <a:cs typeface="Arial" panose="020B0604020202020204" pitchFamily="34" charset="0"/>
                        </a:rPr>
                        <a:t>NULL</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CLERK</a:t>
                      </a:r>
                    </a:p>
                  </a:txBody>
                  <a:tcPr anchor="ctr"/>
                </a:tc>
                <a:tc>
                  <a:txBody>
                    <a:bodyPr/>
                    <a:lstStyle/>
                    <a:p>
                      <a:pPr algn="l"/>
                      <a:r>
                        <a:rPr lang="en-IN" sz="1400" dirty="0">
                          <a:latin typeface="Arial" panose="020B0604020202020204" pitchFamily="34" charset="0"/>
                          <a:cs typeface="Arial" panose="020B0604020202020204" pitchFamily="34" charset="0"/>
                        </a:rPr>
                        <a:t>SMITH</a:t>
                      </a:r>
                    </a:p>
                  </a:txBody>
                  <a:tcPr anchor="ctr"/>
                </a:tc>
                <a:tc>
                  <a:txBody>
                    <a:bodyPr/>
                    <a:lstStyle/>
                    <a:p>
                      <a:pPr algn="l"/>
                      <a:r>
                        <a:rPr lang="en-IN" sz="1400" dirty="0">
                          <a:latin typeface="Arial" panose="020B0604020202020204" pitchFamily="34" charset="0"/>
                          <a:cs typeface="Arial" panose="020B0604020202020204" pitchFamily="34" charset="0"/>
                        </a:rPr>
                        <a:t>AARAV</a:t>
                      </a:r>
                    </a:p>
                  </a:txBody>
                  <a:tcPr anchor="ctr"/>
                </a:tc>
                <a:tc>
                  <a:txBody>
                    <a:bodyPr/>
                    <a:lstStyle/>
                    <a:p>
                      <a:pPr algn="l"/>
                      <a:r>
                        <a:rPr lang="en-IN" sz="1400" dirty="0">
                          <a:latin typeface="Arial" panose="020B0604020202020204" pitchFamily="34" charset="0"/>
                          <a:cs typeface="Arial" panose="020B0604020202020204" pitchFamily="34" charset="0"/>
                        </a:rPr>
                        <a:t>THOMAS</a:t>
                      </a:r>
                    </a:p>
                  </a:txBody>
                  <a:tcPr anchor="ctr"/>
                </a:tc>
                <a:tc>
                  <a:txBody>
                    <a:bodyPr/>
                    <a:lstStyle/>
                    <a:p>
                      <a:pPr algn="l"/>
                      <a:r>
                        <a:rPr lang="en-IN" sz="1400" dirty="0">
                          <a:latin typeface="Arial" panose="020B0604020202020204" pitchFamily="34" charset="0"/>
                          <a:cs typeface="Arial" panose="020B0604020202020204" pitchFamily="34" charset="0"/>
                        </a:rPr>
                        <a:t>ADAMS </a:t>
                      </a:r>
                    </a:p>
                  </a:txBody>
                  <a:tcPr anchor="ctr"/>
                </a:tc>
                <a:tc>
                  <a:txBody>
                    <a:bodyPr/>
                    <a:lstStyle/>
                    <a:p>
                      <a:pPr algn="l"/>
                      <a:r>
                        <a:rPr lang="en-IN" sz="1400" dirty="0">
                          <a:latin typeface="Arial" panose="020B0604020202020204" pitchFamily="34" charset="0"/>
                          <a:cs typeface="Arial" panose="020B0604020202020204" pitchFamily="34" charset="0"/>
                        </a:rPr>
                        <a:t>JAMES</a:t>
                      </a:r>
                    </a:p>
                  </a:txBody>
                  <a:tcPr anchor="ctr"/>
                </a:tc>
                <a:tc>
                  <a:txBody>
                    <a:bodyPr/>
                    <a:lstStyle/>
                    <a:p>
                      <a:pPr algn="l"/>
                      <a:r>
                        <a:rPr lang="en-IN" sz="1400" dirty="0">
                          <a:latin typeface="Arial" panose="020B0604020202020204" pitchFamily="34" charset="0"/>
                          <a:cs typeface="Arial" panose="020B0604020202020204" pitchFamily="34" charset="0"/>
                        </a:rPr>
                        <a:t>MILLER</a:t>
                      </a:r>
                    </a:p>
                  </a:txBody>
                  <a:tcPr anchor="ctr"/>
                </a:tc>
                <a:tc>
                  <a:txBody>
                    <a:bodyPr/>
                    <a:lstStyle/>
                    <a:p>
                      <a:pPr algn="l"/>
                      <a:r>
                        <a:rPr lang="en-IN" sz="140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7767571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nchor="ctr"/>
                </a:tc>
                <a:tc>
                  <a:txBody>
                    <a:bodyPr/>
                    <a:lstStyle/>
                    <a:p>
                      <a:pPr algn="l"/>
                      <a:r>
                        <a:rPr lang="en-IN" sz="1400" dirty="0">
                          <a:latin typeface="Arial" panose="020B0604020202020204" pitchFamily="34" charset="0"/>
                          <a:cs typeface="Arial" panose="020B0604020202020204" pitchFamily="34" charset="0"/>
                        </a:rPr>
                        <a:t>GITA</a:t>
                      </a:r>
                    </a:p>
                  </a:txBody>
                  <a:tcPr anchor="ctr"/>
                </a:tc>
                <a:tc>
                  <a:txBody>
                    <a:bodyPr/>
                    <a:lstStyle/>
                    <a:p>
                      <a:pPr algn="l"/>
                      <a:r>
                        <a:rPr lang="en-IN" sz="1400" dirty="0">
                          <a:latin typeface="Arial" panose="020B0604020202020204" pitchFamily="34" charset="0"/>
                          <a:cs typeface="Arial" panose="020B0604020202020204" pitchFamily="34" charset="0"/>
                        </a:rPr>
                        <a:t>VRUSHALI</a:t>
                      </a:r>
                    </a:p>
                  </a:txBody>
                  <a:tcPr anchor="ctr"/>
                </a:tc>
                <a:tc>
                  <a:txBody>
                    <a:bodyPr/>
                    <a:lstStyle/>
                    <a:p>
                      <a:pPr algn="l"/>
                      <a:r>
                        <a:rPr lang="en-IN" sz="1400" dirty="0">
                          <a:latin typeface="Arial" panose="020B0604020202020204" pitchFamily="34" charset="0"/>
                          <a:cs typeface="Arial" panose="020B0604020202020204" pitchFamily="34" charset="0"/>
                        </a:rPr>
                        <a:t>SANGITA</a:t>
                      </a: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MANAGER</a:t>
                      </a:r>
                    </a:p>
                  </a:txBody>
                  <a:tcPr anchor="ctr"/>
                </a:tc>
                <a:tc>
                  <a:txBody>
                    <a:bodyPr/>
                    <a:lstStyle/>
                    <a:p>
                      <a:pPr algn="l"/>
                      <a:r>
                        <a:rPr lang="en-IN" sz="1400" dirty="0">
                          <a:latin typeface="Arial" panose="020B0604020202020204" pitchFamily="34" charset="0"/>
                          <a:cs typeface="Arial" panose="020B0604020202020204" pitchFamily="34" charset="0"/>
                        </a:rPr>
                        <a:t>JONES</a:t>
                      </a:r>
                    </a:p>
                  </a:txBody>
                  <a:tcPr anchor="ctr"/>
                </a:tc>
                <a:tc>
                  <a:txBody>
                    <a:bodyPr/>
                    <a:lstStyle/>
                    <a:p>
                      <a:pPr algn="l"/>
                      <a:r>
                        <a:rPr lang="en-IN" sz="1400" dirty="0">
                          <a:latin typeface="Arial" panose="020B0604020202020204" pitchFamily="34" charset="0"/>
                          <a:cs typeface="Arial" panose="020B0604020202020204" pitchFamily="34" charset="0"/>
                        </a:rPr>
                        <a:t>BLAKE</a:t>
                      </a:r>
                    </a:p>
                  </a:txBody>
                  <a:tcPr anchor="ctr"/>
                </a:tc>
                <a:tc>
                  <a:txBody>
                    <a:bodyPr/>
                    <a:lstStyle/>
                    <a:p>
                      <a:pPr algn="l"/>
                      <a:r>
                        <a:rPr lang="en-IN" sz="1400" dirty="0">
                          <a:latin typeface="Arial" panose="020B0604020202020204" pitchFamily="34" charset="0"/>
                          <a:cs typeface="Arial" panose="020B0604020202020204" pitchFamily="34" charset="0"/>
                        </a:rPr>
                        <a:t>CLARK</a:t>
                      </a:r>
                    </a:p>
                  </a:txBody>
                  <a:tcPr anchor="ctr"/>
                </a:tc>
                <a:tc>
                  <a:txBody>
                    <a:bodyPr/>
                    <a:lstStyle/>
                    <a:p>
                      <a:pPr algn="l"/>
                      <a:r>
                        <a:rPr lang="en-IN" sz="1400" dirty="0">
                          <a:latin typeface="Arial" panose="020B0604020202020204" pitchFamily="34" charset="0"/>
                          <a:cs typeface="Arial" panose="020B0604020202020204" pitchFamily="34" charset="0"/>
                        </a:rPr>
                        <a:t>HOFFMAN</a:t>
                      </a:r>
                    </a:p>
                  </a:txBody>
                  <a:tcPr anchor="ctr"/>
                </a:tc>
                <a:tc>
                  <a:txBody>
                    <a:bodyPr/>
                    <a:lstStyle/>
                    <a:p>
                      <a:pPr algn="l"/>
                      <a:r>
                        <a:rPr lang="en-IN" sz="1400" dirty="0">
                          <a:latin typeface="Arial" panose="020B0604020202020204" pitchFamily="34" charset="0"/>
                          <a:cs typeface="Arial" panose="020B0604020202020204" pitchFamily="34" charset="0"/>
                        </a:rPr>
                        <a:t>ALEX</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KING</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6737153"/>
                  </a:ext>
                </a:extLst>
              </a:tr>
              <a:tr h="370840">
                <a:tc>
                  <a:txBody>
                    <a:bodyPr/>
                    <a:lstStyle/>
                    <a:p>
                      <a:pPr algn="l"/>
                      <a:r>
                        <a:rPr lang="en-IN" sz="1400" dirty="0">
                          <a:latin typeface="Arial" panose="020B0604020202020204" pitchFamily="34" charset="0"/>
                          <a:cs typeface="Arial" panose="020B0604020202020204" pitchFamily="34" charset="0"/>
                        </a:rPr>
                        <a:t>PUBLIC RELATION</a:t>
                      </a:r>
                    </a:p>
                  </a:txBody>
                  <a:tcPr anchor="ctr"/>
                </a:tc>
                <a:tc>
                  <a:txBody>
                    <a:bodyPr/>
                    <a:lstStyle/>
                    <a:p>
                      <a:pPr algn="l"/>
                      <a:r>
                        <a:rPr lang="en-IN" sz="1400" dirty="0">
                          <a:latin typeface="Arial" panose="020B0604020202020204" pitchFamily="34" charset="0"/>
                          <a:cs typeface="Arial" panose="020B0604020202020204" pitchFamily="34" charset="0"/>
                        </a:rPr>
                        <a:t>SHARMIN</a:t>
                      </a:r>
                    </a:p>
                  </a:txBody>
                  <a:tcPr anchor="ctr"/>
                </a:tc>
                <a:tc>
                  <a:txBody>
                    <a:bodyPr/>
                    <a:lstStyle/>
                    <a:p>
                      <a:pPr algn="l"/>
                      <a:r>
                        <a:rPr lang="en-IN" sz="1400" dirty="0">
                          <a:latin typeface="Arial" panose="020B0604020202020204" pitchFamily="34" charset="0"/>
                          <a:cs typeface="Arial" panose="020B0604020202020204" pitchFamily="34" charset="0"/>
                        </a:rPr>
                        <a:t>BANDISH</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93812827"/>
                  </a:ext>
                </a:extLst>
              </a:tr>
              <a:tr h="370840">
                <a:tc>
                  <a:txBody>
                    <a:bodyPr/>
                    <a:lstStyle/>
                    <a:p>
                      <a:pPr algn="l"/>
                      <a:r>
                        <a:rPr lang="en-IN" sz="1400" dirty="0">
                          <a:latin typeface="Arial" panose="020B0604020202020204" pitchFamily="34" charset="0"/>
                          <a:cs typeface="Arial" panose="020B0604020202020204" pitchFamily="34" charset="0"/>
                        </a:rPr>
                        <a:t>SALESMAN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ALLEN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WARD</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MARTIN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TURNER</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GRASS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AARUSH</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3608398"/>
                  </a:ext>
                </a:extLst>
              </a:tr>
              <a:tr h="370840">
                <a:tc>
                  <a:txBody>
                    <a:bodyPr/>
                    <a:lstStyle/>
                    <a:p>
                      <a:pPr algn="l"/>
                      <a:r>
                        <a:rPr kumimoji="0" lang="en-IN" sz="1400" kern="1200" dirty="0">
                          <a:solidFill>
                            <a:schemeClr val="tx1"/>
                          </a:solidFill>
                          <a:latin typeface="Arial" panose="020B0604020202020204" pitchFamily="34" charset="0"/>
                          <a:ea typeface="+mn-ea"/>
                          <a:cs typeface="Arial" panose="020B0604020202020204" pitchFamily="34" charset="0"/>
                        </a:rPr>
                        <a:t>VICE</a:t>
                      </a:r>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FRED</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50910327"/>
                  </a:ext>
                </a:extLst>
              </a:tr>
            </a:tbl>
          </a:graphicData>
        </a:graphic>
      </p:graphicFrame>
      <p:sp>
        <p:nvSpPr>
          <p:cNvPr id="12" name="TextBox 11">
            <a:extLst>
              <a:ext uri="{FF2B5EF4-FFF2-40B4-BE49-F238E27FC236}">
                <a16:creationId xmlns:a16="http://schemas.microsoft.com/office/drawing/2014/main" id="{F229B535-49FB-E1D5-DC9D-1858938EAD22}"/>
              </a:ext>
            </a:extLst>
          </p:cNvPr>
          <p:cNvSpPr txBox="1"/>
          <p:nvPr/>
        </p:nvSpPr>
        <p:spPr>
          <a:xfrm>
            <a:off x="3215680" y="4987042"/>
            <a:ext cx="8663812"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Col1,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Col2,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Col3,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Col4,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Col5,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6</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Col6,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7</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Col7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job,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a:t>
            </a:r>
            <a:endParaRPr lang="en-IN" dirty="0">
              <a:latin typeface="Liberation Mono"/>
            </a:endParaRPr>
          </a:p>
        </p:txBody>
      </p:sp>
      <p:sp>
        <p:nvSpPr>
          <p:cNvPr id="14" name="TextBox 13">
            <a:extLst>
              <a:ext uri="{FF2B5EF4-FFF2-40B4-BE49-F238E27FC236}">
                <a16:creationId xmlns:a16="http://schemas.microsoft.com/office/drawing/2014/main" id="{7A365B38-3531-606E-5FEC-9D59D6CED430}"/>
              </a:ext>
            </a:extLst>
          </p:cNvPr>
          <p:cNvSpPr txBox="1"/>
          <p:nvPr/>
        </p:nvSpPr>
        <p:spPr>
          <a:xfrm>
            <a:off x="3234152" y="538330"/>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TextBox 1">
            <a:extLst>
              <a:ext uri="{FF2B5EF4-FFF2-40B4-BE49-F238E27FC236}">
                <a16:creationId xmlns:a16="http://schemas.microsoft.com/office/drawing/2014/main" id="{90D093B7-84C1-F12B-53A7-2195448AF6F7}"/>
              </a:ext>
            </a:extLst>
          </p:cNvPr>
          <p:cNvSpPr txBox="1"/>
          <p:nvPr/>
        </p:nvSpPr>
        <p:spPr>
          <a:xfrm>
            <a:off x="8616280" y="519063"/>
            <a:ext cx="223224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columns</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D53CF0F-2DD4-E78D-A5DE-D7452577834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96749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E5E6F-67BE-0438-8958-2986F477541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1E153B1-1DC5-8BE2-1B00-0D2AC528BD4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EFD6AC0C-EEC9-C1A1-545B-F9248C8692F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14CD4946-697D-EEDF-9720-61E8C43A47A3}"/>
              </a:ext>
            </a:extLst>
          </p:cNvPr>
          <p:cNvGraphicFramePr>
            <a:graphicFrameLocks noGrp="1"/>
          </p:cNvGraphicFramePr>
          <p:nvPr>
            <p:extLst>
              <p:ext uri="{D42A27DB-BD31-4B8C-83A1-F6EECF244321}">
                <p14:modId xmlns:p14="http://schemas.microsoft.com/office/powerpoint/2010/main" val="4145461261"/>
              </p:ext>
            </p:extLst>
          </p:nvPr>
        </p:nvGraphicFramePr>
        <p:xfrm>
          <a:off x="437461" y="509558"/>
          <a:ext cx="3377640" cy="5085080"/>
        </p:xfrm>
        <a:graphic>
          <a:graphicData uri="http://schemas.openxmlformats.org/drawingml/2006/table">
            <a:tbl>
              <a:tblPr firstRow="1" bandRow="1">
                <a:tableStyleId>{5940675A-B579-460E-94D1-54222C63F5DA}</a:tableStyleId>
              </a:tblPr>
              <a:tblGrid>
                <a:gridCol w="843280">
                  <a:extLst>
                    <a:ext uri="{9D8B030D-6E8A-4147-A177-3AD203B41FA5}">
                      <a16:colId xmlns:a16="http://schemas.microsoft.com/office/drawing/2014/main" val="928063234"/>
                    </a:ext>
                  </a:extLst>
                </a:gridCol>
                <a:gridCol w="145436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tblGrid>
              <a:tr h="370840">
                <a:tc>
                  <a:txBody>
                    <a:bodyPr/>
                    <a:lstStyle/>
                    <a:p>
                      <a:pPr algn="ctr"/>
                      <a:r>
                        <a:rPr lang="en-US" dirty="0">
                          <a:latin typeface="Arial" panose="020B0604020202020204" pitchFamily="34" charset="0"/>
                          <a:cs typeface="Arial" panose="020B0604020202020204" pitchFamily="34" charset="0"/>
                        </a:rPr>
                        <a:t>custid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orderdate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 1986-05-01</a:t>
                      </a:r>
                    </a:p>
                  </a:txBody>
                  <a:tcPr anchor="ctr"/>
                </a:tc>
                <a:tc>
                  <a:txBody>
                    <a:bodyPr/>
                    <a:lstStyle/>
                    <a:p>
                      <a:pPr algn="r"/>
                      <a:r>
                        <a:rPr lang="en-IN" sz="1600" dirty="0">
                          <a:latin typeface="Arial" panose="020B0604020202020204" pitchFamily="34" charset="0"/>
                          <a:cs typeface="Arial" panose="020B0604020202020204" pitchFamily="34" charset="0"/>
                        </a:rPr>
                        <a:t>2.40</a:t>
                      </a:r>
                    </a:p>
                  </a:txBody>
                  <a:tcP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1986-06-15</a:t>
                      </a:r>
                    </a:p>
                  </a:txBody>
                  <a:tcPr anchor="ctr"/>
                </a:tc>
                <a:tc>
                  <a:txBody>
                    <a:bodyPr/>
                    <a:lstStyle/>
                    <a:p>
                      <a:pPr algn="r"/>
                      <a:r>
                        <a:rPr lang="en-IN" sz="1600" dirty="0">
                          <a:latin typeface="Arial" panose="020B0604020202020204" pitchFamily="34" charset="0"/>
                          <a:cs typeface="Arial" panose="020B0604020202020204" pitchFamily="34" charset="0"/>
                        </a:rPr>
                        <a:t>698.00</a:t>
                      </a:r>
                    </a:p>
                  </a:txBody>
                  <a:tcPr/>
                </a:tc>
                <a:extLst>
                  <a:ext uri="{0D108BD9-81ED-4DB2-BD59-A6C34878D82A}">
                    <a16:rowId xmlns:a16="http://schemas.microsoft.com/office/drawing/2014/main" val="621527498"/>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8324.00</a:t>
                      </a:r>
                    </a:p>
                  </a:txBody>
                  <a:tcPr/>
                </a:tc>
                <a:extLst>
                  <a:ext uri="{0D108BD9-81ED-4DB2-BD59-A6C34878D82A}">
                    <a16:rowId xmlns:a16="http://schemas.microsoft.com/office/drawing/2014/main" val="489105953"/>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5.60</a:t>
                      </a:r>
                    </a:p>
                  </a:txBody>
                  <a:tcP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1986-07-25</a:t>
                      </a:r>
                    </a:p>
                  </a:txBody>
                  <a:tcPr anchor="ctr"/>
                </a:tc>
                <a:tc>
                  <a:txBody>
                    <a:bodyPr/>
                    <a:lstStyle/>
                    <a:p>
                      <a:pPr algn="r"/>
                      <a:r>
                        <a:rPr lang="en-IN" sz="1600" dirty="0">
                          <a:latin typeface="Arial" panose="020B0604020202020204" pitchFamily="34" charset="0"/>
                          <a:cs typeface="Arial" panose="020B0604020202020204" pitchFamily="34" charset="0"/>
                        </a:rPr>
                        <a:t>35.20</a:t>
                      </a:r>
                    </a:p>
                  </a:txBody>
                  <a:tcP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1986-08-01</a:t>
                      </a:r>
                    </a:p>
                  </a:txBody>
                  <a:tcPr anchor="ctr"/>
                </a:tc>
                <a:tc>
                  <a:txBody>
                    <a:bodyPr/>
                    <a:lstStyle/>
                    <a:p>
                      <a:pPr algn="r"/>
                      <a:r>
                        <a:rPr lang="en-IN" sz="16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3427491726"/>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22114236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30710641"/>
                  </a:ext>
                </a:extLst>
              </a:tr>
            </a:tbl>
          </a:graphicData>
        </a:graphic>
      </p:graphicFrame>
      <p:sp>
        <p:nvSpPr>
          <p:cNvPr id="10" name="TextBox 9">
            <a:extLst>
              <a:ext uri="{FF2B5EF4-FFF2-40B4-BE49-F238E27FC236}">
                <a16:creationId xmlns:a16="http://schemas.microsoft.com/office/drawing/2014/main" id="{D06E6F3F-A2CD-3C58-4164-BD6763F5564B}"/>
              </a:ext>
            </a:extLst>
          </p:cNvPr>
          <p:cNvSpPr txBox="1"/>
          <p:nvPr/>
        </p:nvSpPr>
        <p:spPr>
          <a:xfrm>
            <a:off x="437461" y="44624"/>
            <a:ext cx="1404663" cy="400110"/>
          </a:xfrm>
          <a:prstGeom prst="rect">
            <a:avLst/>
          </a:prstGeom>
          <a:noFill/>
        </p:spPr>
        <p:txBody>
          <a:bodyPr wrap="square">
            <a:spAutoFit/>
          </a:bodyPr>
          <a:lstStyle/>
          <a:p>
            <a:r>
              <a:rPr lang="en-IN" sz="2000" b="1" dirty="0">
                <a:latin typeface="Liberation Mono"/>
              </a:rPr>
              <a:t>Table:- ord</a:t>
            </a:r>
            <a:endParaRPr lang="en-IN" sz="2000" b="1" dirty="0"/>
          </a:p>
        </p:txBody>
      </p:sp>
      <p:graphicFrame>
        <p:nvGraphicFramePr>
          <p:cNvPr id="2" name="Table 2">
            <a:extLst>
              <a:ext uri="{FF2B5EF4-FFF2-40B4-BE49-F238E27FC236}">
                <a16:creationId xmlns:a16="http://schemas.microsoft.com/office/drawing/2014/main" id="{225B391A-BCEC-F7B9-B405-7C1BB8A7F925}"/>
              </a:ext>
            </a:extLst>
          </p:cNvPr>
          <p:cNvGraphicFramePr>
            <a:graphicFrameLocks noGrp="1"/>
          </p:cNvGraphicFramePr>
          <p:nvPr>
            <p:extLst>
              <p:ext uri="{D42A27DB-BD31-4B8C-83A1-F6EECF244321}">
                <p14:modId xmlns:p14="http://schemas.microsoft.com/office/powerpoint/2010/main" val="2785814915"/>
              </p:ext>
            </p:extLst>
          </p:nvPr>
        </p:nvGraphicFramePr>
        <p:xfrm>
          <a:off x="4032098" y="975648"/>
          <a:ext cx="5938995" cy="4409440"/>
        </p:xfrm>
        <a:graphic>
          <a:graphicData uri="http://schemas.openxmlformats.org/drawingml/2006/table">
            <a:tbl>
              <a:tblPr firstRow="1" bandRow="1">
                <a:tableStyleId>{5940675A-B579-460E-94D1-54222C63F5DA}</a:tableStyleId>
              </a:tblPr>
              <a:tblGrid>
                <a:gridCol w="8424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gridCol w="2562195">
                  <a:extLst>
                    <a:ext uri="{9D8B030D-6E8A-4147-A177-3AD203B41FA5}">
                      <a16:colId xmlns:a16="http://schemas.microsoft.com/office/drawing/2014/main" val="3603024244"/>
                    </a:ext>
                  </a:extLst>
                </a:gridCol>
              </a:tblGrid>
              <a:tr h="370840">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custid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orderdate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total</a:t>
                      </a:r>
                    </a:p>
                  </a:txBody>
                  <a:tcPr>
                    <a:solidFill>
                      <a:srgbClr val="92D050"/>
                    </a:solidFill>
                  </a:tcPr>
                </a:tc>
                <a:tc>
                  <a:txBody>
                    <a:bodyPr/>
                    <a:lstStyle/>
                    <a:p>
                      <a:pPr algn="ctr"/>
                      <a:r>
                        <a:rPr kumimoji="0" lang="en-IN" b="1" kern="1200" dirty="0">
                          <a:solidFill>
                            <a:schemeClr val="tx1"/>
                          </a:solidFill>
                          <a:latin typeface="Arial" panose="020B0604020202020204" pitchFamily="34" charset="0"/>
                          <a:ea typeface="+mn-ea"/>
                          <a:cs typeface="Arial" panose="020B0604020202020204" pitchFamily="34" charset="0"/>
                        </a:rPr>
                        <a:t>Order Type</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nchor="ctr"/>
                </a:tc>
                <a:tc>
                  <a:txBody>
                    <a:bodyPr/>
                    <a:lstStyle/>
                    <a:p>
                      <a:pPr marL="0" indent="0" algn="l"/>
                      <a:r>
                        <a:rPr lang="en-IN" sz="1600" dirty="0">
                          <a:solidFill>
                            <a:srgbClr val="B212AA"/>
                          </a:solidFill>
                          <a:latin typeface="Arial" panose="020B0604020202020204" pitchFamily="34" charset="0"/>
                          <a:cs typeface="Arial" panose="020B0604020202020204" pitchFamily="34" charset="0"/>
                        </a:rPr>
                        <a:t>First Order</a:t>
                      </a:r>
                    </a:p>
                  </a:txBody>
                  <a:tcPr anchor="ct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1987-03-15</a:t>
                      </a:r>
                    </a:p>
                  </a:txBody>
                  <a:tcPr anchor="ctr"/>
                </a:tc>
                <a:tc>
                  <a:txBody>
                    <a:bodyPr/>
                    <a:lstStyle/>
                    <a:p>
                      <a:pPr algn="r"/>
                      <a:r>
                        <a:rPr lang="en-IN" sz="1600" dirty="0">
                          <a:latin typeface="Arial" panose="020B0604020202020204" pitchFamily="34" charset="0"/>
                          <a:cs typeface="Arial" panose="020B0604020202020204" pitchFamily="34" charset="0"/>
                        </a:rPr>
                        <a:t>730.00</a:t>
                      </a:r>
                    </a:p>
                  </a:txBody>
                  <a:tcPr anchor="ctr"/>
                </a:tc>
                <a:tc>
                  <a:txBody>
                    <a:bodyPr/>
                    <a:lstStyle/>
                    <a:p>
                      <a:pPr algn="l"/>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 56.00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621527498"/>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489105953"/>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1987-02-15</a:t>
                      </a:r>
                    </a:p>
                  </a:txBody>
                  <a:tcPr anchor="ctr"/>
                </a:tc>
                <a:tc>
                  <a:txBody>
                    <a:bodyPr/>
                    <a:lstStyle/>
                    <a:p>
                      <a:pPr algn="r"/>
                      <a:r>
                        <a:rPr lang="en-IN" sz="1600" dirty="0">
                          <a:latin typeface="Arial" panose="020B0604020202020204" pitchFamily="34" charset="0"/>
                          <a:cs typeface="Arial" panose="020B0604020202020204" pitchFamily="34" charset="0"/>
                        </a:rPr>
                        <a:t>3510.50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103</a:t>
                      </a:r>
                    </a:p>
                  </a:txBody>
                  <a:tcPr anchor="ctr"/>
                </a:tc>
                <a:tc>
                  <a:txBody>
                    <a:bodyPr/>
                    <a:lstStyle/>
                    <a:p>
                      <a:pPr algn="l"/>
                      <a:r>
                        <a:rPr lang="en-IN" sz="1600" dirty="0">
                          <a:latin typeface="Arial" panose="020B0604020202020204" pitchFamily="34" charset="0"/>
                          <a:cs typeface="Arial" panose="020B0604020202020204" pitchFamily="34" charset="0"/>
                        </a:rPr>
                        <a:t>1987-02-03</a:t>
                      </a:r>
                    </a:p>
                  </a:txBody>
                  <a:tcPr anchor="ctr"/>
                </a:tc>
                <a:tc>
                  <a:txBody>
                    <a:bodyPr/>
                    <a:lstStyle/>
                    <a:p>
                      <a:pPr algn="r"/>
                      <a:r>
                        <a:rPr lang="en-IN" sz="1600" dirty="0">
                          <a:latin typeface="Arial" panose="020B0604020202020204" pitchFamily="34" charset="0"/>
                          <a:cs typeface="Arial" panose="020B0604020202020204" pitchFamily="34" charset="0"/>
                        </a:rPr>
                        <a:t>764.00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 5.60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1987-02-23</a:t>
                      </a:r>
                    </a:p>
                  </a:txBody>
                  <a:tcPr anchor="ctr"/>
                </a:tc>
                <a:tc>
                  <a:txBody>
                    <a:bodyPr/>
                    <a:lstStyle/>
                    <a:p>
                      <a:pPr algn="r"/>
                      <a:r>
                        <a:rPr lang="en-IN" sz="1600" dirty="0">
                          <a:latin typeface="Arial" panose="020B0604020202020204" pitchFamily="34" charset="0"/>
                          <a:cs typeface="Arial" panose="020B0604020202020204" pitchFamily="34" charset="0"/>
                        </a:rPr>
                        <a:t>232.87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342749172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21142360"/>
                  </a:ext>
                </a:extLst>
              </a:tr>
            </a:tbl>
          </a:graphicData>
        </a:graphic>
      </p:graphicFrame>
      <p:sp>
        <p:nvSpPr>
          <p:cNvPr id="7" name="TextBox 6">
            <a:extLst>
              <a:ext uri="{FF2B5EF4-FFF2-40B4-BE49-F238E27FC236}">
                <a16:creationId xmlns:a16="http://schemas.microsoft.com/office/drawing/2014/main" id="{9B77BC7B-F7FD-3B6D-1677-93D2A92D0B3F}"/>
              </a:ext>
            </a:extLst>
          </p:cNvPr>
          <p:cNvSpPr txBox="1"/>
          <p:nvPr/>
        </p:nvSpPr>
        <p:spPr>
          <a:xfrm>
            <a:off x="4007768" y="476672"/>
            <a:ext cx="140466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8" name="TextBox 7">
            <a:extLst>
              <a:ext uri="{FF2B5EF4-FFF2-40B4-BE49-F238E27FC236}">
                <a16:creationId xmlns:a16="http://schemas.microsoft.com/office/drawing/2014/main" id="{177565EE-D833-807F-412D-FF42FBAA5D3C}"/>
              </a:ext>
            </a:extLst>
          </p:cNvPr>
          <p:cNvSpPr txBox="1"/>
          <p:nvPr/>
        </p:nvSpPr>
        <p:spPr>
          <a:xfrm>
            <a:off x="243908" y="5613047"/>
            <a:ext cx="11719932"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orderdate, total,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"First Order" </a:t>
            </a:r>
            <a:r>
              <a:rPr lang="en-IN" dirty="0">
                <a:solidFill>
                  <a:srgbClr val="DB7BC9"/>
                </a:solidFill>
                <a:latin typeface="Liberation Mono"/>
              </a:rPr>
              <a:t>WHEN</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"Order Type"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custid, orderdate, total,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i="1" dirty="0">
                <a:solidFill>
                  <a:schemeClr val="bg1">
                    <a:lumMod val="50000"/>
                  </a:schemeClr>
                </a:solidFill>
                <a:latin typeface="Liberation Mono"/>
              </a:rPr>
              <a:t>'First Order'</a:t>
            </a:r>
            <a:r>
              <a:rPr lang="en-IN" dirty="0">
                <a:latin typeface="Liberation Mono"/>
              </a:rPr>
              <a:t>,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dirty="0">
                <a:solidFill>
                  <a:srgbClr val="B212AA"/>
                </a:solidFill>
                <a:latin typeface="Liberation Mono"/>
              </a:rPr>
              <a:t>DESC</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custid, orderdate) t1 </a:t>
            </a:r>
            <a:r>
              <a:rPr lang="en-IN" dirty="0">
                <a:solidFill>
                  <a:srgbClr val="0077AA"/>
                </a:solidFill>
                <a:latin typeface="Liberation Mono"/>
              </a:rPr>
              <a:t>WHERE</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OR</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9" name="TextBox 8">
            <a:extLst>
              <a:ext uri="{FF2B5EF4-FFF2-40B4-BE49-F238E27FC236}">
                <a16:creationId xmlns:a16="http://schemas.microsoft.com/office/drawing/2014/main" id="{F93EA29E-0D38-0F17-4494-C3B9C023A684}"/>
              </a:ext>
            </a:extLst>
          </p:cNvPr>
          <p:cNvSpPr txBox="1"/>
          <p:nvPr/>
        </p:nvSpPr>
        <p:spPr>
          <a:xfrm>
            <a:off x="5303912" y="519063"/>
            <a:ext cx="5226491"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First and Last Order for every customer</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56579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E89CE-A999-3EEF-45E2-02059A3652B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F1F9D7D-F978-C5BB-A2A5-5CBB0FC756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468459FF-804D-A6F7-62F7-152D5998DF61}"/>
              </a:ext>
            </a:extLst>
          </p:cNvPr>
          <p:cNvSpPr txBox="1"/>
          <p:nvPr/>
        </p:nvSpPr>
        <p:spPr>
          <a:xfrm>
            <a:off x="910800" y="5725468"/>
            <a:ext cx="9108608"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c1.cityName, c2.cityName </a:t>
            </a:r>
            <a:r>
              <a:rPr lang="en-US" dirty="0">
                <a:solidFill>
                  <a:srgbClr val="0077AA"/>
                </a:solidFill>
                <a:latin typeface="Liberation Mono"/>
              </a:rPr>
              <a:t>FROM</a:t>
            </a:r>
            <a:r>
              <a:rPr lang="en-US" dirty="0">
                <a:latin typeface="Liberation Mono"/>
              </a:rPr>
              <a:t> city c1, city c2 </a:t>
            </a:r>
            <a:r>
              <a:rPr lang="en-US" dirty="0">
                <a:solidFill>
                  <a:srgbClr val="0077AA"/>
                </a:solidFill>
                <a:latin typeface="Liberation Mono"/>
              </a:rPr>
              <a:t>WHERE</a:t>
            </a:r>
            <a:r>
              <a:rPr lang="en-US" dirty="0">
                <a:latin typeface="Liberation Mono"/>
              </a:rPr>
              <a:t> c1.id </a:t>
            </a:r>
            <a:r>
              <a:rPr lang="en-US" dirty="0">
                <a:solidFill>
                  <a:schemeClr val="accent5">
                    <a:lumMod val="75000"/>
                  </a:schemeClr>
                </a:solidFill>
                <a:latin typeface="Liberation Mono"/>
              </a:rPr>
              <a:t>&lt;</a:t>
            </a:r>
            <a:r>
              <a:rPr lang="en-US" dirty="0">
                <a:latin typeface="Liberation Mono"/>
              </a:rPr>
              <a:t> c2.id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c1.id;</a:t>
            </a:r>
          </a:p>
        </p:txBody>
      </p:sp>
      <p:graphicFrame>
        <p:nvGraphicFramePr>
          <p:cNvPr id="6" name="Table 2">
            <a:extLst>
              <a:ext uri="{FF2B5EF4-FFF2-40B4-BE49-F238E27FC236}">
                <a16:creationId xmlns:a16="http://schemas.microsoft.com/office/drawing/2014/main" id="{6FB91F49-4873-661F-61C6-A86EF445A5CF}"/>
              </a:ext>
            </a:extLst>
          </p:cNvPr>
          <p:cNvGraphicFramePr>
            <a:graphicFrameLocks noGrp="1"/>
          </p:cNvGraphicFramePr>
          <p:nvPr>
            <p:extLst>
              <p:ext uri="{D42A27DB-BD31-4B8C-83A1-F6EECF244321}">
                <p14:modId xmlns:p14="http://schemas.microsoft.com/office/powerpoint/2010/main" val="3535976559"/>
              </p:ext>
            </p:extLst>
          </p:nvPr>
        </p:nvGraphicFramePr>
        <p:xfrm>
          <a:off x="910800" y="1245600"/>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8" name="TextBox 7">
            <a:extLst>
              <a:ext uri="{FF2B5EF4-FFF2-40B4-BE49-F238E27FC236}">
                <a16:creationId xmlns:a16="http://schemas.microsoft.com/office/drawing/2014/main" id="{54FEDA89-22CB-B0D0-5524-99379B3777E5}"/>
              </a:ext>
            </a:extLst>
          </p:cNvPr>
          <p:cNvSpPr txBox="1"/>
          <p:nvPr/>
        </p:nvSpPr>
        <p:spPr>
          <a:xfrm>
            <a:off x="3317289" y="21727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0" name="TextBox 9">
            <a:extLst>
              <a:ext uri="{FF2B5EF4-FFF2-40B4-BE49-F238E27FC236}">
                <a16:creationId xmlns:a16="http://schemas.microsoft.com/office/drawing/2014/main" id="{F64BAE01-E903-2DB4-E561-17C5A92DC58E}"/>
              </a:ext>
            </a:extLst>
          </p:cNvPr>
          <p:cNvSpPr txBox="1"/>
          <p:nvPr/>
        </p:nvSpPr>
        <p:spPr>
          <a:xfrm>
            <a:off x="910800" y="763200"/>
            <a:ext cx="2160109" cy="400110"/>
          </a:xfrm>
          <a:prstGeom prst="rect">
            <a:avLst/>
          </a:prstGeom>
          <a:noFill/>
        </p:spPr>
        <p:txBody>
          <a:bodyPr wrap="square">
            <a:spAutoFit/>
          </a:bodyPr>
          <a:lstStyle/>
          <a:p>
            <a:r>
              <a:rPr lang="en-IN" sz="2000" b="1" dirty="0">
                <a:latin typeface="Liberation Mono"/>
              </a:rPr>
              <a:t>Table:- city</a:t>
            </a:r>
            <a:endParaRPr lang="en-IN" sz="2000" b="1" dirty="0"/>
          </a:p>
        </p:txBody>
      </p:sp>
      <p:sp>
        <p:nvSpPr>
          <p:cNvPr id="11" name="TextBox 10">
            <a:extLst>
              <a:ext uri="{FF2B5EF4-FFF2-40B4-BE49-F238E27FC236}">
                <a16:creationId xmlns:a16="http://schemas.microsoft.com/office/drawing/2014/main" id="{F6858694-20BE-24B2-F2EA-52F520286060}"/>
              </a:ext>
            </a:extLst>
          </p:cNvPr>
          <p:cNvSpPr txBox="1"/>
          <p:nvPr/>
        </p:nvSpPr>
        <p:spPr>
          <a:xfrm>
            <a:off x="5029225" y="763200"/>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8A7DEDFC-65AF-E833-6F66-F7CE3B17CE3C}"/>
              </a:ext>
            </a:extLst>
          </p:cNvPr>
          <p:cNvGraphicFramePr>
            <a:graphicFrameLocks noGrp="1"/>
          </p:cNvGraphicFramePr>
          <p:nvPr>
            <p:extLst>
              <p:ext uri="{D42A27DB-BD31-4B8C-83A1-F6EECF244321}">
                <p14:modId xmlns:p14="http://schemas.microsoft.com/office/powerpoint/2010/main" val="1189358505"/>
              </p:ext>
            </p:extLst>
          </p:nvPr>
        </p:nvGraphicFramePr>
        <p:xfrm>
          <a:off x="5051960" y="1245600"/>
          <a:ext cx="4320000" cy="407924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093812827"/>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763608398"/>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1150910327"/>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230739"/>
                  </a:ext>
                </a:extLst>
              </a:tr>
              <a:tr h="370840">
                <a:tc>
                  <a:txBody>
                    <a:bodyPr/>
                    <a:lstStyle/>
                    <a:p>
                      <a:pPr algn="l"/>
                      <a:r>
                        <a:rPr lang="en-IN" dirty="0">
                          <a:latin typeface="Arial" panose="020B0604020202020204" pitchFamily="34" charset="0"/>
                          <a:cs typeface="Arial" panose="020B0604020202020204" pitchFamily="34" charset="0"/>
                        </a:rPr>
                        <a:t>Rajkot</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0956561"/>
                  </a:ext>
                </a:extLst>
              </a:tr>
            </a:tbl>
          </a:graphicData>
        </a:graphic>
      </p:graphicFrame>
      <p:sp>
        <p:nvSpPr>
          <p:cNvPr id="5" name="TextBox 4">
            <a:extLst>
              <a:ext uri="{FF2B5EF4-FFF2-40B4-BE49-F238E27FC236}">
                <a16:creationId xmlns:a16="http://schemas.microsoft.com/office/drawing/2014/main" id="{57BDB2FF-49E0-CC7A-3862-C6DB04F450AB}"/>
              </a:ext>
            </a:extLst>
          </p:cNvPr>
          <p:cNvSpPr txBox="1"/>
          <p:nvPr/>
        </p:nvSpPr>
        <p:spPr>
          <a:xfrm>
            <a:off x="6761190" y="519063"/>
            <a:ext cx="40873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 city with all other city</a:t>
            </a:r>
            <a:endParaRPr lang="en-IN" sz="2200" dirty="0">
              <a:solidFill>
                <a:srgbClr val="C00000"/>
              </a:solidFill>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8DD1A3CD-5ABE-AC92-CCF3-E1F50BEDCA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5789347A-97CA-3410-6E8B-7BE10842D5D7}"/>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962327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A4E8F-355D-F430-218E-D13269139E77}"/>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3FC59D3D-AD57-838C-FAE1-FA667E544C01}"/>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694B9725-E2E0-B099-F05C-85C1831B7800}"/>
              </a:ext>
            </a:extLst>
          </p:cNvPr>
          <p:cNvSpPr txBox="1"/>
          <p:nvPr/>
        </p:nvSpPr>
        <p:spPr>
          <a:xfrm>
            <a:off x="263352" y="472688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de-DE" dirty="0">
                <a:latin typeface="Liberation Mono"/>
              </a:rPr>
              <a:t>T1.Team_Names, T2.Team_Names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T1,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T2 </a:t>
            </a:r>
            <a:r>
              <a:rPr lang="en-IN" dirty="0">
                <a:solidFill>
                  <a:srgbClr val="0077AA"/>
                </a:solidFill>
                <a:latin typeface="Liberation Mono"/>
              </a:rPr>
              <a:t>WHERE</a:t>
            </a:r>
            <a:r>
              <a:rPr lang="en-IN" dirty="0">
                <a:latin typeface="Liberation Mono"/>
              </a:rPr>
              <a:t> T1.</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T2.</a:t>
            </a:r>
            <a:r>
              <a:rPr lang="en-IN" i="1" dirty="0">
                <a:solidFill>
                  <a:schemeClr val="bg1">
                    <a:lumMod val="50000"/>
                  </a:schemeClr>
                </a:solidFill>
                <a:latin typeface="Liberation Mono"/>
              </a:rPr>
              <a:t>R1</a:t>
            </a:r>
            <a:r>
              <a:rPr lang="en-IN" dirty="0">
                <a:latin typeface="Liberation Mono"/>
              </a:rPr>
              <a:t>;</a:t>
            </a:r>
          </a:p>
        </p:txBody>
      </p:sp>
      <p:graphicFrame>
        <p:nvGraphicFramePr>
          <p:cNvPr id="6" name="Table 2">
            <a:extLst>
              <a:ext uri="{FF2B5EF4-FFF2-40B4-BE49-F238E27FC236}">
                <a16:creationId xmlns:a16="http://schemas.microsoft.com/office/drawing/2014/main" id="{2D393E57-C933-EC85-EE2C-62DC48C556E0}"/>
              </a:ext>
            </a:extLst>
          </p:cNvPr>
          <p:cNvGraphicFramePr>
            <a:graphicFrameLocks noGrp="1"/>
          </p:cNvGraphicFramePr>
          <p:nvPr>
            <p:extLst>
              <p:ext uri="{D42A27DB-BD31-4B8C-83A1-F6EECF244321}">
                <p14:modId xmlns:p14="http://schemas.microsoft.com/office/powerpoint/2010/main" val="3023610761"/>
              </p:ext>
            </p:extLst>
          </p:nvPr>
        </p:nvGraphicFramePr>
        <p:xfrm>
          <a:off x="910800" y="1752901"/>
          <a:ext cx="2088079" cy="1854200"/>
        </p:xfrm>
        <a:graphic>
          <a:graphicData uri="http://schemas.openxmlformats.org/drawingml/2006/table">
            <a:tbl>
              <a:tblPr firstRow="1" bandRow="1">
                <a:tableStyleId>{5940675A-B579-460E-94D1-54222C63F5DA}</a:tableStyleId>
              </a:tblPr>
              <a:tblGrid>
                <a:gridCol w="2088079">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Team_Names</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621527498"/>
                  </a:ext>
                </a:extLst>
              </a:tr>
            </a:tbl>
          </a:graphicData>
        </a:graphic>
      </p:graphicFrame>
      <p:sp>
        <p:nvSpPr>
          <p:cNvPr id="10" name="TextBox 9">
            <a:extLst>
              <a:ext uri="{FF2B5EF4-FFF2-40B4-BE49-F238E27FC236}">
                <a16:creationId xmlns:a16="http://schemas.microsoft.com/office/drawing/2014/main" id="{0B18936F-B3DB-9277-5DA7-2C7E6F3407B8}"/>
              </a:ext>
            </a:extLst>
          </p:cNvPr>
          <p:cNvSpPr txBox="1"/>
          <p:nvPr/>
        </p:nvSpPr>
        <p:spPr>
          <a:xfrm>
            <a:off x="910800" y="1270501"/>
            <a:ext cx="2592160" cy="400110"/>
          </a:xfrm>
          <a:prstGeom prst="rect">
            <a:avLst/>
          </a:prstGeom>
          <a:noFill/>
        </p:spPr>
        <p:txBody>
          <a:bodyPr wrap="square">
            <a:spAutoFit/>
          </a:bodyPr>
          <a:lstStyle/>
          <a:p>
            <a:r>
              <a:rPr lang="en-IN" sz="2000" b="1" dirty="0">
                <a:latin typeface="Liberation Mono"/>
              </a:rPr>
              <a:t>Table:- ipl</a:t>
            </a:r>
            <a:endParaRPr lang="en-IN" sz="2000" b="1" dirty="0"/>
          </a:p>
        </p:txBody>
      </p:sp>
      <p:sp>
        <p:nvSpPr>
          <p:cNvPr id="11" name="TextBox 10">
            <a:extLst>
              <a:ext uri="{FF2B5EF4-FFF2-40B4-BE49-F238E27FC236}">
                <a16:creationId xmlns:a16="http://schemas.microsoft.com/office/drawing/2014/main" id="{E99FA57D-1FBF-1984-6CF2-96DB7645C150}"/>
              </a:ext>
            </a:extLst>
          </p:cNvPr>
          <p:cNvSpPr txBox="1"/>
          <p:nvPr/>
        </p:nvSpPr>
        <p:spPr>
          <a:xfrm>
            <a:off x="5029200" y="1270501"/>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B9575BF7-F556-5924-168D-A96648C9C1BA}"/>
              </a:ext>
            </a:extLst>
          </p:cNvPr>
          <p:cNvGraphicFramePr>
            <a:graphicFrameLocks noGrp="1"/>
          </p:cNvGraphicFramePr>
          <p:nvPr>
            <p:extLst>
              <p:ext uri="{D42A27DB-BD31-4B8C-83A1-F6EECF244321}">
                <p14:modId xmlns:p14="http://schemas.microsoft.com/office/powerpoint/2010/main" val="1313298496"/>
              </p:ext>
            </p:extLst>
          </p:nvPr>
        </p:nvGraphicFramePr>
        <p:xfrm>
          <a:off x="5050800" y="1752901"/>
          <a:ext cx="4320000" cy="259588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GT</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772311608"/>
                  </a:ext>
                </a:extLst>
              </a:tr>
            </a:tbl>
          </a:graphicData>
        </a:graphic>
      </p:graphicFrame>
      <p:sp>
        <p:nvSpPr>
          <p:cNvPr id="2" name="TextBox 1">
            <a:extLst>
              <a:ext uri="{FF2B5EF4-FFF2-40B4-BE49-F238E27FC236}">
                <a16:creationId xmlns:a16="http://schemas.microsoft.com/office/drawing/2014/main" id="{35038171-524D-744E-3DAE-86ED29914E17}"/>
              </a:ext>
            </a:extLst>
          </p:cNvPr>
          <p:cNvSpPr txBox="1"/>
          <p:nvPr/>
        </p:nvSpPr>
        <p:spPr>
          <a:xfrm>
            <a:off x="3317289" y="247836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TextBox 4">
            <a:extLst>
              <a:ext uri="{FF2B5EF4-FFF2-40B4-BE49-F238E27FC236}">
                <a16:creationId xmlns:a16="http://schemas.microsoft.com/office/drawing/2014/main" id="{7D69A2C1-88FA-8DBE-84F8-E97A9D42F396}"/>
              </a:ext>
            </a:extLst>
          </p:cNvPr>
          <p:cNvSpPr txBox="1"/>
          <p:nvPr/>
        </p:nvSpPr>
        <p:spPr>
          <a:xfrm>
            <a:off x="5465046" y="519063"/>
            <a:ext cx="538348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Combined teams with all remaining teams</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26C6856-1223-13B0-3622-7EAA78C1BB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03DA8A8E-3F7D-BD0B-9F56-985CBA408A40}"/>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1881264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C1364-928E-BCD3-6B67-9500DC98966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8F1679E-A08A-ADFF-5744-3EED3BE129A9}"/>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88E822F0-8BD3-565F-957B-93BD352C5F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8C8DEBA0-C3AD-A748-4866-E0E6021A54DC}"/>
              </a:ext>
            </a:extLst>
          </p:cNvPr>
          <p:cNvSpPr txBox="1"/>
          <p:nvPr/>
        </p:nvSpPr>
        <p:spPr>
          <a:xfrm>
            <a:off x="263352" y="5951021"/>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a:t>
            </a:r>
            <a:r>
              <a:rPr lang="en-US" i="1" dirty="0">
                <a:solidFill>
                  <a:schemeClr val="bg1">
                    <a:lumMod val="50000"/>
                  </a:schemeClr>
                </a:solidFill>
                <a:latin typeface="Liberation Mono"/>
              </a:rPr>
              <a:t>TotalPrice</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customerid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ItemID) </a:t>
            </a:r>
            <a:r>
              <a:rPr lang="en-US" i="1" dirty="0">
                <a:solidFill>
                  <a:schemeClr val="bg1">
                    <a:lumMod val="50000"/>
                  </a:schemeClr>
                </a:solidFill>
                <a:latin typeface="Liberation Mono"/>
              </a:rPr>
              <a:t>'Running 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ItemID, itemname, quantity, price, quantity </a:t>
            </a:r>
            <a:r>
              <a:rPr lang="en-US" dirty="0">
                <a:solidFill>
                  <a:schemeClr val="accent5">
                    <a:lumMod val="75000"/>
                  </a:schemeClr>
                </a:solidFill>
                <a:latin typeface="Liberation Mono"/>
              </a:rPr>
              <a:t>*</a:t>
            </a:r>
            <a:r>
              <a:rPr lang="en-US" dirty="0">
                <a:latin typeface="Liberation Mono"/>
              </a:rPr>
              <a:t> price </a:t>
            </a:r>
            <a:r>
              <a:rPr lang="en-US" i="1" dirty="0">
                <a:solidFill>
                  <a:schemeClr val="bg1">
                    <a:lumMod val="50000"/>
                  </a:schemeClr>
                </a:solidFill>
                <a:latin typeface="Liberation Mono"/>
              </a:rPr>
              <a:t>TotalPrice</a:t>
            </a:r>
            <a:r>
              <a:rPr lang="en-US" dirty="0">
                <a:latin typeface="Liberation Mono"/>
              </a:rPr>
              <a:t> </a:t>
            </a:r>
            <a:r>
              <a:rPr lang="en-US" dirty="0">
                <a:solidFill>
                  <a:srgbClr val="0077AA"/>
                </a:solidFill>
                <a:latin typeface="Liberation Mono"/>
              </a:rPr>
              <a:t>FROM</a:t>
            </a:r>
            <a:r>
              <a:rPr lang="en-US" dirty="0">
                <a:latin typeface="Liberation Mono"/>
              </a:rPr>
              <a:t> order1) t1;</a:t>
            </a:r>
          </a:p>
        </p:txBody>
      </p:sp>
      <p:sp>
        <p:nvSpPr>
          <p:cNvPr id="9" name="TextBox 8">
            <a:extLst>
              <a:ext uri="{FF2B5EF4-FFF2-40B4-BE49-F238E27FC236}">
                <a16:creationId xmlns:a16="http://schemas.microsoft.com/office/drawing/2014/main" id="{86002FF1-CC44-9BC4-BCF8-403C3A61945E}"/>
              </a:ext>
            </a:extLst>
          </p:cNvPr>
          <p:cNvSpPr txBox="1"/>
          <p:nvPr/>
        </p:nvSpPr>
        <p:spPr>
          <a:xfrm>
            <a:off x="6744072" y="2562447"/>
            <a:ext cx="2160109"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93F61759-778B-66D5-4AE5-F40B9859932B}"/>
              </a:ext>
            </a:extLst>
          </p:cNvPr>
          <p:cNvGraphicFramePr>
            <a:graphicFrameLocks noGrp="1"/>
          </p:cNvGraphicFramePr>
          <p:nvPr>
            <p:extLst>
              <p:ext uri="{D42A27DB-BD31-4B8C-83A1-F6EECF244321}">
                <p14:modId xmlns:p14="http://schemas.microsoft.com/office/powerpoint/2010/main" val="1434485138"/>
              </p:ext>
            </p:extLst>
          </p:nvPr>
        </p:nvGraphicFramePr>
        <p:xfrm>
          <a:off x="263353" y="3137376"/>
          <a:ext cx="11017223" cy="2595880"/>
        </p:xfrm>
        <a:graphic>
          <a:graphicData uri="http://schemas.openxmlformats.org/drawingml/2006/table">
            <a:tbl>
              <a:tblPr firstRow="1" bandRow="1">
                <a:tableStyleId>{5940675A-B579-460E-94D1-54222C63F5DA}</a:tableStyleId>
              </a:tblPr>
              <a:tblGrid>
                <a:gridCol w="1656184">
                  <a:extLst>
                    <a:ext uri="{9D8B030D-6E8A-4147-A177-3AD203B41FA5}">
                      <a16:colId xmlns:a16="http://schemas.microsoft.com/office/drawing/2014/main" val="928063234"/>
                    </a:ext>
                  </a:extLst>
                </a:gridCol>
                <a:gridCol w="1536820">
                  <a:extLst>
                    <a:ext uri="{9D8B030D-6E8A-4147-A177-3AD203B41FA5}">
                      <a16:colId xmlns:a16="http://schemas.microsoft.com/office/drawing/2014/main" val="790049539"/>
                    </a:ext>
                  </a:extLst>
                </a:gridCol>
                <a:gridCol w="1559524">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974067127"/>
                    </a:ext>
                  </a:extLst>
                </a:gridCol>
                <a:gridCol w="936104">
                  <a:extLst>
                    <a:ext uri="{9D8B030D-6E8A-4147-A177-3AD203B41FA5}">
                      <a16:colId xmlns:a16="http://schemas.microsoft.com/office/drawing/2014/main" val="793258763"/>
                    </a:ext>
                  </a:extLst>
                </a:gridCol>
                <a:gridCol w="1609590">
                  <a:extLst>
                    <a:ext uri="{9D8B030D-6E8A-4147-A177-3AD203B41FA5}">
                      <a16:colId xmlns:a16="http://schemas.microsoft.com/office/drawing/2014/main" val="3489551834"/>
                    </a:ext>
                  </a:extLst>
                </a:gridCol>
                <a:gridCol w="2206833">
                  <a:extLst>
                    <a:ext uri="{9D8B030D-6E8A-4147-A177-3AD203B41FA5}">
                      <a16:colId xmlns:a16="http://schemas.microsoft.com/office/drawing/2014/main" val="2716412879"/>
                    </a:ext>
                  </a:extLst>
                </a:gridCol>
              </a:tblGrid>
              <a:tr h="370840">
                <a:tc>
                  <a:txBody>
                    <a:bodyPr/>
                    <a:lstStyle/>
                    <a:p>
                      <a:pPr algn="ctr"/>
                      <a:r>
                        <a:rPr lang="en-US" dirty="0">
                          <a:latin typeface="Arial" panose="020B0604020202020204" pitchFamily="34" charset="0"/>
                          <a:cs typeface="Arial" panose="020B0604020202020204" pitchFamily="34" charset="0"/>
                        </a:rPr>
                        <a:t>CustomerId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Total 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Running 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pPr algn="r"/>
                      <a:r>
                        <a:rPr lang="en-IN" dirty="0">
                          <a:latin typeface="Arial" panose="020B0604020202020204" pitchFamily="34" charset="0"/>
                          <a:cs typeface="Arial" panose="020B0604020202020204" pitchFamily="34" charset="0"/>
                        </a:rPr>
                        <a:t>35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pPr algn="r"/>
                      <a:r>
                        <a:rPr lang="en-IN" dirty="0">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125</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3</a:t>
                      </a:r>
                    </a:p>
                  </a:txBody>
                  <a:tcPr/>
                </a:tc>
                <a:tc>
                  <a:txBody>
                    <a:bodyPr/>
                    <a:lstStyle/>
                    <a:p>
                      <a:r>
                        <a:rPr lang="en-IN" dirty="0">
                          <a:latin typeface="Arial" panose="020B0604020202020204" pitchFamily="34" charset="0"/>
                          <a:cs typeface="Arial" panose="020B0604020202020204" pitchFamily="34" charset="0"/>
                        </a:rPr>
                        <a:t>Soap</a:t>
                      </a:r>
                    </a:p>
                  </a:txBody>
                  <a:tcPr/>
                </a:tc>
                <a:tc>
                  <a:txBody>
                    <a:bodyPr/>
                    <a:lstStyle/>
                    <a:p>
                      <a:pPr algn="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217</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pPr algn="r"/>
                      <a:r>
                        <a:rPr lang="en-IN" dirty="0">
                          <a:latin typeface="Arial" panose="020B0604020202020204" pitchFamily="34" charset="0"/>
                          <a:cs typeface="Arial" panose="020B0604020202020204" pitchFamily="34" charset="0"/>
                        </a:rPr>
                        <a:t>15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247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Chocolate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10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extLst>
                  <a:ext uri="{0D108BD9-81ED-4DB2-BD59-A6C34878D82A}">
                    <a16:rowId xmlns:a16="http://schemas.microsoft.com/office/drawing/2014/main" val="2293820974"/>
                  </a:ext>
                </a:extLst>
              </a:tr>
              <a:tr h="370840">
                <a:tc>
                  <a:txBody>
                    <a:bodyPr/>
                    <a:lstStyle/>
                    <a:p>
                      <a:pPr algn="ctr"/>
                      <a:r>
                        <a:rPr lang="en-IN" dirty="0">
                          <a:latin typeface="Arial" panose="020B0604020202020204" pitchFamily="34" charset="0"/>
                          <a:cs typeface="Arial" panose="020B0604020202020204" pitchFamily="34" charset="0"/>
                        </a:rPr>
                        <a:t>3</a:t>
                      </a:r>
                    </a:p>
                  </a:txBody>
                  <a:tcPr/>
                </a:tc>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Coke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970</a:t>
                      </a:r>
                    </a:p>
                  </a:txBody>
                  <a:tcPr/>
                </a:tc>
                <a:extLst>
                  <a:ext uri="{0D108BD9-81ED-4DB2-BD59-A6C34878D82A}">
                    <a16:rowId xmlns:a16="http://schemas.microsoft.com/office/drawing/2014/main" val="594187080"/>
                  </a:ext>
                </a:extLst>
              </a:tr>
            </a:tbl>
          </a:graphicData>
        </a:graphic>
      </p:graphicFrame>
      <p:sp>
        <p:nvSpPr>
          <p:cNvPr id="2" name="TextBox 1">
            <a:extLst>
              <a:ext uri="{FF2B5EF4-FFF2-40B4-BE49-F238E27FC236}">
                <a16:creationId xmlns:a16="http://schemas.microsoft.com/office/drawing/2014/main" id="{884A396D-AD12-74EC-C2D0-22B174AE3BFC}"/>
              </a:ext>
            </a:extLst>
          </p:cNvPr>
          <p:cNvSpPr txBox="1"/>
          <p:nvPr/>
        </p:nvSpPr>
        <p:spPr>
          <a:xfrm>
            <a:off x="323207" y="44624"/>
            <a:ext cx="2592288" cy="400110"/>
          </a:xfrm>
          <a:prstGeom prst="rect">
            <a:avLst/>
          </a:prstGeom>
          <a:noFill/>
        </p:spPr>
        <p:txBody>
          <a:bodyPr wrap="square">
            <a:spAutoFit/>
          </a:bodyPr>
          <a:lstStyle/>
          <a:p>
            <a:r>
              <a:rPr lang="en-IN" sz="2000" b="1" dirty="0">
                <a:latin typeface="Liberation Mono"/>
              </a:rPr>
              <a:t>Input Table:- Order1</a:t>
            </a:r>
            <a:endParaRPr lang="en-IN" sz="2000" b="1" dirty="0"/>
          </a:p>
        </p:txBody>
      </p:sp>
      <p:sp>
        <p:nvSpPr>
          <p:cNvPr id="6" name="TextBox 5">
            <a:extLst>
              <a:ext uri="{FF2B5EF4-FFF2-40B4-BE49-F238E27FC236}">
                <a16:creationId xmlns:a16="http://schemas.microsoft.com/office/drawing/2014/main" id="{1B20CCC0-2857-E3A9-D29C-E0CB5EBFAF66}"/>
              </a:ext>
            </a:extLst>
          </p:cNvPr>
          <p:cNvSpPr txBox="1"/>
          <p:nvPr/>
        </p:nvSpPr>
        <p:spPr>
          <a:xfrm>
            <a:off x="8760298" y="519063"/>
            <a:ext cx="192709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Running Total</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8" name="Table 2">
            <a:extLst>
              <a:ext uri="{FF2B5EF4-FFF2-40B4-BE49-F238E27FC236}">
                <a16:creationId xmlns:a16="http://schemas.microsoft.com/office/drawing/2014/main" id="{F03187B3-3387-EBFA-8DA9-A2F19F6CC13F}"/>
              </a:ext>
            </a:extLst>
          </p:cNvPr>
          <p:cNvGraphicFramePr>
            <a:graphicFrameLocks noGrp="1"/>
          </p:cNvGraphicFramePr>
          <p:nvPr>
            <p:extLst>
              <p:ext uri="{D42A27DB-BD31-4B8C-83A1-F6EECF244321}">
                <p14:modId xmlns:p14="http://schemas.microsoft.com/office/powerpoint/2010/main" val="3206993529"/>
              </p:ext>
            </p:extLst>
          </p:nvPr>
        </p:nvGraphicFramePr>
        <p:xfrm>
          <a:off x="263352" y="548680"/>
          <a:ext cx="5532463" cy="2489200"/>
        </p:xfrm>
        <a:graphic>
          <a:graphicData uri="http://schemas.openxmlformats.org/drawingml/2006/table">
            <a:tbl>
              <a:tblPr firstRow="1" bandRow="1">
                <a:tableStyleId>{5940675A-B579-460E-94D1-54222C63F5DA}</a:tableStyleId>
              </a:tblPr>
              <a:tblGrid>
                <a:gridCol w="1428007">
                  <a:extLst>
                    <a:ext uri="{9D8B030D-6E8A-4147-A177-3AD203B41FA5}">
                      <a16:colId xmlns:a16="http://schemas.microsoft.com/office/drawing/2014/main" val="928063234"/>
                    </a:ext>
                  </a:extLst>
                </a:gridCol>
                <a:gridCol w="864096">
                  <a:extLst>
                    <a:ext uri="{9D8B030D-6E8A-4147-A177-3AD203B41FA5}">
                      <a16:colId xmlns:a16="http://schemas.microsoft.com/office/drawing/2014/main" val="790049539"/>
                    </a:ext>
                  </a:extLst>
                </a:gridCol>
                <a:gridCol w="1368152">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974067127"/>
                    </a:ext>
                  </a:extLst>
                </a:gridCol>
                <a:gridCol w="720080">
                  <a:extLst>
                    <a:ext uri="{9D8B030D-6E8A-4147-A177-3AD203B41FA5}">
                      <a16:colId xmlns:a16="http://schemas.microsoft.com/office/drawing/2014/main" val="793258763"/>
                    </a:ext>
                  </a:extLst>
                </a:gridCol>
              </a:tblGrid>
              <a:tr h="370840">
                <a:tc>
                  <a:txBody>
                    <a:bodyPr/>
                    <a:lstStyle/>
                    <a:p>
                      <a:pPr algn="ctr"/>
                      <a:r>
                        <a:rPr lang="en-US" sz="1800" dirty="0">
                          <a:latin typeface="Arial" panose="020B0604020202020204" pitchFamily="34" charset="0"/>
                          <a:cs typeface="Arial" panose="020B0604020202020204" pitchFamily="34" charset="0"/>
                        </a:rPr>
                        <a:t>CustomerId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ItemName</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r>
                        <a:rPr lang="en-IN" sz="1800" dirty="0">
                          <a:latin typeface="Arial" panose="020B0604020202020204" pitchFamily="34" charset="0"/>
                          <a:cs typeface="Arial" panose="020B0604020202020204" pitchFamily="34" charset="0"/>
                        </a:rPr>
                        <a:t>Butter</a:t>
                      </a:r>
                    </a:p>
                  </a:txBody>
                  <a:tcPr/>
                </a:tc>
                <a:tc>
                  <a:txBody>
                    <a:bodyPr/>
                    <a:lstStyle/>
                    <a:p>
                      <a:pPr algn="r"/>
                      <a:r>
                        <a:rPr lang="en-IN" sz="1800" dirty="0">
                          <a:latin typeface="Arial" panose="020B0604020202020204" pitchFamily="34" charset="0"/>
                          <a:cs typeface="Arial" panose="020B0604020202020204" pitchFamily="34" charset="0"/>
                        </a:rPr>
                        <a:t>3</a:t>
                      </a:r>
                    </a:p>
                  </a:txBody>
                  <a:tcPr/>
                </a:tc>
                <a:tc>
                  <a:txBody>
                    <a:bodyPr/>
                    <a:lstStyle/>
                    <a:p>
                      <a:pPr algn="r"/>
                      <a:r>
                        <a:rPr lang="en-IN" sz="1800" dirty="0">
                          <a:latin typeface="Arial" panose="020B0604020202020204" pitchFamily="34" charset="0"/>
                          <a:cs typeface="Arial" panose="020B0604020202020204" pitchFamily="34" charset="0"/>
                        </a:rPr>
                        <a:t>35</a:t>
                      </a:r>
                    </a:p>
                  </a:txBody>
                  <a:tcPr/>
                </a:tc>
                <a:extLst>
                  <a:ext uri="{0D108BD9-81ED-4DB2-BD59-A6C34878D82A}">
                    <a16:rowId xmlns:a16="http://schemas.microsoft.com/office/drawing/2014/main" val="38585053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2</a:t>
                      </a:r>
                    </a:p>
                  </a:txBody>
                  <a:tcPr/>
                </a:tc>
                <a:tc>
                  <a:txBody>
                    <a:bodyPr/>
                    <a:lstStyle/>
                    <a:p>
                      <a:r>
                        <a:rPr lang="en-IN" sz="1800" dirty="0">
                          <a:latin typeface="Arial" panose="020B0604020202020204" pitchFamily="34" charset="0"/>
                          <a:cs typeface="Arial" panose="020B0604020202020204" pitchFamily="34" charset="0"/>
                        </a:rPr>
                        <a:t>Bread</a:t>
                      </a:r>
                    </a:p>
                  </a:txBody>
                  <a:tcPr/>
                </a:tc>
                <a:tc>
                  <a:txBody>
                    <a:bodyPr/>
                    <a:lstStyle/>
                    <a:p>
                      <a:pPr algn="r"/>
                      <a:r>
                        <a:rPr lang="en-IN" sz="1800" dirty="0">
                          <a:latin typeface="Arial" panose="020B0604020202020204" pitchFamily="34" charset="0"/>
                          <a:cs typeface="Arial" panose="020B0604020202020204" pitchFamily="34" charset="0"/>
                        </a:rPr>
                        <a:t>1</a:t>
                      </a:r>
                    </a:p>
                  </a:txBody>
                  <a:tcPr/>
                </a:tc>
                <a:tc>
                  <a:txBody>
                    <a:bodyPr/>
                    <a:lstStyle/>
                    <a:p>
                      <a:pPr algn="r"/>
                      <a:r>
                        <a:rPr lang="en-IN" sz="1800" dirty="0">
                          <a:latin typeface="Arial" panose="020B0604020202020204" pitchFamily="34" charset="0"/>
                          <a:cs typeface="Arial" panose="020B0604020202020204" pitchFamily="34" charset="0"/>
                        </a:rPr>
                        <a:t>20</a:t>
                      </a:r>
                    </a:p>
                  </a:txBody>
                  <a:tcPr/>
                </a:tc>
                <a:extLst>
                  <a:ext uri="{0D108BD9-81ED-4DB2-BD59-A6C34878D82A}">
                    <a16:rowId xmlns:a16="http://schemas.microsoft.com/office/drawing/2014/main" val="77675717"/>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3</a:t>
                      </a:r>
                    </a:p>
                  </a:txBody>
                  <a:tcPr/>
                </a:tc>
                <a:tc>
                  <a:txBody>
                    <a:bodyPr/>
                    <a:lstStyle/>
                    <a:p>
                      <a:r>
                        <a:rPr lang="en-IN" sz="1800" dirty="0">
                          <a:latin typeface="Arial" panose="020B0604020202020204" pitchFamily="34" charset="0"/>
                          <a:cs typeface="Arial" panose="020B0604020202020204" pitchFamily="34" charset="0"/>
                        </a:rPr>
                        <a:t>Soap</a:t>
                      </a:r>
                    </a:p>
                  </a:txBody>
                  <a:tcPr/>
                </a:tc>
                <a:tc>
                  <a:txBody>
                    <a:bodyPr/>
                    <a:lstStyle/>
                    <a:p>
                      <a:pPr algn="r"/>
                      <a:r>
                        <a:rPr lang="en-IN" sz="1800" dirty="0">
                          <a:latin typeface="Arial" panose="020B0604020202020204" pitchFamily="34" charset="0"/>
                          <a:cs typeface="Arial" panose="020B0604020202020204" pitchFamily="34" charset="0"/>
                        </a:rPr>
                        <a:t>4</a:t>
                      </a:r>
                    </a:p>
                  </a:txBody>
                  <a:tcPr/>
                </a:tc>
                <a:tc>
                  <a:txBody>
                    <a:bodyPr/>
                    <a:lstStyle/>
                    <a:p>
                      <a:pPr algn="r"/>
                      <a:r>
                        <a:rPr lang="en-IN" sz="1800" dirty="0">
                          <a:latin typeface="Arial" panose="020B0604020202020204" pitchFamily="34" charset="0"/>
                          <a:cs typeface="Arial" panose="020B0604020202020204" pitchFamily="34" charset="0"/>
                        </a:rPr>
                        <a:t>23</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571147089"/>
                  </a:ext>
                </a:extLst>
              </a:tr>
            </a:tbl>
          </a:graphicData>
        </a:graphic>
      </p:graphicFrame>
      <p:sp>
        <p:nvSpPr>
          <p:cNvPr id="10" name="TextBox 9">
            <a:extLst>
              <a:ext uri="{FF2B5EF4-FFF2-40B4-BE49-F238E27FC236}">
                <a16:creationId xmlns:a16="http://schemas.microsoft.com/office/drawing/2014/main" id="{3794A5FA-C091-19A9-1406-448C5E92F120}"/>
              </a:ext>
            </a:extLst>
          </p:cNvPr>
          <p:cNvSpPr txBox="1"/>
          <p:nvPr/>
        </p:nvSpPr>
        <p:spPr>
          <a:xfrm>
            <a:off x="6851953" y="1124491"/>
            <a:ext cx="4104456"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Calculate Total = Quantity * Price </a:t>
            </a:r>
            <a:endParaRPr lang="en-IN" dirty="0">
              <a:latin typeface="Arial" panose="020B0604020202020204" pitchFamily="34" charset="0"/>
              <a:cs typeface="Arial" panose="020B0604020202020204" pitchFamily="34" charset="0"/>
            </a:endParaRPr>
          </a:p>
        </p:txBody>
      </p:sp>
      <p:grpSp>
        <p:nvGrpSpPr>
          <p:cNvPr id="19" name="Group 18">
            <a:extLst>
              <a:ext uri="{FF2B5EF4-FFF2-40B4-BE49-F238E27FC236}">
                <a16:creationId xmlns:a16="http://schemas.microsoft.com/office/drawing/2014/main" id="{D4D444B9-AE29-DFD2-48D0-F9730EF83E2D}"/>
              </a:ext>
            </a:extLst>
          </p:cNvPr>
          <p:cNvGrpSpPr/>
          <p:nvPr/>
        </p:nvGrpSpPr>
        <p:grpSpPr>
          <a:xfrm>
            <a:off x="8184232" y="739587"/>
            <a:ext cx="617592" cy="453193"/>
            <a:chOff x="8184232" y="739587"/>
            <a:chExt cx="617592" cy="453193"/>
          </a:xfrm>
        </p:grpSpPr>
        <p:cxnSp>
          <p:nvCxnSpPr>
            <p:cNvPr id="12" name="Connector: Elbow 11">
              <a:extLst>
                <a:ext uri="{FF2B5EF4-FFF2-40B4-BE49-F238E27FC236}">
                  <a16:creationId xmlns:a16="http://schemas.microsoft.com/office/drawing/2014/main" id="{138B268C-85A9-669B-6C55-8BF608A67B92}"/>
                </a:ext>
              </a:extLst>
            </p:cNvPr>
            <p:cNvCxnSpPr>
              <a:cxnSpLocks/>
            </p:cNvCxnSpPr>
            <p:nvPr/>
          </p:nvCxnSpPr>
          <p:spPr>
            <a:xfrm rot="5400000">
              <a:off x="8069517" y="874033"/>
              <a:ext cx="433462" cy="204031"/>
            </a:xfrm>
            <a:prstGeom prst="bentConnector3">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5AAFC67-F4BE-B092-94BA-E38F33DD666B}"/>
                </a:ext>
              </a:extLst>
            </p:cNvPr>
            <p:cNvCxnSpPr>
              <a:cxnSpLocks/>
            </p:cNvCxnSpPr>
            <p:nvPr/>
          </p:nvCxnSpPr>
          <p:spPr>
            <a:xfrm>
              <a:off x="8369774" y="739587"/>
              <a:ext cx="432050" cy="0"/>
            </a:xfrm>
            <a:prstGeom prst="straightConnector1">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55855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0BDA3-404B-FF4A-478D-9AACF66036F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665BEC6-C438-A20C-C48D-2961777345AD}"/>
              </a:ext>
            </a:extLst>
          </p:cNvPr>
          <p:cNvGraphicFramePr>
            <a:graphicFrameLocks noGrp="1"/>
          </p:cNvGraphicFramePr>
          <p:nvPr>
            <p:extLst>
              <p:ext uri="{D42A27DB-BD31-4B8C-83A1-F6EECF244321}">
                <p14:modId xmlns:p14="http://schemas.microsoft.com/office/powerpoint/2010/main" val="1391481261"/>
              </p:ext>
            </p:extLst>
          </p:nvPr>
        </p:nvGraphicFramePr>
        <p:xfrm>
          <a:off x="407369"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619B75BD-7C59-C0A3-4D08-BE992ADE94D8}"/>
              </a:ext>
            </a:extLst>
          </p:cNvPr>
          <p:cNvSpPr txBox="1"/>
          <p:nvPr/>
        </p:nvSpPr>
        <p:spPr>
          <a:xfrm>
            <a:off x="263352" y="4881934"/>
            <a:ext cx="1166529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a:t>
            </a:r>
            <a:r>
              <a:rPr lang="en-US" dirty="0">
                <a:latin typeface="Liberation Mono"/>
              </a:rPr>
              <a:t> </a:t>
            </a:r>
            <a:r>
              <a:rPr lang="en-US" dirty="0">
                <a:solidFill>
                  <a:srgbClr val="0077AA"/>
                </a:solidFill>
                <a:latin typeface="Liberation Mono"/>
              </a:rPr>
              <a:t>FROM</a:t>
            </a:r>
            <a:r>
              <a:rPr lang="en-US" dirty="0">
                <a:latin typeface="Liberation Mono"/>
              </a:rPr>
              <a:t> swapCity;</a:t>
            </a:r>
          </a:p>
          <a:p>
            <a:pPr marL="285750" indent="-285750">
              <a:buFont typeface="Arial" panose="020B0604020202020204" pitchFamily="34" charset="0"/>
              <a:buChar char="•"/>
            </a:pPr>
            <a:endParaRPr lang="en-US"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R1)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cityName,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B212AA"/>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swapCity) T1;</a:t>
            </a:r>
          </a:p>
        </p:txBody>
      </p:sp>
      <p:sp>
        <p:nvSpPr>
          <p:cNvPr id="8" name="TextBox 7">
            <a:extLst>
              <a:ext uri="{FF2B5EF4-FFF2-40B4-BE49-F238E27FC236}">
                <a16:creationId xmlns:a16="http://schemas.microsoft.com/office/drawing/2014/main" id="{DDE859F3-E808-C733-A865-4B1E5604AFA3}"/>
              </a:ext>
            </a:extLst>
          </p:cNvPr>
          <p:cNvSpPr txBox="1"/>
          <p:nvPr/>
        </p:nvSpPr>
        <p:spPr>
          <a:xfrm>
            <a:off x="5015880"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6835B3B-D634-632D-0E75-951284091C5B}"/>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AC5B76FA-1255-6CD8-BA7E-4B59B3B6E9D1}"/>
              </a:ext>
            </a:extLst>
          </p:cNvPr>
          <p:cNvGraphicFramePr>
            <a:graphicFrameLocks noGrp="1"/>
          </p:cNvGraphicFramePr>
          <p:nvPr>
            <p:extLst>
              <p:ext uri="{D42A27DB-BD31-4B8C-83A1-F6EECF244321}">
                <p14:modId xmlns:p14="http://schemas.microsoft.com/office/powerpoint/2010/main" val="2402180836"/>
              </p:ext>
            </p:extLst>
          </p:nvPr>
        </p:nvGraphicFramePr>
        <p:xfrm>
          <a:off x="6672064"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D398C2E3-B9B9-4BA0-11A4-CBBB44D0042B}"/>
              </a:ext>
            </a:extLst>
          </p:cNvPr>
          <p:cNvSpPr txBox="1"/>
          <p:nvPr/>
        </p:nvSpPr>
        <p:spPr>
          <a:xfrm>
            <a:off x="6600057"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D6309DD2-8132-7CD1-325E-98E8B20E2603}"/>
              </a:ext>
            </a:extLst>
          </p:cNvPr>
          <p:cNvSpPr txBox="1"/>
          <p:nvPr/>
        </p:nvSpPr>
        <p:spPr>
          <a:xfrm>
            <a:off x="8561390" y="519063"/>
            <a:ext cx="22871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cityName</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D1A536A-56E1-DC8D-0BB0-B37290A84829}"/>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11" name="Rectangle 10">
            <a:extLst>
              <a:ext uri="{FF2B5EF4-FFF2-40B4-BE49-F238E27FC236}">
                <a16:creationId xmlns:a16="http://schemas.microsoft.com/office/drawing/2014/main" id="{B065FB21-0075-C83B-6A4B-0BED2C77DD5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84597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9FA83E-2650-ED87-2170-268B7DE5FF84}"/>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DA8A92C-0FDF-1DED-97D3-0C146B7847E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B69DBDD6-650B-0A10-7AE3-A410BCEDC5F4}"/>
              </a:ext>
            </a:extLst>
          </p:cNvPr>
          <p:cNvGraphicFramePr>
            <a:graphicFrameLocks noGrp="1"/>
          </p:cNvGraphicFramePr>
          <p:nvPr>
            <p:extLst>
              <p:ext uri="{D42A27DB-BD31-4B8C-83A1-F6EECF244321}">
                <p14:modId xmlns:p14="http://schemas.microsoft.com/office/powerpoint/2010/main" val="3936613779"/>
              </p:ext>
            </p:extLst>
          </p:nvPr>
        </p:nvGraphicFramePr>
        <p:xfrm>
          <a:off x="263354" y="1261576"/>
          <a:ext cx="3888431" cy="519176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2736304">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Chow Mein</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Pizza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8" name="TextBox 7">
            <a:extLst>
              <a:ext uri="{FF2B5EF4-FFF2-40B4-BE49-F238E27FC236}">
                <a16:creationId xmlns:a16="http://schemas.microsoft.com/office/drawing/2014/main" id="{C5C27DAF-D9C4-25E3-B57D-CED5B685792F}"/>
              </a:ext>
            </a:extLst>
          </p:cNvPr>
          <p:cNvSpPr txBox="1"/>
          <p:nvPr/>
        </p:nvSpPr>
        <p:spPr>
          <a:xfrm>
            <a:off x="4151785" y="345734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77A4956-8455-555B-47C6-A8112E1E554E}"/>
              </a:ext>
            </a:extLst>
          </p:cNvPr>
          <p:cNvSpPr txBox="1"/>
          <p:nvPr/>
        </p:nvSpPr>
        <p:spPr>
          <a:xfrm>
            <a:off x="263352" y="782250"/>
            <a:ext cx="2160109" cy="400110"/>
          </a:xfrm>
          <a:prstGeom prst="rect">
            <a:avLst/>
          </a:prstGeom>
          <a:noFill/>
        </p:spPr>
        <p:txBody>
          <a:bodyPr wrap="square">
            <a:spAutoFit/>
          </a:bodyPr>
          <a:lstStyle/>
          <a:p>
            <a:r>
              <a:rPr lang="en-IN" sz="2000" b="1" dirty="0">
                <a:latin typeface="Liberation Mono"/>
              </a:rPr>
              <a:t>Table:- cafe</a:t>
            </a:r>
            <a:endParaRPr lang="en-IN" sz="2000" b="1" dirty="0"/>
          </a:p>
        </p:txBody>
      </p:sp>
      <p:sp>
        <p:nvSpPr>
          <p:cNvPr id="5" name="TextBox 4">
            <a:extLst>
              <a:ext uri="{FF2B5EF4-FFF2-40B4-BE49-F238E27FC236}">
                <a16:creationId xmlns:a16="http://schemas.microsoft.com/office/drawing/2014/main" id="{58F3DAEE-CC52-C9A7-D952-FE149A745733}"/>
              </a:ext>
            </a:extLst>
          </p:cNvPr>
          <p:cNvSpPr txBox="1"/>
          <p:nvPr/>
        </p:nvSpPr>
        <p:spPr>
          <a:xfrm>
            <a:off x="9120336" y="519063"/>
            <a:ext cx="172819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items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6" name="Table 2">
            <a:extLst>
              <a:ext uri="{FF2B5EF4-FFF2-40B4-BE49-F238E27FC236}">
                <a16:creationId xmlns:a16="http://schemas.microsoft.com/office/drawing/2014/main" id="{AC31D57B-1AE6-3B56-AEDC-0030160A9751}"/>
              </a:ext>
            </a:extLst>
          </p:cNvPr>
          <p:cNvGraphicFramePr>
            <a:graphicFrameLocks noGrp="1"/>
          </p:cNvGraphicFramePr>
          <p:nvPr>
            <p:extLst>
              <p:ext uri="{D42A27DB-BD31-4B8C-83A1-F6EECF244321}">
                <p14:modId xmlns:p14="http://schemas.microsoft.com/office/powerpoint/2010/main" val="1538010990"/>
              </p:ext>
            </p:extLst>
          </p:nvPr>
        </p:nvGraphicFramePr>
        <p:xfrm>
          <a:off x="5376656" y="1261576"/>
          <a:ext cx="6624000" cy="5191760"/>
        </p:xfrm>
        <a:graphic>
          <a:graphicData uri="http://schemas.openxmlformats.org/drawingml/2006/table">
            <a:tbl>
              <a:tblPr firstRow="1" bandRow="1">
                <a:tableStyleId>{5940675A-B579-460E-94D1-54222C63F5DA}</a:tableStyleId>
              </a:tblPr>
              <a:tblGrid>
                <a:gridCol w="1152000">
                  <a:extLst>
                    <a:ext uri="{9D8B030D-6E8A-4147-A177-3AD203B41FA5}">
                      <a16:colId xmlns:a16="http://schemas.microsoft.com/office/drawing/2014/main" val="928063234"/>
                    </a:ext>
                  </a:extLst>
                </a:gridCol>
                <a:gridCol w="2736000">
                  <a:extLst>
                    <a:ext uri="{9D8B030D-6E8A-4147-A177-3AD203B41FA5}">
                      <a16:colId xmlns:a16="http://schemas.microsoft.com/office/drawing/2014/main" val="790049539"/>
                    </a:ext>
                  </a:extLst>
                </a:gridCol>
                <a:gridCol w="2736000">
                  <a:extLst>
                    <a:ext uri="{9D8B030D-6E8A-4147-A177-3AD203B41FA5}">
                      <a16:colId xmlns:a16="http://schemas.microsoft.com/office/drawing/2014/main" val="3753955883"/>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Chow Mein</a:t>
                      </a:r>
                    </a:p>
                  </a:txBody>
                  <a:tcPr/>
                </a:tc>
                <a:tc>
                  <a:txBody>
                    <a:bodyPr/>
                    <a:lstStyle/>
                    <a:p>
                      <a:r>
                        <a:rPr lang="en-IN" dirty="0">
                          <a:solidFill>
                            <a:srgbClr val="B212AA"/>
                          </a:solidFill>
                          <a:latin typeface="Arial" panose="020B0604020202020204" pitchFamily="34" charset="0"/>
                          <a:cs typeface="Arial" panose="020B0604020202020204" pitchFamily="34" charset="0"/>
                        </a:rPr>
                        <a:t>Pizza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solidFill>
                            <a:srgbClr val="B212AA"/>
                          </a:solidFill>
                          <a:latin typeface="Arial" panose="020B0604020202020204" pitchFamily="34" charset="0"/>
                          <a:cs typeface="Arial" panose="020B0604020202020204" pitchFamily="34" charset="0"/>
                        </a:rPr>
                        <a:t>Chow Mein</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tc>
                  <a:txBody>
                    <a:bodyPr/>
                    <a:lstStyle/>
                    <a:p>
                      <a:r>
                        <a:rPr lang="en-IN" dirty="0">
                          <a:latin typeface="Arial" panose="020B0604020202020204" pitchFamily="34" charset="0"/>
                          <a:cs typeface="Arial" panose="020B0604020202020204" pitchFamily="34" charset="0"/>
                        </a:rPr>
                        <a:t>Veg Nuggets</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tc>
                  <a:txBody>
                    <a:bodyPr/>
                    <a:lstStyle/>
                    <a:p>
                      <a:r>
                        <a:rPr lang="en-IN" dirty="0">
                          <a:latin typeface="Arial" panose="020B0604020202020204" pitchFamily="34" charset="0"/>
                          <a:cs typeface="Arial" panose="020B0604020202020204" pitchFamily="34" charset="0"/>
                        </a:rPr>
                        <a:t>Paneer Tikka Masala</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10" name="TextBox 9">
            <a:extLst>
              <a:ext uri="{FF2B5EF4-FFF2-40B4-BE49-F238E27FC236}">
                <a16:creationId xmlns:a16="http://schemas.microsoft.com/office/drawing/2014/main" id="{7A73CC5F-B2F1-EF3B-048C-593F882CDA6E}"/>
              </a:ext>
            </a:extLst>
          </p:cNvPr>
          <p:cNvSpPr txBox="1"/>
          <p:nvPr/>
        </p:nvSpPr>
        <p:spPr>
          <a:xfrm>
            <a:off x="5376654" y="782250"/>
            <a:ext cx="2160109"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Rectangle 6">
            <a:extLst>
              <a:ext uri="{FF2B5EF4-FFF2-40B4-BE49-F238E27FC236}">
                <a16:creationId xmlns:a16="http://schemas.microsoft.com/office/drawing/2014/main" id="{40EBC1D4-0E41-2F1E-A948-B26BAA06E1F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4E24E6E7-F82D-423F-0C6A-7684921FA774}"/>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182255979"/>
      </p:ext>
    </p:extLst>
  </p:cSld>
  <p:clrMapOvr>
    <a:masterClrMapping/>
  </p:clrMapOvr>
</p:sld>
</file>

<file path=ppt/slides/slide5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D00AA-1E93-1235-7350-430DF154AFA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B3F9B9A-4CC1-308E-B515-D01150693FE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B4084B8A-A406-1666-01A2-8EAD20425F28}"/>
              </a:ext>
            </a:extLst>
          </p:cNvPr>
          <p:cNvGraphicFramePr>
            <a:graphicFrameLocks noGrp="1"/>
          </p:cNvGraphicFramePr>
          <p:nvPr>
            <p:extLst>
              <p:ext uri="{D42A27DB-BD31-4B8C-83A1-F6EECF244321}">
                <p14:modId xmlns:p14="http://schemas.microsoft.com/office/powerpoint/2010/main" val="757357403"/>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706DE58F-5A3D-6835-FC31-66C14D5E9704}"/>
              </a:ext>
            </a:extLst>
          </p:cNvPr>
          <p:cNvSpPr txBox="1"/>
          <p:nvPr/>
        </p:nvSpPr>
        <p:spPr>
          <a:xfrm>
            <a:off x="2063552"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53F9F11C-2F82-DA25-0994-7265C3F0D30F}"/>
              </a:ext>
            </a:extLst>
          </p:cNvPr>
          <p:cNvSpPr txBox="1"/>
          <p:nvPr/>
        </p:nvSpPr>
        <p:spPr>
          <a:xfrm>
            <a:off x="191344" y="44624"/>
            <a:ext cx="2160109"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9" name="TextBox 8">
            <a:extLst>
              <a:ext uri="{FF2B5EF4-FFF2-40B4-BE49-F238E27FC236}">
                <a16:creationId xmlns:a16="http://schemas.microsoft.com/office/drawing/2014/main" id="{11FC3995-CB72-07A5-707D-DB2900C1E0A2}"/>
              </a:ext>
            </a:extLst>
          </p:cNvPr>
          <p:cNvSpPr txBox="1"/>
          <p:nvPr/>
        </p:nvSpPr>
        <p:spPr>
          <a:xfrm>
            <a:off x="3566506" y="548680"/>
            <a:ext cx="1152128" cy="400110"/>
          </a:xfrm>
          <a:prstGeom prst="rect">
            <a:avLst/>
          </a:prstGeom>
          <a:noFill/>
        </p:spPr>
        <p:txBody>
          <a:bodyPr wrap="square">
            <a:spAutoFit/>
          </a:bodyPr>
          <a:lstStyle/>
          <a:p>
            <a:r>
              <a:rPr lang="en-IN" sz="2000" b="1" dirty="0">
                <a:latin typeface="Liberation Mono"/>
              </a:rPr>
              <a:t>Output1</a:t>
            </a:r>
            <a:endParaRPr lang="en-IN" sz="2000" b="1" dirty="0"/>
          </a:p>
        </p:txBody>
      </p:sp>
      <p:graphicFrame>
        <p:nvGraphicFramePr>
          <p:cNvPr id="5" name="Table 2">
            <a:extLst>
              <a:ext uri="{FF2B5EF4-FFF2-40B4-BE49-F238E27FC236}">
                <a16:creationId xmlns:a16="http://schemas.microsoft.com/office/drawing/2014/main" id="{FFD4AE23-D257-64DE-0C8E-BA2A16BCA411}"/>
              </a:ext>
            </a:extLst>
          </p:cNvPr>
          <p:cNvGraphicFramePr>
            <a:graphicFrameLocks noGrp="1"/>
          </p:cNvGraphicFramePr>
          <p:nvPr>
            <p:extLst>
              <p:ext uri="{D42A27DB-BD31-4B8C-83A1-F6EECF244321}">
                <p14:modId xmlns:p14="http://schemas.microsoft.com/office/powerpoint/2010/main" val="3468657506"/>
              </p:ext>
            </p:extLst>
          </p:nvPr>
        </p:nvGraphicFramePr>
        <p:xfrm>
          <a:off x="8400256" y="1748645"/>
          <a:ext cx="2578810" cy="1478280"/>
        </p:xfrm>
        <a:graphic>
          <a:graphicData uri="http://schemas.openxmlformats.org/drawingml/2006/table">
            <a:tbl>
              <a:tblPr firstRow="1" bandRow="1">
                <a:tableStyleId>{5940675A-B579-460E-94D1-54222C63F5DA}</a:tableStyleId>
              </a:tblPr>
              <a:tblGrid>
                <a:gridCol w="257881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7</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77675717"/>
                  </a:ext>
                </a:extLst>
              </a:tr>
              <a:tr h="0">
                <a:tc>
                  <a:txBody>
                    <a:bodyPr/>
                    <a:lstStyle/>
                    <a:p>
                      <a:pPr algn="ctr"/>
                      <a:r>
                        <a:rPr lang="en-US" dirty="0">
                          <a:solidFill>
                            <a:srgbClr val="B212AA"/>
                          </a:solidFill>
                          <a:latin typeface="Arial" panose="020B0604020202020204" pitchFamily="34" charset="0"/>
                          <a:cs typeface="Arial" panose="020B0604020202020204" pitchFamily="34" charset="0"/>
                        </a:rPr>
                        <a:t>4</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4AC7C32-2841-93CA-C726-77B28A63A04E}"/>
              </a:ext>
            </a:extLst>
          </p:cNvPr>
          <p:cNvSpPr txBox="1"/>
          <p:nvPr/>
        </p:nvSpPr>
        <p:spPr>
          <a:xfrm>
            <a:off x="1980755" y="5877272"/>
            <a:ext cx="9968723"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t1.num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num,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1</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prev1</a:t>
            </a:r>
            <a:r>
              <a:rPr lang="en-US" dirty="0">
                <a:latin typeface="Liberation Mono"/>
              </a:rPr>
              <a:t>,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prev2</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cNumbers</a:t>
            </a:r>
            <a:r>
              <a:rPr lang="en-US" dirty="0">
                <a:latin typeface="Liberation Mono"/>
              </a:rPr>
              <a:t>) t1 </a:t>
            </a:r>
            <a:r>
              <a:rPr lang="en-US" dirty="0">
                <a:solidFill>
                  <a:srgbClr val="0077AA"/>
                </a:solidFill>
                <a:latin typeface="Liberation Mono"/>
              </a:rPr>
              <a:t>WHERE</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t1.prev1 </a:t>
            </a:r>
            <a:r>
              <a:rPr lang="en-US" dirty="0">
                <a:solidFill>
                  <a:srgbClr val="A67F59"/>
                </a:solidFill>
                <a:latin typeface="Liberation Mono"/>
              </a:rPr>
              <a:t>AND</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t1.prev2;</a:t>
            </a:r>
          </a:p>
        </p:txBody>
      </p:sp>
      <p:sp>
        <p:nvSpPr>
          <p:cNvPr id="15" name="TextBox 14">
            <a:extLst>
              <a:ext uri="{FF2B5EF4-FFF2-40B4-BE49-F238E27FC236}">
                <a16:creationId xmlns:a16="http://schemas.microsoft.com/office/drawing/2014/main" id="{4B5F4B76-36A8-9053-0DB6-DD686CCC2E8D}"/>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numbers</a:t>
            </a:r>
            <a:endParaRPr lang="en-IN" dirty="0"/>
          </a:p>
        </p:txBody>
      </p:sp>
      <p:sp>
        <p:nvSpPr>
          <p:cNvPr id="8" name="TextBox 7">
            <a:extLst>
              <a:ext uri="{FF2B5EF4-FFF2-40B4-BE49-F238E27FC236}">
                <a16:creationId xmlns:a16="http://schemas.microsoft.com/office/drawing/2014/main" id="{9B5D8131-DCDA-3748-BCFB-E1A45B8D37C3}"/>
              </a:ext>
            </a:extLst>
          </p:cNvPr>
          <p:cNvSpPr txBox="1"/>
          <p:nvPr/>
        </p:nvSpPr>
        <p:spPr>
          <a:xfrm>
            <a:off x="1965475" y="4881934"/>
            <a:ext cx="996872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a:t>
            </a:r>
            <a:r>
              <a:rPr lang="en-IN" dirty="0">
                <a:solidFill>
                  <a:srgbClr val="DD4A68"/>
                </a:solidFill>
                <a:latin typeface="Liberation Mono"/>
              </a:rPr>
              <a:t>COUNT</a:t>
            </a:r>
            <a:r>
              <a:rPr lang="en-IN" dirty="0">
                <a:latin typeface="Liberation Mono"/>
              </a:rPr>
              <a:t>(num)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id -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num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cnumbers)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graphicFrame>
        <p:nvGraphicFramePr>
          <p:cNvPr id="11" name="Table 2">
            <a:extLst>
              <a:ext uri="{FF2B5EF4-FFF2-40B4-BE49-F238E27FC236}">
                <a16:creationId xmlns:a16="http://schemas.microsoft.com/office/drawing/2014/main" id="{9DEC9CC9-8FD2-0F88-19BF-80F1BD14BA8D}"/>
              </a:ext>
            </a:extLst>
          </p:cNvPr>
          <p:cNvGraphicFramePr>
            <a:graphicFrameLocks noGrp="1"/>
          </p:cNvGraphicFramePr>
          <p:nvPr>
            <p:extLst>
              <p:ext uri="{D42A27DB-BD31-4B8C-83A1-F6EECF244321}">
                <p14:modId xmlns:p14="http://schemas.microsoft.com/office/powerpoint/2010/main" val="1372216754"/>
              </p:ext>
            </p:extLst>
          </p:nvPr>
        </p:nvGraphicFramePr>
        <p:xfrm>
          <a:off x="3496214" y="1053300"/>
          <a:ext cx="3463882" cy="3708400"/>
        </p:xfrm>
        <a:graphic>
          <a:graphicData uri="http://schemas.openxmlformats.org/drawingml/2006/table">
            <a:tbl>
              <a:tblPr firstRow="1" bandRow="1">
                <a:tableStyleId>{5940675A-B579-460E-94D1-54222C63F5DA}</a:tableStyleId>
              </a:tblPr>
              <a:tblGrid>
                <a:gridCol w="956236">
                  <a:extLst>
                    <a:ext uri="{9D8B030D-6E8A-4147-A177-3AD203B41FA5}">
                      <a16:colId xmlns:a16="http://schemas.microsoft.com/office/drawing/2014/main" val="1145531615"/>
                    </a:ext>
                  </a:extLst>
                </a:gridCol>
                <a:gridCol w="2507646">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id</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8</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1159089403"/>
                  </a:ext>
                </a:extLst>
              </a:tr>
              <a:tr h="370840">
                <a:tc>
                  <a:txBody>
                    <a:bodyPr/>
                    <a:lstStyle/>
                    <a:p>
                      <a:pPr algn="ctr"/>
                      <a:r>
                        <a:rPr lang="en-IN" dirty="0">
                          <a:latin typeface="Arial" panose="020B0604020202020204" pitchFamily="34" charset="0"/>
                          <a:cs typeface="Arial" panose="020B0604020202020204" pitchFamily="34" charset="0"/>
                        </a:rPr>
                        <a:t>9</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2802597860"/>
                  </a:ext>
                </a:extLst>
              </a:tr>
              <a:tr h="370840">
                <a:tc>
                  <a:txBody>
                    <a:bodyPr/>
                    <a:lstStyle/>
                    <a:p>
                      <a:pPr algn="ctr"/>
                      <a:r>
                        <a:rPr lang="en-IN" dirty="0">
                          <a:latin typeface="Arial" panose="020B0604020202020204" pitchFamily="34" charset="0"/>
                          <a:cs typeface="Arial" panose="020B0604020202020204" pitchFamily="34" charset="0"/>
                        </a:rPr>
                        <a:t>10</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3174270991"/>
                  </a:ext>
                </a:extLst>
              </a:tr>
              <a:tr h="370840">
                <a:tc>
                  <a:txBody>
                    <a:bodyPr/>
                    <a:lstStyle/>
                    <a:p>
                      <a:pPr algn="ctr"/>
                      <a:r>
                        <a:rPr lang="en-IN" dirty="0">
                          <a:latin typeface="Arial" panose="020B0604020202020204" pitchFamily="34" charset="0"/>
                          <a:cs typeface="Arial" panose="020B0604020202020204" pitchFamily="34" charset="0"/>
                        </a:rPr>
                        <a:t>14</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2911270006"/>
                  </a:ext>
                </a:extLst>
              </a:tr>
              <a:tr h="370840">
                <a:tc>
                  <a:txBody>
                    <a:bodyPr/>
                    <a:lstStyle/>
                    <a:p>
                      <a:pPr algn="ctr"/>
                      <a:r>
                        <a:rPr lang="en-IN" dirty="0">
                          <a:latin typeface="Arial" panose="020B0604020202020204" pitchFamily="34" charset="0"/>
                          <a:cs typeface="Arial" panose="020B0604020202020204" pitchFamily="34" charset="0"/>
                        </a:rPr>
                        <a:t>15</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1147110099"/>
                  </a:ext>
                </a:extLst>
              </a:tr>
              <a:tr h="370840">
                <a:tc>
                  <a:txBody>
                    <a:bodyPr/>
                    <a:lstStyle/>
                    <a:p>
                      <a:pPr algn="ctr"/>
                      <a:r>
                        <a:rPr lang="en-IN" dirty="0">
                          <a:latin typeface="Arial" panose="020B0604020202020204" pitchFamily="34" charset="0"/>
                          <a:cs typeface="Arial" panose="020B0604020202020204" pitchFamily="34" charset="0"/>
                        </a:rPr>
                        <a:t>16</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4173596431"/>
                  </a:ext>
                </a:extLst>
              </a:tr>
            </a:tbl>
          </a:graphicData>
        </a:graphic>
      </p:graphicFrame>
      <p:sp>
        <p:nvSpPr>
          <p:cNvPr id="12" name="TextBox 11">
            <a:extLst>
              <a:ext uri="{FF2B5EF4-FFF2-40B4-BE49-F238E27FC236}">
                <a16:creationId xmlns:a16="http://schemas.microsoft.com/office/drawing/2014/main" id="{165A1789-373C-789F-CA01-1E9663BDFE9D}"/>
              </a:ext>
            </a:extLst>
          </p:cNvPr>
          <p:cNvSpPr txBox="1"/>
          <p:nvPr/>
        </p:nvSpPr>
        <p:spPr>
          <a:xfrm>
            <a:off x="8388718" y="1268957"/>
            <a:ext cx="1152128" cy="400110"/>
          </a:xfrm>
          <a:prstGeom prst="rect">
            <a:avLst/>
          </a:prstGeom>
          <a:noFill/>
        </p:spPr>
        <p:txBody>
          <a:bodyPr wrap="square">
            <a:spAutoFit/>
          </a:bodyPr>
          <a:lstStyle/>
          <a:p>
            <a:r>
              <a:rPr lang="en-IN" sz="2000" b="1" dirty="0">
                <a:latin typeface="Liberation Mono"/>
              </a:rPr>
              <a:t>Output2</a:t>
            </a:r>
            <a:endParaRPr lang="en-IN" sz="2000" b="1" dirty="0"/>
          </a:p>
        </p:txBody>
      </p:sp>
    </p:spTree>
    <p:extLst>
      <p:ext uri="{BB962C8B-B14F-4D97-AF65-F5344CB8AC3E}">
        <p14:creationId xmlns:p14="http://schemas.microsoft.com/office/powerpoint/2010/main" val="3327297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247DA-7B68-A244-9100-EE6E9932847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A2FAF34-DE3B-314C-F79B-CA09A8E25E5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1A5EFF5A-55BA-3CF4-F218-8CEDCEAE7304}"/>
              </a:ext>
            </a:extLst>
          </p:cNvPr>
          <p:cNvGraphicFramePr>
            <a:graphicFrameLocks noGrp="1"/>
          </p:cNvGraphicFramePr>
          <p:nvPr>
            <p:extLst>
              <p:ext uri="{D42A27DB-BD31-4B8C-83A1-F6EECF244321}">
                <p14:modId xmlns:p14="http://schemas.microsoft.com/office/powerpoint/2010/main" val="631933484"/>
              </p:ext>
            </p:extLst>
          </p:nvPr>
        </p:nvGraphicFramePr>
        <p:xfrm>
          <a:off x="479378" y="735920"/>
          <a:ext cx="1673718" cy="59334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 </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0</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bl>
          </a:graphicData>
        </a:graphic>
      </p:graphicFrame>
      <p:sp>
        <p:nvSpPr>
          <p:cNvPr id="6" name="TextBox 5">
            <a:extLst>
              <a:ext uri="{FF2B5EF4-FFF2-40B4-BE49-F238E27FC236}">
                <a16:creationId xmlns:a16="http://schemas.microsoft.com/office/drawing/2014/main" id="{CD122F56-EF2C-ABB8-46A2-559DD3CD60C2}"/>
              </a:ext>
            </a:extLst>
          </p:cNvPr>
          <p:cNvSpPr txBox="1"/>
          <p:nvPr/>
        </p:nvSpPr>
        <p:spPr>
          <a:xfrm>
            <a:off x="2198354"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893CFB57-0E4C-B3F1-980C-EB4E238E3CDE}"/>
              </a:ext>
            </a:extLst>
          </p:cNvPr>
          <p:cNvSpPr txBox="1"/>
          <p:nvPr/>
        </p:nvSpPr>
        <p:spPr>
          <a:xfrm>
            <a:off x="407368" y="256594"/>
            <a:ext cx="2160109" cy="400110"/>
          </a:xfrm>
          <a:prstGeom prst="rect">
            <a:avLst/>
          </a:prstGeom>
          <a:noFill/>
        </p:spPr>
        <p:txBody>
          <a:bodyPr wrap="square">
            <a:spAutoFit/>
          </a:bodyPr>
          <a:lstStyle/>
          <a:p>
            <a:r>
              <a:rPr lang="en-IN" sz="2000" b="1" dirty="0">
                <a:latin typeface="Liberation Mono"/>
              </a:rPr>
              <a:t>Table:- hall_ticket</a:t>
            </a:r>
            <a:endParaRPr lang="en-IN" sz="2000" b="1" dirty="0"/>
          </a:p>
        </p:txBody>
      </p:sp>
      <p:sp>
        <p:nvSpPr>
          <p:cNvPr id="9" name="TextBox 8">
            <a:extLst>
              <a:ext uri="{FF2B5EF4-FFF2-40B4-BE49-F238E27FC236}">
                <a16:creationId xmlns:a16="http://schemas.microsoft.com/office/drawing/2014/main" id="{B41AD25D-8D98-A3A6-BC5C-D7537D6ACB33}"/>
              </a:ext>
            </a:extLst>
          </p:cNvPr>
          <p:cNvSpPr txBox="1"/>
          <p:nvPr/>
        </p:nvSpPr>
        <p:spPr>
          <a:xfrm>
            <a:off x="3503712" y="256594"/>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CB84AD00-94B8-F4BA-9E18-6BDA92C06EE5}"/>
              </a:ext>
            </a:extLst>
          </p:cNvPr>
          <p:cNvGraphicFramePr>
            <a:graphicFrameLocks noGrp="1"/>
          </p:cNvGraphicFramePr>
          <p:nvPr>
            <p:extLst>
              <p:ext uri="{D42A27DB-BD31-4B8C-83A1-F6EECF244321}">
                <p14:modId xmlns:p14="http://schemas.microsoft.com/office/powerpoint/2010/main" val="3254710216"/>
              </p:ext>
            </p:extLst>
          </p:nvPr>
        </p:nvGraphicFramePr>
        <p:xfrm>
          <a:off x="3517190" y="735920"/>
          <a:ext cx="3388452" cy="40792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266845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&gt; 3 Consecutive Seats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3</a:t>
                      </a:r>
                    </a:p>
                  </a:txBody>
                  <a:tcPr>
                    <a:solidFill>
                      <a:schemeClr val="bg1">
                        <a:lumMod val="85000"/>
                      </a:schemeClr>
                    </a:solidFill>
                  </a:tcPr>
                </a:tc>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17</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18</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19</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28</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29</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bl>
          </a:graphicData>
        </a:graphic>
      </p:graphicFrame>
      <p:sp>
        <p:nvSpPr>
          <p:cNvPr id="13" name="TextBox 12">
            <a:extLst>
              <a:ext uri="{FF2B5EF4-FFF2-40B4-BE49-F238E27FC236}">
                <a16:creationId xmlns:a16="http://schemas.microsoft.com/office/drawing/2014/main" id="{01E2967D-F82A-63E7-FF4B-7972B34D2E9F}"/>
              </a:ext>
            </a:extLst>
          </p:cNvPr>
          <p:cNvSpPr txBox="1"/>
          <p:nvPr/>
        </p:nvSpPr>
        <p:spPr>
          <a:xfrm>
            <a:off x="2279576" y="5169966"/>
            <a:ext cx="97930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a:t>
            </a:r>
            <a:r>
              <a:rPr lang="en-IN" dirty="0">
                <a:solidFill>
                  <a:srgbClr val="DD4A68"/>
                </a:solidFill>
                <a:latin typeface="Liberation Mono"/>
              </a:rPr>
              <a:t>COUNT</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id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hall_ticket </a:t>
            </a:r>
            <a:r>
              <a:rPr lang="en-IN" dirty="0">
                <a:solidFill>
                  <a:srgbClr val="0077AA"/>
                </a:solidFill>
                <a:latin typeface="Liberation Mono"/>
              </a:rPr>
              <a:t>WHERE</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sp>
        <p:nvSpPr>
          <p:cNvPr id="15" name="TextBox 14">
            <a:extLst>
              <a:ext uri="{FF2B5EF4-FFF2-40B4-BE49-F238E27FC236}">
                <a16:creationId xmlns:a16="http://schemas.microsoft.com/office/drawing/2014/main" id="{54ABA23D-A05C-1604-4350-F66DE5ADADD3}"/>
              </a:ext>
            </a:extLst>
          </p:cNvPr>
          <p:cNvSpPr txBox="1"/>
          <p:nvPr/>
        </p:nvSpPr>
        <p:spPr>
          <a:xfrm>
            <a:off x="7896200" y="519063"/>
            <a:ext cx="279119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Seats</a:t>
            </a:r>
            <a:endParaRPr lang="en-IN" dirty="0"/>
          </a:p>
        </p:txBody>
      </p:sp>
    </p:spTree>
    <p:extLst>
      <p:ext uri="{BB962C8B-B14F-4D97-AF65-F5344CB8AC3E}">
        <p14:creationId xmlns:p14="http://schemas.microsoft.com/office/powerpoint/2010/main" val="416529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comparisons using subquery</a:t>
            </a:r>
            <a:endParaRPr lang="en-US" sz="4800" b="0" i="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733816543"/>
      </p:ext>
    </p:extLst>
  </p:cSld>
  <p:clrMapOvr>
    <a:masterClrMapping/>
  </p:clrMapOvr>
</p:sld>
</file>

<file path=ppt/slides/slide5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2" name="Rectangle 1"/>
          <p:cNvSpPr/>
          <p:nvPr/>
        </p:nvSpPr>
        <p:spPr>
          <a:xfrm>
            <a:off x="317732" y="3934797"/>
            <a:ext cx="11394892"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sal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rgbClr val="000000"/>
                </a:solidFill>
                <a:latin typeface="Liberation Mono"/>
              </a:rPr>
              <a:t>(sal)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 </a:t>
            </a:r>
            <a:r>
              <a:rPr lang="en-US" dirty="0">
                <a:solidFill>
                  <a:srgbClr val="0077AA"/>
                </a:solidFill>
                <a:latin typeface="Liberation Mono"/>
                <a:cs typeface="Arial" panose="020B0604020202020204" pitchFamily="34" charset="0"/>
              </a:rPr>
              <a:t>WHERE</a:t>
            </a:r>
            <a:r>
              <a:rPr lang="en-US" dirty="0">
                <a:solidFill>
                  <a:srgbClr val="000000"/>
                </a:solidFill>
                <a:latin typeface="Liberation Mono"/>
              </a:rPr>
              <a:t> sal </a:t>
            </a:r>
            <a:r>
              <a:rPr lang="en-US" dirty="0">
                <a:solidFill>
                  <a:schemeClr val="accent5">
                    <a:lumMod val="75000"/>
                  </a:schemeClr>
                </a:solidFill>
                <a:latin typeface="Liberation Mono"/>
              </a:rPr>
              <a:t>&lt;</a:t>
            </a:r>
            <a:r>
              <a:rPr lang="en-US" dirty="0">
                <a:solidFill>
                  <a:srgbClr val="000000"/>
                </a:solidFill>
                <a:latin typeface="Liberation Mono"/>
              </a:rPr>
              <a:t> </a:t>
            </a:r>
            <a:r>
              <a:rPr lang="en-US" dirty="0">
                <a:solidFill>
                  <a:schemeClr val="bg1">
                    <a:lumMod val="50000"/>
                  </a:schemeClr>
                </a:solidFill>
                <a:latin typeface="Liberation Mono"/>
              </a:rPr>
              <a:t>(</a:t>
            </a: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chemeClr val="bg1">
                    <a:lumMod val="50000"/>
                  </a:schemeClr>
                </a:solidFill>
                <a:latin typeface="Liberation Mono"/>
              </a:rPr>
              <a:t>(</a:t>
            </a:r>
            <a:r>
              <a:rPr lang="en-US" dirty="0">
                <a:latin typeface="Liberation Mono"/>
              </a:rPr>
              <a:t>sal)</a:t>
            </a:r>
            <a:r>
              <a:rPr lang="en-US" dirty="0">
                <a:solidFill>
                  <a:srgbClr val="000000"/>
                </a:solidFill>
                <a:latin typeface="Liberation Mono"/>
              </a:rPr>
              <a:t>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a:t>
            </a:r>
            <a:r>
              <a:rPr lang="en-US" dirty="0">
                <a:solidFill>
                  <a:schemeClr val="accent5">
                    <a:lumMod val="75000"/>
                  </a:schemeClr>
                </a:solidFill>
                <a:latin typeface="Liberation Mono"/>
              </a:rPr>
              <a:t>&gt; </a:t>
            </a:r>
            <a:r>
              <a:rPr lang="en-US" dirty="0">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a:t>
            </a:r>
            <a:r>
              <a:rPr lang="en-US" dirty="0">
                <a:solidFill>
                  <a:srgbClr val="990055"/>
                </a:solidFill>
                <a:latin typeface="Liberation Mono"/>
              </a:rPr>
              <a:t>3</a:t>
            </a:r>
            <a:r>
              <a:rPr lang="en-US" dirty="0">
                <a:latin typeface="Liberation Mono"/>
                <a:cs typeface="Calibri" panose="020F0502020204030204" pitchFamily="34" charset="0"/>
              </a:rPr>
              <a:t>, </a:t>
            </a:r>
            <a:r>
              <a:rPr lang="en-US" dirty="0">
                <a:solidFill>
                  <a:srgbClr val="990055"/>
                </a:solidFill>
                <a:latin typeface="Liberation Mono"/>
              </a:rPr>
              <a:t>1</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0166CC75-6263-46A2-911A-7AE05D220DD4}"/>
              </a:ext>
            </a:extLst>
          </p:cNvPr>
          <p:cNvSpPr/>
          <p:nvPr/>
        </p:nvSpPr>
        <p:spPr>
          <a:xfrm>
            <a:off x="317732" y="1920895"/>
            <a:ext cx="7849666" cy="150810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subquery can be used before or after any of the comparison operators.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subquery can return </a:t>
            </a:r>
            <a:r>
              <a:rPr lang="en-IN" sz="2400" b="1" dirty="0">
                <a:solidFill>
                  <a:srgbClr val="0089A4"/>
                </a:solidFill>
                <a:latin typeface="Arial" panose="020B0604020202020204" pitchFamily="34" charset="0"/>
                <a:cs typeface="Arial" panose="020B0604020202020204" pitchFamily="34" charset="0"/>
              </a:rPr>
              <a:t>at most one value</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can be the result of an arithmetic expression or a function. </a:t>
            </a:r>
          </a:p>
        </p:txBody>
      </p:sp>
      <p:sp>
        <p:nvSpPr>
          <p:cNvPr id="8" name="Rectangle 7">
            <a:extLst>
              <a:ext uri="{FF2B5EF4-FFF2-40B4-BE49-F238E27FC236}">
                <a16:creationId xmlns:a16="http://schemas.microsoft.com/office/drawing/2014/main" id="{E14A5855-9611-42D8-99DE-DF3577FD0B46}"/>
              </a:ext>
            </a:extLst>
          </p:cNvPr>
          <p:cNvSpPr/>
          <p:nvPr/>
        </p:nvSpPr>
        <p:spPr>
          <a:xfrm>
            <a:off x="258671" y="5879594"/>
            <a:ext cx="11665296" cy="861774"/>
          </a:xfrm>
          <a:prstGeom prst="rect">
            <a:avLst/>
          </a:prstGeom>
        </p:spPr>
        <p:txBody>
          <a:bodyPr wrap="square">
            <a:spAutoFit/>
          </a:bodyPr>
          <a:lstStyle/>
          <a:p>
            <a:r>
              <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rPr>
              <a:t>Following statements will raise an error.</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chemeClr val="tx1">
                    <a:lumMod val="85000"/>
                    <a:lumOff val="15000"/>
                  </a:schemeClr>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emp</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Times New Roman" panose="02020603050405020304" pitchFamily="18" charset="0"/>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 </a:t>
            </a:r>
            <a:r>
              <a:rPr lang="en-US"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20</a:t>
            </a:r>
            <a:r>
              <a:rPr lang="en-IN" dirty="0">
                <a:latin typeface="Liberation Mono"/>
                <a:cs typeface="Arial" panose="020B0604020202020204" pitchFamily="34" charset="0"/>
              </a:rPr>
              <a:t>))</a:t>
            </a:r>
            <a:r>
              <a:rPr lang="en-IN" dirty="0">
                <a:latin typeface="Liberation Mono"/>
              </a:rPr>
              <a:t>;</a:t>
            </a:r>
          </a:p>
        </p:txBody>
      </p:sp>
      <p:sp>
        <p:nvSpPr>
          <p:cNvPr id="10" name="Rectangle 9">
            <a:extLst>
              <a:ext uri="{FF2B5EF4-FFF2-40B4-BE49-F238E27FC236}">
                <a16:creationId xmlns:a16="http://schemas.microsoft.com/office/drawing/2014/main" id="{075FB479-82DE-48C8-BE21-4694A8DD9FA2}"/>
              </a:ext>
            </a:extLst>
          </p:cNvPr>
          <p:cNvSpPr/>
          <p:nvPr/>
        </p:nvSpPr>
        <p:spPr>
          <a:xfrm>
            <a:off x="317732" y="1231200"/>
            <a:ext cx="937866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7FCA9A62-668D-4887-916E-D9E699A2848F}"/>
              </a:ext>
            </a:extLst>
          </p:cNvPr>
          <p:cNvSpPr/>
          <p:nvPr/>
        </p:nvSpPr>
        <p:spPr>
          <a:xfrm>
            <a:off x="4439816" y="545485"/>
            <a:ext cx="6370655" cy="400110"/>
          </a:xfrm>
          <a:prstGeom prst="rect">
            <a:avLst/>
          </a:prstGeom>
        </p:spPr>
        <p:txBody>
          <a:bodyPr wrap="none">
            <a:spAutoFit/>
          </a:bodyPr>
          <a:lstStyle/>
          <a:p>
            <a:pPr>
              <a:defRPr/>
            </a:pPr>
            <a:r>
              <a:rPr lang="en-IN" sz="2000" dirty="0">
                <a:solidFill>
                  <a:schemeClr val="bg2">
                    <a:lumMod val="25000"/>
                  </a:schemeClr>
                </a:solidFill>
                <a:latin typeface="Arial" panose="020B0604020202020204" pitchFamily="34" charset="0"/>
                <a:cs typeface="Arial" panose="020B0604020202020204" pitchFamily="34" charset="0"/>
              </a:rPr>
              <a:t>Comparison Operators like : =, !=/&lt;&gt;, &gt;, &gt;=, &lt;, &lt;= ,&lt;=&gt;</a:t>
            </a:r>
          </a:p>
        </p:txBody>
      </p:sp>
      <p:sp>
        <p:nvSpPr>
          <p:cNvPr id="11" name="TextBox 10">
            <a:extLst>
              <a:ext uri="{FF2B5EF4-FFF2-40B4-BE49-F238E27FC236}">
                <a16:creationId xmlns:a16="http://schemas.microsoft.com/office/drawing/2014/main" id="{7C934552-AA18-482F-A6FD-12E215C97905}"/>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276567948"/>
      </p:ext>
    </p:extLst>
  </p:cSld>
  <p:clrMapOvr>
    <a:masterClrMapping/>
  </p:clrMapOvr>
</p:sld>
</file>

<file path=ppt/slides/slide5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3" name="Rectangle 2"/>
          <p:cNvSpPr/>
          <p:nvPr/>
        </p:nvSpPr>
        <p:spPr>
          <a:xfrm>
            <a:off x="407368" y="2895601"/>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.name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 actor_movie</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solidFill>
                  <a:srgbClr val="FE1212"/>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WHERE</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HAVING</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M</a:t>
            </a:r>
            <a:r>
              <a:rPr lang="en-US" dirty="0">
                <a:latin typeface="Liberation Mono"/>
                <a:cs typeface="Arial" panose="020B0604020202020204" pitchFamily="34" charset="0"/>
              </a:rPr>
              <a:t>);</a:t>
            </a:r>
          </a:p>
        </p:txBody>
      </p:sp>
      <p:pic>
        <p:nvPicPr>
          <p:cNvPr id="7" name="Picture 6"/>
          <p:cNvPicPr>
            <a:picLocks noChangeAspect="1"/>
          </p:cNvPicPr>
          <p:nvPr/>
        </p:nvPicPr>
        <p:blipFill>
          <a:blip r:embed="rId2" cstate="print"/>
          <a:stretch>
            <a:fillRect/>
          </a:stretch>
        </p:blipFill>
        <p:spPr>
          <a:xfrm>
            <a:off x="407368" y="4218229"/>
            <a:ext cx="3785733" cy="1659531"/>
          </a:xfrm>
          <a:prstGeom prst="rect">
            <a:avLst/>
          </a:prstGeom>
        </p:spPr>
      </p:pic>
      <p:grpSp>
        <p:nvGrpSpPr>
          <p:cNvPr id="16" name="Group 15"/>
          <p:cNvGrpSpPr/>
          <p:nvPr/>
        </p:nvGrpSpPr>
        <p:grpSpPr>
          <a:xfrm>
            <a:off x="6934200" y="675937"/>
            <a:ext cx="1676400" cy="990600"/>
            <a:chOff x="3009900" y="835223"/>
            <a:chExt cx="1676400" cy="990600"/>
          </a:xfrm>
        </p:grpSpPr>
        <p:sp>
          <p:nvSpPr>
            <p:cNvPr id="10" name="Oval 9"/>
            <p:cNvSpPr/>
            <p:nvPr/>
          </p:nvSpPr>
          <p:spPr>
            <a:xfrm>
              <a:off x="30099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3486462" y="1097730"/>
              <a:ext cx="723275"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Actor</a:t>
              </a:r>
              <a:endParaRPr lang="en-US" dirty="0"/>
            </a:p>
          </p:txBody>
        </p:sp>
      </p:grpSp>
      <p:grpSp>
        <p:nvGrpSpPr>
          <p:cNvPr id="15" name="Group 14"/>
          <p:cNvGrpSpPr/>
          <p:nvPr/>
        </p:nvGrpSpPr>
        <p:grpSpPr>
          <a:xfrm>
            <a:off x="8839200" y="675937"/>
            <a:ext cx="1676400" cy="990600"/>
            <a:chOff x="381000" y="835223"/>
            <a:chExt cx="1676400" cy="990600"/>
          </a:xfrm>
        </p:grpSpPr>
        <p:sp>
          <p:nvSpPr>
            <p:cNvPr id="9" name="Oval 8"/>
            <p:cNvSpPr/>
            <p:nvPr/>
          </p:nvSpPr>
          <p:spPr>
            <a:xfrm>
              <a:off x="3810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819090" y="1097730"/>
              <a:ext cx="800219"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a:t>
              </a:r>
              <a:endParaRPr lang="en-US" dirty="0"/>
            </a:p>
          </p:txBody>
        </p:sp>
      </p:grpSp>
      <p:grpSp>
        <p:nvGrpSpPr>
          <p:cNvPr id="17" name="Group 16"/>
          <p:cNvGrpSpPr/>
          <p:nvPr/>
        </p:nvGrpSpPr>
        <p:grpSpPr>
          <a:xfrm>
            <a:off x="7791202" y="1716860"/>
            <a:ext cx="1828800" cy="990600"/>
            <a:chOff x="5638800" y="835223"/>
            <a:chExt cx="1828800" cy="990600"/>
          </a:xfrm>
        </p:grpSpPr>
        <p:sp>
          <p:nvSpPr>
            <p:cNvPr id="11" name="Oval 10"/>
            <p:cNvSpPr/>
            <p:nvPr/>
          </p:nvSpPr>
          <p:spPr>
            <a:xfrm>
              <a:off x="5638800" y="835223"/>
              <a:ext cx="18288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5867400" y="1097730"/>
              <a:ext cx="1531188"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 _Actor</a:t>
              </a:r>
              <a:endParaRPr lang="en-US" dirty="0"/>
            </a:p>
          </p:txBody>
        </p:sp>
      </p:grpSp>
      <p:sp>
        <p:nvSpPr>
          <p:cNvPr id="19" name="TextBox 18"/>
          <p:cNvSpPr txBox="1"/>
          <p:nvPr/>
        </p:nvSpPr>
        <p:spPr>
          <a:xfrm>
            <a:off x="1566804" y="732656"/>
            <a:ext cx="4562410" cy="877163"/>
          </a:xfrm>
          <a:prstGeom prst="rect">
            <a:avLst/>
          </a:prstGeom>
          <a:noFill/>
        </p:spPr>
        <p:txBody>
          <a:bodyPr wrap="square" rtlCol="0">
            <a:spAutoFit/>
          </a:bodyPr>
          <a:lstStyle/>
          <a:p>
            <a:r>
              <a:rPr lang="en-US" sz="1700" dirty="0"/>
              <a:t>movie           : (movieid, name, release_date)</a:t>
            </a:r>
          </a:p>
          <a:p>
            <a:r>
              <a:rPr lang="en-US" sz="1700" dirty="0"/>
              <a:t>actor            : (actorid, name)</a:t>
            </a:r>
          </a:p>
          <a:p>
            <a:r>
              <a:rPr lang="en-US" sz="1700" dirty="0"/>
              <a:t>actor_movie : (actorid, movieid)</a:t>
            </a:r>
          </a:p>
        </p:txBody>
      </p:sp>
    </p:spTree>
    <p:extLst>
      <p:ext uri="{BB962C8B-B14F-4D97-AF65-F5344CB8AC3E}">
        <p14:creationId xmlns:p14="http://schemas.microsoft.com/office/powerpoint/2010/main" val="3512762323"/>
      </p:ext>
    </p:extLst>
  </p:cSld>
  <p:clrMapOvr>
    <a:masterClrMapping/>
  </p:clrMapOvr>
</p:sld>
</file>

<file path=ppt/slides/slide5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in, all, any, some</a:t>
            </a:r>
          </a:p>
        </p:txBody>
      </p:sp>
      <p:sp>
        <p:nvSpPr>
          <p:cNvPr id="3" name="Rectangle 2"/>
          <p:cNvSpPr/>
          <p:nvPr/>
        </p:nvSpPr>
        <p:spPr>
          <a:xfrm>
            <a:off x="1689100" y="147936"/>
            <a:ext cx="8826500" cy="132343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When used with a subquery, the word IN is an alias for =ANY</a:t>
            </a:r>
          </a:p>
          <a:p>
            <a:endParaRPr lang="en-IN" sz="4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NOT IN is not an alias for &lt;&gt;ANY, but for &lt;&gt;ALL</a:t>
            </a:r>
          </a:p>
        </p:txBody>
      </p:sp>
    </p:spTree>
    <p:extLst>
      <p:ext uri="{BB962C8B-B14F-4D97-AF65-F5344CB8AC3E}">
        <p14:creationId xmlns:p14="http://schemas.microsoft.com/office/powerpoint/2010/main" val="633614632"/>
      </p:ext>
    </p:extLst>
  </p:cSld>
  <p:clrMapOvr>
    <a:masterClrMapping/>
  </p:clrMapOvr>
</p:sld>
</file>

<file path=ppt/slides/slide5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3" name="Rectangle 2"/>
          <p:cNvSpPr/>
          <p:nvPr/>
        </p:nvSpPr>
        <p:spPr>
          <a:xfrm>
            <a:off x="335361" y="728008"/>
            <a:ext cx="7284640" cy="1692771"/>
          </a:xfrm>
          <a:prstGeom prst="rect">
            <a:avLst/>
          </a:prstGeom>
        </p:spPr>
        <p:txBody>
          <a:bodyPr wrap="square">
            <a:spAutoFit/>
          </a:bodyPr>
          <a:lstStyle/>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ANY</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IN</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r>
              <a:rPr lang="en-IN" sz="2000" dirty="0">
                <a:solidFill>
                  <a:srgbClr val="000000"/>
                </a:solidFill>
                <a:latin typeface="Arial" panose="020B0604020202020204" pitchFamily="34" charset="0"/>
                <a:cs typeface="Arial" panose="020B0604020202020204" pitchFamily="34" charset="0"/>
              </a:rPr>
              <a:t> </a:t>
            </a:r>
          </a:p>
          <a:p>
            <a:pPr marL="342900" indent="-342900">
              <a:buFont typeface="Arial" panose="020B0604020202020204" pitchFamily="34" charset="0"/>
              <a:buChar char="•"/>
            </a:pPr>
            <a:endParaRPr lang="en-IN" sz="800" dirty="0">
              <a:solidFill>
                <a:srgbClr val="00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SOME</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latin typeface="Arial" panose="020B0604020202020204" pitchFamily="34" charset="0"/>
                <a:cs typeface="Arial" panose="020B0604020202020204" pitchFamily="34" charset="0"/>
              </a:rPr>
              <a:t>operand</a:t>
            </a:r>
            <a:r>
              <a:rPr lang="en-IN" sz="2000" dirty="0">
                <a:latin typeface="Arial" panose="020B0604020202020204" pitchFamily="34" charset="0"/>
                <a:cs typeface="Arial" panose="020B0604020202020204" pitchFamily="34" charset="0"/>
              </a:rPr>
              <a:t> </a:t>
            </a:r>
            <a:r>
              <a:rPr lang="en-IN" sz="2000" i="1" dirty="0">
                <a:latin typeface="Arial" panose="020B0604020202020204" pitchFamily="34" charset="0"/>
                <a:cs typeface="Arial" panose="020B0604020202020204" pitchFamily="34" charset="0"/>
              </a:rPr>
              <a:t>comparison_operator</a:t>
            </a:r>
            <a:r>
              <a:rPr lang="en-IN" sz="2000" dirty="0">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ALL</a:t>
            </a:r>
            <a:r>
              <a:rPr lang="en-IN" sz="2000" dirty="0">
                <a:latin typeface="Arial" panose="020B0604020202020204" pitchFamily="34" charset="0"/>
                <a:cs typeface="Arial" panose="020B0604020202020204" pitchFamily="34" charset="0"/>
              </a:rPr>
              <a:t> (</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p:txBody>
      </p:sp>
      <p:sp>
        <p:nvSpPr>
          <p:cNvPr id="10" name="Rectangle 9"/>
          <p:cNvSpPr/>
          <p:nvPr/>
        </p:nvSpPr>
        <p:spPr>
          <a:xfrm>
            <a:off x="7620001" y="757696"/>
            <a:ext cx="4380655" cy="400110"/>
          </a:xfrm>
          <a:prstGeom prst="rect">
            <a:avLst/>
          </a:prstGeom>
          <a:solidFill>
            <a:schemeClr val="accent1">
              <a:lumMod val="75000"/>
            </a:schemeClr>
          </a:solidFill>
        </p:spPr>
        <p:txBody>
          <a:bodyPr wrap="square">
            <a:spAutoFit/>
          </a:bodyPr>
          <a:lstStyle/>
          <a:p>
            <a:r>
              <a:rPr lang="en-IN" sz="2000" dirty="0">
                <a:solidFill>
                  <a:schemeClr val="bg1"/>
                </a:solidFill>
                <a:latin typeface="Arial" panose="020B0604020202020204" pitchFamily="34" charset="0"/>
                <a:cs typeface="Arial" panose="020B0604020202020204" pitchFamily="34" charset="0"/>
              </a:rPr>
              <a:t>The word SOME is an alias for ANY.</a:t>
            </a:r>
          </a:p>
        </p:txBody>
      </p:sp>
      <p:sp>
        <p:nvSpPr>
          <p:cNvPr id="5" name="Rectangle 4"/>
          <p:cNvSpPr/>
          <p:nvPr/>
        </p:nvSpPr>
        <p:spPr>
          <a:xfrm>
            <a:off x="263353" y="5204921"/>
            <a:ext cx="10657183" cy="128753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10 </a:t>
            </a:r>
            <a:r>
              <a:rPr lang="en-IN" dirty="0">
                <a:solidFill>
                  <a:schemeClr val="accent5">
                    <a:lumMod val="75000"/>
                  </a:schemeClr>
                </a:solidFill>
                <a:latin typeface="Liberation Mono"/>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job </a:t>
            </a:r>
            <a:r>
              <a:rPr lang="en-US" dirty="0">
                <a:solidFill>
                  <a:schemeClr val="accent5">
                    <a:lumMod val="75000"/>
                  </a:schemeClr>
                </a:solidFill>
                <a:latin typeface="Liberation Mono"/>
                <a:cs typeface="Arial" panose="020B0604020202020204" pitchFamily="34" charset="0"/>
              </a:rPr>
              <a: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cs typeface="Arial" panose="020B0604020202020204" pitchFamily="34" charset="0"/>
              </a:rPr>
              <a:t> job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cs typeface="Arial" panose="020B0604020202020204" pitchFamily="34" charset="0"/>
              </a:rPr>
              <a:t>(</a:t>
            </a:r>
            <a:r>
              <a:rPr lang="en-US" dirty="0">
                <a:solidFill>
                  <a:srgbClr val="990055"/>
                </a:solidFill>
                <a:latin typeface="Liberation Mono"/>
              </a:rPr>
              <a:t>10</a:t>
            </a:r>
            <a:r>
              <a:rPr lang="en-US" dirty="0">
                <a:latin typeface="Liberation Mono"/>
                <a:cs typeface="Arial" panose="020B0604020202020204" pitchFamily="34" charset="0"/>
              </a:rPr>
              <a:t>, </a:t>
            </a:r>
            <a:r>
              <a:rPr lang="en-US" dirty="0">
                <a:solidFill>
                  <a:srgbClr val="990055"/>
                </a:solidFill>
                <a:latin typeface="Liberation Mono"/>
              </a:rPr>
              <a:t>20</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=ANY</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p>
        </p:txBody>
      </p:sp>
      <p:sp>
        <p:nvSpPr>
          <p:cNvPr id="13" name="Rectangle 12">
            <a:extLst>
              <a:ext uri="{FF2B5EF4-FFF2-40B4-BE49-F238E27FC236}">
                <a16:creationId xmlns:a16="http://schemas.microsoft.com/office/drawing/2014/main" id="{898CBCB0-010D-4B64-9354-E7CC9252300B}"/>
              </a:ext>
            </a:extLst>
          </p:cNvPr>
          <p:cNvSpPr/>
          <p:nvPr/>
        </p:nvSpPr>
        <p:spPr>
          <a:xfrm>
            <a:off x="263353" y="2708920"/>
            <a:ext cx="11593289"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keyword, which must follow a comparison operator, means return TRUE if the comparison is TRUE for ANY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word </a:t>
            </a: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which must follow a comparison operator, means return TRUE if the comparison is TRUE for ALL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and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are </a:t>
            </a:r>
            <a:r>
              <a:rPr lang="en-IN" b="1" i="1" dirty="0">
                <a:solidFill>
                  <a:srgbClr val="FF0000"/>
                </a:solidFill>
                <a:latin typeface="Arial" panose="020B0604020202020204" pitchFamily="34" charset="0"/>
                <a:cs typeface="Arial" panose="020B0604020202020204" pitchFamily="34" charset="0"/>
              </a:rPr>
              <a:t>not synonyms</a:t>
            </a:r>
            <a:r>
              <a:rPr lang="en-IN" dirty="0">
                <a:latin typeface="Arial" panose="020B0604020202020204" pitchFamily="34" charset="0"/>
                <a:cs typeface="Arial" panose="020B0604020202020204" pitchFamily="34" charset="0"/>
              </a:rPr>
              <a:t> when used with an expression list. </a:t>
            </a: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can take an expression list, but </a:t>
            </a:r>
            <a:r>
              <a:rPr lang="en-IN" b="1" dirty="0">
                <a:latin typeface="Arial" panose="020B0604020202020204" pitchFamily="34" charset="0"/>
                <a:cs typeface="Arial" panose="020B0604020202020204" pitchFamily="34" charset="0"/>
              </a:rPr>
              <a:t>=ANY </a:t>
            </a:r>
            <a:r>
              <a:rPr lang="en-IN" dirty="0">
                <a:latin typeface="Arial" panose="020B0604020202020204" pitchFamily="34" charset="0"/>
                <a:cs typeface="Arial" panose="020B0604020202020204" pitchFamily="34" charset="0"/>
              </a:rPr>
              <a:t>cannot.</a:t>
            </a:r>
          </a:p>
        </p:txBody>
      </p:sp>
      <p:grpSp>
        <p:nvGrpSpPr>
          <p:cNvPr id="36" name="Group 35">
            <a:extLst>
              <a:ext uri="{FF2B5EF4-FFF2-40B4-BE49-F238E27FC236}">
                <a16:creationId xmlns:a16="http://schemas.microsoft.com/office/drawing/2014/main" id="{E9DE16DA-135C-CF8E-E76F-825524933940}"/>
              </a:ext>
            </a:extLst>
          </p:cNvPr>
          <p:cNvGrpSpPr/>
          <p:nvPr/>
        </p:nvGrpSpPr>
        <p:grpSpPr>
          <a:xfrm>
            <a:off x="6384032" y="4725144"/>
            <a:ext cx="4968552" cy="1656184"/>
            <a:chOff x="6168008" y="4725144"/>
            <a:chExt cx="4968552" cy="1656184"/>
          </a:xfrm>
        </p:grpSpPr>
        <p:cxnSp>
          <p:nvCxnSpPr>
            <p:cNvPr id="30" name="Straight Arrow Connector 29">
              <a:extLst>
                <a:ext uri="{FF2B5EF4-FFF2-40B4-BE49-F238E27FC236}">
                  <a16:creationId xmlns:a16="http://schemas.microsoft.com/office/drawing/2014/main" id="{EC0F3646-4001-6195-D0A2-82EACAAD4E56}"/>
                </a:ext>
              </a:extLst>
            </p:cNvPr>
            <p:cNvCxnSpPr>
              <a:cxnSpLocks/>
            </p:cNvCxnSpPr>
            <p:nvPr/>
          </p:nvCxnSpPr>
          <p:spPr>
            <a:xfrm flipH="1">
              <a:off x="6168008" y="6381328"/>
              <a:ext cx="4968552"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381D0FAA-5D5B-DB11-326F-FDECA1FE6DA1}"/>
                </a:ext>
              </a:extLst>
            </p:cNvPr>
            <p:cNvCxnSpPr>
              <a:cxnSpLocks/>
            </p:cNvCxnSpPr>
            <p:nvPr/>
          </p:nvCxnSpPr>
          <p:spPr>
            <a:xfrm flipV="1">
              <a:off x="11117104" y="4725144"/>
              <a:ext cx="0" cy="165618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65160135"/>
      </p:ext>
    </p:extLst>
  </p:cSld>
  <p:clrMapOvr>
    <a:masterClrMapping/>
  </p:clrMapOvr>
</p:sld>
</file>

<file path=ppt/slides/slide5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44BD501-6B07-4E27-B27E-2244E93338A2}"/>
              </a:ext>
            </a:extLst>
          </p:cNvPr>
          <p:cNvSpPr/>
          <p:nvPr/>
        </p:nvSpPr>
        <p:spPr>
          <a:xfrm>
            <a:off x="317732" y="1231200"/>
            <a:ext cx="11466900" cy="1015663"/>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ANY</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ALL</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A5C33303-311C-4BB3-B9E6-D387463EFAC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10" name="Rectangle 9">
            <a:extLst>
              <a:ext uri="{FF2B5EF4-FFF2-40B4-BE49-F238E27FC236}">
                <a16:creationId xmlns:a16="http://schemas.microsoft.com/office/drawing/2014/main" id="{F39FBB1B-41BB-42C7-B37A-5A9464C371E9}"/>
              </a:ext>
            </a:extLst>
          </p:cNvPr>
          <p:cNvSpPr/>
          <p:nvPr/>
        </p:nvSpPr>
        <p:spPr>
          <a:xfrm>
            <a:off x="263352" y="2725746"/>
            <a:ext cx="11593288" cy="1803699"/>
          </a:xfrm>
          <a:prstGeom prst="rect">
            <a:avLst/>
          </a:prstGeom>
        </p:spPr>
        <p:txBody>
          <a:bodyPr wrap="square">
            <a:spAutoFit/>
          </a:bodyPr>
          <a:lstStyle/>
          <a:p>
            <a:pPr marL="285750" indent="-285750">
              <a:lnSpc>
                <a:spcPct val="150000"/>
              </a:lnSpc>
              <a:buFont typeface="Arial" panose="020B0604020202020204" pitchFamily="34" charset="0"/>
              <a:buChar char="•"/>
            </a:pPr>
            <a:r>
              <a:rPr lang="en-IN" sz="18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US" sz="400" dirty="0">
              <a:solidFill>
                <a:srgbClr val="0077AA"/>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p:txBody>
      </p:sp>
      <p:sp>
        <p:nvSpPr>
          <p:cNvPr id="9" name="TextBox 8">
            <a:extLst>
              <a:ext uri="{FF2B5EF4-FFF2-40B4-BE49-F238E27FC236}">
                <a16:creationId xmlns:a16="http://schemas.microsoft.com/office/drawing/2014/main" id="{E5B793E1-A8D8-4EA4-9ADB-958ED9F817E2}"/>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47758154"/>
      </p:ext>
    </p:extLst>
  </p:cSld>
  <p:clrMapOvr>
    <a:masterClrMapping/>
  </p:clrMapOvr>
</p:sld>
</file>

<file path=ppt/slides/slide5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63352" y="620688"/>
            <a:ext cx="11593288"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not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or equal to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or equal to the biggest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any / some</a:t>
            </a:r>
          </a:p>
        </p:txBody>
      </p:sp>
      <p:pic>
        <p:nvPicPr>
          <p:cNvPr id="1026" name="Picture 2" descr="greater_than_any"/>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1384" y="3429000"/>
            <a:ext cx="5040000" cy="33096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ess_than_an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2584" y="3410159"/>
            <a:ext cx="5040000" cy="325920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A5430A-043C-B249-F239-B21BF39CFA1B}"/>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ANY</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3779669869"/>
      </p:ext>
    </p:extLst>
  </p:cSld>
  <p:clrMapOvr>
    <a:masterClrMapping/>
  </p:clrMapOvr>
</p:sld>
</file>

<file path=ppt/slides/slide5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p:cNvSpPr/>
          <p:nvPr/>
        </p:nvSpPr>
        <p:spPr>
          <a:xfrm>
            <a:off x="263352" y="619200"/>
            <a:ext cx="11592000"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match all the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not match any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or equal to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or equal to the smallest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sp>
        <p:nvSpPr>
          <p:cNvPr id="10" name="AutoShape 4" descr="sql_greater_than_all"/>
          <p:cNvSpPr>
            <a:spLocks noChangeAspect="1" noChangeArrowheads="1"/>
          </p:cNvSpPr>
          <p:nvPr/>
        </p:nvSpPr>
        <p:spPr bwMode="auto">
          <a:xfrm>
            <a:off x="1831975" y="79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2" name="AutoShape 6" descr="sql_greater_than_all"/>
          <p:cNvSpPr>
            <a:spLocks noChangeAspect="1" noChangeArrowheads="1"/>
          </p:cNvSpPr>
          <p:nvPr/>
        </p:nvSpPr>
        <p:spPr bwMode="auto">
          <a:xfrm>
            <a:off x="1984375" y="1603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26" name="Picture 2" descr="https://i2.wp.com/ramkedem.com/wp-content/uploads/2015/08/sql_greater_than_al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70" y="3443627"/>
            <a:ext cx="5539015" cy="3096344"/>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https://i2.wp.com/ramkedem.com/wp-content/uploads/2015/08/less_than_al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7627" y="3380450"/>
            <a:ext cx="5539013" cy="322269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728A8CD-0A95-87C5-016B-74C776CAF760}"/>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ALL</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793184418"/>
      </p:ext>
    </p:extLst>
  </p:cSld>
  <p:clrMapOvr>
    <a:masterClrMapping/>
  </p:clrMapOvr>
</p:sld>
</file>

<file path=ppt/slides/slide5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grpSp>
        <p:nvGrpSpPr>
          <p:cNvPr id="6" name="Group 5"/>
          <p:cNvGrpSpPr/>
          <p:nvPr/>
        </p:nvGrpSpPr>
        <p:grpSpPr>
          <a:xfrm>
            <a:off x="263352" y="1134441"/>
            <a:ext cx="11480764" cy="1537541"/>
            <a:chOff x="152400" y="4625967"/>
            <a:chExt cx="8763000" cy="1537541"/>
          </a:xfrm>
        </p:grpSpPr>
        <p:sp>
          <p:nvSpPr>
            <p:cNvPr id="4" name="Rectangle 3"/>
            <p:cNvSpPr/>
            <p:nvPr/>
          </p:nvSpPr>
          <p:spPr>
            <a:xfrm>
              <a:off x="152400" y="4812298"/>
              <a:ext cx="6324600" cy="461665"/>
            </a:xfrm>
            <a:prstGeom prst="rect">
              <a:avLst/>
            </a:prstGeom>
          </p:spPr>
          <p:txBody>
            <a:bodyPr wrap="square">
              <a:spAutoFit/>
            </a:bodyPr>
            <a:lstStyle/>
            <a:p>
              <a:r>
                <a:rPr lang="en-IN" sz="2400" dirty="0">
                  <a:solidFill>
                    <a:schemeClr val="accent5">
                      <a:lumMod val="75000"/>
                    </a:schemeClr>
                  </a:solidFill>
                </a:rPr>
                <a:t>The expression is TRUE, if table T2 is empty.</a:t>
              </a:r>
            </a:p>
          </p:txBody>
        </p:sp>
        <p:sp>
          <p:nvSpPr>
            <p:cNvPr id="5" name="Rectangle 4"/>
            <p:cNvSpPr/>
            <p:nvPr/>
          </p:nvSpPr>
          <p:spPr>
            <a:xfrm>
              <a:off x="152400" y="5486400"/>
              <a:ext cx="8763000" cy="677108"/>
            </a:xfrm>
            <a:prstGeom prst="rect">
              <a:avLst/>
            </a:prstGeom>
          </p:spPr>
          <p:txBody>
            <a:bodyPr wrap="square">
              <a:spAutoFit/>
            </a:bodyPr>
            <a:lstStyle/>
            <a:p>
              <a:r>
                <a:rPr lang="en-IN" sz="2000" dirty="0">
                  <a:solidFill>
                    <a:srgbClr val="0077AA"/>
                  </a:solidFill>
                  <a:latin typeface="Arial" panose="020B0604020202020204" pitchFamily="34" charset="0"/>
                  <a:ea typeface="Times New Roman" panose="02020603050405020304" pitchFamily="18" charset="0"/>
                </a:rPr>
                <a:t> SELECT </a:t>
              </a:r>
              <a:r>
                <a:rPr lang="en-IN" sz="2000" dirty="0">
                  <a:solidFill>
                    <a:srgbClr val="A67F59"/>
                  </a:solidFill>
                  <a:latin typeface="Arial" panose="020B0604020202020204" pitchFamily="34" charset="0"/>
                  <a:cs typeface="Arial" panose="020B0604020202020204" pitchFamily="34" charset="0"/>
                </a:rPr>
                <a:t>*</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EMP</a:t>
              </a:r>
              <a:r>
                <a:rPr lang="en-IN" sz="2000" dirty="0">
                  <a:solidFill>
                    <a:srgbClr val="0077AA"/>
                  </a:solidFill>
                  <a:latin typeface="Arial" panose="020B0604020202020204" pitchFamily="34" charset="0"/>
                  <a:ea typeface="Times New Roman" panose="02020603050405020304" pitchFamily="18" charset="0"/>
                </a:rPr>
                <a:t> WHERE </a:t>
              </a:r>
              <a:r>
                <a:rPr lang="en-IN" sz="2000" dirty="0">
                  <a:latin typeface="Arial" panose="020B0604020202020204" pitchFamily="34" charset="0"/>
                  <a:ea typeface="Times New Roman" panose="02020603050405020304" pitchFamily="18" charset="0"/>
                </a:rPr>
                <a:t>DEPTNO</a:t>
              </a:r>
              <a:r>
                <a:rPr lang="en-IN" sz="2000" dirty="0">
                  <a:solidFill>
                    <a:srgbClr val="0077AA"/>
                  </a:solidFill>
                  <a:latin typeface="Arial" panose="020B0604020202020204" pitchFamily="34" charset="0"/>
                  <a:ea typeface="Times New Roman" panose="02020603050405020304" pitchFamily="18" charset="0"/>
                </a:rPr>
                <a:t> </a:t>
              </a:r>
              <a:r>
                <a:rPr lang="en-IN" sz="2000" dirty="0">
                  <a:solidFill>
                    <a:schemeClr val="accent5">
                      <a:lumMod val="75000"/>
                    </a:schemeClr>
                  </a:solidFill>
                  <a:latin typeface="Arial" panose="020B0604020202020204" pitchFamily="34" charset="0"/>
                  <a:cs typeface="Arial" panose="020B0604020202020204" pitchFamily="34" charset="0"/>
                </a:rPr>
                <a:t>&gt;ALL </a:t>
              </a:r>
              <a:r>
                <a:rPr lang="en-IN" sz="2000" dirty="0">
                  <a:latin typeface="Arial" panose="020B0604020202020204" pitchFamily="34" charset="0"/>
                  <a:ea typeface="Times New Roman" panose="02020603050405020304" pitchFamily="18" charset="0"/>
                </a:rPr>
                <a:t>(</a:t>
              </a:r>
              <a:r>
                <a:rPr lang="en-IN" sz="2000" dirty="0">
                  <a:solidFill>
                    <a:srgbClr val="0077AA"/>
                  </a:solidFill>
                  <a:latin typeface="Arial" panose="020B0604020202020204" pitchFamily="34" charset="0"/>
                  <a:ea typeface="Times New Roman" panose="02020603050405020304" pitchFamily="18" charset="0"/>
                </a:rPr>
                <a:t>SELECT </a:t>
              </a:r>
              <a:r>
                <a:rPr lang="en-IN" sz="2000" dirty="0">
                  <a:latin typeface="Arial" panose="020B0604020202020204" pitchFamily="34" charset="0"/>
                  <a:ea typeface="Times New Roman" panose="02020603050405020304" pitchFamily="18" charset="0"/>
                </a:rPr>
                <a:t>C1</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T2)</a:t>
              </a:r>
              <a:r>
                <a:rPr lang="en-IN" sz="2000" dirty="0">
                  <a:solidFill>
                    <a:schemeClr val="bg1">
                      <a:lumMod val="65000"/>
                    </a:schemeClr>
                  </a:solidFill>
                  <a:latin typeface="Arial" panose="020B0604020202020204" pitchFamily="34" charset="0"/>
                  <a:ea typeface="Times New Roman" panose="02020603050405020304" pitchFamily="18" charset="0"/>
                </a:rPr>
                <a:t> </a:t>
              </a:r>
              <a:r>
                <a:rPr lang="en-IN" dirty="0">
                  <a:solidFill>
                    <a:srgbClr val="FF0000"/>
                  </a:solidFill>
                  <a:latin typeface="Arial" panose="020B0604020202020204" pitchFamily="34" charset="0"/>
                  <a:ea typeface="Times New Roman" panose="02020603050405020304" pitchFamily="18" charset="0"/>
                </a:rPr>
                <a:t>// This statement will return all rows from EMP table.</a:t>
              </a:r>
              <a:endParaRPr lang="en-IN" sz="2000" dirty="0">
                <a:solidFill>
                  <a:srgbClr val="FF0000"/>
                </a:solidFill>
                <a:latin typeface="Arial" panose="020B0604020202020204" pitchFamily="34" charset="0"/>
                <a:ea typeface="Times New Roman" panose="02020603050405020304" pitchFamily="18" charset="0"/>
              </a:endParaRPr>
            </a:p>
          </p:txBody>
        </p:sp>
        <p:cxnSp>
          <p:nvCxnSpPr>
            <p:cNvPr id="7" name="Elbow Connector 6"/>
            <p:cNvCxnSpPr/>
            <p:nvPr/>
          </p:nvCxnSpPr>
          <p:spPr>
            <a:xfrm rot="5400000" flipH="1" flipV="1">
              <a:off x="6253499" y="5043000"/>
              <a:ext cx="612000" cy="4320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6253185" y="4625967"/>
              <a:ext cx="989317" cy="369332"/>
            </a:xfrm>
            <a:prstGeom prst="rect">
              <a:avLst/>
            </a:prstGeom>
            <a:noFill/>
          </p:spPr>
          <p:txBody>
            <a:bodyPr wrap="square" rtlCol="0">
              <a:spAutoFit/>
            </a:bodyPr>
            <a:lstStyle/>
            <a:p>
              <a:r>
                <a:rPr lang="en-IN" dirty="0"/>
                <a:t>empty table</a:t>
              </a:r>
            </a:p>
          </p:txBody>
        </p:sp>
        <p:cxnSp>
          <p:nvCxnSpPr>
            <p:cNvPr id="11" name="Elbow Connector 10"/>
            <p:cNvCxnSpPr/>
            <p:nvPr/>
          </p:nvCxnSpPr>
          <p:spPr>
            <a:xfrm rot="16200000" flipV="1">
              <a:off x="3890417" y="5251818"/>
              <a:ext cx="321565" cy="3048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16566366"/>
      </p:ext>
    </p:extLst>
  </p:cSld>
  <p:clrMapOvr>
    <a:masterClrMapping/>
  </p:clrMapOvr>
</p:sld>
</file>

<file path=ppt/slides/slide5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5" name="Rectangle 4"/>
          <p:cNvSpPr/>
          <p:nvPr/>
        </p:nvSpPr>
        <p:spPr>
          <a:xfrm>
            <a:off x="263352" y="1115452"/>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a subquery after a comparison operator, followed by the keyword IN, ALL, ANY, or SOME.</a:t>
            </a:r>
          </a:p>
        </p:txBody>
      </p:sp>
      <p:sp>
        <p:nvSpPr>
          <p:cNvPr id="2" name="Rectangle 1"/>
          <p:cNvSpPr/>
          <p:nvPr/>
        </p:nvSpPr>
        <p:spPr>
          <a:xfrm>
            <a:off x="263352" y="1813680"/>
            <a:ext cx="11593288" cy="295786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A67F59"/>
                </a:solidFill>
                <a:latin typeface="Liberation Mono"/>
              </a:rPr>
              <a:t>OR</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&gt;ALL</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&gt;ANY</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&gt;SOME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server </a:t>
            </a:r>
            <a:r>
              <a:rPr lang="en-IN" dirty="0">
                <a:solidFill>
                  <a:srgbClr val="0077AA"/>
                </a:solidFill>
                <a:latin typeface="Liberation Mono"/>
              </a:rPr>
              <a:t>WHERE</a:t>
            </a:r>
            <a:r>
              <a:rPr lang="en-IN" dirty="0">
                <a:latin typeface="Liberation Mono"/>
              </a:rPr>
              <a:t> id </a:t>
            </a:r>
            <a:r>
              <a:rPr lang="en-IN" dirty="0">
                <a:solidFill>
                  <a:schemeClr val="accent5">
                    <a:lumMod val="75000"/>
                  </a:schemeClr>
                </a:solidFill>
                <a:latin typeface="Liberation Mono"/>
                <a:cs typeface="Arial" panose="020B0604020202020204" pitchFamily="34" charset="0"/>
              </a:rPr>
              <a:t>=ANY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id </a:t>
            </a:r>
            <a:r>
              <a:rPr lang="en-IN" dirty="0">
                <a:solidFill>
                  <a:srgbClr val="0077AA"/>
                </a:solidFill>
                <a:latin typeface="Liberation Mono"/>
              </a:rPr>
              <a:t>FROM</a:t>
            </a:r>
            <a:r>
              <a:rPr lang="en-IN" dirty="0">
                <a:latin typeface="Liberation Mono"/>
              </a:rPr>
              <a:t> runningserver</a:t>
            </a:r>
            <a:r>
              <a:rPr lang="en-IN" dirty="0">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match all the values in the list </a:t>
            </a:r>
            <a:endParaRPr lang="en-IN"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&lt;ALL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must be smaller than the smallest value</a:t>
            </a:r>
            <a:endParaRPr lang="en-US"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smaller than the biggest value </a:t>
            </a:r>
            <a:endParaRPr lang="en-IN" dirty="0">
              <a:solidFill>
                <a:srgbClr val="41C60C"/>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342CAA33-CBCB-4C62-9575-983D70C0846E}"/>
              </a:ext>
            </a:extLst>
          </p:cNvPr>
          <p:cNvSpPr/>
          <p:nvPr/>
        </p:nvSpPr>
        <p:spPr>
          <a:xfrm>
            <a:off x="263352" y="5590981"/>
            <a:ext cx="11593288" cy="646331"/>
          </a:xfrm>
          <a:prstGeom prst="rect">
            <a:avLst/>
          </a:prstGeom>
        </p:spPr>
        <p:txBody>
          <a:bodyPr wrap="square">
            <a:spAutoFit/>
          </a:bodyPr>
          <a:lstStyle/>
          <a:p>
            <a:r>
              <a:rPr lang="en-IN" dirty="0"/>
              <a:t>SELECT * FROM d1 WHERE c1 not in (SELECT min(c1) FROM d1 GROUP BY deptno, dname, loc, walletid) ORDER BY deptno;</a:t>
            </a:r>
          </a:p>
        </p:txBody>
      </p:sp>
    </p:spTree>
    <p:extLst>
      <p:ext uri="{BB962C8B-B14F-4D97-AF65-F5344CB8AC3E}">
        <p14:creationId xmlns:p14="http://schemas.microsoft.com/office/powerpoint/2010/main" val="3489079377"/>
      </p:ext>
    </p:extLst>
  </p:cSld>
  <p:clrMapOvr>
    <a:masterClrMapping/>
  </p:clrMapOvr>
</p:sld>
</file>

<file path=ppt/slides/slide5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row subquery</a:t>
            </a:r>
          </a:p>
        </p:txBody>
      </p:sp>
    </p:spTree>
    <p:extLst>
      <p:ext uri="{BB962C8B-B14F-4D97-AF65-F5344CB8AC3E}">
        <p14:creationId xmlns:p14="http://schemas.microsoft.com/office/powerpoint/2010/main" val="3149963047"/>
      </p:ext>
    </p:extLst>
  </p:cSld>
  <p:clrMapOvr>
    <a:masterClrMapping/>
  </p:clrMapOvr>
</p:sld>
</file>

<file path=ppt/slides/slide5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row subqueries</a:t>
            </a:r>
          </a:p>
        </p:txBody>
      </p:sp>
      <p:sp>
        <p:nvSpPr>
          <p:cNvPr id="5" name="Rectangle 4"/>
          <p:cNvSpPr/>
          <p:nvPr/>
        </p:nvSpPr>
        <p:spPr>
          <a:xfrm>
            <a:off x="623392" y="838200"/>
            <a:ext cx="1094521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Scalar or column Subqueries return a single value or a column of values. A row subquery is a subquery variant that returns a single row and can thus return more than one column value. You can use = , &gt;, &lt;, &gt;=, &lt;=, &lt;&gt;, !=, &lt;=&gt;</a:t>
            </a:r>
          </a:p>
        </p:txBody>
      </p:sp>
      <p:sp>
        <p:nvSpPr>
          <p:cNvPr id="2" name="Rectangle 1"/>
          <p:cNvSpPr/>
          <p:nvPr/>
        </p:nvSpPr>
        <p:spPr>
          <a:xfrm>
            <a:off x="623392" y="1981200"/>
            <a:ext cx="10945216" cy="923330"/>
          </a:xfrm>
          <a:prstGeom prst="rect">
            <a:avLst/>
          </a:prstGeom>
        </p:spPr>
        <p:txBody>
          <a:bodyPr wrap="square">
            <a:spAutoFit/>
          </a:bodyPr>
          <a:lstStyle/>
          <a:p>
            <a:pPr marL="342900" indent="-342900">
              <a:buFont typeface="+mj-lt"/>
              <a:buAutoNum type="arabicPeriod"/>
            </a:pPr>
            <a:r>
              <a:rPr lang="en-IN" dirty="0">
                <a:solidFill>
                  <a:srgbClr val="FF0000"/>
                </a:solidFill>
                <a:latin typeface="Liberation Mono"/>
                <a:cs typeface="Arial" panose="020B0604020202020204" pitchFamily="34" charset="0"/>
              </a:rPr>
              <a:t>SELECT * from EMP where deptno, 1 = (SELECT deptno, 1 from DEPT where deptno=10);</a:t>
            </a:r>
          </a:p>
          <a:p>
            <a:pPr marL="342900" indent="-342900">
              <a:buFont typeface="+mj-lt"/>
              <a:buAutoNum type="arabicPeriod"/>
            </a:pPr>
            <a:endParaRPr lang="en-IN" dirty="0">
              <a:latin typeface="Liberation Mono"/>
              <a:cs typeface="Arial" panose="020B0604020202020204" pitchFamily="34" charset="0"/>
            </a:endParaRPr>
          </a:p>
          <a:p>
            <a:pPr marL="342900" indent="-342900">
              <a:buFont typeface="+mj-lt"/>
              <a:buAutoNum type="arabicPeriod"/>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ROW</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3788860"/>
      </p:ext>
    </p:extLst>
  </p:cSld>
  <p:clrMapOvr>
    <a:masterClrMapping/>
  </p:clrMapOvr>
</p:sld>
</file>

<file path=ppt/slides/slide5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exists or not exists</a:t>
            </a:r>
          </a:p>
        </p:txBody>
      </p:sp>
      <p:sp>
        <p:nvSpPr>
          <p:cNvPr id="4" name="TextBox 3">
            <a:extLst>
              <a:ext uri="{FF2B5EF4-FFF2-40B4-BE49-F238E27FC236}">
                <a16:creationId xmlns:a16="http://schemas.microsoft.com/office/drawing/2014/main" id="{516B4B0D-37BD-4C2F-A556-90597599C81E}"/>
              </a:ext>
            </a:extLst>
          </p:cNvPr>
          <p:cNvSpPr txBox="1"/>
          <p:nvPr/>
        </p:nvSpPr>
        <p:spPr>
          <a:xfrm>
            <a:off x="407368" y="332656"/>
            <a:ext cx="6096000" cy="373757"/>
          </a:xfrm>
          <a:prstGeom prst="rect">
            <a:avLst/>
          </a:prstGeom>
          <a:noFill/>
        </p:spPr>
        <p:txBody>
          <a:bodyPr wrap="square">
            <a:spAutoFit/>
          </a:bodyPr>
          <a:lstStyle/>
          <a:p>
            <a:pPr marL="285750" indent="-285750">
              <a:lnSpc>
                <a:spcPct val="107000"/>
              </a:lnSpc>
              <a:spcAft>
                <a:spcPts val="800"/>
              </a:spcAft>
              <a:buFont typeface="Arial" panose="020B0604020202020204" pitchFamily="34" charset="0"/>
              <a:buChar char="•"/>
            </a:pP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A67F59"/>
                </a:solidFill>
                <a:latin typeface="Liberation Mono"/>
              </a:rPr>
              <a: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FROM</a:t>
            </a:r>
            <a:r>
              <a:rPr lang="en-IN" sz="1800" dirty="0">
                <a:effectLst/>
                <a:latin typeface="Liberation Mono"/>
                <a:ea typeface="Calibri" panose="020F0502020204030204" pitchFamily="34" charset="0"/>
                <a:cs typeface="Times New Roman" panose="02020603050405020304" pitchFamily="18" charset="0"/>
              </a:rPr>
              <a:t> emp </a:t>
            </a:r>
            <a:r>
              <a:rPr lang="en-IN" dirty="0">
                <a:solidFill>
                  <a:srgbClr val="0077AA"/>
                </a:solidFill>
                <a:latin typeface="Liberation Mono"/>
              </a:rPr>
              <a:t>WHERE</a:t>
            </a:r>
            <a:r>
              <a:rPr lang="en-IN" sz="1800" dirty="0">
                <a:effectLst/>
                <a:latin typeface="Liberation Mono"/>
                <a:ea typeface="Calibri" panose="020F0502020204030204" pitchFamily="34" charset="0"/>
                <a:cs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EXISTS</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990055"/>
                </a:solidFill>
                <a:latin typeface="Liberation Mono"/>
              </a:rPr>
              <a:t>1</a:t>
            </a:r>
            <a:r>
              <a:rPr lang="en-IN" sz="1800" dirty="0">
                <a:effectLst/>
                <a:latin typeface="Liberation Mono"/>
                <a:ea typeface="Calibri" panose="020F0502020204030204" pitchFamily="34" charset="0"/>
                <a:cs typeface="Times New Roman" panose="02020603050405020304" pitchFamily="18" charset="0"/>
              </a:rPr>
              <a:t>);</a:t>
            </a:r>
            <a:endParaRPr lang="en-IN" sz="1600" dirty="0">
              <a:effectLst/>
              <a:latin typeface="Liberation Mono"/>
              <a:ea typeface="Calibri" panose="020F0502020204030204" pitchFamily="34" charset="0"/>
              <a:cs typeface="Times New Roman" panose="02020603050405020304" pitchFamily="18" charset="0"/>
            </a:endParaRPr>
          </a:p>
        </p:txBody>
      </p:sp>
      <p:sp>
        <p:nvSpPr>
          <p:cNvPr id="5" name="Rectangle 4">
            <a:extLst>
              <a:ext uri="{FF2B5EF4-FFF2-40B4-BE49-F238E27FC236}">
                <a16:creationId xmlns:a16="http://schemas.microsoft.com/office/drawing/2014/main" id="{1CD88E08-C76C-8FF2-E363-546D55450B9C}"/>
              </a:ext>
            </a:extLst>
          </p:cNvPr>
          <p:cNvSpPr/>
          <p:nvPr/>
        </p:nvSpPr>
        <p:spPr>
          <a:xfrm>
            <a:off x="2958229" y="3388930"/>
            <a:ext cx="709027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solidFill>
                  <a:srgbClr val="0077AA"/>
                </a:solidFill>
                <a:latin typeface="Liberation Mono"/>
                <a:cs typeface="Arial" panose="020B0604020202020204" pitchFamily="34" charset="0"/>
              </a:rPr>
              <a:t>r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NOT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EXISTS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Tree>
    <p:extLst>
      <p:ext uri="{BB962C8B-B14F-4D97-AF65-F5344CB8AC3E}">
        <p14:creationId xmlns:p14="http://schemas.microsoft.com/office/powerpoint/2010/main" val="2524787196"/>
      </p:ext>
    </p:extLst>
  </p:cSld>
  <p:clrMapOvr>
    <a:masterClrMapping/>
  </p:clrMapOvr>
</p:sld>
</file>

<file path=ppt/slides/slide5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exists or not exists</a:t>
            </a:r>
          </a:p>
        </p:txBody>
      </p:sp>
      <p:sp>
        <p:nvSpPr>
          <p:cNvPr id="5" name="Rectangle 4"/>
          <p:cNvSpPr/>
          <p:nvPr/>
        </p:nvSpPr>
        <p:spPr>
          <a:xfrm>
            <a:off x="335360" y="622429"/>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EXISTS operator tests for the existence of rows in the results set of the subquery. If a subquery row value is found, EXISTS subquery returns TRUE and in this case NOT EXISTS subquery will return FALSE.</a:t>
            </a:r>
          </a:p>
        </p:txBody>
      </p:sp>
      <p:sp>
        <p:nvSpPr>
          <p:cNvPr id="2" name="Rectangle 1"/>
          <p:cNvSpPr/>
          <p:nvPr/>
        </p:nvSpPr>
        <p:spPr>
          <a:xfrm>
            <a:off x="335360" y="3424351"/>
            <a:ext cx="11449272" cy="138499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8146F898-F24C-4ACB-83C1-8E1260993154}"/>
              </a:ext>
            </a:extLst>
          </p:cNvPr>
          <p:cNvSpPr/>
          <p:nvPr/>
        </p:nvSpPr>
        <p:spPr>
          <a:xfrm>
            <a:off x="335360" y="2865130"/>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records will be displayed from outer SELECT statement…. </a:t>
            </a:r>
          </a:p>
        </p:txBody>
      </p:sp>
      <p:sp>
        <p:nvSpPr>
          <p:cNvPr id="9" name="TextBox 8">
            <a:extLst>
              <a:ext uri="{FF2B5EF4-FFF2-40B4-BE49-F238E27FC236}">
                <a16:creationId xmlns:a16="http://schemas.microsoft.com/office/drawing/2014/main" id="{6AAF593A-2B6F-4663-9442-87BA5E417ADA}"/>
              </a:ext>
            </a:extLst>
          </p:cNvPr>
          <p:cNvSpPr txBox="1"/>
          <p:nvPr/>
        </p:nvSpPr>
        <p:spPr>
          <a:xfrm>
            <a:off x="317732" y="4953362"/>
            <a:ext cx="11466900" cy="8771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NOT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p:txBody>
      </p:sp>
      <p:sp>
        <p:nvSpPr>
          <p:cNvPr id="10" name="TextBox 9">
            <a:extLst>
              <a:ext uri="{FF2B5EF4-FFF2-40B4-BE49-F238E27FC236}">
                <a16:creationId xmlns:a16="http://schemas.microsoft.com/office/drawing/2014/main" id="{DA50F8D5-75FC-4E34-993E-01DEE0EB81BC}"/>
              </a:ext>
            </a:extLst>
          </p:cNvPr>
          <p:cNvSpPr txBox="1"/>
          <p:nvPr/>
        </p:nvSpPr>
        <p:spPr>
          <a:xfrm>
            <a:off x="335360" y="5961474"/>
            <a:ext cx="1159328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f</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m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a:t>
            </a:r>
            <a:r>
              <a:rPr lang="en-IN" dirty="0">
                <a:latin typeface="Liberation Mono"/>
              </a:rPr>
              <a:t>.deptno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m</a:t>
            </a:r>
            <a:r>
              <a:rPr lang="en-IN" dirty="0">
                <a:latin typeface="Liberation Mono"/>
              </a:rPr>
              <a:t>.deptno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gender </a:t>
            </a:r>
            <a:r>
              <a:rPr lang="en-IN" dirty="0">
                <a:solidFill>
                  <a:schemeClr val="accent5">
                    <a:lumMod val="75000"/>
                  </a:schemeClr>
                </a:solidFill>
                <a:latin typeface="Liberation Mono"/>
              </a:rPr>
              <a:t>= </a:t>
            </a:r>
            <a:r>
              <a:rPr lang="en-IN" dirty="0">
                <a:latin typeface="Liberation Mono"/>
              </a:rPr>
              <a:t>'m</a:t>
            </a:r>
            <a:r>
              <a:rPr lang="en-US" dirty="0">
                <a:latin typeface="Liberation Mono"/>
              </a:rPr>
              <a:t>'</a:t>
            </a:r>
            <a:r>
              <a:rPr lang="en-IN" dirty="0">
                <a:latin typeface="Liberation Mono"/>
                <a:cs typeface="Arial" panose="020B0604020202020204" pitchFamily="34" charset="0"/>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m</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f</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m</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f</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f</a:t>
            </a:r>
            <a:r>
              <a:rPr lang="en-US" dirty="0">
                <a:latin typeface="Liberation Mono"/>
              </a:rPr>
              <a:t>.gender </a:t>
            </a:r>
            <a:r>
              <a:rPr lang="en-US" dirty="0">
                <a:solidFill>
                  <a:schemeClr val="accent5">
                    <a:lumMod val="75000"/>
                  </a:schemeClr>
                </a:solidFill>
                <a:latin typeface="Liberation Mono"/>
              </a:rPr>
              <a:t>= </a:t>
            </a:r>
            <a:r>
              <a:rPr lang="en-US" dirty="0">
                <a:latin typeface="Liberation Mono"/>
              </a:rPr>
              <a:t>'f'</a:t>
            </a:r>
            <a:r>
              <a:rPr lang="en-US" dirty="0">
                <a:latin typeface="Liberation Mono"/>
                <a:cs typeface="Arial" panose="020B0604020202020204" pitchFamily="34" charset="0"/>
              </a:rPr>
              <a:t>)</a:t>
            </a:r>
            <a:r>
              <a:rPr lang="en-IN" dirty="0">
                <a:latin typeface="Liberation Mono"/>
              </a:rPr>
              <a:t>;</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D9DBC358-8CD9-F5C6-6CE3-43B27CD8D06F}"/>
              </a:ext>
            </a:extLst>
          </p:cNvPr>
          <p:cNvGrpSpPr/>
          <p:nvPr/>
        </p:nvGrpSpPr>
        <p:grpSpPr>
          <a:xfrm>
            <a:off x="911424" y="1403976"/>
            <a:ext cx="10225136" cy="1232936"/>
            <a:chOff x="551384" y="4005064"/>
            <a:chExt cx="10225136" cy="1232936"/>
          </a:xfrm>
        </p:grpSpPr>
        <p:sp>
          <p:nvSpPr>
            <p:cNvPr id="6" name="Rectangle 5">
              <a:extLst>
                <a:ext uri="{FF2B5EF4-FFF2-40B4-BE49-F238E27FC236}">
                  <a16:creationId xmlns:a16="http://schemas.microsoft.com/office/drawing/2014/main" id="{9709D82C-27CD-6044-1CE7-94A6F5C800E6}"/>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11" name="Arc 10">
              <a:extLst>
                <a:ext uri="{FF2B5EF4-FFF2-40B4-BE49-F238E27FC236}">
                  <a16:creationId xmlns:a16="http://schemas.microsoft.com/office/drawing/2014/main" id="{BA75F50A-1ABE-709E-7DF3-368A7DA3018A}"/>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1814467614"/>
      </p:ext>
    </p:extLst>
  </p:cSld>
  <p:clrMapOvr>
    <a:masterClrMapping/>
  </p:clrMapOvr>
</p:sld>
</file>

<file path=ppt/slides/slide5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C8B01-CDED-3D85-519B-CEC41220317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94E3C7A-BF7A-6487-1F19-EF5FF6D25A0A}"/>
              </a:ext>
            </a:extLst>
          </p:cNvPr>
          <p:cNvGraphicFramePr>
            <a:graphicFrameLocks noGrp="1"/>
          </p:cNvGraphicFramePr>
          <p:nvPr>
            <p:extLst>
              <p:ext uri="{D42A27DB-BD31-4B8C-83A1-F6EECF244321}">
                <p14:modId xmlns:p14="http://schemas.microsoft.com/office/powerpoint/2010/main" val="3078606836"/>
              </p:ext>
            </p:extLst>
          </p:nvPr>
        </p:nvGraphicFramePr>
        <p:xfrm>
          <a:off x="407368" y="1774304"/>
          <a:ext cx="4248473" cy="2987040"/>
        </p:xfrm>
        <a:graphic>
          <a:graphicData uri="http://schemas.openxmlformats.org/drawingml/2006/table">
            <a:tbl>
              <a:tblPr firstRow="1" bandRow="1">
                <a:tableStyleId>{5940675A-B579-460E-94D1-54222C63F5DA}</a:tableStyleId>
              </a:tblPr>
              <a:tblGrid>
                <a:gridCol w="668741">
                  <a:extLst>
                    <a:ext uri="{9D8B030D-6E8A-4147-A177-3AD203B41FA5}">
                      <a16:colId xmlns:a16="http://schemas.microsoft.com/office/drawing/2014/main" val="928063234"/>
                    </a:ext>
                  </a:extLst>
                </a:gridCol>
                <a:gridCol w="1193244">
                  <a:extLst>
                    <a:ext uri="{9D8B030D-6E8A-4147-A177-3AD203B41FA5}">
                      <a16:colId xmlns:a16="http://schemas.microsoft.com/office/drawing/2014/main" val="790049539"/>
                    </a:ext>
                  </a:extLst>
                </a:gridCol>
                <a:gridCol w="1193244">
                  <a:extLst>
                    <a:ext uri="{9D8B030D-6E8A-4147-A177-3AD203B41FA5}">
                      <a16:colId xmlns:a16="http://schemas.microsoft.com/office/drawing/2014/main" val="2430648634"/>
                    </a:ext>
                  </a:extLst>
                </a:gridCol>
                <a:gridCol w="1193244">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4189277544"/>
                  </a:ext>
                </a:extLst>
              </a:tr>
            </a:tbl>
          </a:graphicData>
        </a:graphic>
      </p:graphicFrame>
      <p:sp>
        <p:nvSpPr>
          <p:cNvPr id="6" name="TextBox 5">
            <a:extLst>
              <a:ext uri="{FF2B5EF4-FFF2-40B4-BE49-F238E27FC236}">
                <a16:creationId xmlns:a16="http://schemas.microsoft.com/office/drawing/2014/main" id="{8A0837CC-1EC8-B891-2C78-B9BD9FF46373}"/>
              </a:ext>
            </a:extLst>
          </p:cNvPr>
          <p:cNvSpPr txBox="1"/>
          <p:nvPr/>
        </p:nvSpPr>
        <p:spPr>
          <a:xfrm>
            <a:off x="4748092" y="326782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TextBox 15">
            <a:extLst>
              <a:ext uri="{FF2B5EF4-FFF2-40B4-BE49-F238E27FC236}">
                <a16:creationId xmlns:a16="http://schemas.microsoft.com/office/drawing/2014/main" id="{DDF0F05E-9D64-3E91-00E8-4A536AC1124B}"/>
              </a:ext>
            </a:extLst>
          </p:cNvPr>
          <p:cNvSpPr txBox="1"/>
          <p:nvPr/>
        </p:nvSpPr>
        <p:spPr>
          <a:xfrm>
            <a:off x="407368" y="1294978"/>
            <a:ext cx="2232248" cy="400110"/>
          </a:xfrm>
          <a:prstGeom prst="rect">
            <a:avLst/>
          </a:prstGeom>
          <a:noFill/>
        </p:spPr>
        <p:txBody>
          <a:bodyPr wrap="square">
            <a:spAutoFit/>
          </a:bodyPr>
          <a:lstStyle/>
          <a:p>
            <a:r>
              <a:rPr lang="en-IN" sz="2000" b="1" dirty="0">
                <a:latin typeface="Liberation Mono"/>
              </a:rPr>
              <a:t>Table:- orderdetails</a:t>
            </a:r>
            <a:endParaRPr lang="en-IN" sz="2000" b="1" dirty="0"/>
          </a:p>
        </p:txBody>
      </p:sp>
      <p:sp>
        <p:nvSpPr>
          <p:cNvPr id="9" name="TextBox 8">
            <a:extLst>
              <a:ext uri="{FF2B5EF4-FFF2-40B4-BE49-F238E27FC236}">
                <a16:creationId xmlns:a16="http://schemas.microsoft.com/office/drawing/2014/main" id="{0A94C8BF-989F-6AC1-4C0F-B7772FC0F491}"/>
              </a:ext>
            </a:extLst>
          </p:cNvPr>
          <p:cNvSpPr txBox="1"/>
          <p:nvPr/>
        </p:nvSpPr>
        <p:spPr>
          <a:xfrm>
            <a:off x="263352" y="5302949"/>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a</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.orderdate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.orderID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a:t>
            </a:r>
            <a:r>
              <a:rPr lang="en-IN" dirty="0">
                <a:solidFill>
                  <a:schemeClr val="accent5">
                    <a:lumMod val="75000"/>
                  </a:schemeClr>
                </a:solidFill>
                <a:latin typeface="Liberation Mono"/>
              </a:rPr>
              <a:t>id &lt;&gt; </a:t>
            </a:r>
            <a:r>
              <a:rPr lang="en-IN" i="1" dirty="0">
                <a:solidFill>
                  <a:schemeClr val="bg1">
                    <a:lumMod val="50000"/>
                  </a:schemeClr>
                </a:solidFill>
                <a:latin typeface="Liberation Mono"/>
              </a:rPr>
              <a:t>b</a:t>
            </a:r>
            <a:r>
              <a:rPr lang="en-IN" dirty="0">
                <a:latin typeface="Liberation Mono"/>
              </a:rPr>
              <a:t>.ID)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orderID, orderdate;</a:t>
            </a:r>
          </a:p>
        </p:txBody>
      </p:sp>
      <p:sp>
        <p:nvSpPr>
          <p:cNvPr id="8" name="TextBox 7">
            <a:extLst>
              <a:ext uri="{FF2B5EF4-FFF2-40B4-BE49-F238E27FC236}">
                <a16:creationId xmlns:a16="http://schemas.microsoft.com/office/drawing/2014/main" id="{83825181-DFFD-DB73-5D9F-14E413DB1AC4}"/>
              </a:ext>
            </a:extLst>
          </p:cNvPr>
          <p:cNvSpPr txBox="1"/>
          <p:nvPr/>
        </p:nvSpPr>
        <p:spPr>
          <a:xfrm>
            <a:off x="6041110" y="519063"/>
            <a:ext cx="480741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Same orderID and orderDate orders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4" name="Table 2">
            <a:extLst>
              <a:ext uri="{FF2B5EF4-FFF2-40B4-BE49-F238E27FC236}">
                <a16:creationId xmlns:a16="http://schemas.microsoft.com/office/drawing/2014/main" id="{F6EBF7DD-5BE1-EF0A-27EB-333B0E60333A}"/>
              </a:ext>
            </a:extLst>
          </p:cNvPr>
          <p:cNvGraphicFramePr>
            <a:graphicFrameLocks noGrp="1"/>
          </p:cNvGraphicFramePr>
          <p:nvPr>
            <p:extLst>
              <p:ext uri="{D42A27DB-BD31-4B8C-83A1-F6EECF244321}">
                <p14:modId xmlns:p14="http://schemas.microsoft.com/office/powerpoint/2010/main" val="2969344125"/>
              </p:ext>
            </p:extLst>
          </p:nvPr>
        </p:nvGraphicFramePr>
        <p:xfrm>
          <a:off x="6023992" y="1774304"/>
          <a:ext cx="5904656" cy="2961640"/>
        </p:xfrm>
        <a:graphic>
          <a:graphicData uri="http://schemas.openxmlformats.org/drawingml/2006/table">
            <a:tbl>
              <a:tblPr firstRow="1" bandRow="1">
                <a:tableStyleId>{5940675A-B579-460E-94D1-54222C63F5DA}</a:tableStyleId>
              </a:tblPr>
              <a:tblGrid>
                <a:gridCol w="725632">
                  <a:extLst>
                    <a:ext uri="{9D8B030D-6E8A-4147-A177-3AD203B41FA5}">
                      <a16:colId xmlns:a16="http://schemas.microsoft.com/office/drawing/2014/main" val="928063234"/>
                    </a:ext>
                  </a:extLst>
                </a:gridCol>
                <a:gridCol w="1294756">
                  <a:extLst>
                    <a:ext uri="{9D8B030D-6E8A-4147-A177-3AD203B41FA5}">
                      <a16:colId xmlns:a16="http://schemas.microsoft.com/office/drawing/2014/main" val="790049539"/>
                    </a:ext>
                  </a:extLst>
                </a:gridCol>
                <a:gridCol w="1652020">
                  <a:extLst>
                    <a:ext uri="{9D8B030D-6E8A-4147-A177-3AD203B41FA5}">
                      <a16:colId xmlns:a16="http://schemas.microsoft.com/office/drawing/2014/main" val="3813288833"/>
                    </a:ext>
                  </a:extLst>
                </a:gridCol>
                <a:gridCol w="937492">
                  <a:extLst>
                    <a:ext uri="{9D8B030D-6E8A-4147-A177-3AD203B41FA5}">
                      <a16:colId xmlns:a16="http://schemas.microsoft.com/office/drawing/2014/main" val="2430648634"/>
                    </a:ext>
                  </a:extLst>
                </a:gridCol>
                <a:gridCol w="1294756">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a:latin typeface="Arial" panose="020B0604020202020204" pitchFamily="34" charset="0"/>
                          <a:cs typeface="Arial" panose="020B0604020202020204" pitchFamily="34" charset="0"/>
                        </a:rPr>
                        <a:t>2022-04-13</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2022-04-13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135</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a:latin typeface="Arial" panose="020B0604020202020204" pitchFamily="34" charset="0"/>
                          <a:cs typeface="Arial" panose="020B0604020202020204" pitchFamily="34" charset="0"/>
                        </a:rPr>
                        <a:t>2022-04-17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dirty="0">
                          <a:latin typeface="Arial" panose="020B0604020202020204" pitchFamily="34" charset="0"/>
                          <a:cs typeface="Arial" panose="020B0604020202020204" pitchFamily="34" charset="0"/>
                        </a:rPr>
                        <a:t>2022-04-17</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3906738478"/>
                  </a:ext>
                </a:extLst>
              </a:tr>
            </a:tbl>
          </a:graphicData>
        </a:graphic>
      </p:graphicFrame>
      <p:sp>
        <p:nvSpPr>
          <p:cNvPr id="15" name="TextBox 14">
            <a:extLst>
              <a:ext uri="{FF2B5EF4-FFF2-40B4-BE49-F238E27FC236}">
                <a16:creationId xmlns:a16="http://schemas.microsoft.com/office/drawing/2014/main" id="{F4FF043C-C7F0-3E30-6CBA-B75EC5347F6B}"/>
              </a:ext>
            </a:extLst>
          </p:cNvPr>
          <p:cNvSpPr txBox="1"/>
          <p:nvPr/>
        </p:nvSpPr>
        <p:spPr>
          <a:xfrm>
            <a:off x="6011638" y="1294978"/>
            <a:ext cx="116448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4" name="Rectangle 3">
            <a:extLst>
              <a:ext uri="{FF2B5EF4-FFF2-40B4-BE49-F238E27FC236}">
                <a16:creationId xmlns:a16="http://schemas.microsoft.com/office/drawing/2014/main" id="{53D1D2CB-DB53-E126-CB54-A4020C5AE8F5}"/>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5" name="Rectangle 4">
            <a:extLst>
              <a:ext uri="{FF2B5EF4-FFF2-40B4-BE49-F238E27FC236}">
                <a16:creationId xmlns:a16="http://schemas.microsoft.com/office/drawing/2014/main" id="{39B7EFBD-4B40-B5CF-4EC7-1B7D956017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70189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5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correlated subquery</a:t>
            </a:r>
          </a:p>
        </p:txBody>
      </p:sp>
    </p:spTree>
    <p:extLst>
      <p:ext uri="{BB962C8B-B14F-4D97-AF65-F5344CB8AC3E}">
        <p14:creationId xmlns:p14="http://schemas.microsoft.com/office/powerpoint/2010/main" val="776387937"/>
      </p:ext>
    </p:extLst>
  </p:cSld>
  <p:clrMapOvr>
    <a:masterClrMapping/>
  </p:clrMapOvr>
  <p:transition/>
</p:sld>
</file>

<file path=ppt/slides/slide5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3573016"/>
            <a:ext cx="11521280" cy="212365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hiredate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hiredate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.hiredate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err="1">
                <a:solidFill>
                  <a:schemeClr val="bg1">
                    <a:lumMod val="50000"/>
                  </a:schemeClr>
                </a:solidFill>
                <a:latin typeface="Liberation Mono"/>
              </a:rPr>
              <a:t>S</a:t>
            </a:r>
            <a:r>
              <a:rPr lang="en-IN" dirty="0" err="1">
                <a:latin typeface="Liberation Mono"/>
                <a:ea typeface="Times New Roman" panose="02020603050405020304" pitchFamily="18" charset="0"/>
              </a:rPr>
              <a:t>.hiredate</a:t>
            </a:r>
            <a:r>
              <a:rPr lang="en-IN" dirty="0">
                <a:latin typeface="Liberation Mono"/>
                <a:ea typeface="Times New Roman" panose="02020603050405020304" pitchFamily="18" charset="0"/>
              </a:rPr>
              <a:t> </a:t>
            </a:r>
            <a:r>
              <a:rPr lang="en-IN" dirty="0">
                <a:solidFill>
                  <a:srgbClr val="A67F59"/>
                </a:solidFill>
                <a:latin typeface="Liberation Mono"/>
              </a:rPr>
              <a:t>AND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.empno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&lt;&gt;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S</a:t>
            </a:r>
            <a:r>
              <a:rPr lang="en-IN" dirty="0">
                <a:latin typeface="Liberation Mono"/>
                <a:ea typeface="Times New Roman" panose="02020603050405020304" pitchFamily="18" charset="0"/>
              </a:rPr>
              <a:t>.empno</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same hiredate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R</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R</a:t>
            </a:r>
            <a:r>
              <a:rPr lang="en-IN" dirty="0">
                <a:latin typeface="Liberation Mono"/>
              </a:rPr>
              <a:t> </a:t>
            </a:r>
            <a:r>
              <a:rPr lang="en-IN" dirty="0">
                <a:solidFill>
                  <a:srgbClr val="0077AA"/>
                </a:solidFill>
                <a:latin typeface="Liberation Mono"/>
              </a:rPr>
              <a:t>WHERE</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S</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R</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A67F59"/>
                </a:solidFill>
                <a:latin typeface="Liberation Mono"/>
              </a:rPr>
              <a:t>AND</a:t>
            </a:r>
            <a:r>
              <a:rPr lang="en-IN" dirty="0">
                <a:latin typeface="Liberation Mono"/>
              </a:rPr>
              <a:t> </a:t>
            </a:r>
            <a:r>
              <a:rPr lang="en-IN" i="1" dirty="0">
                <a:solidFill>
                  <a:schemeClr val="bg1">
                    <a:lumMod val="50000"/>
                  </a:schemeClr>
                </a:solidFill>
                <a:latin typeface="Liberation Mono"/>
              </a:rPr>
              <a:t>R</a:t>
            </a:r>
            <a:r>
              <a:rPr lang="en-IN" dirty="0">
                <a:latin typeface="Liberation Mono"/>
              </a:rPr>
              <a:t>.empno </a:t>
            </a:r>
            <a:r>
              <a:rPr lang="en-IN" dirty="0">
                <a:solidFill>
                  <a:schemeClr val="accent5">
                    <a:lumMod val="75000"/>
                  </a:schemeClr>
                </a:solidFill>
                <a:latin typeface="Liberation Mono"/>
              </a:rPr>
              <a:t>&lt;&gt;</a:t>
            </a:r>
            <a:r>
              <a:rPr lang="en-IN" dirty="0">
                <a:latin typeface="Liberation Mono"/>
              </a:rPr>
              <a:t> </a:t>
            </a:r>
            <a:r>
              <a:rPr lang="en-IN" i="1" dirty="0">
                <a:solidFill>
                  <a:schemeClr val="bg1">
                    <a:lumMod val="50000"/>
                  </a:schemeClr>
                </a:solidFill>
                <a:latin typeface="Liberation Mono"/>
              </a:rPr>
              <a:t>S</a:t>
            </a:r>
            <a:r>
              <a:rPr lang="en-IN" dirty="0">
                <a:latin typeface="Liberation Mono"/>
              </a:rPr>
              <a:t>.empno</a:t>
            </a:r>
            <a:r>
              <a:rPr lang="en-IN" dirty="0">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a:t>
            </a:r>
            <a:endParaRPr lang="en-IN" dirty="0">
              <a:solidFill>
                <a:srgbClr val="00B050"/>
              </a:solidFill>
              <a:latin typeface="Liberation Mono"/>
            </a:endParaRPr>
          </a:p>
          <a:p>
            <a:pPr marL="285750" indent="-285750">
              <a:buFont typeface="Arial" panose="020B0604020202020204" pitchFamily="34" charset="0"/>
              <a:buChar char="•"/>
            </a:pPr>
            <a:endParaRPr lang="en-IN" sz="12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.ename,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R</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cs typeface="Arial" panose="020B0604020202020204" pitchFamily="34" charset="0"/>
              </a:rPr>
              <a:t> (</a:t>
            </a:r>
            <a:r>
              <a:rPr lang="en-IN" dirty="0">
                <a:solidFill>
                  <a:srgbClr val="0077AA"/>
                </a:solidFill>
                <a:latin typeface="Liberation Mono"/>
              </a:rPr>
              <a:t>SELECT</a:t>
            </a:r>
            <a:r>
              <a:rPr lang="en-US" dirty="0">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 </a:t>
            </a:r>
            <a:r>
              <a:rPr lang="en-IN"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S</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.job </a:t>
            </a:r>
            <a:r>
              <a:rPr lang="en-IN" dirty="0">
                <a:solidFill>
                  <a:srgbClr val="A67F59"/>
                </a:solidFill>
                <a:latin typeface="Liberation Mono"/>
              </a:rPr>
              <a:t>AND</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.sal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sal </a:t>
            </a:r>
            <a:r>
              <a:rPr lang="en-US" dirty="0">
                <a:solidFill>
                  <a:srgbClr val="0077AA"/>
                </a:solidFill>
                <a:latin typeface="Liberation Mono"/>
              </a:rPr>
              <a:t>HAVING</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COUNT</a:t>
            </a:r>
            <a:r>
              <a:rPr lang="en-US" dirty="0">
                <a:latin typeface="Liberation Mono"/>
                <a:cs typeface="Arial" panose="020B0604020202020204" pitchFamily="34" charset="0"/>
              </a:rPr>
              <a:t>(*) </a:t>
            </a:r>
            <a:r>
              <a:rPr lang="en-US" dirty="0">
                <a:solidFill>
                  <a:schemeClr val="accent5">
                    <a:lumMod val="75000"/>
                  </a:schemeClr>
                </a:solidFill>
                <a:latin typeface="Liberation Mono"/>
              </a:rPr>
              <a:t>&gt;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0077AA"/>
                </a:solidFill>
                <a:latin typeface="Liberation Mono"/>
              </a:rPr>
              <a:t>ORDER</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 jobwise.</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9E6CCE0F-6001-65CC-4C27-DBFEB89C6D3E}"/>
              </a:ext>
            </a:extLst>
          </p:cNvPr>
          <p:cNvGrpSpPr/>
          <p:nvPr/>
        </p:nvGrpSpPr>
        <p:grpSpPr>
          <a:xfrm>
            <a:off x="917293" y="1908032"/>
            <a:ext cx="10219267" cy="1232936"/>
            <a:chOff x="551384" y="4005064"/>
            <a:chExt cx="10225136" cy="1232936"/>
          </a:xfrm>
        </p:grpSpPr>
        <p:sp>
          <p:nvSpPr>
            <p:cNvPr id="6" name="Rectangle 5">
              <a:extLst>
                <a:ext uri="{FF2B5EF4-FFF2-40B4-BE49-F238E27FC236}">
                  <a16:creationId xmlns:a16="http://schemas.microsoft.com/office/drawing/2014/main" id="{3C4299FC-C46A-A9EB-D203-C46B77F3F1B4}"/>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7" name="Arc 6">
              <a:extLst>
                <a:ext uri="{FF2B5EF4-FFF2-40B4-BE49-F238E27FC236}">
                  <a16:creationId xmlns:a16="http://schemas.microsoft.com/office/drawing/2014/main" id="{B206CB8A-316B-C400-3F5C-F92E5F15EF82}"/>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239097871"/>
      </p:ext>
    </p:extLst>
  </p:cSld>
  <p:clrMapOvr>
    <a:masterClrMapping/>
  </p:clrMapOvr>
  <p:transition/>
</p:sld>
</file>

<file path=ppt/slides/slide5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1841402"/>
            <a:ext cx="11521280" cy="3939540"/>
          </a:xfrm>
          <a:prstGeom prst="rect">
            <a:avLst/>
          </a:prstGeom>
        </p:spPr>
        <p:txBody>
          <a:bodyPr wrap="square">
            <a:spAutoFit/>
          </a:bodyPr>
          <a:lstStyle/>
          <a:p>
            <a:r>
              <a:rPr lang="en-IN" dirty="0">
                <a:latin typeface="Liberation Mono"/>
                <a:cs typeface="Arial" panose="020B0604020202020204" pitchFamily="34" charset="0"/>
              </a:rPr>
              <a:t>Following query find all employees who earn more than the average salary in their department.</a:t>
            </a:r>
          </a:p>
          <a:p>
            <a:endParaRPr lang="en-IN" sz="1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deptno;</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sal, job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solidFill>
                  <a:schemeClr val="tx1">
                    <a:lumMod val="85000"/>
                    <a:lumOff val="15000"/>
                  </a:schemeClr>
                </a:solidFill>
                <a:latin typeface="Liberation Mono"/>
                <a:ea typeface="Times New Roman" panose="02020603050405020304" pitchFamily="18" charset="0"/>
              </a:rPr>
              <a:t>.job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emp.</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job,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GROUP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e.job</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GROUP</a:t>
            </a:r>
            <a:r>
              <a:rPr lang="en-IN" dirty="0">
                <a:latin typeface="Liberation Mono"/>
                <a:cs typeface="Arial" panose="020B0604020202020204" pitchFamily="34" charset="0"/>
              </a:rPr>
              <a:t> </a:t>
            </a:r>
            <a:r>
              <a:rPr lang="en-IN" dirty="0">
                <a:solidFill>
                  <a:srgbClr val="0077AA"/>
                </a:solidFill>
                <a:latin typeface="Liberation Mono"/>
              </a:rPr>
              <a:t>BY</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 2</a:t>
            </a:r>
            <a:r>
              <a:rPr lang="en-IN" baseline="30000" dirty="0">
                <a:solidFill>
                  <a:srgbClr val="00B050"/>
                </a:solidFill>
                <a:latin typeface="Liberation Mono"/>
                <a:cs typeface="Arial" panose="020B0604020202020204" pitchFamily="34" charset="0"/>
              </a:rPr>
              <a:t>nd</a:t>
            </a:r>
            <a:r>
              <a:rPr lang="en-IN" dirty="0">
                <a:solidFill>
                  <a:srgbClr val="00B050"/>
                </a:solidFill>
                <a:latin typeface="Liberation Mono"/>
                <a:cs typeface="Arial" panose="020B0604020202020204" pitchFamily="34" charset="0"/>
              </a:rPr>
              <a:t> highest salary jobwise.</a:t>
            </a:r>
          </a:p>
          <a:p>
            <a:pPr marL="285750" indent="-285750">
              <a:buFont typeface="Arial" panose="020B0604020202020204" pitchFamily="34" charset="0"/>
              <a:buChar char="•"/>
            </a:pPr>
            <a:endParaRPr lang="en-IN" baseline="30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IN" sz="2400" b="1" i="1" dirty="0">
                <a:solidFill>
                  <a:srgbClr val="C00000"/>
                </a:solidFill>
                <a:latin typeface="Liberation Mono"/>
                <a:cs typeface="Arial" panose="020B0604020202020204" pitchFamily="34" charset="0"/>
              </a:rPr>
              <a:t>Intersect</a:t>
            </a:r>
            <a:r>
              <a:rPr lang="en-IN" sz="2400" dirty="0">
                <a:solidFill>
                  <a:srgbClr val="C00000"/>
                </a:solidFill>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solidFill>
                  <a:srgbClr val="FFC000"/>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US" sz="2400" b="1" i="1" dirty="0">
                <a:solidFill>
                  <a:srgbClr val="C00000"/>
                </a:solidFill>
                <a:latin typeface="Liberation Mono"/>
                <a:cs typeface="Arial" panose="020B0604020202020204" pitchFamily="34" charset="0"/>
              </a:rPr>
              <a:t>except /minus</a:t>
            </a:r>
            <a:r>
              <a:rPr lang="en-IN" sz="2400" dirty="0">
                <a:solidFill>
                  <a:srgbClr val="C00000"/>
                </a:solidFill>
                <a:latin typeface="Liberation Mono"/>
                <a:cs typeface="Arial" panose="020B0604020202020204" pitchFamily="34" charset="0"/>
              </a:rPr>
              <a: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634750841"/>
      </p:ext>
    </p:extLst>
  </p:cSld>
  <p:clrMapOvr>
    <a:masterClrMapping/>
  </p:clrMapOvr>
  <p:transition/>
</p:sld>
</file>

<file path=ppt/slides/slide5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joins</a:t>
            </a:r>
          </a:p>
        </p:txBody>
      </p:sp>
      <p:sp>
        <p:nvSpPr>
          <p:cNvPr id="3" name="TextBox 2">
            <a:extLst>
              <a:ext uri="{FF2B5EF4-FFF2-40B4-BE49-F238E27FC236}">
                <a16:creationId xmlns:a16="http://schemas.microsoft.com/office/drawing/2014/main" id="{F2C0FD05-B0C6-4B05-BCDC-54C5E2927D5A}"/>
              </a:ext>
            </a:extLst>
          </p:cNvPr>
          <p:cNvSpPr txBox="1"/>
          <p:nvPr/>
        </p:nvSpPr>
        <p:spPr>
          <a:xfrm>
            <a:off x="5375920" y="1196752"/>
            <a:ext cx="924866" cy="646331"/>
          </a:xfrm>
          <a:prstGeom prst="rect">
            <a:avLst/>
          </a:prstGeom>
          <a:noFill/>
        </p:spPr>
        <p:txBody>
          <a:bodyPr wrap="square">
            <a:spAutoFit/>
          </a:bodyPr>
          <a:lstStyle/>
          <a:p>
            <a:r>
              <a:rPr lang="en-IN" dirty="0">
                <a:solidFill>
                  <a:schemeClr val="accent5">
                    <a:lumMod val="75000"/>
                  </a:schemeClr>
                </a:solidFill>
                <a:latin typeface="Liberation Mono"/>
              </a:rPr>
              <a:t>IS NULL</a:t>
            </a:r>
          </a:p>
          <a:p>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endParaRPr lang="en-IN" dirty="0"/>
          </a:p>
        </p:txBody>
      </p:sp>
    </p:spTree>
  </p:cSld>
  <p:clrMapOvr>
    <a:masterClrMapping/>
  </p:clrMapOvr>
</p:sld>
</file>

<file path=ppt/slides/slide5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762000"/>
            <a:ext cx="8839200" cy="3352800"/>
          </a:xfrm>
          <a:prstGeom prst="rect">
            <a:avLst/>
          </a:prstGeom>
          <a:solidFill>
            <a:schemeClr val="bg1"/>
          </a:solidFill>
        </p:spPr>
        <p:txBody>
          <a:bodyPr>
            <a:noAutofit/>
          </a:bodyPr>
          <a:lstStyle/>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JOINS</a:t>
            </a:r>
            <a:r>
              <a:rPr lang="en-US" sz="2800" dirty="0">
                <a:latin typeface="Arial" pitchFamily="34" charset="0"/>
                <a:cs typeface="Arial" pitchFamily="34" charset="0"/>
              </a:rPr>
              <a:t> are used to </a:t>
            </a:r>
            <a:r>
              <a:rPr lang="en-US" sz="3600" b="1" dirty="0">
                <a:latin typeface="Arial" pitchFamily="34" charset="0"/>
                <a:cs typeface="Arial" pitchFamily="34" charset="0"/>
              </a:rPr>
              <a:t>retrieve data from multiple tables</a:t>
            </a:r>
            <a:r>
              <a:rPr lang="en-US" sz="2800" dirty="0">
                <a:latin typeface="Arial" pitchFamily="34" charset="0"/>
                <a:cs typeface="Arial" pitchFamily="34" charset="0"/>
              </a:rPr>
              <a:t>.</a:t>
            </a:r>
          </a:p>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a:t>
            </a:r>
            <a:r>
              <a:rPr lang="en-US" sz="2800" dirty="0">
                <a:latin typeface="Arial" pitchFamily="34" charset="0"/>
                <a:cs typeface="Arial" pitchFamily="34" charset="0"/>
              </a:rPr>
              <a:t> is performed whenever </a:t>
            </a:r>
            <a:r>
              <a:rPr lang="en-US" sz="2800" b="1" dirty="0">
                <a:latin typeface="Arial" pitchFamily="34" charset="0"/>
                <a:cs typeface="Arial" pitchFamily="34" charset="0"/>
              </a:rPr>
              <a:t>two or more tables </a:t>
            </a:r>
            <a:r>
              <a:rPr lang="en-US" sz="2800" dirty="0">
                <a:latin typeface="Arial" pitchFamily="34" charset="0"/>
                <a:cs typeface="Arial" pitchFamily="34" charset="0"/>
              </a:rPr>
              <a:t>are joined in a SQL statement.</a:t>
            </a:r>
          </a:p>
        </p:txBody>
      </p:sp>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Tree>
  </p:cSld>
  <p:clrMapOvr>
    <a:masterClrMapping/>
  </p:clrMapOvr>
</p:sld>
</file>

<file path=ppt/slides/slide5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
        <p:nvSpPr>
          <p:cNvPr id="3" name="Rectangle 2"/>
          <p:cNvSpPr/>
          <p:nvPr/>
        </p:nvSpPr>
        <p:spPr>
          <a:xfrm>
            <a:off x="191344" y="1535301"/>
            <a:ext cx="5400600" cy="3477875"/>
          </a:xfrm>
          <a:prstGeom prst="rect">
            <a:avLst/>
          </a:prstGeom>
        </p:spPr>
        <p:txBody>
          <a:bodyPr wrap="square">
            <a:spAutoFit/>
          </a:bodyPr>
          <a:lstStyle/>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Cartesian or Product Join </a:t>
            </a:r>
            <a:r>
              <a:rPr lang="en-US" sz="2000" dirty="0">
                <a:solidFill>
                  <a:srgbClr val="005E74"/>
                </a:solidFill>
              </a:rPr>
              <a:t>– </a:t>
            </a:r>
            <a:r>
              <a:rPr lang="en-US" sz="2000" dirty="0">
                <a:solidFill>
                  <a:srgbClr val="005E74"/>
                </a:solidFill>
                <a:latin typeface="Arial" pitchFamily="34" charset="0"/>
                <a:cs typeface="Arial" pitchFamily="34" charset="0"/>
              </a:rPr>
              <a:t>Cross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rPr>
              <a:t>Equijoin – Inner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Natural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Simple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Outer Join </a:t>
            </a:r>
            <a:r>
              <a:rPr lang="en-US" sz="2000" dirty="0">
                <a:solidFill>
                  <a:srgbClr val="005E74"/>
                </a:solidFill>
              </a:rPr>
              <a:t>– Right Outer Join, Left Outer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Self Join</a:t>
            </a:r>
          </a:p>
        </p:txBody>
      </p:sp>
      <p:sp>
        <p:nvSpPr>
          <p:cNvPr id="5" name="Rectangle 4">
            <a:extLst>
              <a:ext uri="{FF2B5EF4-FFF2-40B4-BE49-F238E27FC236}">
                <a16:creationId xmlns:a16="http://schemas.microsoft.com/office/drawing/2014/main" id="{ABF2A16B-D56B-43DA-8ADE-AB999D15A0D8}"/>
              </a:ext>
            </a:extLst>
          </p:cNvPr>
          <p:cNvSpPr/>
          <p:nvPr/>
        </p:nvSpPr>
        <p:spPr>
          <a:xfrm>
            <a:off x="191345" y="792597"/>
            <a:ext cx="2172150" cy="461665"/>
          </a:xfrm>
          <a:prstGeom prst="rect">
            <a:avLst/>
          </a:prstGeom>
          <a:noFill/>
        </p:spPr>
        <p:txBody>
          <a:bodyPr wrap="square">
            <a:spAutoFit/>
          </a:bodyPr>
          <a:lstStyle/>
          <a:p>
            <a:r>
              <a:rPr lang="en-US" sz="2400" i="1" dirty="0">
                <a:latin typeface="Arial" pitchFamily="34" charset="0"/>
                <a:cs typeface="Arial" pitchFamily="34" charset="0"/>
              </a:rPr>
              <a:t>Type of JOINS</a:t>
            </a:r>
            <a:endParaRPr lang="en-IN" sz="2400" i="1" dirty="0">
              <a:latin typeface="Arial" pitchFamily="34" charset="0"/>
              <a:cs typeface="Arial" pitchFamily="34" charset="0"/>
            </a:endParaRPr>
          </a:p>
        </p:txBody>
      </p:sp>
    </p:spTree>
    <p:extLst>
      <p:ext uri="{BB962C8B-B14F-4D97-AF65-F5344CB8AC3E}">
        <p14:creationId xmlns:p14="http://schemas.microsoft.com/office/powerpoint/2010/main" val="1076667074"/>
      </p:ext>
    </p:extLst>
  </p:cSld>
  <p:clrMapOvr>
    <a:masterClrMapping/>
  </p:clrMapOvr>
</p:sld>
</file>

<file path=ppt/slides/slide5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cartesian or product join</a:t>
            </a:r>
          </a:p>
        </p:txBody>
      </p:sp>
      <p:sp>
        <p:nvSpPr>
          <p:cNvPr id="3" name="Rectangle 2"/>
          <p:cNvSpPr/>
          <p:nvPr/>
        </p:nvSpPr>
        <p:spPr>
          <a:xfrm>
            <a:off x="119335" y="3717032"/>
            <a:ext cx="11953329" cy="1138773"/>
          </a:xfrm>
          <a:prstGeom prst="rect">
            <a:avLst/>
          </a:prstGeom>
        </p:spPr>
        <p:txBody>
          <a:bodyPr wrap="square">
            <a:spAutoFit/>
          </a:bodyPr>
          <a:lstStyle/>
          <a:p>
            <a:pPr marL="342900" indent="-342900">
              <a:buFont typeface="Arial" panose="020B0604020202020204" pitchFamily="34" charset="0"/>
              <a:buChar char="•"/>
            </a:pPr>
            <a:r>
              <a:rPr lang="en-US" sz="2000" b="1" dirty="0"/>
              <a:t>Cartesian/Product means</a:t>
            </a:r>
            <a:r>
              <a:rPr lang="en-US" sz="2000" dirty="0"/>
              <a:t> Number of Rows present in Table </a:t>
            </a:r>
            <a:r>
              <a:rPr lang="en-US" sz="2000" dirty="0">
                <a:latin typeface="Arial" panose="020B0604020202020204" pitchFamily="34" charset="0"/>
                <a:cs typeface="Arial" panose="020B0604020202020204" pitchFamily="34" charset="0"/>
              </a:rPr>
              <a:t>1</a:t>
            </a:r>
            <a:r>
              <a:rPr lang="en-US" sz="2000" dirty="0"/>
              <a:t> Multiplied by Number of Rows present in Table </a:t>
            </a:r>
            <a:r>
              <a:rPr lang="en-US" sz="2000" dirty="0">
                <a:latin typeface="Arial" panose="020B0604020202020204" pitchFamily="34" charset="0"/>
                <a:cs typeface="Arial" panose="020B0604020202020204" pitchFamily="34" charset="0"/>
              </a:rPr>
              <a:t>2</a:t>
            </a:r>
            <a:r>
              <a:rPr lang="en-US" sz="2000" dirty="0"/>
              <a:t>. </a:t>
            </a:r>
          </a:p>
          <a:p>
            <a:pPr marL="342900" indent="-342900">
              <a:buFont typeface="Arial" panose="020B0604020202020204" pitchFamily="34" charset="0"/>
              <a:buChar char="•"/>
            </a:pPr>
            <a:endParaRPr lang="en-US" sz="800" dirty="0"/>
          </a:p>
          <a:p>
            <a:pPr marL="342900" indent="-342900">
              <a:buFont typeface="Arial" panose="020B0604020202020204" pitchFamily="34" charset="0"/>
              <a:buChar char="•"/>
            </a:pPr>
            <a:r>
              <a:rPr lang="en-US" sz="2000" b="1" dirty="0"/>
              <a:t>Cross Join in MySQL</a:t>
            </a:r>
            <a:r>
              <a:rPr lang="en-US" sz="2000" dirty="0"/>
              <a:t> does not require any common column to </a:t>
            </a:r>
            <a:r>
              <a:rPr lang="en-US" sz="2000" b="1" dirty="0"/>
              <a:t>join</a:t>
            </a:r>
            <a:r>
              <a:rPr lang="en-US" sz="2000" dirty="0"/>
              <a:t> two table.</a:t>
            </a:r>
            <a:endParaRPr lang="en-US" sz="2000" dirty="0">
              <a:latin typeface="Arial" pitchFamily="34" charset="0"/>
              <a:cs typeface="Arial" pitchFamily="34" charset="0"/>
            </a:endParaRPr>
          </a:p>
        </p:txBody>
      </p:sp>
      <p:pic>
        <p:nvPicPr>
          <p:cNvPr id="4" name="Picture 3">
            <a:extLst>
              <a:ext uri="{FF2B5EF4-FFF2-40B4-BE49-F238E27FC236}">
                <a16:creationId xmlns:a16="http://schemas.microsoft.com/office/drawing/2014/main" id="{C9F71B28-AB5B-4809-ACAC-C75B55E625FC}"/>
              </a:ext>
            </a:extLst>
          </p:cNvPr>
          <p:cNvPicPr>
            <a:picLocks noChangeAspect="1"/>
          </p:cNvPicPr>
          <p:nvPr/>
        </p:nvPicPr>
        <p:blipFill>
          <a:blip r:embed="rId2" cstate="print"/>
          <a:stretch>
            <a:fillRect/>
          </a:stretch>
        </p:blipFill>
        <p:spPr>
          <a:xfrm>
            <a:off x="1534886" y="188640"/>
            <a:ext cx="9133114" cy="1980000"/>
          </a:xfrm>
          <a:prstGeom prst="rect">
            <a:avLst/>
          </a:prstGeom>
        </p:spPr>
      </p:pic>
      <p:pic>
        <p:nvPicPr>
          <p:cNvPr id="5" name="Picture 4">
            <a:extLst>
              <a:ext uri="{FF2B5EF4-FFF2-40B4-BE49-F238E27FC236}">
                <a16:creationId xmlns:a16="http://schemas.microsoft.com/office/drawing/2014/main" id="{8471E16C-E211-4A9A-AD8D-17EE0120DCD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773743" y="6029777"/>
            <a:ext cx="4202314" cy="711591"/>
          </a:xfrm>
          <a:prstGeom prst="rect">
            <a:avLst/>
          </a:prstGeom>
        </p:spPr>
      </p:pic>
      <p:sp>
        <p:nvSpPr>
          <p:cNvPr id="8" name="TextBox 7">
            <a:extLst>
              <a:ext uri="{FF2B5EF4-FFF2-40B4-BE49-F238E27FC236}">
                <a16:creationId xmlns:a16="http://schemas.microsoft.com/office/drawing/2014/main" id="{689B0AA3-450C-E333-B966-B28741F98FC4}"/>
              </a:ext>
            </a:extLst>
          </p:cNvPr>
          <p:cNvSpPr txBox="1"/>
          <p:nvPr/>
        </p:nvSpPr>
        <p:spPr>
          <a:xfrm>
            <a:off x="126664" y="5158933"/>
            <a:ext cx="11938670" cy="892552"/>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3200" dirty="0">
                <a:solidFill>
                  <a:srgbClr val="FF0000"/>
                </a:solidFill>
                <a:latin typeface="Palatino Linotype" panose="02040502050505030304" pitchFamily="18" charset="0"/>
              </a:rPr>
              <a:t>×</a:t>
            </a:r>
            <a:r>
              <a:rPr lang="en-IN" sz="2000" dirty="0">
                <a:latin typeface="Palatino Linotype" panose="02040502050505030304" pitchFamily="18" charset="0"/>
              </a:rPr>
              <a:t> 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n + m attributes Q(A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 </a:t>
            </a:r>
            <a:r>
              <a:rPr lang="en-IN" sz="2000" dirty="0">
                <a:latin typeface="Palatino Linotype" panose="02040502050505030304" pitchFamily="18" charset="0"/>
              </a:rPr>
              <a:t>, 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in that order.</a:t>
            </a:r>
          </a:p>
        </p:txBody>
      </p:sp>
      <p:sp>
        <p:nvSpPr>
          <p:cNvPr id="7" name="TextBox 6">
            <a:extLst>
              <a:ext uri="{FF2B5EF4-FFF2-40B4-BE49-F238E27FC236}">
                <a16:creationId xmlns:a16="http://schemas.microsoft.com/office/drawing/2014/main" id="{F0609B3E-D4ED-B65F-6055-18951069F973}"/>
              </a:ext>
            </a:extLst>
          </p:cNvPr>
          <p:cNvSpPr txBox="1"/>
          <p:nvPr/>
        </p:nvSpPr>
        <p:spPr>
          <a:xfrm>
            <a:off x="9264352" y="2527012"/>
            <a:ext cx="1998168"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grpSp>
        <p:nvGrpSpPr>
          <p:cNvPr id="25" name="Group 24">
            <a:extLst>
              <a:ext uri="{FF2B5EF4-FFF2-40B4-BE49-F238E27FC236}">
                <a16:creationId xmlns:a16="http://schemas.microsoft.com/office/drawing/2014/main" id="{3C32DF45-E85C-609E-FB2D-88A2D295FA79}"/>
              </a:ext>
            </a:extLst>
          </p:cNvPr>
          <p:cNvGrpSpPr/>
          <p:nvPr/>
        </p:nvGrpSpPr>
        <p:grpSpPr>
          <a:xfrm>
            <a:off x="9943061" y="2708920"/>
            <a:ext cx="257396" cy="318229"/>
            <a:chOff x="11424592" y="3212976"/>
            <a:chExt cx="72008" cy="144016"/>
          </a:xfrm>
        </p:grpSpPr>
        <p:cxnSp>
          <p:nvCxnSpPr>
            <p:cNvPr id="19" name="Straight Connector 18">
              <a:extLst>
                <a:ext uri="{FF2B5EF4-FFF2-40B4-BE49-F238E27FC236}">
                  <a16:creationId xmlns:a16="http://schemas.microsoft.com/office/drawing/2014/main" id="{BC0032C5-938C-DDCF-A7FF-7A7978336DA2}"/>
                </a:ext>
              </a:extLst>
            </p:cNvPr>
            <p:cNvCxnSpPr>
              <a:cxnSpLocks/>
            </p:cNvCxnSpPr>
            <p:nvPr/>
          </p:nvCxnSpPr>
          <p:spPr>
            <a:xfrm flipH="1">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5FEF488-A27B-CE58-42C4-26203635ABBC}"/>
                </a:ext>
              </a:extLst>
            </p:cNvPr>
            <p:cNvCxnSpPr>
              <a:cxnSpLocks/>
            </p:cNvCxnSpPr>
            <p:nvPr/>
          </p:nvCxnSpPr>
          <p:spPr>
            <a:xfrm>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5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6" name="Rectangle 35"/>
          <p:cNvSpPr/>
          <p:nvPr/>
        </p:nvSpPr>
        <p:spPr>
          <a:xfrm>
            <a:off x="380960" y="836712"/>
            <a:ext cx="11501518" cy="646331"/>
          </a:xfrm>
          <a:prstGeom prst="rect">
            <a:avLst/>
          </a:prstGeom>
        </p:spPr>
        <p:txBody>
          <a:bodyPr wrap="square">
            <a:spAutoFit/>
          </a:bodyPr>
          <a:lstStyle/>
          <a:p>
            <a:r>
              <a:rPr lang="en-US" dirty="0">
                <a:latin typeface="Palatino Linotype" panose="02040502050505030304" pitchFamily="18" charset="0"/>
              </a:rPr>
              <a:t>The CROSS JOIN gets a row from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then creates a new row for every row in the second table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 It then does the same for the next row for in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so on.</a:t>
            </a:r>
          </a:p>
        </p:txBody>
      </p:sp>
      <p:sp>
        <p:nvSpPr>
          <p:cNvPr id="6" name="Rectangle 5">
            <a:extLst>
              <a:ext uri="{FF2B5EF4-FFF2-40B4-BE49-F238E27FC236}">
                <a16:creationId xmlns:a16="http://schemas.microsoft.com/office/drawing/2014/main" id="{5DBCFAB2-335A-4530-B177-292E6740139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C5688F5-114B-43E6-A46B-20876015172C}"/>
              </a:ext>
            </a:extLst>
          </p:cNvPr>
          <p:cNvPicPr>
            <a:picLocks noChangeAspect="1"/>
          </p:cNvPicPr>
          <p:nvPr/>
        </p:nvPicPr>
        <p:blipFill>
          <a:blip r:embed="rId2"/>
          <a:stretch>
            <a:fillRect/>
          </a:stretch>
        </p:blipFill>
        <p:spPr>
          <a:xfrm>
            <a:off x="551383" y="1715642"/>
            <a:ext cx="11161241" cy="4610100"/>
          </a:xfrm>
          <a:prstGeom prst="rect">
            <a:avLst/>
          </a:prstGeom>
        </p:spPr>
      </p:pic>
    </p:spTree>
    <p:extLst>
      <p:ext uri="{BB962C8B-B14F-4D97-AF65-F5344CB8AC3E}">
        <p14:creationId xmlns:p14="http://schemas.microsoft.com/office/powerpoint/2010/main" val="4253925860"/>
      </p:ext>
    </p:extLst>
  </p:cSld>
  <p:clrMapOvr>
    <a:masterClrMapping/>
  </p:clrMapOvr>
</p:sld>
</file>

<file path=ppt/slides/slide5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910461"/>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E1E65D5D-1110-4F71-A94E-4C23AE73804D}"/>
              </a:ext>
            </a:extLst>
          </p:cNvPr>
          <p:cNvGrpSpPr/>
          <p:nvPr/>
        </p:nvGrpSpPr>
        <p:grpSpPr>
          <a:xfrm>
            <a:off x="479376" y="2646779"/>
            <a:ext cx="9357300" cy="3662541"/>
            <a:chOff x="1816224" y="2348880"/>
            <a:chExt cx="6924085" cy="3662541"/>
          </a:xfrm>
        </p:grpSpPr>
        <p:sp>
          <p:nvSpPr>
            <p:cNvPr id="8" name="Rectangle 7">
              <a:extLst>
                <a:ext uri="{FF2B5EF4-FFF2-40B4-BE49-F238E27FC236}">
                  <a16:creationId xmlns:a16="http://schemas.microsoft.com/office/drawing/2014/main" id="{7D36E615-767F-4ACD-9EF9-386821D4EB62}"/>
                </a:ext>
              </a:extLst>
            </p:cNvPr>
            <p:cNvSpPr/>
            <p:nvPr/>
          </p:nvSpPr>
          <p:spPr>
            <a:xfrm>
              <a:off x="1816224" y="2348880"/>
              <a:ext cx="218735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c}</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c), </a:t>
              </a:r>
            </a:p>
            <a:p>
              <a:r>
                <a:rPr lang="en-US" sz="2400" dirty="0">
                  <a:solidFill>
                    <a:srgbClr val="006C86"/>
                  </a:solidFill>
                  <a:latin typeface="Liberation Mono"/>
                </a:rPr>
                <a:t>         (2, c) }</a:t>
              </a:r>
            </a:p>
          </p:txBody>
        </p:sp>
        <p:sp>
          <p:nvSpPr>
            <p:cNvPr id="9" name="Rectangle 8">
              <a:extLst>
                <a:ext uri="{FF2B5EF4-FFF2-40B4-BE49-F238E27FC236}">
                  <a16:creationId xmlns:a16="http://schemas.microsoft.com/office/drawing/2014/main" id="{00E7C294-9290-4FE9-96AA-BDD78B10E0E1}"/>
                </a:ext>
              </a:extLst>
            </p:cNvPr>
            <p:cNvSpPr/>
            <p:nvPr/>
          </p:nvSpPr>
          <p:spPr>
            <a:xfrm>
              <a:off x="3840996" y="2348880"/>
              <a:ext cx="21602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(1, b), </a:t>
              </a:r>
            </a:p>
            <a:p>
              <a:r>
                <a:rPr lang="en-US" sz="2400" dirty="0">
                  <a:solidFill>
                    <a:srgbClr val="006C86"/>
                  </a:solidFill>
                  <a:latin typeface="Liberation Mono"/>
                </a:rPr>
                <a:t>         (2, a),</a:t>
              </a:r>
            </a:p>
            <a:p>
              <a:r>
                <a:rPr lang="en-US" sz="2400" dirty="0">
                  <a:solidFill>
                    <a:srgbClr val="006C86"/>
                  </a:solidFill>
                  <a:latin typeface="Liberation Mono"/>
                </a:rPr>
                <a:t>         (2, b), </a:t>
              </a:r>
            </a:p>
            <a:p>
              <a:r>
                <a:rPr lang="en-US" sz="2400" dirty="0">
                  <a:solidFill>
                    <a:srgbClr val="006C86"/>
                  </a:solidFill>
                  <a:latin typeface="Liberation Mono"/>
                </a:rPr>
                <a:t>         (3, a), </a:t>
              </a:r>
            </a:p>
            <a:p>
              <a:r>
                <a:rPr lang="en-US" sz="2400" dirty="0">
                  <a:solidFill>
                    <a:srgbClr val="006C86"/>
                  </a:solidFill>
                  <a:latin typeface="Liberation Mono"/>
                </a:rPr>
                <a:t>         (4, b) }</a:t>
              </a:r>
            </a:p>
          </p:txBody>
        </p:sp>
        <p:sp>
          <p:nvSpPr>
            <p:cNvPr id="10" name="Rectangle 9">
              <a:extLst>
                <a:ext uri="{FF2B5EF4-FFF2-40B4-BE49-F238E27FC236}">
                  <a16:creationId xmlns:a16="http://schemas.microsoft.com/office/drawing/2014/main" id="{3A3AC5BF-3EA8-4226-AB3B-C0045E243E91}"/>
                </a:ext>
              </a:extLst>
            </p:cNvPr>
            <p:cNvSpPr/>
            <p:nvPr/>
          </p:nvSpPr>
          <p:spPr>
            <a:xfrm>
              <a:off x="6292037" y="2348880"/>
              <a:ext cx="244827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null}</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endParaRPr lang="en-US" sz="2400" dirty="0">
                <a:solidFill>
                  <a:srgbClr val="006C86"/>
                </a:solidFill>
                <a:latin typeface="Liberation Mono"/>
              </a:endParaRP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null), </a:t>
              </a:r>
            </a:p>
            <a:p>
              <a:r>
                <a:rPr lang="en-US" sz="2400" dirty="0">
                  <a:solidFill>
                    <a:srgbClr val="006C86"/>
                  </a:solidFill>
                  <a:latin typeface="Liberation Mono"/>
                </a:rPr>
                <a:t>         (2, null) }</a:t>
              </a:r>
            </a:p>
          </p:txBody>
        </p:sp>
      </p:grpSp>
      <p:sp>
        <p:nvSpPr>
          <p:cNvPr id="3" name="Rectangle 2">
            <a:extLst>
              <a:ext uri="{FF2B5EF4-FFF2-40B4-BE49-F238E27FC236}">
                <a16:creationId xmlns:a16="http://schemas.microsoft.com/office/drawing/2014/main" id="{9384593B-F84E-DD26-7AA5-C3BD06B050A2}"/>
              </a:ext>
            </a:extLst>
          </p:cNvPr>
          <p:cNvSpPr/>
          <p:nvPr/>
        </p:nvSpPr>
        <p:spPr>
          <a:xfrm>
            <a:off x="407368" y="1804754"/>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765306214"/>
      </p:ext>
    </p:extLst>
  </p:cSld>
  <p:clrMapOvr>
    <a:masterClrMapping/>
  </p:clrMapOvr>
</p:sld>
</file>

<file path=ppt/slides/slide5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692696"/>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AC554C5A-88D2-4578-8501-0F544E59E78D}"/>
              </a:ext>
            </a:extLst>
          </p:cNvPr>
          <p:cNvGrpSpPr/>
          <p:nvPr/>
        </p:nvGrpSpPr>
        <p:grpSpPr>
          <a:xfrm>
            <a:off x="82621" y="1988840"/>
            <a:ext cx="5509323" cy="2520280"/>
            <a:chOff x="82621" y="1988840"/>
            <a:chExt cx="5509323" cy="2520280"/>
          </a:xfrm>
        </p:grpSpPr>
        <p:pic>
          <p:nvPicPr>
            <p:cNvPr id="3" name="Picture 2">
              <a:extLst>
                <a:ext uri="{FF2B5EF4-FFF2-40B4-BE49-F238E27FC236}">
                  <a16:creationId xmlns:a16="http://schemas.microsoft.com/office/drawing/2014/main" id="{129EB4D2-0A98-41CB-B45E-18DC219AFD6A}"/>
                </a:ext>
              </a:extLst>
            </p:cNvPr>
            <p:cNvPicPr>
              <a:picLocks noChangeAspect="1"/>
            </p:cNvPicPr>
            <p:nvPr/>
          </p:nvPicPr>
          <p:blipFill>
            <a:blip r:embed="rId2"/>
            <a:stretch>
              <a:fillRect/>
            </a:stretch>
          </p:blipFill>
          <p:spPr>
            <a:xfrm>
              <a:off x="82621" y="1988840"/>
              <a:ext cx="5509323" cy="2520280"/>
            </a:xfrm>
            <a:prstGeom prst="rect">
              <a:avLst/>
            </a:prstGeom>
          </p:spPr>
        </p:pic>
        <p:sp>
          <p:nvSpPr>
            <p:cNvPr id="10" name="TextBox 9">
              <a:extLst>
                <a:ext uri="{FF2B5EF4-FFF2-40B4-BE49-F238E27FC236}">
                  <a16:creationId xmlns:a16="http://schemas.microsoft.com/office/drawing/2014/main" id="{636371B4-2D07-47A7-8B6F-55AC24FD5E82}"/>
                </a:ext>
              </a:extLst>
            </p:cNvPr>
            <p:cNvSpPr txBox="1"/>
            <p:nvPr/>
          </p:nvSpPr>
          <p:spPr>
            <a:xfrm>
              <a:off x="2626489" y="285293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6" name="Group 5">
            <a:extLst>
              <a:ext uri="{FF2B5EF4-FFF2-40B4-BE49-F238E27FC236}">
                <a16:creationId xmlns:a16="http://schemas.microsoft.com/office/drawing/2014/main" id="{D57CA163-30B9-4E58-B9AA-079B9DC48ADE}"/>
              </a:ext>
            </a:extLst>
          </p:cNvPr>
          <p:cNvGrpSpPr/>
          <p:nvPr/>
        </p:nvGrpSpPr>
        <p:grpSpPr>
          <a:xfrm>
            <a:off x="6744072" y="1196752"/>
            <a:ext cx="5040560" cy="2535622"/>
            <a:chOff x="6600056" y="1325426"/>
            <a:chExt cx="5040560" cy="2535622"/>
          </a:xfrm>
        </p:grpSpPr>
        <p:pic>
          <p:nvPicPr>
            <p:cNvPr id="12" name="Picture 11">
              <a:extLst>
                <a:ext uri="{FF2B5EF4-FFF2-40B4-BE49-F238E27FC236}">
                  <a16:creationId xmlns:a16="http://schemas.microsoft.com/office/drawing/2014/main" id="{D9334F77-117D-4529-8444-894654233113}"/>
                </a:ext>
              </a:extLst>
            </p:cNvPr>
            <p:cNvPicPr>
              <a:picLocks noChangeAspect="1"/>
            </p:cNvPicPr>
            <p:nvPr/>
          </p:nvPicPr>
          <p:blipFill>
            <a:blip r:embed="rId3"/>
            <a:stretch>
              <a:fillRect/>
            </a:stretch>
          </p:blipFill>
          <p:spPr>
            <a:xfrm>
              <a:off x="6600056" y="1325426"/>
              <a:ext cx="5040560" cy="2535622"/>
            </a:xfrm>
            <a:prstGeom prst="rect">
              <a:avLst/>
            </a:prstGeom>
          </p:spPr>
        </p:pic>
        <p:sp>
          <p:nvSpPr>
            <p:cNvPr id="11" name="TextBox 10">
              <a:extLst>
                <a:ext uri="{FF2B5EF4-FFF2-40B4-BE49-F238E27FC236}">
                  <a16:creationId xmlns:a16="http://schemas.microsoft.com/office/drawing/2014/main" id="{FD1D25AB-EC9C-43C9-B5D7-3A12073DFB4E}"/>
                </a:ext>
              </a:extLst>
            </p:cNvPr>
            <p:cNvSpPr txBox="1"/>
            <p:nvPr/>
          </p:nvSpPr>
          <p:spPr>
            <a:xfrm>
              <a:off x="8805529" y="213285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8" name="Group 7">
            <a:extLst>
              <a:ext uri="{FF2B5EF4-FFF2-40B4-BE49-F238E27FC236}">
                <a16:creationId xmlns:a16="http://schemas.microsoft.com/office/drawing/2014/main" id="{98DEE755-0940-4703-A765-0CEBEA037B92}"/>
              </a:ext>
            </a:extLst>
          </p:cNvPr>
          <p:cNvGrpSpPr/>
          <p:nvPr/>
        </p:nvGrpSpPr>
        <p:grpSpPr>
          <a:xfrm>
            <a:off x="6168008" y="3861048"/>
            <a:ext cx="5221291" cy="2693577"/>
            <a:chOff x="5702088" y="4204491"/>
            <a:chExt cx="5218448" cy="2689099"/>
          </a:xfrm>
        </p:grpSpPr>
        <p:pic>
          <p:nvPicPr>
            <p:cNvPr id="13" name="Picture 12">
              <a:extLst>
                <a:ext uri="{FF2B5EF4-FFF2-40B4-BE49-F238E27FC236}">
                  <a16:creationId xmlns:a16="http://schemas.microsoft.com/office/drawing/2014/main" id="{33C2C506-838A-4654-9A29-C0F10842B9A8}"/>
                </a:ext>
              </a:extLst>
            </p:cNvPr>
            <p:cNvPicPr>
              <a:picLocks noChangeAspect="1"/>
            </p:cNvPicPr>
            <p:nvPr/>
          </p:nvPicPr>
          <p:blipFill>
            <a:blip r:embed="rId4"/>
            <a:stretch>
              <a:fillRect/>
            </a:stretch>
          </p:blipFill>
          <p:spPr>
            <a:xfrm>
              <a:off x="5702088" y="4204491"/>
              <a:ext cx="5218448" cy="2689099"/>
            </a:xfrm>
            <a:prstGeom prst="rect">
              <a:avLst/>
            </a:prstGeom>
          </p:spPr>
        </p:pic>
        <p:sp>
          <p:nvSpPr>
            <p:cNvPr id="14" name="TextBox 13">
              <a:extLst>
                <a:ext uri="{FF2B5EF4-FFF2-40B4-BE49-F238E27FC236}">
                  <a16:creationId xmlns:a16="http://schemas.microsoft.com/office/drawing/2014/main" id="{707D8BD5-F240-4C14-980F-EC86CB662484}"/>
                </a:ext>
              </a:extLst>
            </p:cNvPr>
            <p:cNvSpPr txBox="1"/>
            <p:nvPr/>
          </p:nvSpPr>
          <p:spPr>
            <a:xfrm>
              <a:off x="8285268" y="4797152"/>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sp>
        <p:nvSpPr>
          <p:cNvPr id="9" name="TextBox 8">
            <a:extLst>
              <a:ext uri="{FF2B5EF4-FFF2-40B4-BE49-F238E27FC236}">
                <a16:creationId xmlns:a16="http://schemas.microsoft.com/office/drawing/2014/main" id="{95F5BAF1-00CE-48F0-95C4-9ED882E8F254}"/>
              </a:ext>
            </a:extLst>
          </p:cNvPr>
          <p:cNvSpPr txBox="1"/>
          <p:nvPr/>
        </p:nvSpPr>
        <p:spPr>
          <a:xfrm>
            <a:off x="335360" y="4653136"/>
            <a:ext cx="5544616"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6C86"/>
                </a:solidFill>
                <a:latin typeface="Liberation Mono"/>
              </a:rPr>
              <a:t>Product </a:t>
            </a:r>
            <a:r>
              <a:rPr lang="en-US">
                <a:solidFill>
                  <a:srgbClr val="006C86"/>
                </a:solidFill>
                <a:latin typeface="Liberation Mono"/>
              </a:rPr>
              <a:t>/Warehouse</a:t>
            </a:r>
            <a:endParaRPr lang="en-US" dirty="0">
              <a:solidFill>
                <a:srgbClr val="006C86"/>
              </a:solidFill>
              <a:latin typeface="Liberation Mono"/>
            </a:endParaRPr>
          </a:p>
          <a:p>
            <a:pPr marL="285750" indent="-285750">
              <a:buFont typeface="Arial" panose="020B0604020202020204" pitchFamily="34" charset="0"/>
              <a:buChar char="•"/>
            </a:pPr>
            <a:r>
              <a:rPr lang="en-US" dirty="0">
                <a:solidFill>
                  <a:srgbClr val="006C86"/>
                </a:solidFill>
                <a:latin typeface="Liberation Mono"/>
              </a:rPr>
              <a:t>Product/sales_channel</a:t>
            </a:r>
          </a:p>
          <a:p>
            <a:pPr marL="285750" indent="-285750">
              <a:buFont typeface="Arial" panose="020B0604020202020204" pitchFamily="34" charset="0"/>
              <a:buChar char="•"/>
            </a:pPr>
            <a:r>
              <a:rPr lang="en-US" dirty="0">
                <a:solidFill>
                  <a:srgbClr val="006C86"/>
                </a:solidFill>
                <a:latin typeface="Liberation Mono"/>
              </a:rPr>
              <a:t>Person/Cards</a:t>
            </a:r>
          </a:p>
          <a:p>
            <a:pPr marL="285750" indent="-285750">
              <a:buFont typeface="Arial" panose="020B0604020202020204" pitchFamily="34" charset="0"/>
              <a:buChar char="•"/>
            </a:pPr>
            <a:r>
              <a:rPr lang="en-US" dirty="0">
                <a:solidFill>
                  <a:srgbClr val="006C86"/>
                </a:solidFill>
                <a:latin typeface="Liberation Mono"/>
              </a:rPr>
              <a:t>Generate Calendar </a:t>
            </a:r>
            <a:r>
              <a:rPr lang="en-IN" dirty="0">
                <a:solidFill>
                  <a:srgbClr val="006C86"/>
                </a:solidFill>
                <a:latin typeface="Liberation Mono"/>
              </a:rPr>
              <a:t>— </a:t>
            </a:r>
            <a:r>
              <a:rPr lang="en-US" dirty="0">
                <a:solidFill>
                  <a:srgbClr val="006C86"/>
                </a:solidFill>
                <a:latin typeface="Liberation Mono"/>
              </a:rPr>
              <a:t>Dates × Shifts</a:t>
            </a:r>
          </a:p>
          <a:p>
            <a:pPr marL="285750" indent="-285750">
              <a:buFont typeface="Arial" panose="020B0604020202020204" pitchFamily="34" charset="0"/>
              <a:buChar char="•"/>
            </a:pPr>
            <a:r>
              <a:rPr lang="en-IN" dirty="0">
                <a:solidFill>
                  <a:srgbClr val="006C86"/>
                </a:solidFill>
                <a:latin typeface="Liberation Mono"/>
              </a:rPr>
              <a:t>Travel Planner — Source × Destination</a:t>
            </a:r>
          </a:p>
        </p:txBody>
      </p:sp>
      <p:sp>
        <p:nvSpPr>
          <p:cNvPr id="15" name="Rectangle 14">
            <a:extLst>
              <a:ext uri="{FF2B5EF4-FFF2-40B4-BE49-F238E27FC236}">
                <a16:creationId xmlns:a16="http://schemas.microsoft.com/office/drawing/2014/main" id="{B0103018-B379-CFFA-2A6A-DC90748D093A}"/>
              </a:ext>
            </a:extLst>
          </p:cNvPr>
          <p:cNvSpPr/>
          <p:nvPr/>
        </p:nvSpPr>
        <p:spPr>
          <a:xfrm>
            <a:off x="407368" y="1516722"/>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3099948231"/>
      </p:ext>
    </p:extLst>
  </p:cSld>
  <p:clrMapOvr>
    <a:masterClrMapping/>
  </p:clrMapOvr>
</p:sld>
</file>

<file path=ppt/slides/slide5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1124744"/>
            <a:ext cx="11665296"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ea typeface="Times New Roman" panose="02020603050405020304" pitchFamily="18" charset="0"/>
              </a:rPr>
              <a:t> menucard, softdrink;</a:t>
            </a:r>
          </a:p>
        </p:txBody>
      </p:sp>
      <p:pic>
        <p:nvPicPr>
          <p:cNvPr id="10" name="Picture 9">
            <a:extLst>
              <a:ext uri="{FF2B5EF4-FFF2-40B4-BE49-F238E27FC236}">
                <a16:creationId xmlns:a16="http://schemas.microsoft.com/office/drawing/2014/main" id="{27EB361D-57A8-40A5-AACB-7A4FEAA1AA15}"/>
              </a:ext>
            </a:extLst>
          </p:cNvPr>
          <p:cNvPicPr>
            <a:picLocks noChangeAspect="1"/>
          </p:cNvPicPr>
          <p:nvPr/>
        </p:nvPicPr>
        <p:blipFill>
          <a:blip r:embed="rId2"/>
          <a:stretch>
            <a:fillRect/>
          </a:stretch>
        </p:blipFill>
        <p:spPr>
          <a:xfrm>
            <a:off x="407368" y="1740768"/>
            <a:ext cx="3646100" cy="3159026"/>
          </a:xfrm>
          <a:prstGeom prst="rect">
            <a:avLst/>
          </a:prstGeom>
        </p:spPr>
      </p:pic>
      <p:pic>
        <p:nvPicPr>
          <p:cNvPr id="11" name="Picture 10">
            <a:extLst>
              <a:ext uri="{FF2B5EF4-FFF2-40B4-BE49-F238E27FC236}">
                <a16:creationId xmlns:a16="http://schemas.microsoft.com/office/drawing/2014/main" id="{E22FFE78-703B-4DE1-BAF7-DFB88FE7A1C6}"/>
              </a:ext>
            </a:extLst>
          </p:cNvPr>
          <p:cNvPicPr>
            <a:picLocks noChangeAspect="1"/>
          </p:cNvPicPr>
          <p:nvPr/>
        </p:nvPicPr>
        <p:blipFill>
          <a:blip r:embed="rId3"/>
          <a:stretch>
            <a:fillRect/>
          </a:stretch>
        </p:blipFill>
        <p:spPr>
          <a:xfrm>
            <a:off x="407368" y="5122763"/>
            <a:ext cx="3646100" cy="1516889"/>
          </a:xfrm>
          <a:prstGeom prst="rect">
            <a:avLst/>
          </a:prstGeom>
        </p:spPr>
      </p:pic>
      <p:pic>
        <p:nvPicPr>
          <p:cNvPr id="12" name="Picture 11">
            <a:extLst>
              <a:ext uri="{FF2B5EF4-FFF2-40B4-BE49-F238E27FC236}">
                <a16:creationId xmlns:a16="http://schemas.microsoft.com/office/drawing/2014/main" id="{BD7ED67D-A080-4B2E-BE4A-4E219A503EE7}"/>
              </a:ext>
            </a:extLst>
          </p:cNvPr>
          <p:cNvPicPr>
            <a:picLocks noChangeAspect="1"/>
          </p:cNvPicPr>
          <p:nvPr/>
        </p:nvPicPr>
        <p:blipFill>
          <a:blip r:embed="rId4"/>
          <a:stretch>
            <a:fillRect/>
          </a:stretch>
        </p:blipFill>
        <p:spPr>
          <a:xfrm>
            <a:off x="5798274" y="1740767"/>
            <a:ext cx="4869726" cy="4947279"/>
          </a:xfrm>
          <a:prstGeom prst="rect">
            <a:avLst/>
          </a:prstGeom>
        </p:spPr>
      </p:pic>
      <p:sp>
        <p:nvSpPr>
          <p:cNvPr id="5" name="Rectangle 4">
            <a:extLst>
              <a:ext uri="{FF2B5EF4-FFF2-40B4-BE49-F238E27FC236}">
                <a16:creationId xmlns:a16="http://schemas.microsoft.com/office/drawing/2014/main" id="{D5606695-0511-64FF-2D96-DDA3C5A6ABDF}"/>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308689304"/>
      </p:ext>
    </p:extLst>
  </p:cSld>
  <p:clrMapOvr>
    <a:masterClrMapping/>
  </p:clrMapOvr>
</p:sld>
</file>

<file path=ppt/slides/slide5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8826" y="1112721"/>
            <a:ext cx="1166529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chemeClr val="tx1">
                    <a:lumMod val="50000"/>
                    <a:lumOff val="50000"/>
                  </a:schemeClr>
                </a:solidFill>
                <a:latin typeface="Liberation Mono"/>
              </a:rPr>
              <a:t>mnu</a:t>
            </a:r>
            <a:r>
              <a:rPr lang="en-US" dirty="0">
                <a:latin typeface="Liberation Mono"/>
              </a:rPr>
              <a:t>.name, </a:t>
            </a:r>
            <a:r>
              <a:rPr lang="en-US" dirty="0">
                <a:solidFill>
                  <a:schemeClr val="tx1">
                    <a:lumMod val="50000"/>
                    <a:lumOff val="50000"/>
                  </a:schemeClr>
                </a:solidFill>
                <a:latin typeface="Liberation Mono"/>
              </a:rPr>
              <a:t>sftdrink</a:t>
            </a:r>
            <a:r>
              <a:rPr lang="en-US" dirty="0">
                <a:latin typeface="Liberation Mono"/>
              </a:rPr>
              <a:t>.name, </a:t>
            </a:r>
            <a:r>
              <a:rPr lang="en-US" dirty="0">
                <a:solidFill>
                  <a:schemeClr val="tx1">
                    <a:lumMod val="50000"/>
                    <a:lumOff val="50000"/>
                  </a:schemeClr>
                </a:solidFill>
                <a:latin typeface="Liberation Mono"/>
              </a:rPr>
              <a:t>mnu</a:t>
            </a:r>
            <a:r>
              <a:rPr lang="en-US" dirty="0">
                <a:latin typeface="Liberation Mono"/>
              </a:rPr>
              <a:t>.rate, </a:t>
            </a:r>
            <a:r>
              <a:rPr lang="en-US" dirty="0">
                <a:solidFill>
                  <a:schemeClr val="tx1">
                    <a:lumMod val="50000"/>
                    <a:lumOff val="50000"/>
                  </a:schemeClr>
                </a:solidFill>
                <a:latin typeface="Liberation Mono"/>
              </a:rPr>
              <a:t>sftdrink</a:t>
            </a:r>
            <a:r>
              <a:rPr lang="en-US" dirty="0">
                <a:latin typeface="Liberation Mono"/>
              </a:rPr>
              <a:t>.rate, </a:t>
            </a:r>
            <a:r>
              <a:rPr lang="en-US" dirty="0">
                <a:solidFill>
                  <a:schemeClr val="tx1">
                    <a:lumMod val="50000"/>
                    <a:lumOff val="50000"/>
                  </a:schemeClr>
                </a:solidFill>
                <a:latin typeface="Liberation Mono"/>
              </a:rPr>
              <a:t>mnu</a:t>
            </a:r>
            <a:r>
              <a:rPr lang="en-US" dirty="0">
                <a:latin typeface="Liberation Mono"/>
              </a:rPr>
              <a:t>.rate + </a:t>
            </a:r>
            <a:r>
              <a:rPr lang="en-US" dirty="0">
                <a:solidFill>
                  <a:schemeClr val="tx1">
                    <a:lumMod val="50000"/>
                    <a:lumOff val="50000"/>
                  </a:schemeClr>
                </a:solidFill>
                <a:latin typeface="Liberation Mono"/>
              </a:rPr>
              <a:t>sftdrink</a:t>
            </a:r>
            <a:r>
              <a:rPr lang="en-US" dirty="0">
                <a:latin typeface="Liberation Mono"/>
              </a:rPr>
              <a:t>.rate as </a:t>
            </a:r>
            <a:r>
              <a:rPr lang="en-US" dirty="0">
                <a:solidFill>
                  <a:srgbClr val="669900"/>
                </a:solidFill>
                <a:latin typeface="Liberation Mono"/>
              </a:rPr>
              <a:t>"Total" </a:t>
            </a:r>
            <a:r>
              <a:rPr lang="en-US" dirty="0">
                <a:solidFill>
                  <a:srgbClr val="0077AA"/>
                </a:solidFill>
                <a:latin typeface="Liberation Mono"/>
                <a:ea typeface="Times New Roman" panose="02020603050405020304" pitchFamily="18" charset="0"/>
              </a:rPr>
              <a:t>FROM</a:t>
            </a:r>
            <a:r>
              <a:rPr lang="en-US" dirty="0">
                <a:latin typeface="Liberation Mono"/>
              </a:rPr>
              <a:t> menucard </a:t>
            </a:r>
            <a:r>
              <a:rPr lang="en-US" dirty="0">
                <a:solidFill>
                  <a:schemeClr val="tx1">
                    <a:lumMod val="50000"/>
                    <a:lumOff val="50000"/>
                  </a:schemeClr>
                </a:solidFill>
                <a:latin typeface="Liberation Mono"/>
              </a:rPr>
              <a:t>mnu</a:t>
            </a:r>
            <a:r>
              <a:rPr lang="en-US" dirty="0">
                <a:latin typeface="Liberation Mono"/>
              </a:rPr>
              <a:t>, softdrink </a:t>
            </a:r>
            <a:r>
              <a:rPr lang="en-US" dirty="0">
                <a:solidFill>
                  <a:schemeClr val="tx1">
                    <a:lumMod val="50000"/>
                    <a:lumOff val="50000"/>
                  </a:schemeClr>
                </a:solidFill>
                <a:latin typeface="Liberation Mono"/>
              </a:rPr>
              <a:t>sftdrink</a:t>
            </a:r>
            <a:r>
              <a:rPr lang="en-US" dirty="0">
                <a:latin typeface="Liberation Mono"/>
              </a:rPr>
              <a:t>;</a:t>
            </a:r>
          </a:p>
        </p:txBody>
      </p:sp>
      <p:pic>
        <p:nvPicPr>
          <p:cNvPr id="2" name="Picture 1">
            <a:extLst>
              <a:ext uri="{FF2B5EF4-FFF2-40B4-BE49-F238E27FC236}">
                <a16:creationId xmlns:a16="http://schemas.microsoft.com/office/drawing/2014/main" id="{A5EEF4D0-2CC1-43CD-8579-85D930343D27}"/>
              </a:ext>
            </a:extLst>
          </p:cNvPr>
          <p:cNvPicPr>
            <a:picLocks noChangeAspect="1"/>
          </p:cNvPicPr>
          <p:nvPr/>
        </p:nvPicPr>
        <p:blipFill>
          <a:blip r:embed="rId2"/>
          <a:stretch>
            <a:fillRect/>
          </a:stretch>
        </p:blipFill>
        <p:spPr>
          <a:xfrm>
            <a:off x="407368" y="1926158"/>
            <a:ext cx="3646100" cy="3159026"/>
          </a:xfrm>
          <a:prstGeom prst="rect">
            <a:avLst/>
          </a:prstGeom>
        </p:spPr>
      </p:pic>
      <p:pic>
        <p:nvPicPr>
          <p:cNvPr id="3" name="Picture 2">
            <a:extLst>
              <a:ext uri="{FF2B5EF4-FFF2-40B4-BE49-F238E27FC236}">
                <a16:creationId xmlns:a16="http://schemas.microsoft.com/office/drawing/2014/main" id="{6EA0E246-79E2-4240-B2EE-F6CBA161F2ED}"/>
              </a:ext>
            </a:extLst>
          </p:cNvPr>
          <p:cNvPicPr>
            <a:picLocks noChangeAspect="1"/>
          </p:cNvPicPr>
          <p:nvPr/>
        </p:nvPicPr>
        <p:blipFill>
          <a:blip r:embed="rId3"/>
          <a:stretch>
            <a:fillRect/>
          </a:stretch>
        </p:blipFill>
        <p:spPr>
          <a:xfrm>
            <a:off x="407368" y="5229200"/>
            <a:ext cx="3646100" cy="1516889"/>
          </a:xfrm>
          <a:prstGeom prst="rect">
            <a:avLst/>
          </a:prstGeom>
        </p:spPr>
      </p:pic>
      <p:pic>
        <p:nvPicPr>
          <p:cNvPr id="6" name="Picture 5">
            <a:extLst>
              <a:ext uri="{FF2B5EF4-FFF2-40B4-BE49-F238E27FC236}">
                <a16:creationId xmlns:a16="http://schemas.microsoft.com/office/drawing/2014/main" id="{8EAB5AB2-B5D5-4BA9-B566-5C520DCA2F73}"/>
              </a:ext>
            </a:extLst>
          </p:cNvPr>
          <p:cNvPicPr>
            <a:picLocks noChangeAspect="1"/>
          </p:cNvPicPr>
          <p:nvPr/>
        </p:nvPicPr>
        <p:blipFill>
          <a:blip r:embed="rId4"/>
          <a:stretch>
            <a:fillRect/>
          </a:stretch>
        </p:blipFill>
        <p:spPr>
          <a:xfrm>
            <a:off x="5663952" y="1740767"/>
            <a:ext cx="5004048" cy="4979757"/>
          </a:xfrm>
          <a:prstGeom prst="rect">
            <a:avLst/>
          </a:prstGeom>
        </p:spPr>
      </p:pic>
      <p:sp>
        <p:nvSpPr>
          <p:cNvPr id="5" name="Rectangle 4">
            <a:extLst>
              <a:ext uri="{FF2B5EF4-FFF2-40B4-BE49-F238E27FC236}">
                <a16:creationId xmlns:a16="http://schemas.microsoft.com/office/drawing/2014/main" id="{4D51F3DB-9A43-8A12-B091-CF9250C3A11A}"/>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947568304"/>
      </p:ext>
    </p:extLst>
  </p:cSld>
  <p:clrMapOvr>
    <a:masterClrMapping/>
  </p:clrMapOvr>
</p:sld>
</file>

<file path=ppt/slides/slide5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 example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840128"/>
            <a:ext cx="11665296"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name,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Employees"</a:t>
            </a:r>
            <a:r>
              <a:rPr lang="en-US" dirty="0">
                <a:latin typeface="Liberation Mono"/>
              </a:rPr>
              <a:t>, rate *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Cost" </a:t>
            </a:r>
            <a:r>
              <a:rPr lang="en-US" dirty="0">
                <a:solidFill>
                  <a:srgbClr val="0077AA"/>
                </a:solidFill>
                <a:latin typeface="Liberation Mono"/>
                <a:ea typeface="Times New Roman" panose="02020603050405020304" pitchFamily="18" charset="0"/>
              </a:rPr>
              <a:t>FROM</a:t>
            </a:r>
            <a:r>
              <a:rPr lang="en-US" dirty="0">
                <a:latin typeface="Liberation Mono"/>
              </a:rPr>
              <a:t> emp, softdrink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name;</a:t>
            </a:r>
          </a:p>
        </p:txBody>
      </p:sp>
    </p:spTree>
    <p:extLst>
      <p:ext uri="{BB962C8B-B14F-4D97-AF65-F5344CB8AC3E}">
        <p14:creationId xmlns:p14="http://schemas.microsoft.com/office/powerpoint/2010/main" val="3515033859"/>
      </p:ext>
    </p:extLst>
  </p:cSld>
  <p:clrMapOvr>
    <a:masterClrMapping/>
  </p:clrMapOvr>
</p:sld>
</file>

<file path=ppt/slides/slide5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cross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621524"/>
            <a:ext cx="11449272"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CROSS JOIN produced a result set which is the product of rows of two associated tables when no WHERE clause is used with CROSS JOIN. In this join, the result set appeared by multiplying each row of the first table with all rows in the second table if no condition introduced with CROSS JOIN.</a:t>
            </a:r>
          </a:p>
        </p:txBody>
      </p:sp>
      <p:sp>
        <p:nvSpPr>
          <p:cNvPr id="7" name="Rectangle 6"/>
          <p:cNvSpPr/>
          <p:nvPr/>
        </p:nvSpPr>
        <p:spPr>
          <a:xfrm>
            <a:off x="407368" y="1628800"/>
            <a:ext cx="9067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C00000"/>
                  </a:solidFill>
                </a:uFill>
                <a:latin typeface="Liberation Mono"/>
              </a:rPr>
              <a:t>CROSS JOIN</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 . .</a:t>
            </a:r>
          </a:p>
        </p:txBody>
      </p:sp>
      <p:sp>
        <p:nvSpPr>
          <p:cNvPr id="10" name="Rectangle 9"/>
          <p:cNvSpPr/>
          <p:nvPr/>
        </p:nvSpPr>
        <p:spPr>
          <a:xfrm>
            <a:off x="187370" y="3933056"/>
            <a:ext cx="454554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envelope </a:t>
            </a:r>
            <a:r>
              <a:rPr lang="en-IN" dirty="0">
                <a:solidFill>
                  <a:schemeClr val="accent5">
                    <a:lumMod val="75000"/>
                  </a:schemeClr>
                </a:solidFill>
                <a:latin typeface="Liberation Mono"/>
                <a:cs typeface="Arial" panose="020B0604020202020204" pitchFamily="34" charset="0"/>
              </a:rPr>
              <a:t>CROSS</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docs;</a:t>
            </a:r>
          </a:p>
        </p:txBody>
      </p:sp>
      <p:pic>
        <p:nvPicPr>
          <p:cNvPr id="2" name="Picture 1">
            <a:extLst>
              <a:ext uri="{FF2B5EF4-FFF2-40B4-BE49-F238E27FC236}">
                <a16:creationId xmlns:a16="http://schemas.microsoft.com/office/drawing/2014/main" id="{142FFB09-74F7-468D-A126-1C8409FE6939}"/>
              </a:ext>
            </a:extLst>
          </p:cNvPr>
          <p:cNvPicPr>
            <a:picLocks noChangeAspect="1"/>
          </p:cNvPicPr>
          <p:nvPr/>
        </p:nvPicPr>
        <p:blipFill>
          <a:blip r:embed="rId2"/>
          <a:stretch>
            <a:fillRect/>
          </a:stretch>
        </p:blipFill>
        <p:spPr>
          <a:xfrm>
            <a:off x="6933339" y="2159216"/>
            <a:ext cx="4835718" cy="2716235"/>
          </a:xfrm>
          <a:prstGeom prst="rect">
            <a:avLst/>
          </a:prstGeom>
        </p:spPr>
      </p:pic>
      <p:pic>
        <p:nvPicPr>
          <p:cNvPr id="6" name="Picture 5">
            <a:extLst>
              <a:ext uri="{FF2B5EF4-FFF2-40B4-BE49-F238E27FC236}">
                <a16:creationId xmlns:a16="http://schemas.microsoft.com/office/drawing/2014/main" id="{6DB13CF5-F0E3-4A15-BF73-0BA620B89CCD}"/>
              </a:ext>
            </a:extLst>
          </p:cNvPr>
          <p:cNvPicPr>
            <a:picLocks noChangeAspect="1"/>
          </p:cNvPicPr>
          <p:nvPr/>
        </p:nvPicPr>
        <p:blipFill>
          <a:blip r:embed="rId3"/>
          <a:stretch>
            <a:fillRect/>
          </a:stretch>
        </p:blipFill>
        <p:spPr>
          <a:xfrm>
            <a:off x="187370" y="4501323"/>
            <a:ext cx="4835718" cy="2024021"/>
          </a:xfrm>
          <a:prstGeom prst="rect">
            <a:avLst/>
          </a:prstGeom>
        </p:spPr>
      </p:pic>
      <p:pic>
        <p:nvPicPr>
          <p:cNvPr id="12" name="Picture 11">
            <a:extLst>
              <a:ext uri="{FF2B5EF4-FFF2-40B4-BE49-F238E27FC236}">
                <a16:creationId xmlns:a16="http://schemas.microsoft.com/office/drawing/2014/main" id="{3762B5C9-C641-4CB8-95CE-0731B3459938}"/>
              </a:ext>
            </a:extLst>
          </p:cNvPr>
          <p:cNvPicPr>
            <a:picLocks noChangeAspect="1"/>
          </p:cNvPicPr>
          <p:nvPr/>
        </p:nvPicPr>
        <p:blipFill>
          <a:blip r:embed="rId4"/>
          <a:stretch>
            <a:fillRect/>
          </a:stretch>
        </p:blipFill>
        <p:spPr>
          <a:xfrm>
            <a:off x="263352" y="2708920"/>
            <a:ext cx="1631871" cy="861757"/>
          </a:xfrm>
          <a:prstGeom prst="rect">
            <a:avLst/>
          </a:prstGeom>
        </p:spPr>
      </p:pic>
      <p:pic>
        <p:nvPicPr>
          <p:cNvPr id="13" name="Picture 12">
            <a:extLst>
              <a:ext uri="{FF2B5EF4-FFF2-40B4-BE49-F238E27FC236}">
                <a16:creationId xmlns:a16="http://schemas.microsoft.com/office/drawing/2014/main" id="{D33098D5-0306-4810-A3AF-7FC36C3D8E63}"/>
              </a:ext>
            </a:extLst>
          </p:cNvPr>
          <p:cNvPicPr>
            <a:picLocks noChangeAspect="1"/>
          </p:cNvPicPr>
          <p:nvPr/>
        </p:nvPicPr>
        <p:blipFill>
          <a:blip r:embed="rId5"/>
          <a:stretch>
            <a:fillRect/>
          </a:stretch>
        </p:blipFill>
        <p:spPr>
          <a:xfrm>
            <a:off x="3416362" y="2714141"/>
            <a:ext cx="2074685" cy="858875"/>
          </a:xfrm>
          <a:prstGeom prst="rect">
            <a:avLst/>
          </a:prstGeom>
        </p:spPr>
      </p:pic>
      <p:sp>
        <p:nvSpPr>
          <p:cNvPr id="15" name="TextBox 14">
            <a:extLst>
              <a:ext uri="{FF2B5EF4-FFF2-40B4-BE49-F238E27FC236}">
                <a16:creationId xmlns:a16="http://schemas.microsoft.com/office/drawing/2014/main" id="{867761B3-90F0-458A-9566-A6B4CF0C5B85}"/>
              </a:ext>
            </a:extLst>
          </p:cNvPr>
          <p:cNvSpPr txBox="1"/>
          <p:nvPr/>
        </p:nvSpPr>
        <p:spPr>
          <a:xfrm>
            <a:off x="191344" y="2298358"/>
            <a:ext cx="1501496" cy="338554"/>
          </a:xfrm>
          <a:prstGeom prst="rect">
            <a:avLst/>
          </a:prstGeom>
          <a:noFill/>
        </p:spPr>
        <p:txBody>
          <a:bodyPr wrap="square">
            <a:spAutoFit/>
          </a:bodyPr>
          <a:lstStyle/>
          <a:p>
            <a:r>
              <a:rPr lang="en-US" sz="1600" b="1" dirty="0">
                <a:latin typeface="Liberation Mono"/>
                <a:cs typeface="Arial" panose="020B0604020202020204" pitchFamily="34" charset="0"/>
              </a:rPr>
              <a:t>envelope </a:t>
            </a:r>
            <a:r>
              <a:rPr lang="en-US" sz="1600" b="1" dirty="0">
                <a:solidFill>
                  <a:srgbClr val="0077AA"/>
                </a:solidFill>
                <a:latin typeface="Liberation Mono"/>
                <a:ea typeface="Times New Roman" panose="02020603050405020304" pitchFamily="18" charset="0"/>
              </a:rPr>
              <a:t>Table </a:t>
            </a:r>
            <a:endParaRPr lang="en-IN" sz="1600" b="1" dirty="0"/>
          </a:p>
        </p:txBody>
      </p:sp>
      <p:sp>
        <p:nvSpPr>
          <p:cNvPr id="17" name="TextBox 16">
            <a:extLst>
              <a:ext uri="{FF2B5EF4-FFF2-40B4-BE49-F238E27FC236}">
                <a16:creationId xmlns:a16="http://schemas.microsoft.com/office/drawing/2014/main" id="{A1A5741E-0A85-47FF-8307-FDB315185836}"/>
              </a:ext>
            </a:extLst>
          </p:cNvPr>
          <p:cNvSpPr txBox="1"/>
          <p:nvPr/>
        </p:nvSpPr>
        <p:spPr>
          <a:xfrm>
            <a:off x="3340380" y="2298358"/>
            <a:ext cx="1171444" cy="338554"/>
          </a:xfrm>
          <a:prstGeom prst="rect">
            <a:avLst/>
          </a:prstGeom>
          <a:noFill/>
        </p:spPr>
        <p:txBody>
          <a:bodyPr wrap="square">
            <a:spAutoFit/>
          </a:bodyPr>
          <a:lstStyle/>
          <a:p>
            <a:r>
              <a:rPr lang="en-US" sz="1600" b="1" dirty="0">
                <a:latin typeface="Liberation Mono"/>
                <a:cs typeface="Arial" panose="020B0604020202020204" pitchFamily="34" charset="0"/>
              </a:rPr>
              <a:t>docs </a:t>
            </a:r>
            <a:r>
              <a:rPr lang="en-US" sz="1600" b="1" dirty="0">
                <a:solidFill>
                  <a:srgbClr val="0077AA"/>
                </a:solidFill>
                <a:latin typeface="Liberation Mono"/>
                <a:ea typeface="Times New Roman" panose="02020603050405020304" pitchFamily="18" charset="0"/>
              </a:rPr>
              <a:t>Table </a:t>
            </a:r>
            <a:endParaRPr lang="en-IN" sz="1600" b="1" dirty="0"/>
          </a:p>
        </p:txBody>
      </p:sp>
    </p:spTree>
    <p:extLst>
      <p:ext uri="{BB962C8B-B14F-4D97-AF65-F5344CB8AC3E}">
        <p14:creationId xmlns:p14="http://schemas.microsoft.com/office/powerpoint/2010/main" val="3247180374"/>
      </p:ext>
    </p:extLst>
  </p:cSld>
  <p:clrMapOvr>
    <a:masterClrMapping/>
  </p:clrMapOvr>
</p:sld>
</file>

<file path=ppt/slides/slide5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199141" y="211458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equi join</a:t>
            </a:r>
          </a:p>
        </p:txBody>
      </p:sp>
      <p:pic>
        <p:nvPicPr>
          <p:cNvPr id="4" name="Picture 3">
            <a:extLst>
              <a:ext uri="{FF2B5EF4-FFF2-40B4-BE49-F238E27FC236}">
                <a16:creationId xmlns:a16="http://schemas.microsoft.com/office/drawing/2014/main" id="{D71FC329-17AC-4EDB-A885-C3835D125185}"/>
              </a:ext>
            </a:extLst>
          </p:cNvPr>
          <p:cNvPicPr>
            <a:picLocks noChangeAspect="1"/>
          </p:cNvPicPr>
          <p:nvPr/>
        </p:nvPicPr>
        <p:blipFill>
          <a:blip r:embed="rId2" cstate="print"/>
          <a:stretch>
            <a:fillRect/>
          </a:stretch>
        </p:blipFill>
        <p:spPr>
          <a:xfrm>
            <a:off x="1524000" y="188640"/>
            <a:ext cx="9144000" cy="1981200"/>
          </a:xfrm>
          <a:prstGeom prst="rect">
            <a:avLst/>
          </a:prstGeom>
        </p:spPr>
      </p:pic>
      <p:sp>
        <p:nvSpPr>
          <p:cNvPr id="6" name="Rectangle 5">
            <a:extLst>
              <a:ext uri="{FF2B5EF4-FFF2-40B4-BE49-F238E27FC236}">
                <a16:creationId xmlns:a16="http://schemas.microsoft.com/office/drawing/2014/main" id="{ACC523C7-43BF-4A5C-861C-7415E663E131}"/>
              </a:ext>
            </a:extLst>
          </p:cNvPr>
          <p:cNvSpPr/>
          <p:nvPr/>
        </p:nvSpPr>
        <p:spPr>
          <a:xfrm>
            <a:off x="407368" y="3283866"/>
            <a:ext cx="11305256" cy="163121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An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 </a:t>
            </a:r>
            <a:r>
              <a:rPr lang="en-US" sz="2000" dirty="0">
                <a:latin typeface="Palatino Linotype" panose="02040502050505030304" pitchFamily="18" charset="0"/>
                <a:cs typeface="Segoe UI Light" panose="020B0502040204020203" pitchFamily="34" charset="0"/>
              </a:rPr>
              <a:t> is a join with a join condition containing an equality operator.  An equijoin returns only those rows that have equivalent values for the specified columns. Rows that match remain in the result, those that don't are rejected. The match condition is commonly called the </a:t>
            </a:r>
            <a:r>
              <a:rPr lang="en-US" sz="2000" b="1" dirty="0">
                <a:latin typeface="Palatino Linotype" panose="02040502050505030304" pitchFamily="18" charset="0"/>
                <a:cs typeface="Segoe UI Light" panose="020B0502040204020203" pitchFamily="34" charset="0"/>
              </a:rPr>
              <a:t>join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condition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a:t>
            </a:r>
            <a:r>
              <a:rPr lang="en-IN" sz="2000" dirty="0">
                <a:latin typeface="Palatino Linotype" panose="02040502050505030304" pitchFamily="18" charset="0"/>
                <a:cs typeface="Segoe UI Light" panose="020B0502040204020203" pitchFamily="34" charset="0"/>
              </a:rPr>
              <a:t> returns rows when there is at least one match in both tables.</a:t>
            </a:r>
            <a:endParaRPr lang="en-US" sz="2000" dirty="0">
              <a:latin typeface="Palatino Linotype" panose="02040502050505030304" pitchFamily="18" charset="0"/>
              <a:cs typeface="Segoe UI Light" panose="020B0502040204020203" pitchFamily="34" charset="0"/>
            </a:endParaRPr>
          </a:p>
        </p:txBody>
      </p:sp>
      <p:grpSp>
        <p:nvGrpSpPr>
          <p:cNvPr id="5" name="Group 4">
            <a:extLst>
              <a:ext uri="{FF2B5EF4-FFF2-40B4-BE49-F238E27FC236}">
                <a16:creationId xmlns:a16="http://schemas.microsoft.com/office/drawing/2014/main" id="{83AD5093-709B-B873-1847-EA742D695B2B}"/>
              </a:ext>
            </a:extLst>
          </p:cNvPr>
          <p:cNvGrpSpPr/>
          <p:nvPr/>
        </p:nvGrpSpPr>
        <p:grpSpPr>
          <a:xfrm>
            <a:off x="407368" y="5169966"/>
            <a:ext cx="11305256" cy="1077218"/>
            <a:chOff x="407368" y="5169966"/>
            <a:chExt cx="11305256" cy="1077218"/>
          </a:xfrm>
        </p:grpSpPr>
        <p:sp>
          <p:nvSpPr>
            <p:cNvPr id="3" name="TextBox 2">
              <a:extLst>
                <a:ext uri="{FF2B5EF4-FFF2-40B4-BE49-F238E27FC236}">
                  <a16:creationId xmlns:a16="http://schemas.microsoft.com/office/drawing/2014/main" id="{FD95D98B-69B7-FF9E-75A6-72EF34B621A6}"/>
                </a:ext>
              </a:extLst>
            </p:cNvPr>
            <p:cNvSpPr txBox="1"/>
            <p:nvPr/>
          </p:nvSpPr>
          <p:spPr>
            <a:xfrm>
              <a:off x="407368" y="5169966"/>
              <a:ext cx="11305256" cy="1077218"/>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2400" dirty="0">
                  <a:latin typeface="Palatino Linotype" panose="02040502050505030304" pitchFamily="18" charset="0"/>
                </a:rPr>
                <a:t>    </a:t>
              </a:r>
              <a:r>
                <a:rPr lang="en-IN" sz="2000" dirty="0">
                  <a:latin typeface="Palatino Linotype" panose="02040502050505030304" pitchFamily="18" charset="0"/>
                </a:rPr>
                <a:t>  </a:t>
              </a:r>
              <a:r>
                <a:rPr lang="en-IN" sz="2000" baseline="-25000" dirty="0">
                  <a:latin typeface="Palatino Linotype" panose="02040502050505030304" pitchFamily="18" charset="0"/>
                </a:rPr>
                <a:t>&lt;join condition&gt; </a:t>
              </a:r>
              <a:r>
                <a:rPr lang="en-IN" sz="2000" dirty="0">
                  <a:latin typeface="Palatino Linotype" panose="02040502050505030304" pitchFamily="18" charset="0"/>
                </a:rPr>
                <a:t>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a:t>
              </a:r>
              <a:r>
                <a:rPr lang="en-IN" sz="2000" b="1" dirty="0">
                  <a:latin typeface="Palatino Linotype" panose="02040502050505030304" pitchFamily="18" charset="0"/>
                </a:rPr>
                <a:t>n + m </a:t>
              </a:r>
              <a:r>
                <a:rPr lang="en-IN" sz="2000" dirty="0">
                  <a:latin typeface="Palatino Linotype" panose="02040502050505030304" pitchFamily="18" charset="0"/>
                </a:rPr>
                <a:t>attributes </a:t>
              </a:r>
              <a:r>
                <a:rPr lang="en-IN" sz="2000" b="1" dirty="0">
                  <a:latin typeface="Palatino Linotype" panose="02040502050505030304" pitchFamily="18" charset="0"/>
                </a:rPr>
                <a:t>Q(A</a:t>
              </a:r>
              <a:r>
                <a:rPr lang="en-IN" sz="2000" b="1" baseline="-25000" dirty="0">
                  <a:latin typeface="Palatino Linotype" panose="02040502050505030304" pitchFamily="18" charset="0"/>
                </a:rPr>
                <a:t>1</a:t>
              </a:r>
              <a:r>
                <a:rPr lang="en-IN" sz="2000" b="1" dirty="0">
                  <a:latin typeface="Palatino Linotype" panose="02040502050505030304" pitchFamily="18" charset="0"/>
                </a:rPr>
                <a:t>, A</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A</a:t>
              </a:r>
              <a:r>
                <a:rPr lang="en-IN" sz="2000" b="1" baseline="-25000" dirty="0">
                  <a:latin typeface="Palatino Linotype" panose="02040502050505030304" pitchFamily="18" charset="0"/>
                </a:rPr>
                <a:t>n </a:t>
              </a:r>
              <a:r>
                <a:rPr lang="en-IN" sz="2000" b="1" dirty="0">
                  <a:latin typeface="Palatino Linotype" panose="02040502050505030304" pitchFamily="18" charset="0"/>
                </a:rPr>
                <a:t>, B</a:t>
              </a:r>
              <a:r>
                <a:rPr lang="en-IN" sz="2000" b="1" baseline="-25000" dirty="0">
                  <a:latin typeface="Palatino Linotype" panose="02040502050505030304" pitchFamily="18" charset="0"/>
                </a:rPr>
                <a:t>1</a:t>
              </a:r>
              <a:r>
                <a:rPr lang="en-IN" sz="2000" b="1" dirty="0">
                  <a:latin typeface="Palatino Linotype" panose="02040502050505030304" pitchFamily="18" charset="0"/>
                </a:rPr>
                <a:t>, B</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B</a:t>
              </a:r>
              <a:r>
                <a:rPr lang="en-IN" sz="2000" b="1" baseline="-25000" dirty="0">
                  <a:latin typeface="Palatino Linotype" panose="02040502050505030304" pitchFamily="18" charset="0"/>
                </a:rPr>
                <a:t>m</a:t>
              </a:r>
              <a:r>
                <a:rPr lang="en-IN" sz="2000" b="1" dirty="0">
                  <a:latin typeface="Palatino Linotype" panose="02040502050505030304" pitchFamily="18" charset="0"/>
                </a:rPr>
                <a:t>), in that order</a:t>
              </a:r>
              <a:r>
                <a:rPr lang="en-IN" sz="2000" dirty="0">
                  <a:latin typeface="Palatino Linotype" panose="02040502050505030304" pitchFamily="18" charset="0"/>
                </a:rPr>
                <a:t>. </a:t>
              </a:r>
              <a:r>
                <a:rPr lang="en-US" sz="2000" dirty="0">
                  <a:latin typeface="Palatino Linotype" panose="02040502050505030304" pitchFamily="18" charset="0"/>
                </a:rPr>
                <a:t>Q has one tuple for each combination of tuples—one from R and one from S—whenever the combination satisfies the join condition.</a:t>
              </a:r>
              <a:endParaRPr lang="en-IN" sz="2000" dirty="0">
                <a:latin typeface="Palatino Linotype" panose="02040502050505030304" pitchFamily="18" charset="0"/>
              </a:endParaRPr>
            </a:p>
          </p:txBody>
        </p:sp>
        <p:sp>
          <p:nvSpPr>
            <p:cNvPr id="9" name="Flowchart: Collate 8">
              <a:extLst>
                <a:ext uri="{FF2B5EF4-FFF2-40B4-BE49-F238E27FC236}">
                  <a16:creationId xmlns:a16="http://schemas.microsoft.com/office/drawing/2014/main" id="{84DCBDDD-3FF5-03E0-A9F9-5575FC44E390}"/>
                </a:ext>
              </a:extLst>
            </p:cNvPr>
            <p:cNvSpPr/>
            <p:nvPr/>
          </p:nvSpPr>
          <p:spPr>
            <a:xfrm rot="16200000">
              <a:off x="4122167" y="5258816"/>
              <a:ext cx="275259" cy="360042"/>
            </a:xfrm>
            <a:prstGeom prst="flowChartCollate">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dirty="0">
                <a:solidFill>
                  <a:schemeClr val="tx1"/>
                </a:solidFill>
                <a:latin typeface="Palatino Linotype" panose="02040502050505030304" pitchFamily="18" charset="0"/>
                <a:cs typeface="Arial" panose="020B0604020202020204" pitchFamily="34" charset="0"/>
              </a:endParaRPr>
            </a:p>
          </p:txBody>
        </p:sp>
      </p:grpSp>
      <p:grpSp>
        <p:nvGrpSpPr>
          <p:cNvPr id="7" name="Group 6">
            <a:extLst>
              <a:ext uri="{FF2B5EF4-FFF2-40B4-BE49-F238E27FC236}">
                <a16:creationId xmlns:a16="http://schemas.microsoft.com/office/drawing/2014/main" id="{427B9BA4-CE4B-12DC-FCDA-9D2301650BB2}"/>
              </a:ext>
            </a:extLst>
          </p:cNvPr>
          <p:cNvGrpSpPr/>
          <p:nvPr/>
        </p:nvGrpSpPr>
        <p:grpSpPr>
          <a:xfrm>
            <a:off x="6960096" y="2279262"/>
            <a:ext cx="1998000" cy="584775"/>
            <a:chOff x="8346304" y="1937628"/>
            <a:chExt cx="2016224" cy="584775"/>
          </a:xfrm>
        </p:grpSpPr>
        <p:sp>
          <p:nvSpPr>
            <p:cNvPr id="8" name="TextBox 7">
              <a:extLst>
                <a:ext uri="{FF2B5EF4-FFF2-40B4-BE49-F238E27FC236}">
                  <a16:creationId xmlns:a16="http://schemas.microsoft.com/office/drawing/2014/main" id="{968565B8-E4DD-EBD0-7336-3D719CD4A700}"/>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10" name="Flowchart: Collate 9">
              <a:extLst>
                <a:ext uri="{FF2B5EF4-FFF2-40B4-BE49-F238E27FC236}">
                  <a16:creationId xmlns:a16="http://schemas.microsoft.com/office/drawing/2014/main" id="{42BEA890-59B3-8D05-9B7A-9317E037D2E5}"/>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5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705F3F9-C745-7C47-5C98-CE895EECCD8B}"/>
              </a:ext>
            </a:extLst>
          </p:cNvPr>
          <p:cNvGraphicFramePr>
            <a:graphicFrameLocks noGrp="1"/>
          </p:cNvGraphicFramePr>
          <p:nvPr>
            <p:extLst>
              <p:ext uri="{D42A27DB-BD31-4B8C-83A1-F6EECF244321}">
                <p14:modId xmlns:p14="http://schemas.microsoft.com/office/powerpoint/2010/main" val="230172672"/>
              </p:ext>
            </p:extLst>
          </p:nvPr>
        </p:nvGraphicFramePr>
        <p:xfrm>
          <a:off x="1343472" y="2593712"/>
          <a:ext cx="5112567"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gridCol w="1704189">
                  <a:extLst>
                    <a:ext uri="{9D8B030D-6E8A-4147-A177-3AD203B41FA5}">
                      <a16:colId xmlns:a16="http://schemas.microsoft.com/office/drawing/2014/main" val="433046933"/>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5" name="Table 2">
            <a:extLst>
              <a:ext uri="{FF2B5EF4-FFF2-40B4-BE49-F238E27FC236}">
                <a16:creationId xmlns:a16="http://schemas.microsoft.com/office/drawing/2014/main" id="{D57DFD84-42DB-CF0C-53AD-9A536960D592}"/>
              </a:ext>
            </a:extLst>
          </p:cNvPr>
          <p:cNvGraphicFramePr>
            <a:graphicFrameLocks noGrp="1"/>
          </p:cNvGraphicFramePr>
          <p:nvPr>
            <p:extLst>
              <p:ext uri="{D42A27DB-BD31-4B8C-83A1-F6EECF244321}">
                <p14:modId xmlns:p14="http://schemas.microsoft.com/office/powerpoint/2010/main" val="3318664650"/>
              </p:ext>
            </p:extLst>
          </p:nvPr>
        </p:nvGraphicFramePr>
        <p:xfrm>
          <a:off x="7804736" y="2593712"/>
          <a:ext cx="3408378"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Manager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3" name="Table 2">
            <a:extLst>
              <a:ext uri="{FF2B5EF4-FFF2-40B4-BE49-F238E27FC236}">
                <a16:creationId xmlns:a16="http://schemas.microsoft.com/office/drawing/2014/main" id="{81B9D917-D025-B2EC-F769-D1AB2CBB98FD}"/>
              </a:ext>
            </a:extLst>
          </p:cNvPr>
          <p:cNvGraphicFramePr>
            <a:graphicFrameLocks noGrp="1"/>
          </p:cNvGraphicFramePr>
          <p:nvPr>
            <p:extLst>
              <p:ext uri="{D42A27DB-BD31-4B8C-83A1-F6EECF244321}">
                <p14:modId xmlns:p14="http://schemas.microsoft.com/office/powerpoint/2010/main" val="1861626851"/>
              </p:ext>
            </p:extLst>
          </p:nvPr>
        </p:nvGraphicFramePr>
        <p:xfrm>
          <a:off x="1348408" y="4688161"/>
          <a:ext cx="8208910" cy="1483360"/>
        </p:xfrm>
        <a:graphic>
          <a:graphicData uri="http://schemas.openxmlformats.org/drawingml/2006/table">
            <a:tbl>
              <a:tblPr firstRow="1" bandRow="1">
                <a:tableStyleId>{5940675A-B579-460E-94D1-54222C63F5DA}</a:tableStyleId>
              </a:tblPr>
              <a:tblGrid>
                <a:gridCol w="1641782">
                  <a:extLst>
                    <a:ext uri="{9D8B030D-6E8A-4147-A177-3AD203B41FA5}">
                      <a16:colId xmlns:a16="http://schemas.microsoft.com/office/drawing/2014/main" val="928063234"/>
                    </a:ext>
                  </a:extLst>
                </a:gridCol>
                <a:gridCol w="1641782">
                  <a:extLst>
                    <a:ext uri="{9D8B030D-6E8A-4147-A177-3AD203B41FA5}">
                      <a16:colId xmlns:a16="http://schemas.microsoft.com/office/drawing/2014/main" val="790049539"/>
                    </a:ext>
                  </a:extLst>
                </a:gridCol>
                <a:gridCol w="1641782">
                  <a:extLst>
                    <a:ext uri="{9D8B030D-6E8A-4147-A177-3AD203B41FA5}">
                      <a16:colId xmlns:a16="http://schemas.microsoft.com/office/drawing/2014/main" val="433046933"/>
                    </a:ext>
                  </a:extLst>
                </a:gridCol>
                <a:gridCol w="1641782">
                  <a:extLst>
                    <a:ext uri="{9D8B030D-6E8A-4147-A177-3AD203B41FA5}">
                      <a16:colId xmlns:a16="http://schemas.microsoft.com/office/drawing/2014/main" val="839878045"/>
                    </a:ext>
                  </a:extLst>
                </a:gridCol>
                <a:gridCol w="1641782">
                  <a:extLst>
                    <a:ext uri="{9D8B030D-6E8A-4147-A177-3AD203B41FA5}">
                      <a16:colId xmlns:a16="http://schemas.microsoft.com/office/drawing/2014/main" val="3242512665"/>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pic>
        <p:nvPicPr>
          <p:cNvPr id="11" name="Picture 10">
            <a:extLst>
              <a:ext uri="{FF2B5EF4-FFF2-40B4-BE49-F238E27FC236}">
                <a16:creationId xmlns:a16="http://schemas.microsoft.com/office/drawing/2014/main" id="{323A9E81-3A41-79EA-FB03-4BDCC753C0C2}"/>
              </a:ext>
            </a:extLst>
          </p:cNvPr>
          <p:cNvPicPr>
            <a:picLocks noChangeAspect="1"/>
          </p:cNvPicPr>
          <p:nvPr/>
        </p:nvPicPr>
        <p:blipFill>
          <a:blip r:embed="rId2" cstate="print"/>
          <a:stretch>
            <a:fillRect/>
          </a:stretch>
        </p:blipFill>
        <p:spPr>
          <a:xfrm>
            <a:off x="1524000" y="188640"/>
            <a:ext cx="9144000" cy="1981200"/>
          </a:xfrm>
          <a:prstGeom prst="rect">
            <a:avLst/>
          </a:prstGeom>
        </p:spPr>
      </p:pic>
    </p:spTree>
    <p:extLst>
      <p:ext uri="{BB962C8B-B14F-4D97-AF65-F5344CB8AC3E}">
        <p14:creationId xmlns:p14="http://schemas.microsoft.com/office/powerpoint/2010/main" val="26922038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nodeType="clickEffect">
                                  <p:stCondLst>
                                    <p:cond delay="0"/>
                                  </p:stCondLst>
                                  <p:childTnLst>
                                    <p:animMotion origin="layout" path="M 2.29167E-6 -2.59259E-6 L -0.25 -2.59259E-6 " pathEditMode="relative" rAng="0" ptsTypes="AA">
                                      <p:cBhvr>
                                        <p:cTn id="6" dur="2000" fill="hold"/>
                                        <p:tgtEl>
                                          <p:spTgt spid="5"/>
                                        </p:tgtEl>
                                        <p:attrNameLst>
                                          <p:attrName>ppt_x</p:attrName>
                                          <p:attrName>ppt_y</p:attrName>
                                        </p:attrNameLst>
                                      </p:cBhvr>
                                      <p:rCtr x="-12500" y="0"/>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3BAF8-69BA-C29D-BC59-124614D312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BF005B9-48C9-4951-E4F4-459530254E36}"/>
              </a:ext>
            </a:extLst>
          </p:cNvPr>
          <p:cNvGraphicFramePr>
            <a:graphicFrameLocks noGrp="1"/>
          </p:cNvGraphicFramePr>
          <p:nvPr>
            <p:extLst>
              <p:ext uri="{D42A27DB-BD31-4B8C-83A1-F6EECF244321}">
                <p14:modId xmlns:p14="http://schemas.microsoft.com/office/powerpoint/2010/main" val="3161490612"/>
              </p:ext>
            </p:extLst>
          </p:nvPr>
        </p:nvGraphicFramePr>
        <p:xfrm>
          <a:off x="407368" y="1491992"/>
          <a:ext cx="3096344" cy="185420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Jam</a:t>
                      </a:r>
                    </a:p>
                  </a:txBody>
                  <a:tcPr/>
                </a:tc>
                <a:extLst>
                  <a:ext uri="{0D108BD9-81ED-4DB2-BD59-A6C34878D82A}">
                    <a16:rowId xmlns:a16="http://schemas.microsoft.com/office/drawing/2014/main" val="621527498"/>
                  </a:ext>
                </a:extLst>
              </a:tr>
            </a:tbl>
          </a:graphicData>
        </a:graphic>
      </p:graphicFrame>
      <p:graphicFrame>
        <p:nvGraphicFramePr>
          <p:cNvPr id="3" name="Table 2">
            <a:extLst>
              <a:ext uri="{FF2B5EF4-FFF2-40B4-BE49-F238E27FC236}">
                <a16:creationId xmlns:a16="http://schemas.microsoft.com/office/drawing/2014/main" id="{8649FC41-506A-73B7-A59A-4765D5780E40}"/>
              </a:ext>
            </a:extLst>
          </p:cNvPr>
          <p:cNvGraphicFramePr>
            <a:graphicFrameLocks noGrp="1"/>
          </p:cNvGraphicFramePr>
          <p:nvPr>
            <p:extLst>
              <p:ext uri="{D42A27DB-BD31-4B8C-83A1-F6EECF244321}">
                <p14:modId xmlns:p14="http://schemas.microsoft.com/office/powerpoint/2010/main" val="3256390904"/>
              </p:ext>
            </p:extLst>
          </p:nvPr>
        </p:nvGraphicFramePr>
        <p:xfrm>
          <a:off x="3719736" y="1491992"/>
          <a:ext cx="2448272" cy="222504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44016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graphicFrame>
        <p:nvGraphicFramePr>
          <p:cNvPr id="4" name="Table 3">
            <a:extLst>
              <a:ext uri="{FF2B5EF4-FFF2-40B4-BE49-F238E27FC236}">
                <a16:creationId xmlns:a16="http://schemas.microsoft.com/office/drawing/2014/main" id="{79A1D6B0-D2AD-F605-186F-7DCF36E0AE88}"/>
              </a:ext>
            </a:extLst>
          </p:cNvPr>
          <p:cNvGraphicFramePr>
            <a:graphicFrameLocks noGrp="1"/>
          </p:cNvGraphicFramePr>
          <p:nvPr>
            <p:extLst>
              <p:ext uri="{D42A27DB-BD31-4B8C-83A1-F6EECF244321}">
                <p14:modId xmlns:p14="http://schemas.microsoft.com/office/powerpoint/2010/main" val="1211080438"/>
              </p:ext>
            </p:extLst>
          </p:nvPr>
        </p:nvGraphicFramePr>
        <p:xfrm>
          <a:off x="7536160" y="1491992"/>
          <a:ext cx="4392488" cy="222504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1872208">
                  <a:extLst>
                    <a:ext uri="{9D8B030D-6E8A-4147-A177-3AD203B41FA5}">
                      <a16:colId xmlns:a16="http://schemas.microsoft.com/office/drawing/2014/main" val="790049539"/>
                    </a:ext>
                  </a:extLst>
                </a:gridCol>
                <a:gridCol w="1224136">
                  <a:extLst>
                    <a:ext uri="{9D8B030D-6E8A-4147-A177-3AD203B41FA5}">
                      <a16:colId xmlns:a16="http://schemas.microsoft.com/office/drawing/2014/main" val="3951504301"/>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sp>
        <p:nvSpPr>
          <p:cNvPr id="12" name="TextBox 11">
            <a:extLst>
              <a:ext uri="{FF2B5EF4-FFF2-40B4-BE49-F238E27FC236}">
                <a16:creationId xmlns:a16="http://schemas.microsoft.com/office/drawing/2014/main" id="{21D1385D-49DE-1299-BB57-A8B15A08D0D3}"/>
              </a:ext>
            </a:extLst>
          </p:cNvPr>
          <p:cNvSpPr txBox="1"/>
          <p:nvPr/>
        </p:nvSpPr>
        <p:spPr>
          <a:xfrm>
            <a:off x="263352" y="484142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null1.id, null1.productName, null2.price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 </a:t>
            </a:r>
            <a:r>
              <a:rPr lang="en-IN" dirty="0">
                <a:latin typeface="Liberation Mono"/>
              </a:rPr>
              <a:t>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COALESCE</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COALESCE</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B6D305E2-8C76-4E16-64AA-4DDFA89D67B7}"/>
              </a:ext>
            </a:extLst>
          </p:cNvPr>
          <p:cNvSpPr txBox="1"/>
          <p:nvPr/>
        </p:nvSpPr>
        <p:spPr>
          <a:xfrm>
            <a:off x="6240016" y="257841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B93BD921-7540-C463-7310-14FED2E313D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97C4F250-A3CE-9700-5970-60B7CE90EE9A}"/>
              </a:ext>
            </a:extLst>
          </p:cNvPr>
          <p:cNvSpPr txBox="1"/>
          <p:nvPr/>
        </p:nvSpPr>
        <p:spPr>
          <a:xfrm>
            <a:off x="407368" y="1012666"/>
            <a:ext cx="1584176" cy="400110"/>
          </a:xfrm>
          <a:prstGeom prst="rect">
            <a:avLst/>
          </a:prstGeom>
          <a:noFill/>
        </p:spPr>
        <p:txBody>
          <a:bodyPr wrap="square">
            <a:spAutoFit/>
          </a:bodyPr>
          <a:lstStyle/>
          <a:p>
            <a:r>
              <a:rPr lang="en-IN" sz="2000" b="1" dirty="0">
                <a:latin typeface="Liberation Mono"/>
              </a:rPr>
              <a:t>Table:- null1</a:t>
            </a:r>
            <a:endParaRPr lang="en-IN" sz="2000" b="1" dirty="0"/>
          </a:p>
        </p:txBody>
      </p:sp>
      <p:sp>
        <p:nvSpPr>
          <p:cNvPr id="17" name="TextBox 16">
            <a:extLst>
              <a:ext uri="{FF2B5EF4-FFF2-40B4-BE49-F238E27FC236}">
                <a16:creationId xmlns:a16="http://schemas.microsoft.com/office/drawing/2014/main" id="{F87B5666-C53A-840B-D053-C7D18690CFBA}"/>
              </a:ext>
            </a:extLst>
          </p:cNvPr>
          <p:cNvSpPr txBox="1"/>
          <p:nvPr/>
        </p:nvSpPr>
        <p:spPr>
          <a:xfrm>
            <a:off x="7514058" y="10126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7CC37834-8315-F40B-8489-0B7C3793D954}"/>
              </a:ext>
            </a:extLst>
          </p:cNvPr>
          <p:cNvSpPr txBox="1"/>
          <p:nvPr/>
        </p:nvSpPr>
        <p:spPr>
          <a:xfrm>
            <a:off x="3791744" y="1012666"/>
            <a:ext cx="1584176" cy="400110"/>
          </a:xfrm>
          <a:prstGeom prst="rect">
            <a:avLst/>
          </a:prstGeom>
          <a:noFill/>
        </p:spPr>
        <p:txBody>
          <a:bodyPr wrap="square">
            <a:spAutoFit/>
          </a:bodyPr>
          <a:lstStyle/>
          <a:p>
            <a:r>
              <a:rPr lang="en-IN" sz="2000" b="1" dirty="0">
                <a:latin typeface="Liberation Mono"/>
              </a:rPr>
              <a:t>Table:- null2</a:t>
            </a:r>
            <a:endParaRPr lang="en-IN" sz="2000" b="1" dirty="0"/>
          </a:p>
        </p:txBody>
      </p:sp>
      <p:sp>
        <p:nvSpPr>
          <p:cNvPr id="9" name="TextBox 8">
            <a:extLst>
              <a:ext uri="{FF2B5EF4-FFF2-40B4-BE49-F238E27FC236}">
                <a16:creationId xmlns:a16="http://schemas.microsoft.com/office/drawing/2014/main" id="{D1870A4E-FFA3-8748-4C31-78B4A11185FA}"/>
              </a:ext>
            </a:extLst>
          </p:cNvPr>
          <p:cNvSpPr txBox="1"/>
          <p:nvPr/>
        </p:nvSpPr>
        <p:spPr>
          <a:xfrm>
            <a:off x="263352" y="6084004"/>
            <a:ext cx="1166529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a:t>
            </a:r>
            <a:r>
              <a:rPr lang="en-IN" dirty="0">
                <a:latin typeface="Liberation Mono"/>
              </a:rPr>
              <a:t> 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IFNULL</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IFNULL</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10" name="TextBox 9">
            <a:extLst>
              <a:ext uri="{FF2B5EF4-FFF2-40B4-BE49-F238E27FC236}">
                <a16:creationId xmlns:a16="http://schemas.microsoft.com/office/drawing/2014/main" id="{6B77BBFE-EABD-254B-24AF-6EB6760CD588}"/>
              </a:ext>
            </a:extLst>
          </p:cNvPr>
          <p:cNvSpPr txBox="1"/>
          <p:nvPr/>
        </p:nvSpPr>
        <p:spPr>
          <a:xfrm>
            <a:off x="407367" y="5661248"/>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11" name="TextBox 10">
            <a:extLst>
              <a:ext uri="{FF2B5EF4-FFF2-40B4-BE49-F238E27FC236}">
                <a16:creationId xmlns:a16="http://schemas.microsoft.com/office/drawing/2014/main" id="{C6B99846-811C-B4E3-17AB-1834BAAFF009}"/>
              </a:ext>
            </a:extLst>
          </p:cNvPr>
          <p:cNvSpPr txBox="1"/>
          <p:nvPr/>
        </p:nvSpPr>
        <p:spPr>
          <a:xfrm>
            <a:off x="407367" y="4093196"/>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8" name="TextBox 7">
            <a:extLst>
              <a:ext uri="{FF2B5EF4-FFF2-40B4-BE49-F238E27FC236}">
                <a16:creationId xmlns:a16="http://schemas.microsoft.com/office/drawing/2014/main" id="{5855E9B3-EE49-22F2-11DE-599E39168CC9}"/>
              </a:ext>
            </a:extLst>
          </p:cNvPr>
          <p:cNvSpPr txBox="1"/>
          <p:nvPr/>
        </p:nvSpPr>
        <p:spPr>
          <a:xfrm>
            <a:off x="6816082" y="519063"/>
            <a:ext cx="387131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Include null ID values in j join</a:t>
            </a:r>
            <a:endParaRPr lang="en-IN" sz="2200" dirty="0">
              <a:solidFill>
                <a:srgbClr val="C00000"/>
              </a:solidFill>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2EFB5A31-C41B-8329-8108-EF70A3ACCD9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39377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9" grpId="0"/>
    </p:bldLst>
  </p:timing>
</p:sld>
</file>

<file path=ppt/slides/slide5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82D8D-7FA0-0F76-98C5-5B52B0F811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E6EAE64-8525-9855-8D3F-40700D3EB3DD}"/>
              </a:ext>
            </a:extLst>
          </p:cNvPr>
          <p:cNvGraphicFramePr>
            <a:graphicFrameLocks noGrp="1"/>
          </p:cNvGraphicFramePr>
          <p:nvPr>
            <p:extLst>
              <p:ext uri="{D42A27DB-BD31-4B8C-83A1-F6EECF244321}">
                <p14:modId xmlns:p14="http://schemas.microsoft.com/office/powerpoint/2010/main" val="3421595449"/>
              </p:ext>
            </p:extLst>
          </p:nvPr>
        </p:nvGraphicFramePr>
        <p:xfrm>
          <a:off x="407368" y="595958"/>
          <a:ext cx="3096344" cy="407924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subjects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Science</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History</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Physics</a:t>
                      </a:r>
                    </a:p>
                  </a:txBody>
                  <a:tcPr/>
                </a:tc>
                <a:extLst>
                  <a:ext uri="{0D108BD9-81ED-4DB2-BD59-A6C34878D82A}">
                    <a16:rowId xmlns:a16="http://schemas.microsoft.com/office/drawing/2014/main" val="3216773652"/>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248644754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Biology</a:t>
                      </a:r>
                    </a:p>
                  </a:txBody>
                  <a:tcPr/>
                </a:tc>
                <a:extLst>
                  <a:ext uri="{0D108BD9-81ED-4DB2-BD59-A6C34878D82A}">
                    <a16:rowId xmlns:a16="http://schemas.microsoft.com/office/drawing/2014/main" val="775761126"/>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Social</a:t>
                      </a:r>
                    </a:p>
                  </a:txBody>
                  <a:tcPr/>
                </a:tc>
                <a:extLst>
                  <a:ext uri="{0D108BD9-81ED-4DB2-BD59-A6C34878D82A}">
                    <a16:rowId xmlns:a16="http://schemas.microsoft.com/office/drawing/2014/main" val="91026559"/>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293157735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03216934"/>
                  </a:ext>
                </a:extLst>
              </a:tr>
            </a:tbl>
          </a:graphicData>
        </a:graphic>
      </p:graphicFrame>
      <p:graphicFrame>
        <p:nvGraphicFramePr>
          <p:cNvPr id="4" name="Table 3">
            <a:extLst>
              <a:ext uri="{FF2B5EF4-FFF2-40B4-BE49-F238E27FC236}">
                <a16:creationId xmlns:a16="http://schemas.microsoft.com/office/drawing/2014/main" id="{62620172-FE20-2D42-4846-0D3E0E6DC48D}"/>
              </a:ext>
            </a:extLst>
          </p:cNvPr>
          <p:cNvGraphicFramePr>
            <a:graphicFrameLocks noGrp="1"/>
          </p:cNvGraphicFramePr>
          <p:nvPr>
            <p:extLst>
              <p:ext uri="{D42A27DB-BD31-4B8C-83A1-F6EECF244321}">
                <p14:modId xmlns:p14="http://schemas.microsoft.com/office/powerpoint/2010/main" val="2884307871"/>
              </p:ext>
            </p:extLst>
          </p:nvPr>
        </p:nvGraphicFramePr>
        <p:xfrm>
          <a:off x="4727848" y="1524392"/>
          <a:ext cx="7343752" cy="11125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267200">
                  <a:extLst>
                    <a:ext uri="{9D8B030D-6E8A-4147-A177-3AD203B41FA5}">
                      <a16:colId xmlns:a16="http://schemas.microsoft.com/office/drawing/2014/main" val="790049539"/>
                    </a:ext>
                  </a:extLst>
                </a:gridCol>
                <a:gridCol w="1267200">
                  <a:extLst>
                    <a:ext uri="{9D8B030D-6E8A-4147-A177-3AD203B41FA5}">
                      <a16:colId xmlns:a16="http://schemas.microsoft.com/office/drawing/2014/main" val="4293270487"/>
                    </a:ext>
                  </a:extLst>
                </a:gridCol>
                <a:gridCol w="1267200">
                  <a:extLst>
                    <a:ext uri="{9D8B030D-6E8A-4147-A177-3AD203B41FA5}">
                      <a16:colId xmlns:a16="http://schemas.microsoft.com/office/drawing/2014/main" val="205622293"/>
                    </a:ext>
                  </a:extLst>
                </a:gridCol>
                <a:gridCol w="1267200">
                  <a:extLst>
                    <a:ext uri="{9D8B030D-6E8A-4147-A177-3AD203B41FA5}">
                      <a16:colId xmlns:a16="http://schemas.microsoft.com/office/drawing/2014/main" val="3951504301"/>
                    </a:ext>
                  </a:extLst>
                </a:gridCol>
                <a:gridCol w="1266840">
                  <a:extLst>
                    <a:ext uri="{9D8B030D-6E8A-4147-A177-3AD203B41FA5}">
                      <a16:colId xmlns:a16="http://schemas.microsoft.com/office/drawing/2014/main" val="2011063220"/>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Subject1</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Subject2</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Subject3</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Subject4</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Subject5</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A</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Science</a:t>
                      </a:r>
                    </a:p>
                  </a:txBody>
                  <a:tcPr/>
                </a:tc>
                <a:tc>
                  <a:txBody>
                    <a:bodyPr/>
                    <a:lstStyle/>
                    <a:p>
                      <a:r>
                        <a:rPr lang="en-IN" dirty="0">
                          <a:solidFill>
                            <a:srgbClr val="B212AA"/>
                          </a:solidFill>
                          <a:latin typeface="Arial" panose="020B0604020202020204" pitchFamily="34" charset="0"/>
                          <a:cs typeface="Arial" panose="020B0604020202020204" pitchFamily="34" charset="0"/>
                        </a:rPr>
                        <a:t>Physics</a:t>
                      </a:r>
                    </a:p>
                  </a:txBody>
                  <a:tcPr/>
                </a:tc>
                <a:tc>
                  <a:txBody>
                    <a:bodyPr/>
                    <a:lstStyle/>
                    <a:p>
                      <a:r>
                        <a:rPr lang="en-IN" dirty="0">
                          <a:solidFill>
                            <a:srgbClr val="B212AA"/>
                          </a:solidFill>
                          <a:latin typeface="Arial" panose="020B0604020202020204" pitchFamily="34" charset="0"/>
                          <a:cs typeface="Arial" panose="020B0604020202020204" pitchFamily="34" charset="0"/>
                        </a:rPr>
                        <a:t>Biology</a:t>
                      </a: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B</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tc>
                  <a:txBody>
                    <a:bodyPr/>
                    <a:lstStyle/>
                    <a:p>
                      <a:r>
                        <a:rPr lang="en-IN" dirty="0">
                          <a:solidFill>
                            <a:srgbClr val="B212AA"/>
                          </a:solidFill>
                          <a:latin typeface="Arial" panose="020B0604020202020204" pitchFamily="34" charset="0"/>
                          <a:cs typeface="Arial" panose="020B0604020202020204" pitchFamily="34" charset="0"/>
                        </a:rPr>
                        <a:t>History</a:t>
                      </a: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Social</a:t>
                      </a:r>
                    </a:p>
                  </a:txBody>
                  <a:tcPr/>
                </a:tc>
                <a:tc>
                  <a:txBody>
                    <a:bodyPr/>
                    <a:lstStyle/>
                    <a:p>
                      <a:r>
                        <a:rPr lang="en-IN" dirty="0">
                          <a:solidFill>
                            <a:srgbClr val="B212AA"/>
                          </a:solidFill>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7675717"/>
                  </a:ext>
                </a:extLst>
              </a:tr>
            </a:tbl>
          </a:graphicData>
        </a:graphic>
      </p:graphicFrame>
      <p:sp>
        <p:nvSpPr>
          <p:cNvPr id="12" name="TextBox 11">
            <a:extLst>
              <a:ext uri="{FF2B5EF4-FFF2-40B4-BE49-F238E27FC236}">
                <a16:creationId xmlns:a16="http://schemas.microsoft.com/office/drawing/2014/main" id="{6F45936F-138D-AFA4-8D3D-43B611037166}"/>
              </a:ext>
            </a:extLst>
          </p:cNvPr>
          <p:cNvSpPr txBox="1"/>
          <p:nvPr/>
        </p:nvSpPr>
        <p:spPr>
          <a:xfrm>
            <a:off x="263352" y="49980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class,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Subject1</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Subject2</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Subject3</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Subject4</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Subject5</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a:t>
            </a:r>
            <a:r>
              <a:rPr lang="en-IN" dirty="0">
                <a:solidFill>
                  <a:srgbClr val="A67F59"/>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class)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classandsubjects a) T1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class;</a:t>
            </a:r>
          </a:p>
        </p:txBody>
      </p:sp>
      <p:sp>
        <p:nvSpPr>
          <p:cNvPr id="6" name="TextBox 5">
            <a:extLst>
              <a:ext uri="{FF2B5EF4-FFF2-40B4-BE49-F238E27FC236}">
                <a16:creationId xmlns:a16="http://schemas.microsoft.com/office/drawing/2014/main" id="{5C23DF8D-52E7-46EB-0026-CD0D0DF98D08}"/>
              </a:ext>
            </a:extLst>
          </p:cNvPr>
          <p:cNvSpPr txBox="1"/>
          <p:nvPr/>
        </p:nvSpPr>
        <p:spPr>
          <a:xfrm>
            <a:off x="3503712" y="1880597"/>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CA1517D7-108A-C95D-F209-BF66397D7E8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2C21711D-E0DF-45CB-3035-BD2A92A3F453}"/>
              </a:ext>
            </a:extLst>
          </p:cNvPr>
          <p:cNvSpPr txBox="1"/>
          <p:nvPr/>
        </p:nvSpPr>
        <p:spPr>
          <a:xfrm>
            <a:off x="407368" y="116632"/>
            <a:ext cx="3024336" cy="400110"/>
          </a:xfrm>
          <a:prstGeom prst="rect">
            <a:avLst/>
          </a:prstGeom>
          <a:noFill/>
        </p:spPr>
        <p:txBody>
          <a:bodyPr wrap="square">
            <a:spAutoFit/>
          </a:bodyPr>
          <a:lstStyle/>
          <a:p>
            <a:r>
              <a:rPr lang="en-IN" sz="2000" b="1" dirty="0">
                <a:latin typeface="Liberation Mono"/>
              </a:rPr>
              <a:t>Table:- classAndSubjects</a:t>
            </a:r>
          </a:p>
        </p:txBody>
      </p:sp>
      <p:sp>
        <p:nvSpPr>
          <p:cNvPr id="17" name="TextBox 16">
            <a:extLst>
              <a:ext uri="{FF2B5EF4-FFF2-40B4-BE49-F238E27FC236}">
                <a16:creationId xmlns:a16="http://schemas.microsoft.com/office/drawing/2014/main" id="{23A92022-B0EF-4413-0DA9-5BAB8FFBDFA9}"/>
              </a:ext>
            </a:extLst>
          </p:cNvPr>
          <p:cNvSpPr txBox="1"/>
          <p:nvPr/>
        </p:nvSpPr>
        <p:spPr>
          <a:xfrm>
            <a:off x="5137794" y="10450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DF4FC0AE-D23F-B267-FBCC-748A45BE5446}"/>
              </a:ext>
            </a:extLst>
          </p:cNvPr>
          <p:cNvSpPr txBox="1"/>
          <p:nvPr/>
        </p:nvSpPr>
        <p:spPr>
          <a:xfrm>
            <a:off x="8616280" y="519063"/>
            <a:ext cx="2071114"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090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6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9376" y="764704"/>
            <a:ext cx="11233248" cy="646331"/>
          </a:xfrm>
          <a:prstGeom prst="rect">
            <a:avLst/>
          </a:prstGeom>
        </p:spPr>
        <p:txBody>
          <a:bodyPr wrap="square">
            <a:spAutoFit/>
          </a:bodyPr>
          <a:lstStyle/>
          <a:p>
            <a:r>
              <a:rPr lang="en-US" dirty="0">
                <a:latin typeface="Palatino Linotype" panose="02040502050505030304" pitchFamily="18" charset="0"/>
              </a:rPr>
              <a:t>The following table illustrates the inner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result includes rows: (2,A), (3,B), and (4,C) as they have the same patterns.</a:t>
            </a:r>
          </a:p>
        </p:txBody>
      </p:sp>
      <p:pic>
        <p:nvPicPr>
          <p:cNvPr id="23" name="Picture 22"/>
          <p:cNvPicPr>
            <a:picLocks noChangeAspect="1"/>
          </p:cNvPicPr>
          <p:nvPr/>
        </p:nvPicPr>
        <p:blipFill>
          <a:blip r:embed="rId2"/>
          <a:stretch>
            <a:fillRect/>
          </a:stretch>
        </p:blipFill>
        <p:spPr>
          <a:xfrm>
            <a:off x="503040" y="1841315"/>
            <a:ext cx="11137576" cy="4612021"/>
          </a:xfrm>
          <a:prstGeom prst="rect">
            <a:avLst/>
          </a:prstGeom>
        </p:spPr>
      </p:pic>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9644630"/>
      </p:ext>
    </p:extLst>
  </p:cSld>
  <p:clrMapOvr>
    <a:masterClrMapping/>
  </p:clrMapOvr>
</p:sld>
</file>

<file path=ppt/slides/slide6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EQUI JOIN performs a JOIN against equality or matching column(s) values of the associated tables. An equal sign (=) is used as comparison operator in the where clause to refer equality.</a:t>
            </a:r>
          </a:p>
        </p:txBody>
      </p:sp>
      <p:sp>
        <p:nvSpPr>
          <p:cNvPr id="7" name="Rectangle 6"/>
          <p:cNvSpPr/>
          <p:nvPr/>
        </p:nvSpPr>
        <p:spPr>
          <a:xfrm>
            <a:off x="335360" y="1923871"/>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a:t>
            </a:r>
            <a:r>
              <a:rPr lang="en-US"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6" name="Rectangle 5">
            <a:extLst>
              <a:ext uri="{FF2B5EF4-FFF2-40B4-BE49-F238E27FC236}">
                <a16:creationId xmlns:a16="http://schemas.microsoft.com/office/drawing/2014/main" id="{6BCA0FBA-60A5-49B6-ABB3-28BFC9BAEC9C}"/>
              </a:ext>
            </a:extLst>
          </p:cNvPr>
          <p:cNvSpPr/>
          <p:nvPr/>
        </p:nvSpPr>
        <p:spPr>
          <a:xfrm>
            <a:off x="335360" y="2420888"/>
            <a:ext cx="103326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 1, 2, 3, 4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 (1, a), (2, b), (1, c), (3, d), (2, e), (1, f) }</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{(1,1,a), </a:t>
            </a:r>
          </a:p>
          <a:p>
            <a:r>
              <a:rPr lang="en-US" sz="2400" dirty="0">
                <a:solidFill>
                  <a:srgbClr val="006C86"/>
                </a:solidFill>
                <a:latin typeface="Liberation Mono"/>
              </a:rPr>
              <a:t>        (2,2,b), </a:t>
            </a:r>
          </a:p>
          <a:p>
            <a:r>
              <a:rPr lang="en-US" sz="2400" dirty="0">
                <a:solidFill>
                  <a:srgbClr val="006C86"/>
                </a:solidFill>
                <a:latin typeface="Liberation Mono"/>
              </a:rPr>
              <a:t>        (1,1,c), </a:t>
            </a:r>
          </a:p>
          <a:p>
            <a:r>
              <a:rPr lang="en-US" sz="2400" dirty="0">
                <a:solidFill>
                  <a:srgbClr val="006C86"/>
                </a:solidFill>
                <a:latin typeface="Liberation Mono"/>
              </a:rPr>
              <a:t>        (3,3,d), </a:t>
            </a:r>
          </a:p>
          <a:p>
            <a:r>
              <a:rPr lang="en-US" sz="2400" dirty="0">
                <a:solidFill>
                  <a:srgbClr val="006C86"/>
                </a:solidFill>
                <a:latin typeface="Liberation Mono"/>
              </a:rPr>
              <a:t>        (2,2,e), </a:t>
            </a:r>
          </a:p>
          <a:p>
            <a:r>
              <a:rPr lang="en-US" sz="2400" dirty="0">
                <a:solidFill>
                  <a:srgbClr val="006C86"/>
                </a:solidFill>
                <a:latin typeface="Liberation Mono"/>
              </a:rPr>
              <a:t>        (1,1,f)}</a:t>
            </a:r>
          </a:p>
        </p:txBody>
      </p:sp>
      <p:sp>
        <p:nvSpPr>
          <p:cNvPr id="2" name="TextBox 1">
            <a:extLst>
              <a:ext uri="{FF2B5EF4-FFF2-40B4-BE49-F238E27FC236}">
                <a16:creationId xmlns:a16="http://schemas.microsoft.com/office/drawing/2014/main" id="{9995CDC6-EB5D-CB37-E12D-E6965F0C8481}"/>
              </a:ext>
            </a:extLst>
          </p:cNvPr>
          <p:cNvSpPr txBox="1"/>
          <p:nvPr/>
        </p:nvSpPr>
        <p:spPr>
          <a:xfrm>
            <a:off x="2516848" y="5664150"/>
            <a:ext cx="9627824"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p>
          <a:p>
            <a:pPr algn="just"/>
            <a:endParaRPr lang="en-IN" sz="600" dirty="0">
              <a:solidFill>
                <a:srgbClr val="FF0000"/>
              </a:solidFill>
              <a:latin typeface="Arial" panose="020B0604020202020204" pitchFamily="34" charset="0"/>
              <a:cs typeface="Arial" panose="020B0604020202020204" pitchFamily="34" charset="0"/>
            </a:endParaRPr>
          </a:p>
          <a:p>
            <a:pPr algn="just"/>
            <a:r>
              <a:rPr lang="en-IN" dirty="0"/>
              <a:t>A general join condition is of the form &lt;condition&gt; AND &lt;condition&gt; AND . . .  AND &lt;condition&gt;, where each &lt;condition&gt; is of the form Ai θ Bj,  </a:t>
            </a:r>
            <a:r>
              <a:rPr lang="en-IN" b="1" dirty="0"/>
              <a:t>Ai is an attribute of R, Bj is an attribute of S</a:t>
            </a:r>
            <a:r>
              <a:rPr lang="en-IN" dirty="0"/>
              <a:t>.</a:t>
            </a:r>
            <a:endParaRPr lang="en-IN" sz="1800" dirty="0">
              <a:solidFill>
                <a:srgbClr val="FF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9231532"/>
      </p:ext>
    </p:extLst>
  </p:cSld>
  <p:clrMapOvr>
    <a:masterClrMapping/>
  </p:clrMapOvr>
</p:sld>
</file>

<file path=ppt/slides/slide6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347337" y="692696"/>
            <a:ext cx="9971121"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 dept </a:t>
            </a:r>
            <a:r>
              <a:rPr lang="en-US" dirty="0">
                <a:solidFill>
                  <a:srgbClr val="0077AA"/>
                </a:solidFill>
                <a:latin typeface="Liberation Mono"/>
              </a:rPr>
              <a:t>WHERE</a:t>
            </a:r>
            <a:r>
              <a:rPr lang="en-US" dirty="0">
                <a:latin typeface="Liberation Mono"/>
              </a:rPr>
              <a:t> emp.deptno </a:t>
            </a:r>
            <a:r>
              <a:rPr lang="en-US" dirty="0">
                <a:solidFill>
                  <a:schemeClr val="accent5">
                    <a:lumMod val="75000"/>
                  </a:schemeClr>
                </a:solidFill>
                <a:latin typeface="Liberation Mono"/>
              </a:rPr>
              <a:t>=</a:t>
            </a:r>
            <a:r>
              <a:rPr lang="en-US" dirty="0">
                <a:latin typeface="Liberation Mono"/>
              </a:rPr>
              <a:t> dept.deptno;</a:t>
            </a:r>
          </a:p>
        </p:txBody>
      </p:sp>
      <p:pic>
        <p:nvPicPr>
          <p:cNvPr id="7" name="Picture 6">
            <a:extLst>
              <a:ext uri="{FF2B5EF4-FFF2-40B4-BE49-F238E27FC236}">
                <a16:creationId xmlns:a16="http://schemas.microsoft.com/office/drawing/2014/main" id="{C5610216-DD82-46D1-BDA7-66BB8530D493}"/>
              </a:ext>
            </a:extLst>
          </p:cNvPr>
          <p:cNvPicPr>
            <a:picLocks noChangeAspect="1"/>
          </p:cNvPicPr>
          <p:nvPr/>
        </p:nvPicPr>
        <p:blipFill>
          <a:blip r:embed="rId2"/>
          <a:stretch>
            <a:fillRect/>
          </a:stretch>
        </p:blipFill>
        <p:spPr>
          <a:xfrm>
            <a:off x="263353" y="1340768"/>
            <a:ext cx="11637996" cy="4032448"/>
          </a:xfrm>
          <a:prstGeom prst="rect">
            <a:avLst/>
          </a:prstGeom>
        </p:spPr>
      </p:pic>
      <p:sp>
        <p:nvSpPr>
          <p:cNvPr id="5" name="TextBox 4">
            <a:extLst>
              <a:ext uri="{FF2B5EF4-FFF2-40B4-BE49-F238E27FC236}">
                <a16:creationId xmlns:a16="http://schemas.microsoft.com/office/drawing/2014/main" id="{435AE458-874E-0F26-E6F8-A12EDD867F49}"/>
              </a:ext>
            </a:extLst>
          </p:cNvPr>
          <p:cNvSpPr txBox="1"/>
          <p:nvPr/>
        </p:nvSpPr>
        <p:spPr>
          <a:xfrm>
            <a:off x="263352" y="5445224"/>
            <a:ext cx="11637995" cy="120032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A67F59"/>
                </a:solidFill>
                <a:latin typeface="Liberation Mono"/>
              </a:rPr>
              <a:t>AND</a:t>
            </a:r>
            <a:r>
              <a:rPr lang="en-IN" dirty="0">
                <a:latin typeface="Liberation Mono"/>
              </a:rPr>
              <a:t> dname </a:t>
            </a:r>
            <a:r>
              <a:rPr lang="en-IN" dirty="0">
                <a:solidFill>
                  <a:schemeClr val="accent5">
                    <a:lumMod val="75000"/>
                  </a:schemeClr>
                </a:solidFill>
                <a:latin typeface="Liberation Mono"/>
              </a:rPr>
              <a:t>=</a:t>
            </a:r>
            <a:r>
              <a:rPr lang="en-IN" dirty="0">
                <a:latin typeface="Liberation Mono"/>
              </a:rPr>
              <a:t> </a:t>
            </a:r>
            <a:r>
              <a:rPr lang="en-IN" dirty="0">
                <a:solidFill>
                  <a:srgbClr val="669900"/>
                </a:solidFill>
                <a:latin typeface="Liberation Mono"/>
              </a:rPr>
              <a:t>'accounting'</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dname) </a:t>
            </a:r>
            <a:r>
              <a:rPr lang="en-IN" dirty="0">
                <a:solidFill>
                  <a:schemeClr val="accent5">
                    <a:lumMod val="75000"/>
                  </a:schemeClr>
                </a:solidFill>
                <a:latin typeface="Liberation Mono"/>
              </a:rPr>
              <a:t>=</a:t>
            </a:r>
            <a:r>
              <a:rPr lang="en-IN" dirty="0">
                <a:latin typeface="Liberation Mono"/>
              </a:rPr>
              <a:t> (dept.deptno, </a:t>
            </a:r>
            <a:r>
              <a:rPr lang="en-IN" dirty="0">
                <a:solidFill>
                  <a:srgbClr val="669900"/>
                </a:solidFill>
                <a:latin typeface="Liberation Mono"/>
              </a:rPr>
              <a:t>'accounting'</a:t>
            </a:r>
            <a:r>
              <a:rPr lang="en-IN" dirty="0">
                <a:latin typeface="Liberation Mono"/>
              </a:rPr>
              <a:t>);</a:t>
            </a:r>
          </a:p>
        </p:txBody>
      </p:sp>
    </p:spTree>
    <p:extLst>
      <p:ext uri="{BB962C8B-B14F-4D97-AF65-F5344CB8AC3E}">
        <p14:creationId xmlns:p14="http://schemas.microsoft.com/office/powerpoint/2010/main" val="2999391625"/>
      </p:ext>
    </p:extLst>
  </p:cSld>
  <p:clrMapOvr>
    <a:masterClrMapping/>
  </p:clrMapOvr>
</p:sld>
</file>

<file path=ppt/slides/slide6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252329" y="3908387"/>
            <a:ext cx="6186448"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.id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.id;</a:t>
            </a:r>
          </a:p>
        </p:txBody>
      </p:sp>
      <p:pic>
        <p:nvPicPr>
          <p:cNvPr id="20" name="Picture 19">
            <a:extLst>
              <a:ext uri="{FF2B5EF4-FFF2-40B4-BE49-F238E27FC236}">
                <a16:creationId xmlns:a16="http://schemas.microsoft.com/office/drawing/2014/main" id="{51619E04-4E9B-40B9-9E1B-5754F6A934D1}"/>
              </a:ext>
            </a:extLst>
          </p:cNvPr>
          <p:cNvPicPr>
            <a:picLocks noChangeAspect="1"/>
          </p:cNvPicPr>
          <p:nvPr/>
        </p:nvPicPr>
        <p:blipFill>
          <a:blip r:embed="rId2"/>
          <a:stretch>
            <a:fillRect/>
          </a:stretch>
        </p:blipFill>
        <p:spPr>
          <a:xfrm>
            <a:off x="6096000" y="663568"/>
            <a:ext cx="4767839" cy="1829327"/>
          </a:xfrm>
          <a:prstGeom prst="rect">
            <a:avLst/>
          </a:prstGeom>
        </p:spPr>
      </p:pic>
      <p:grpSp>
        <p:nvGrpSpPr>
          <p:cNvPr id="31" name="Group 30">
            <a:extLst>
              <a:ext uri="{FF2B5EF4-FFF2-40B4-BE49-F238E27FC236}">
                <a16:creationId xmlns:a16="http://schemas.microsoft.com/office/drawing/2014/main" id="{2DEC69D0-B7B1-4816-9A9E-1B76201448EE}"/>
              </a:ext>
            </a:extLst>
          </p:cNvPr>
          <p:cNvGrpSpPr/>
          <p:nvPr/>
        </p:nvGrpSpPr>
        <p:grpSpPr>
          <a:xfrm>
            <a:off x="97111" y="84069"/>
            <a:ext cx="4126681" cy="3413940"/>
            <a:chOff x="278601" y="233604"/>
            <a:chExt cx="3729167" cy="3413940"/>
          </a:xfrm>
        </p:grpSpPr>
        <p:sp>
          <p:nvSpPr>
            <p:cNvPr id="15" name="TextBox 14">
              <a:extLst>
                <a:ext uri="{FF2B5EF4-FFF2-40B4-BE49-F238E27FC236}">
                  <a16:creationId xmlns:a16="http://schemas.microsoft.com/office/drawing/2014/main" id="{A26151EB-76E0-4F58-A000-6B5A8A025E05}"/>
                </a:ext>
              </a:extLst>
            </p:cNvPr>
            <p:cNvSpPr txBox="1"/>
            <p:nvPr/>
          </p:nvSpPr>
          <p:spPr>
            <a:xfrm>
              <a:off x="278601"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tableA </a:t>
              </a:r>
              <a:r>
                <a:rPr lang="en-US" sz="2000" dirty="0">
                  <a:solidFill>
                    <a:srgbClr val="0077AA"/>
                  </a:solidFill>
                  <a:latin typeface="Liberation Mono"/>
                  <a:ea typeface="Times New Roman" panose="02020603050405020304" pitchFamily="18" charset="0"/>
                </a:rPr>
                <a:t>Table </a:t>
              </a:r>
              <a:endParaRPr lang="en-IN" sz="2000" dirty="0"/>
            </a:p>
          </p:txBody>
        </p:sp>
        <p:sp>
          <p:nvSpPr>
            <p:cNvPr id="17" name="TextBox 16">
              <a:extLst>
                <a:ext uri="{FF2B5EF4-FFF2-40B4-BE49-F238E27FC236}">
                  <a16:creationId xmlns:a16="http://schemas.microsoft.com/office/drawing/2014/main" id="{F653C142-5B74-4372-AA5C-E021DA76C75A}"/>
                </a:ext>
              </a:extLst>
            </p:cNvPr>
            <p:cNvSpPr txBox="1"/>
            <p:nvPr/>
          </p:nvSpPr>
          <p:spPr>
            <a:xfrm>
              <a:off x="2159262"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tableB </a:t>
              </a:r>
              <a:r>
                <a:rPr lang="en-US" sz="2000" dirty="0">
                  <a:solidFill>
                    <a:srgbClr val="0077AA"/>
                  </a:solidFill>
                  <a:latin typeface="Liberation Mono"/>
                  <a:ea typeface="Times New Roman" panose="02020603050405020304" pitchFamily="18" charset="0"/>
                </a:rPr>
                <a:t>Table </a:t>
              </a:r>
              <a:endParaRPr lang="en-IN" sz="2000" dirty="0"/>
            </a:p>
          </p:txBody>
        </p:sp>
        <p:pic>
          <p:nvPicPr>
            <p:cNvPr id="29" name="Picture 28">
              <a:extLst>
                <a:ext uri="{FF2B5EF4-FFF2-40B4-BE49-F238E27FC236}">
                  <a16:creationId xmlns:a16="http://schemas.microsoft.com/office/drawing/2014/main" id="{BA77698B-A22A-491B-9AC5-DD02B825384C}"/>
                </a:ext>
              </a:extLst>
            </p:cNvPr>
            <p:cNvPicPr>
              <a:picLocks noChangeAspect="1"/>
            </p:cNvPicPr>
            <p:nvPr/>
          </p:nvPicPr>
          <p:blipFill>
            <a:blip r:embed="rId3"/>
            <a:stretch>
              <a:fillRect/>
            </a:stretch>
          </p:blipFill>
          <p:spPr>
            <a:xfrm>
              <a:off x="2250952" y="584776"/>
              <a:ext cx="1756816" cy="3062768"/>
            </a:xfrm>
            <a:prstGeom prst="rect">
              <a:avLst/>
            </a:prstGeom>
          </p:spPr>
        </p:pic>
        <p:pic>
          <p:nvPicPr>
            <p:cNvPr id="30" name="Picture 29">
              <a:extLst>
                <a:ext uri="{FF2B5EF4-FFF2-40B4-BE49-F238E27FC236}">
                  <a16:creationId xmlns:a16="http://schemas.microsoft.com/office/drawing/2014/main" id="{8B84257A-6674-44A7-8158-3987B75E96C9}"/>
                </a:ext>
              </a:extLst>
            </p:cNvPr>
            <p:cNvPicPr>
              <a:picLocks noChangeAspect="1"/>
            </p:cNvPicPr>
            <p:nvPr/>
          </p:nvPicPr>
          <p:blipFill>
            <a:blip r:embed="rId4"/>
            <a:stretch>
              <a:fillRect/>
            </a:stretch>
          </p:blipFill>
          <p:spPr>
            <a:xfrm>
              <a:off x="332983" y="584775"/>
              <a:ext cx="1756816" cy="2767374"/>
            </a:xfrm>
            <a:prstGeom prst="rect">
              <a:avLst/>
            </a:prstGeom>
          </p:spPr>
        </p:pic>
      </p:grpSp>
      <p:pic>
        <p:nvPicPr>
          <p:cNvPr id="2" name="Picture 1">
            <a:extLst>
              <a:ext uri="{FF2B5EF4-FFF2-40B4-BE49-F238E27FC236}">
                <a16:creationId xmlns:a16="http://schemas.microsoft.com/office/drawing/2014/main" id="{D931C968-7A82-4F0D-B9D9-871AD58CD072}"/>
              </a:ext>
            </a:extLst>
          </p:cNvPr>
          <p:cNvPicPr>
            <a:picLocks noChangeAspect="1"/>
          </p:cNvPicPr>
          <p:nvPr/>
        </p:nvPicPr>
        <p:blipFill>
          <a:blip r:embed="rId5"/>
          <a:stretch>
            <a:fillRect/>
          </a:stretch>
        </p:blipFill>
        <p:spPr>
          <a:xfrm>
            <a:off x="7284244" y="3268467"/>
            <a:ext cx="2391350" cy="1744709"/>
          </a:xfrm>
          <a:prstGeom prst="rect">
            <a:avLst/>
          </a:prstGeom>
        </p:spPr>
      </p:pic>
      <p:pic>
        <p:nvPicPr>
          <p:cNvPr id="5" name="Picture 4">
            <a:extLst>
              <a:ext uri="{FF2B5EF4-FFF2-40B4-BE49-F238E27FC236}">
                <a16:creationId xmlns:a16="http://schemas.microsoft.com/office/drawing/2014/main" id="{2E724562-7AD1-44BF-B892-622AEFC3EBFA}"/>
              </a:ext>
            </a:extLst>
          </p:cNvPr>
          <p:cNvPicPr>
            <a:picLocks noChangeAspect="1"/>
          </p:cNvPicPr>
          <p:nvPr/>
        </p:nvPicPr>
        <p:blipFill>
          <a:blip r:embed="rId6"/>
          <a:stretch>
            <a:fillRect/>
          </a:stretch>
        </p:blipFill>
        <p:spPr>
          <a:xfrm>
            <a:off x="7290345" y="5373216"/>
            <a:ext cx="2379148" cy="1110269"/>
          </a:xfrm>
          <a:prstGeom prst="rect">
            <a:avLst/>
          </a:prstGeom>
        </p:spPr>
      </p:pic>
      <p:sp>
        <p:nvSpPr>
          <p:cNvPr id="7" name="Rectangle 6">
            <a:extLst>
              <a:ext uri="{FF2B5EF4-FFF2-40B4-BE49-F238E27FC236}">
                <a16:creationId xmlns:a16="http://schemas.microsoft.com/office/drawing/2014/main" id="{9B447C19-5D0B-4D74-ACC0-93D47D05EF1B}"/>
              </a:ext>
            </a:extLst>
          </p:cNvPr>
          <p:cNvSpPr/>
          <p:nvPr/>
        </p:nvSpPr>
        <p:spPr>
          <a:xfrm>
            <a:off x="310251" y="5695916"/>
            <a:ext cx="6832427"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.name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.name;</a:t>
            </a:r>
          </a:p>
        </p:txBody>
      </p:sp>
    </p:spTree>
    <p:extLst>
      <p:ext uri="{BB962C8B-B14F-4D97-AF65-F5344CB8AC3E}">
        <p14:creationId xmlns:p14="http://schemas.microsoft.com/office/powerpoint/2010/main" val="3237882791"/>
      </p:ext>
    </p:extLst>
  </p:cSld>
  <p:clrMapOvr>
    <a:masterClrMapping/>
  </p:clrMapOvr>
</p:sld>
</file>

<file path=ppt/slides/slide6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spcBef>
                <a:spcPct val="0"/>
              </a:spcBef>
              <a:defRPr/>
            </a:pPr>
            <a:r>
              <a:rPr lang="en-US" sz="5400" dirty="0">
                <a:solidFill>
                  <a:srgbClr val="DC525C"/>
                </a:solidFill>
                <a:latin typeface="Segoe UI Light" panose="020B0502040204020203" pitchFamily="34" charset="0"/>
                <a:cs typeface="Segoe UI Light" panose="020B0502040204020203" pitchFamily="34" charset="0"/>
              </a:rPr>
              <a:t>on condition and using attribute</a:t>
            </a:r>
          </a:p>
        </p:txBody>
      </p:sp>
      <p:sp>
        <p:nvSpPr>
          <p:cNvPr id="3" name="Rectangle 2"/>
          <p:cNvSpPr/>
          <p:nvPr/>
        </p:nvSpPr>
        <p:spPr>
          <a:xfrm>
            <a:off x="263352" y="228601"/>
            <a:ext cx="11737304" cy="1015663"/>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ON Contrition</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this join condition gets applied none of the columns of the relation will get eliminated in the result set.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In order to apply this join condition, on any two tables they need not to have any common column.</a:t>
            </a:r>
          </a:p>
        </p:txBody>
      </p:sp>
      <p:sp>
        <p:nvSpPr>
          <p:cNvPr id="4" name="Rectangle 3"/>
          <p:cNvSpPr/>
          <p:nvPr/>
        </p:nvSpPr>
        <p:spPr>
          <a:xfrm>
            <a:off x="263352" y="3505201"/>
            <a:ext cx="11737304" cy="1292662"/>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USING Attribute Contrition</a:t>
            </a:r>
            <a:endParaRPr lang="en-IN" sz="2400" dirty="0">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When all the common columns are used in the join predicate then the result would be same as Natural join.</a:t>
            </a: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In the result set of the join the duplicates of the columns used in the predicate gets eliminated.</a:t>
            </a:r>
          </a:p>
          <a:p>
            <a:pPr marL="342900" indent="-342900" algn="just">
              <a:buFont typeface="Arial" panose="020B0604020202020204" pitchFamily="34" charset="0"/>
              <a:buChar char="•"/>
            </a:pPr>
            <a:r>
              <a:rPr lang="en-US" b="0" i="0" dirty="0">
                <a:effectLst/>
                <a:latin typeface="Arial" panose="020B0604020202020204" pitchFamily="34" charset="0"/>
                <a:cs typeface="Arial" panose="020B0604020202020204" pitchFamily="34" charset="0"/>
              </a:rPr>
              <a:t>It should not have a qualifier(table name or Alias) in the referenced columns.</a:t>
            </a:r>
          </a:p>
        </p:txBody>
      </p:sp>
      <p:sp>
        <p:nvSpPr>
          <p:cNvPr id="5" name="Rectangle 4">
            <a:extLst>
              <a:ext uri="{FF2B5EF4-FFF2-40B4-BE49-F238E27FC236}">
                <a16:creationId xmlns:a16="http://schemas.microsoft.com/office/drawing/2014/main" id="{5BEF8748-DC9A-4705-A622-00988A1ED8A3}"/>
              </a:ext>
            </a:extLst>
          </p:cNvPr>
          <p:cNvSpPr/>
          <p:nvPr/>
        </p:nvSpPr>
        <p:spPr>
          <a:xfrm>
            <a:off x="622598" y="5229200"/>
            <a:ext cx="10369152" cy="83099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1" dirty="0">
                <a:latin typeface="Arial" panose="020B0604020202020204" pitchFamily="34" charset="0"/>
                <a:cs typeface="Arial" panose="020B0604020202020204" pitchFamily="34" charset="0"/>
              </a:rPr>
              <a:t>ON </a:t>
            </a:r>
            <a:r>
              <a:rPr lang="en-IN" dirty="0">
                <a:latin typeface="Arial" panose="020B0604020202020204" pitchFamily="34" charset="0"/>
                <a:cs typeface="Arial" panose="020B0604020202020204" pitchFamily="34" charset="0"/>
              </a:rPr>
              <a:t>clause is optional, If not given then </a:t>
            </a:r>
            <a:r>
              <a:rPr lang="en-IN" i="1" dirty="0">
                <a:solidFill>
                  <a:srgbClr val="006C86"/>
                </a:solidFill>
                <a:latin typeface="Arial" panose="020B0604020202020204" pitchFamily="34" charset="0"/>
                <a:cs typeface="Arial" panose="020B0604020202020204" pitchFamily="34" charset="0"/>
              </a:rPr>
              <a:t>INNER</a:t>
            </a:r>
            <a:r>
              <a:rPr lang="en-IN" i="1" dirty="0">
                <a:solidFill>
                  <a:srgbClr val="006C86"/>
                </a:solidFill>
                <a:latin typeface="Arial" panose="020B0604020202020204" pitchFamily="34" charset="0"/>
                <a:ea typeface="Times New Roman" panose="02020603050405020304" pitchFamily="18" charset="0"/>
                <a:cs typeface="Arial" panose="020B0604020202020204" pitchFamily="34" charset="0"/>
              </a:rPr>
              <a:t> </a:t>
            </a:r>
            <a:r>
              <a:rPr lang="en-IN" i="1" dirty="0">
                <a:solidFill>
                  <a:srgbClr val="006C86"/>
                </a:solidFill>
                <a:latin typeface="Arial" panose="020B0604020202020204" pitchFamily="34" charset="0"/>
                <a:cs typeface="Arial" panose="020B0604020202020204" pitchFamily="34" charset="0"/>
              </a:rPr>
              <a:t>JOIN </a:t>
            </a:r>
            <a:r>
              <a:rPr lang="en-IN" dirty="0">
                <a:latin typeface="Arial" panose="020B0604020202020204" pitchFamily="34" charset="0"/>
                <a:cs typeface="Arial" panose="020B0604020202020204" pitchFamily="34" charset="0"/>
              </a:rPr>
              <a:t>works like </a:t>
            </a:r>
            <a:r>
              <a:rPr lang="en-IN" i="1" dirty="0">
                <a:solidFill>
                  <a:srgbClr val="006C86"/>
                </a:solidFill>
                <a:latin typeface="Arial" panose="020B0604020202020204" pitchFamily="34" charset="0"/>
                <a:cs typeface="Arial" panose="020B0604020202020204" pitchFamily="34" charset="0"/>
              </a:rPr>
              <a:t>CROSS JOIN.</a:t>
            </a:r>
            <a:endParaRPr lang="en-US" i="1"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09957959"/>
      </p:ext>
    </p:extLst>
  </p:cSld>
  <p:clrMapOvr>
    <a:masterClrMapping/>
  </p:clrMapOvr>
</p:sld>
</file>

<file path=ppt/slides/slide6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on &amp; using clause example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3441700"/>
            <a:ext cx="11593288" cy="1031051"/>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USING clause</a:t>
            </a:r>
          </a:p>
          <a:p>
            <a:r>
              <a:rPr lang="en-IN" dirty="0">
                <a:latin typeface="Arial" panose="020B0604020202020204" pitchFamily="34" charset="0"/>
                <a:cs typeface="Arial" panose="020B0604020202020204" pitchFamily="34" charset="0"/>
              </a:rPr>
              <a:t>The USING clause is used if several columns share the same name but you don’t want to join using all of these common columns. </a:t>
            </a:r>
            <a:r>
              <a:rPr lang="en-IN" sz="1900" dirty="0">
                <a:solidFill>
                  <a:srgbClr val="0083A2"/>
                </a:solidFill>
                <a:latin typeface="Arial" panose="020B0604020202020204" pitchFamily="34" charset="0"/>
                <a:cs typeface="Arial" panose="020B0604020202020204" pitchFamily="34" charset="0"/>
              </a:rPr>
              <a:t>The columns listed in the USING clause can’t have any qualifiers in the statement.</a:t>
            </a:r>
          </a:p>
        </p:txBody>
      </p:sp>
      <p:sp>
        <p:nvSpPr>
          <p:cNvPr id="10" name="Rectangle 9"/>
          <p:cNvSpPr/>
          <p:nvPr/>
        </p:nvSpPr>
        <p:spPr>
          <a:xfrm>
            <a:off x="263352" y="704264"/>
            <a:ext cx="11593288" cy="738664"/>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ON clause</a:t>
            </a:r>
          </a:p>
          <a:p>
            <a:r>
              <a:rPr lang="en-IN" dirty="0">
                <a:latin typeface="Arial" panose="020B0604020202020204" pitchFamily="34" charset="0"/>
                <a:cs typeface="Arial" panose="020B0604020202020204" pitchFamily="34" charset="0"/>
              </a:rPr>
              <a:t>The ON clause is used to join tables where the column names don’t match in both tables.</a:t>
            </a:r>
          </a:p>
        </p:txBody>
      </p:sp>
      <p:grpSp>
        <p:nvGrpSpPr>
          <p:cNvPr id="23" name="Group 22"/>
          <p:cNvGrpSpPr/>
          <p:nvPr/>
        </p:nvGrpSpPr>
        <p:grpSpPr>
          <a:xfrm>
            <a:off x="2495600" y="1558667"/>
            <a:ext cx="8305800" cy="1524000"/>
            <a:chOff x="988180" y="1676400"/>
            <a:chExt cx="8137966" cy="1524000"/>
          </a:xfrm>
        </p:grpSpPr>
        <p:grpSp>
          <p:nvGrpSpPr>
            <p:cNvPr id="13" name="Group 12"/>
            <p:cNvGrpSpPr/>
            <p:nvPr/>
          </p:nvGrpSpPr>
          <p:grpSpPr>
            <a:xfrm>
              <a:off x="988180" y="1828800"/>
              <a:ext cx="6784220" cy="1371600"/>
              <a:chOff x="1149033" y="1752600"/>
              <a:chExt cx="6784220" cy="1371600"/>
            </a:xfrm>
          </p:grpSpPr>
          <p:pic>
            <p:nvPicPr>
              <p:cNvPr id="2" name="Picture 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500" y="1752600"/>
                <a:ext cx="6477000" cy="1371600"/>
              </a:xfrm>
              <a:prstGeom prst="rect">
                <a:avLst/>
              </a:prstGeom>
            </p:spPr>
          </p:pic>
          <p:sp>
            <p:nvSpPr>
              <p:cNvPr id="11" name="Rectangle 10"/>
              <p:cNvSpPr/>
              <p:nvPr/>
            </p:nvSpPr>
            <p:spPr>
              <a:xfrm>
                <a:off x="1149033" y="2636796"/>
                <a:ext cx="6784220"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6" name="TextBox 15"/>
            <p:cNvSpPr txBox="1"/>
            <p:nvPr/>
          </p:nvSpPr>
          <p:spPr>
            <a:xfrm>
              <a:off x="6899254" y="1676400"/>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18" name="Elbow Connector 17"/>
            <p:cNvCxnSpPr/>
            <p:nvPr/>
          </p:nvCxnSpPr>
          <p:spPr>
            <a:xfrm rot="5400000">
              <a:off x="6530400" y="1423200"/>
              <a:ext cx="684000" cy="1800000"/>
            </a:xfrm>
            <a:prstGeom prst="bentConnector3">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 name="Group 6"/>
          <p:cNvGrpSpPr/>
          <p:nvPr/>
        </p:nvGrpSpPr>
        <p:grpSpPr>
          <a:xfrm>
            <a:off x="1775520" y="4816396"/>
            <a:ext cx="8086231" cy="1590324"/>
            <a:chOff x="1007837" y="4581876"/>
            <a:chExt cx="7865445" cy="1590324"/>
          </a:xfrm>
        </p:grpSpPr>
        <p:grpSp>
          <p:nvGrpSpPr>
            <p:cNvPr id="14" name="Group 13"/>
            <p:cNvGrpSpPr/>
            <p:nvPr/>
          </p:nvGrpSpPr>
          <p:grpSpPr>
            <a:xfrm>
              <a:off x="4335864" y="4581876"/>
              <a:ext cx="4537418" cy="1590324"/>
              <a:chOff x="4530382" y="4572000"/>
              <a:chExt cx="4537418" cy="1590324"/>
            </a:xfrm>
          </p:grpSpPr>
          <p:pic>
            <p:nvPicPr>
              <p:cNvPr id="3" name="Picture 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89572" y="4572000"/>
                <a:ext cx="4378228" cy="1571861"/>
              </a:xfrm>
              <a:prstGeom prst="rect">
                <a:avLst/>
              </a:prstGeom>
            </p:spPr>
          </p:pic>
          <p:sp>
            <p:nvSpPr>
              <p:cNvPr id="12" name="Rectangle 11"/>
              <p:cNvSpPr/>
              <p:nvPr/>
            </p:nvSpPr>
            <p:spPr>
              <a:xfrm>
                <a:off x="4530382" y="5628924"/>
                <a:ext cx="3829515" cy="533400"/>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9" name="TextBox 18"/>
            <p:cNvSpPr txBox="1"/>
            <p:nvPr/>
          </p:nvSpPr>
          <p:spPr>
            <a:xfrm>
              <a:off x="1007837" y="5708254"/>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20" name="Straight Arrow Connector 19"/>
            <p:cNvCxnSpPr/>
            <p:nvPr/>
          </p:nvCxnSpPr>
          <p:spPr>
            <a:xfrm>
              <a:off x="3180301" y="5877276"/>
              <a:ext cx="1044283" cy="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0839190"/>
      </p:ext>
    </p:extLst>
  </p:cSld>
  <p:clrMapOvr>
    <a:masterClrMapping/>
  </p:clrMapOvr>
</p:sld>
</file>

<file path=ppt/slides/slide6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inner join</a:t>
            </a:r>
          </a:p>
        </p:txBody>
      </p:sp>
      <p:sp>
        <p:nvSpPr>
          <p:cNvPr id="3" name="Rectangle 2"/>
          <p:cNvSpPr/>
          <p:nvPr/>
        </p:nvSpPr>
        <p:spPr>
          <a:xfrm>
            <a:off x="407368" y="3283866"/>
            <a:ext cx="11305256"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inner join is one of the most commonly used joins in SQL. The inner join clause allows you to query data from two or more related tables.</a:t>
            </a:r>
          </a:p>
        </p:txBody>
      </p:sp>
      <p:grpSp>
        <p:nvGrpSpPr>
          <p:cNvPr id="7" name="Group 6">
            <a:extLst>
              <a:ext uri="{FF2B5EF4-FFF2-40B4-BE49-F238E27FC236}">
                <a16:creationId xmlns:a16="http://schemas.microsoft.com/office/drawing/2014/main" id="{4444C9FE-1800-BA1C-7334-04E5430F6D1A}"/>
              </a:ext>
            </a:extLst>
          </p:cNvPr>
          <p:cNvGrpSpPr/>
          <p:nvPr/>
        </p:nvGrpSpPr>
        <p:grpSpPr>
          <a:xfrm>
            <a:off x="7392144" y="2527012"/>
            <a:ext cx="1998168" cy="584775"/>
            <a:chOff x="8346304" y="1937628"/>
            <a:chExt cx="2016224" cy="584775"/>
          </a:xfrm>
        </p:grpSpPr>
        <p:sp>
          <p:nvSpPr>
            <p:cNvPr id="6" name="TextBox 5">
              <a:extLst>
                <a:ext uri="{FF2B5EF4-FFF2-40B4-BE49-F238E27FC236}">
                  <a16:creationId xmlns:a16="http://schemas.microsoft.com/office/drawing/2014/main" id="{40C33A49-8242-2414-9264-E1403A70A84A}"/>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5" name="Flowchart: Collate 4">
              <a:extLst>
                <a:ext uri="{FF2B5EF4-FFF2-40B4-BE49-F238E27FC236}">
                  <a16:creationId xmlns:a16="http://schemas.microsoft.com/office/drawing/2014/main" id="{1E5452CE-3141-DD03-AF82-D5EF4027A4C1}"/>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6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cstate="print"/>
          <a:stretch>
            <a:fillRect/>
          </a:stretch>
        </p:blipFill>
        <p:spPr>
          <a:xfrm>
            <a:off x="335360" y="2636912"/>
            <a:ext cx="11377264" cy="2997531"/>
          </a:xfrm>
          <a:prstGeom prst="rect">
            <a:avLst/>
          </a:prstGeom>
        </p:spPr>
      </p:pic>
      <p:pic>
        <p:nvPicPr>
          <p:cNvPr id="35" name="Picture 34"/>
          <p:cNvPicPr>
            <a:picLocks noChangeAspect="1"/>
          </p:cNvPicPr>
          <p:nvPr/>
        </p:nvPicPr>
        <p:blipFill>
          <a:blip r:embed="rId4" cstate="print"/>
          <a:stretch>
            <a:fillRect/>
          </a:stretch>
        </p:blipFill>
        <p:spPr>
          <a:xfrm>
            <a:off x="4750002" y="5377071"/>
            <a:ext cx="7416824" cy="1480928"/>
          </a:xfrm>
          <a:prstGeom prst="rect">
            <a:avLst/>
          </a:prstGeom>
        </p:spPr>
      </p:pic>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12" name="Rectangle 11"/>
          <p:cNvSpPr/>
          <p:nvPr/>
        </p:nvSpPr>
        <p:spPr>
          <a:xfrm>
            <a:off x="335360" y="76200"/>
            <a:ext cx="5760640" cy="646331"/>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3" name="Rectangle 2"/>
          <p:cNvSpPr/>
          <p:nvPr/>
        </p:nvSpPr>
        <p:spPr>
          <a:xfrm>
            <a:off x="263352" y="2132856"/>
            <a:ext cx="1137726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anose="020B0604020202020204" pitchFamily="34" charset="0"/>
              </a:rPr>
              <a:t> employee </a:t>
            </a:r>
            <a:r>
              <a:rPr lang="en-US" i="1" dirty="0">
                <a:solidFill>
                  <a:schemeClr val="bg1">
                    <a:lumMod val="50000"/>
                  </a:schemeClr>
                </a:solidFill>
                <a:latin typeface="Liberation Mono"/>
              </a:rPr>
              <a:t>emp</a:t>
            </a:r>
            <a:r>
              <a:rPr lang="en-US"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INNER</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qualification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emp</a:t>
            </a:r>
            <a:r>
              <a:rPr lang="en-US" dirty="0">
                <a:latin typeface="Liberation Mono"/>
                <a:cs typeface="Arial" panose="020B0604020202020204" pitchFamily="34" charset="0"/>
              </a:rPr>
              <a: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.employeeid;</a:t>
            </a:r>
          </a:p>
        </p:txBody>
      </p:sp>
      <p:sp>
        <p:nvSpPr>
          <p:cNvPr id="10" name="Rectangle 9">
            <a:extLst>
              <a:ext uri="{FF2B5EF4-FFF2-40B4-BE49-F238E27FC236}">
                <a16:creationId xmlns:a16="http://schemas.microsoft.com/office/drawing/2014/main" id="{8FAA3A88-BF2E-4772-952A-E9DEC5ABAA32}"/>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sp>
        <p:nvSpPr>
          <p:cNvPr id="2" name="Rectangle 1">
            <a:extLst>
              <a:ext uri="{FF2B5EF4-FFF2-40B4-BE49-F238E27FC236}">
                <a16:creationId xmlns:a16="http://schemas.microsoft.com/office/drawing/2014/main" id="{647B1C55-2117-747F-8D70-F2F13ACFCD9F}"/>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159649965"/>
      </p:ext>
    </p:extLst>
  </p:cSld>
  <p:clrMapOvr>
    <a:masterClrMapping/>
  </p:clrMapOvr>
</p:sld>
</file>

<file path=ppt/slides/slide6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04056" y="210076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latin typeface="Liberation Mono"/>
                <a:ea typeface="Times New Roman" panose="02020603050405020304" pitchFamily="18" charset="0"/>
                <a:cs typeface="Arial" panose="020B0604020202020204" pitchFamily="34" charset="0"/>
              </a:rPr>
              <a:t>customer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INNER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ord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DD4A68"/>
                </a:solidFill>
                <a:latin typeface="Liberation Mono"/>
                <a:ea typeface="Times New Roman" panose="02020603050405020304" pitchFamily="18" charset="0"/>
              </a:rPr>
              <a:t>USING</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(custid);</a:t>
            </a:r>
          </a:p>
        </p:txBody>
      </p:sp>
      <p:pic>
        <p:nvPicPr>
          <p:cNvPr id="28" name="Picture 27"/>
          <p:cNvPicPr>
            <a:picLocks noChangeAspect="1"/>
          </p:cNvPicPr>
          <p:nvPr/>
        </p:nvPicPr>
        <p:blipFill>
          <a:blip r:embed="rId3" cstate="print"/>
          <a:stretch>
            <a:fillRect/>
          </a:stretch>
        </p:blipFill>
        <p:spPr>
          <a:xfrm>
            <a:off x="5015880" y="5504876"/>
            <a:ext cx="7176120" cy="1353124"/>
          </a:xfrm>
          <a:prstGeom prst="rect">
            <a:avLst/>
          </a:prstGeom>
        </p:spPr>
      </p:pic>
      <p:sp>
        <p:nvSpPr>
          <p:cNvPr id="14" name="Rectangle 13">
            <a:extLst>
              <a:ext uri="{FF2B5EF4-FFF2-40B4-BE49-F238E27FC236}">
                <a16:creationId xmlns:a16="http://schemas.microsoft.com/office/drawing/2014/main" id="{559535D5-FB8E-429A-AD50-1A0DD8994955}"/>
              </a:ext>
            </a:extLst>
          </p:cNvPr>
          <p:cNvSpPr/>
          <p:nvPr/>
        </p:nvSpPr>
        <p:spPr>
          <a:xfrm>
            <a:off x="335360" y="76200"/>
            <a:ext cx="5760640" cy="707886"/>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15" name="Rectangle 14">
            <a:extLst>
              <a:ext uri="{FF2B5EF4-FFF2-40B4-BE49-F238E27FC236}">
                <a16:creationId xmlns:a16="http://schemas.microsoft.com/office/drawing/2014/main" id="{C0A43118-0A1A-443F-AFC7-980C6AC90D2C}"/>
              </a:ext>
            </a:extLst>
          </p:cNvPr>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3" name="Rectangle 2">
            <a:extLst>
              <a:ext uri="{FF2B5EF4-FFF2-40B4-BE49-F238E27FC236}">
                <a16:creationId xmlns:a16="http://schemas.microsoft.com/office/drawing/2014/main" id="{43E9875F-42F0-07AA-398E-999126140F88}"/>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pic>
        <p:nvPicPr>
          <p:cNvPr id="6" name="Picture 5">
            <a:extLst>
              <a:ext uri="{FF2B5EF4-FFF2-40B4-BE49-F238E27FC236}">
                <a16:creationId xmlns:a16="http://schemas.microsoft.com/office/drawing/2014/main" id="{333B2F70-297C-FC31-200A-238A197AFB4D}"/>
              </a:ext>
            </a:extLst>
          </p:cNvPr>
          <p:cNvPicPr>
            <a:picLocks noChangeAspect="1"/>
          </p:cNvPicPr>
          <p:nvPr/>
        </p:nvPicPr>
        <p:blipFill>
          <a:blip r:embed="rId4"/>
          <a:stretch>
            <a:fillRect/>
          </a:stretch>
        </p:blipFill>
        <p:spPr>
          <a:xfrm>
            <a:off x="191344" y="2541950"/>
            <a:ext cx="11809312" cy="3047290"/>
          </a:xfrm>
          <a:prstGeom prst="rect">
            <a:avLst/>
          </a:prstGeom>
        </p:spPr>
      </p:pic>
      <p:sp>
        <p:nvSpPr>
          <p:cNvPr id="2" name="Rectangle 1">
            <a:extLst>
              <a:ext uri="{FF2B5EF4-FFF2-40B4-BE49-F238E27FC236}">
                <a16:creationId xmlns:a16="http://schemas.microsoft.com/office/drawing/2014/main" id="{F71C3D20-F476-ECD7-A069-2DFA9A229633}"/>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3906557571"/>
      </p:ext>
    </p:extLst>
  </p:cSld>
  <p:clrMapOvr>
    <a:masterClrMapping/>
  </p:clrMapOvr>
</p:sld>
</file>

<file path=ppt/slides/slide6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ACF21-3222-68B0-8276-11918626425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B4E939FD-1E02-31B2-8A4C-47EF2696C6C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B54B273-43CD-7270-12E1-1163C9CC3C03}"/>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250D5D3D-BBFF-1F33-EDF0-DC606081299E}"/>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AF253F7-8DAE-AB34-ABA6-38AEE9C9DEA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0FA6562F-F544-CB81-64E3-7F3FA44BDB3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7D125140-C1C5-998F-9818-F561B6375444}"/>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graphicFrame>
        <p:nvGraphicFramePr>
          <p:cNvPr id="5" name="Table 2">
            <a:extLst>
              <a:ext uri="{FF2B5EF4-FFF2-40B4-BE49-F238E27FC236}">
                <a16:creationId xmlns:a16="http://schemas.microsoft.com/office/drawing/2014/main" id="{D9834DE4-9F0B-ADBA-A265-B6510C3B22B2}"/>
              </a:ext>
            </a:extLst>
          </p:cNvPr>
          <p:cNvGraphicFramePr>
            <a:graphicFrameLocks noGrp="1"/>
          </p:cNvGraphicFramePr>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8" name="TextBox 7">
            <a:extLst>
              <a:ext uri="{FF2B5EF4-FFF2-40B4-BE49-F238E27FC236}">
                <a16:creationId xmlns:a16="http://schemas.microsoft.com/office/drawing/2014/main" id="{8FDC4DDB-1326-C72B-1918-E7B41C9F3239}"/>
              </a:ext>
            </a:extLst>
          </p:cNvPr>
          <p:cNvSpPr txBox="1"/>
          <p:nvPr/>
        </p:nvSpPr>
        <p:spPr>
          <a:xfrm>
            <a:off x="190768" y="5118110"/>
            <a:ext cx="11809887" cy="1477328"/>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Count of Confirmed vs Cancelled Reservations per Train</a:t>
            </a:r>
          </a:p>
          <a:p>
            <a:pPr marL="342900" indent="-342900">
              <a:buFont typeface="+mj-lt"/>
              <a:buAutoNum type="arabicPeriod"/>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trains.trainid, trainName,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'Confirmed'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confirmed status'</a:t>
            </a:r>
            <a:r>
              <a:rPr lang="en-US" dirty="0">
                <a:latin typeface="Liberation Mono"/>
                <a:cs typeface="Arial" panose="020B0604020202020204" pitchFamily="34" charset="0"/>
              </a:rPr>
              <a:t>,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'Cancelled'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Cancelled status' </a:t>
            </a:r>
            <a:r>
              <a:rPr lang="en-US" dirty="0">
                <a:solidFill>
                  <a:srgbClr val="0077AA"/>
                </a:solidFill>
                <a:latin typeface="Liberation Mono"/>
              </a:rPr>
              <a:t>FROM</a:t>
            </a:r>
            <a:r>
              <a:rPr lang="en-US" dirty="0">
                <a:latin typeface="Liberation Mono"/>
                <a:cs typeface="Arial" panose="020B0604020202020204" pitchFamily="34" charset="0"/>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reservations </a:t>
            </a:r>
            <a:r>
              <a:rPr lang="en-US" dirty="0">
                <a:solidFill>
                  <a:srgbClr val="DD4A68"/>
                </a:solidFill>
                <a:latin typeface="Liberation Mono"/>
              </a:rPr>
              <a:t>ON</a:t>
            </a:r>
            <a:r>
              <a:rPr lang="en-US" dirty="0">
                <a:latin typeface="Liberation Mono"/>
                <a:cs typeface="Arial" panose="020B0604020202020204" pitchFamily="34" charset="0"/>
              </a:rPr>
              <a:t> trains.trainID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reservations.trainID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trains.trainID, trainName;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A41B5D7-B997-2D43-AB2D-577A1E7C220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83302144"/>
      </p:ext>
    </p:extLst>
  </p:cSld>
  <p:clrMapOvr>
    <a:masterClrMapping/>
  </p:clrMapOvr>
</p:sld>
</file>

<file path=ppt/slides/slide6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C3196-F360-3402-CBE7-D2CF04ED7E2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2B16255-AB28-28DA-AD84-58BA4742043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9DC8382D-9FD2-1633-C5B2-5896B703D75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65AECC0-6AAD-1434-2DDF-DFFAD99563E8}"/>
              </a:ext>
            </a:extLst>
          </p:cNvPr>
          <p:cNvSpPr txBox="1"/>
          <p:nvPr/>
        </p:nvSpPr>
        <p:spPr>
          <a:xfrm>
            <a:off x="241200" y="1196752"/>
            <a:ext cx="11809887" cy="369332"/>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List of Trains with No Reservations</a:t>
            </a:r>
          </a:p>
        </p:txBody>
      </p:sp>
      <p:sp>
        <p:nvSpPr>
          <p:cNvPr id="11" name="TextBox 10">
            <a:extLst>
              <a:ext uri="{FF2B5EF4-FFF2-40B4-BE49-F238E27FC236}">
                <a16:creationId xmlns:a16="http://schemas.microsoft.com/office/drawing/2014/main" id="{5D08D404-B1F4-0F25-0447-780A12B0F77F}"/>
              </a:ext>
            </a:extLst>
          </p:cNvPr>
          <p:cNvSpPr txBox="1"/>
          <p:nvPr/>
        </p:nvSpPr>
        <p:spPr>
          <a:xfrm>
            <a:off x="241199" y="1628800"/>
            <a:ext cx="11809887" cy="104644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trains.</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dirty="0">
                <a:solidFill>
                  <a:srgbClr val="DD4A68"/>
                </a:solidFill>
                <a:latin typeface="Liberation Mono"/>
              </a:rPr>
              <a:t>ON</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US" dirty="0">
                <a:solidFill>
                  <a:srgbClr val="0077AA"/>
                </a:solidFill>
                <a:latin typeface="Liberation Mono"/>
              </a:rPr>
              <a:t>WHERE</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12" name="Rectangle 11">
            <a:extLst>
              <a:ext uri="{FF2B5EF4-FFF2-40B4-BE49-F238E27FC236}">
                <a16:creationId xmlns:a16="http://schemas.microsoft.com/office/drawing/2014/main" id="{A1582853-1384-555E-3B27-4DEEAB02F7E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905C7174-5003-E690-CEB9-12B18014B556}"/>
              </a:ext>
            </a:extLst>
          </p:cNvPr>
          <p:cNvSpPr txBox="1"/>
          <p:nvPr/>
        </p:nvSpPr>
        <p:spPr>
          <a:xfrm>
            <a:off x="241199" y="2924944"/>
            <a:ext cx="6094378" cy="369332"/>
          </a:xfrm>
          <a:prstGeom prst="rect">
            <a:avLst/>
          </a:prstGeom>
          <a:noFill/>
        </p:spPr>
        <p:txBody>
          <a:bodyPr wrap="square">
            <a:spAutoFit/>
          </a:bodyPr>
          <a:lstStyle>
            <a:defPPr>
              <a:defRPr lang="en-US"/>
            </a:defPPr>
            <a:lvl1pPr marL="342900" indent="-342900">
              <a:buFont typeface="+mj-lt"/>
              <a:buAutoNum type="arabicPeriod"/>
              <a:defRPr b="1">
                <a:latin typeface="Arial" panose="020B0604020202020204" pitchFamily="34" charset="0"/>
                <a:cs typeface="Arial" panose="020B0604020202020204" pitchFamily="34" charset="0"/>
              </a:defRPr>
            </a:lvl1pPr>
          </a:lstStyle>
          <a:p>
            <a:pPr>
              <a:buFont typeface="+mj-lt"/>
              <a:buAutoNum type="arabicPeriod" startAt="2"/>
            </a:pPr>
            <a:r>
              <a:rPr lang="en-US" dirty="0"/>
              <a:t>List of Reservations with Status 'Confirmed' Only</a:t>
            </a:r>
            <a:endParaRPr lang="en-IN" dirty="0"/>
          </a:p>
        </p:txBody>
      </p:sp>
      <p:sp>
        <p:nvSpPr>
          <p:cNvPr id="9" name="TextBox 8">
            <a:extLst>
              <a:ext uri="{FF2B5EF4-FFF2-40B4-BE49-F238E27FC236}">
                <a16:creationId xmlns:a16="http://schemas.microsoft.com/office/drawing/2014/main" id="{F1199900-C5FD-67F0-2B24-86E930B908D5}"/>
              </a:ext>
            </a:extLst>
          </p:cNvPr>
          <p:cNvSpPr txBox="1"/>
          <p:nvPr/>
        </p:nvSpPr>
        <p:spPr>
          <a:xfrm>
            <a:off x="241198" y="3344446"/>
            <a:ext cx="11809887"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reservations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a:t>
            </a:r>
            <a:r>
              <a:rPr lang="en-IN" dirty="0">
                <a:latin typeface="Liberation Mono"/>
              </a:rPr>
              <a:t>trains </a:t>
            </a:r>
            <a:r>
              <a:rPr lang="en-US" dirty="0">
                <a:solidFill>
                  <a:srgbClr val="DD4A68"/>
                </a:solidFill>
                <a:latin typeface="Liberation Mono"/>
              </a:rPr>
              <a:t>ON</a:t>
            </a:r>
            <a:r>
              <a:rPr lang="en-IN" dirty="0">
                <a:latin typeface="Liberation Mono"/>
              </a:rPr>
              <a:t> trains.trainID </a:t>
            </a:r>
            <a:r>
              <a:rPr lang="en-IN" dirty="0">
                <a:solidFill>
                  <a:schemeClr val="accent5">
                    <a:lumMod val="75000"/>
                  </a:schemeClr>
                </a:solidFill>
                <a:latin typeface="Liberation Mono"/>
              </a:rPr>
              <a:t>=</a:t>
            </a:r>
            <a:r>
              <a:rPr lang="en-IN" dirty="0">
                <a:latin typeface="Liberation Mono"/>
              </a:rPr>
              <a:t> reservations.trainID and status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'Confirmed’</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2" name="Rectangle 1">
            <a:extLst>
              <a:ext uri="{FF2B5EF4-FFF2-40B4-BE49-F238E27FC236}">
                <a16:creationId xmlns:a16="http://schemas.microsoft.com/office/drawing/2014/main" id="{782EF2FA-086C-50A0-FB1C-D191C893616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35563083"/>
      </p:ext>
    </p:extLst>
  </p:cSld>
  <p:clrMapOvr>
    <a:masterClrMapping/>
  </p:clrMapOvr>
</p:sld>
</file>

<file path=ppt/slides/slide6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natural join</a:t>
            </a:r>
          </a:p>
        </p:txBody>
      </p:sp>
      <p:sp>
        <p:nvSpPr>
          <p:cNvPr id="3" name="Rectangle 2"/>
          <p:cNvSpPr/>
          <p:nvPr/>
        </p:nvSpPr>
        <p:spPr>
          <a:xfrm>
            <a:off x="335360" y="3283866"/>
            <a:ext cx="11593288" cy="1631216"/>
          </a:xfrm>
          <a:prstGeom prst="rect">
            <a:avLst/>
          </a:prstGeom>
        </p:spPr>
        <p:txBody>
          <a:bodyPr wrap="square">
            <a:spAutoFit/>
          </a:bodyPr>
          <a:lstStyle/>
          <a:p>
            <a:r>
              <a:rPr lang="en-IN" sz="2000" dirty="0">
                <a:latin typeface="Palatino Linotype" panose="02040502050505030304" pitchFamily="18" charset="0"/>
                <a:cs typeface="Segoe UI Light" panose="020B0502040204020203" pitchFamily="34" charset="0"/>
              </a:rPr>
              <a:t>The NATURAL JOIN is such a join that performs the same task as an INNER JOIN. </a:t>
            </a:r>
            <a:r>
              <a:rPr lang="en-US" sz="2000" dirty="0">
                <a:latin typeface="Palatino Linotype" panose="02040502050505030304" pitchFamily="18" charset="0"/>
                <a:cs typeface="Segoe UI Light" panose="020B0502040204020203" pitchFamily="34" charset="0"/>
              </a:rPr>
              <a:t>NATURAL JOIN does not use any comparison operator. We can perform a NATURAL JOIN only if there is at least one common attribute that exists between two relations. In addition, the attributes must have the same name. </a:t>
            </a:r>
            <a:r>
              <a:rPr lang="en-IN" sz="2000" dirty="0">
                <a:latin typeface="Palatino Linotype" panose="02040502050505030304" pitchFamily="18" charset="0"/>
                <a:cs typeface="Segoe UI Light" panose="020B0502040204020203" pitchFamily="34" charset="0"/>
              </a:rPr>
              <a:t>When this join condition gets applied always the duplicates of the common columns get eliminated from the result.</a:t>
            </a:r>
          </a:p>
        </p:txBody>
      </p:sp>
      <p:sp>
        <p:nvSpPr>
          <p:cNvPr id="5" name="TextBox 4">
            <a:extLst>
              <a:ext uri="{FF2B5EF4-FFF2-40B4-BE49-F238E27FC236}">
                <a16:creationId xmlns:a16="http://schemas.microsoft.com/office/drawing/2014/main" id="{462FB772-C949-B91C-8B2E-DD87DCB9F387}"/>
              </a:ext>
            </a:extLst>
          </p:cNvPr>
          <p:cNvSpPr txBox="1"/>
          <p:nvPr/>
        </p:nvSpPr>
        <p:spPr>
          <a:xfrm>
            <a:off x="299356" y="5013176"/>
            <a:ext cx="11593288" cy="172354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standard definition of NATURAL JOIN requires that the two join attributes (or each pair of join attributes) have the same name in both relations. </a:t>
            </a:r>
            <a:r>
              <a:rPr lang="en-IN" b="1" dirty="0">
                <a:latin typeface="Arial" panose="020B0604020202020204" pitchFamily="34" charset="0"/>
                <a:cs typeface="Arial" panose="020B0604020202020204" pitchFamily="34" charset="0"/>
              </a:rPr>
              <a:t>If this is not the case, a renaming operation is applied first.</a:t>
            </a:r>
          </a:p>
          <a:p>
            <a:r>
              <a:rPr lang="en-IN" b="1" dirty="0">
                <a:solidFill>
                  <a:srgbClr val="FF0000"/>
                </a:solidFill>
                <a:latin typeface="Arial" panose="020B0604020202020204" pitchFamily="34" charset="0"/>
                <a:cs typeface="Arial" panose="020B0604020202020204" pitchFamily="34" charset="0"/>
              </a:rPr>
              <a:t>e.g.</a:t>
            </a:r>
          </a:p>
          <a:p>
            <a:endParaRPr lang="en-IN" sz="4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r </a:t>
            </a:r>
            <a:r>
              <a:rPr lang="en-US" dirty="0">
                <a:solidFill>
                  <a:schemeClr val="accent5">
                    <a:lumMod val="75000"/>
                  </a:schemeClr>
                </a:solidFill>
                <a:latin typeface="Liberation Mono"/>
                <a:cs typeface="Arial" panose="020B0604020202020204" pitchFamily="34" charset="0"/>
              </a:rPr>
              <a:t>NATURAL</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a1 </a:t>
            </a:r>
            <a:r>
              <a:rPr lang="en-US" dirty="0">
                <a:solidFill>
                  <a:srgbClr val="0077AA"/>
                </a:solidFill>
                <a:latin typeface="Liberation Mono"/>
              </a:rPr>
              <a:t>AS</a:t>
            </a:r>
            <a:r>
              <a:rPr lang="en-US" dirty="0">
                <a:latin typeface="Liberation Mono"/>
                <a:cs typeface="Arial" panose="020B0604020202020204" pitchFamily="34" charset="0"/>
              </a:rPr>
              <a:t> </a:t>
            </a:r>
            <a:r>
              <a:rPr lang="en-US" i="1" dirty="0">
                <a:solidFill>
                  <a:schemeClr val="bg1">
                    <a:lumMod val="50000"/>
                  </a:schemeClr>
                </a:solidFill>
                <a:latin typeface="Liberation Mono"/>
              </a:rPr>
              <a:t>c1</a:t>
            </a:r>
            <a:r>
              <a:rPr lang="en-US" dirty="0">
                <a:latin typeface="Liberation Mono"/>
                <a:cs typeface="Arial" panose="020B0604020202020204" pitchFamily="34" charset="0"/>
              </a:rPr>
              <a:t>, a2 </a:t>
            </a:r>
            <a:r>
              <a:rPr lang="en-US" dirty="0">
                <a:solidFill>
                  <a:srgbClr val="0077AA"/>
                </a:solidFill>
                <a:latin typeface="Liberation Mono"/>
              </a:rPr>
              <a:t>FROM</a:t>
            </a:r>
            <a:r>
              <a:rPr lang="en-US" dirty="0">
                <a:latin typeface="Liberation Mono"/>
                <a:cs typeface="Arial" panose="020B0604020202020204" pitchFamily="34" charset="0"/>
              </a:rPr>
              <a:t> s) </a:t>
            </a:r>
            <a:r>
              <a:rPr lang="en-US" i="1" dirty="0">
                <a:solidFill>
                  <a:schemeClr val="bg1">
                    <a:lumMod val="50000"/>
                  </a:schemeClr>
                </a:solidFill>
                <a:latin typeface="Liberation Mono"/>
              </a:rPr>
              <a:t>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89D3F916-3E49-4B19-1C38-98F55ED0D14D}"/>
              </a:ext>
            </a:extLst>
          </p:cNvPr>
          <p:cNvSpPr txBox="1"/>
          <p:nvPr/>
        </p:nvSpPr>
        <p:spPr>
          <a:xfrm>
            <a:off x="299356" y="260648"/>
            <a:ext cx="11593288" cy="646331"/>
          </a:xfrm>
          <a:prstGeom prst="rect">
            <a:avLst/>
          </a:prstGeom>
          <a:noFill/>
        </p:spPr>
        <p:txBody>
          <a:bodyPr wrap="square">
            <a:spAutoFit/>
          </a:bodyPr>
          <a:lstStyle/>
          <a:p>
            <a:r>
              <a:rPr lang="en-IN" dirty="0"/>
              <a:t>In </a:t>
            </a:r>
            <a:r>
              <a:rPr lang="en-IN" dirty="0">
                <a:latin typeface="Palatino Linotype" panose="02040502050505030304" pitchFamily="18" charset="0"/>
              </a:rPr>
              <a:t>general</a:t>
            </a:r>
            <a:r>
              <a:rPr lang="en-IN" dirty="0"/>
              <a:t>, the join condition for NATURAL JOIN is constructed by equating each pair of join attributes that have the same name in the two relations and combining these conditions with AND.</a:t>
            </a:r>
          </a:p>
        </p:txBody>
      </p:sp>
    </p:spTree>
  </p:cSld>
  <p:clrMapOvr>
    <a:masterClrMapping/>
  </p:clrMapOvr>
</p:sld>
</file>

<file path=ppt/slides/slide6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natural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1124744"/>
            <a:ext cx="1040045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NATURAL JOIN </a:t>
            </a:r>
            <a:r>
              <a:rPr lang="en-IN" dirty="0">
                <a:latin typeface="Arial" panose="020B0604020202020204" pitchFamily="34" charset="0"/>
                <a:cs typeface="Arial" panose="020B0604020202020204" pitchFamily="34" charset="0"/>
              </a:rPr>
              <a:t>is such a join that performs the same task as an </a:t>
            </a:r>
            <a:r>
              <a:rPr lang="en-IN" dirty="0">
                <a:solidFill>
                  <a:srgbClr val="C74C49"/>
                </a:solidFill>
                <a:latin typeface="Arial" panose="020B0604020202020204" pitchFamily="34" charset="0"/>
                <a:cs typeface="Arial" panose="020B0604020202020204" pitchFamily="34" charset="0"/>
              </a:rPr>
              <a:t>INNER 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191344" y="1657794"/>
            <a:ext cx="89916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endParaRPr lang="en-US" sz="2000" dirty="0">
              <a:latin typeface="Liberation Mono"/>
            </a:endParaRPr>
          </a:p>
        </p:txBody>
      </p:sp>
      <p:sp>
        <p:nvSpPr>
          <p:cNvPr id="8" name="Rectangle 7"/>
          <p:cNvSpPr/>
          <p:nvPr/>
        </p:nvSpPr>
        <p:spPr>
          <a:xfrm>
            <a:off x="191344" y="2278238"/>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1" name="Rectangle 10"/>
          <p:cNvSpPr/>
          <p:nvPr/>
        </p:nvSpPr>
        <p:spPr>
          <a:xfrm>
            <a:off x="191344" y="2798768"/>
            <a:ext cx="11665296" cy="175432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associated tables have one or more pairs of identically column-names.</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must be of the same name.</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datatype may differ.</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Don't use ON / USING clause in a NATURAL JOIN.</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When this join condition gets applied always the duplicates of the common columns get eliminated from the result.</a:t>
            </a:r>
          </a:p>
        </p:txBody>
      </p:sp>
      <p:sp>
        <p:nvSpPr>
          <p:cNvPr id="13" name="Rectangle 12"/>
          <p:cNvSpPr/>
          <p:nvPr/>
        </p:nvSpPr>
        <p:spPr>
          <a:xfrm>
            <a:off x="191344" y="5788195"/>
            <a:ext cx="6700553" cy="646331"/>
          </a:xfrm>
          <a:prstGeom prst="rect">
            <a:avLst/>
          </a:prstGeom>
          <a:noFill/>
        </p:spPr>
        <p:txBody>
          <a:bodyPr wrap="square">
            <a:spAutoFit/>
          </a:bodyPr>
          <a:lstStyle/>
          <a:p>
            <a:r>
              <a:rPr lang="en-IN" b="1" dirty="0">
                <a:solidFill>
                  <a:schemeClr val="tx1">
                    <a:lumMod val="75000"/>
                    <a:lumOff val="25000"/>
                  </a:schemeClr>
                </a:solidFill>
                <a:latin typeface="Arial" panose="020B0604020202020204" pitchFamily="34" charset="0"/>
                <a:cs typeface="Arial" panose="020B0604020202020204" pitchFamily="34" charset="0"/>
              </a:rPr>
              <a:t>If the column-names are not same, then NATURAL JOIN will work as CROSS JOIN.</a:t>
            </a:r>
          </a:p>
        </p:txBody>
      </p:sp>
      <p:sp>
        <p:nvSpPr>
          <p:cNvPr id="14" name="Rectangle 13"/>
          <p:cNvSpPr/>
          <p:nvPr/>
        </p:nvSpPr>
        <p:spPr>
          <a:xfrm>
            <a:off x="263352" y="4715852"/>
            <a:ext cx="11665296" cy="369332"/>
          </a:xfrm>
          <a:prstGeom prst="rect">
            <a:avLst/>
          </a:prstGeom>
        </p:spPr>
        <p:txBody>
          <a:bodyPr wrap="square">
            <a:spAutoFit/>
          </a:bodyPr>
          <a:lstStyle/>
          <a:p>
            <a:r>
              <a:rPr lang="en-US" dirty="0">
                <a:solidFill>
                  <a:srgbClr val="006C86"/>
                </a:solidFill>
                <a:latin typeface="Arial" pitchFamily="34" charset="0"/>
                <a:cs typeface="Arial" pitchFamily="34" charset="0"/>
              </a:rPr>
              <a:t>A </a:t>
            </a:r>
            <a:r>
              <a:rPr lang="en-US" b="1" dirty="0">
                <a:solidFill>
                  <a:srgbClr val="C74C49"/>
                </a:solidFill>
                <a:latin typeface="Arial" pitchFamily="34" charset="0"/>
                <a:cs typeface="Arial" pitchFamily="34" charset="0"/>
              </a:rPr>
              <a:t>NATURAL JOIN </a:t>
            </a:r>
            <a:r>
              <a:rPr lang="en-US" dirty="0">
                <a:solidFill>
                  <a:srgbClr val="006C86"/>
                </a:solidFill>
                <a:latin typeface="Arial" pitchFamily="34" charset="0"/>
                <a:cs typeface="Arial" pitchFamily="34" charset="0"/>
              </a:rPr>
              <a:t>can be used with a </a:t>
            </a:r>
            <a:r>
              <a:rPr lang="en-US" b="1" dirty="0">
                <a:solidFill>
                  <a:srgbClr val="C74C49"/>
                </a:solidFill>
                <a:latin typeface="Arial" pitchFamily="34" charset="0"/>
                <a:cs typeface="Arial" pitchFamily="34" charset="0"/>
              </a:rPr>
              <a:t>LEFT OUTER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join</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or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a</a:t>
            </a:r>
            <a:r>
              <a:rPr lang="en-US" b="1" dirty="0">
                <a:solidFill>
                  <a:srgbClr val="006C86"/>
                </a:solidFill>
                <a:latin typeface="Arial" pitchFamily="34" charset="0"/>
                <a:cs typeface="Arial" pitchFamily="34" charset="0"/>
              </a:rPr>
              <a:t> </a:t>
            </a:r>
            <a:r>
              <a:rPr lang="en-US" b="1" dirty="0">
                <a:solidFill>
                  <a:srgbClr val="C74C49"/>
                </a:solidFill>
                <a:latin typeface="Arial" pitchFamily="34" charset="0"/>
                <a:cs typeface="Arial" pitchFamily="34" charset="0"/>
              </a:rPr>
              <a:t>RIGHT OUTER </a:t>
            </a:r>
            <a:r>
              <a:rPr lang="en-US" dirty="0">
                <a:solidFill>
                  <a:srgbClr val="006C86"/>
                </a:solidFill>
                <a:latin typeface="Arial" pitchFamily="34" charset="0"/>
                <a:cs typeface="Arial" pitchFamily="34" charset="0"/>
              </a:rPr>
              <a:t>join.</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24192" y="5643276"/>
            <a:ext cx="3539893" cy="936170"/>
          </a:xfrm>
          <a:prstGeom prst="rect">
            <a:avLst/>
          </a:prstGeom>
        </p:spPr>
      </p:pic>
      <p:sp>
        <p:nvSpPr>
          <p:cNvPr id="6" name="Rectangle 5"/>
          <p:cNvSpPr/>
          <p:nvPr/>
        </p:nvSpPr>
        <p:spPr>
          <a:xfrm>
            <a:off x="191344" y="205051"/>
            <a:ext cx="6336704" cy="584775"/>
          </a:xfrm>
          <a:prstGeom prst="rect">
            <a:avLst/>
          </a:prstGeom>
          <a:noFill/>
        </p:spPr>
        <p:txBody>
          <a:bodyPr wrap="square">
            <a:spAutoFit/>
          </a:bodyPr>
          <a:lstStyle/>
          <a:p>
            <a:r>
              <a:rPr lang="en-IN" sz="1600" dirty="0">
                <a:solidFill>
                  <a:schemeClr val="tx1">
                    <a:lumMod val="75000"/>
                    <a:lumOff val="25000"/>
                  </a:schemeClr>
                </a:solidFill>
                <a:latin typeface="Helvetica" panose="020B0604020202020204" pitchFamily="34" charset="0"/>
              </a:rPr>
              <a:t>Joins two tables based on common column names. Hence one must confirm the common columns before using a NATURAL JOIN</a:t>
            </a:r>
          </a:p>
        </p:txBody>
      </p:sp>
    </p:spTree>
    <p:extLst>
      <p:ext uri="{BB962C8B-B14F-4D97-AF65-F5344CB8AC3E}">
        <p14:creationId xmlns:p14="http://schemas.microsoft.com/office/powerpoint/2010/main" val="3138291457"/>
      </p:ext>
    </p:extLst>
  </p:cSld>
  <p:clrMapOvr>
    <a:masterClrMapping/>
  </p:clrMapOvr>
</p:sld>
</file>

<file path=ppt/slides/slide6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99256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inner join vs natural join</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851926878"/>
              </p:ext>
            </p:extLst>
          </p:nvPr>
        </p:nvGraphicFramePr>
        <p:xfrm>
          <a:off x="119336" y="1432338"/>
          <a:ext cx="11953328" cy="3783477"/>
        </p:xfrm>
        <a:graphic>
          <a:graphicData uri="http://schemas.openxmlformats.org/drawingml/2006/table">
            <a:tbl>
              <a:tblPr>
                <a:tableStyleId>{BDBED569-4797-4DF1-A0F4-6AAB3CD982D8}</a:tableStyleId>
              </a:tblPr>
              <a:tblGrid>
                <a:gridCol w="6328269">
                  <a:extLst>
                    <a:ext uri="{9D8B030D-6E8A-4147-A177-3AD203B41FA5}">
                      <a16:colId xmlns:a16="http://schemas.microsoft.com/office/drawing/2014/main" val="422065344"/>
                    </a:ext>
                  </a:extLst>
                </a:gridCol>
                <a:gridCol w="562505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INNER JOIN</a:t>
                      </a:r>
                    </a:p>
                  </a:txBody>
                  <a:tcPr marL="53604" marR="53604" marT="53604" marB="53604" anchor="ctr"/>
                </a:tc>
                <a:tc>
                  <a:txBody>
                    <a:bodyPr/>
                    <a:lstStyle/>
                    <a:p>
                      <a:pPr algn="ctr" fontAlgn="ctr"/>
                      <a:r>
                        <a:rPr lang="en-IN" sz="1800" b="1" cap="all" dirty="0">
                          <a:effectLst/>
                          <a:latin typeface="Palatino Linotype" panose="02040502050505030304" pitchFamily="18" charset="0"/>
                        </a:rPr>
                        <a:t>NATURAL JOIN</a:t>
                      </a:r>
                    </a:p>
                  </a:txBody>
                  <a:tcPr marL="53604" marR="53604" marT="53604" marB="53604" anchor="ctr"/>
                </a:tc>
                <a:extLst>
                  <a:ext uri="{0D108BD9-81ED-4DB2-BD59-A6C34878D82A}">
                    <a16:rowId xmlns:a16="http://schemas.microsoft.com/office/drawing/2014/main" val="2493218137"/>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Inner Join joins two table on the basis of the column which is explicitly specified in the ON clause.</a:t>
                      </a:r>
                    </a:p>
                  </a:txBody>
                  <a:tcPr marL="89279" marR="89279" marT="44640" marB="44640" anchor="ctr"/>
                </a:tc>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Natural Join joins two tables based on same attribute name.</a:t>
                      </a:r>
                    </a:p>
                  </a:txBody>
                  <a:tcPr marL="89279" marR="89279" marT="44640" marB="44640" anchor="ctr"/>
                </a:tc>
                <a:extLst>
                  <a:ext uri="{0D108BD9-81ED-4DB2-BD59-A6C34878D82A}">
                    <a16:rowId xmlns:a16="http://schemas.microsoft.com/office/drawing/2014/main" val="853356393"/>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 Inner Join, The resulting table will contain all the attribute of both the tables including duplicate columns also</a:t>
                      </a:r>
                    </a:p>
                  </a:txBody>
                  <a:tcPr marL="89279" marR="89279" marT="44640" marB="44640" anchor="ctr"/>
                </a:tc>
                <a:tc>
                  <a:txBody>
                    <a:bodyPr/>
                    <a:lstStyle/>
                    <a:p>
                      <a:pPr algn="l" fontAlgn="base"/>
                      <a:r>
                        <a:rPr lang="en-US" sz="1800" b="0" dirty="0">
                          <a:latin typeface="Palatino Linotype" pitchFamily="18" charset="0"/>
                        </a:rPr>
                        <a:t>In Natural Join, The resulting table will contain all the attributes of both the tables but keep only one copy of each common column</a:t>
                      </a:r>
                    </a:p>
                  </a:txBody>
                  <a:tcPr marL="89279" marR="89279" marT="44640" marB="44640" anchor="ctr"/>
                </a:tc>
                <a:extLst>
                  <a:ext uri="{0D108BD9-81ED-4DB2-BD59-A6C34878D82A}">
                    <a16:rowId xmlns:a16="http://schemas.microsoft.com/office/drawing/2014/main" val="588869355"/>
                  </a:ext>
                </a:extLst>
              </a:tr>
              <a:tr h="750518">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In Inner Join, only those records will return which</a:t>
                      </a:r>
                      <a:r>
                        <a:rPr lang="en-US" sz="1800" b="0" baseline="0" dirty="0">
                          <a:latin typeface="Palatino Linotype" panose="02040502050505030304" pitchFamily="18" charset="0"/>
                        </a:rPr>
                        <a:t> </a:t>
                      </a:r>
                      <a:r>
                        <a:rPr lang="en-US" sz="1800" b="0" dirty="0">
                          <a:latin typeface="Palatino Linotype" pitchFamily="18" charset="0"/>
                        </a:rPr>
                        <a:t>exists in both the tables</a:t>
                      </a:r>
                    </a:p>
                  </a:txBody>
                  <a:tcPr marL="89279" marR="89279" marT="44640" marB="44640" anchor="ctr"/>
                </a:tc>
                <a:tc>
                  <a:txBody>
                    <a:bodyPr/>
                    <a:lstStyle/>
                    <a:p>
                      <a:pPr algn="l" fontAlgn="base"/>
                      <a:r>
                        <a:rPr lang="en-US" sz="1800" b="0" dirty="0">
                          <a:latin typeface="Palatino Linotype" panose="02040502050505030304" pitchFamily="18" charset="0"/>
                        </a:rPr>
                        <a:t>Same as Inner</a:t>
                      </a:r>
                      <a:r>
                        <a:rPr lang="en-US" sz="1800" b="0" baseline="0" dirty="0">
                          <a:latin typeface="Palatino Linotype" panose="02040502050505030304" pitchFamily="18" charset="0"/>
                        </a:rPr>
                        <a:t> Join</a:t>
                      </a:r>
                      <a:endParaRPr lang="en-US" sz="1800" b="0" dirty="0">
                        <a:latin typeface="Palatino Linotype" pitchFamily="18" charset="0"/>
                      </a:endParaRPr>
                    </a:p>
                  </a:txBody>
                  <a:tcPr marL="89279" marR="89279" marT="44640" marB="44640" anchor="ctr"/>
                </a:tc>
                <a:extLst>
                  <a:ext uri="{0D108BD9-81ED-4DB2-BD59-A6C34878D82A}">
                    <a16:rowId xmlns:a16="http://schemas.microsoft.com/office/drawing/2014/main" val="2820917763"/>
                  </a:ext>
                </a:extLst>
              </a:tr>
              <a:tr h="3600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SYNTAX:</a:t>
                      </a:r>
                    </a:p>
                    <a:p>
                      <a:pPr marL="285750" marR="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ON</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dirty="0">
                          <a:latin typeface="Liberation Mono"/>
                        </a:rPr>
                        <a:t> = </a:t>
                      </a:r>
                      <a:r>
                        <a:rPr lang="en-US" sz="1800" b="1" dirty="0">
                          <a:latin typeface="Liberation Mono"/>
                        </a:rPr>
                        <a:t>r</a:t>
                      </a:r>
                      <a:r>
                        <a:rPr lang="en-US" sz="1800" b="0" baseline="-25000" dirty="0">
                          <a:latin typeface="Liberation Mono"/>
                        </a:rPr>
                        <a:t>2</a:t>
                      </a:r>
                      <a:r>
                        <a:rPr lang="en-US" sz="1800" b="0" dirty="0">
                          <a:latin typeface="Liberation Mono"/>
                        </a:rPr>
                        <a:t>.</a:t>
                      </a:r>
                      <a:r>
                        <a:rPr lang="en-US" sz="1800" b="1" dirty="0">
                          <a:latin typeface="Liberation Mono"/>
                        </a:rPr>
                        <a:t>A</a:t>
                      </a:r>
                      <a:r>
                        <a:rPr lang="en-US" sz="1800" b="0" baseline="-25000" dirty="0">
                          <a:latin typeface="Liberation Mono"/>
                        </a:rPr>
                        <a:t>1</a:t>
                      </a:r>
                      <a:r>
                        <a:rPr lang="en-US" sz="1800" b="0" dirty="0">
                          <a:latin typeface="Liberation Mono"/>
                        </a:rPr>
                        <a:t>;</a:t>
                      </a:r>
                    </a:p>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USING</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baseline="0" dirty="0">
                          <a:solidFill>
                            <a:schemeClr val="tx1"/>
                          </a:solidFill>
                          <a:latin typeface="Liberation Mono"/>
                        </a:rPr>
                        <a:t>,</a:t>
                      </a:r>
                      <a:r>
                        <a:rPr lang="en-US" sz="1800" b="0" dirty="0">
                          <a:latin typeface="Liberation Mono"/>
                        </a:rPr>
                        <a:t> [</a:t>
                      </a:r>
                      <a:r>
                        <a:rPr lang="en-US" sz="1800" b="1" dirty="0">
                          <a:latin typeface="Liberation Mono"/>
                        </a:rPr>
                        <a:t>A</a:t>
                      </a:r>
                      <a:r>
                        <a:rPr lang="en-US" sz="1800" b="0" baseline="-25000" dirty="0">
                          <a:latin typeface="Liberation Mono"/>
                        </a:rPr>
                        <a:t>2</a:t>
                      </a:r>
                      <a:r>
                        <a:rPr lang="en-US" sz="1800" b="0" baseline="0" dirty="0">
                          <a:latin typeface="Liberation Mono"/>
                        </a:rPr>
                        <a:t>])</a:t>
                      </a:r>
                      <a:r>
                        <a:rPr lang="en-US" sz="1800" b="0" dirty="0">
                          <a:latin typeface="Liberation Mono"/>
                        </a:rPr>
                        <a:t>;</a:t>
                      </a:r>
                    </a:p>
                  </a:txBody>
                  <a:tcPr marL="89279" marR="89279" marT="44640" marB="44640" anchor="ctr"/>
                </a:tc>
                <a:tc>
                  <a:txBody>
                    <a:bodyPr/>
                    <a:lstStyle/>
                    <a:p>
                      <a:pPr algn="l" fontAlgn="base"/>
                      <a:endParaRPr lang="en-US" sz="1800" b="0" dirty="0">
                        <a:latin typeface="Palatino Linotype" panose="02040502050505030304" pitchFamily="18" charset="0"/>
                      </a:endParaRPr>
                    </a:p>
                    <a:p>
                      <a:pPr algn="l" fontAlgn="base"/>
                      <a:r>
                        <a:rPr lang="en-US" sz="1800" b="0" dirty="0">
                          <a:latin typeface="Palatino Linotype" panose="02040502050505030304" pitchFamily="18" charset="0"/>
                        </a:rPr>
                        <a:t>SYNTAX:</a:t>
                      </a:r>
                    </a:p>
                    <a:p>
                      <a:pPr marL="285750" indent="-285750" algn="l" fontAlgn="base">
                        <a:buFont typeface="Arial" panose="020B0604020202020204" pitchFamily="34" charset="0"/>
                        <a:buChar cha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NATURAL</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a:t>
                      </a:r>
                    </a:p>
                  </a:txBody>
                  <a:tcPr marL="89279" marR="89279" marT="44640" marB="44640" anchor="ctr"/>
                </a:tc>
                <a:extLst>
                  <a:ext uri="{0D108BD9-81ED-4DB2-BD59-A6C34878D82A}">
                    <a16:rowId xmlns:a16="http://schemas.microsoft.com/office/drawing/2014/main" val="35794912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93700" cy="863914"/>
            <a:chOff x="119336" y="188822"/>
            <a:chExt cx="469370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407368" y="350795"/>
              <a:ext cx="1305165" cy="553998"/>
            </a:xfrm>
            <a:prstGeom prst="rect">
              <a:avLst/>
            </a:prstGeom>
            <a:noFill/>
          </p:spPr>
          <p:txBody>
            <a:bodyPr wrap="none" rtlCol="0">
              <a:spAutoFit/>
            </a:bodyPr>
            <a:lstStyle/>
            <a:p>
              <a:r>
                <a:rPr lang="en-US" sz="3000" dirty="0"/>
                <a:t>INNER</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927648" y="350795"/>
              <a:ext cx="1885388" cy="553998"/>
            </a:xfrm>
            <a:prstGeom prst="rect">
              <a:avLst/>
            </a:prstGeom>
            <a:noFill/>
          </p:spPr>
          <p:txBody>
            <a:bodyPr wrap="none" rtlCol="0">
              <a:spAutoFit/>
            </a:bodyPr>
            <a:lstStyle/>
            <a:p>
              <a:r>
                <a:rPr lang="en-US" sz="3000" dirty="0"/>
                <a:t>NATURAL</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1123275734"/>
      </p:ext>
    </p:extLst>
  </p:cSld>
  <p:clrMapOvr>
    <a:masterClrMapping/>
  </p:clrMapOvr>
</p:sld>
</file>

<file path=ppt/slides/slide6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simple join</a:t>
            </a:r>
          </a:p>
        </p:txBody>
      </p:sp>
      <p:sp>
        <p:nvSpPr>
          <p:cNvPr id="3" name="Rectangle 2"/>
          <p:cNvSpPr/>
          <p:nvPr/>
        </p:nvSpPr>
        <p:spPr>
          <a:xfrm>
            <a:off x="2952728" y="3283866"/>
            <a:ext cx="6858048" cy="400110"/>
          </a:xfrm>
          <a:prstGeom prst="rect">
            <a:avLst/>
          </a:prstGeom>
        </p:spPr>
        <p:txBody>
          <a:bodyPr wrap="square">
            <a:spAutoFit/>
          </a:bodyPr>
          <a:lstStyle/>
          <a:p>
            <a:r>
              <a:rPr lang="en-US" sz="2000" dirty="0">
                <a:solidFill>
                  <a:schemeClr val="bg2">
                    <a:lumMod val="50000"/>
                  </a:schemeClr>
                </a:solidFill>
                <a:latin typeface="Palatino Linotype" panose="02040502050505030304" pitchFamily="18" charset="0"/>
                <a:cs typeface="Arial" pitchFamily="34" charset="0"/>
              </a:rPr>
              <a:t>TODO</a:t>
            </a:r>
          </a:p>
        </p:txBody>
      </p:sp>
    </p:spTree>
  </p:cSld>
  <p:clrMapOvr>
    <a:masterClrMapping/>
  </p:clrMapOvr>
</p:sld>
</file>

<file path=ppt/slides/slide6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simple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560784"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SIMPLE</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such a join that performs the same task as an </a:t>
            </a:r>
            <a:r>
              <a:rPr lang="en-IN" dirty="0">
                <a:solidFill>
                  <a:srgbClr val="C74C49"/>
                </a:solidFill>
                <a:latin typeface="Arial" panose="020B0604020202020204" pitchFamily="34" charset="0"/>
                <a:cs typeface="Arial" panose="020B0604020202020204" pitchFamily="34" charset="0"/>
              </a:rPr>
              <a:t>INNER</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560784" y="1307069"/>
            <a:ext cx="10791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SIMPLE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560784" y="20720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SIMPLE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endParaRPr lang="en-IN" dirty="0">
              <a:latin typeface="Liberation Mono"/>
              <a:cs typeface="Arial" panose="020B0604020202020204" pitchFamily="34" charset="0"/>
            </a:endParaRPr>
          </a:p>
        </p:txBody>
      </p:sp>
      <p:grpSp>
        <p:nvGrpSpPr>
          <p:cNvPr id="2" name="Group 1"/>
          <p:cNvGrpSpPr/>
          <p:nvPr/>
        </p:nvGrpSpPr>
        <p:grpSpPr>
          <a:xfrm>
            <a:off x="560784" y="3515144"/>
            <a:ext cx="5751240" cy="1825352"/>
            <a:chOff x="228600" y="2971800"/>
            <a:chExt cx="4354286" cy="2548354"/>
          </a:xfrm>
        </p:grpSpPr>
        <p:grpSp>
          <p:nvGrpSpPr>
            <p:cNvPr id="6" name="Group 5"/>
            <p:cNvGrpSpPr/>
            <p:nvPr/>
          </p:nvGrpSpPr>
          <p:grpSpPr>
            <a:xfrm>
              <a:off x="228600" y="2971800"/>
              <a:ext cx="4354286" cy="1609950"/>
              <a:chOff x="228600" y="2971800"/>
              <a:chExt cx="4354286" cy="1609950"/>
            </a:xfrm>
          </p:grpSpPr>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4143" y="2971800"/>
                <a:ext cx="4248743" cy="1609950"/>
              </a:xfrm>
              <a:prstGeom prst="rect">
                <a:avLst/>
              </a:prstGeom>
            </p:spPr>
          </p:pic>
          <p:sp>
            <p:nvSpPr>
              <p:cNvPr id="10" name="Rectangle 9"/>
              <p:cNvSpPr/>
              <p:nvPr/>
            </p:nvSpPr>
            <p:spPr>
              <a:xfrm>
                <a:off x="228600" y="4052970"/>
                <a:ext cx="3481377"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9" name="Straight Arrow Connector 8"/>
            <p:cNvCxnSpPr/>
            <p:nvPr/>
          </p:nvCxnSpPr>
          <p:spPr>
            <a:xfrm flipV="1">
              <a:off x="1752600" y="4604658"/>
              <a:ext cx="0" cy="60503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96686" y="5181600"/>
              <a:ext cx="2226892" cy="338554"/>
            </a:xfrm>
            <a:prstGeom prst="rect">
              <a:avLst/>
            </a:prstGeom>
            <a:noFill/>
          </p:spPr>
          <p:txBody>
            <a:bodyPr wrap="none" rtlCol="0">
              <a:spAutoFit/>
            </a:bodyPr>
            <a:lstStyle/>
            <a:p>
              <a:r>
                <a:rPr lang="en-IN" sz="1600" dirty="0">
                  <a:solidFill>
                    <a:srgbClr val="0083A2"/>
                  </a:solidFill>
                </a:rPr>
                <a:t>JOINING CONDITION</a:t>
              </a:r>
            </a:p>
          </p:txBody>
        </p:sp>
      </p:grpSp>
    </p:spTree>
    <p:extLst>
      <p:ext uri="{BB962C8B-B14F-4D97-AF65-F5344CB8AC3E}">
        <p14:creationId xmlns:p14="http://schemas.microsoft.com/office/powerpoint/2010/main" val="637852599"/>
      </p:ext>
    </p:extLst>
  </p:cSld>
  <p:clrMapOvr>
    <a:masterClrMapping/>
  </p:clrMapOvr>
</p:sld>
</file>

<file path=ppt/slides/slide6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outer joins</a:t>
            </a:r>
          </a:p>
        </p:txBody>
      </p:sp>
      <p:sp>
        <p:nvSpPr>
          <p:cNvPr id="3" name="Rectangle 2"/>
          <p:cNvSpPr/>
          <p:nvPr/>
        </p:nvSpPr>
        <p:spPr>
          <a:xfrm>
            <a:off x="407368" y="3283866"/>
            <a:ext cx="11377264" cy="707886"/>
          </a:xfrm>
          <a:prstGeom prst="rect">
            <a:avLst/>
          </a:prstGeom>
        </p:spPr>
        <p:txBody>
          <a:bodyPr wrap="square">
            <a:spAutoFit/>
          </a:bodyPr>
          <a:lstStyle/>
          <a:p>
            <a:r>
              <a:rPr lang="en-US" sz="2000" b="0" i="0" dirty="0">
                <a:solidFill>
                  <a:srgbClr val="222222"/>
                </a:solidFill>
                <a:effectLst/>
                <a:latin typeface="Palatino Linotype" panose="02040502050505030304" pitchFamily="18" charset="0"/>
                <a:cs typeface="Segoe UI Light" panose="020B0502040204020203" pitchFamily="34" charset="0"/>
              </a:rPr>
              <a:t>In an outer join, along with rows that satisfy the matching criteria, we also include some or all rows that do not match the criteria.</a:t>
            </a:r>
            <a:endParaRPr lang="en-US" sz="2000" dirty="0">
              <a:solidFill>
                <a:schemeClr val="bg2">
                  <a:lumMod val="50000"/>
                </a:schemeClr>
              </a:solidFill>
              <a:latin typeface="Palatino Linotype" panose="02040502050505030304" pitchFamily="18" charset="0"/>
              <a:cs typeface="Segoe UI Light" panose="020B0502040204020203" pitchFamily="34" charset="0"/>
            </a:endParaRPr>
          </a:p>
        </p:txBody>
      </p:sp>
      <p:sp>
        <p:nvSpPr>
          <p:cNvPr id="5" name="Rectangle 4">
            <a:extLst>
              <a:ext uri="{FF2B5EF4-FFF2-40B4-BE49-F238E27FC236}">
                <a16:creationId xmlns:a16="http://schemas.microsoft.com/office/drawing/2014/main" id="{C9270E1E-987C-4836-ACAB-42910BEA10CA}"/>
              </a:ext>
            </a:extLst>
          </p:cNvPr>
          <p:cNvSpPr/>
          <p:nvPr/>
        </p:nvSpPr>
        <p:spPr>
          <a:xfrm>
            <a:off x="407368" y="449950"/>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The ON clause is required for a left or right outer join.</a:t>
            </a:r>
          </a:p>
        </p:txBody>
      </p:sp>
      <p:sp>
        <p:nvSpPr>
          <p:cNvPr id="6" name="TextBox 5">
            <a:extLst>
              <a:ext uri="{FF2B5EF4-FFF2-40B4-BE49-F238E27FC236}">
                <a16:creationId xmlns:a16="http://schemas.microsoft.com/office/drawing/2014/main" id="{C8F56855-75F5-4E8B-BE92-CA9C510C2715}"/>
              </a:ext>
            </a:extLst>
          </p:cNvPr>
          <p:cNvSpPr txBox="1"/>
          <p:nvPr/>
        </p:nvSpPr>
        <p:spPr>
          <a:xfrm>
            <a:off x="407368" y="4499835"/>
            <a:ext cx="11377264" cy="1477328"/>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r1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r2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endParaRPr lang="en-IN" dirty="0">
              <a:latin typeface="Liberation Mono"/>
            </a:endParaRPr>
          </a:p>
          <a:p>
            <a:r>
              <a:rPr lang="en-IN" dirty="0">
                <a:solidFill>
                  <a:srgbClr val="0077AA"/>
                </a:solidFill>
                <a:latin typeface="Liberation Mono"/>
              </a:rPr>
              <a:t>INSERT INTO </a:t>
            </a:r>
            <a:r>
              <a:rPr lang="en-IN" dirty="0">
                <a:latin typeface="Liberation Mono"/>
              </a:rPr>
              <a:t>r1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4</a:t>
            </a:r>
            <a:r>
              <a:rPr lang="en-IN" dirty="0">
                <a:latin typeface="Liberation Mono"/>
              </a:rPr>
              <a:t>,</a:t>
            </a:r>
            <a:r>
              <a:rPr lang="en-IN" dirty="0">
                <a:solidFill>
                  <a:srgbClr val="669900"/>
                </a:solidFill>
                <a:latin typeface="Liberation Mono"/>
              </a:rPr>
              <a:t>'AC-1'</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'AC-2'</a:t>
            </a:r>
            <a:r>
              <a:rPr lang="en-IN" dirty="0">
                <a:latin typeface="Liberation Mono"/>
              </a:rPr>
              <a:t>),(</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'AC-3'</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'AC-4'</a:t>
            </a:r>
            <a:r>
              <a:rPr lang="en-IN" dirty="0">
                <a:latin typeface="Liberation Mono"/>
              </a:rPr>
              <a:t>),(</a:t>
            </a:r>
            <a:r>
              <a:rPr lang="en-IN" dirty="0">
                <a:solidFill>
                  <a:srgbClr val="990055"/>
                </a:solidFill>
                <a:latin typeface="Liberation Mono"/>
              </a:rPr>
              <a:t>5</a:t>
            </a:r>
            <a:r>
              <a:rPr lang="en-IN" dirty="0">
                <a:latin typeface="Liberation Mono"/>
              </a:rPr>
              <a:t>,</a:t>
            </a:r>
            <a:r>
              <a:rPr lang="en-IN" dirty="0">
                <a:solidFill>
                  <a:srgbClr val="669900"/>
                </a:solidFill>
                <a:latin typeface="Liberation Mono"/>
              </a:rPr>
              <a:t>'AC-5'</a:t>
            </a:r>
            <a:r>
              <a:rPr lang="en-IN" dirty="0">
                <a:latin typeface="Liberation Mono"/>
              </a:rPr>
              <a:t>);</a:t>
            </a:r>
          </a:p>
          <a:p>
            <a:r>
              <a:rPr lang="en-IN" dirty="0">
                <a:solidFill>
                  <a:srgbClr val="0077AA"/>
                </a:solidFill>
                <a:latin typeface="Liberation Mono"/>
              </a:rPr>
              <a:t>INSERT INTO </a:t>
            </a:r>
            <a:r>
              <a:rPr lang="en-IN" dirty="0">
                <a:latin typeface="Liberation Mono"/>
              </a:rPr>
              <a:t>r2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'C-1'</a:t>
            </a:r>
            <a:r>
              <a:rPr lang="en-IN" dirty="0">
                <a:latin typeface="Liberation Mono"/>
              </a:rPr>
              <a:t>), (</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'C-2'</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'C-3'</a:t>
            </a:r>
            <a:r>
              <a:rPr lang="en-IN" dirty="0">
                <a:latin typeface="Liberation Mono"/>
              </a:rPr>
              <a:t>),(</a:t>
            </a:r>
            <a:r>
              <a:rPr lang="en-IN" dirty="0">
                <a:solidFill>
                  <a:srgbClr val="990055"/>
                </a:solidFill>
                <a:latin typeface="Liberation Mono"/>
              </a:rPr>
              <a:t>7</a:t>
            </a:r>
            <a:r>
              <a:rPr lang="en-IN" dirty="0">
                <a:latin typeface="Liberation Mono"/>
              </a:rPr>
              <a:t>,</a:t>
            </a:r>
            <a:r>
              <a:rPr lang="en-IN" dirty="0">
                <a:solidFill>
                  <a:srgbClr val="669900"/>
                </a:solidFill>
                <a:latin typeface="Liberation Mono"/>
              </a:rPr>
              <a:t>'C-4'</a:t>
            </a:r>
            <a:r>
              <a:rPr lang="en-IN" dirty="0">
                <a:latin typeface="Liberation Mono"/>
              </a:rPr>
              <a:t>);</a:t>
            </a:r>
          </a:p>
        </p:txBody>
      </p:sp>
      <p:sp>
        <p:nvSpPr>
          <p:cNvPr id="15" name="TextBox 14">
            <a:extLst>
              <a:ext uri="{FF2B5EF4-FFF2-40B4-BE49-F238E27FC236}">
                <a16:creationId xmlns:a16="http://schemas.microsoft.com/office/drawing/2014/main" id="{C6DCF000-51B3-7867-417F-B11E1429EE40}"/>
              </a:ext>
            </a:extLst>
          </p:cNvPr>
          <p:cNvSpPr txBox="1"/>
          <p:nvPr/>
        </p:nvSpPr>
        <p:spPr>
          <a:xfrm>
            <a:off x="263352" y="943560"/>
            <a:ext cx="11665296" cy="1477328"/>
          </a:xfrm>
          <a:prstGeom prst="rect">
            <a:avLst/>
          </a:prstGeom>
          <a:noFill/>
        </p:spPr>
        <p:txBody>
          <a:bodyPr wrap="square">
            <a:spAutoFit/>
          </a:bodyPr>
          <a:lstStyle/>
          <a:p>
            <a:r>
              <a:rPr lang="en-IN" dirty="0"/>
              <a:t>The LEFT OUTER JOIN operation keeps every tuple in the first, or left, relation R in R          S, if no matching tuple is found in S, then the attributes of S in the join result are filled or padded with NULL values.</a:t>
            </a:r>
          </a:p>
          <a:p>
            <a:endParaRPr lang="en-IN" dirty="0"/>
          </a:p>
          <a:p>
            <a:r>
              <a:rPr lang="en-IN" dirty="0"/>
              <a:t>The RIGHT OUTER JOIN keeps every tuple in the second, or right, relation S in the result of R           S, if no matching tuple is found in R, then the attributes of R in the join result are filled or padded with NULL values.</a:t>
            </a:r>
          </a:p>
        </p:txBody>
      </p:sp>
      <p:sp>
        <p:nvSpPr>
          <p:cNvPr id="17" name="TextBox 16">
            <a:extLst>
              <a:ext uri="{FF2B5EF4-FFF2-40B4-BE49-F238E27FC236}">
                <a16:creationId xmlns:a16="http://schemas.microsoft.com/office/drawing/2014/main" id="{0AD910C1-76FC-761C-CCF3-91E8F6E1C1F3}"/>
              </a:ext>
            </a:extLst>
          </p:cNvPr>
          <p:cNvSpPr txBox="1"/>
          <p:nvPr/>
        </p:nvSpPr>
        <p:spPr>
          <a:xfrm>
            <a:off x="8334064" y="7329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
        <p:nvSpPr>
          <p:cNvPr id="19" name="TextBox 18">
            <a:extLst>
              <a:ext uri="{FF2B5EF4-FFF2-40B4-BE49-F238E27FC236}">
                <a16:creationId xmlns:a16="http://schemas.microsoft.com/office/drawing/2014/main" id="{6E7854BB-1FE4-23A4-AF8D-5BBAC00548EE}"/>
              </a:ext>
            </a:extLst>
          </p:cNvPr>
          <p:cNvSpPr txBox="1"/>
          <p:nvPr/>
        </p:nvSpPr>
        <p:spPr>
          <a:xfrm>
            <a:off x="9192344" y="15767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Tree>
  </p:cSld>
  <p:clrMapOvr>
    <a:masterClrMapping/>
  </p:clrMapOvr>
</p:sld>
</file>

<file path=ppt/slides/slide6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left outer joins</a:t>
            </a:r>
          </a:p>
        </p:txBody>
      </p:sp>
      <p:sp>
        <p:nvSpPr>
          <p:cNvPr id="7" name="Rectangle 6">
            <a:extLst>
              <a:ext uri="{FF2B5EF4-FFF2-40B4-BE49-F238E27FC236}">
                <a16:creationId xmlns:a16="http://schemas.microsoft.com/office/drawing/2014/main" id="{F4126A8B-51ED-4D55-BFAA-396AAA78CDC2}"/>
              </a:ext>
            </a:extLst>
          </p:cNvPr>
          <p:cNvSpPr/>
          <p:nvPr/>
        </p:nvSpPr>
        <p:spPr>
          <a:xfrm>
            <a:off x="47328" y="2722855"/>
            <a:ext cx="6192688"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left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(2, 2, b), </a:t>
            </a:r>
          </a:p>
          <a:p>
            <a:r>
              <a:rPr lang="en-US" sz="2400" dirty="0">
                <a:solidFill>
                  <a:srgbClr val="006C86"/>
                </a:solidFill>
                <a:latin typeface="Liberation Mono"/>
              </a:rPr>
              <a:t>        (1, 1, c), </a:t>
            </a:r>
          </a:p>
          <a:p>
            <a:r>
              <a:rPr lang="en-US" sz="2400" dirty="0">
                <a:solidFill>
                  <a:srgbClr val="006C86"/>
                </a:solidFill>
                <a:latin typeface="Liberation Mono"/>
              </a:rPr>
              <a:t>        (3, 3, d), </a:t>
            </a:r>
          </a:p>
          <a:p>
            <a:r>
              <a:rPr lang="en-US" sz="2400" dirty="0">
                <a:solidFill>
                  <a:srgbClr val="006C86"/>
                </a:solidFill>
                <a:latin typeface="Liberation Mono"/>
              </a:rPr>
              <a:t>        (2, 2, e), </a:t>
            </a:r>
          </a:p>
          <a:p>
            <a:r>
              <a:rPr lang="en-US" sz="2400" dirty="0">
                <a:solidFill>
                  <a:srgbClr val="006C86"/>
                </a:solidFill>
                <a:latin typeface="Liberation Mono"/>
              </a:rPr>
              <a:t>        (1, 1, f),</a:t>
            </a:r>
          </a:p>
          <a:p>
            <a:r>
              <a:rPr lang="en-US" sz="2400" dirty="0">
                <a:solidFill>
                  <a:srgbClr val="006C86"/>
                </a:solidFill>
                <a:latin typeface="Liberation Mono"/>
              </a:rPr>
              <a:t>        (4, NULL, NULL}</a:t>
            </a:r>
          </a:p>
        </p:txBody>
      </p:sp>
      <p:pic>
        <p:nvPicPr>
          <p:cNvPr id="4" name="Picture 3">
            <a:extLst>
              <a:ext uri="{FF2B5EF4-FFF2-40B4-BE49-F238E27FC236}">
                <a16:creationId xmlns:a16="http://schemas.microsoft.com/office/drawing/2014/main" id="{A4C73F91-77CF-48C7-A3ED-6B55A67F7677}"/>
              </a:ext>
            </a:extLst>
          </p:cNvPr>
          <p:cNvPicPr>
            <a:picLocks noChangeAspect="1"/>
          </p:cNvPicPr>
          <p:nvPr/>
        </p:nvPicPr>
        <p:blipFill>
          <a:blip r:embed="rId2"/>
          <a:stretch>
            <a:fillRect/>
          </a:stretch>
        </p:blipFill>
        <p:spPr>
          <a:xfrm>
            <a:off x="9412505" y="3645024"/>
            <a:ext cx="2660159" cy="2572074"/>
          </a:xfrm>
          <a:prstGeom prst="rect">
            <a:avLst/>
          </a:prstGeom>
        </p:spPr>
      </p:pic>
      <p:sp>
        <p:nvSpPr>
          <p:cNvPr id="13" name="TextBox 12">
            <a:extLst>
              <a:ext uri="{FF2B5EF4-FFF2-40B4-BE49-F238E27FC236}">
                <a16:creationId xmlns:a16="http://schemas.microsoft.com/office/drawing/2014/main" id="{E9D6D892-30B2-4CE5-A8D8-3A8772135F45}"/>
              </a:ext>
            </a:extLst>
          </p:cNvPr>
          <p:cNvSpPr txBox="1"/>
          <p:nvPr/>
        </p:nvSpPr>
        <p:spPr>
          <a:xfrm>
            <a:off x="7140008" y="3111462"/>
            <a:ext cx="4932656"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LEFT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a:t>
            </a:r>
            <a:r>
              <a:rPr lang="en-IN" dirty="0">
                <a:solidFill>
                  <a:schemeClr val="accent5">
                    <a:lumMod val="75000"/>
                  </a:schemeClr>
                </a:solidFill>
                <a:latin typeface="Liberation Mono"/>
              </a:rPr>
              <a:t>=</a:t>
            </a:r>
            <a:r>
              <a:rPr lang="en-IN" dirty="0"/>
              <a:t> r2.c1;</a:t>
            </a:r>
          </a:p>
        </p:txBody>
      </p:sp>
      <p:sp>
        <p:nvSpPr>
          <p:cNvPr id="6" name="Rectangle 5">
            <a:extLst>
              <a:ext uri="{FF2B5EF4-FFF2-40B4-BE49-F238E27FC236}">
                <a16:creationId xmlns:a16="http://schemas.microsoft.com/office/drawing/2014/main" id="{BC795A87-5D56-4396-9A48-ACD64389955A}"/>
              </a:ext>
            </a:extLst>
          </p:cNvPr>
          <p:cNvSpPr/>
          <p:nvPr/>
        </p:nvSpPr>
        <p:spPr>
          <a:xfrm>
            <a:off x="341368" y="660502"/>
            <a:ext cx="11572956" cy="1323439"/>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 </a:t>
            </a:r>
            <a:r>
              <a:rPr lang="en-IN" sz="2000" dirty="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t>
            </a:r>
            <a:r>
              <a:rPr lang="en-IN" sz="2000" dirty="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SQL left outer join returns all rows in the left table (r1) and all the matching rows found in the right table (r2). It means the result of the SQL left join always contains the rows in the left table. . </a:t>
            </a:r>
            <a:r>
              <a:rPr lang="en-US" sz="2000" b="1" dirty="0">
                <a:solidFill>
                  <a:srgbClr val="222222"/>
                </a:solidFill>
                <a:latin typeface="Palatino Linotype" panose="02040502050505030304" pitchFamily="18" charset="0"/>
                <a:cs typeface="Segoe UI Light" panose="020B0502040204020203" pitchFamily="34" charset="0"/>
              </a:rPr>
              <a:t>If no matching rows found in the right table, NULL are displayed.</a:t>
            </a:r>
          </a:p>
        </p:txBody>
      </p:sp>
      <p:sp>
        <p:nvSpPr>
          <p:cNvPr id="10" name="TextBox 9">
            <a:extLst>
              <a:ext uri="{FF2B5EF4-FFF2-40B4-BE49-F238E27FC236}">
                <a16:creationId xmlns:a16="http://schemas.microsoft.com/office/drawing/2014/main" id="{3D2E0E60-4AD8-8CDE-7F60-1B8966111FB9}"/>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8" name="TextBox 7">
            <a:extLst>
              <a:ext uri="{FF2B5EF4-FFF2-40B4-BE49-F238E27FC236}">
                <a16:creationId xmlns:a16="http://schemas.microsoft.com/office/drawing/2014/main" id="{5E9E71B8-6A28-1F38-3C7D-EECBF5D79E45}"/>
              </a:ext>
            </a:extLst>
          </p:cNvPr>
          <p:cNvSpPr txBox="1"/>
          <p:nvPr/>
        </p:nvSpPr>
        <p:spPr>
          <a:xfrm>
            <a:off x="2999656" y="4032000"/>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LEFT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the right table → returns NULL for those columns.</a:t>
            </a:r>
          </a:p>
        </p:txBody>
      </p:sp>
    </p:spTree>
    <p:extLst>
      <p:ext uri="{BB962C8B-B14F-4D97-AF65-F5344CB8AC3E}">
        <p14:creationId xmlns:p14="http://schemas.microsoft.com/office/powerpoint/2010/main" val="3141619635"/>
      </p:ext>
    </p:extLst>
  </p:cSld>
  <p:clrMapOvr>
    <a:masterClrMapping/>
  </p:clrMapOvr>
</p:sld>
</file>

<file path=ppt/slides/slide6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41368" y="660502"/>
            <a:ext cx="11572956" cy="646331"/>
          </a:xfrm>
          <a:prstGeom prst="rect">
            <a:avLst/>
          </a:prstGeom>
        </p:spPr>
        <p:txBody>
          <a:bodyPr wrap="square">
            <a:spAutoFit/>
          </a:bodyPr>
          <a:lstStyle/>
          <a:p>
            <a:r>
              <a:rPr lang="en-US" dirty="0">
                <a:latin typeface="Palatino Linotype" panose="02040502050505030304" pitchFamily="18" charset="0"/>
              </a:rPr>
              <a:t>The following example the LEFT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LEFT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37" name="Picture 36"/>
          <p:cNvPicPr>
            <a:picLocks noChangeAspect="1"/>
          </p:cNvPicPr>
          <p:nvPr/>
        </p:nvPicPr>
        <p:blipFill>
          <a:blip r:embed="rId2"/>
          <a:stretch>
            <a:fillRect/>
          </a:stretch>
        </p:blipFill>
        <p:spPr>
          <a:xfrm>
            <a:off x="479377" y="1844824"/>
            <a:ext cx="11146566" cy="4238514"/>
          </a:xfrm>
          <a:prstGeom prst="rect">
            <a:avLst/>
          </a:prstGeom>
        </p:spPr>
      </p:pic>
      <p:sp>
        <p:nvSpPr>
          <p:cNvPr id="5" name="Rectangle 4">
            <a:extLst>
              <a:ext uri="{FF2B5EF4-FFF2-40B4-BE49-F238E27FC236}">
                <a16:creationId xmlns:a16="http://schemas.microsoft.com/office/drawing/2014/main" id="{B07C28A0-274B-4077-8FFC-230896B74FE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03472850"/>
      </p:ext>
    </p:extLst>
  </p:cSld>
  <p:clrMapOvr>
    <a:masterClrMapping/>
  </p:clrMapOvr>
</p:sld>
</file>

<file path=ppt/slides/slide6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41" name="Picture 40"/>
          <p:cNvPicPr>
            <a:picLocks noChangeAspect="1"/>
          </p:cNvPicPr>
          <p:nvPr/>
        </p:nvPicPr>
        <p:blipFill>
          <a:blip r:embed="rId2" cstate="print"/>
          <a:stretch>
            <a:fillRect/>
          </a:stretch>
        </p:blipFill>
        <p:spPr>
          <a:xfrm>
            <a:off x="335360" y="3646800"/>
            <a:ext cx="9096996" cy="1695884"/>
          </a:xfrm>
          <a:prstGeom prst="rect">
            <a:avLst/>
          </a:prstGeom>
        </p:spPr>
      </p:pic>
      <p:sp>
        <p:nvSpPr>
          <p:cNvPr id="42" name="Rectangle 41"/>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when there is no match.</a:t>
            </a:r>
          </a:p>
        </p:txBody>
      </p:sp>
      <p:sp>
        <p:nvSpPr>
          <p:cNvPr id="43" name="Rectangle 42"/>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8FF30102-743E-4CB4-A104-F0539F9C2F43}"/>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96AB563-B572-8132-40FC-68EAD1ED94FF}"/>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87879498"/>
      </p:ext>
    </p:extLst>
  </p:cSld>
  <p:clrMapOvr>
    <a:masterClrMapping/>
  </p:clrMapOvr>
</p:sld>
</file>

<file path=ppt/slides/slide6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7A644A2-B1BB-4026-8461-7FFDD5E1D9E8}"/>
              </a:ext>
            </a:extLst>
          </p:cNvPr>
          <p:cNvPicPr>
            <a:picLocks noChangeAspect="1"/>
          </p:cNvPicPr>
          <p:nvPr/>
        </p:nvPicPr>
        <p:blipFill>
          <a:blip r:embed="rId2" cstate="print"/>
          <a:stretch>
            <a:fillRect/>
          </a:stretch>
        </p:blipFill>
        <p:spPr>
          <a:xfrm>
            <a:off x="335360" y="3646800"/>
            <a:ext cx="9105900" cy="1695450"/>
          </a:xfrm>
          <a:prstGeom prst="rect">
            <a:avLst/>
          </a:prstGeom>
        </p:spPr>
      </p:pic>
      <p:sp>
        <p:nvSpPr>
          <p:cNvPr id="3" name="Rectangle 2">
            <a:extLst>
              <a:ext uri="{FF2B5EF4-FFF2-40B4-BE49-F238E27FC236}">
                <a16:creationId xmlns:a16="http://schemas.microsoft.com/office/drawing/2014/main" id="{C4ACD710-03CA-429D-81C4-C5C4C8C6F680}"/>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 </a:t>
            </a:r>
            <a:r>
              <a:rPr lang="en-US" dirty="0">
                <a:solidFill>
                  <a:srgbClr val="0077AA"/>
                </a:solidFill>
                <a:latin typeface="Liberation Mono"/>
              </a:rPr>
              <a:t>WHERE</a:t>
            </a:r>
            <a:r>
              <a:rPr lang="en-US" dirty="0">
                <a:latin typeface="Liberation Mono"/>
                <a:cs typeface="Arial" panose="020B0604020202020204" pitchFamily="34" charset="0"/>
              </a:rPr>
              <a:t> ord.custid </a:t>
            </a:r>
            <a:r>
              <a:rPr lang="en-IN" dirty="0">
                <a:solidFill>
                  <a:schemeClr val="accent4">
                    <a:lumMod val="50000"/>
                  </a:schemeClr>
                </a:solidFill>
                <a:latin typeface="Liberation Mono"/>
                <a:cs typeface="Arial" panose="020B0604020202020204" pitchFamily="34" charset="0"/>
              </a:rPr>
              <a:t>IS 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80B9F25-B6BF-41A5-B359-427E058F3639}"/>
              </a:ext>
            </a:extLst>
          </p:cNvPr>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9" name="Rectangle 8">
            <a:extLst>
              <a:ext uri="{FF2B5EF4-FFF2-40B4-BE49-F238E27FC236}">
                <a16:creationId xmlns:a16="http://schemas.microsoft.com/office/drawing/2014/main" id="{FAE3077F-EFB6-45B6-8B1B-ADA5148EE1BC}"/>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
        <p:nvSpPr>
          <p:cNvPr id="10" name="TextBox 9">
            <a:extLst>
              <a:ext uri="{FF2B5EF4-FFF2-40B4-BE49-F238E27FC236}">
                <a16:creationId xmlns:a16="http://schemas.microsoft.com/office/drawing/2014/main" id="{7D71B02A-C974-D4B7-6111-5B73F44797B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33210040"/>
      </p:ext>
    </p:extLst>
  </p:cSld>
  <p:clrMapOvr>
    <a:masterClrMapping/>
  </p:clrMapOvr>
</p:sld>
</file>

<file path=ppt/slides/slide6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60294-6F55-1405-D224-CB0CDD589629}"/>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3F85A41-3425-DE1B-ABAC-1D0E99756684}"/>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C2F767A-77FB-5D57-EBF2-E0585B0F5F2A}"/>
              </a:ext>
            </a:extLst>
          </p:cNvPr>
          <p:cNvGraphicFramePr>
            <a:graphicFrameLocks noGrp="1"/>
          </p:cNvGraphicFramePr>
          <p:nvPr/>
        </p:nvGraphicFramePr>
        <p:xfrm>
          <a:off x="119337"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125001D-A590-0DCD-AE0B-BBE1D6A795C6}"/>
              </a:ext>
            </a:extLst>
          </p:cNvPr>
          <p:cNvSpPr txBox="1"/>
          <p:nvPr/>
        </p:nvSpPr>
        <p:spPr>
          <a:xfrm>
            <a:off x="119336"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F23DC2DF-EAA8-205B-4B5D-AB7BC0DF35ED}"/>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21DDA030-5675-DC53-2EE1-F68826F841F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graphicFrame>
        <p:nvGraphicFramePr>
          <p:cNvPr id="12" name="Table 2">
            <a:extLst>
              <a:ext uri="{FF2B5EF4-FFF2-40B4-BE49-F238E27FC236}">
                <a16:creationId xmlns:a16="http://schemas.microsoft.com/office/drawing/2014/main" id="{043AE416-2618-8F06-4E21-004A15444197}"/>
              </a:ext>
            </a:extLst>
          </p:cNvPr>
          <p:cNvGraphicFramePr>
            <a:graphicFrameLocks noGrp="1"/>
          </p:cNvGraphicFramePr>
          <p:nvPr/>
        </p:nvGraphicFramePr>
        <p:xfrm>
          <a:off x="3810000"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15" name="TextBox 14">
            <a:extLst>
              <a:ext uri="{FF2B5EF4-FFF2-40B4-BE49-F238E27FC236}">
                <a16:creationId xmlns:a16="http://schemas.microsoft.com/office/drawing/2014/main" id="{FE4EEE5B-CFCD-8B1D-EA60-A26267CB4B71}"/>
              </a:ext>
            </a:extLst>
          </p:cNvPr>
          <p:cNvSpPr txBox="1"/>
          <p:nvPr/>
        </p:nvSpPr>
        <p:spPr>
          <a:xfrm>
            <a:off x="3809999"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B56DB41C-A035-EB74-7261-7672CC71AC44}"/>
              </a:ext>
            </a:extLst>
          </p:cNvPr>
          <p:cNvSpPr txBox="1"/>
          <p:nvPr/>
        </p:nvSpPr>
        <p:spPr>
          <a:xfrm>
            <a:off x="244702" y="4869160"/>
            <a:ext cx="1168394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 </a:t>
            </a:r>
            <a:r>
              <a:rPr lang="en-US" dirty="0">
                <a:solidFill>
                  <a:srgbClr val="DD4A68"/>
                </a:solidFill>
                <a:latin typeface="Liberation Mono"/>
              </a:rPr>
              <a:t>COUNT</a:t>
            </a:r>
            <a:r>
              <a:rPr lang="en-US" dirty="0">
                <a:latin typeface="Liberation Mono"/>
              </a:rPr>
              <a:t>(</a:t>
            </a:r>
            <a:r>
              <a:rPr lang="en-US" i="1" dirty="0">
                <a:solidFill>
                  <a:schemeClr val="bg1">
                    <a:lumMod val="50000"/>
                  </a:schemeClr>
                </a:solidFill>
                <a:latin typeface="Liberation Mono"/>
              </a:rPr>
              <a:t>r</a:t>
            </a:r>
            <a:r>
              <a:rPr lang="en-US" dirty="0">
                <a:latin typeface="Liberation Mono"/>
              </a:rPr>
              <a:t>.reservationID) </a:t>
            </a:r>
            <a:r>
              <a:rPr lang="en-US" i="1" dirty="0">
                <a:solidFill>
                  <a:schemeClr val="bg1">
                    <a:lumMod val="50000"/>
                  </a:schemeClr>
                </a:solidFill>
                <a:latin typeface="Liberation Mono"/>
              </a:rPr>
              <a:t>total_reservations </a:t>
            </a:r>
            <a:r>
              <a:rPr lang="en-US" dirty="0">
                <a:solidFill>
                  <a:srgbClr val="0077AA"/>
                </a:solidFill>
                <a:latin typeface="Liberation Mono"/>
              </a:rPr>
              <a:t>FROM</a:t>
            </a:r>
            <a:r>
              <a:rPr lang="en-US" dirty="0">
                <a:latin typeface="Liberation Mono"/>
              </a:rPr>
              <a:t> trains </a:t>
            </a:r>
            <a:r>
              <a:rPr lang="en-US" i="1" dirty="0">
                <a:solidFill>
                  <a:schemeClr val="bg1">
                    <a:lumMod val="50000"/>
                  </a:schemeClr>
                </a:solidFill>
                <a:latin typeface="Liberation Mono"/>
              </a:rPr>
              <a:t>t</a:t>
            </a:r>
            <a:r>
              <a:rPr lang="en-US"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i="1" dirty="0">
                <a:solidFill>
                  <a:schemeClr val="bg1">
                    <a:lumMod val="50000"/>
                  </a:schemeClr>
                </a:solidFill>
                <a:latin typeface="Liberation Mono"/>
              </a:rPr>
              <a:t>r</a:t>
            </a:r>
            <a:r>
              <a:rPr lang="en-US" dirty="0">
                <a:latin typeface="Liberation Mono"/>
              </a:rPr>
              <a:t> </a:t>
            </a:r>
            <a:r>
              <a:rPr lang="en-IN" dirty="0">
                <a:solidFill>
                  <a:srgbClr val="DD4A68"/>
                </a:solidFill>
                <a:latin typeface="Liberation Mono"/>
              </a:rPr>
              <a:t>ON</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.trainID = </a:t>
            </a:r>
            <a:r>
              <a:rPr lang="en-US" i="1" dirty="0">
                <a:solidFill>
                  <a:schemeClr val="bg1">
                    <a:lumMod val="50000"/>
                  </a:schemeClr>
                </a:solidFill>
                <a:latin typeface="Liberation Mono"/>
              </a:rPr>
              <a:t>r</a:t>
            </a:r>
            <a:r>
              <a:rPr lang="en-US" dirty="0">
                <a:latin typeface="Liberation Mono"/>
              </a:rPr>
              <a:t>.trainID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a:t>
            </a:r>
            <a:endParaRPr lang="en-IN" dirty="0">
              <a:latin typeface="Liberation Mono"/>
            </a:endParaRPr>
          </a:p>
        </p:txBody>
      </p:sp>
      <p:sp>
        <p:nvSpPr>
          <p:cNvPr id="5" name="Rectangle 4">
            <a:extLst>
              <a:ext uri="{FF2B5EF4-FFF2-40B4-BE49-F238E27FC236}">
                <a16:creationId xmlns:a16="http://schemas.microsoft.com/office/drawing/2014/main" id="{C4EA44A8-FE06-5277-952F-0F5F86D38D6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BE817662-C7F9-EB68-6FD4-67A3CE57F059}"/>
              </a:ext>
            </a:extLst>
          </p:cNvPr>
          <p:cNvSpPr txBox="1"/>
          <p:nvPr/>
        </p:nvSpPr>
        <p:spPr>
          <a:xfrm>
            <a:off x="8616278" y="1558826"/>
            <a:ext cx="3575721" cy="2308324"/>
          </a:xfrm>
          <a:prstGeom prst="rect">
            <a:avLst/>
          </a:prstGeom>
          <a:noFill/>
        </p:spPr>
        <p:txBody>
          <a:bodyPr wrap="square">
            <a:spAutoFit/>
          </a:bodyPr>
          <a:lstStyle/>
          <a:p>
            <a:pPr marL="342900" indent="-342900">
              <a:buFont typeface="+mj-lt"/>
              <a:buAutoNum type="arabicPeriod"/>
            </a:pPr>
            <a:r>
              <a:rPr lang="en-US" dirty="0">
                <a:latin typeface="Arial" panose="020B0604020202020204" pitchFamily="34" charset="0"/>
                <a:cs typeface="Arial" panose="020B0604020202020204" pitchFamily="34" charset="0"/>
              </a:rPr>
              <a:t>Find reservations with invalid trainIDs</a:t>
            </a:r>
          </a:p>
          <a:p>
            <a:pPr marL="342900" indent="-342900">
              <a:buFont typeface="+mj-lt"/>
              <a:buAutoNum type="arabicPeriod"/>
            </a:pPr>
            <a:r>
              <a:rPr lang="en-US" dirty="0">
                <a:latin typeface="Arial" panose="020B0604020202020204" pitchFamily="34" charset="0"/>
                <a:cs typeface="Arial" panose="020B0604020202020204" pitchFamily="34" charset="0"/>
              </a:rPr>
              <a:t>List all trains along with the passenger names (if any).</a:t>
            </a:r>
          </a:p>
          <a:p>
            <a:pPr marL="342900" indent="-342900">
              <a:buFont typeface="+mj-lt"/>
              <a:buAutoNum type="arabicPeriod"/>
            </a:pPr>
            <a:r>
              <a:rPr lang="en-US" dirty="0"/>
              <a:t>Find trains that currently have no reservations.</a:t>
            </a:r>
          </a:p>
          <a:p>
            <a:pPr marL="342900" indent="-342900">
              <a:buFont typeface="+mj-lt"/>
              <a:buAutoNum type="arabicPeriod"/>
            </a:pPr>
            <a:r>
              <a:rPr lang="en-US" dirty="0"/>
              <a:t>Show each train with the count of reservations including 0.</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59635093"/>
      </p:ext>
    </p:extLst>
  </p:cSld>
  <p:clrMapOvr>
    <a:masterClrMapping/>
  </p:clrMapOvr>
</p:sld>
</file>

<file path=ppt/slides/slide6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71F3E-F657-C956-2DB3-9266EAA20070}"/>
            </a:ext>
          </a:extLst>
        </p:cNvPr>
        <p:cNvGrpSpPr/>
        <p:nvPr/>
      </p:nvGrpSpPr>
      <p:grpSpPr>
        <a:xfrm>
          <a:off x="0" y="0"/>
          <a:ext cx="0" cy="0"/>
          <a:chOff x="0" y="0"/>
          <a:chExt cx="0" cy="0"/>
        </a:xfrm>
      </p:grpSpPr>
      <p:sp>
        <p:nvSpPr>
          <p:cNvPr id="13" name="Rectangle 12">
            <a:extLst>
              <a:ext uri="{FF2B5EF4-FFF2-40B4-BE49-F238E27FC236}">
                <a16:creationId xmlns:a16="http://schemas.microsoft.com/office/drawing/2014/main" id="{34B3728F-41C5-7BE1-4012-4E371EE4DEFA}"/>
              </a:ext>
            </a:extLst>
          </p:cNvPr>
          <p:cNvSpPr/>
          <p:nvPr/>
        </p:nvSpPr>
        <p:spPr>
          <a:xfrm>
            <a:off x="155340" y="191857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o.custid;</a:t>
            </a:r>
          </a:p>
        </p:txBody>
      </p:sp>
      <p:sp>
        <p:nvSpPr>
          <p:cNvPr id="8" name="Rectangle 7">
            <a:extLst>
              <a:ext uri="{FF2B5EF4-FFF2-40B4-BE49-F238E27FC236}">
                <a16:creationId xmlns:a16="http://schemas.microsoft.com/office/drawing/2014/main" id="{234DC9F4-AAC9-5E7B-16B3-B80E95CBA5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882766A8-93CB-048E-AE05-AF90923E1426}"/>
              </a:ext>
            </a:extLst>
          </p:cNvPr>
          <p:cNvSpPr/>
          <p:nvPr/>
        </p:nvSpPr>
        <p:spPr>
          <a:xfrm>
            <a:off x="155340" y="299869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c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27EC310E-8ED6-8AD1-81C8-6341A80272B1}"/>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sp>
        <p:nvSpPr>
          <p:cNvPr id="3" name="TextBox 2">
            <a:extLst>
              <a:ext uri="{FF2B5EF4-FFF2-40B4-BE49-F238E27FC236}">
                <a16:creationId xmlns:a16="http://schemas.microsoft.com/office/drawing/2014/main" id="{11A90679-8E8D-1AC6-6C94-2011CD5178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cxnSp>
        <p:nvCxnSpPr>
          <p:cNvPr id="5" name="Straight Connector 4">
            <a:extLst>
              <a:ext uri="{FF2B5EF4-FFF2-40B4-BE49-F238E27FC236}">
                <a16:creationId xmlns:a16="http://schemas.microsoft.com/office/drawing/2014/main" id="{7FC10DFC-CE23-1287-3C06-0C7F2DFC6C70}"/>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11576070"/>
      </p:ext>
    </p:extLst>
  </p:cSld>
  <p:clrMapOvr>
    <a:masterClrMapping/>
  </p:clrMapOvr>
</p:sld>
</file>

<file path=ppt/slides/slide6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44760" y="2023647"/>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11" name="Rectangle 10"/>
          <p:cNvSpPr/>
          <p:nvPr/>
        </p:nvSpPr>
        <p:spPr>
          <a:xfrm>
            <a:off x="344760" y="2628089"/>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cs typeface="Arial" panose="020B0604020202020204" pitchFamily="34" charset="0"/>
              </a:rPr>
              <a:t>USING</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12" name="Rectangle 11"/>
          <p:cNvSpPr/>
          <p:nvPr/>
        </p:nvSpPr>
        <p:spPr>
          <a:xfrm>
            <a:off x="338403" y="47251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3" name="Rectangle 12"/>
          <p:cNvSpPr/>
          <p:nvPr/>
        </p:nvSpPr>
        <p:spPr>
          <a:xfrm>
            <a:off x="344760" y="4034134"/>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i="1" baseline="-25000" dirty="0">
                <a:latin typeface="Liberation Mono"/>
                <a:cs typeface="Arial" panose="020B0604020202020204" pitchFamily="34" charset="0"/>
              </a:rPr>
              <a:t>1</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2</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3</a:t>
            </a:r>
            <a:r>
              <a:rPr lang="en-US" sz="2000" i="1" dirty="0">
                <a:latin typeface="Liberation Mono"/>
                <a:cs typeface="Arial" panose="020B0604020202020204" pitchFamily="34" charset="0"/>
              </a:rPr>
              <a:t>, . . .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11D2DCD7-50C4-179A-6929-6A9B28A2BD97}"/>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Tree>
    <p:extLst>
      <p:ext uri="{BB962C8B-B14F-4D97-AF65-F5344CB8AC3E}">
        <p14:creationId xmlns:p14="http://schemas.microsoft.com/office/powerpoint/2010/main" val="3416029874"/>
      </p:ext>
    </p:extLst>
  </p:cSld>
  <p:clrMapOvr>
    <a:masterClrMapping/>
  </p:clrMapOvr>
</p:sld>
</file>

<file path=ppt/slides/slide6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BE3134D-E097-43AB-AEA6-E14AB0B0B632}"/>
              </a:ext>
            </a:extLst>
          </p:cNvPr>
          <p:cNvSpPr/>
          <p:nvPr/>
        </p:nvSpPr>
        <p:spPr>
          <a:xfrm>
            <a:off x="47328" y="2722855"/>
            <a:ext cx="6480720"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right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(1, 1, c), </a:t>
            </a:r>
          </a:p>
          <a:p>
            <a:r>
              <a:rPr lang="en-US" sz="2400" dirty="0">
                <a:solidFill>
                  <a:srgbClr val="006C86"/>
                </a:solidFill>
                <a:latin typeface="Liberation Mono"/>
              </a:rPr>
              <a:t>        (1, 1, f), </a:t>
            </a:r>
          </a:p>
          <a:p>
            <a:r>
              <a:rPr lang="en-US" sz="2400" dirty="0">
                <a:solidFill>
                  <a:srgbClr val="006C86"/>
                </a:solidFill>
                <a:latin typeface="Liberation Mono"/>
              </a:rPr>
              <a:t>        (2, 2, b), </a:t>
            </a:r>
          </a:p>
          <a:p>
            <a:r>
              <a:rPr lang="en-US" sz="2400" dirty="0">
                <a:solidFill>
                  <a:srgbClr val="006C86"/>
                </a:solidFill>
                <a:latin typeface="Liberation Mono"/>
              </a:rPr>
              <a:t>        (2, 2, e), </a:t>
            </a:r>
          </a:p>
          <a:p>
            <a:r>
              <a:rPr lang="en-US" sz="2400" dirty="0">
                <a:solidFill>
                  <a:srgbClr val="006C86"/>
                </a:solidFill>
                <a:latin typeface="Liberation Mono"/>
              </a:rPr>
              <a:t>        (3, 3, d),</a:t>
            </a:r>
          </a:p>
          <a:p>
            <a:r>
              <a:rPr lang="en-US" sz="2400" dirty="0">
                <a:solidFill>
                  <a:srgbClr val="006C86"/>
                </a:solidFill>
                <a:latin typeface="Liberation Mono"/>
              </a:rPr>
              <a:t>        (NULL, 5, z)}</a:t>
            </a:r>
          </a:p>
        </p:txBody>
      </p:sp>
      <p:pic>
        <p:nvPicPr>
          <p:cNvPr id="7" name="Picture 6">
            <a:extLst>
              <a:ext uri="{FF2B5EF4-FFF2-40B4-BE49-F238E27FC236}">
                <a16:creationId xmlns:a16="http://schemas.microsoft.com/office/drawing/2014/main" id="{469EF520-3DC1-4FF0-9712-B0853E5FCFE3}"/>
              </a:ext>
            </a:extLst>
          </p:cNvPr>
          <p:cNvPicPr>
            <a:picLocks noChangeAspect="1"/>
          </p:cNvPicPr>
          <p:nvPr/>
        </p:nvPicPr>
        <p:blipFill>
          <a:blip r:embed="rId2"/>
          <a:stretch>
            <a:fillRect/>
          </a:stretch>
        </p:blipFill>
        <p:spPr>
          <a:xfrm>
            <a:off x="9412264" y="3646800"/>
            <a:ext cx="2660400" cy="2606473"/>
          </a:xfrm>
          <a:prstGeom prst="rect">
            <a:avLst/>
          </a:prstGeom>
        </p:spPr>
      </p:pic>
      <p:sp>
        <p:nvSpPr>
          <p:cNvPr id="8" name="TextBox 7">
            <a:extLst>
              <a:ext uri="{FF2B5EF4-FFF2-40B4-BE49-F238E27FC236}">
                <a16:creationId xmlns:a16="http://schemas.microsoft.com/office/drawing/2014/main" id="{1C5DB0CE-0065-49B8-A7A9-F391D9D9E0DC}"/>
              </a:ext>
            </a:extLst>
          </p:cNvPr>
          <p:cNvSpPr txBox="1"/>
          <p:nvPr/>
        </p:nvSpPr>
        <p:spPr>
          <a:xfrm>
            <a:off x="7176120" y="2915652"/>
            <a:ext cx="5015880"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RIGHT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 r2.c1;</a:t>
            </a:r>
          </a:p>
        </p:txBody>
      </p:sp>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92333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a:t>
            </a:r>
            <a:r>
              <a:rPr lang="en-US" sz="2000">
                <a:solidFill>
                  <a:srgbClr val="222222"/>
                </a:solidFill>
                <a:latin typeface="Palatino Linotype" panose="02040502050505030304" pitchFamily="18" charset="0"/>
                <a:cs typeface="Segoe UI Light" panose="020B0502040204020203" pitchFamily="34" charset="0"/>
              </a:rPr>
              <a:t>: </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t>
            </a:r>
            <a:r>
              <a:rPr lang="en-US" sz="2000">
                <a:solidFill>
                  <a:srgbClr val="222222"/>
                </a:solidFill>
                <a:latin typeface="Palatino Linotype" panose="02040502050505030304" pitchFamily="18" charset="0"/>
                <a:cs typeface="Segoe UI Light" panose="020B0502040204020203" pitchFamily="34" charset="0"/>
              </a:rPr>
              <a:t>and </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Right outer join returns all rows in the right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all the matching rows found in the left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It means the result of the SQL right join always contains the rows in the right table. </a:t>
            </a:r>
            <a:r>
              <a:rPr lang="en-US" sz="2000">
                <a:solidFill>
                  <a:srgbClr val="222222"/>
                </a:solidFill>
                <a:latin typeface="Palatino Linotype" panose="02040502050505030304" pitchFamily="18" charset="0"/>
                <a:cs typeface="Segoe UI Light" panose="020B0502040204020203" pitchFamily="34" charset="0"/>
              </a:rPr>
              <a:t>. </a:t>
            </a:r>
            <a:r>
              <a:rPr lang="en-US" sz="2000" dirty="0">
                <a:solidFill>
                  <a:srgbClr val="222222"/>
                </a:solidFill>
                <a:latin typeface="Palatino Linotype" panose="02040502050505030304" pitchFamily="18" charset="0"/>
                <a:cs typeface="Segoe UI Light" panose="020B0502040204020203" pitchFamily="34" charset="0"/>
              </a:rPr>
              <a:t>If no matching rows found in the left table, NULL are displayed.</a:t>
            </a:r>
          </a:p>
        </p:txBody>
      </p:sp>
      <p:sp>
        <p:nvSpPr>
          <p:cNvPr id="10" name="Title 1">
            <a:extLst>
              <a:ext uri="{FF2B5EF4-FFF2-40B4-BE49-F238E27FC236}">
                <a16:creationId xmlns:a16="http://schemas.microsoft.com/office/drawing/2014/main" id="{683831CB-B943-4460-B894-EE48D9B13A7F}"/>
              </a:ext>
            </a:extLst>
          </p:cNvPr>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right outer joins</a:t>
            </a:r>
          </a:p>
        </p:txBody>
      </p:sp>
      <p:sp>
        <p:nvSpPr>
          <p:cNvPr id="4" name="TextBox 3">
            <a:extLst>
              <a:ext uri="{FF2B5EF4-FFF2-40B4-BE49-F238E27FC236}">
                <a16:creationId xmlns:a16="http://schemas.microsoft.com/office/drawing/2014/main" id="{FCF5F221-E8C8-52F6-3C7A-F59284C17234}"/>
              </a:ext>
            </a:extLst>
          </p:cNvPr>
          <p:cNvSpPr txBox="1"/>
          <p:nvPr/>
        </p:nvSpPr>
        <p:spPr>
          <a:xfrm>
            <a:off x="8571384" y="1942378"/>
            <a:ext cx="1944216"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2" name="TextBox 1">
            <a:extLst>
              <a:ext uri="{FF2B5EF4-FFF2-40B4-BE49-F238E27FC236}">
                <a16:creationId xmlns:a16="http://schemas.microsoft.com/office/drawing/2014/main" id="{D9D66000-3585-BDDE-D8C7-3BBB3F3DBFEC}"/>
              </a:ext>
            </a:extLst>
          </p:cNvPr>
          <p:cNvSpPr txBox="1"/>
          <p:nvPr/>
        </p:nvSpPr>
        <p:spPr>
          <a:xfrm>
            <a:off x="2999656" y="4030032"/>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RIGHT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a:t>
            </a:r>
            <a:r>
              <a:rPr lang="en-IN">
                <a:solidFill>
                  <a:srgbClr val="B212AA"/>
                </a:solidFill>
                <a:latin typeface="Palatino Linotype" panose="02040502050505030304" pitchFamily="18" charset="0"/>
              </a:rPr>
              <a:t>the left </a:t>
            </a:r>
            <a:r>
              <a:rPr lang="en-IN" dirty="0">
                <a:solidFill>
                  <a:srgbClr val="B212AA"/>
                </a:solidFill>
                <a:latin typeface="Palatino Linotype" panose="02040502050505030304" pitchFamily="18" charset="0"/>
              </a:rPr>
              <a:t>table → returns NULL for those columns.</a:t>
            </a:r>
          </a:p>
        </p:txBody>
      </p:sp>
    </p:spTree>
    <p:extLst>
      <p:ext uri="{BB962C8B-B14F-4D97-AF65-F5344CB8AC3E}">
        <p14:creationId xmlns:p14="http://schemas.microsoft.com/office/powerpoint/2010/main" val="3648306333"/>
      </p:ext>
    </p:extLst>
  </p:cSld>
  <p:clrMapOvr>
    <a:masterClrMapping/>
  </p:clrMapOvr>
</p:sld>
</file>

<file path=ppt/slides/slide6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09522" y="664230"/>
            <a:ext cx="11572956" cy="646331"/>
          </a:xfrm>
          <a:prstGeom prst="rect">
            <a:avLst/>
          </a:prstGeom>
        </p:spPr>
        <p:txBody>
          <a:bodyPr wrap="square">
            <a:spAutoFit/>
          </a:bodyPr>
          <a:lstStyle/>
          <a:p>
            <a:r>
              <a:rPr lang="en-US" dirty="0">
                <a:latin typeface="Palatino Linotype" panose="02040502050505030304" pitchFamily="18" charset="0"/>
              </a:rPr>
              <a:t>The following example the RIGHT OUTER JOIN of two tables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(AC-1, AC-2, AC-3, AC-4, AC-5) and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(C-1, C-2, C-3, C-4). The RIGHT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7" name="Picture 2"/>
          <p:cNvPicPr>
            <a:picLocks noChangeAspect="1" noChangeArrowheads="1"/>
          </p:cNvPicPr>
          <p:nvPr/>
        </p:nvPicPr>
        <p:blipFill>
          <a:blip r:embed="rId2"/>
          <a:srcRect/>
          <a:stretch>
            <a:fillRect/>
          </a:stretch>
        </p:blipFill>
        <p:spPr bwMode="auto">
          <a:xfrm>
            <a:off x="478800" y="1846800"/>
            <a:ext cx="11145600" cy="4454795"/>
          </a:xfrm>
          <a:prstGeom prst="rect">
            <a:avLst/>
          </a:prstGeom>
          <a:noFill/>
          <a:ln w="9525">
            <a:noFill/>
            <a:miter lim="800000"/>
            <a:headEnd/>
            <a:tailEnd/>
          </a:ln>
          <a:effectLst/>
        </p:spPr>
      </p:pic>
      <p:sp>
        <p:nvSpPr>
          <p:cNvPr id="5" name="Rectangle 4">
            <a:extLst>
              <a:ext uri="{FF2B5EF4-FFF2-40B4-BE49-F238E27FC236}">
                <a16:creationId xmlns:a16="http://schemas.microsoft.com/office/drawing/2014/main" id="{B29647FC-DAFD-4532-A200-252D30B5D24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156711724"/>
      </p:ext>
    </p:extLst>
  </p:cSld>
  <p:clrMapOvr>
    <a:masterClrMapping/>
  </p:clrMapOvr>
</p:sld>
</file>

<file path=ppt/slides/slide6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32" name="Picture 31"/>
          <p:cNvPicPr>
            <a:picLocks noChangeAspect="1"/>
          </p:cNvPicPr>
          <p:nvPr/>
        </p:nvPicPr>
        <p:blipFill>
          <a:blip r:embed="rId2" cstate="print"/>
          <a:stretch>
            <a:fillRect/>
          </a:stretch>
        </p:blipFill>
        <p:spPr>
          <a:xfrm>
            <a:off x="334800" y="3646800"/>
            <a:ext cx="9067800" cy="1714500"/>
          </a:xfrm>
          <a:prstGeom prst="rect">
            <a:avLst/>
          </a:prstGeom>
        </p:spPr>
      </p:pic>
      <p:sp>
        <p:nvSpPr>
          <p:cNvPr id="34" name="Rectangle 33"/>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35" name="Rectangle 34"/>
          <p:cNvSpPr/>
          <p:nvPr/>
        </p:nvSpPr>
        <p:spPr>
          <a:xfrm>
            <a:off x="335360" y="1923872"/>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D4B8948A-1A80-488F-80A5-5B7C9F568034}"/>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p>
        </p:txBody>
      </p:sp>
      <p:sp>
        <p:nvSpPr>
          <p:cNvPr id="5" name="TextBox 4">
            <a:extLst>
              <a:ext uri="{FF2B5EF4-FFF2-40B4-BE49-F238E27FC236}">
                <a16:creationId xmlns:a16="http://schemas.microsoft.com/office/drawing/2014/main" id="{ED0200E0-6271-CB20-2D3B-FB2C3F582ED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78147692"/>
      </p:ext>
    </p:extLst>
  </p:cSld>
  <p:clrMapOvr>
    <a:masterClrMapping/>
  </p:clrMapOvr>
</p:sld>
</file>

<file path=ppt/slides/slide6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8B0FA429-A0FA-4AD7-B897-C26B76C0A0BA}"/>
              </a:ext>
            </a:extLst>
          </p:cNvPr>
          <p:cNvPicPr>
            <a:picLocks noChangeAspect="1"/>
          </p:cNvPicPr>
          <p:nvPr/>
        </p:nvPicPr>
        <p:blipFill>
          <a:blip r:embed="rId2" cstate="print"/>
          <a:stretch>
            <a:fillRect/>
          </a:stretch>
        </p:blipFill>
        <p:spPr>
          <a:xfrm>
            <a:off x="335360" y="3645024"/>
            <a:ext cx="9067800" cy="1714500"/>
          </a:xfrm>
          <a:prstGeom prst="rect">
            <a:avLst/>
          </a:prstGeom>
        </p:spPr>
      </p:pic>
      <p:sp>
        <p:nvSpPr>
          <p:cNvPr id="9" name="Rectangle 8">
            <a:extLst>
              <a:ext uri="{FF2B5EF4-FFF2-40B4-BE49-F238E27FC236}">
                <a16:creationId xmlns:a16="http://schemas.microsoft.com/office/drawing/2014/main" id="{30F5D219-9CA0-4326-A7C6-36BC0E83486F}"/>
              </a:ext>
            </a:extLst>
          </p:cNvPr>
          <p:cNvSpPr/>
          <p:nvPr/>
        </p:nvSpPr>
        <p:spPr>
          <a:xfrm>
            <a:off x="335360" y="1923872"/>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10" name="Rectangle 9">
            <a:extLst>
              <a:ext uri="{FF2B5EF4-FFF2-40B4-BE49-F238E27FC236}">
                <a16:creationId xmlns:a16="http://schemas.microsoft.com/office/drawing/2014/main" id="{35CDA203-51E7-4DF7-B958-D2E078668F65}"/>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r>
              <a:rPr lang="en-IN" sz="1800" dirty="0">
                <a:latin typeface="Liberation Mono"/>
                <a:cs typeface="Arial" panose="020B0604020202020204" pitchFamily="34" charset="0"/>
              </a:rPr>
              <a:t>  </a:t>
            </a:r>
            <a:r>
              <a:rPr lang="en-IN" dirty="0">
                <a:solidFill>
                  <a:srgbClr val="0077AA"/>
                </a:solidFill>
                <a:latin typeface="Liberation Mono"/>
              </a:rPr>
              <a:t>WHERE</a:t>
            </a:r>
            <a:r>
              <a:rPr lang="en-IN" sz="1800" dirty="0">
                <a:latin typeface="Liberation Mono"/>
                <a:cs typeface="Arial" panose="020B0604020202020204" pitchFamily="34" charset="0"/>
              </a:rPr>
              <a:t> </a:t>
            </a:r>
            <a:r>
              <a:rPr lang="en-US" dirty="0">
                <a:latin typeface="Liberation Mono"/>
                <a:cs typeface="Arial" panose="020B0604020202020204" pitchFamily="34" charset="0"/>
              </a:rPr>
              <a:t>ordid </a:t>
            </a:r>
            <a:r>
              <a:rPr lang="en-IN" dirty="0">
                <a:solidFill>
                  <a:schemeClr val="accent4">
                    <a:lumMod val="50000"/>
                  </a:schemeClr>
                </a:solidFill>
                <a:latin typeface="Liberation Mono"/>
                <a:cs typeface="Arial" panose="020B0604020202020204" pitchFamily="34" charset="0"/>
              </a:rPr>
              <a:t>IS</a:t>
            </a:r>
            <a:r>
              <a:rPr lang="en-IN" sz="1800"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sz="1800"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D48C5A04-6A21-0D08-4897-18FDE3C77B9E}"/>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7" name="TextBox 6">
            <a:extLst>
              <a:ext uri="{FF2B5EF4-FFF2-40B4-BE49-F238E27FC236}">
                <a16:creationId xmlns:a16="http://schemas.microsoft.com/office/drawing/2014/main" id="{B1A3E3DB-02FB-9623-B987-F31775FB362A}"/>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90088721"/>
      </p:ext>
    </p:extLst>
  </p:cSld>
  <p:clrMapOvr>
    <a:masterClrMapping/>
  </p:clrMapOvr>
</p:sld>
</file>

<file path=ppt/slides/slide6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ED781-3055-9710-5E64-E4A8A8A3160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5284D00-5D5E-78F4-E2B7-BD77147867F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C6354E3-99F8-71AC-0BC4-0112B3E4063F}"/>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8110BAC-C078-F559-696F-9AB83B39E05F}"/>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51EE609-CCE2-6CAB-C5CC-37DED27D0EC9}"/>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C8BE5423-7848-B65C-F5C4-6C7073A8D0A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BB408680-EAC7-4F96-3BD4-CFFF984CC0B7}"/>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F5A139CE-4122-AB93-1832-75BC6FE36CA8}"/>
              </a:ext>
            </a:extLst>
          </p:cNvPr>
          <p:cNvSpPr txBox="1"/>
          <p:nvPr/>
        </p:nvSpPr>
        <p:spPr>
          <a:xfrm>
            <a:off x="244702" y="4976008"/>
            <a:ext cx="11683945"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graphicFrame>
        <p:nvGraphicFramePr>
          <p:cNvPr id="5" name="Table 2">
            <a:extLst>
              <a:ext uri="{FF2B5EF4-FFF2-40B4-BE49-F238E27FC236}">
                <a16:creationId xmlns:a16="http://schemas.microsoft.com/office/drawing/2014/main" id="{A80E5BCC-3090-4C8F-5FF1-0A150CACAE53}"/>
              </a:ext>
            </a:extLst>
          </p:cNvPr>
          <p:cNvGraphicFramePr>
            <a:graphicFrameLocks noGrp="1"/>
          </p:cNvGraphicFramePr>
          <p:nvPr>
            <p:extLst>
              <p:ext uri="{D42A27DB-BD31-4B8C-83A1-F6EECF244321}">
                <p14:modId xmlns:p14="http://schemas.microsoft.com/office/powerpoint/2010/main" val="3925875205"/>
              </p:ext>
            </p:extLst>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6" name="Rectangle 5">
            <a:extLst>
              <a:ext uri="{FF2B5EF4-FFF2-40B4-BE49-F238E27FC236}">
                <a16:creationId xmlns:a16="http://schemas.microsoft.com/office/drawing/2014/main" id="{7E70508D-BD7A-690A-EF26-6C9CBAABF3E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6979447"/>
      </p:ext>
    </p:extLst>
  </p:cSld>
  <p:clrMapOvr>
    <a:masterClrMapping/>
  </p:clrMapOvr>
</p:sld>
</file>

<file path=ppt/slides/slide6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3E1428-C944-B42E-1410-D61DCC9E41BE}"/>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72F6F36C-BEE2-A26D-D26C-CCEB0F99D68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D834232-475B-40C5-AE4E-A58E5A3948C0}"/>
              </a:ext>
            </a:extLst>
          </p:cNvPr>
          <p:cNvSpPr/>
          <p:nvPr/>
        </p:nvSpPr>
        <p:spPr>
          <a:xfrm>
            <a:off x="155340" y="191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a:t>
            </a:r>
          </a:p>
        </p:txBody>
      </p:sp>
      <p:sp>
        <p:nvSpPr>
          <p:cNvPr id="10" name="Rectangle 9">
            <a:extLst>
              <a:ext uri="{FF2B5EF4-FFF2-40B4-BE49-F238E27FC236}">
                <a16:creationId xmlns:a16="http://schemas.microsoft.com/office/drawing/2014/main" id="{2E1A8068-275B-FD9A-929C-D81FDE348D84}"/>
              </a:ext>
            </a:extLst>
          </p:cNvPr>
          <p:cNvSpPr/>
          <p:nvPr/>
        </p:nvSpPr>
        <p:spPr>
          <a:xfrm>
            <a:off x="155340" y="299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TextBox 1">
            <a:extLst>
              <a:ext uri="{FF2B5EF4-FFF2-40B4-BE49-F238E27FC236}">
                <a16:creationId xmlns:a16="http://schemas.microsoft.com/office/drawing/2014/main" id="{AD363F52-1214-AD5F-19B0-DF9E97EDDB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48912B0-70C3-8EE2-244C-6B1AD86CBA0B}"/>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cxnSp>
        <p:nvCxnSpPr>
          <p:cNvPr id="4" name="Straight Connector 3">
            <a:extLst>
              <a:ext uri="{FF2B5EF4-FFF2-40B4-BE49-F238E27FC236}">
                <a16:creationId xmlns:a16="http://schemas.microsoft.com/office/drawing/2014/main" id="{0C020740-59B3-D868-5C81-09A59508549D}"/>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5999690"/>
      </p:ext>
    </p:extLst>
  </p:cSld>
  <p:clrMapOvr>
    <a:masterClrMapping/>
  </p:clrMapOvr>
</p:sld>
</file>

<file path=ppt/slides/slide6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205740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335360" y="2678669"/>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r>
              <a:rPr lang="en-IN" dirty="0">
                <a:latin typeface="Liberation Mono"/>
                <a:cs typeface="Arial" panose="020B0604020202020204" pitchFamily="34" charset="0"/>
              </a:rPr>
              <a:t>;</a:t>
            </a:r>
          </a:p>
        </p:txBody>
      </p:sp>
      <p:sp>
        <p:nvSpPr>
          <p:cNvPr id="9" name="Rectangle 8"/>
          <p:cNvSpPr/>
          <p:nvPr/>
        </p:nvSpPr>
        <p:spPr>
          <a:xfrm>
            <a:off x="360300" y="4437112"/>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0" name="Rectangle 9"/>
          <p:cNvSpPr/>
          <p:nvPr/>
        </p:nvSpPr>
        <p:spPr>
          <a:xfrm>
            <a:off x="346079" y="3821668"/>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6E346F3C-CC89-F2C7-D91E-A0F0C16E6E12}"/>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Tree>
    <p:extLst>
      <p:ext uri="{BB962C8B-B14F-4D97-AF65-F5344CB8AC3E}">
        <p14:creationId xmlns:p14="http://schemas.microsoft.com/office/powerpoint/2010/main" val="986535929"/>
      </p:ext>
    </p:extLst>
  </p:cSld>
  <p:clrMapOvr>
    <a:masterClrMapping/>
  </p:clrMapOvr>
</p:sld>
</file>

<file path=ppt/slides/slide6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left/right outer join examples</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6488306-ABDA-4CDC-83BB-2B2C143E3AA7}"/>
              </a:ext>
            </a:extLst>
          </p:cNvPr>
          <p:cNvSpPr txBox="1"/>
          <p:nvPr/>
        </p:nvSpPr>
        <p:spPr>
          <a:xfrm>
            <a:off x="256412" y="1895350"/>
            <a:ext cx="1167223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server.serverName </a:t>
            </a:r>
            <a:r>
              <a:rPr lang="en-IN" dirty="0">
                <a:solidFill>
                  <a:srgbClr val="00B050"/>
                </a:solidFill>
                <a:latin typeface="Liberation Mono"/>
              </a:rPr>
              <a:t>'All Servers'</a:t>
            </a:r>
            <a:r>
              <a:rPr lang="en-IN" dirty="0">
                <a:latin typeface="Liberation Mono"/>
              </a:rPr>
              <a:t>, </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00B050"/>
                </a:solidFill>
                <a:latin typeface="Liberation Mono"/>
              </a:rPr>
              <a:t>'Running Server'</a:t>
            </a:r>
            <a:r>
              <a:rPr lang="en-IN" dirty="0">
                <a:latin typeface="Liberation Mono"/>
              </a:rPr>
              <a:t>, </a:t>
            </a:r>
            <a:r>
              <a:rPr lang="en-IN" dirty="0">
                <a:solidFill>
                  <a:srgbClr val="00B050"/>
                </a:solidFill>
                <a:latin typeface="Liberation Mono"/>
              </a:rPr>
              <a:t>'Server not in use...'</a:t>
            </a:r>
            <a:r>
              <a:rPr lang="en-IN" dirty="0">
                <a:latin typeface="Liberation Mono"/>
              </a:rPr>
              <a:t> )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0</a:t>
            </a:r>
            <a:r>
              <a:rPr lang="en-IN" dirty="0">
                <a:latin typeface="Liberation Mono"/>
              </a:rPr>
              <a:t>, </a:t>
            </a:r>
            <a:r>
              <a:rPr lang="nl-NL"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00B050"/>
                </a:solidFill>
                <a:latin typeface="Liberation Mono"/>
              </a:rPr>
              <a:t>'Running Server'</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nl-NL" dirty="0">
                <a:solidFill>
                  <a:schemeClr val="accent4">
                    <a:lumMod val="50000"/>
                  </a:schemeClr>
                </a:solidFill>
                <a:latin typeface="Liberation Mono"/>
                <a:cs typeface="Arial" panose="020B0604020202020204" pitchFamily="34" charset="0"/>
              </a:rPr>
              <a:t> NULL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'Server not is use.....' </a:t>
            </a:r>
            <a:r>
              <a:rPr lang="en-IN" dirty="0">
                <a:solidFill>
                  <a:srgbClr val="0077AA"/>
                </a:solidFill>
                <a:latin typeface="Liberation Mono"/>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  </a:t>
            </a:r>
            <a:r>
              <a:rPr lang="en-IN" dirty="0">
                <a:latin typeface="Liberation Mono"/>
              </a:rPr>
              <a:t>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p:txBody>
      </p:sp>
      <p:sp>
        <p:nvSpPr>
          <p:cNvPr id="5" name="Rectangle 4">
            <a:extLst>
              <a:ext uri="{FF2B5EF4-FFF2-40B4-BE49-F238E27FC236}">
                <a16:creationId xmlns:a16="http://schemas.microsoft.com/office/drawing/2014/main" id="{B2294197-3B39-1E71-3906-CB5EFB388710}"/>
              </a:ext>
            </a:extLst>
          </p:cNvPr>
          <p:cNvSpPr/>
          <p:nvPr/>
        </p:nvSpPr>
        <p:spPr>
          <a:xfrm>
            <a:off x="335360" y="789965"/>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6" name="Rectangle 5">
            <a:extLst>
              <a:ext uri="{FF2B5EF4-FFF2-40B4-BE49-F238E27FC236}">
                <a16:creationId xmlns:a16="http://schemas.microsoft.com/office/drawing/2014/main" id="{2D58CFB8-798D-C32A-7E5E-C66CF578C110}"/>
              </a:ext>
            </a:extLst>
          </p:cNvPr>
          <p:cNvSpPr/>
          <p:nvPr/>
        </p:nvSpPr>
        <p:spPr>
          <a:xfrm>
            <a:off x="335360" y="128976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Tree>
    <p:extLst>
      <p:ext uri="{BB962C8B-B14F-4D97-AF65-F5344CB8AC3E}">
        <p14:creationId xmlns:p14="http://schemas.microsoft.com/office/powerpoint/2010/main" val="914958337"/>
      </p:ext>
    </p:extLst>
  </p:cSld>
  <p:clrMapOvr>
    <a:masterClrMapping/>
  </p:clrMapOvr>
</p:sld>
</file>

<file path=ppt/slides/slide6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left join vs right join</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964799" cy="863914"/>
            <a:chOff x="119336" y="188822"/>
            <a:chExt cx="4964799"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191344" y="350795"/>
              <a:ext cx="1896673" cy="553998"/>
            </a:xfrm>
            <a:prstGeom prst="rect">
              <a:avLst/>
            </a:prstGeom>
            <a:noFill/>
          </p:spPr>
          <p:txBody>
            <a:bodyPr wrap="none" rtlCol="0">
              <a:spAutoFit/>
            </a:bodyPr>
            <a:lstStyle/>
            <a:p>
              <a:r>
                <a:rPr lang="en-US" sz="3000" dirty="0"/>
                <a:t>LEFT JOIN</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39" y="188822"/>
              <a:ext cx="2228495"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228495" cy="553998"/>
            </a:xfrm>
            <a:prstGeom prst="rect">
              <a:avLst/>
            </a:prstGeom>
            <a:noFill/>
          </p:spPr>
          <p:txBody>
            <a:bodyPr wrap="none" rtlCol="0">
              <a:spAutoFit/>
            </a:bodyPr>
            <a:lstStyle/>
            <a:p>
              <a:r>
                <a:rPr lang="en-US" sz="3000" dirty="0"/>
                <a:t>RIGHT JOIN</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925DDD78-18ED-4611-90A0-EDB1B4C38503}"/>
              </a:ext>
            </a:extLst>
          </p:cNvPr>
          <p:cNvGraphicFramePr>
            <a:graphicFrameLocks noGrp="1"/>
          </p:cNvGraphicFramePr>
          <p:nvPr>
            <p:extLst>
              <p:ext uri="{D42A27DB-BD31-4B8C-83A1-F6EECF244321}">
                <p14:modId xmlns:p14="http://schemas.microsoft.com/office/powerpoint/2010/main" val="2118397763"/>
              </p:ext>
            </p:extLst>
          </p:nvPr>
        </p:nvGraphicFramePr>
        <p:xfrm>
          <a:off x="47328" y="1512005"/>
          <a:ext cx="12025335" cy="2787720"/>
        </p:xfrm>
        <a:graphic>
          <a:graphicData uri="http://schemas.openxmlformats.org/drawingml/2006/table">
            <a:tbl>
              <a:tblPr>
                <a:tableStyleId>{BDBED569-4797-4DF1-A0F4-6AAB3CD982D8}</a:tableStyleId>
              </a:tblPr>
              <a:tblGrid>
                <a:gridCol w="4008445">
                  <a:extLst>
                    <a:ext uri="{9D8B030D-6E8A-4147-A177-3AD203B41FA5}">
                      <a16:colId xmlns:a16="http://schemas.microsoft.com/office/drawing/2014/main" val="3114213069"/>
                    </a:ext>
                  </a:extLst>
                </a:gridCol>
                <a:gridCol w="4008445">
                  <a:extLst>
                    <a:ext uri="{9D8B030D-6E8A-4147-A177-3AD203B41FA5}">
                      <a16:colId xmlns:a16="http://schemas.microsoft.com/office/drawing/2014/main" val="987736521"/>
                    </a:ext>
                  </a:extLst>
                </a:gridCol>
                <a:gridCol w="4008445">
                  <a:extLst>
                    <a:ext uri="{9D8B030D-6E8A-4147-A177-3AD203B41FA5}">
                      <a16:colId xmlns:a16="http://schemas.microsoft.com/office/drawing/2014/main" val="932097034"/>
                    </a:ext>
                  </a:extLst>
                </a:gridCol>
              </a:tblGrid>
              <a:tr h="265024">
                <a:tc>
                  <a:txBody>
                    <a:bodyPr/>
                    <a:lstStyle/>
                    <a:p>
                      <a:pPr algn="ctr" fontAlgn="ctr"/>
                      <a:r>
                        <a:rPr lang="en-IN" sz="1800" b="1" cap="all" dirty="0">
                          <a:effectLst/>
                          <a:latin typeface="Palatino Linotype" panose="02040502050505030304" pitchFamily="18" charset="0"/>
                        </a:rPr>
                        <a:t>LEFT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RIGHT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FULL OUTER JOIN</a:t>
                      </a:r>
                    </a:p>
                  </a:txBody>
                  <a:tcPr marL="53140" marR="53140" marT="53140" marB="53140" anchor="ctr"/>
                </a:tc>
                <a:extLst>
                  <a:ext uri="{0D108BD9-81ED-4DB2-BD59-A6C34878D82A}">
                    <a16:rowId xmlns:a16="http://schemas.microsoft.com/office/drawing/2014/main" val="2727218345"/>
                  </a:ext>
                </a:extLst>
              </a:tr>
              <a:tr h="561972">
                <a:tc>
                  <a:txBody>
                    <a:bodyPr/>
                    <a:lstStyle/>
                    <a:p>
                      <a:pPr algn="l" fontAlgn="t"/>
                      <a:r>
                        <a:rPr lang="en-US" sz="1800" dirty="0">
                          <a:effectLst/>
                          <a:latin typeface="Palatino Linotype" panose="02040502050505030304" pitchFamily="18" charset="0"/>
                        </a:rPr>
                        <a:t>All the tuples of the left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of the right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from left as well as right table remain in the result.</a:t>
                      </a:r>
                    </a:p>
                  </a:txBody>
                  <a:tcPr marL="53140" marR="53140" marT="53140" marB="53140"/>
                </a:tc>
                <a:extLst>
                  <a:ext uri="{0D108BD9-81ED-4DB2-BD59-A6C34878D82A}">
                    <a16:rowId xmlns:a16="http://schemas.microsoft.com/office/drawing/2014/main" val="2533890279"/>
                  </a:ext>
                </a:extLst>
              </a:tr>
              <a:tr h="1234016">
                <a:tc>
                  <a:txBody>
                    <a:bodyPr/>
                    <a:lstStyle/>
                    <a:p>
                      <a:pPr algn="l" fontAlgn="t"/>
                      <a:r>
                        <a:rPr lang="en-US" sz="1800" dirty="0">
                          <a:effectLst/>
                          <a:latin typeface="Palatino Linotype" panose="02040502050505030304" pitchFamily="18" charset="0"/>
                        </a:rPr>
                        <a:t>The tuples of left table that does not have a matching tuple in right table are extended with NULL value for attributes of the right table.</a:t>
                      </a:r>
                    </a:p>
                  </a:txBody>
                  <a:tcPr marL="53140" marR="53140" marT="53140" marB="53140"/>
                </a:tc>
                <a:tc>
                  <a:txBody>
                    <a:bodyPr/>
                    <a:lstStyle/>
                    <a:p>
                      <a:pPr algn="l" fontAlgn="t"/>
                      <a:r>
                        <a:rPr lang="en-US" sz="1800" dirty="0">
                          <a:effectLst/>
                          <a:latin typeface="Palatino Linotype" panose="02040502050505030304" pitchFamily="18" charset="0"/>
                        </a:rPr>
                        <a:t>The tuples of right table that does not have a matching tuple in left table are extended with NULL value for attributes of the left table.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53140" marR="53140" marT="53140" marB="53140"/>
                </a:tc>
                <a:tc>
                  <a:txBody>
                    <a:bodyPr/>
                    <a:lstStyle/>
                    <a:p>
                      <a:pPr algn="l" fontAlgn="t"/>
                      <a:r>
                        <a:rPr lang="en-US" sz="1800" dirty="0">
                          <a:effectLst/>
                          <a:latin typeface="Palatino Linotype" panose="02040502050505030304" pitchFamily="18" charset="0"/>
                        </a:rPr>
                        <a:t>The tuples of left as well as the right table that does not have the matching tuples in the right and left table respectively are extended with NULL value for attributes of the right and left tables.</a:t>
                      </a:r>
                    </a:p>
                  </a:txBody>
                  <a:tcPr marL="53140" marR="53140" marT="53140" marB="53140"/>
                </a:tc>
                <a:extLst>
                  <a:ext uri="{0D108BD9-81ED-4DB2-BD59-A6C34878D82A}">
                    <a16:rowId xmlns:a16="http://schemas.microsoft.com/office/drawing/2014/main" val="2065540270"/>
                  </a:ext>
                </a:extLst>
              </a:tr>
            </a:tbl>
          </a:graphicData>
        </a:graphic>
      </p:graphicFrame>
    </p:spTree>
    <p:extLst>
      <p:ext uri="{BB962C8B-B14F-4D97-AF65-F5344CB8AC3E}">
        <p14:creationId xmlns:p14="http://schemas.microsoft.com/office/powerpoint/2010/main" val="1585976505"/>
      </p:ext>
    </p:extLst>
  </p:cSld>
  <p:clrMapOvr>
    <a:masterClrMapping/>
  </p:clrMapOvr>
</p:sld>
</file>

<file path=ppt/slides/slide6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1015663"/>
          </a:xfrm>
          <a:prstGeom prst="rect">
            <a:avLst/>
          </a:prstGeom>
        </p:spPr>
        <p:txBody>
          <a:bodyPr wrap="square">
            <a:spAutoFit/>
          </a:bodyPr>
          <a:lstStyle/>
          <a:p>
            <a:pPr algn="just"/>
            <a:r>
              <a:rPr lang="en-US" sz="2000" b="0" i="0" dirty="0">
                <a:solidFill>
                  <a:srgbClr val="000000"/>
                </a:solidFill>
                <a:effectLst/>
                <a:latin typeface="inter-regular"/>
              </a:rPr>
              <a:t>Full outer join is like a left or right join except that it contains all rows from both tables. In full outer join, tuples in R that have no matching tuples in S and tuples in S that have no matching tuples in R in their common attribute name.</a:t>
            </a:r>
          </a:p>
        </p:txBody>
      </p:sp>
      <p:sp>
        <p:nvSpPr>
          <p:cNvPr id="14" name="TextBox 13">
            <a:extLst>
              <a:ext uri="{FF2B5EF4-FFF2-40B4-BE49-F238E27FC236}">
                <a16:creationId xmlns:a16="http://schemas.microsoft.com/office/drawing/2014/main" id="{366A11E2-F03E-3AB5-BAEE-47BF0BAC3B5D}"/>
              </a:ext>
            </a:extLst>
          </p:cNvPr>
          <p:cNvSpPr txBox="1"/>
          <p:nvPr/>
        </p:nvSpPr>
        <p:spPr>
          <a:xfrm>
            <a:off x="8246015" y="2530669"/>
            <a:ext cx="1944216" cy="584775"/>
          </a:xfrm>
          <a:prstGeom prst="rect">
            <a:avLst/>
          </a:prstGeom>
          <a:noFill/>
        </p:spPr>
        <p:txBody>
          <a:bodyPr wrap="square">
            <a:spAutoFit/>
          </a:bodyPr>
          <a:lstStyle/>
          <a:p>
            <a:r>
              <a:rPr lang="en-IN" sz="3200" b="1" i="0" dirty="0">
                <a:solidFill>
                  <a:srgbClr val="222222"/>
                </a:solidFill>
                <a:effectLst/>
                <a:latin typeface="Source Sans Pro" panose="020B0503030403020204" pitchFamily="34" charset="0"/>
              </a:rPr>
              <a:t>( R </a:t>
            </a:r>
            <a:r>
              <a:rPr lang="en-IN" sz="3200" b="0" i="0" dirty="0">
                <a:solidFill>
                  <a:srgbClr val="000000"/>
                </a:solidFill>
                <a:effectLst/>
                <a:latin typeface="inter-regular"/>
              </a:rPr>
              <a:t>⟗</a:t>
            </a:r>
            <a:r>
              <a:rPr lang="en-IN" sz="3200" b="1" i="0" dirty="0">
                <a:solidFill>
                  <a:srgbClr val="222222"/>
                </a:solidFill>
                <a:effectLst/>
                <a:latin typeface="Source Sans Pro" panose="020B0503030403020204" pitchFamily="34" charset="0"/>
              </a:rPr>
              <a:t> S )</a:t>
            </a:r>
          </a:p>
        </p:txBody>
      </p:sp>
      <p:sp>
        <p:nvSpPr>
          <p:cNvPr id="3" name="Title 1">
            <a:extLst>
              <a:ext uri="{FF2B5EF4-FFF2-40B4-BE49-F238E27FC236}">
                <a16:creationId xmlns:a16="http://schemas.microsoft.com/office/drawing/2014/main" id="{8CD423B1-9933-E12E-6E1D-BC75490CFFD7}"/>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full outer joins</a:t>
            </a:r>
          </a:p>
        </p:txBody>
      </p:sp>
      <p:sp>
        <p:nvSpPr>
          <p:cNvPr id="11" name="Rectangle 10">
            <a:extLst>
              <a:ext uri="{FF2B5EF4-FFF2-40B4-BE49-F238E27FC236}">
                <a16:creationId xmlns:a16="http://schemas.microsoft.com/office/drawing/2014/main" id="{90598A1A-3FF8-DDA3-4729-FCB49B0FFDE7}"/>
              </a:ext>
            </a:extLst>
          </p:cNvPr>
          <p:cNvSpPr/>
          <p:nvPr/>
        </p:nvSpPr>
        <p:spPr>
          <a:xfrm>
            <a:off x="257696" y="3212976"/>
            <a:ext cx="11598943" cy="1015663"/>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MySQL does not support full outer joins like some database systems. You can get around this by using a UNION operator to join a LEFT OUTER JOIN statement and a RIGHT OUTER JOIN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812156836"/>
      </p:ext>
    </p:extLst>
  </p:cSld>
  <p:clrMapOvr>
    <a:masterClrMapping/>
  </p:clrMapOvr>
</p:sld>
</file>

<file path=ppt/slides/slide6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self joins</a:t>
            </a:r>
          </a:p>
        </p:txBody>
      </p:sp>
      <p:sp>
        <p:nvSpPr>
          <p:cNvPr id="4" name="Rectangle 3"/>
          <p:cNvSpPr/>
          <p:nvPr/>
        </p:nvSpPr>
        <p:spPr>
          <a:xfrm>
            <a:off x="1666844" y="357167"/>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TODO</a:t>
            </a:r>
          </a:p>
        </p:txBody>
      </p:sp>
      <p:sp>
        <p:nvSpPr>
          <p:cNvPr id="5" name="Rectangle 4">
            <a:extLst>
              <a:ext uri="{FF2B5EF4-FFF2-40B4-BE49-F238E27FC236}">
                <a16:creationId xmlns:a16="http://schemas.microsoft.com/office/drawing/2014/main" id="{332BCE22-2CC9-F295-D530-90E940F6A3E0}"/>
              </a:ext>
            </a:extLst>
          </p:cNvPr>
          <p:cNvSpPr/>
          <p:nvPr/>
        </p:nvSpPr>
        <p:spPr>
          <a:xfrm>
            <a:off x="257696" y="3212976"/>
            <a:ext cx="11598943" cy="40011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TODO</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4136687763"/>
      </p:ext>
    </p:extLst>
  </p:cSld>
  <p:clrMapOvr>
    <a:masterClrMapping/>
  </p:clrMapOvr>
</p:sld>
</file>

<file path=ppt/slides/slide6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838200"/>
            <a:ext cx="1180931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dirty="0">
                <a:solidFill>
                  <a:srgbClr val="C74C49"/>
                </a:solidFill>
                <a:latin typeface="Arial" panose="020B0604020202020204" pitchFamily="34" charset="0"/>
                <a:cs typeface="Arial" panose="020B0604020202020204" pitchFamily="34" charset="0"/>
              </a:rPr>
              <a:t>SELF</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a join in which a table is joined with itself (which is also called Unary relationships), especially when the table has a FOREIGN KEY which references its own PRIMARY KEY.</a:t>
            </a:r>
          </a:p>
        </p:txBody>
      </p:sp>
      <p:sp>
        <p:nvSpPr>
          <p:cNvPr id="7" name="Rectangle 6"/>
          <p:cNvSpPr/>
          <p:nvPr/>
        </p:nvSpPr>
        <p:spPr>
          <a:xfrm>
            <a:off x="191344" y="1916832"/>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
        <p:nvSpPr>
          <p:cNvPr id="3" name="TextBox 2">
            <a:extLst>
              <a:ext uri="{FF2B5EF4-FFF2-40B4-BE49-F238E27FC236}">
                <a16:creationId xmlns:a16="http://schemas.microsoft.com/office/drawing/2014/main" id="{803F9795-2C2A-D31A-B8FA-B2C8D4013D28}"/>
              </a:ext>
            </a:extLst>
          </p:cNvPr>
          <p:cNvSpPr txBox="1"/>
          <p:nvPr/>
        </p:nvSpPr>
        <p:spPr>
          <a:xfrm>
            <a:off x="191344" y="2852936"/>
            <a:ext cx="11665296"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0077AA"/>
                </a:solidFill>
                <a:latin typeface="Liberation Mono"/>
              </a:rPr>
              <a:t>DISTINCT</a:t>
            </a:r>
            <a:r>
              <a:rPr lang="en-IN" dirty="0">
                <a:latin typeface="Liberation Mono"/>
              </a:rPr>
              <a:t> </a:t>
            </a:r>
            <a:r>
              <a:rPr lang="en-IN" i="1" dirty="0">
                <a:solidFill>
                  <a:schemeClr val="bg1">
                    <a:lumMod val="50000"/>
                  </a:schemeClr>
                </a:solidFill>
                <a:latin typeface="Liberation Mono"/>
              </a:rPr>
              <a:t>e1</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i="1" dirty="0">
                <a:solidFill>
                  <a:schemeClr val="bg1">
                    <a:lumMod val="50000"/>
                  </a:schemeClr>
                </a:solidFill>
                <a:latin typeface="Liberation Mono"/>
              </a:rPr>
              <a:t>e1</a:t>
            </a:r>
            <a:r>
              <a:rPr lang="en-IN" dirty="0">
                <a:latin typeface="Liberation Mono"/>
              </a:rPr>
              <a:t> , emp </a:t>
            </a:r>
            <a:r>
              <a:rPr lang="en-IN" i="1" dirty="0">
                <a:solidFill>
                  <a:schemeClr val="bg1">
                    <a:lumMod val="50000"/>
                  </a:schemeClr>
                </a:solidFill>
                <a:latin typeface="Liberation Mono"/>
              </a:rPr>
              <a:t>e2</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e1</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a:t>
            </a:r>
            <a:r>
              <a:rPr lang="en-IN" i="1" dirty="0">
                <a:solidFill>
                  <a:schemeClr val="bg1">
                    <a:lumMod val="50000"/>
                  </a:schemeClr>
                </a:solidFill>
                <a:latin typeface="Liberation Mono"/>
              </a:rPr>
              <a:t>e1</a:t>
            </a:r>
            <a:r>
              <a:rPr lang="en-IN" dirty="0">
                <a:latin typeface="Liberation Mono"/>
              </a:rPr>
              <a:t>.empno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i="1" dirty="0">
                <a:solidFill>
                  <a:schemeClr val="bg1">
                    <a:lumMod val="50000"/>
                  </a:schemeClr>
                </a:solidFill>
                <a:latin typeface="Liberation Mono"/>
              </a:rPr>
              <a:t>e1</a:t>
            </a:r>
            <a:r>
              <a:rPr lang="en-IN" dirty="0">
                <a:latin typeface="Liberation Mono"/>
              </a:rPr>
              <a:t>.sal;</a:t>
            </a:r>
          </a:p>
          <a:p>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a:t>
            </a:r>
            <a:r>
              <a:rPr lang="en-IN" dirty="0">
                <a:solidFill>
                  <a:srgbClr val="0077AA"/>
                </a:solidFill>
                <a:latin typeface="Liberation Mono"/>
                <a:cs typeface="Arial" panose="020B0604020202020204" pitchFamily="34" charset="0"/>
              </a:rPr>
              <a:t>FROM</a:t>
            </a:r>
            <a:r>
              <a:rPr lang="en-IN" dirty="0">
                <a:latin typeface="Liberation Mono"/>
              </a:rPr>
              <a:t> rockets</a:t>
            </a:r>
            <a:r>
              <a:rPr lang="en-IN" i="1" dirty="0">
                <a:solidFill>
                  <a:schemeClr val="bg1">
                    <a:lumMod val="50000"/>
                  </a:schemeClr>
                </a:solidFill>
                <a:latin typeface="Liberation Mono"/>
              </a:rPr>
              <a:t> a</a:t>
            </a:r>
            <a:r>
              <a:rPr lang="en-IN" dirty="0">
                <a:latin typeface="Liberation Mono"/>
              </a:rPr>
              <a:t>, rockets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 (</a:t>
            </a:r>
            <a:r>
              <a:rPr lang="en-IN" i="1" dirty="0">
                <a:solidFill>
                  <a:schemeClr val="bg1">
                    <a:lumMod val="50000"/>
                  </a:schemeClr>
                </a:solidFill>
                <a:latin typeface="Liberation Mono"/>
              </a:rPr>
              <a:t>b</a:t>
            </a:r>
            <a:r>
              <a:rPr lang="en-IN" dirty="0">
                <a:latin typeface="Liberation Mono"/>
              </a:rPr>
              <a:t>.destination ,</a:t>
            </a:r>
            <a:r>
              <a:rPr lang="en-IN" i="1" dirty="0">
                <a:solidFill>
                  <a:schemeClr val="bg1">
                    <a:lumMod val="50000"/>
                  </a:schemeClr>
                </a:solidFill>
                <a:latin typeface="Liberation Mono"/>
              </a:rPr>
              <a:t> b</a:t>
            </a:r>
            <a:r>
              <a:rPr lang="en-IN" dirty="0">
                <a:latin typeface="Liberation Mono"/>
              </a:rPr>
              <a:t>.origin) </a:t>
            </a:r>
            <a:r>
              <a:rPr lang="en-IN" dirty="0">
                <a:solidFill>
                  <a:srgbClr val="0077AA"/>
                </a:solidFill>
                <a:latin typeface="Liberation Mono"/>
                <a:cs typeface="Arial" panose="020B0604020202020204" pitchFamily="34" charset="0"/>
              </a:rPr>
              <a:t>ORDER</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0CB55458-7C70-95A8-AB2F-332F43EB1FF2}"/>
              </a:ext>
            </a:extLst>
          </p:cNvPr>
          <p:cNvSpPr txBox="1"/>
          <p:nvPr/>
        </p:nvSpPr>
        <p:spPr>
          <a:xfrm>
            <a:off x="335360" y="4737918"/>
            <a:ext cx="11305256" cy="646331"/>
          </a:xfrm>
          <a:prstGeom prst="rect">
            <a:avLst/>
          </a:prstGeom>
          <a:noFill/>
        </p:spPr>
        <p:txBody>
          <a:bodyPr wrap="square">
            <a:spAutoFit/>
          </a:bodyPr>
          <a:lstStyle/>
          <a:p>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dirty="0">
                <a:solidFill>
                  <a:srgbClr val="0077AA"/>
                </a:solidFill>
                <a:latin typeface="Liberation Mono"/>
                <a:cs typeface="Arial" panose="020B0604020202020204" pitchFamily="34" charset="0"/>
              </a:rPr>
              <a:t>RECURSIVE</a:t>
            </a:r>
            <a:r>
              <a:rPr lang="en-IN" dirty="0">
                <a:latin typeface="Liberation Mono"/>
              </a:rPr>
              <a:t> </a:t>
            </a:r>
            <a:r>
              <a:rPr lang="en-IN" b="1" i="1" dirty="0">
                <a:latin typeface="Liberation Mono"/>
              </a:rPr>
              <a:t>m</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m.empno, m.ename, m.mgr </a:t>
            </a:r>
            <a:r>
              <a:rPr lang="en-IN" dirty="0">
                <a:solidFill>
                  <a:srgbClr val="0077AA"/>
                </a:solidFill>
                <a:latin typeface="Liberation Mono"/>
                <a:cs typeface="Arial" panose="020B0604020202020204" pitchFamily="34" charset="0"/>
              </a:rPr>
              <a:t>FROM</a:t>
            </a:r>
            <a:r>
              <a:rPr lang="en-IN" dirty="0">
                <a:latin typeface="Liberation Mono"/>
              </a:rPr>
              <a:t> emp m </a:t>
            </a:r>
            <a:r>
              <a:rPr lang="en-IN" dirty="0">
                <a:solidFill>
                  <a:srgbClr val="0077AA"/>
                </a:solidFill>
                <a:latin typeface="Liberation Mono"/>
                <a:cs typeface="Arial" panose="020B0604020202020204" pitchFamily="34" charset="0"/>
              </a:rPr>
              <a:t>WHERE</a:t>
            </a:r>
            <a:r>
              <a:rPr lang="en-IN" dirty="0">
                <a:latin typeface="Liberation Mono"/>
              </a:rPr>
              <a:t> m.mgr </a:t>
            </a:r>
            <a:r>
              <a:rPr lang="en-IN" dirty="0">
                <a:solidFill>
                  <a:schemeClr val="accent4">
                    <a:lumMod val="50000"/>
                  </a:schemeClr>
                </a:solidFill>
                <a:latin typeface="Liberation Mono"/>
                <a:cs typeface="Arial" panose="020B0604020202020204" pitchFamily="34" charset="0"/>
              </a:rPr>
              <a:t>IS NULL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m</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b="1" i="1" dirty="0">
                <a:latin typeface="Liberation Mono"/>
              </a:rPr>
              <a:t>m.empno </a:t>
            </a:r>
            <a:r>
              <a:rPr lang="en-IN" dirty="0">
                <a:solidFill>
                  <a:schemeClr val="accent5">
                    <a:lumMod val="75000"/>
                  </a:schemeClr>
                </a:solidFill>
                <a:latin typeface="Liberation Mono"/>
              </a:rPr>
              <a:t>=</a:t>
            </a:r>
            <a:r>
              <a:rPr lang="en-IN" dirty="0">
                <a:latin typeface="Liberation Mono"/>
              </a:rPr>
              <a:t> e.mgr)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m</a:t>
            </a:r>
            <a:r>
              <a:rPr lang="en-IN" dirty="0">
                <a:latin typeface="Liberation Mono"/>
              </a:rPr>
              <a:t>;</a:t>
            </a:r>
          </a:p>
        </p:txBody>
      </p:sp>
      <p:sp>
        <p:nvSpPr>
          <p:cNvPr id="9" name="TextBox 8">
            <a:extLst>
              <a:ext uri="{FF2B5EF4-FFF2-40B4-BE49-F238E27FC236}">
                <a16:creationId xmlns:a16="http://schemas.microsoft.com/office/drawing/2014/main" id="{A802F8F6-700E-CD26-69AC-CD73002660FC}"/>
              </a:ext>
            </a:extLst>
          </p:cNvPr>
          <p:cNvSpPr txBox="1"/>
          <p:nvPr/>
        </p:nvSpPr>
        <p:spPr>
          <a:xfrm>
            <a:off x="335360" y="4197979"/>
            <a:ext cx="2016224" cy="400110"/>
          </a:xfrm>
          <a:prstGeom prst="rect">
            <a:avLst/>
          </a:prstGeom>
          <a:noFill/>
        </p:spPr>
        <p:txBody>
          <a:bodyPr wrap="square">
            <a:spAutoFit/>
          </a:bodyPr>
          <a:lstStyle/>
          <a:p>
            <a:r>
              <a:rPr lang="en-IN" sz="2000" dirty="0">
                <a:solidFill>
                  <a:srgbClr val="FF0000"/>
                </a:solidFill>
              </a:rPr>
              <a:t>Hierarchical Data</a:t>
            </a:r>
          </a:p>
        </p:txBody>
      </p:sp>
    </p:spTree>
    <p:extLst>
      <p:ext uri="{BB962C8B-B14F-4D97-AF65-F5344CB8AC3E}">
        <p14:creationId xmlns:p14="http://schemas.microsoft.com/office/powerpoint/2010/main" val="413848831"/>
      </p:ext>
    </p:extLst>
  </p:cSld>
  <p:clrMapOvr>
    <a:masterClrMapping/>
  </p:clrMapOvr>
</p:sld>
</file>

<file path=ppt/slides/slide6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C2E86-74EC-8693-5B22-E79B15BAA2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43C7E9A-A5CD-ABD7-28AF-E01FA0C3C9E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DA454D-E9BF-EAC6-65E9-644904D1520A}"/>
              </a:ext>
            </a:extLst>
          </p:cNvPr>
          <p:cNvSpPr/>
          <p:nvPr/>
        </p:nvSpPr>
        <p:spPr>
          <a:xfrm>
            <a:off x="211738" y="619325"/>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096812373"/>
      </p:ext>
    </p:extLst>
  </p:cSld>
  <p:clrMapOvr>
    <a:masterClrMapping/>
  </p:clrMapOvr>
</p:sld>
</file>

<file path=ppt/slides/slide6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3AB31-CD17-8152-CEFE-1E0279DDCD6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9DE728E-F54A-C0C3-B6F1-D7AD860A2703}"/>
              </a:ext>
            </a:extLst>
          </p:cNvPr>
          <p:cNvGraphicFramePr>
            <a:graphicFrameLocks noGrp="1"/>
          </p:cNvGraphicFramePr>
          <p:nvPr>
            <p:extLst>
              <p:ext uri="{D42A27DB-BD31-4B8C-83A1-F6EECF244321}">
                <p14:modId xmlns:p14="http://schemas.microsoft.com/office/powerpoint/2010/main" val="3459720944"/>
              </p:ext>
            </p:extLst>
          </p:nvPr>
        </p:nvGraphicFramePr>
        <p:xfrm>
          <a:off x="263354" y="1256341"/>
          <a:ext cx="3672407" cy="3708400"/>
        </p:xfrm>
        <a:graphic>
          <a:graphicData uri="http://schemas.openxmlformats.org/drawingml/2006/table">
            <a:tbl>
              <a:tblPr firstRow="1" bandRow="1">
                <a:tableStyleId>{5940675A-B579-460E-94D1-54222C63F5DA}</a:tableStyleId>
              </a:tblPr>
              <a:tblGrid>
                <a:gridCol w="489708">
                  <a:extLst>
                    <a:ext uri="{9D8B030D-6E8A-4147-A177-3AD203B41FA5}">
                      <a16:colId xmlns:a16="http://schemas.microsoft.com/office/drawing/2014/main" val="928063234"/>
                    </a:ext>
                  </a:extLst>
                </a:gridCol>
                <a:gridCol w="145450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2025-01-18</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2025-01-07</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2025-01-23</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2025-01-26</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2025-01-26</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2025-01-28</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2025-01-30</a:t>
                      </a:r>
                    </a:p>
                  </a:txBody>
                  <a:tcPr/>
                </a:tc>
                <a:tc>
                  <a:txBody>
                    <a:bodyPr/>
                    <a:lstStyle/>
                    <a:p>
                      <a:r>
                        <a:rPr lang="en-IN" dirty="0">
                          <a:latin typeface="Arial" panose="020B0604020202020204" pitchFamily="34" charset="0"/>
                          <a:cs typeface="Arial" panose="020B0604020202020204" pitchFamily="34" charset="0"/>
                        </a:rPr>
                        <a:t>2025-02-04</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r>
                        <a:rPr lang="en-IN" dirty="0">
                          <a:latin typeface="Arial" panose="020B0604020202020204" pitchFamily="34" charset="0"/>
                          <a:cs typeface="Arial" panose="020B0604020202020204" pitchFamily="34" charset="0"/>
                        </a:rPr>
                        <a:t>2025-02-10</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r>
                        <a:rPr lang="en-IN" dirty="0">
                          <a:latin typeface="Arial" panose="020B0604020202020204" pitchFamily="34" charset="0"/>
                          <a:cs typeface="Arial" panose="020B0604020202020204" pitchFamily="34" charset="0"/>
                        </a:rPr>
                        <a:t>2025-02-12</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2025-02-11</a:t>
                      </a:r>
                    </a:p>
                  </a:txBody>
                  <a:tcPr/>
                </a:tc>
                <a:tc>
                  <a:txBody>
                    <a:bodyPr/>
                    <a:lstStyle/>
                    <a:p>
                      <a:r>
                        <a:rPr lang="en-IN" dirty="0">
                          <a:latin typeface="Arial" panose="020B0604020202020204" pitchFamily="34" charset="0"/>
                          <a:cs typeface="Arial" panose="020B0604020202020204" pitchFamily="34" charset="0"/>
                        </a:rPr>
                        <a:t>2025-02-16</a:t>
                      </a:r>
                      <a:endParaRPr kumimoji="0" lang="en-IN" kern="1200" dirty="0">
                        <a:solidFill>
                          <a:srgbClr val="C0000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A5E3E47C-C4C9-BEDA-FCF4-AB42B833B993}"/>
              </a:ext>
            </a:extLst>
          </p:cNvPr>
          <p:cNvSpPr txBox="1"/>
          <p:nvPr/>
        </p:nvSpPr>
        <p:spPr>
          <a:xfrm>
            <a:off x="4007768" y="202077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E42A26B3-7D7D-016F-FBE6-D6C4AD797257}"/>
              </a:ext>
            </a:extLst>
          </p:cNvPr>
          <p:cNvSpPr txBox="1"/>
          <p:nvPr/>
        </p:nvSpPr>
        <p:spPr>
          <a:xfrm>
            <a:off x="263352" y="777015"/>
            <a:ext cx="3024337" cy="400110"/>
          </a:xfrm>
          <a:prstGeom prst="rect">
            <a:avLst/>
          </a:prstGeom>
          <a:noFill/>
        </p:spPr>
        <p:txBody>
          <a:bodyPr wrap="square">
            <a:spAutoFit/>
          </a:bodyPr>
          <a:lstStyle/>
          <a:p>
            <a:r>
              <a:rPr lang="en-IN" sz="2000" b="1" dirty="0">
                <a:latin typeface="Liberation Mono"/>
              </a:rPr>
              <a:t>Table:- overlapping_dates</a:t>
            </a:r>
            <a:endParaRPr lang="en-IN" sz="2000" b="1" dirty="0"/>
          </a:p>
        </p:txBody>
      </p:sp>
      <p:sp>
        <p:nvSpPr>
          <p:cNvPr id="8" name="TextBox 7">
            <a:extLst>
              <a:ext uri="{FF2B5EF4-FFF2-40B4-BE49-F238E27FC236}">
                <a16:creationId xmlns:a16="http://schemas.microsoft.com/office/drawing/2014/main" id="{01C915AD-438A-8428-6FA9-4AF30EF65B9A}"/>
              </a:ext>
            </a:extLst>
          </p:cNvPr>
          <p:cNvSpPr txBox="1"/>
          <p:nvPr/>
        </p:nvSpPr>
        <p:spPr>
          <a:xfrm>
            <a:off x="5231904"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94A7A7D-4C31-355A-F3C2-9249D7CCEA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2FF27782-7D65-B936-71F5-C7B65287D693}"/>
              </a:ext>
            </a:extLst>
          </p:cNvPr>
          <p:cNvGraphicFramePr>
            <a:graphicFrameLocks noGrp="1"/>
          </p:cNvGraphicFramePr>
          <p:nvPr>
            <p:extLst>
              <p:ext uri="{D42A27DB-BD31-4B8C-83A1-F6EECF244321}">
                <p14:modId xmlns:p14="http://schemas.microsoft.com/office/powerpoint/2010/main" val="794962502"/>
              </p:ext>
            </p:extLst>
          </p:nvPr>
        </p:nvGraphicFramePr>
        <p:xfrm>
          <a:off x="5258400" y="1256341"/>
          <a:ext cx="6796800" cy="1483360"/>
        </p:xfrm>
        <a:graphic>
          <a:graphicData uri="http://schemas.openxmlformats.org/drawingml/2006/table">
            <a:tbl>
              <a:tblPr firstRow="1" bandRow="1">
                <a:tableStyleId>{5940675A-B579-460E-94D1-54222C63F5DA}</a:tableStyleId>
              </a:tblPr>
              <a:tblGrid>
                <a:gridCol w="4896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790049539"/>
                    </a:ext>
                  </a:extLst>
                </a:gridCol>
                <a:gridCol w="1454400">
                  <a:extLst>
                    <a:ext uri="{9D8B030D-6E8A-4147-A177-3AD203B41FA5}">
                      <a16:colId xmlns:a16="http://schemas.microsoft.com/office/drawing/2014/main" val="2965238667"/>
                    </a:ext>
                  </a:extLst>
                </a:gridCol>
                <a:gridCol w="489600">
                  <a:extLst>
                    <a:ext uri="{9D8B030D-6E8A-4147-A177-3AD203B41FA5}">
                      <a16:colId xmlns:a16="http://schemas.microsoft.com/office/drawing/2014/main" val="3748912335"/>
                    </a:ext>
                  </a:extLst>
                </a:gridCol>
                <a:gridCol w="1454400">
                  <a:extLst>
                    <a:ext uri="{9D8B030D-6E8A-4147-A177-3AD203B41FA5}">
                      <a16:colId xmlns:a16="http://schemas.microsoft.com/office/drawing/2014/main" val="1585569208"/>
                    </a:ext>
                  </a:extLst>
                </a:gridCol>
                <a:gridCol w="1454400">
                  <a:extLst>
                    <a:ext uri="{9D8B030D-6E8A-4147-A177-3AD203B41FA5}">
                      <a16:colId xmlns:a16="http://schemas.microsoft.com/office/drawing/2014/main" val="4293987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 2025-02-10</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8</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2025-02-16</a:t>
                      </a:r>
                    </a:p>
                  </a:txBody>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9B3DCA1-F336-4A7B-2F48-69524BB4BF33}"/>
              </a:ext>
            </a:extLst>
          </p:cNvPr>
          <p:cNvSpPr txBox="1"/>
          <p:nvPr/>
        </p:nvSpPr>
        <p:spPr>
          <a:xfrm>
            <a:off x="241200" y="6023029"/>
            <a:ext cx="11767083"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overlapping_dates a, overlapping_dates b </a:t>
            </a:r>
            <a:r>
              <a:rPr lang="en-IN" dirty="0">
                <a:solidFill>
                  <a:srgbClr val="0077AA"/>
                </a:solidFill>
                <a:latin typeface="Liberation Mono"/>
              </a:rPr>
              <a:t>WHERE</a:t>
            </a:r>
            <a:r>
              <a:rPr lang="en-IN" dirty="0">
                <a:latin typeface="Liberation Mono"/>
              </a:rPr>
              <a:t> a.start_date </a:t>
            </a:r>
            <a:r>
              <a:rPr lang="en-IN" dirty="0">
                <a:solidFill>
                  <a:schemeClr val="accent5">
                    <a:lumMod val="75000"/>
                  </a:schemeClr>
                </a:solidFill>
                <a:latin typeface="Liberation Mono"/>
              </a:rPr>
              <a:t>&lt;=</a:t>
            </a:r>
            <a:r>
              <a:rPr lang="en-IN" dirty="0">
                <a:latin typeface="Liberation Mono"/>
              </a:rPr>
              <a:t> b.end_date and b.start_date </a:t>
            </a:r>
            <a:r>
              <a:rPr lang="en-IN" dirty="0">
                <a:solidFill>
                  <a:schemeClr val="accent5">
                    <a:lumMod val="75000"/>
                  </a:schemeClr>
                </a:solidFill>
                <a:latin typeface="Liberation Mono"/>
              </a:rPr>
              <a:t>&lt;=</a:t>
            </a:r>
            <a:r>
              <a:rPr lang="en-IN" dirty="0">
                <a:latin typeface="Liberation Mono"/>
              </a:rPr>
              <a:t> a.end_date and a.id </a:t>
            </a:r>
            <a:r>
              <a:rPr lang="en-IN" dirty="0">
                <a:solidFill>
                  <a:schemeClr val="accent5">
                    <a:lumMod val="75000"/>
                  </a:schemeClr>
                </a:solidFill>
                <a:latin typeface="Liberation Mono"/>
              </a:rPr>
              <a:t>&lt;</a:t>
            </a:r>
            <a:r>
              <a:rPr lang="en-IN" dirty="0">
                <a:latin typeface="Liberation Mono"/>
              </a:rPr>
              <a:t> b.id;</a:t>
            </a:r>
          </a:p>
        </p:txBody>
      </p:sp>
      <p:sp>
        <p:nvSpPr>
          <p:cNvPr id="16" name="TextBox 15">
            <a:extLst>
              <a:ext uri="{FF2B5EF4-FFF2-40B4-BE49-F238E27FC236}">
                <a16:creationId xmlns:a16="http://schemas.microsoft.com/office/drawing/2014/main" id="{8E2097A6-86FC-4077-7887-4EFD51EC2F49}"/>
              </a:ext>
            </a:extLst>
          </p:cNvPr>
          <p:cNvSpPr txBox="1"/>
          <p:nvPr/>
        </p:nvSpPr>
        <p:spPr>
          <a:xfrm>
            <a:off x="263352" y="5118283"/>
            <a:ext cx="9217023" cy="800219"/>
          </a:xfrm>
          <a:prstGeom prst="rect">
            <a:avLst/>
          </a:prstGeom>
          <a:solidFill>
            <a:schemeClr val="bg1">
              <a:lumMod val="95000"/>
            </a:schemeClr>
          </a:solidFill>
        </p:spPr>
        <p:txBody>
          <a:bodyPr wrap="square">
            <a:spAutoFit/>
          </a:bodyPr>
          <a:lstStyle/>
          <a:p>
            <a:r>
              <a:rPr lang="en-IN" sz="2000" b="1" dirty="0">
                <a:latin typeface="Liberation Mono"/>
                <a:cs typeface="Arial" panose="020B0604020202020204" pitchFamily="34" charset="0"/>
              </a:rPr>
              <a:t>Two date ranges overlap if:</a:t>
            </a:r>
          </a:p>
          <a:p>
            <a:endParaRPr lang="en-IN" sz="400" dirty="0">
              <a:solidFill>
                <a:srgbClr val="7030A0"/>
              </a:solidFill>
              <a:latin typeface="Liberation Mono"/>
              <a:cs typeface="Arial" panose="020B0604020202020204" pitchFamily="34" charset="0"/>
            </a:endParaRPr>
          </a:p>
          <a:p>
            <a:r>
              <a:rPr lang="en-US" sz="2200" dirty="0">
                <a:solidFill>
                  <a:srgbClr val="7030A0"/>
                </a:solidFill>
                <a:latin typeface="Liberation Mono"/>
                <a:cs typeface="Arial" panose="020B0604020202020204" pitchFamily="34" charset="0"/>
              </a:rPr>
              <a:t>a.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b.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b.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a.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a:t>
            </a:r>
            <a:r>
              <a:rPr lang="en-IN" sz="2200" dirty="0">
                <a:solidFill>
                  <a:srgbClr val="7030A0"/>
                </a:solidFill>
                <a:latin typeface="Liberation Mono"/>
                <a:cs typeface="Arial" panose="020B0604020202020204" pitchFamily="34" charset="0"/>
              </a:rPr>
              <a:t>a.id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b.id;</a:t>
            </a:r>
          </a:p>
        </p:txBody>
      </p:sp>
      <p:sp>
        <p:nvSpPr>
          <p:cNvPr id="6" name="TextBox 5">
            <a:extLst>
              <a:ext uri="{FF2B5EF4-FFF2-40B4-BE49-F238E27FC236}">
                <a16:creationId xmlns:a16="http://schemas.microsoft.com/office/drawing/2014/main" id="{C1B56B7C-805A-8E6E-4FAA-139C59463712}"/>
              </a:ext>
            </a:extLst>
          </p:cNvPr>
          <p:cNvSpPr txBox="1"/>
          <p:nvPr/>
        </p:nvSpPr>
        <p:spPr>
          <a:xfrm>
            <a:off x="5231904" y="2852936"/>
            <a:ext cx="6823296" cy="1015663"/>
          </a:xfrm>
          <a:prstGeom prst="rect">
            <a:avLst/>
          </a:prstGeom>
          <a:noFill/>
        </p:spPr>
        <p:txBody>
          <a:bodyPr wrap="square">
            <a:spAutoFit/>
          </a:bodyPr>
          <a:lstStyle/>
          <a:p>
            <a:r>
              <a:rPr lang="en-IN" sz="2000" b="1" dirty="0">
                <a:latin typeface="Liberation Mono"/>
              </a:rPr>
              <a:t>This works for:</a:t>
            </a:r>
          </a:p>
          <a:p>
            <a:endParaRPr lang="en-US" sz="400" b="1" dirty="0">
              <a:latin typeface="Liberation Mono"/>
            </a:endParaRPr>
          </a:p>
          <a:p>
            <a:r>
              <a:rPr lang="en-US" dirty="0">
                <a:latin typeface="Liberation Mono"/>
              </a:rPr>
              <a:t>Employee shifts, Batch scheduling, Room bookings, Course batches, Leave applications, Seat reservations</a:t>
            </a:r>
            <a:endParaRPr lang="en-IN" dirty="0">
              <a:latin typeface="Liberation Mono"/>
            </a:endParaRPr>
          </a:p>
        </p:txBody>
      </p:sp>
      <p:sp>
        <p:nvSpPr>
          <p:cNvPr id="7" name="TextBox 6">
            <a:extLst>
              <a:ext uri="{FF2B5EF4-FFF2-40B4-BE49-F238E27FC236}">
                <a16:creationId xmlns:a16="http://schemas.microsoft.com/office/drawing/2014/main" id="{F59C2ED0-8BFA-D09C-91EC-62CB84768E06}"/>
              </a:ext>
            </a:extLst>
          </p:cNvPr>
          <p:cNvSpPr txBox="1"/>
          <p:nvPr/>
        </p:nvSpPr>
        <p:spPr>
          <a:xfrm>
            <a:off x="4367806" y="4077072"/>
            <a:ext cx="7560840" cy="800219"/>
          </a:xfrm>
          <a:prstGeom prst="rect">
            <a:avLst/>
          </a:prstGeom>
          <a:solidFill>
            <a:schemeClr val="bg1">
              <a:lumMod val="95000"/>
            </a:schemeClr>
          </a:solidFill>
        </p:spPr>
        <p:txBody>
          <a:bodyPr wrap="square">
            <a:spAutoFit/>
          </a:bodyPr>
          <a:lstStyle/>
          <a:p>
            <a:r>
              <a:rPr lang="en-IN" sz="2000" b="1" dirty="0">
                <a:latin typeface="Liberation Mono"/>
              </a:rPr>
              <a:t>To check if this date range: ('2024-07-01', '2024-07-10') overlaps: </a:t>
            </a:r>
          </a:p>
          <a:p>
            <a:endParaRPr lang="en-IN" sz="400" b="1" dirty="0">
              <a:latin typeface="Liberation Mono"/>
            </a:endParaRPr>
          </a:p>
          <a:p>
            <a:r>
              <a:rPr lang="en-IN" sz="2200" dirty="0">
                <a:solidFill>
                  <a:srgbClr val="7030A0"/>
                </a:solidFill>
                <a:latin typeface="Liberation Mono"/>
                <a:cs typeface="Arial" panose="020B0604020202020204" pitchFamily="34" charset="0"/>
              </a:rPr>
              <a:t>start_date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'2024-07-10'</a:t>
            </a:r>
            <a:r>
              <a:rPr lang="en-IN" sz="2200" dirty="0">
                <a:solidFill>
                  <a:srgbClr val="7030A0"/>
                </a:solidFill>
                <a:latin typeface="Liberation Mono"/>
                <a:cs typeface="Arial" panose="020B0604020202020204" pitchFamily="34" charset="0"/>
              </a:rPr>
              <a:t> </a:t>
            </a:r>
            <a:r>
              <a:rPr lang="en-IN" sz="2200" dirty="0">
                <a:solidFill>
                  <a:schemeClr val="accent4">
                    <a:lumMod val="50000"/>
                  </a:schemeClr>
                </a:solidFill>
                <a:latin typeface="Liberation Mono"/>
                <a:cs typeface="Arial" panose="020B0604020202020204" pitchFamily="34" charset="0"/>
              </a:rPr>
              <a:t>AND</a:t>
            </a:r>
            <a:r>
              <a:rPr lang="en-IN" sz="2200" dirty="0">
                <a:solidFill>
                  <a:srgbClr val="7030A0"/>
                </a:solidFill>
                <a:latin typeface="Liberation Mono"/>
                <a:cs typeface="Arial" panose="020B0604020202020204" pitchFamily="34" charset="0"/>
              </a:rPr>
              <a:t> end_date </a:t>
            </a:r>
            <a:r>
              <a:rPr lang="en-IN" sz="2200" dirty="0">
                <a:solidFill>
                  <a:srgbClr val="C00000"/>
                </a:solidFill>
                <a:latin typeface="Liberation Mono"/>
                <a:cs typeface="Arial" panose="020B0604020202020204" pitchFamily="34" charset="0"/>
              </a:rPr>
              <a:t>&gt;=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'2024-07-01'</a:t>
            </a:r>
            <a:r>
              <a:rPr lang="en-IN" sz="2200" dirty="0">
                <a:solidFill>
                  <a:srgbClr val="7030A0"/>
                </a:solidFill>
                <a:latin typeface="Liberation Mono"/>
                <a:cs typeface="Arial" panose="020B0604020202020204" pitchFamily="34" charset="0"/>
              </a:rPr>
              <a:t>;</a:t>
            </a:r>
          </a:p>
        </p:txBody>
      </p:sp>
      <p:sp>
        <p:nvSpPr>
          <p:cNvPr id="5" name="TextBox 4">
            <a:extLst>
              <a:ext uri="{FF2B5EF4-FFF2-40B4-BE49-F238E27FC236}">
                <a16:creationId xmlns:a16="http://schemas.microsoft.com/office/drawing/2014/main" id="{A2CA9144-1B20-5E4F-9555-77296B11679F}"/>
              </a:ext>
            </a:extLst>
          </p:cNvPr>
          <p:cNvSpPr txBox="1"/>
          <p:nvPr/>
        </p:nvSpPr>
        <p:spPr>
          <a:xfrm>
            <a:off x="8184231" y="519063"/>
            <a:ext cx="2503163"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Overlapping dates</a:t>
            </a:r>
            <a:endParaRPr lang="en-IN" sz="2200" dirty="0">
              <a:solidFill>
                <a:srgbClr val="C00000"/>
              </a:solidFill>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62985316-0D48-D5E6-41AD-1935850AC99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Overlapping date.</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18931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animBg="1"/>
      <p:bldP spid="6" grpId="0"/>
      <p:bldP spid="7" grpId="0" animBg="1"/>
    </p:bldLst>
  </p:timing>
</p:sld>
</file>

<file path=ppt/slides/slide6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common table expression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0FCD4CF5-2697-B976-9EC9-E980871B5755}"/>
              </a:ext>
            </a:extLst>
          </p:cNvPr>
          <p:cNvSpPr txBox="1"/>
          <p:nvPr/>
        </p:nvSpPr>
        <p:spPr>
          <a:xfrm>
            <a:off x="263352" y="469121"/>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Rectangle 4">
            <a:extLst>
              <a:ext uri="{FF2B5EF4-FFF2-40B4-BE49-F238E27FC236}">
                <a16:creationId xmlns:a16="http://schemas.microsoft.com/office/drawing/2014/main" id="{D9E2A79B-DE46-81E0-07E9-58EB28BD7F41}"/>
              </a:ext>
            </a:extLst>
          </p:cNvPr>
          <p:cNvSpPr/>
          <p:nvPr/>
        </p:nvSpPr>
        <p:spPr>
          <a:xfrm>
            <a:off x="257696" y="3212976"/>
            <a:ext cx="11598943" cy="707886"/>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In SQL, temporary result set that you can reference within a single SELECT, INSERT, UPDATE, or DELETE statement. It functions like a temporary view.</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8721BE6D-5314-FC8E-EEB2-8AA790CE7533}"/>
              </a:ext>
            </a:extLst>
          </p:cNvPr>
          <p:cNvSpPr txBox="1"/>
          <p:nvPr/>
        </p:nvSpPr>
        <p:spPr>
          <a:xfrm>
            <a:off x="5226248" y="134930"/>
            <a:ext cx="6846416" cy="369332"/>
          </a:xfrm>
          <a:prstGeom prst="rect">
            <a:avLst/>
          </a:prstGeom>
          <a:solidFill>
            <a:schemeClr val="accent3">
              <a:lumMod val="40000"/>
              <a:lumOff val="60000"/>
            </a:schemeClr>
          </a:solidFill>
        </p:spPr>
        <p:txBody>
          <a:bodyPr wrap="square">
            <a:spAutoFit/>
          </a:bodyPr>
          <a:lstStyle/>
          <a:p>
            <a:r>
              <a:rPr lang="en-US" b="1" dirty="0">
                <a:latin typeface="Palatino Linotype" panose="02040502050505030304" pitchFamily="18" charset="0"/>
              </a:rPr>
              <a:t>You can define multiple CTEs by separating them with commas</a:t>
            </a:r>
            <a:endParaRPr lang="en-IN" b="1" dirty="0">
              <a:latin typeface="Palatino Linotype" panose="02040502050505030304" pitchFamily="18" charset="0"/>
            </a:endParaRPr>
          </a:p>
        </p:txBody>
      </p:sp>
      <p:sp>
        <p:nvSpPr>
          <p:cNvPr id="6" name="TextBox 5">
            <a:extLst>
              <a:ext uri="{FF2B5EF4-FFF2-40B4-BE49-F238E27FC236}">
                <a16:creationId xmlns:a16="http://schemas.microsoft.com/office/drawing/2014/main" id="{E37B564F-DF6C-52F5-F510-992F86818FA6}"/>
              </a:ext>
            </a:extLst>
          </p:cNvPr>
          <p:cNvSpPr txBox="1"/>
          <p:nvPr/>
        </p:nvSpPr>
        <p:spPr>
          <a:xfrm>
            <a:off x="257697" y="4407774"/>
            <a:ext cx="11598942" cy="1973554"/>
          </a:xfrm>
          <a:prstGeom prst="rect">
            <a:avLst/>
          </a:prstGeom>
          <a:noFill/>
        </p:spPr>
        <p:txBody>
          <a:bodyPr wrap="square">
            <a:spAutoFit/>
          </a:bodyPr>
          <a:lstStyle/>
          <a:p>
            <a:r>
              <a:rPr lang="en-US" dirty="0">
                <a:latin typeface="Palatino Linotype" panose="02040502050505030304" pitchFamily="18" charset="0"/>
              </a:rPr>
              <a:t>The </a:t>
            </a:r>
            <a:r>
              <a:rPr lang="en-US" b="1" dirty="0">
                <a:latin typeface="Palatino Linotype" panose="02040502050505030304" pitchFamily="18" charset="0"/>
              </a:rPr>
              <a:t>Anchor Member</a:t>
            </a:r>
            <a:r>
              <a:rPr lang="en-US" dirty="0">
                <a:latin typeface="Palatino Linotype" panose="02040502050505030304" pitchFamily="18" charset="0"/>
              </a:rPr>
              <a:t> is the </a:t>
            </a:r>
            <a:r>
              <a:rPr lang="en-US" b="1" dirty="0">
                <a:latin typeface="Palatino Linotype" panose="02040502050505030304" pitchFamily="18" charset="0"/>
              </a:rPr>
              <a:t>first (non-recursive)</a:t>
            </a:r>
            <a:r>
              <a:rPr lang="en-US" dirty="0">
                <a:latin typeface="Palatino Linotype" panose="02040502050505030304" pitchFamily="18" charset="0"/>
              </a:rPr>
              <a:t> part of a </a:t>
            </a:r>
            <a:r>
              <a:rPr lang="en-US" b="1" dirty="0">
                <a:latin typeface="Palatino Linotype" panose="02040502050505030304" pitchFamily="18" charset="0"/>
              </a:rPr>
              <a:t>recursive CTE</a:t>
            </a:r>
            <a:r>
              <a:rPr lang="en-US" dirty="0">
                <a:latin typeface="Palatino Linotype" panose="02040502050505030304" pitchFamily="18" charset="0"/>
              </a:rPr>
              <a:t>. It provides the </a:t>
            </a:r>
            <a:r>
              <a:rPr lang="en-US" b="1" dirty="0">
                <a:latin typeface="Palatino Linotype" panose="02040502050505030304" pitchFamily="18" charset="0"/>
              </a:rPr>
              <a:t>starting rows</a:t>
            </a:r>
            <a:r>
              <a:rPr lang="en-US" dirty="0">
                <a:latin typeface="Palatino Linotype" panose="02040502050505030304" pitchFamily="18" charset="0"/>
              </a:rPr>
              <a:t> (the </a:t>
            </a:r>
            <a:r>
              <a:rPr lang="en-US" i="1" dirty="0">
                <a:latin typeface="Palatino Linotype" panose="02040502050505030304" pitchFamily="18" charset="0"/>
              </a:rPr>
              <a:t>base case</a:t>
            </a:r>
            <a:r>
              <a:rPr lang="en-US" dirty="0">
                <a:latin typeface="Palatino Linotype" panose="02040502050505030304" pitchFamily="18" charset="0"/>
              </a:rPr>
              <a:t>) from which the recursion begins.</a:t>
            </a:r>
          </a:p>
          <a:p>
            <a:endParaRPr lang="en-US" sz="800" dirty="0">
              <a:latin typeface="Palatino Linotype" panose="02040502050505030304" pitchFamily="18" charset="0"/>
            </a:endParaRP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1 — Run Anchor Member</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2 — Run Recursive Member (Iteration 1)</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3 — Next Recursive Iteration</a:t>
            </a:r>
            <a:endParaRPr lang="en-IN" dirty="0">
              <a:solidFill>
                <a:schemeClr val="tx1">
                  <a:lumMod val="95000"/>
                  <a:lumOff val="5000"/>
                </a:schemeClr>
              </a:solidFill>
              <a:latin typeface="Palatino Linotype" panose="02040502050505030304" pitchFamily="18" charset="0"/>
            </a:endParaRPr>
          </a:p>
        </p:txBody>
      </p:sp>
    </p:spTree>
    <p:extLst>
      <p:ext uri="{BB962C8B-B14F-4D97-AF65-F5344CB8AC3E}">
        <p14:creationId xmlns:p14="http://schemas.microsoft.com/office/powerpoint/2010/main" val="1920352185"/>
      </p:ext>
    </p:extLst>
  </p:cSld>
  <p:clrMapOvr>
    <a:masterClrMapping/>
  </p:clrMapOvr>
</p:sld>
</file>

<file path=ppt/slides/slide6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1759ED9-E82B-1C9C-8442-B83605190545}"/>
              </a:ext>
            </a:extLst>
          </p:cNvPr>
          <p:cNvSpPr txBox="1"/>
          <p:nvPr/>
        </p:nvSpPr>
        <p:spPr>
          <a:xfrm>
            <a:off x="227348" y="1771200"/>
            <a:ext cx="11737304" cy="3046988"/>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(column1, 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CTE query definition (a SELECT statement)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12" name="TextBox 11">
            <a:extLst>
              <a:ext uri="{FF2B5EF4-FFF2-40B4-BE49-F238E27FC236}">
                <a16:creationId xmlns:a16="http://schemas.microsoft.com/office/drawing/2014/main" id="{96C16C0C-F022-C502-413E-439A3811AC94}"/>
              </a:ext>
            </a:extLst>
          </p:cNvPr>
          <p:cNvSpPr txBox="1"/>
          <p:nvPr/>
        </p:nvSpPr>
        <p:spPr>
          <a:xfrm>
            <a:off x="247742" y="980728"/>
            <a:ext cx="2895930" cy="461665"/>
          </a:xfrm>
          <a:prstGeom prst="rect">
            <a:avLst/>
          </a:prstGeom>
          <a:noFill/>
        </p:spPr>
        <p:txBody>
          <a:bodyPr wrap="square">
            <a:spAutoFit/>
          </a:bodyPr>
          <a:lstStyle/>
          <a:p>
            <a:r>
              <a:rPr lang="en-IN" sz="2400" b="1" i="0" dirty="0">
                <a:solidFill>
                  <a:srgbClr val="001D35"/>
                </a:solidFill>
                <a:effectLst/>
                <a:latin typeface="Google Sans"/>
              </a:rPr>
              <a:t>Basic CTE Syntax</a:t>
            </a:r>
            <a:endParaRPr lang="en-IN" sz="2400" dirty="0"/>
          </a:p>
        </p:txBody>
      </p:sp>
      <p:sp>
        <p:nvSpPr>
          <p:cNvPr id="13" name="Rectangle 12">
            <a:extLst>
              <a:ext uri="{FF2B5EF4-FFF2-40B4-BE49-F238E27FC236}">
                <a16:creationId xmlns:a16="http://schemas.microsoft.com/office/drawing/2014/main" id="{A13309ED-2491-7874-EBE7-39E65B7D50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4" name="TextBox 3">
            <a:extLst>
              <a:ext uri="{FF2B5EF4-FFF2-40B4-BE49-F238E27FC236}">
                <a16:creationId xmlns:a16="http://schemas.microsoft.com/office/drawing/2014/main" id="{581CAD15-7236-A3C2-2DF1-8579F68E03EC}"/>
              </a:ext>
            </a:extLst>
          </p:cNvPr>
          <p:cNvSpPr txBox="1"/>
          <p:nvPr/>
        </p:nvSpPr>
        <p:spPr>
          <a:xfrm>
            <a:off x="227348" y="5518973"/>
            <a:ext cx="1173730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WITH</a:t>
            </a:r>
            <a:r>
              <a:rPr lang="en-IN" dirty="0">
                <a:latin typeface="Liberation Mono"/>
              </a:rPr>
              <a:t> </a:t>
            </a:r>
            <a:r>
              <a:rPr lang="en-IN" b="1" i="1" dirty="0">
                <a:latin typeface="Liberation Mono"/>
              </a:rPr>
              <a:t>cte</a:t>
            </a:r>
            <a:r>
              <a:rPr lang="en-IN" dirty="0">
                <a:latin typeface="Liberation Mono"/>
              </a:rPr>
              <a:t> (customer_id, total_amount) AS (</a:t>
            </a:r>
            <a:r>
              <a:rPr lang="en-IN" dirty="0">
                <a:solidFill>
                  <a:srgbClr val="0077AA"/>
                </a:solidFill>
                <a:latin typeface="Liberation Mono"/>
                <a:cs typeface="Arial" panose="020B0604020202020204" pitchFamily="34" charset="0"/>
              </a:rPr>
              <a:t>SELECT</a:t>
            </a:r>
            <a:r>
              <a:rPr lang="en-IN" dirty="0">
                <a:latin typeface="Liberation Mono"/>
              </a:rPr>
              <a:t> cnum, </a:t>
            </a:r>
            <a:r>
              <a:rPr lang="en-IN" dirty="0">
                <a:solidFill>
                  <a:srgbClr val="DD4A68"/>
                </a:solidFill>
                <a:latin typeface="Liberation Mono"/>
              </a:rPr>
              <a:t>SUM</a:t>
            </a:r>
            <a:r>
              <a:rPr lang="en-IN" dirty="0">
                <a:latin typeface="Liberation Mono"/>
              </a:rPr>
              <a:t>(amt) </a:t>
            </a:r>
            <a:r>
              <a:rPr lang="en-IN" dirty="0">
                <a:solidFill>
                  <a:srgbClr val="0077AA"/>
                </a:solidFill>
                <a:latin typeface="Liberation Mono"/>
                <a:cs typeface="Arial" panose="020B0604020202020204" pitchFamily="34" charset="0"/>
              </a:rPr>
              <a:t>FROM</a:t>
            </a:r>
            <a:r>
              <a:rPr lang="en-IN" dirty="0">
                <a:latin typeface="Liberation Mono"/>
              </a:rPr>
              <a:t> orders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cnum </a:t>
            </a:r>
            <a:r>
              <a:rPr lang="en-IN" dirty="0">
                <a:solidFill>
                  <a:srgbClr val="0077AA"/>
                </a:solidFill>
                <a:latin typeface="Liberation Mono"/>
                <a:cs typeface="Arial" panose="020B0604020202020204" pitchFamily="34" charset="0"/>
              </a:rPr>
              <a:t>HAVING</a:t>
            </a:r>
            <a:r>
              <a:rPr lang="en-IN" dirty="0">
                <a:latin typeface="Liberation Mono"/>
              </a:rPr>
              <a:t> </a:t>
            </a:r>
            <a:r>
              <a:rPr lang="en-IN" dirty="0">
                <a:solidFill>
                  <a:srgbClr val="DD4A68"/>
                </a:solidFill>
                <a:latin typeface="Liberation Mono"/>
              </a:rPr>
              <a:t>SUM</a:t>
            </a:r>
            <a:r>
              <a:rPr lang="en-IN" dirty="0">
                <a:latin typeface="Liberation Mono"/>
              </a:rPr>
              <a:t>(amt)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50</a:t>
            </a:r>
            <a:r>
              <a:rPr lang="en-IN" dirty="0">
                <a:latin typeface="Liberation Mono"/>
              </a:rPr>
              <a:t> ) </a:t>
            </a:r>
            <a:r>
              <a:rPr lang="en-IN" dirty="0">
                <a:solidFill>
                  <a:srgbClr val="0077AA"/>
                </a:solidFill>
                <a:latin typeface="Liberation Mono"/>
                <a:cs typeface="Arial" panose="020B0604020202020204" pitchFamily="34" charset="0"/>
              </a:rPr>
              <a:t>SELECT</a:t>
            </a:r>
            <a:r>
              <a:rPr lang="en-IN" dirty="0">
                <a:latin typeface="Liberation Mono"/>
              </a:rPr>
              <a:t> c.cnum, c.cname, h.total_amount </a:t>
            </a:r>
            <a:r>
              <a:rPr lang="en-IN" dirty="0">
                <a:solidFill>
                  <a:srgbClr val="0077AA"/>
                </a:solidFill>
                <a:latin typeface="Liberation Mono"/>
                <a:cs typeface="Arial" panose="020B0604020202020204" pitchFamily="34" charset="0"/>
              </a:rPr>
              <a:t>FROM</a:t>
            </a:r>
            <a:r>
              <a:rPr lang="en-IN" dirty="0">
                <a:latin typeface="Liberation Mono"/>
              </a:rPr>
              <a:t> customers c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r>
              <a:rPr lang="en-IN" b="1" i="1" dirty="0">
                <a:latin typeface="Liberation Mono"/>
              </a:rPr>
              <a:t>cte h</a:t>
            </a:r>
            <a:r>
              <a:rPr lang="en-IN" dirty="0">
                <a:latin typeface="Liberation Mono"/>
              </a:rPr>
              <a:t> </a:t>
            </a:r>
            <a:r>
              <a:rPr lang="en-IN" dirty="0">
                <a:solidFill>
                  <a:srgbClr val="DD4A68"/>
                </a:solidFill>
                <a:latin typeface="Liberation Mono"/>
              </a:rPr>
              <a:t>ON</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h</a:t>
            </a:r>
            <a:r>
              <a:rPr lang="en-IN" dirty="0">
                <a:latin typeface="Liberation Mono"/>
              </a:rPr>
              <a:t>.customer_id;</a:t>
            </a:r>
          </a:p>
        </p:txBody>
      </p:sp>
    </p:spTree>
    <p:extLst>
      <p:ext uri="{BB962C8B-B14F-4D97-AF65-F5344CB8AC3E}">
        <p14:creationId xmlns:p14="http://schemas.microsoft.com/office/powerpoint/2010/main" val="2239991619"/>
      </p:ext>
    </p:extLst>
  </p:cSld>
  <p:clrMapOvr>
    <a:masterClrMapping/>
  </p:clrMapOvr>
</p:sld>
</file>

<file path=ppt/slides/slide6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2B054-71A1-7BC3-95FD-15D5DE7A25DE}"/>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B52D14EF-A751-1C0F-DE7B-F6582C2940D0}"/>
              </a:ext>
            </a:extLst>
          </p:cNvPr>
          <p:cNvSpPr txBox="1"/>
          <p:nvPr/>
        </p:nvSpPr>
        <p:spPr>
          <a:xfrm>
            <a:off x="226800" y="1771200"/>
            <a:ext cx="11593288" cy="4154984"/>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RECURSIVE</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Anchor member (non-recursive part, the base case)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UNION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ALL</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Recursive member (refers to the CTE name itself)</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termination_condition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2" name="TextBox 1">
            <a:extLst>
              <a:ext uri="{FF2B5EF4-FFF2-40B4-BE49-F238E27FC236}">
                <a16:creationId xmlns:a16="http://schemas.microsoft.com/office/drawing/2014/main" id="{066B3E04-1F1B-12E0-953B-30516F1F80C3}"/>
              </a:ext>
            </a:extLst>
          </p:cNvPr>
          <p:cNvSpPr txBox="1"/>
          <p:nvPr/>
        </p:nvSpPr>
        <p:spPr>
          <a:xfrm>
            <a:off x="247742" y="980728"/>
            <a:ext cx="2895930" cy="461665"/>
          </a:xfrm>
          <a:prstGeom prst="rect">
            <a:avLst/>
          </a:prstGeom>
          <a:noFill/>
        </p:spPr>
        <p:txBody>
          <a:bodyPr wrap="square">
            <a:spAutoFit/>
          </a:bodyPr>
          <a:lstStyle/>
          <a:p>
            <a:r>
              <a:rPr lang="en-IN" sz="2400" b="1" dirty="0">
                <a:solidFill>
                  <a:srgbClr val="001D35"/>
                </a:solidFill>
                <a:latin typeface="Google Sans"/>
              </a:rPr>
              <a:t>Recursive CTE Syntax</a:t>
            </a:r>
            <a:endParaRPr lang="en-IN" sz="2400" dirty="0"/>
          </a:p>
        </p:txBody>
      </p:sp>
      <p:sp>
        <p:nvSpPr>
          <p:cNvPr id="5" name="Rectangle 4">
            <a:extLst>
              <a:ext uri="{FF2B5EF4-FFF2-40B4-BE49-F238E27FC236}">
                <a16:creationId xmlns:a16="http://schemas.microsoft.com/office/drawing/2014/main" id="{4574DB94-B997-B780-B0C4-76E73199C2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6" name="TextBox 5">
            <a:extLst>
              <a:ext uri="{FF2B5EF4-FFF2-40B4-BE49-F238E27FC236}">
                <a16:creationId xmlns:a16="http://schemas.microsoft.com/office/drawing/2014/main" id="{D3ACD075-BEE9-69FE-0C4E-0AF4F1D333D0}"/>
              </a:ext>
            </a:extLst>
          </p:cNvPr>
          <p:cNvSpPr txBox="1"/>
          <p:nvPr/>
        </p:nvSpPr>
        <p:spPr>
          <a:xfrm>
            <a:off x="247742" y="6095037"/>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empno, ename, mgr, </a:t>
            </a:r>
            <a:r>
              <a:rPr lang="en-IN" dirty="0">
                <a:solidFill>
                  <a:srgbClr val="990055"/>
                </a:solidFill>
                <a:latin typeface="Liberation Mono"/>
              </a:rPr>
              <a:t>1</a:t>
            </a:r>
            <a:r>
              <a:rPr lang="en-IN" dirty="0">
                <a:latin typeface="Liberation Mono"/>
              </a:rPr>
              <a:t> AS level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mgr </a:t>
            </a:r>
            <a:r>
              <a:rPr lang="en-IN" dirty="0">
                <a:solidFill>
                  <a:schemeClr val="accent4">
                    <a:lumMod val="50000"/>
                  </a:schemeClr>
                </a:solidFill>
                <a:latin typeface="Liberation Mono"/>
                <a:cs typeface="Arial" panose="020B0604020202020204" pitchFamily="34" charset="0"/>
              </a:rPr>
              <a:t>IS NULL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b="1" i="1" dirty="0">
                <a:latin typeface="Liberation Mono"/>
              </a:rPr>
              <a:t>c</a:t>
            </a:r>
            <a:r>
              <a:rPr lang="en-IN" dirty="0">
                <a:latin typeface="Liberation Mono"/>
              </a:rPr>
              <a:t>.level +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cte c</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e.mgr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c</a:t>
            </a:r>
            <a:r>
              <a:rPr lang="en-IN" dirty="0">
                <a:latin typeface="Liberation Mono"/>
              </a:rPr>
              <a:t>.empno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b="1" i="1" dirty="0">
                <a:latin typeface="Liberation Mono"/>
              </a:rPr>
              <a:t>c</a:t>
            </a:r>
            <a:r>
              <a:rPr lang="en-IN" dirty="0">
                <a:latin typeface="Liberation Mono"/>
              </a:rPr>
              <a:t>.level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113867398"/>
      </p:ext>
    </p:extLst>
  </p:cSld>
  <p:clrMapOvr>
    <a:masterClrMapping/>
  </p:clrMapOvr>
</p:sld>
</file>

<file path=ppt/slides/slide6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D5162F-C45E-4588-DEAE-176FDDF498F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7C1CB06-6EAA-33E1-EC22-BD6DD472A52C}"/>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C84364F-B108-F66A-D218-44168CD1236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a:t>
            </a:r>
          </a:p>
        </p:txBody>
      </p:sp>
      <p:sp>
        <p:nvSpPr>
          <p:cNvPr id="4" name="TextBox 3">
            <a:extLst>
              <a:ext uri="{FF2B5EF4-FFF2-40B4-BE49-F238E27FC236}">
                <a16:creationId xmlns:a16="http://schemas.microsoft.com/office/drawing/2014/main" id="{367EB344-4128-4D30-43B6-CAA73DE9A240}"/>
              </a:ext>
            </a:extLst>
          </p:cNvPr>
          <p:cNvSpPr txBox="1"/>
          <p:nvPr/>
        </p:nvSpPr>
        <p:spPr>
          <a:xfrm>
            <a:off x="298800" y="1771200"/>
            <a:ext cx="11629848" cy="3785652"/>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INSERT</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INTO</a:t>
            </a:r>
            <a:r>
              <a:rPr lang="en-US" sz="2400" i="0" dirty="0">
                <a:solidFill>
                  <a:srgbClr val="0A0A0A"/>
                </a:solidFill>
                <a:effectLst/>
                <a:latin typeface="Courier New" panose="02070309020205020404" pitchFamily="49" charset="0"/>
              </a:rPr>
              <a:t> target_table (column1, column2, ...)</a:t>
            </a:r>
          </a:p>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(cte_column1, cte_column2,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CTE query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final SELECT statement that pulls data from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cte_column1, cte_column2, ...</a:t>
            </a:r>
          </a:p>
          <a:p>
            <a:pPr algn="l">
              <a:buNone/>
            </a:pP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6" name="TextBox 5">
            <a:extLst>
              <a:ext uri="{FF2B5EF4-FFF2-40B4-BE49-F238E27FC236}">
                <a16:creationId xmlns:a16="http://schemas.microsoft.com/office/drawing/2014/main" id="{80F7A60F-C6F3-51CA-9099-5CD42B63B45D}"/>
              </a:ext>
            </a:extLst>
          </p:cNvPr>
          <p:cNvSpPr txBox="1"/>
          <p:nvPr/>
        </p:nvSpPr>
        <p:spPr>
          <a:xfrm>
            <a:off x="247742" y="5819113"/>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x(c1)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dirty="0">
                <a:solidFill>
                  <a:srgbClr val="0077AA"/>
                </a:solidFill>
                <a:latin typeface="Liberation Mono"/>
                <a:cs typeface="Arial" panose="020B0604020202020204" pitchFamily="34" charset="0"/>
              </a:rPr>
              <a:t>WITH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990055"/>
                </a:solidFill>
                <a:latin typeface="Liberation Mono"/>
              </a:rPr>
              <a:t>1</a:t>
            </a:r>
            <a:r>
              <a:rPr lang="en-IN" dirty="0">
                <a:latin typeface="Liberation Mono"/>
              </a:rPr>
              <a:t> AS n UNION ALL </a:t>
            </a:r>
            <a:r>
              <a:rPr lang="en-IN" dirty="0">
                <a:solidFill>
                  <a:srgbClr val="0077AA"/>
                </a:solidFill>
                <a:latin typeface="Liberation Mono"/>
                <a:cs typeface="Arial" panose="020B0604020202020204" pitchFamily="34" charset="0"/>
              </a:rPr>
              <a:t>SELECT</a:t>
            </a:r>
            <a:r>
              <a:rPr lang="en-IN" dirty="0">
                <a:latin typeface="Liberation Mono"/>
              </a:rPr>
              <a:t> n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n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curdate() </a:t>
            </a:r>
            <a:r>
              <a:rPr lang="en-IN" dirty="0">
                <a:solidFill>
                  <a:schemeClr val="accent5">
                    <a:lumMod val="75000"/>
                  </a:schemeClr>
                </a:solidFill>
                <a:latin typeface="Liberation Mono"/>
              </a:rPr>
              <a:t>+</a:t>
            </a:r>
            <a:r>
              <a:rPr lang="en-IN" dirty="0">
                <a:latin typeface="Liberation Mono"/>
              </a:rPr>
              <a:t> INTERVAL n DAY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309357687"/>
      </p:ext>
    </p:extLst>
  </p:cSld>
  <p:clrMapOvr>
    <a:masterClrMapping/>
  </p:clrMapOvr>
</p:sld>
</file>

<file path=ppt/slides/slide6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2CBD1-AC84-8E38-BDC7-D54817D0FF3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A42A21B-060E-9206-ED4D-6D2CB0EC8630}"/>
              </a:ext>
            </a:extLst>
          </p:cNvPr>
          <p:cNvSpPr txBox="1"/>
          <p:nvPr/>
        </p:nvSpPr>
        <p:spPr>
          <a:xfrm>
            <a:off x="247742" y="692696"/>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90A1861-D92B-71CF-F32F-D8FBE9D701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a:t>
            </a:r>
          </a:p>
        </p:txBody>
      </p:sp>
      <p:sp>
        <p:nvSpPr>
          <p:cNvPr id="6" name="TextBox 5">
            <a:extLst>
              <a:ext uri="{FF2B5EF4-FFF2-40B4-BE49-F238E27FC236}">
                <a16:creationId xmlns:a16="http://schemas.microsoft.com/office/drawing/2014/main" id="{3E782AB6-EA46-F80F-DD7D-D3E3C1082774}"/>
              </a:ext>
            </a:extLst>
          </p:cNvPr>
          <p:cNvSpPr txBox="1"/>
          <p:nvPr/>
        </p:nvSpPr>
        <p:spPr>
          <a:xfrm>
            <a:off x="298800" y="1190357"/>
            <a:ext cx="11594400" cy="4893647"/>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subquery that defines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UPDATE statement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UPDATE</a:t>
            </a:r>
            <a:r>
              <a:rPr lang="en-US" sz="2400" i="0" dirty="0">
                <a:solidFill>
                  <a:srgbClr val="0A0A0A"/>
                </a:solidFill>
                <a:effectLst/>
                <a:latin typeface="Courier New" panose="02070309020205020404" pitchFamily="49" charset="0"/>
              </a:rPr>
              <a:t> table_to_be_updated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t1</a:t>
            </a:r>
          </a:p>
          <a:p>
            <a:pPr algn="l">
              <a:buNone/>
            </a:pPr>
            <a:r>
              <a:rPr lang="en-US" sz="2400" i="0" dirty="0">
                <a:solidFill>
                  <a:srgbClr val="9334E6"/>
                </a:solidFill>
                <a:effectLst/>
                <a:latin typeface="Courier New" panose="02070309020205020404" pitchFamily="49" charset="0"/>
              </a:rPr>
              <a:t>INNER</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t2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t1.column_id = t2.column_id</a:t>
            </a:r>
          </a:p>
          <a:p>
            <a:pPr algn="l">
              <a:buNone/>
            </a:pPr>
            <a:r>
              <a:rPr lang="en-US" sz="2400" i="0" dirty="0">
                <a:solidFill>
                  <a:srgbClr val="9334E6"/>
                </a:solidFill>
                <a:effectLst/>
                <a:latin typeface="Courier New" panose="02070309020205020404" pitchFamily="49" charset="0"/>
              </a:rPr>
              <a:t>SET</a:t>
            </a:r>
            <a:r>
              <a:rPr lang="en-US" sz="2400" i="0" dirty="0">
                <a:solidFill>
                  <a:srgbClr val="0A0A0A"/>
                </a:solidFill>
                <a:effectLst/>
                <a:latin typeface="Courier New" panose="02070309020205020404" pitchFamily="49" charset="0"/>
              </a:rPr>
              <a:t> t1.column_to_update = t2.new_value_from_cte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[condition];</a:t>
            </a:r>
          </a:p>
        </p:txBody>
      </p:sp>
      <p:sp>
        <p:nvSpPr>
          <p:cNvPr id="4" name="TextBox 3">
            <a:extLst>
              <a:ext uri="{FF2B5EF4-FFF2-40B4-BE49-F238E27FC236}">
                <a16:creationId xmlns:a16="http://schemas.microsoft.com/office/drawing/2014/main" id="{EA45BB82-5497-1623-EBAE-F798D633AE91}"/>
              </a:ext>
            </a:extLst>
          </p:cNvPr>
          <p:cNvSpPr txBox="1"/>
          <p:nvPr/>
        </p:nvSpPr>
        <p:spPr>
          <a:xfrm>
            <a:off x="247742" y="6093296"/>
            <a:ext cx="1194425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emp.empno </a:t>
            </a:r>
            <a:r>
              <a:rPr lang="en-IN" dirty="0">
                <a:solidFill>
                  <a:srgbClr val="0077AA"/>
                </a:solidFill>
                <a:latin typeface="Liberation Mono"/>
                <a:cs typeface="Arial" panose="020B0604020202020204" pitchFamily="34" charset="0"/>
              </a:rPr>
              <a:t>FROM</a:t>
            </a:r>
            <a:r>
              <a:rPr lang="en-IN" dirty="0">
                <a:latin typeface="Liberation Mono"/>
              </a:rPr>
              <a:t> emp, dept </a:t>
            </a:r>
            <a:r>
              <a:rPr lang="en-IN" dirty="0">
                <a:solidFill>
                  <a:srgbClr val="0077AA"/>
                </a:solidFill>
                <a:latin typeface="Liberation Mono"/>
                <a:cs typeface="Arial" panose="020B0604020202020204" pitchFamily="34" charset="0"/>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dirty="0" err="1">
                <a:latin typeface="Liberation Mono"/>
              </a:rPr>
              <a:t>dept.dname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'HR'</a:t>
            </a:r>
            <a:r>
              <a:rPr lang="en-IN" dirty="0">
                <a:latin typeface="Liberation Mono"/>
              </a:rPr>
              <a:t>) </a:t>
            </a:r>
            <a:r>
              <a:rPr lang="en-IN" dirty="0">
                <a:solidFill>
                  <a:srgbClr val="0077AA"/>
                </a:solidFill>
                <a:latin typeface="Liberation Mono"/>
                <a:cs typeface="Arial" panose="020B0604020202020204" pitchFamily="34" charset="0"/>
              </a:rPr>
              <a:t>UPDATE</a:t>
            </a:r>
            <a:r>
              <a:rPr lang="en-IN" dirty="0">
                <a:latin typeface="Liberation Mono"/>
              </a:rPr>
              <a:t> emp </a:t>
            </a:r>
            <a:r>
              <a:rPr lang="en-IN" dirty="0">
                <a:solidFill>
                  <a:srgbClr val="0077AA"/>
                </a:solidFill>
                <a:latin typeface="Liberation Mono"/>
                <a:cs typeface="Arial" panose="020B0604020202020204" pitchFamily="34" charset="0"/>
              </a:rPr>
              <a:t>SET</a:t>
            </a:r>
            <a:r>
              <a:rPr lang="en-IN" dirty="0">
                <a:latin typeface="Liberation Mono"/>
              </a:rPr>
              <a:t> sal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4">
                    <a:lumMod val="50000"/>
                  </a:schemeClr>
                </a:solidFill>
                <a:latin typeface="Liberation Mono"/>
              </a:rPr>
              <a:t>IN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empno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
        <p:nvSpPr>
          <p:cNvPr id="9" name="TextBox 8">
            <a:extLst>
              <a:ext uri="{FF2B5EF4-FFF2-40B4-BE49-F238E27FC236}">
                <a16:creationId xmlns:a16="http://schemas.microsoft.com/office/drawing/2014/main" id="{AA709355-3595-D278-408A-9E8298B4426D}"/>
              </a:ext>
            </a:extLst>
          </p:cNvPr>
          <p:cNvSpPr txBox="1"/>
          <p:nvPr/>
        </p:nvSpPr>
        <p:spPr>
          <a:xfrm>
            <a:off x="5798822" y="2276872"/>
            <a:ext cx="6094378" cy="369332"/>
          </a:xfrm>
          <a:prstGeom prst="rect">
            <a:avLst/>
          </a:prstGeom>
          <a:noFill/>
        </p:spPr>
        <p:txBody>
          <a:bodyPr wrap="square">
            <a:spAutoFit/>
          </a:bodyPr>
          <a:lstStyle/>
          <a:p>
            <a:r>
              <a:rPr lang="en-US" dirty="0">
                <a:solidFill>
                  <a:srgbClr val="00B050"/>
                </a:solidFill>
                <a:latin typeface="Liberation Mono"/>
              </a:rPr>
              <a:t>'TOTAL</a:t>
            </a:r>
            <a:endParaRPr lang="en-IN" dirty="0"/>
          </a:p>
        </p:txBody>
      </p:sp>
    </p:spTree>
    <p:extLst>
      <p:ext uri="{BB962C8B-B14F-4D97-AF65-F5344CB8AC3E}">
        <p14:creationId xmlns:p14="http://schemas.microsoft.com/office/powerpoint/2010/main" val="4025116936"/>
      </p:ext>
    </p:extLst>
  </p:cSld>
  <p:clrMapOvr>
    <a:masterClrMapping/>
  </p:clrMapOvr>
</p:sld>
</file>

<file path=ppt/slides/slide6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21A9FE-42C1-A2EC-80CA-FBC2FD01A46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0863B3-54F5-744F-34B9-55A58E6D91CA}"/>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99ACEF22-D256-62E1-A235-4A47592792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DELETE</a:t>
            </a:r>
          </a:p>
        </p:txBody>
      </p:sp>
      <p:sp>
        <p:nvSpPr>
          <p:cNvPr id="4" name="TextBox 3">
            <a:extLst>
              <a:ext uri="{FF2B5EF4-FFF2-40B4-BE49-F238E27FC236}">
                <a16:creationId xmlns:a16="http://schemas.microsoft.com/office/drawing/2014/main" id="{8CC2C4CC-F8E0-1DA1-F94F-C7A95AC6F68A}"/>
              </a:ext>
            </a:extLst>
          </p:cNvPr>
          <p:cNvSpPr txBox="1"/>
          <p:nvPr/>
        </p:nvSpPr>
        <p:spPr>
          <a:xfrm>
            <a:off x="298800" y="1771200"/>
            <a:ext cx="11557840" cy="4524315"/>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SELECT statement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columns</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DELETE statement references the CTE in the WHERE or JOIN clause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DELETE</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IN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Tree>
    <p:extLst>
      <p:ext uri="{BB962C8B-B14F-4D97-AF65-F5344CB8AC3E}">
        <p14:creationId xmlns:p14="http://schemas.microsoft.com/office/powerpoint/2010/main" val="3189076262"/>
      </p:ext>
    </p:extLst>
  </p:cSld>
  <p:clrMapOvr>
    <a:masterClrMapping/>
  </p:clrMapOvr>
</p:sld>
</file>

<file path=ppt/slides/slide6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78962"/>
            <a:ext cx="11665296" cy="452431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50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DD4A68"/>
                </a:solidFill>
                <a:latin typeface="Liberation Mono"/>
              </a:rPr>
              <a:t>ROUND</a:t>
            </a:r>
            <a:r>
              <a:rPr lang="en-US" dirty="0">
                <a:latin typeface="Liberation Mono"/>
              </a:rPr>
              <a:t>(</a:t>
            </a:r>
            <a:r>
              <a:rPr lang="en-US" dirty="0">
                <a:solidFill>
                  <a:srgbClr val="DD4A68"/>
                </a:solidFill>
                <a:latin typeface="Liberation Mono"/>
              </a:rPr>
              <a:t>RAND</a:t>
            </a:r>
            <a:r>
              <a:rPr lang="en-US" dirty="0">
                <a:latin typeface="Liberation Mono"/>
              </a:rPr>
              <a:t>()</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5</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50</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(sal) </a:t>
            </a:r>
            <a:r>
              <a:rPr lang="en-US"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emp)</a:t>
            </a:r>
          </a:p>
          <a:p>
            <a:pPr marL="808038"/>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WHERE </a:t>
            </a:r>
            <a:r>
              <a:rPr lang="en-US" dirty="0">
                <a:latin typeface="Liberation Mono"/>
              </a:rPr>
              <a:t>sal </a:t>
            </a:r>
            <a:r>
              <a:rPr lang="en-US" dirty="0">
                <a:solidFill>
                  <a:srgbClr val="A67F59"/>
                </a:solidFill>
                <a:latin typeface="Liberation Mono"/>
              </a:rPr>
              <a:t>IN</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R1</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R2</a:t>
            </a:r>
            <a:r>
              <a:rPr lang="en-US" dirty="0">
                <a:solidFill>
                  <a:srgbClr val="0077AA"/>
                </a:solidFill>
                <a:latin typeface="Liberation Mono"/>
              </a:rPr>
              <a:t> FROM</a:t>
            </a:r>
            <a:r>
              <a:rPr lang="en-US" dirty="0">
                <a:latin typeface="Liberation Mono"/>
              </a:rPr>
              <a:t> </a:t>
            </a:r>
            <a:r>
              <a:rPr lang="en-US" b="1" i="1" dirty="0">
                <a:latin typeface="Liberation Mono"/>
              </a:rPr>
              <a:t>b</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COUNT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p>
          <a:p>
            <a:r>
              <a:rPr lang="en-US" dirty="0">
                <a:solidFill>
                  <a:srgbClr val="0077AA"/>
                </a:solidFill>
                <a:latin typeface="Liberation Mono"/>
              </a:rPr>
              <a:t>                SELECT</a:t>
            </a:r>
            <a:r>
              <a:rPr lang="en-US" dirty="0">
                <a:latin typeface="Liberation Mono"/>
              </a:rPr>
              <a:t> job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r>
              <a:rPr lang="en-US" dirty="0">
                <a:solidFill>
                  <a:srgbClr val="0077AA"/>
                </a:solidFill>
                <a:latin typeface="Liberation Mono"/>
              </a:rPr>
              <a:t>HAVIN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 </a:t>
            </a:r>
            <a:r>
              <a:rPr lang="en-US" dirty="0">
                <a:solidFill>
                  <a:srgbClr val="990055"/>
                </a:solidFill>
                <a:latin typeface="Liberation Mono"/>
              </a:rPr>
              <a:t>1501</a:t>
            </a:r>
            <a:r>
              <a:rPr lang="en-US" dirty="0">
                <a:latin typeface="Liberation Mono"/>
              </a:rPr>
              <a:t> </a:t>
            </a:r>
            <a:r>
              <a:rPr lang="en-US" dirty="0">
                <a:solidFill>
                  <a:schemeClr val="accent5">
                    <a:lumMod val="75000"/>
                  </a:schemeClr>
                </a:solidFill>
                <a:latin typeface="Liberation Mono"/>
              </a:rPr>
              <a:t>AND</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3" name="TextBox 2">
            <a:extLst>
              <a:ext uri="{FF2B5EF4-FFF2-40B4-BE49-F238E27FC236}">
                <a16:creationId xmlns:a16="http://schemas.microsoft.com/office/drawing/2014/main" id="{02484FBB-3119-52B3-25E2-61AC3A40231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435009231"/>
      </p:ext>
    </p:extLst>
  </p:cSld>
  <p:clrMapOvr>
    <a:masterClrMapping/>
  </p:clrMapOvr>
</p:sld>
</file>

<file path=ppt/slides/slide6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118F0-B0D7-9276-3798-C4F2F025DC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741858-6040-700B-8B86-B92E883F9A1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a:extLst>
              <a:ext uri="{FF2B5EF4-FFF2-40B4-BE49-F238E27FC236}">
                <a16:creationId xmlns:a16="http://schemas.microsoft.com/office/drawing/2014/main" id="{318F49CA-70CE-C477-7093-5C8D9A83AC8E}"/>
              </a:ext>
            </a:extLst>
          </p:cNvPr>
          <p:cNvSpPr/>
          <p:nvPr/>
        </p:nvSpPr>
        <p:spPr>
          <a:xfrm>
            <a:off x="263352" y="1844824"/>
            <a:ext cx="11665296" cy="95410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 </a:t>
            </a:r>
            <a:r>
              <a:rPr lang="en-US" i="1" dirty="0">
                <a:solidFill>
                  <a:schemeClr val="accent4">
                    <a:lumMod val="50000"/>
                  </a:schemeClr>
                </a:solidFill>
                <a:latin typeface="Liberation Mono"/>
                <a:cs typeface="Arial" panose="020B0604020202020204" pitchFamily="34" charset="0"/>
              </a:rPr>
              <a:t>RECURSIVE</a:t>
            </a:r>
            <a:r>
              <a:rPr lang="en-US" dirty="0">
                <a:solidFill>
                  <a:srgbClr val="0077AA"/>
                </a:solidFill>
                <a:latin typeface="Liberation Mono"/>
              </a:rPr>
              <a:t> </a:t>
            </a:r>
            <a:r>
              <a:rPr lang="en-US" b="1" i="1" dirty="0">
                <a:latin typeface="Liberation Mono"/>
              </a:rPr>
              <a:t>m</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SELECT </a:t>
            </a:r>
            <a:r>
              <a:rPr lang="en-US" dirty="0">
                <a:latin typeface="Liberation Mono"/>
              </a:rPr>
              <a:t>empno, ename, mgr, </a:t>
            </a:r>
            <a:r>
              <a:rPr lang="en-US" dirty="0">
                <a:solidFill>
                  <a:srgbClr val="990055"/>
                </a:solidFill>
                <a:latin typeface="Liberation Mono"/>
              </a:rPr>
              <a:t>1</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b="1" i="1" dirty="0">
                <a:solidFill>
                  <a:schemeClr val="bg1">
                    <a:lumMod val="50000"/>
                  </a:schemeClr>
                </a:solidFill>
                <a:latin typeface="Liberation Mono"/>
              </a:rPr>
              <a:t>level</a:t>
            </a:r>
            <a:r>
              <a:rPr lang="en-US" dirty="0">
                <a:solidFill>
                  <a:srgbClr val="0077AA"/>
                </a:solidFill>
                <a:latin typeface="Liberation Mono"/>
              </a:rPr>
              <a:t> FROM </a:t>
            </a:r>
            <a:r>
              <a:rPr lang="en-US" dirty="0">
                <a:latin typeface="Liberation Mono"/>
              </a:rPr>
              <a:t>emp</a:t>
            </a:r>
            <a:r>
              <a:rPr lang="en-US" dirty="0">
                <a:solidFill>
                  <a:srgbClr val="0077AA"/>
                </a:solidFill>
                <a:latin typeface="Liberation Mono"/>
              </a:rPr>
              <a:t> WHERE </a:t>
            </a:r>
            <a:r>
              <a:rPr lang="en-US" dirty="0">
                <a:latin typeface="Liberation Mono"/>
              </a:rPr>
              <a:t>mgr</a:t>
            </a:r>
            <a:r>
              <a:rPr lang="en-US" dirty="0">
                <a:solidFill>
                  <a:srgbClr val="0077AA"/>
                </a:solidFill>
                <a:latin typeface="Liberation Mono"/>
              </a:rPr>
              <a:t> IS NULL  </a:t>
            </a:r>
            <a:r>
              <a:rPr lang="en-US" dirty="0">
                <a:solidFill>
                  <a:schemeClr val="accent4">
                    <a:lumMod val="50000"/>
                  </a:schemeClr>
                </a:solidFill>
                <a:latin typeface="Liberation Mono"/>
              </a:rPr>
              <a:t>UNION</a:t>
            </a:r>
            <a:r>
              <a:rPr lang="en-US" dirty="0">
                <a:solidFill>
                  <a:srgbClr val="0077AA"/>
                </a:solidFill>
                <a:latin typeface="Liberation Mono"/>
              </a:rPr>
              <a:t> SELECT </a:t>
            </a:r>
          </a:p>
          <a:p>
            <a:r>
              <a:rPr lang="en-US" dirty="0">
                <a:latin typeface="Liberation Mono"/>
              </a:rPr>
              <a:t>                 e.empno, e.ename, e.mgr, </a:t>
            </a:r>
            <a:r>
              <a:rPr lang="en-US" b="1" i="1" dirty="0">
                <a:latin typeface="Liberation Mono"/>
              </a:rPr>
              <a:t>m.</a:t>
            </a:r>
            <a:r>
              <a:rPr lang="en-US" b="1" i="1" dirty="0">
                <a:solidFill>
                  <a:schemeClr val="bg1">
                    <a:lumMod val="50000"/>
                  </a:schemeClr>
                </a:solidFill>
                <a:latin typeface="Liberation Mono"/>
              </a:rPr>
              <a:t>level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solidFill>
                  <a:srgbClr val="990055"/>
                </a:solidFill>
                <a:latin typeface="Liberation Mono"/>
              </a:rPr>
              <a:t>1</a:t>
            </a:r>
            <a:r>
              <a:rPr lang="en-US" dirty="0">
                <a:solidFill>
                  <a:srgbClr val="0077AA"/>
                </a:solidFill>
                <a:latin typeface="Liberation Mono"/>
              </a:rPr>
              <a:t> FROM </a:t>
            </a:r>
            <a:r>
              <a:rPr lang="en-US" dirty="0">
                <a:latin typeface="Liberation Mono"/>
              </a:rPr>
              <a:t>emp e, </a:t>
            </a:r>
            <a:r>
              <a:rPr lang="en-US" b="1" i="1" dirty="0">
                <a:latin typeface="Liberation Mono"/>
              </a:rPr>
              <a:t>m</a:t>
            </a:r>
            <a:r>
              <a:rPr lang="en-US" dirty="0">
                <a:latin typeface="Liberation Mono"/>
              </a:rPr>
              <a:t> </a:t>
            </a:r>
            <a:r>
              <a:rPr lang="en-US" dirty="0">
                <a:solidFill>
                  <a:srgbClr val="0077AA"/>
                </a:solidFill>
                <a:latin typeface="Liberation Mono"/>
              </a:rPr>
              <a:t>WHERE </a:t>
            </a:r>
            <a:r>
              <a:rPr lang="en-US" b="1" i="1" dirty="0">
                <a:latin typeface="Liberation Mono"/>
              </a:rPr>
              <a:t>m.empno</a:t>
            </a:r>
            <a:r>
              <a:rPr lang="en-US" dirty="0">
                <a:latin typeface="Liberation Mono"/>
              </a:rPr>
              <a:t>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latin typeface="Liberation Mono"/>
              </a:rPr>
              <a:t>e.mgr)</a:t>
            </a:r>
            <a:r>
              <a:rPr lang="en-US" dirty="0">
                <a:solidFill>
                  <a:srgbClr val="0077AA"/>
                </a:solidFill>
                <a:latin typeface="Liberation Mono"/>
              </a:rPr>
              <a:t> </a:t>
            </a:r>
          </a:p>
          <a:p>
            <a:r>
              <a:rPr lang="en-US" dirty="0">
                <a:solidFill>
                  <a:srgbClr val="0077AA"/>
                </a:solidFill>
                <a:latin typeface="Liberation Mono"/>
              </a:rPr>
              <a:t>                 SELECT * FROM </a:t>
            </a:r>
            <a:r>
              <a:rPr lang="en-US" b="1" i="1" dirty="0">
                <a:latin typeface="Liberation Mono"/>
              </a:rPr>
              <a:t>m</a:t>
            </a:r>
            <a:r>
              <a:rPr lang="en-US" dirty="0">
                <a:solidFill>
                  <a:srgbClr val="0077AA"/>
                </a:solidFill>
                <a:latin typeface="Liberation Mono"/>
              </a:rPr>
              <a:t> ORDER BY </a:t>
            </a:r>
            <a:r>
              <a:rPr lang="en-US" dirty="0">
                <a:latin typeface="Liberation Mono"/>
              </a:rPr>
              <a:t>level, </a:t>
            </a:r>
            <a:r>
              <a:rPr lang="en-US" b="1" i="1" dirty="0">
                <a:latin typeface="Liberation Mono"/>
              </a:rPr>
              <a:t>m.mgr</a:t>
            </a:r>
            <a:r>
              <a:rPr lang="en-US" dirty="0">
                <a:latin typeface="Liberation Mono"/>
              </a:rPr>
              <a:t>;</a:t>
            </a:r>
          </a:p>
        </p:txBody>
      </p:sp>
      <p:sp>
        <p:nvSpPr>
          <p:cNvPr id="5" name="Rectangle 4">
            <a:extLst>
              <a:ext uri="{FF2B5EF4-FFF2-40B4-BE49-F238E27FC236}">
                <a16:creationId xmlns:a16="http://schemas.microsoft.com/office/drawing/2014/main" id="{9BF3A361-A8C3-15B2-885A-A81F1192A825}"/>
              </a:ext>
            </a:extLst>
          </p:cNvPr>
          <p:cNvSpPr/>
          <p:nvPr/>
        </p:nvSpPr>
        <p:spPr>
          <a:xfrm>
            <a:off x="263352" y="386278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xx (c1)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3F6971"/>
                </a:solidFill>
                <a:latin typeface="Liberation Mono"/>
              </a:rPr>
              <a:t>INTERVAL</a:t>
            </a:r>
            <a:r>
              <a:rPr lang="en-US" dirty="0">
                <a:latin typeface="Liberation Mono"/>
              </a:rPr>
              <a:t> R1 </a:t>
            </a:r>
            <a:r>
              <a:rPr lang="en-US" dirty="0">
                <a:solidFill>
                  <a:srgbClr val="3F6971"/>
                </a:solidFill>
                <a:latin typeface="Liberation Mono"/>
              </a:rPr>
              <a:t>DAY</a:t>
            </a:r>
            <a:r>
              <a:rPr lang="en-US" dirty="0">
                <a:latin typeface="Liberation Mono"/>
              </a:rPr>
              <a:t> D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p:txBody>
      </p:sp>
      <p:sp>
        <p:nvSpPr>
          <p:cNvPr id="6" name="Rectangle 5">
            <a:extLst>
              <a:ext uri="{FF2B5EF4-FFF2-40B4-BE49-F238E27FC236}">
                <a16:creationId xmlns:a16="http://schemas.microsoft.com/office/drawing/2014/main" id="{DEFFCD2C-9835-719F-0659-950DA377808D}"/>
              </a:ext>
            </a:extLst>
          </p:cNvPr>
          <p:cNvSpPr/>
          <p:nvPr/>
        </p:nvSpPr>
        <p:spPr>
          <a:xfrm>
            <a:off x="1524000" y="306896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 </a:t>
            </a:r>
          </a:p>
        </p:txBody>
      </p:sp>
      <p:sp>
        <p:nvSpPr>
          <p:cNvPr id="3" name="TextBox 2">
            <a:extLst>
              <a:ext uri="{FF2B5EF4-FFF2-40B4-BE49-F238E27FC236}">
                <a16:creationId xmlns:a16="http://schemas.microsoft.com/office/drawing/2014/main" id="{C25CA68F-D7B2-AE0F-417E-AB5D799BBBAF}"/>
              </a:ext>
            </a:extLst>
          </p:cNvPr>
          <p:cNvSpPr txBox="1"/>
          <p:nvPr/>
        </p:nvSpPr>
        <p:spPr>
          <a:xfrm>
            <a:off x="263352" y="476672"/>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7" name="Rectangle 6">
            <a:extLst>
              <a:ext uri="{FF2B5EF4-FFF2-40B4-BE49-F238E27FC236}">
                <a16:creationId xmlns:a16="http://schemas.microsoft.com/office/drawing/2014/main" id="{095E6330-65DE-7765-09F0-F449A9B3F821}"/>
              </a:ext>
            </a:extLst>
          </p:cNvPr>
          <p:cNvSpPr/>
          <p:nvPr/>
        </p:nvSpPr>
        <p:spPr>
          <a:xfrm>
            <a:off x="1524000" y="4860449"/>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 </a:t>
            </a:r>
          </a:p>
        </p:txBody>
      </p:sp>
      <p:sp>
        <p:nvSpPr>
          <p:cNvPr id="10" name="TextBox 9">
            <a:extLst>
              <a:ext uri="{FF2B5EF4-FFF2-40B4-BE49-F238E27FC236}">
                <a16:creationId xmlns:a16="http://schemas.microsoft.com/office/drawing/2014/main" id="{9CD4E552-7440-B7F4-24C5-084B8555654B}"/>
              </a:ext>
            </a:extLst>
          </p:cNvPr>
          <p:cNvSpPr txBox="1"/>
          <p:nvPr/>
        </p:nvSpPr>
        <p:spPr>
          <a:xfrm>
            <a:off x="263352" y="5662989"/>
            <a:ext cx="1130525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64</a:t>
            </a:r>
            <a:r>
              <a:rPr lang="en-IN" dirty="0">
                <a:latin typeface="Liberation Mono"/>
              </a:rPr>
              <a:t>) </a:t>
            </a:r>
            <a:r>
              <a:rPr lang="en-IN" dirty="0">
                <a:solidFill>
                  <a:srgbClr val="0077AA"/>
                </a:solidFill>
                <a:latin typeface="Liberation Mono"/>
              </a:rPr>
              <a:t>UPDATE</a:t>
            </a:r>
            <a:r>
              <a:rPr lang="en-IN" dirty="0">
                <a:latin typeface="Liberation Mono"/>
              </a:rPr>
              <a:t> pune_metro_stations </a:t>
            </a:r>
            <a:r>
              <a:rPr lang="en-IN" dirty="0">
                <a:solidFill>
                  <a:srgbClr val="0077AA"/>
                </a:solidFill>
                <a:latin typeface="Liberation Mono"/>
              </a:rPr>
              <a:t>SET</a:t>
            </a:r>
            <a:r>
              <a:rPr lang="en-IN" dirty="0">
                <a:latin typeface="Liberation Mono"/>
              </a:rPr>
              <a:t> distance_to_next_km = </a:t>
            </a:r>
            <a:r>
              <a:rPr lang="en-IN" dirty="0">
                <a:solidFill>
                  <a:srgbClr val="DD4A68"/>
                </a:solidFill>
                <a:latin typeface="Liberation Mono"/>
              </a:rPr>
              <a:t>ROUND</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2</a:t>
            </a:r>
            <a:r>
              <a:rPr lang="en-IN" dirty="0">
                <a:latin typeface="Liberation Mono"/>
              </a:rPr>
              <a:t>);</a:t>
            </a:r>
          </a:p>
        </p:txBody>
      </p:sp>
    </p:spTree>
    <p:extLst>
      <p:ext uri="{BB962C8B-B14F-4D97-AF65-F5344CB8AC3E}">
        <p14:creationId xmlns:p14="http://schemas.microsoft.com/office/powerpoint/2010/main" val="1923101787"/>
      </p:ext>
    </p:extLst>
  </p:cSld>
  <p:clrMapOvr>
    <a:masterClrMapping/>
  </p:clrMapOvr>
</p:sld>
</file>

<file path=ppt/slides/slide6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A73E4-2827-62DF-BF41-AA42E9914B7E}"/>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EBDE7FE-55A1-A749-1D16-CB1961B56C9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989F35C-73EE-DF50-3C6C-AC0352D3F8EC}"/>
              </a:ext>
            </a:extLst>
          </p:cNvPr>
          <p:cNvGraphicFramePr>
            <a:graphicFrameLocks noGrp="1"/>
          </p:cNvGraphicFramePr>
          <p:nvPr>
            <p:extLst>
              <p:ext uri="{D42A27DB-BD31-4B8C-83A1-F6EECF244321}">
                <p14:modId xmlns:p14="http://schemas.microsoft.com/office/powerpoint/2010/main" val="3168155383"/>
              </p:ext>
            </p:extLst>
          </p:nvPr>
        </p:nvGraphicFramePr>
        <p:xfrm>
          <a:off x="623394" y="1052736"/>
          <a:ext cx="1440000" cy="396240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sz="2000" dirty="0">
                          <a:latin typeface="Arial" panose="020B0604020202020204" pitchFamily="34" charset="0"/>
                          <a:cs typeface="Arial" panose="020B0604020202020204" pitchFamily="34" charset="0"/>
                        </a:rPr>
                        <a:t>n </a:t>
                      </a:r>
                      <a:endParaRPr lang="en-IN" sz="20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2000" b="0" dirty="0">
                          <a:latin typeface="Arial" panose="020B0604020202020204" pitchFamily="34" charset="0"/>
                          <a:cs typeface="Arial" panose="020B0604020202020204" pitchFamily="34" charset="0"/>
                        </a:rPr>
                        <a:t>1</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sz="2000" b="0" dirty="0">
                          <a:latin typeface="Arial" panose="020B0604020202020204" pitchFamily="34" charset="0"/>
                          <a:cs typeface="Arial" panose="020B0604020202020204" pitchFamily="34" charset="0"/>
                        </a:rPr>
                        <a:t>2</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sz="2000" b="0" dirty="0">
                          <a:latin typeface="Arial" panose="020B0604020202020204" pitchFamily="34" charset="0"/>
                          <a:cs typeface="Arial" panose="020B0604020202020204" pitchFamily="34" charset="0"/>
                        </a:rPr>
                        <a:t>3</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0" dirty="0">
                          <a:latin typeface="Arial" panose="020B0604020202020204" pitchFamily="34" charset="0"/>
                          <a:cs typeface="Arial" panose="020B0604020202020204" pitchFamily="34" charset="0"/>
                        </a:rPr>
                        <a:t>4</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4050152708"/>
                  </a:ext>
                </a:extLst>
              </a:tr>
              <a:tr h="370840">
                <a:tc>
                  <a:txBody>
                    <a:bodyPr/>
                    <a:lstStyle/>
                    <a:p>
                      <a:pPr algn="ctr"/>
                      <a:r>
                        <a:rPr lang="en-US" sz="2000" b="0" dirty="0">
                          <a:latin typeface="Arial" panose="020B0604020202020204" pitchFamily="34" charset="0"/>
                          <a:cs typeface="Arial" panose="020B0604020202020204" pitchFamily="34" charset="0"/>
                        </a:rPr>
                        <a:t>8</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sz="2000" b="0" dirty="0">
                          <a:latin typeface="Arial" panose="020B0604020202020204" pitchFamily="34" charset="0"/>
                          <a:cs typeface="Arial" panose="020B0604020202020204" pitchFamily="34" charset="0"/>
                        </a:rPr>
                        <a:t>9</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r h="370840">
                <a:tc>
                  <a:txBody>
                    <a:bodyPr/>
                    <a:lstStyle/>
                    <a:p>
                      <a:pPr algn="ctr"/>
                      <a:r>
                        <a:rPr lang="en-US" sz="2000" b="0" dirty="0">
                          <a:latin typeface="Arial" panose="020B0604020202020204" pitchFamily="34" charset="0"/>
                          <a:cs typeface="Arial" panose="020B0604020202020204" pitchFamily="34" charset="0"/>
                        </a:rPr>
                        <a:t>10</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36336002"/>
                  </a:ext>
                </a:extLst>
              </a:tr>
            </a:tbl>
          </a:graphicData>
        </a:graphic>
      </p:graphicFrame>
      <p:sp>
        <p:nvSpPr>
          <p:cNvPr id="8" name="TextBox 7">
            <a:extLst>
              <a:ext uri="{FF2B5EF4-FFF2-40B4-BE49-F238E27FC236}">
                <a16:creationId xmlns:a16="http://schemas.microsoft.com/office/drawing/2014/main" id="{4F5B20F1-3CEF-CC54-4916-3B91FF09E1D4}"/>
              </a:ext>
            </a:extLst>
          </p:cNvPr>
          <p:cNvSpPr txBox="1"/>
          <p:nvPr/>
        </p:nvSpPr>
        <p:spPr>
          <a:xfrm>
            <a:off x="2423592" y="148478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Rectangle 4">
            <a:extLst>
              <a:ext uri="{FF2B5EF4-FFF2-40B4-BE49-F238E27FC236}">
                <a16:creationId xmlns:a16="http://schemas.microsoft.com/office/drawing/2014/main" id="{AC474931-C66C-DA88-EBD1-6762B6919F9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7517D0C6-20C8-7820-6017-BD3BC7392F60}"/>
              </a:ext>
            </a:extLst>
          </p:cNvPr>
          <p:cNvSpPr txBox="1"/>
          <p:nvPr/>
        </p:nvSpPr>
        <p:spPr>
          <a:xfrm>
            <a:off x="241200" y="5589240"/>
            <a:ext cx="1168744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GROUP_CONCAT</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b="1" i="1" dirty="0">
                <a:solidFill>
                  <a:schemeClr val="bg1">
                    <a:lumMod val="50000"/>
                  </a:schemeClr>
                </a:solidFill>
                <a:latin typeface="Liberation Mono"/>
              </a:rPr>
              <a:t>Output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endParaRPr lang="en-IN" dirty="0">
              <a:latin typeface="Liberation Mono"/>
            </a:endParaRPr>
          </a:p>
        </p:txBody>
      </p:sp>
      <p:sp>
        <p:nvSpPr>
          <p:cNvPr id="7" name="TextBox 6">
            <a:extLst>
              <a:ext uri="{FF2B5EF4-FFF2-40B4-BE49-F238E27FC236}">
                <a16:creationId xmlns:a16="http://schemas.microsoft.com/office/drawing/2014/main" id="{AC85FE72-AFF4-3589-058D-D753E9F1C134}"/>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0" name="Table 2">
            <a:extLst>
              <a:ext uri="{FF2B5EF4-FFF2-40B4-BE49-F238E27FC236}">
                <a16:creationId xmlns:a16="http://schemas.microsoft.com/office/drawing/2014/main" id="{43497A5F-49DE-B406-BA77-2548C00CAA21}"/>
              </a:ext>
            </a:extLst>
          </p:cNvPr>
          <p:cNvGraphicFramePr>
            <a:graphicFrameLocks noGrp="1"/>
          </p:cNvGraphicFramePr>
          <p:nvPr>
            <p:extLst>
              <p:ext uri="{D42A27DB-BD31-4B8C-83A1-F6EECF244321}">
                <p14:modId xmlns:p14="http://schemas.microsoft.com/office/powerpoint/2010/main" val="2058342071"/>
              </p:ext>
            </p:extLst>
          </p:nvPr>
        </p:nvGraphicFramePr>
        <p:xfrm>
          <a:off x="3913768" y="1052736"/>
          <a:ext cx="6070664" cy="792480"/>
        </p:xfrm>
        <a:graphic>
          <a:graphicData uri="http://schemas.openxmlformats.org/drawingml/2006/table">
            <a:tbl>
              <a:tblPr firstRow="1" bandRow="1">
                <a:tableStyleId>{5940675A-B579-460E-94D1-54222C63F5DA}</a:tableStyleId>
              </a:tblPr>
              <a:tblGrid>
                <a:gridCol w="6070664">
                  <a:extLst>
                    <a:ext uri="{9D8B030D-6E8A-4147-A177-3AD203B41FA5}">
                      <a16:colId xmlns:a16="http://schemas.microsoft.com/office/drawing/2014/main" val="928063234"/>
                    </a:ext>
                  </a:extLst>
                </a:gridCol>
              </a:tblGrid>
              <a:tr h="370840">
                <a:tc>
                  <a:txBody>
                    <a:bodyPr/>
                    <a:lstStyle/>
                    <a:p>
                      <a:pPr algn="ctr"/>
                      <a:r>
                        <a:rPr lang="en-US" sz="2000" b="1" dirty="0">
                          <a:latin typeface="Arial" panose="020B0604020202020204" pitchFamily="34" charset="0"/>
                          <a:cs typeface="Arial" panose="020B0604020202020204" pitchFamily="34" charset="0"/>
                        </a:rPr>
                        <a:t>Output</a:t>
                      </a:r>
                      <a:r>
                        <a:rPr lang="en-US" sz="2000" dirty="0">
                          <a:latin typeface="Arial" panose="020B0604020202020204" pitchFamily="34" charset="0"/>
                          <a:cs typeface="Arial" panose="020B0604020202020204" pitchFamily="34" charset="0"/>
                        </a:rPr>
                        <a:t> </a:t>
                      </a:r>
                      <a:endParaRPr lang="en-IN" sz="200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sz="2000" b="0" dirty="0">
                          <a:solidFill>
                            <a:srgbClr val="B212AA"/>
                          </a:solidFill>
                          <a:latin typeface="Arial" panose="020B0604020202020204" pitchFamily="34" charset="0"/>
                          <a:cs typeface="Arial" panose="020B0604020202020204" pitchFamily="34" charset="0"/>
                        </a:rPr>
                        <a:t>1</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2</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3</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4</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5</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6</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7</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8</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9</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3858505310"/>
                  </a:ext>
                </a:extLst>
              </a:tr>
            </a:tbl>
          </a:graphicData>
        </a:graphic>
      </p:graphicFrame>
      <p:sp>
        <p:nvSpPr>
          <p:cNvPr id="6" name="Rectangle 5">
            <a:extLst>
              <a:ext uri="{FF2B5EF4-FFF2-40B4-BE49-F238E27FC236}">
                <a16:creationId xmlns:a16="http://schemas.microsoft.com/office/drawing/2014/main" id="{12A0D183-39DA-0B84-9365-A01128D65B1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numbers between 1 to 10</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3211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84DAC-DE14-E55B-C4C1-50B40546862F}"/>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81878C2E-22BF-6089-7ADB-86E3593D0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E8DD689-7D6D-96DB-CDD1-E62643B47F39}"/>
              </a:ext>
            </a:extLst>
          </p:cNvPr>
          <p:cNvGraphicFramePr>
            <a:graphicFrameLocks noGrp="1"/>
          </p:cNvGraphicFramePr>
          <p:nvPr>
            <p:extLst>
              <p:ext uri="{D42A27DB-BD31-4B8C-83A1-F6EECF244321}">
                <p14:modId xmlns:p14="http://schemas.microsoft.com/office/powerpoint/2010/main" val="1700808610"/>
              </p:ext>
            </p:extLst>
          </p:nvPr>
        </p:nvGraphicFramePr>
        <p:xfrm>
          <a:off x="623394" y="1346815"/>
          <a:ext cx="1440000" cy="39725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6</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b="0" dirty="0">
                          <a:latin typeface="Arial" panose="020B0604020202020204" pitchFamily="34" charset="0"/>
                          <a:cs typeface="Arial" panose="020B0604020202020204" pitchFamily="34" charset="0"/>
                        </a:rPr>
                        <a:t>8</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bl>
          </a:graphicData>
        </a:graphic>
      </p:graphicFrame>
      <p:sp>
        <p:nvSpPr>
          <p:cNvPr id="8" name="TextBox 7">
            <a:extLst>
              <a:ext uri="{FF2B5EF4-FFF2-40B4-BE49-F238E27FC236}">
                <a16:creationId xmlns:a16="http://schemas.microsoft.com/office/drawing/2014/main" id="{80E22A99-16C1-0461-BACE-6A97FA601C34}"/>
              </a:ext>
            </a:extLst>
          </p:cNvPr>
          <p:cNvSpPr txBox="1"/>
          <p:nvPr/>
        </p:nvSpPr>
        <p:spPr>
          <a:xfrm>
            <a:off x="2569156" y="15176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F1F8FA9-298F-7178-95CF-B848B433BD4A}"/>
              </a:ext>
            </a:extLst>
          </p:cNvPr>
          <p:cNvSpPr txBox="1"/>
          <p:nvPr/>
        </p:nvSpPr>
        <p:spPr>
          <a:xfrm>
            <a:off x="623392" y="867489"/>
            <a:ext cx="2736305" cy="400110"/>
          </a:xfrm>
          <a:prstGeom prst="rect">
            <a:avLst/>
          </a:prstGeom>
          <a:noFill/>
        </p:spPr>
        <p:txBody>
          <a:bodyPr wrap="square">
            <a:spAutoFit/>
          </a:bodyPr>
          <a:lstStyle/>
          <a:p>
            <a:r>
              <a:rPr lang="en-IN" sz="2000" b="1" dirty="0">
                <a:latin typeface="Liberation Mono"/>
              </a:rPr>
              <a:t>Table:- missingNumbers</a:t>
            </a:r>
            <a:endParaRPr lang="en-IN" sz="2000" b="1" dirty="0"/>
          </a:p>
        </p:txBody>
      </p:sp>
      <p:sp>
        <p:nvSpPr>
          <p:cNvPr id="14" name="TextBox 13">
            <a:extLst>
              <a:ext uri="{FF2B5EF4-FFF2-40B4-BE49-F238E27FC236}">
                <a16:creationId xmlns:a16="http://schemas.microsoft.com/office/drawing/2014/main" id="{35780707-D5CC-6B03-DBE1-FE18E0ECF622}"/>
              </a:ext>
            </a:extLst>
          </p:cNvPr>
          <p:cNvSpPr txBox="1"/>
          <p:nvPr/>
        </p:nvSpPr>
        <p:spPr>
          <a:xfrm>
            <a:off x="4439818" y="867489"/>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C910972-CEAF-9091-9395-185B80A9F09C}"/>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9DA6E8F6-415A-391B-08F1-89A78541130F}"/>
              </a:ext>
            </a:extLst>
          </p:cNvPr>
          <p:cNvGraphicFramePr>
            <a:graphicFrameLocks noGrp="1"/>
          </p:cNvGraphicFramePr>
          <p:nvPr>
            <p:extLst>
              <p:ext uri="{D42A27DB-BD31-4B8C-83A1-F6EECF244321}">
                <p14:modId xmlns:p14="http://schemas.microsoft.com/office/powerpoint/2010/main" val="3238633461"/>
              </p:ext>
            </p:extLst>
          </p:nvPr>
        </p:nvGraphicFramePr>
        <p:xfrm>
          <a:off x="4511986" y="1346815"/>
          <a:ext cx="2520120" cy="3972560"/>
        </p:xfrm>
        <a:graphic>
          <a:graphicData uri="http://schemas.openxmlformats.org/drawingml/2006/table">
            <a:tbl>
              <a:tblPr firstRow="1" bandRow="1">
                <a:tableStyleId>{5940675A-B579-460E-94D1-54222C63F5DA}</a:tableStyleId>
              </a:tblPr>
              <a:tblGrid>
                <a:gridCol w="252012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missingNumbers</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5</a:t>
                      </a:r>
                    </a:p>
                  </a:txBody>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10</a:t>
                      </a:r>
                    </a:p>
                  </a:txBody>
                  <a:tcPr/>
                </a:tc>
                <a:extLst>
                  <a:ext uri="{0D108BD9-81ED-4DB2-BD59-A6C34878D82A}">
                    <a16:rowId xmlns:a16="http://schemas.microsoft.com/office/drawing/2014/main" val="151395912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11</a:t>
                      </a:r>
                    </a:p>
                  </a:txBody>
                  <a:tcPr/>
                </a:tc>
                <a:extLst>
                  <a:ext uri="{0D108BD9-81ED-4DB2-BD59-A6C34878D82A}">
                    <a16:rowId xmlns:a16="http://schemas.microsoft.com/office/drawing/2014/main" val="315416682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12</a:t>
                      </a:r>
                    </a:p>
                  </a:txBody>
                  <a:tcPr/>
                </a:tc>
                <a:extLst>
                  <a:ext uri="{0D108BD9-81ED-4DB2-BD59-A6C34878D82A}">
                    <a16:rowId xmlns:a16="http://schemas.microsoft.com/office/drawing/2014/main" val="2350497263"/>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13</a:t>
                      </a:r>
                    </a:p>
                  </a:txBody>
                  <a:tcPr/>
                </a:tc>
                <a:extLst>
                  <a:ext uri="{0D108BD9-81ED-4DB2-BD59-A6C34878D82A}">
                    <a16:rowId xmlns:a16="http://schemas.microsoft.com/office/drawing/2014/main" val="288034954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46764263"/>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23</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2133875"/>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24</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12231642"/>
                  </a:ext>
                </a:extLst>
              </a:tr>
            </a:tbl>
          </a:graphicData>
        </a:graphic>
      </p:graphicFrame>
      <p:sp>
        <p:nvSpPr>
          <p:cNvPr id="11" name="TextBox 10">
            <a:extLst>
              <a:ext uri="{FF2B5EF4-FFF2-40B4-BE49-F238E27FC236}">
                <a16:creationId xmlns:a16="http://schemas.microsoft.com/office/drawing/2014/main" id="{39E89A4C-CD78-0147-826E-684D839D0865}"/>
              </a:ext>
            </a:extLst>
          </p:cNvPr>
          <p:cNvSpPr txBox="1"/>
          <p:nvPr/>
        </p:nvSpPr>
        <p:spPr>
          <a:xfrm>
            <a:off x="241200" y="5589240"/>
            <a:ext cx="11831464"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(id) </a:t>
            </a:r>
            <a:r>
              <a:rPr lang="en-US" dirty="0">
                <a:solidFill>
                  <a:srgbClr val="0077AA"/>
                </a:solidFill>
                <a:latin typeface="Liberation Mono"/>
              </a:rPr>
              <a:t>FROM</a:t>
            </a:r>
            <a:r>
              <a:rPr lang="en-US" dirty="0">
                <a:latin typeface="Liberation Mono"/>
              </a:rPr>
              <a:t> missingNumbers ) )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missingNumbers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rPr>
              <a:t>True</a:t>
            </a:r>
            <a:r>
              <a:rPr lang="en-US" dirty="0">
                <a:latin typeface="Liberation Mono"/>
              </a:rPr>
              <a:t> </a:t>
            </a:r>
            <a:r>
              <a:rPr lang="en-US" dirty="0">
                <a:solidFill>
                  <a:srgbClr val="0077AA"/>
                </a:solidFill>
                <a:latin typeface="Liberation Mono"/>
              </a:rPr>
              <a:t>FROM</a:t>
            </a:r>
            <a:r>
              <a:rPr lang="en-US" dirty="0">
                <a:latin typeface="Liberation Mono"/>
              </a:rPr>
              <a:t> missingNumbers </a:t>
            </a:r>
            <a:r>
              <a:rPr lang="en-US" dirty="0">
                <a:solidFill>
                  <a:srgbClr val="0077AA"/>
                </a:solidFill>
                <a:latin typeface="Liberation Mono"/>
              </a:rPr>
              <a:t>WHERE</a:t>
            </a:r>
            <a:r>
              <a:rPr lang="en-US" dirty="0">
                <a:latin typeface="Liberation Mono"/>
              </a:rPr>
              <a:t> </a:t>
            </a:r>
            <a:r>
              <a:rPr lang="en-US" b="1" i="1" dirty="0">
                <a:latin typeface="Liberation Mono"/>
              </a:rPr>
              <a:t>cte</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missingnumbers.id);</a:t>
            </a:r>
            <a:endParaRPr lang="en-IN" dirty="0">
              <a:latin typeface="Liberation Mono"/>
            </a:endParaRPr>
          </a:p>
        </p:txBody>
      </p:sp>
      <p:sp>
        <p:nvSpPr>
          <p:cNvPr id="13" name="TextBox 12">
            <a:extLst>
              <a:ext uri="{FF2B5EF4-FFF2-40B4-BE49-F238E27FC236}">
                <a16:creationId xmlns:a16="http://schemas.microsoft.com/office/drawing/2014/main" id="{86DA8717-2D67-0EC7-7E74-679CF551E760}"/>
              </a:ext>
            </a:extLst>
          </p:cNvPr>
          <p:cNvSpPr txBox="1"/>
          <p:nvPr/>
        </p:nvSpPr>
        <p:spPr>
          <a:xfrm>
            <a:off x="5447930" y="836712"/>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B82E1F3-0209-9CF7-0E92-50B292ADD71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6DAF36FB-C790-C418-19BF-BD160E99531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01167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FE4DCC-5993-7401-9A61-B60BE5C7689A}"/>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25A6324A-5B7B-21B1-CC12-FD33980378A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1E94E5C2-F9E7-30E4-CCBB-5ED42C963430}"/>
              </a:ext>
            </a:extLst>
          </p:cNvPr>
          <p:cNvGraphicFramePr>
            <a:graphicFrameLocks noGrp="1"/>
          </p:cNvGraphicFramePr>
          <p:nvPr>
            <p:extLst>
              <p:ext uri="{D42A27DB-BD31-4B8C-83A1-F6EECF244321}">
                <p14:modId xmlns:p14="http://schemas.microsoft.com/office/powerpoint/2010/main" val="2526326306"/>
              </p:ext>
            </p:extLst>
          </p:nvPr>
        </p:nvGraphicFramePr>
        <p:xfrm>
          <a:off x="2063552" y="1593856"/>
          <a:ext cx="1440000" cy="3042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a:latin typeface="Arial" panose="020B0604020202020204" pitchFamily="34" charset="0"/>
                          <a:cs typeface="Arial" panose="020B0604020202020204" pitchFamily="34" charset="0"/>
                        </a:rPr>
                        <a:t>601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602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603</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631</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7883660F-DF55-A5BC-3EAD-1AF56C4CFDB8}"/>
              </a:ext>
            </a:extLst>
          </p:cNvPr>
          <p:cNvSpPr txBox="1"/>
          <p:nvPr/>
        </p:nvSpPr>
        <p:spPr>
          <a:xfrm>
            <a:off x="4009314" y="176464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7F60E7E-BF73-ECC7-3F94-ECD87027524C}"/>
              </a:ext>
            </a:extLst>
          </p:cNvPr>
          <p:cNvSpPr txBox="1"/>
          <p:nvPr/>
        </p:nvSpPr>
        <p:spPr>
          <a:xfrm>
            <a:off x="2063551" y="1114530"/>
            <a:ext cx="1439936"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14" name="TextBox 13">
            <a:extLst>
              <a:ext uri="{FF2B5EF4-FFF2-40B4-BE49-F238E27FC236}">
                <a16:creationId xmlns:a16="http://schemas.microsoft.com/office/drawing/2014/main" id="{8E19064B-56A4-FA84-67EC-E120BADB5211}"/>
              </a:ext>
            </a:extLst>
          </p:cNvPr>
          <p:cNvSpPr txBox="1"/>
          <p:nvPr/>
        </p:nvSpPr>
        <p:spPr>
          <a:xfrm>
            <a:off x="5879976" y="111453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EE6F58-1806-8DC0-8516-730B75747A1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AB04FF3C-7CCE-629D-791D-8C3065C91486}"/>
              </a:ext>
            </a:extLst>
          </p:cNvPr>
          <p:cNvGraphicFramePr>
            <a:graphicFrameLocks noGrp="1"/>
          </p:cNvGraphicFramePr>
          <p:nvPr>
            <p:extLst>
              <p:ext uri="{D42A27DB-BD31-4B8C-83A1-F6EECF244321}">
                <p14:modId xmlns:p14="http://schemas.microsoft.com/office/powerpoint/2010/main" val="3410574594"/>
              </p:ext>
            </p:extLst>
          </p:nvPr>
        </p:nvGraphicFramePr>
        <p:xfrm>
          <a:off x="5906070" y="1593856"/>
          <a:ext cx="1440000" cy="74168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623</a:t>
                      </a:r>
                    </a:p>
                  </a:txBody>
                  <a:tcPr/>
                </a:tc>
                <a:extLst>
                  <a:ext uri="{0D108BD9-81ED-4DB2-BD59-A6C34878D82A}">
                    <a16:rowId xmlns:a16="http://schemas.microsoft.com/office/drawing/2014/main" val="3858505310"/>
                  </a:ext>
                </a:extLst>
              </a:tr>
            </a:tbl>
          </a:graphicData>
        </a:graphic>
      </p:graphicFrame>
      <p:sp>
        <p:nvSpPr>
          <p:cNvPr id="11" name="TextBox 10">
            <a:extLst>
              <a:ext uri="{FF2B5EF4-FFF2-40B4-BE49-F238E27FC236}">
                <a16:creationId xmlns:a16="http://schemas.microsoft.com/office/drawing/2014/main" id="{34106219-6C91-4124-4088-96C357CD9C54}"/>
              </a:ext>
            </a:extLst>
          </p:cNvPr>
          <p:cNvSpPr txBox="1"/>
          <p:nvPr/>
        </p:nvSpPr>
        <p:spPr>
          <a:xfrm>
            <a:off x="335360" y="5086925"/>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MIN</a:t>
            </a:r>
            <a:r>
              <a:rPr lang="en-IN" dirty="0">
                <a:latin typeface="Liberation Mono"/>
              </a:rPr>
              <a:t>(ordid)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ord </a:t>
            </a:r>
            <a:r>
              <a:rPr lang="en-US" dirty="0">
                <a:solidFill>
                  <a:schemeClr val="accent4">
                    <a:lumMod val="50000"/>
                  </a:schemeClr>
                </a:solidFill>
                <a:latin typeface="Liberation Mono"/>
                <a:ea typeface="Times New Roman" panose="02020603050405020304" pitchFamily="18" charset="0"/>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(ordid)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rPr>
              <a:t>True</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WHERE</a:t>
            </a:r>
            <a:r>
              <a:rPr lang="en-IN" dirty="0">
                <a:latin typeface="Liberation Mono"/>
              </a:rPr>
              <a:t> ord.ordid </a:t>
            </a:r>
            <a:r>
              <a:rPr lang="en-IN" dirty="0">
                <a:solidFill>
                  <a:schemeClr val="accent5">
                    <a:lumMod val="75000"/>
                  </a:schemeClr>
                </a:solidFill>
                <a:latin typeface="Liberation Mono"/>
              </a:rPr>
              <a: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a:t>
            </a:r>
          </a:p>
        </p:txBody>
      </p:sp>
      <p:sp>
        <p:nvSpPr>
          <p:cNvPr id="13" name="TextBox 12">
            <a:extLst>
              <a:ext uri="{FF2B5EF4-FFF2-40B4-BE49-F238E27FC236}">
                <a16:creationId xmlns:a16="http://schemas.microsoft.com/office/drawing/2014/main" id="{728AC521-B04B-7B77-22FF-617AAFDF0B36}"/>
              </a:ext>
            </a:extLst>
          </p:cNvPr>
          <p:cNvSpPr txBox="1"/>
          <p:nvPr/>
        </p:nvSpPr>
        <p:spPr>
          <a:xfrm>
            <a:off x="6888088" y="1083753"/>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42ED5F7-65A2-87C6-819B-FE8E18AA484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94CBB15-A24A-FAE0-523C-6739AE174AA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50679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03A6E-C618-0E36-2067-FD35FB18FE7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D60CF69-17C8-2AF1-9C81-88EAE0989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5E6A386-60E7-2C09-7E00-8E7B3B06C03A}"/>
              </a:ext>
            </a:extLst>
          </p:cNvPr>
          <p:cNvGraphicFramePr>
            <a:graphicFrameLocks noGrp="1"/>
          </p:cNvGraphicFramePr>
          <p:nvPr>
            <p:extLst>
              <p:ext uri="{D42A27DB-BD31-4B8C-83A1-F6EECF244321}">
                <p14:modId xmlns:p14="http://schemas.microsoft.com/office/powerpoint/2010/main" val="3809939073"/>
              </p:ext>
            </p:extLst>
          </p:nvPr>
        </p:nvGraphicFramePr>
        <p:xfrm>
          <a:off x="2063552" y="1577816"/>
          <a:ext cx="1440000" cy="34137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num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821612650"/>
                  </a:ext>
                </a:extLst>
              </a:tr>
              <a:tr h="370840">
                <a:tc>
                  <a:txBody>
                    <a:bodyPr/>
                    <a:lstStyle/>
                    <a:p>
                      <a:pPr algn="ctr"/>
                      <a:r>
                        <a:rPr lang="en-IN" dirty="0">
                          <a:latin typeface="Arial" panose="020B0604020202020204" pitchFamily="34" charset="0"/>
                          <a:cs typeface="Arial" panose="020B0604020202020204" pitchFamily="34" charset="0"/>
                        </a:rPr>
                        <a:t>4</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9E3932A2-18FE-E61B-EAFC-D59DE0EFFEC1}"/>
              </a:ext>
            </a:extLst>
          </p:cNvPr>
          <p:cNvSpPr txBox="1"/>
          <p:nvPr/>
        </p:nvSpPr>
        <p:spPr>
          <a:xfrm>
            <a:off x="4009314" y="174860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875DC635-E48F-8E7A-56E9-11597AE69890}"/>
              </a:ext>
            </a:extLst>
          </p:cNvPr>
          <p:cNvSpPr txBox="1"/>
          <p:nvPr/>
        </p:nvSpPr>
        <p:spPr>
          <a:xfrm>
            <a:off x="2063550" y="1098490"/>
            <a:ext cx="2952330" cy="400110"/>
          </a:xfrm>
          <a:prstGeom prst="rect">
            <a:avLst/>
          </a:prstGeom>
          <a:noFill/>
        </p:spPr>
        <p:txBody>
          <a:bodyPr wrap="square">
            <a:spAutoFit/>
          </a:bodyPr>
          <a:lstStyle/>
          <a:p>
            <a:r>
              <a:rPr lang="en-IN" sz="2000" b="1" dirty="0">
                <a:latin typeface="Liberation Mono"/>
              </a:rPr>
              <a:t>Table:- </a:t>
            </a:r>
            <a:r>
              <a:rPr lang="en-US" sz="2000" dirty="0">
                <a:latin typeface="Liberation Mono"/>
              </a:rPr>
              <a:t>repeatingNumbers</a:t>
            </a:r>
            <a:endParaRPr lang="en-IN" sz="2000" b="1" dirty="0"/>
          </a:p>
        </p:txBody>
      </p:sp>
      <p:sp>
        <p:nvSpPr>
          <p:cNvPr id="14" name="TextBox 13">
            <a:extLst>
              <a:ext uri="{FF2B5EF4-FFF2-40B4-BE49-F238E27FC236}">
                <a16:creationId xmlns:a16="http://schemas.microsoft.com/office/drawing/2014/main" id="{7D42E91E-08CB-0166-5531-8332AE28FA0E}"/>
              </a:ext>
            </a:extLst>
          </p:cNvPr>
          <p:cNvSpPr txBox="1"/>
          <p:nvPr/>
        </p:nvSpPr>
        <p:spPr>
          <a:xfrm>
            <a:off x="5879976" y="109849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0DA8FCC1-D860-59AA-6173-3DC8BB14880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39DD8FCF-F1F4-47E1-35FF-F575D863B7F7}"/>
              </a:ext>
            </a:extLst>
          </p:cNvPr>
          <p:cNvGraphicFramePr>
            <a:graphicFrameLocks noGrp="1"/>
          </p:cNvGraphicFramePr>
          <p:nvPr>
            <p:extLst>
              <p:ext uri="{D42A27DB-BD31-4B8C-83A1-F6EECF244321}">
                <p14:modId xmlns:p14="http://schemas.microsoft.com/office/powerpoint/2010/main" val="3224124016"/>
              </p:ext>
            </p:extLst>
          </p:nvPr>
        </p:nvGraphicFramePr>
        <p:xfrm>
          <a:off x="5906070" y="1577816"/>
          <a:ext cx="1440000" cy="41554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num</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solidFill>
                      <a:schemeClr val="bg2"/>
                    </a:solidFill>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66551359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943996029"/>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9540254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0455579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1130913176"/>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424190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a:t>
                      </a:r>
                    </a:p>
                  </a:txBody>
                  <a:tcPr>
                    <a:solidFill>
                      <a:schemeClr val="accent5">
                        <a:lumMod val="20000"/>
                        <a:lumOff val="80000"/>
                      </a:schemeClr>
                    </a:solidFill>
                  </a:tcPr>
                </a:tc>
                <a:extLst>
                  <a:ext uri="{0D108BD9-81ED-4DB2-BD59-A6C34878D82A}">
                    <a16:rowId xmlns:a16="http://schemas.microsoft.com/office/drawing/2014/main" val="3786232839"/>
                  </a:ext>
                </a:extLst>
              </a:tr>
            </a:tbl>
          </a:graphicData>
        </a:graphic>
      </p:graphicFrame>
      <p:sp>
        <p:nvSpPr>
          <p:cNvPr id="11" name="TextBox 10">
            <a:extLst>
              <a:ext uri="{FF2B5EF4-FFF2-40B4-BE49-F238E27FC236}">
                <a16:creationId xmlns:a16="http://schemas.microsoft.com/office/drawing/2014/main" id="{BA801929-B486-199B-6BAB-05D6AC84F593}"/>
              </a:ext>
            </a:extLst>
          </p:cNvPr>
          <p:cNvSpPr txBox="1"/>
          <p:nvPr/>
        </p:nvSpPr>
        <p:spPr>
          <a:xfrm>
            <a:off x="407368" y="5879013"/>
            <a:ext cx="1140358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IN"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(num) </a:t>
            </a:r>
            <a:r>
              <a:rPr lang="en-US" dirty="0">
                <a:solidFill>
                  <a:srgbClr val="0077AA"/>
                </a:solidFill>
                <a:latin typeface="Liberation Mono"/>
              </a:rPr>
              <a:t>FROM</a:t>
            </a:r>
            <a:r>
              <a:rPr lang="en-US" dirty="0">
                <a:latin typeface="Liberation Mono"/>
              </a:rPr>
              <a:t> repeatingNumbers)) </a:t>
            </a:r>
            <a:r>
              <a:rPr lang="en-US" dirty="0">
                <a:solidFill>
                  <a:srgbClr val="0077AA"/>
                </a:solidFill>
                <a:latin typeface="Liberation Mono"/>
              </a:rPr>
              <a:t>SELECT</a:t>
            </a:r>
            <a:r>
              <a:rPr lang="en-US" dirty="0">
                <a:latin typeface="Liberation Mono"/>
              </a:rPr>
              <a:t> num </a:t>
            </a:r>
            <a:r>
              <a:rPr lang="en-US" dirty="0">
                <a:solidFill>
                  <a:srgbClr val="0077AA"/>
                </a:solidFill>
                <a:latin typeface="Liberation Mono"/>
              </a:rPr>
              <a:t>FROM</a:t>
            </a:r>
            <a:r>
              <a:rPr lang="en-US" dirty="0">
                <a:latin typeface="Liberation Mono"/>
              </a:rPr>
              <a:t> repeatingNumbers,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num </a:t>
            </a:r>
            <a:r>
              <a:rPr lang="en-US" dirty="0">
                <a:solidFill>
                  <a:schemeClr val="accent5">
                    <a:lumMod val="75000"/>
                  </a:schemeClr>
                </a:solidFill>
                <a:latin typeface="Liberation Mono"/>
              </a:rPr>
              <a:t>&gt;=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DE1CEFA9-F962-FE3E-F176-772789660733}"/>
              </a:ext>
            </a:extLst>
          </p:cNvPr>
          <p:cNvSpPr txBox="1"/>
          <p:nvPr/>
        </p:nvSpPr>
        <p:spPr>
          <a:xfrm>
            <a:off x="6888088" y="1067713"/>
            <a:ext cx="2475806" cy="430887"/>
          </a:xfrm>
          <a:prstGeom prst="rect">
            <a:avLst/>
          </a:prstGeom>
          <a:noFill/>
        </p:spPr>
        <p:txBody>
          <a:bodyPr wrap="none" rtlCol="0">
            <a:spAutoFit/>
          </a:bodyPr>
          <a:lstStyle/>
          <a:p>
            <a:r>
              <a:rPr lang="en-US" sz="2200" dirty="0">
                <a:solidFill>
                  <a:srgbClr val="0070C0"/>
                </a:solidFill>
                <a:latin typeface="Liberation Mono"/>
              </a:rPr>
              <a:t>(</a:t>
            </a:r>
            <a:r>
              <a:rPr lang="en-IN" sz="2200" dirty="0">
                <a:solidFill>
                  <a:srgbClr val="0070C0"/>
                </a:solidFill>
                <a:latin typeface="Liberation Mono"/>
              </a:rPr>
              <a:t>Repeating</a:t>
            </a:r>
            <a:r>
              <a:rPr lang="en-US" sz="2200" dirty="0">
                <a:solidFill>
                  <a:srgbClr val="0070C0"/>
                </a:solidFill>
                <a:latin typeface="Liberation Mono"/>
              </a:rPr>
              <a:t>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8AEF583E-8ED0-6F3F-E53B-4F46F192CB6E}"/>
              </a:ext>
            </a:extLst>
          </p:cNvPr>
          <p:cNvSpPr txBox="1"/>
          <p:nvPr/>
        </p:nvSpPr>
        <p:spPr>
          <a:xfrm>
            <a:off x="8040216" y="519063"/>
            <a:ext cx="2647178"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Repeating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D1C1EBC1-171C-1C91-85EA-7C87EF4AF484}"/>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repeating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57491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61AA5-3AD6-FB6F-9A59-247CD999FC8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F8B0BD21-31C6-92E9-64DF-8589E35382D9}"/>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EAD04F6-2518-EE4E-C25D-031BE12C0FB9}"/>
              </a:ext>
            </a:extLst>
          </p:cNvPr>
          <p:cNvGraphicFramePr>
            <a:graphicFrameLocks noGrp="1"/>
          </p:cNvGraphicFramePr>
          <p:nvPr>
            <p:extLst>
              <p:ext uri="{D42A27DB-BD31-4B8C-83A1-F6EECF244321}">
                <p14:modId xmlns:p14="http://schemas.microsoft.com/office/powerpoint/2010/main" val="3390680688"/>
              </p:ext>
            </p:extLst>
          </p:nvPr>
        </p:nvGraphicFramePr>
        <p:xfrm>
          <a:off x="1703512" y="1538704"/>
          <a:ext cx="1440000" cy="3804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2002</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2025</a:t>
                      </a:r>
                    </a:p>
                  </a:txBody>
                  <a:tcPr/>
                </a:tc>
                <a:extLst>
                  <a:ext uri="{0D108BD9-81ED-4DB2-BD59-A6C34878D82A}">
                    <a16:rowId xmlns:a16="http://schemas.microsoft.com/office/drawing/2014/main" val="229382097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Till system year</a:t>
                      </a:r>
                    </a:p>
                  </a:txBody>
                  <a:tcPr/>
                </a:tc>
                <a:extLst>
                  <a:ext uri="{0D108BD9-81ED-4DB2-BD59-A6C34878D82A}">
                    <a16:rowId xmlns:a16="http://schemas.microsoft.com/office/drawing/2014/main" val="2847675339"/>
                  </a:ext>
                </a:extLst>
              </a:tr>
            </a:tbl>
          </a:graphicData>
        </a:graphic>
      </p:graphicFrame>
      <p:sp>
        <p:nvSpPr>
          <p:cNvPr id="8" name="TextBox 7">
            <a:extLst>
              <a:ext uri="{FF2B5EF4-FFF2-40B4-BE49-F238E27FC236}">
                <a16:creationId xmlns:a16="http://schemas.microsoft.com/office/drawing/2014/main" id="{A21DDA42-D9A5-AB16-9827-FB9ABD74D9F3}"/>
              </a:ext>
            </a:extLst>
          </p:cNvPr>
          <p:cNvSpPr txBox="1"/>
          <p:nvPr/>
        </p:nvSpPr>
        <p:spPr>
          <a:xfrm>
            <a:off x="3649274" y="32411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E224B23-C893-0C49-0C15-9132DFBFA4FE}"/>
              </a:ext>
            </a:extLst>
          </p:cNvPr>
          <p:cNvSpPr txBox="1"/>
          <p:nvPr/>
        </p:nvSpPr>
        <p:spPr>
          <a:xfrm>
            <a:off x="1703510" y="1071429"/>
            <a:ext cx="2580834" cy="400110"/>
          </a:xfrm>
          <a:prstGeom prst="rect">
            <a:avLst/>
          </a:prstGeom>
          <a:noFill/>
        </p:spPr>
        <p:txBody>
          <a:bodyPr wrap="square">
            <a:spAutoFit/>
          </a:bodyPr>
          <a:lstStyle/>
          <a:p>
            <a:r>
              <a:rPr lang="en-IN" sz="2000" b="1" dirty="0">
                <a:latin typeface="Liberation Mono"/>
              </a:rPr>
              <a:t>Table:- find_leap_year</a:t>
            </a:r>
            <a:endParaRPr lang="en-IN" sz="2000" b="1" dirty="0"/>
          </a:p>
        </p:txBody>
      </p:sp>
      <p:sp>
        <p:nvSpPr>
          <p:cNvPr id="14" name="TextBox 13">
            <a:extLst>
              <a:ext uri="{FF2B5EF4-FFF2-40B4-BE49-F238E27FC236}">
                <a16:creationId xmlns:a16="http://schemas.microsoft.com/office/drawing/2014/main" id="{B5932989-2439-CC66-CC8A-36907E88D089}"/>
              </a:ext>
            </a:extLst>
          </p:cNvPr>
          <p:cNvSpPr txBox="1"/>
          <p:nvPr/>
        </p:nvSpPr>
        <p:spPr>
          <a:xfrm>
            <a:off x="5519936" y="105937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D6409B5F-F792-6FAE-E2F4-9A8C8ED465F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0C6620C2-2AA2-53A1-72FC-465DF9E8077C}"/>
              </a:ext>
            </a:extLst>
          </p:cNvPr>
          <p:cNvGraphicFramePr>
            <a:graphicFrameLocks noGrp="1"/>
          </p:cNvGraphicFramePr>
          <p:nvPr>
            <p:extLst>
              <p:ext uri="{D42A27DB-BD31-4B8C-83A1-F6EECF244321}">
                <p14:modId xmlns:p14="http://schemas.microsoft.com/office/powerpoint/2010/main" val="796179318"/>
              </p:ext>
            </p:extLst>
          </p:nvPr>
        </p:nvGraphicFramePr>
        <p:xfrm>
          <a:off x="5546030" y="1538704"/>
          <a:ext cx="4006354" cy="3906520"/>
        </p:xfrm>
        <a:graphic>
          <a:graphicData uri="http://schemas.openxmlformats.org/drawingml/2006/table">
            <a:tbl>
              <a:tblPr firstRow="1" bandRow="1">
                <a:tableStyleId>{5940675A-B579-460E-94D1-54222C63F5DA}</a:tableStyleId>
              </a:tblPr>
              <a:tblGrid>
                <a:gridCol w="2003177">
                  <a:extLst>
                    <a:ext uri="{9D8B030D-6E8A-4147-A177-3AD203B41FA5}">
                      <a16:colId xmlns:a16="http://schemas.microsoft.com/office/drawing/2014/main" val="928063234"/>
                    </a:ext>
                  </a:extLst>
                </a:gridCol>
                <a:gridCol w="2003177">
                  <a:extLst>
                    <a:ext uri="{9D8B030D-6E8A-4147-A177-3AD203B41FA5}">
                      <a16:colId xmlns:a16="http://schemas.microsoft.com/office/drawing/2014/main" val="3888223718"/>
                    </a:ext>
                  </a:extLst>
                </a:gridCol>
              </a:tblGrid>
              <a:tr h="370840">
                <a:tc>
                  <a:txBody>
                    <a:bodyPr/>
                    <a:lstStyle/>
                    <a:p>
                      <a:pPr algn="ctr"/>
                      <a:r>
                        <a:rPr lang="en-US" dirty="0">
                          <a:latin typeface="Arial" panose="020B0604020202020204" pitchFamily="34" charset="0"/>
                          <a:cs typeface="Arial" panose="020B0604020202020204" pitchFamily="34" charset="0"/>
                        </a:rPr>
                        <a:t>year </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2001</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421159875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407254102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2883404039"/>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98223865"/>
                  </a:ext>
                </a:extLst>
              </a:tr>
              <a:tr h="370840">
                <a:tc>
                  <a:txBody>
                    <a:bodyPr/>
                    <a:lstStyle/>
                    <a:p>
                      <a:pPr algn="ctr"/>
                      <a:r>
                        <a:rPr lang="en-IN" dirty="0">
                          <a:latin typeface="Arial" panose="020B0604020202020204" pitchFamily="34" charset="0"/>
                          <a:cs typeface="Arial" panose="020B0604020202020204" pitchFamily="34" charset="0"/>
                        </a:rPr>
                        <a:t>2024</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2234991133"/>
                  </a:ext>
                </a:extLst>
              </a:tr>
              <a:tr h="370840">
                <a:tc>
                  <a:txBody>
                    <a:bodyPr/>
                    <a:lstStyle/>
                    <a:p>
                      <a:pPr algn="ctr"/>
                      <a:r>
                        <a:rPr lang="en-IN" dirty="0">
                          <a:latin typeface="Arial" panose="020B0604020202020204" pitchFamily="34" charset="0"/>
                          <a:cs typeface="Arial" panose="020B0604020202020204" pitchFamily="34" charset="0"/>
                        </a:rPr>
                        <a:t>2025</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767440574"/>
                  </a:ext>
                </a:extLst>
              </a:tr>
            </a:tbl>
          </a:graphicData>
        </a:graphic>
      </p:graphicFrame>
      <p:sp>
        <p:nvSpPr>
          <p:cNvPr id="11" name="TextBox 10">
            <a:extLst>
              <a:ext uri="{FF2B5EF4-FFF2-40B4-BE49-F238E27FC236}">
                <a16:creationId xmlns:a16="http://schemas.microsoft.com/office/drawing/2014/main" id="{25818C25-709F-A718-5E83-C2D0D1FBE5BA}"/>
              </a:ext>
            </a:extLst>
          </p:cNvPr>
          <p:cNvSpPr txBox="1"/>
          <p:nvPr/>
        </p:nvSpPr>
        <p:spPr>
          <a:xfrm>
            <a:off x="241200" y="5674022"/>
            <a:ext cx="1161544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(c1) </a:t>
            </a:r>
            <a:r>
              <a:rPr lang="en-US" b="1" i="1" dirty="0">
                <a:solidFill>
                  <a:schemeClr val="bg1">
                    <a:lumMod val="50000"/>
                  </a:schemeClr>
                </a:solidFill>
                <a:latin typeface="Liberation Mono"/>
              </a:rPr>
              <a:t>n</a:t>
            </a:r>
            <a:r>
              <a:rPr lang="en-US" dirty="0">
                <a:latin typeface="Liberation Mono"/>
              </a:rPr>
              <a:t>  </a:t>
            </a:r>
            <a:r>
              <a:rPr lang="en-US" dirty="0">
                <a:solidFill>
                  <a:srgbClr val="0077AA"/>
                </a:solidFill>
                <a:latin typeface="Liberation Mono"/>
              </a:rPr>
              <a:t>FROM</a:t>
            </a:r>
            <a:r>
              <a:rPr lang="en-US" dirty="0">
                <a:latin typeface="Liberation Mono"/>
              </a:rPr>
              <a:t> find_leap_year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&lt;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(c1) </a:t>
            </a:r>
            <a:r>
              <a:rPr lang="en-US" dirty="0">
                <a:solidFill>
                  <a:srgbClr val="0077AA"/>
                </a:solidFill>
                <a:latin typeface="Liberation Mono"/>
              </a:rPr>
              <a:t>FROM</a:t>
            </a:r>
            <a:r>
              <a:rPr lang="en-US" dirty="0">
                <a:latin typeface="Liberation Mono"/>
              </a:rPr>
              <a:t> find_leap_year))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year,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 </a:t>
            </a:r>
            <a:r>
              <a:rPr lang="en-US" dirty="0">
                <a:solidFill>
                  <a:schemeClr val="accent5">
                    <a:lumMod val="75000"/>
                  </a:schemeClr>
                </a:solidFill>
                <a:latin typeface="Liberation Mono"/>
              </a:rPr>
              <a:t>= </a:t>
            </a:r>
            <a:r>
              <a:rPr lang="en-US" dirty="0">
                <a:solidFill>
                  <a:srgbClr val="990055"/>
                </a:solidFill>
                <a:latin typeface="Liberation Mono"/>
              </a:rPr>
              <a:t>0</a:t>
            </a:r>
            <a:r>
              <a:rPr lang="en-US" dirty="0">
                <a:latin typeface="Liberation Mono"/>
              </a:rPr>
              <a:t> AND </a:t>
            </a:r>
            <a:r>
              <a:rPr lang="en-US" b="1" i="1" dirty="0">
                <a:solidFill>
                  <a:schemeClr val="bg1">
                    <a:lumMod val="50000"/>
                  </a:schemeClr>
                </a:solidFill>
                <a:latin typeface="Liberation Mono"/>
              </a:rPr>
              <a:t>n</a:t>
            </a:r>
            <a:r>
              <a:rPr lang="en-US" dirty="0">
                <a:latin typeface="Liberation Mono"/>
              </a:rPr>
              <a:t>%</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OR</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'Leap Year'</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'Not leap year... '</a:t>
            </a:r>
            <a:r>
              <a:rPr lang="en-US" dirty="0">
                <a:solidFill>
                  <a:srgbClr val="DB7BC9"/>
                </a:solidFill>
                <a:latin typeface="Liberation Mono"/>
              </a:rPr>
              <a:t> END</a:t>
            </a:r>
            <a:r>
              <a:rPr lang="en-US" dirty="0">
                <a:latin typeface="Liberation Mono"/>
              </a:rPr>
              <a:t> Output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844AE1C2-A544-EBAC-50F0-DFB15C68DD2B}"/>
              </a:ext>
            </a:extLst>
          </p:cNvPr>
          <p:cNvSpPr txBox="1"/>
          <p:nvPr/>
        </p:nvSpPr>
        <p:spPr>
          <a:xfrm>
            <a:off x="6456040" y="1043989"/>
            <a:ext cx="1451616" cy="430887"/>
          </a:xfrm>
          <a:prstGeom prst="rect">
            <a:avLst/>
          </a:prstGeom>
          <a:noFill/>
        </p:spPr>
        <p:txBody>
          <a:bodyPr wrap="none" rtlCol="0">
            <a:spAutoFit/>
          </a:bodyPr>
          <a:lstStyle/>
          <a:p>
            <a:r>
              <a:rPr lang="en-US" sz="2200" dirty="0">
                <a:solidFill>
                  <a:srgbClr val="0070C0"/>
                </a:solidFill>
                <a:latin typeface="Liberation Mono"/>
              </a:rPr>
              <a:t>(Leap Year)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6785776E-5105-FD39-04E7-A953788C4BCA}"/>
              </a:ext>
            </a:extLst>
          </p:cNvPr>
          <p:cNvSpPr txBox="1"/>
          <p:nvPr/>
        </p:nvSpPr>
        <p:spPr>
          <a:xfrm>
            <a:off x="8472264" y="519063"/>
            <a:ext cx="221513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Find Leap year</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16E73E24-2807-5D7B-90FA-04983666C5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leap year.</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05771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B557A-0D70-0086-9DE8-5CE779A2E87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45B192C-807E-4A27-DF6B-B762B1994E4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CCDE4F5-EFEA-480F-53EE-9ECEB2E676A2}"/>
              </a:ext>
            </a:extLst>
          </p:cNvPr>
          <p:cNvGraphicFramePr>
            <a:graphicFrameLocks noGrp="1"/>
          </p:cNvGraphicFramePr>
          <p:nvPr>
            <p:extLst>
              <p:ext uri="{D42A27DB-BD31-4B8C-83A1-F6EECF244321}">
                <p14:modId xmlns:p14="http://schemas.microsoft.com/office/powerpoint/2010/main" val="971818033"/>
              </p:ext>
            </p:extLst>
          </p:nvPr>
        </p:nvGraphicFramePr>
        <p:xfrm>
          <a:off x="1991545" y="1460054"/>
          <a:ext cx="1440000" cy="3708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bl>
          </a:graphicData>
        </a:graphic>
      </p:graphicFrame>
      <p:sp>
        <p:nvSpPr>
          <p:cNvPr id="8" name="TextBox 7">
            <a:extLst>
              <a:ext uri="{FF2B5EF4-FFF2-40B4-BE49-F238E27FC236}">
                <a16:creationId xmlns:a16="http://schemas.microsoft.com/office/drawing/2014/main" id="{009A5DFE-5026-669A-D6E3-F7E992E6767E}"/>
              </a:ext>
            </a:extLst>
          </p:cNvPr>
          <p:cNvSpPr txBox="1"/>
          <p:nvPr/>
        </p:nvSpPr>
        <p:spPr>
          <a:xfrm>
            <a:off x="3937307" y="163083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944B141-0B75-ABC8-E5C0-2DCC7D7BF5BD}"/>
              </a:ext>
            </a:extLst>
          </p:cNvPr>
          <p:cNvSpPr txBox="1"/>
          <p:nvPr/>
        </p:nvSpPr>
        <p:spPr>
          <a:xfrm>
            <a:off x="1991544" y="980728"/>
            <a:ext cx="1439936" cy="400110"/>
          </a:xfrm>
          <a:prstGeom prst="rect">
            <a:avLst/>
          </a:prstGeom>
          <a:noFill/>
        </p:spPr>
        <p:txBody>
          <a:bodyPr wrap="square">
            <a:spAutoFit/>
          </a:bodyPr>
          <a:lstStyle/>
          <a:p>
            <a:r>
              <a:rPr lang="en-IN" sz="2000" b="1" dirty="0">
                <a:latin typeface="Liberation Mono"/>
              </a:rPr>
              <a:t>Table:- x</a:t>
            </a:r>
            <a:endParaRPr lang="en-IN" sz="2000" b="1" dirty="0"/>
          </a:p>
        </p:txBody>
      </p:sp>
      <p:sp>
        <p:nvSpPr>
          <p:cNvPr id="14" name="TextBox 13">
            <a:extLst>
              <a:ext uri="{FF2B5EF4-FFF2-40B4-BE49-F238E27FC236}">
                <a16:creationId xmlns:a16="http://schemas.microsoft.com/office/drawing/2014/main" id="{EFAA2FE0-A2A2-E158-2370-CC81DBCD80E3}"/>
              </a:ext>
            </a:extLst>
          </p:cNvPr>
          <p:cNvSpPr txBox="1"/>
          <p:nvPr/>
        </p:nvSpPr>
        <p:spPr>
          <a:xfrm>
            <a:off x="5807969" y="98072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B8CA5EF-5E62-10A6-B357-341D44A2B24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7C1535F4-946F-C35C-C3D3-A1C0FBD99542}"/>
              </a:ext>
            </a:extLst>
          </p:cNvPr>
          <p:cNvGraphicFramePr>
            <a:graphicFrameLocks noGrp="1"/>
          </p:cNvGraphicFramePr>
          <p:nvPr>
            <p:extLst>
              <p:ext uri="{D42A27DB-BD31-4B8C-83A1-F6EECF244321}">
                <p14:modId xmlns:p14="http://schemas.microsoft.com/office/powerpoint/2010/main" val="1772895184"/>
              </p:ext>
            </p:extLst>
          </p:nvPr>
        </p:nvGraphicFramePr>
        <p:xfrm>
          <a:off x="5834063" y="1460054"/>
          <a:ext cx="1440000" cy="40792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c1</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2025-06-15</a:t>
                      </a:r>
                    </a:p>
                  </a:txBody>
                  <a:tcPr/>
                </a:tc>
                <a:extLst>
                  <a:ext uri="{0D108BD9-81ED-4DB2-BD59-A6C34878D82A}">
                    <a16:rowId xmlns:a16="http://schemas.microsoft.com/office/drawing/2014/main" val="385850531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2025-06-16</a:t>
                      </a:r>
                    </a:p>
                  </a:txBody>
                  <a:tcPr/>
                </a:tc>
                <a:extLst>
                  <a:ext uri="{0D108BD9-81ED-4DB2-BD59-A6C34878D82A}">
                    <a16:rowId xmlns:a16="http://schemas.microsoft.com/office/drawing/2014/main" val="3037007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2025-06-17</a:t>
                      </a:r>
                    </a:p>
                  </a:txBody>
                  <a:tcPr/>
                </a:tc>
                <a:extLst>
                  <a:ext uri="{0D108BD9-81ED-4DB2-BD59-A6C34878D82A}">
                    <a16:rowId xmlns:a16="http://schemas.microsoft.com/office/drawing/2014/main" val="128997360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2025-06-18</a:t>
                      </a:r>
                    </a:p>
                  </a:txBody>
                  <a:tcPr/>
                </a:tc>
                <a:extLst>
                  <a:ext uri="{0D108BD9-81ED-4DB2-BD59-A6C34878D82A}">
                    <a16:rowId xmlns:a16="http://schemas.microsoft.com/office/drawing/2014/main" val="100116744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2025-06-19</a:t>
                      </a:r>
                    </a:p>
                  </a:txBody>
                  <a:tcPr/>
                </a:tc>
                <a:extLst>
                  <a:ext uri="{0D108BD9-81ED-4DB2-BD59-A6C34878D82A}">
                    <a16:rowId xmlns:a16="http://schemas.microsoft.com/office/drawing/2014/main" val="221115073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2025-06-20</a:t>
                      </a:r>
                    </a:p>
                  </a:txBody>
                  <a:tcPr/>
                </a:tc>
                <a:extLst>
                  <a:ext uri="{0D108BD9-81ED-4DB2-BD59-A6C34878D82A}">
                    <a16:rowId xmlns:a16="http://schemas.microsoft.com/office/drawing/2014/main" val="20918217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2025-06-21</a:t>
                      </a:r>
                    </a:p>
                  </a:txBody>
                  <a:tcPr/>
                </a:tc>
                <a:extLst>
                  <a:ext uri="{0D108BD9-81ED-4DB2-BD59-A6C34878D82A}">
                    <a16:rowId xmlns:a16="http://schemas.microsoft.com/office/drawing/2014/main" val="191001424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2025-06-22</a:t>
                      </a:r>
                    </a:p>
                  </a:txBody>
                  <a:tcPr/>
                </a:tc>
                <a:extLst>
                  <a:ext uri="{0D108BD9-81ED-4DB2-BD59-A6C34878D82A}">
                    <a16:rowId xmlns:a16="http://schemas.microsoft.com/office/drawing/2014/main" val="3181309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2025-06-23</a:t>
                      </a:r>
                    </a:p>
                  </a:txBody>
                  <a:tcPr/>
                </a:tc>
                <a:extLst>
                  <a:ext uri="{0D108BD9-81ED-4DB2-BD59-A6C34878D82A}">
                    <a16:rowId xmlns:a16="http://schemas.microsoft.com/office/drawing/2014/main" val="31866129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2025-06-24</a:t>
                      </a:r>
                    </a:p>
                  </a:txBody>
                  <a:tcPr/>
                </a:tc>
                <a:extLst>
                  <a:ext uri="{0D108BD9-81ED-4DB2-BD59-A6C34878D82A}">
                    <a16:rowId xmlns:a16="http://schemas.microsoft.com/office/drawing/2014/main" val="4012612507"/>
                  </a:ext>
                </a:extLst>
              </a:tr>
            </a:tbl>
          </a:graphicData>
        </a:graphic>
      </p:graphicFrame>
      <p:sp>
        <p:nvSpPr>
          <p:cNvPr id="11" name="TextBox 10">
            <a:extLst>
              <a:ext uri="{FF2B5EF4-FFF2-40B4-BE49-F238E27FC236}">
                <a16:creationId xmlns:a16="http://schemas.microsoft.com/office/drawing/2014/main" id="{332DFCD4-A83C-ED9F-A216-75D7A5C6F42B}"/>
              </a:ext>
            </a:extLst>
          </p:cNvPr>
          <p:cNvSpPr txBox="1"/>
          <p:nvPr/>
        </p:nvSpPr>
        <p:spPr>
          <a:xfrm>
            <a:off x="407368" y="5581689"/>
            <a:ext cx="11403582"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x(c1 </a:t>
            </a:r>
            <a:r>
              <a:rPr lang="en-IN" dirty="0">
                <a:solidFill>
                  <a:srgbClr val="834689"/>
                </a:solidFill>
                <a:latin typeface="Liberation Mono"/>
                <a:cs typeface="Arial" panose="020B0604020202020204" pitchFamily="34" charset="0"/>
              </a:rPr>
              <a:t>DATE</a:t>
            </a:r>
            <a:r>
              <a:rPr lang="en-IN" dirty="0">
                <a:latin typeface="Liberation Mono"/>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IN"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IN"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IN" b="1" i="1" dirty="0">
                <a:latin typeface="Liberation Mono"/>
              </a:rPr>
              <a:t>cte</a:t>
            </a:r>
            <a:r>
              <a:rPr lang="en-US" dirty="0">
                <a:latin typeface="Liberation Mono"/>
              </a:rPr>
              <a:t>;</a:t>
            </a:r>
          </a:p>
        </p:txBody>
      </p:sp>
      <p:sp>
        <p:nvSpPr>
          <p:cNvPr id="7" name="TextBox 6">
            <a:extLst>
              <a:ext uri="{FF2B5EF4-FFF2-40B4-BE49-F238E27FC236}">
                <a16:creationId xmlns:a16="http://schemas.microsoft.com/office/drawing/2014/main" id="{101E6BC3-DFF3-6208-0CA1-2ABB2CD979A6}"/>
              </a:ext>
            </a:extLst>
          </p:cNvPr>
          <p:cNvSpPr txBox="1"/>
          <p:nvPr/>
        </p:nvSpPr>
        <p:spPr>
          <a:xfrm>
            <a:off x="7392144" y="519063"/>
            <a:ext cx="329525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Fill Dates using INSERT</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AB16A4D9-1894-0303-81D1-D3355CDF387A}"/>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dates using INSERT statement.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52413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A035D1-25CA-BAB1-0C04-1C3FFC5CCE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1D8EA0-630B-7F90-0F07-B12A7A45681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assignments</a:t>
            </a:r>
          </a:p>
        </p:txBody>
      </p:sp>
      <p:sp>
        <p:nvSpPr>
          <p:cNvPr id="3" name="TextBox 2">
            <a:extLst>
              <a:ext uri="{FF2B5EF4-FFF2-40B4-BE49-F238E27FC236}">
                <a16:creationId xmlns:a16="http://schemas.microsoft.com/office/drawing/2014/main" id="{C0955450-1CA2-7500-4A86-93FC4216465D}"/>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F9BBF691-5B99-DAA1-0959-C688DAA1851B}"/>
              </a:ext>
            </a:extLst>
          </p:cNvPr>
          <p:cNvSpPr txBox="1"/>
          <p:nvPr/>
        </p:nvSpPr>
        <p:spPr>
          <a:xfrm>
            <a:off x="407368" y="2494637"/>
            <a:ext cx="11305256" cy="2215991"/>
          </a:xfrm>
          <a:prstGeom prst="rect">
            <a:avLst/>
          </a:prstGeom>
          <a:noFill/>
        </p:spPr>
        <p:txBody>
          <a:bodyPr wrap="square">
            <a:spAutoFit/>
          </a:bodyPr>
          <a:lstStyle/>
          <a:p>
            <a:r>
              <a:rPr lang="en-US" b="1" dirty="0">
                <a:latin typeface="Liberation Mono"/>
              </a:rPr>
              <a:t>Which customer spent the most.</a:t>
            </a:r>
          </a:p>
          <a:p>
            <a:endParaRPr lang="en-IN" sz="600" dirty="0">
              <a:latin typeface="Liberation Mono"/>
            </a:endParaRPr>
          </a:p>
          <a:p>
            <a:pPr marL="1343025" indent="-1255713"/>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distinct cname, </a:t>
            </a:r>
            <a:r>
              <a:rPr lang="en-IN" dirty="0">
                <a:solidFill>
                  <a:srgbClr val="DD4A68"/>
                </a:solidFill>
                <a:latin typeface="Liberation Mono"/>
              </a:rPr>
              <a:t>ROUND</a:t>
            </a:r>
            <a:r>
              <a:rPr lang="en-IN" dirty="0">
                <a:latin typeface="Liberation Mono"/>
              </a:rPr>
              <a:t>(sum(amt) over(partition by o.cnum), </a:t>
            </a:r>
            <a:r>
              <a:rPr lang="en-IN" dirty="0">
                <a:solidFill>
                  <a:srgbClr val="990055"/>
                </a:solidFill>
                <a:latin typeface="Liberation Mono"/>
              </a:rPr>
              <a:t>0</a:t>
            </a:r>
            <a:r>
              <a:rPr lang="en-IN" dirty="0">
                <a:latin typeface="Liberation Mono"/>
              </a:rPr>
              <a:t>) R1 </a:t>
            </a:r>
            <a:r>
              <a:rPr lang="en-IN" dirty="0">
                <a:solidFill>
                  <a:srgbClr val="0077AA"/>
                </a:solidFill>
                <a:latin typeface="Liberation Mono"/>
              </a:rPr>
              <a:t>FROM</a:t>
            </a:r>
            <a:r>
              <a:rPr lang="en-IN" dirty="0">
                <a:latin typeface="Liberation Mono"/>
              </a:rPr>
              <a:t> customers c, orders o   </a:t>
            </a:r>
            <a:r>
              <a:rPr lang="en-IN" dirty="0">
                <a:solidFill>
                  <a:srgbClr val="0077AA"/>
                </a:solidFill>
                <a:latin typeface="Liberation Mono"/>
              </a:rPr>
              <a:t>WHERE</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o.cnum), </a:t>
            </a:r>
          </a:p>
          <a:p>
            <a:pPr marL="622300"/>
            <a:r>
              <a:rPr lang="en-IN" b="1" i="1" dirty="0">
                <a:latin typeface="Liberation Mono"/>
              </a:rPr>
              <a:t>cte1</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row_number() over(order by R1 desc) rnk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cte1</a:t>
            </a:r>
            <a:r>
              <a:rPr lang="en-IN" dirty="0">
                <a:latin typeface="Liberation Mono"/>
              </a:rPr>
              <a:t> </a:t>
            </a:r>
            <a:r>
              <a:rPr lang="en-IN" dirty="0">
                <a:solidFill>
                  <a:srgbClr val="0077AA"/>
                </a:solidFill>
                <a:latin typeface="Liberation Mono"/>
              </a:rPr>
              <a:t>WHERE</a:t>
            </a:r>
            <a:r>
              <a:rPr lang="en-IN" dirty="0">
                <a:latin typeface="Liberation Mono"/>
              </a:rPr>
              <a:t> rnk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622300"/>
            <a:endParaRPr lang="en-IN" dirty="0">
              <a:latin typeface="Liberation Mono"/>
            </a:endParaRPr>
          </a:p>
          <a:p>
            <a:r>
              <a:rPr lang="en-IN" b="1" dirty="0">
                <a:latin typeface="Liberation Mono"/>
              </a:rPr>
              <a:t>Repeat Customers</a:t>
            </a:r>
          </a:p>
          <a:p>
            <a:endParaRPr lang="en-IN" sz="600" dirty="0">
              <a:latin typeface="Liberation Mono"/>
            </a:endParaRPr>
          </a:p>
          <a:p>
            <a:endParaRPr lang="en-IN" dirty="0">
              <a:latin typeface="Liberation Mono"/>
            </a:endParaRPr>
          </a:p>
        </p:txBody>
      </p:sp>
      <p:sp>
        <p:nvSpPr>
          <p:cNvPr id="7" name="TextBox 6">
            <a:extLst>
              <a:ext uri="{FF2B5EF4-FFF2-40B4-BE49-F238E27FC236}">
                <a16:creationId xmlns:a16="http://schemas.microsoft.com/office/drawing/2014/main" id="{4DFF8328-C374-996B-09C5-CCAC7286F9FC}"/>
              </a:ext>
            </a:extLst>
          </p:cNvPr>
          <p:cNvSpPr txBox="1"/>
          <p:nvPr/>
        </p:nvSpPr>
        <p:spPr>
          <a:xfrm>
            <a:off x="263352" y="1889745"/>
            <a:ext cx="6094378" cy="369332"/>
          </a:xfrm>
          <a:prstGeom prst="rect">
            <a:avLst/>
          </a:prstGeom>
          <a:noFill/>
        </p:spPr>
        <p:txBody>
          <a:bodyPr wrap="square">
            <a:spAutoFit/>
          </a:bodyPr>
          <a:lstStyle/>
          <a:p>
            <a:r>
              <a:rPr lang="en-IN" sz="1800" b="1" i="1" dirty="0">
                <a:latin typeface="Liberation Mono"/>
              </a:rPr>
              <a:t>Customers and orders table.</a:t>
            </a:r>
            <a:endParaRPr lang="en-IN" dirty="0"/>
          </a:p>
        </p:txBody>
      </p:sp>
    </p:spTree>
    <p:extLst>
      <p:ext uri="{BB962C8B-B14F-4D97-AF65-F5344CB8AC3E}">
        <p14:creationId xmlns:p14="http://schemas.microsoft.com/office/powerpoint/2010/main" val="3246607973"/>
      </p:ext>
    </p:extLst>
  </p:cSld>
  <p:clrMapOvr>
    <a:masterClrMapping/>
  </p:clrMapOvr>
</p:sld>
</file>

<file path=ppt/slides/slide6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424731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a:t>
            </a:r>
          </a:p>
          <a:p>
            <a:r>
              <a:rPr lang="en-US" dirty="0">
                <a:solidFill>
                  <a:srgbClr val="0077AA"/>
                </a:solidFill>
                <a:latin typeface="Liberation Mono"/>
              </a:rPr>
              <a:t>                SELECT</a:t>
            </a:r>
            <a:r>
              <a:rPr lang="en-US" dirty="0">
                <a:latin typeface="Liberation Mono"/>
              </a:rPr>
              <a:t> </a:t>
            </a:r>
            <a:r>
              <a:rPr lang="en-US" b="1" i="1" dirty="0">
                <a:latin typeface="Liberation Mono"/>
              </a:rPr>
              <a:t>a</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.origin, </a:t>
            </a:r>
            <a:r>
              <a:rPr lang="en-US" b="1" i="1" dirty="0">
                <a:latin typeface="Liberation Mono"/>
              </a:rPr>
              <a:t>a</a:t>
            </a:r>
            <a:r>
              <a:rPr lang="en-US" dirty="0">
                <a:latin typeface="Liberation Mono"/>
              </a:rPr>
              <a:t>.destination)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b</a:t>
            </a:r>
            <a:r>
              <a:rPr lang="en-US" dirty="0">
                <a:latin typeface="Liberation Mono"/>
              </a:rPr>
              <a:t>.destination,</a:t>
            </a:r>
            <a:r>
              <a:rPr lang="en-US" b="1" i="1" dirty="0">
                <a:latin typeface="Liberation Mono"/>
              </a:rPr>
              <a:t>b</a:t>
            </a:r>
            <a:r>
              <a:rPr lang="en-US" dirty="0">
                <a:latin typeface="Liberation Mono"/>
              </a:rPr>
              <a:t>.origin)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channel </a:t>
            </a:r>
            <a:r>
              <a:rPr lang="en-US" dirty="0">
                <a:solidFill>
                  <a:srgbClr val="0077AA"/>
                </a:solidFill>
                <a:latin typeface="Liberation Mono"/>
              </a:rPr>
              <a:t>FROM</a:t>
            </a:r>
            <a:r>
              <a:rPr lang="en-US" dirty="0">
                <a:latin typeface="Liberation Mono"/>
              </a:rPr>
              <a:t> sales_channel),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warehouse_Name </a:t>
            </a:r>
            <a:r>
              <a:rPr lang="en-US" dirty="0">
                <a:solidFill>
                  <a:srgbClr val="0077AA"/>
                </a:solidFill>
                <a:latin typeface="Liberation Mono"/>
              </a:rPr>
              <a:t>FROM</a:t>
            </a:r>
            <a:r>
              <a:rPr lang="en-US" dirty="0">
                <a:latin typeface="Liberation Mono"/>
              </a:rPr>
              <a:t> warehouse),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channel, warehouse_Name </a:t>
            </a:r>
            <a:r>
              <a:rPr lang="en-US" dirty="0">
                <a:solidFill>
                  <a:srgbClr val="0077AA"/>
                </a:solidFill>
                <a:latin typeface="Liberation Mono"/>
              </a:rPr>
              <a:t>FROM</a:t>
            </a:r>
            <a:r>
              <a:rPr lang="en-US" dirty="0">
                <a:latin typeface="Liberation Mono"/>
              </a:rPr>
              <a:t> sales_channel, warehouse </a:t>
            </a:r>
            <a:r>
              <a:rPr lang="en-US" dirty="0">
                <a:solidFill>
                  <a:srgbClr val="0077AA"/>
                </a:solidFill>
                <a:latin typeface="Liberation Mono"/>
              </a:rPr>
              <a:t>WHERE</a:t>
            </a:r>
            <a:r>
              <a:rPr lang="en-US" dirty="0">
                <a:latin typeface="Liberation Mono"/>
              </a:rPr>
              <a:t> sales_channel.channel_ID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warehouse.channel_id)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.channel, </a:t>
            </a:r>
            <a:r>
              <a:rPr lang="en-US" b="1" i="1" dirty="0">
                <a:latin typeface="Liberation Mono"/>
              </a:rPr>
              <a:t>b</a:t>
            </a:r>
            <a:r>
              <a:rPr lang="en-US" dirty="0">
                <a:latin typeface="Liberation Mono"/>
              </a:rPr>
              <a:t>.warehouse_Name)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.channel, </a:t>
            </a:r>
            <a:r>
              <a:rPr lang="en-US" b="1" i="1" dirty="0">
                <a:latin typeface="Liberation Mono"/>
              </a:rPr>
              <a:t>c</a:t>
            </a:r>
            <a:r>
              <a:rPr lang="en-US" dirty="0">
                <a:latin typeface="Liberation Mono"/>
              </a:rPr>
              <a:t>.warehouse_Name))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endParaRPr lang="en-US" sz="600" dirty="0">
              <a:solidFill>
                <a:srgbClr val="0077AA"/>
              </a:solidFill>
              <a:latin typeface="Liberation Mono"/>
            </a:endParaRPr>
          </a:p>
          <a:p>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productName </a:t>
            </a:r>
            <a:r>
              <a:rPr lang="en-US" dirty="0">
                <a:solidFill>
                  <a:srgbClr val="0077AA"/>
                </a:solidFill>
                <a:latin typeface="Liberation Mono"/>
              </a:rPr>
              <a:t>FROM</a:t>
            </a:r>
            <a:r>
              <a:rPr lang="en-US" dirty="0">
                <a:latin typeface="Liberation Mono"/>
              </a:rPr>
              <a:t> pivot_table),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storeLocation </a:t>
            </a:r>
            <a:r>
              <a:rPr lang="en-US" dirty="0">
                <a:solidFill>
                  <a:srgbClr val="0077AA"/>
                </a:solidFill>
                <a:latin typeface="Liberation Mono"/>
              </a:rPr>
              <a:t>FROM</a:t>
            </a:r>
            <a:r>
              <a:rPr lang="en-US" dirty="0">
                <a:latin typeface="Liberation Mono"/>
              </a:rPr>
              <a:t> pivot_table),</a:t>
            </a:r>
          </a:p>
          <a:p>
            <a:r>
              <a:rPr lang="en-US" b="1" i="1" dirty="0">
                <a:latin typeface="Liberation Mono"/>
              </a:rPr>
              <a:t>                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 b)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c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pivot_Table </a:t>
            </a:r>
            <a:r>
              <a:rPr lang="en-US" dirty="0">
                <a:solidFill>
                  <a:srgbClr val="0077AA"/>
                </a:solidFill>
                <a:latin typeface="Liberation Mono"/>
              </a:rPr>
              <a:t>WHERE</a:t>
            </a:r>
            <a:r>
              <a:rPr lang="en-US" dirty="0">
                <a:latin typeface="Liberation Mono"/>
              </a:rPr>
              <a:t> (c.productName, c.storeLocation)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(productName, storeLocation));</a:t>
            </a:r>
          </a:p>
        </p:txBody>
      </p:sp>
      <p:sp>
        <p:nvSpPr>
          <p:cNvPr id="3" name="TextBox 2">
            <a:extLst>
              <a:ext uri="{FF2B5EF4-FFF2-40B4-BE49-F238E27FC236}">
                <a16:creationId xmlns:a16="http://schemas.microsoft.com/office/drawing/2014/main" id="{030DFFA6-8867-61C2-B1E1-578343F4A92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346935542"/>
      </p:ext>
    </p:extLst>
  </p:cSld>
  <p:clrMapOvr>
    <a:masterClrMapping/>
  </p:clrMapOvr>
</p:sld>
</file>

<file path=ppt/slides/slide6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2585323"/>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e1</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e2</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e1</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e2</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e2</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'F'</a:t>
            </a:r>
            <a:r>
              <a:rPr lang="en-US" dirty="0">
                <a:latin typeface="Liberation Mono"/>
              </a:rPr>
              <a:t>)), </a:t>
            </a:r>
          </a:p>
          <a:p>
            <a:r>
              <a:rPr lang="en-US" dirty="0">
                <a:latin typeface="Liberation Mono"/>
              </a:rPr>
              <a:t>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e3</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e4</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e3</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e4</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e4</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'M'</a:t>
            </a:r>
            <a:r>
              <a:rPr lang="en-US" dirty="0">
                <a:latin typeface="Liberation Mono"/>
              </a:rPr>
              <a:t>)), </a:t>
            </a:r>
          </a:p>
          <a:p>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IN" sz="1800"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b</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e</a:t>
            </a:r>
            <a:r>
              <a:rPr lang="en-US" dirty="0">
                <a:latin typeface="Liberation Mono"/>
              </a:rPr>
              <a:t>.deptno, </a:t>
            </a:r>
            <a:r>
              <a:rPr lang="en-US" i="1" dirty="0">
                <a:solidFill>
                  <a:schemeClr val="bg1">
                    <a:lumMod val="50000"/>
                  </a:schemeClr>
                </a:solidFill>
                <a:latin typeface="Liberation Mono"/>
              </a:rPr>
              <a:t>e</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c</a:t>
            </a:r>
            <a:r>
              <a:rPr lang="en-US" dirty="0">
                <a:latin typeface="Liberation Mono"/>
              </a:rPr>
              <a:t>.deptno, </a:t>
            </a:r>
          </a:p>
          <a:p>
            <a:r>
              <a:rPr lang="en-US" dirty="0">
                <a:latin typeface="Liberation Mono"/>
              </a:rPr>
              <a:t>                </a:t>
            </a:r>
            <a:r>
              <a:rPr lang="en-US" b="1" i="1" dirty="0">
                <a:latin typeface="Liberation Mono"/>
              </a:rPr>
              <a:t>c</a:t>
            </a:r>
            <a:r>
              <a:rPr lang="en-US" dirty="0">
                <a:latin typeface="Liberation Mono"/>
              </a:rPr>
              <a:t>.gender));</a:t>
            </a:r>
          </a:p>
        </p:txBody>
      </p:sp>
      <p:sp>
        <p:nvSpPr>
          <p:cNvPr id="3" name="TextBox 2">
            <a:extLst>
              <a:ext uri="{FF2B5EF4-FFF2-40B4-BE49-F238E27FC236}">
                <a16:creationId xmlns:a16="http://schemas.microsoft.com/office/drawing/2014/main" id="{C391C3FD-B5AB-D94B-6FD8-884600BF220B}"/>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220902462"/>
      </p:ext>
    </p:extLst>
  </p:cSld>
  <p:clrMapOvr>
    <a:masterClrMapping/>
  </p:clrMapOvr>
</p:sld>
</file>

<file path=ppt/slides/slide6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2" name="TextBox 1">
            <a:extLst>
              <a:ext uri="{FF2B5EF4-FFF2-40B4-BE49-F238E27FC236}">
                <a16:creationId xmlns:a16="http://schemas.microsoft.com/office/drawing/2014/main" id="{04347516-E353-7C0D-4722-2AD286DC7231}"/>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8CD812C5-8C6E-BA0E-4BA3-DA3BCCD6A0CA}"/>
              </a:ext>
            </a:extLst>
          </p:cNvPr>
          <p:cNvSpPr txBox="1"/>
          <p:nvPr/>
        </p:nvSpPr>
        <p:spPr>
          <a:xfrm>
            <a:off x="262800" y="1980000"/>
            <a:ext cx="1173785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ename, </a:t>
            </a:r>
            <a:r>
              <a:rPr lang="en-IN" dirty="0">
                <a:solidFill>
                  <a:srgbClr val="DD4A68"/>
                </a:solidFill>
                <a:latin typeface="Liberation Mono"/>
              </a:rPr>
              <a:t>LENGTH</a:t>
            </a:r>
            <a:r>
              <a:rPr lang="en-IN" dirty="0">
                <a:latin typeface="Liberation Mono"/>
              </a:rPr>
              <a:t>(ename)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(ename , ' ', ''))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REGEXP_INSTR</a:t>
            </a:r>
            <a:r>
              <a:rPr lang="en-IN" dirty="0">
                <a:latin typeface="Liberation Mono"/>
              </a:rPr>
              <a:t>(ename, ' ') </a:t>
            </a:r>
          </a:p>
          <a:p>
            <a:r>
              <a:rPr lang="en-IN" i="1" dirty="0">
                <a:solidFill>
                  <a:schemeClr val="bg1">
                    <a:lumMod val="50000"/>
                  </a:schemeClr>
                </a:solidFill>
                <a:latin typeface="Liberation Mono"/>
              </a:rPr>
              <a:t>                 firstSpace</a:t>
            </a:r>
            <a:r>
              <a:rPr lang="en-IN" dirty="0">
                <a:latin typeface="Liberation Mono"/>
              </a:rPr>
              <a:t>, </a:t>
            </a:r>
            <a:r>
              <a:rPr lang="en-IN" dirty="0">
                <a:solidFill>
                  <a:srgbClr val="DD4A68"/>
                </a:solidFill>
                <a:latin typeface="Liberation Mono"/>
              </a:rPr>
              <a:t>REGEXP_INSTR</a:t>
            </a:r>
            <a:r>
              <a:rPr lang="en-IN" dirty="0">
                <a:latin typeface="Liberation Mono"/>
              </a:rPr>
              <a:t>(ename, ' ', </a:t>
            </a:r>
            <a:r>
              <a:rPr lang="en-IN" dirty="0">
                <a:solidFill>
                  <a:srgbClr val="DD4A68"/>
                </a:solidFill>
                <a:latin typeface="Liberation Mono"/>
              </a:rPr>
              <a:t>REGEXP_INSTR</a:t>
            </a:r>
            <a:r>
              <a:rPr lang="en-IN" dirty="0">
                <a:latin typeface="Liberation Mono"/>
              </a:rPr>
              <a:t>(ename, ' ‘)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i="1" dirty="0">
                <a:solidFill>
                  <a:schemeClr val="bg1">
                    <a:lumMod val="50000"/>
                  </a:schemeClr>
                </a:solidFill>
                <a:latin typeface="Liberation Mono"/>
              </a:rPr>
              <a:t>secondSpace</a:t>
            </a:r>
            <a:r>
              <a:rPr lang="en-IN" dirty="0">
                <a:latin typeface="Liberation Mono"/>
              </a:rPr>
              <a:t> </a:t>
            </a:r>
            <a:r>
              <a:rPr lang="en-IN" dirty="0">
                <a:solidFill>
                  <a:srgbClr val="0077AA"/>
                </a:solidFill>
                <a:latin typeface="Liberation Mono"/>
              </a:rPr>
              <a:t>FROM</a:t>
            </a:r>
            <a:r>
              <a:rPr lang="en-IN" dirty="0">
                <a:latin typeface="Liberation Mono"/>
              </a:rPr>
              <a:t> fullname) </a:t>
            </a:r>
            <a:r>
              <a:rPr lang="en-IN" dirty="0">
                <a:solidFill>
                  <a:srgbClr val="0077AA"/>
                </a:solidFill>
                <a:latin typeface="Liberation Mono"/>
              </a:rPr>
              <a:t>SELECT</a:t>
            </a:r>
            <a:r>
              <a:rPr lang="en-IN" dirty="0">
                <a:latin typeface="Liberation Mono"/>
              </a:rPr>
              <a:t> </a:t>
            </a:r>
            <a:r>
              <a:rPr lang="en-IN" b="1" dirty="0">
                <a:latin typeface="Liberation Mono"/>
              </a:rPr>
              <a:t>cte</a:t>
            </a:r>
            <a:r>
              <a:rPr lang="en-IN" dirty="0">
                <a:latin typeface="Liberation Mono"/>
              </a:rPr>
              <a:t>.</a:t>
            </a:r>
            <a:r>
              <a:rPr lang="en-IN" dirty="0">
                <a:solidFill>
                  <a:srgbClr val="A67F59"/>
                </a:solidFill>
                <a:latin typeface="Liberation Mono"/>
              </a:rPr>
              <a:t>*</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firstName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 </a:t>
            </a:r>
            <a:r>
              <a:rPr lang="en-IN" dirty="0">
                <a:solidFill>
                  <a:srgbClr val="990055"/>
                </a:solidFill>
                <a:latin typeface="Liberation Mono"/>
              </a:rPr>
              <a:t>1</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secondSpace</a:t>
            </a:r>
            <a:r>
              <a:rPr lang="en-IN" dirty="0">
                <a:latin typeface="Liberation Mono"/>
              </a:rPr>
              <a:t> -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middleName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2</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secondSpace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lastName</a:t>
            </a:r>
            <a:r>
              <a:rPr lang="en-IN" dirty="0">
                <a:latin typeface="Liberation Mono"/>
              </a:rPr>
              <a:t> </a:t>
            </a:r>
            <a:r>
              <a:rPr lang="en-IN" dirty="0">
                <a:solidFill>
                  <a:srgbClr val="0077AA"/>
                </a:solidFill>
                <a:latin typeface="Liberation Mono"/>
              </a:rPr>
              <a:t>FROM</a:t>
            </a:r>
            <a:r>
              <a:rPr lang="en-IN" dirty="0">
                <a:latin typeface="Liberation Mono"/>
              </a:rPr>
              <a:t> </a:t>
            </a:r>
          </a:p>
          <a:p>
            <a:r>
              <a:rPr lang="en-IN" b="1" dirty="0">
                <a:latin typeface="Liberation Mono"/>
              </a:rPr>
              <a:t>                 cte</a:t>
            </a:r>
            <a:r>
              <a:rPr lang="en-IN" dirty="0">
                <a:latin typeface="Liberation Mono"/>
              </a:rPr>
              <a:t>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6" name="TextBox 5">
            <a:extLst>
              <a:ext uri="{FF2B5EF4-FFF2-40B4-BE49-F238E27FC236}">
                <a16:creationId xmlns:a16="http://schemas.microsoft.com/office/drawing/2014/main" id="{F0FBD70B-85ED-26E0-E045-4CB533835542}"/>
              </a:ext>
            </a:extLst>
          </p:cNvPr>
          <p:cNvSpPr txBox="1"/>
          <p:nvPr/>
        </p:nvSpPr>
        <p:spPr>
          <a:xfrm>
            <a:off x="257628" y="3895888"/>
            <a:ext cx="115932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LEFT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p>
          <a:p>
            <a:r>
              <a:rPr lang="en-IN" dirty="0">
                <a:latin typeface="Liberation Mono"/>
              </a:rPr>
              <a:t>                 targetNames tn </a:t>
            </a:r>
            <a:r>
              <a:rPr lang="en-IN" dirty="0">
                <a:solidFill>
                  <a:srgbClr val="0077AA"/>
                </a:solidFill>
                <a:latin typeface="Liberation Mono"/>
              </a:rPr>
              <a:t>ON</a:t>
            </a:r>
            <a:r>
              <a:rPr lang="en-IN" dirty="0">
                <a:latin typeface="Liberation Mono"/>
              </a:rPr>
              <a:t> sn.id </a:t>
            </a:r>
            <a:r>
              <a:rPr lang="en-IN" dirty="0">
                <a:solidFill>
                  <a:schemeClr val="accent5">
                    <a:lumMod val="75000"/>
                  </a:schemeClr>
                </a:solidFill>
                <a:latin typeface="Liberation Mono"/>
              </a:rPr>
              <a:t>= </a:t>
            </a:r>
            <a:r>
              <a:rPr lang="en-IN" dirty="0">
                <a:latin typeface="Liberation Mono"/>
              </a:rPr>
              <a:t>tn.id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a:t>
            </a:r>
          </a:p>
          <a:p>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RIGHT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targetNames tn </a:t>
            </a:r>
            <a:r>
              <a:rPr lang="en-IN" dirty="0">
                <a:solidFill>
                  <a:srgbClr val="0077AA"/>
                </a:solidFill>
                <a:latin typeface="Liberation Mono"/>
              </a:rPr>
              <a:t>ON</a:t>
            </a:r>
            <a:r>
              <a:rPr lang="en-IN" dirty="0">
                <a:latin typeface="Liberation Mono"/>
              </a:rPr>
              <a:t> sn.id</a:t>
            </a:r>
            <a:r>
              <a:rPr lang="en-IN" dirty="0">
                <a:solidFill>
                  <a:schemeClr val="accent5">
                    <a:lumMod val="75000"/>
                  </a:schemeClr>
                </a:solidFill>
                <a:latin typeface="Liberation Mono"/>
              </a:rPr>
              <a:t>=</a:t>
            </a:r>
            <a:r>
              <a:rPr lang="en-IN" dirty="0">
                <a:latin typeface="Liberation Mono"/>
              </a:rPr>
              <a:t>tn.id), </a:t>
            </a:r>
            <a:r>
              <a:rPr lang="en-IN" b="1" dirty="0">
                <a:latin typeface="Liberation Mono"/>
              </a:rPr>
              <a:t>cet2</a:t>
            </a:r>
            <a:r>
              <a:rPr lang="en-IN" dirty="0">
                <a:latin typeface="Liberation Mono"/>
              </a:rPr>
              <a:t> AS ( </a:t>
            </a:r>
            <a:r>
              <a:rPr lang="en-IN" dirty="0">
                <a:solidFill>
                  <a:srgbClr val="0077AA"/>
                </a:solidFill>
                <a:latin typeface="Liberation Mono"/>
              </a:rPr>
              <a:t>SELECT</a:t>
            </a:r>
            <a:r>
              <a:rPr lang="en-IN" dirty="0">
                <a:latin typeface="Liberation Mono"/>
              </a:rPr>
              <a:t> cte.</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p>
          <a:p>
            <a:r>
              <a:rPr lang="en-IN" dirty="0">
                <a:latin typeface="Liberation Mono"/>
              </a:rPr>
              <a:t>                 (sid,sname)</a:t>
            </a:r>
            <a:r>
              <a:rPr lang="en-IN" dirty="0">
                <a:solidFill>
                  <a:schemeClr val="accent5">
                    <a:lumMod val="75000"/>
                  </a:schemeClr>
                </a:solidFill>
                <a:latin typeface="Liberation Mono"/>
              </a:rPr>
              <a:t>=</a:t>
            </a:r>
            <a:r>
              <a:rPr lang="en-IN" dirty="0">
                <a:latin typeface="Liberation Mono"/>
              </a:rPr>
              <a:t>(tid, tname)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"Common"</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"New in targer" </a:t>
            </a:r>
            <a:r>
              <a:rPr lang="en-IN" dirty="0">
                <a:solidFill>
                  <a:srgbClr val="DB7BC9"/>
                </a:solidFill>
                <a:latin typeface="Liberation Mono"/>
              </a:rPr>
              <a:t>WHEN</a:t>
            </a:r>
            <a:r>
              <a:rPr lang="en-IN" dirty="0">
                <a:latin typeface="Liberation Mono"/>
              </a:rPr>
              <a:t> tid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p>
          <a:p>
            <a:r>
              <a:rPr lang="en-IN" dirty="0">
                <a:solidFill>
                  <a:srgbClr val="41C60C"/>
                </a:solidFill>
                <a:latin typeface="Liberation Mono"/>
              </a:rPr>
              <a:t>                 "New is source" </a:t>
            </a:r>
            <a:r>
              <a:rPr lang="en-IN" dirty="0">
                <a:solidFill>
                  <a:srgbClr val="DB7BC9"/>
                </a:solidFill>
                <a:latin typeface="Liberation Mono"/>
              </a:rPr>
              <a:t>ELSE</a:t>
            </a:r>
            <a:r>
              <a:rPr lang="en-IN" dirty="0">
                <a:latin typeface="Liberation Mono"/>
              </a:rPr>
              <a:t> "</a:t>
            </a:r>
            <a:r>
              <a:rPr lang="en-IN" dirty="0">
                <a:solidFill>
                  <a:srgbClr val="41C60C"/>
                </a:solidFill>
                <a:latin typeface="Liberation Mono"/>
              </a:rPr>
              <a:t>Mismatch"</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cet2</a:t>
            </a:r>
            <a:r>
              <a:rPr lang="en-IN" dirty="0">
                <a:latin typeface="Liberation Mono"/>
              </a:rPr>
              <a:t> </a:t>
            </a:r>
            <a:r>
              <a:rPr lang="en-IN" dirty="0">
                <a:solidFill>
                  <a:srgbClr val="DB7BC9"/>
                </a:solidFill>
                <a:latin typeface="Liberation Mono"/>
              </a:rPr>
              <a:t>WHERE</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&lt;&gt; </a:t>
            </a:r>
            <a:r>
              <a:rPr lang="en-IN" dirty="0">
                <a:solidFill>
                  <a:srgbClr val="41C60C"/>
                </a:solidFill>
                <a:latin typeface="Liberation Mono"/>
              </a:rPr>
              <a:t>'common'</a:t>
            </a:r>
            <a:r>
              <a:rPr lang="en-IN" dirty="0">
                <a:latin typeface="Liberation Mono"/>
              </a:rPr>
              <a:t>;</a:t>
            </a:r>
          </a:p>
        </p:txBody>
      </p:sp>
    </p:spTree>
    <p:extLst>
      <p:ext uri="{BB962C8B-B14F-4D97-AF65-F5344CB8AC3E}">
        <p14:creationId xmlns:p14="http://schemas.microsoft.com/office/powerpoint/2010/main" val="1575772413"/>
      </p:ext>
    </p:extLst>
  </p:cSld>
  <p:clrMapOvr>
    <a:masterClrMapping/>
  </p:clrMapOvr>
</p:sld>
</file>

<file path=ppt/slides/slide6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250F5-43FD-BAC4-D575-3FF64AB2FC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DE935E-2184-6FD0-B935-18E1EA2A3AF6}"/>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Hierarchical Query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EC3D7F09-6BD5-92F6-20B0-CB003E5D2D12}"/>
              </a:ext>
            </a:extLst>
          </p:cNvPr>
          <p:cNvSpPr/>
          <p:nvPr/>
        </p:nvSpPr>
        <p:spPr>
          <a:xfrm>
            <a:off x="257696" y="3212976"/>
            <a:ext cx="11598943" cy="2031325"/>
          </a:xfrm>
          <a:prstGeom prst="rect">
            <a:avLst/>
          </a:prstGeom>
        </p:spPr>
        <p:txBody>
          <a:bodyPr wrap="square">
            <a:spAutoFit/>
          </a:bodyPr>
          <a:lstStyle/>
          <a:p>
            <a:r>
              <a:rPr lang="en-US" sz="2000" dirty="0"/>
              <a:t>A </a:t>
            </a:r>
            <a:r>
              <a:rPr lang="en-US" sz="2000" b="1" dirty="0"/>
              <a:t>Hierarchical Query</a:t>
            </a:r>
            <a:r>
              <a:rPr lang="en-US" sz="2000" dirty="0"/>
              <a:t> is a type of SQL query used to retrieve data that has a </a:t>
            </a:r>
            <a:r>
              <a:rPr lang="en-US" sz="2000" b="1" dirty="0"/>
              <a:t>parent–child relationship</a:t>
            </a:r>
            <a:r>
              <a:rPr lang="en-US" sz="2000" dirty="0"/>
              <a:t>, such as:</a:t>
            </a:r>
          </a:p>
          <a:p>
            <a:endParaRPr lang="en-US" sz="2000" dirty="0"/>
          </a:p>
          <a:p>
            <a:pPr marL="342900" indent="-342900">
              <a:buFont typeface="Arial" panose="020B0604020202020204" pitchFamily="34" charset="0"/>
              <a:buChar char="•"/>
            </a:pPr>
            <a:r>
              <a:rPr lang="en-US" sz="2000" b="1" i="1" dirty="0"/>
              <a:t>Employee → Manager</a:t>
            </a:r>
          </a:p>
          <a:p>
            <a:pPr marL="342900" indent="-342900">
              <a:buFont typeface="Arial" panose="020B0604020202020204" pitchFamily="34" charset="0"/>
              <a:buChar char="•"/>
            </a:pPr>
            <a:endParaRPr lang="en-US" sz="600" b="1" i="1" dirty="0"/>
          </a:p>
          <a:p>
            <a:pPr marL="342900" indent="-342900">
              <a:buFont typeface="Arial" panose="020B0604020202020204" pitchFamily="34" charset="0"/>
              <a:buChar char="•"/>
            </a:pPr>
            <a:r>
              <a:rPr lang="en-US" sz="2000" b="1" i="1" dirty="0"/>
              <a:t>Category → Subcategory</a:t>
            </a:r>
          </a:p>
          <a:p>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584926594"/>
      </p:ext>
    </p:extLst>
  </p:cSld>
  <p:clrMapOvr>
    <a:masterClrMapping/>
  </p:clrMapOvr>
</p:sld>
</file>

<file path=ppt/slides/slide6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set operation in sql</a:t>
            </a:r>
          </a:p>
        </p:txBody>
      </p:sp>
      <p:pic>
        <p:nvPicPr>
          <p:cNvPr id="8" name="Picture 7"/>
          <p:cNvPicPr>
            <a:picLocks noChangeAspect="1"/>
          </p:cNvPicPr>
          <p:nvPr/>
        </p:nvPicPr>
        <p:blipFill>
          <a:blip r:embed="rId2" cstate="print"/>
          <a:stretch>
            <a:fillRect/>
          </a:stretch>
        </p:blipFill>
        <p:spPr>
          <a:xfrm>
            <a:off x="257697" y="242485"/>
            <a:ext cx="5726081" cy="412712"/>
          </a:xfrm>
          <a:prstGeom prst="rect">
            <a:avLst/>
          </a:prstGeom>
        </p:spPr>
      </p:pic>
      <p:pic>
        <p:nvPicPr>
          <p:cNvPr id="10" name="Picture 9"/>
          <p:cNvPicPr>
            <a:picLocks noChangeAspect="1"/>
          </p:cNvPicPr>
          <p:nvPr/>
        </p:nvPicPr>
        <p:blipFill>
          <a:blip r:embed="rId3" cstate="print"/>
          <a:stretch>
            <a:fillRect/>
          </a:stretch>
        </p:blipFill>
        <p:spPr>
          <a:xfrm>
            <a:off x="243539" y="842643"/>
            <a:ext cx="5636437" cy="413796"/>
          </a:xfrm>
          <a:prstGeom prst="rect">
            <a:avLst/>
          </a:prstGeom>
        </p:spPr>
      </p:pic>
      <p:pic>
        <p:nvPicPr>
          <p:cNvPr id="11" name="Picture 10"/>
          <p:cNvPicPr>
            <a:picLocks noChangeAspect="1"/>
          </p:cNvPicPr>
          <p:nvPr/>
        </p:nvPicPr>
        <p:blipFill>
          <a:blip r:embed="rId4" cstate="print"/>
          <a:stretch>
            <a:fillRect/>
          </a:stretch>
        </p:blipFill>
        <p:spPr>
          <a:xfrm>
            <a:off x="257698" y="1474699"/>
            <a:ext cx="5636437" cy="413796"/>
          </a:xfrm>
          <a:prstGeom prst="rect">
            <a:avLst/>
          </a:prstGeom>
        </p:spPr>
      </p:pic>
      <p:sp>
        <p:nvSpPr>
          <p:cNvPr id="7" name="Rectangle 6">
            <a:extLst>
              <a:ext uri="{FF2B5EF4-FFF2-40B4-BE49-F238E27FC236}">
                <a16:creationId xmlns:a16="http://schemas.microsoft.com/office/drawing/2014/main" id="{481AAC23-AB87-434A-A6EE-BFAD013A8792}"/>
              </a:ext>
            </a:extLst>
          </p:cNvPr>
          <p:cNvSpPr/>
          <p:nvPr/>
        </p:nvSpPr>
        <p:spPr>
          <a:xfrm>
            <a:off x="257696" y="3212976"/>
            <a:ext cx="11598943" cy="1569660"/>
          </a:xfrm>
          <a:prstGeom prst="rect">
            <a:avLst/>
          </a:prstGeom>
        </p:spPr>
        <p:txBody>
          <a:bodyPr wrap="square">
            <a:spAutoFit/>
          </a:bodyPr>
          <a:lstStyle/>
          <a:p>
            <a:r>
              <a:rPr lang="en-US" sz="2000" b="1" dirty="0">
                <a:solidFill>
                  <a:srgbClr val="222222"/>
                </a:solidFill>
                <a:latin typeface="Palatino Linotype" panose="02040502050505030304" pitchFamily="18" charset="0"/>
                <a:cs typeface="Segoe UI Light" panose="020B0502040204020203" pitchFamily="34" charset="0"/>
              </a:rPr>
              <a:t>Set operators</a:t>
            </a:r>
            <a:r>
              <a:rPr lang="en-US" sz="2000" dirty="0">
                <a:solidFill>
                  <a:srgbClr val="222222"/>
                </a:solidFill>
                <a:latin typeface="Palatino Linotype" panose="02040502050505030304" pitchFamily="18" charset="0"/>
                <a:cs typeface="Segoe UI Light" panose="020B0502040204020203" pitchFamily="34" charset="0"/>
              </a:rPr>
              <a:t> are used to join the results of two (or more) SELECT statements. </a:t>
            </a:r>
          </a:p>
          <a:p>
            <a:endParaRPr lang="en-US" sz="800" dirty="0">
              <a:latin typeface="Palatino Linotype" panose="02040502050505030304" pitchFamily="18" charset="0"/>
              <a:cs typeface="Segoe UI Light" panose="020B0502040204020203" pitchFamily="34" charset="0"/>
            </a:endParaRPr>
          </a:p>
          <a:p>
            <a:r>
              <a:rPr lang="en-US" sz="2000" dirty="0">
                <a:latin typeface="Palatino Linotype" panose="02040502050505030304" pitchFamily="18" charset="0"/>
                <a:cs typeface="Segoe UI Light" panose="020B0502040204020203" pitchFamily="34" charset="0"/>
              </a:rPr>
              <a:t>There are set union (</a:t>
            </a:r>
            <a:r>
              <a:rPr lang="en-US" sz="2000" b="1" dirty="0">
                <a:latin typeface="Palatino Linotype" panose="02040502050505030304" pitchFamily="18" charset="0"/>
                <a:cs typeface="Segoe UI Light" panose="020B0502040204020203" pitchFamily="34" charset="0"/>
              </a:rPr>
              <a:t>UNION -&gt; </a:t>
            </a:r>
            <a:r>
              <a:rPr lang="en-IN" sz="2400" b="0" i="0" dirty="0">
                <a:solidFill>
                  <a:srgbClr val="FF0000"/>
                </a:solidFill>
                <a:effectLst/>
                <a:latin typeface="Nunito" pitchFamily="2" charset="0"/>
              </a:rPr>
              <a:t>U</a:t>
            </a:r>
            <a:r>
              <a:rPr lang="en-US" sz="2000" dirty="0">
                <a:latin typeface="Palatino Linotype" panose="02040502050505030304" pitchFamily="18" charset="0"/>
                <a:cs typeface="Segoe UI Light" panose="020B0502040204020203" pitchFamily="34" charset="0"/>
              </a:rPr>
              <a:t>), set difference (</a:t>
            </a:r>
            <a:r>
              <a:rPr lang="en-US" sz="2000" b="1" dirty="0">
                <a:latin typeface="Palatino Linotype" panose="02040502050505030304" pitchFamily="18" charset="0"/>
                <a:cs typeface="Segoe UI Light" panose="020B0502040204020203" pitchFamily="34" charset="0"/>
              </a:rPr>
              <a:t>EXCEPT -&gt; </a:t>
            </a:r>
            <a:r>
              <a:rPr lang="en-US"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and set intersection (</a:t>
            </a:r>
            <a:r>
              <a:rPr lang="en-US" sz="2000" b="1" dirty="0">
                <a:latin typeface="Palatino Linotype" panose="02040502050505030304" pitchFamily="18" charset="0"/>
                <a:cs typeface="Segoe UI Light" panose="020B0502040204020203" pitchFamily="34" charset="0"/>
              </a:rPr>
              <a:t>INTERSECT -&gt; </a:t>
            </a:r>
            <a:r>
              <a:rPr lang="en-IN"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operations. The relations resulting from these set operations are sets of tuples; that is, duplicate tuples are eliminated from the result.</a:t>
            </a:r>
            <a:endParaRPr lang="en-IN" sz="2000" dirty="0">
              <a:latin typeface="Palatino Linotype" panose="02040502050505030304" pitchFamily="18" charset="0"/>
              <a:cs typeface="Segoe UI Light" panose="020B0502040204020203" pitchFamily="34" charset="0"/>
            </a:endParaRPr>
          </a:p>
        </p:txBody>
      </p:sp>
      <p:sp>
        <p:nvSpPr>
          <p:cNvPr id="9" name="Rectangle 8">
            <a:extLst>
              <a:ext uri="{FF2B5EF4-FFF2-40B4-BE49-F238E27FC236}">
                <a16:creationId xmlns:a16="http://schemas.microsoft.com/office/drawing/2014/main" id="{B8B8EFA4-FD7A-4CF6-ABA8-F65B473B2E7B}"/>
              </a:ext>
            </a:extLst>
          </p:cNvPr>
          <p:cNvSpPr/>
          <p:nvPr/>
        </p:nvSpPr>
        <p:spPr>
          <a:xfrm>
            <a:off x="262558" y="4782051"/>
            <a:ext cx="11305256"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The result set column names are taken from the column names of the first SELECT statement.</a:t>
            </a: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SELECT statement should have the same data type. (Not in MySQL)</a:t>
            </a:r>
            <a:endParaRPr lang="en-IN"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Arial" panose="020B0604020202020204" pitchFamily="34" charset="0"/>
              </a:rPr>
              <a:t>UNION: To apply ORDER BY or LIMIT to an individual SELECT, place the clause inside the parentheses that enclose the SELECT.</a:t>
            </a:r>
          </a:p>
          <a:p>
            <a:endParaRPr lang="en-IN" sz="400" b="1" dirty="0">
              <a:solidFill>
                <a:schemeClr val="tx1">
                  <a:lumMod val="95000"/>
                  <a:lumOff val="5000"/>
                </a:schemeClr>
              </a:solidFill>
              <a:latin typeface="Palatino Linotype" panose="02040502050505030304" pitchFamily="18" charset="0"/>
              <a:cs typeface="Arial" panose="020B0604020202020204" pitchFamily="34" charset="0"/>
            </a:endParaRPr>
          </a:p>
          <a:p>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sz="2000" dirty="0">
                <a:solidFill>
                  <a:srgbClr val="FF0000"/>
                </a:solidFill>
                <a:latin typeface="Palatino Linotype" panose="02040502050505030304" pitchFamily="18" charset="0"/>
                <a:cs typeface="Arial" panose="020B0604020202020204" pitchFamily="34" charset="0"/>
              </a:rPr>
              <a:t>e.g.</a:t>
            </a:r>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UNION</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latin typeface="Liberation Mono"/>
                <a:cs typeface="Arial" panose="020B0604020202020204" pitchFamily="34" charset="0"/>
              </a:rPr>
              <a:t>)</a:t>
            </a:r>
          </a:p>
        </p:txBody>
      </p:sp>
      <p:sp>
        <p:nvSpPr>
          <p:cNvPr id="4" name="TextBox 3">
            <a:extLst>
              <a:ext uri="{FF2B5EF4-FFF2-40B4-BE49-F238E27FC236}">
                <a16:creationId xmlns:a16="http://schemas.microsoft.com/office/drawing/2014/main" id="{DC1BE5F0-333E-18A5-6470-0A7842CFA7B5}"/>
              </a:ext>
            </a:extLst>
          </p:cNvPr>
          <p:cNvSpPr txBox="1"/>
          <p:nvPr/>
        </p:nvSpPr>
        <p:spPr>
          <a:xfrm>
            <a:off x="7032104" y="255087"/>
            <a:ext cx="5015879" cy="400110"/>
          </a:xfrm>
          <a:prstGeom prst="rect">
            <a:avLst/>
          </a:prstGeom>
          <a:solidFill>
            <a:schemeClr val="accent5">
              <a:lumMod val="20000"/>
              <a:lumOff val="80000"/>
            </a:schemeClr>
          </a:solidFill>
        </p:spPr>
        <p:txBody>
          <a:bodyPr wrap="square">
            <a:spAutoFit/>
          </a:bodyPr>
          <a:lstStyle/>
          <a:p>
            <a:r>
              <a:rPr lang="en-IN" sz="2000" dirty="0"/>
              <a:t>(UNION ALL, EXCEPT ALL, INTERSECT ALL)</a:t>
            </a:r>
          </a:p>
        </p:txBody>
      </p:sp>
    </p:spTree>
  </p:cSld>
  <p:clrMapOvr>
    <a:masterClrMapping/>
  </p:clrMapOvr>
</p:sld>
</file>

<file path=ppt/slides/slide6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19715690-C838-40FB-9DB7-5A8D56AB9BA3}"/>
              </a:ext>
            </a:extLst>
          </p:cNvPr>
          <p:cNvSpPr txBox="1"/>
          <p:nvPr/>
        </p:nvSpPr>
        <p:spPr>
          <a:xfrm>
            <a:off x="551384" y="908720"/>
            <a:ext cx="11103096" cy="4478149"/>
          </a:xfrm>
          <a:prstGeom prst="rect">
            <a:avLst/>
          </a:prstGeom>
          <a:noFill/>
        </p:spPr>
        <p:txBody>
          <a:bodyPr wrap="square">
            <a:spAutoFit/>
          </a:bodyPr>
          <a:lstStyle/>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the union of queries */</a:t>
            </a:r>
          </a:p>
          <a:p>
            <a:r>
              <a:rPr lang="en-IN" sz="1900" dirty="0">
                <a:solidFill>
                  <a:schemeClr val="accent4">
                    <a:lumMod val="50000"/>
                  </a:schemeClr>
                </a:solidFill>
                <a:latin typeface="Liberation Mono"/>
              </a:rPr>
              <a:t>UNION</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 Fetch the union of queries with duplicates*/</a:t>
            </a:r>
          </a:p>
          <a:p>
            <a:r>
              <a:rPr lang="en-IN" sz="1900" dirty="0">
                <a:solidFill>
                  <a:schemeClr val="accent4">
                    <a:lumMod val="50000"/>
                  </a:schemeClr>
                </a:solidFill>
                <a:latin typeface="Liberation Mono"/>
              </a:rPr>
              <a:t>UNION</a:t>
            </a:r>
            <a:r>
              <a:rPr lang="en-IN" sz="1900" dirty="0">
                <a:latin typeface="Liberation Mono"/>
              </a:rPr>
              <a:t> </a:t>
            </a:r>
            <a:r>
              <a:rPr lang="en-IN" sz="1900" dirty="0">
                <a:solidFill>
                  <a:schemeClr val="accent4">
                    <a:lumMod val="50000"/>
                  </a:schemeClr>
                </a:solidFill>
                <a:latin typeface="Liberation Mono"/>
              </a:rPr>
              <a:t>ALL</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dirty="0">
                <a:solidFill>
                  <a:srgbClr val="00B050"/>
                </a:solidFill>
                <a:latin typeface="Liberation Mono"/>
              </a:rPr>
              <a:t>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EXCEPT</a:t>
            </a:r>
            <a:r>
              <a:rPr lang="en-IN" sz="1900" dirty="0">
                <a:latin typeface="Liberation Mono"/>
              </a:rPr>
              <a:t> 				</a:t>
            </a:r>
            <a:r>
              <a:rPr lang="en-IN" sz="1900" i="1" dirty="0">
                <a:solidFill>
                  <a:srgbClr val="00B050"/>
                </a:solidFill>
                <a:latin typeface="Liberation Mono"/>
              </a:rPr>
              <a:t>/* that aren't present in contacts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INTERSECT</a:t>
            </a:r>
            <a:r>
              <a:rPr lang="en-IN" sz="1900" dirty="0">
                <a:latin typeface="Liberation Mono"/>
              </a:rPr>
              <a:t> 			</a:t>
            </a:r>
            <a:r>
              <a:rPr lang="en-IN" sz="1900" i="1" dirty="0">
                <a:solidFill>
                  <a:srgbClr val="00B050"/>
                </a:solidFill>
                <a:latin typeface="Liberation Mono"/>
              </a:rPr>
              <a:t>/* that are present in contacts as well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p:txBody>
      </p:sp>
      <p:sp>
        <p:nvSpPr>
          <p:cNvPr id="3" name="Rectangle 2">
            <a:extLst>
              <a:ext uri="{FF2B5EF4-FFF2-40B4-BE49-F238E27FC236}">
                <a16:creationId xmlns:a16="http://schemas.microsoft.com/office/drawing/2014/main" id="{AE1B5F26-E87C-6831-A045-F53F17ADC8F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 intersect / 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6576882"/>
      </p:ext>
    </p:extLst>
  </p:cSld>
  <p:clrMapOvr>
    <a:masterClrMapping/>
  </p:clrMapOvr>
</p:sld>
</file>

<file path=ppt/slides/slide6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0528A-BDCB-2525-98C0-93E9149B546C}"/>
            </a:ext>
          </a:extLst>
        </p:cNvPr>
        <p:cNvGrpSpPr/>
        <p:nvPr/>
      </p:nvGrpSpPr>
      <p:grpSpPr>
        <a:xfrm>
          <a:off x="0" y="0"/>
          <a:ext cx="0" cy="0"/>
          <a:chOff x="0" y="0"/>
          <a:chExt cx="0" cy="0"/>
        </a:xfrm>
      </p:grpSpPr>
      <p:grpSp>
        <p:nvGrpSpPr>
          <p:cNvPr id="14" name="Group 13">
            <a:extLst>
              <a:ext uri="{FF2B5EF4-FFF2-40B4-BE49-F238E27FC236}">
                <a16:creationId xmlns:a16="http://schemas.microsoft.com/office/drawing/2014/main" id="{A3E54A33-24AA-3F83-8FA3-8A7E247368AA}"/>
              </a:ext>
            </a:extLst>
          </p:cNvPr>
          <p:cNvGrpSpPr/>
          <p:nvPr/>
        </p:nvGrpSpPr>
        <p:grpSpPr>
          <a:xfrm>
            <a:off x="479376" y="188640"/>
            <a:ext cx="10873208" cy="1754326"/>
            <a:chOff x="191344" y="250773"/>
            <a:chExt cx="10873208" cy="1754326"/>
          </a:xfrm>
        </p:grpSpPr>
        <p:sp>
          <p:nvSpPr>
            <p:cNvPr id="4" name="TextBox 3">
              <a:extLst>
                <a:ext uri="{FF2B5EF4-FFF2-40B4-BE49-F238E27FC236}">
                  <a16:creationId xmlns:a16="http://schemas.microsoft.com/office/drawing/2014/main" id="{BA860A26-2B5F-F6BC-6754-5FE5BA6F62CF}"/>
                </a:ext>
              </a:extLst>
            </p:cNvPr>
            <p:cNvSpPr txBox="1"/>
            <p:nvPr/>
          </p:nvSpPr>
          <p:spPr>
            <a:xfrm>
              <a:off x="3898529"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Facebook (</a:t>
              </a:r>
            </a:p>
            <a:p>
              <a:pPr marL="273050"/>
              <a:r>
                <a:rPr lang="en-IN" dirty="0">
                  <a:latin typeface="Liberation Mono"/>
                </a:rPr>
                <a:t>   facebookID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5" name="TextBox 4">
              <a:extLst>
                <a:ext uri="{FF2B5EF4-FFF2-40B4-BE49-F238E27FC236}">
                  <a16:creationId xmlns:a16="http://schemas.microsoft.com/office/drawing/2014/main" id="{2CB2D87F-DF2A-36EB-742D-82BE36AC6BBF}"/>
                </a:ext>
              </a:extLst>
            </p:cNvPr>
            <p:cNvSpPr txBox="1"/>
            <p:nvPr/>
          </p:nvSpPr>
          <p:spPr>
            <a:xfrm>
              <a:off x="7608168"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LinkedIn (</a:t>
              </a:r>
            </a:p>
            <a:p>
              <a:pPr marL="273050"/>
              <a:r>
                <a:rPr lang="en-IN" dirty="0">
                  <a:latin typeface="Liberation Mono"/>
                </a:rPr>
                <a:t>   linkedInID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2" name="TextBox 1">
              <a:extLst>
                <a:ext uri="{FF2B5EF4-FFF2-40B4-BE49-F238E27FC236}">
                  <a16:creationId xmlns:a16="http://schemas.microsoft.com/office/drawing/2014/main" id="{40F932D5-B0E5-8961-ED6D-674420DBAAD3}"/>
                </a:ext>
              </a:extLst>
            </p:cNvPr>
            <p:cNvSpPr txBox="1"/>
            <p:nvPr/>
          </p:nvSpPr>
          <p:spPr>
            <a:xfrm>
              <a:off x="191344" y="250773"/>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student (</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a:t>
              </a:r>
            </a:p>
          </p:txBody>
        </p:sp>
      </p:grpSp>
      <p:grpSp>
        <p:nvGrpSpPr>
          <p:cNvPr id="13" name="Group 12">
            <a:extLst>
              <a:ext uri="{FF2B5EF4-FFF2-40B4-BE49-F238E27FC236}">
                <a16:creationId xmlns:a16="http://schemas.microsoft.com/office/drawing/2014/main" id="{C797CBDA-9C54-DECE-E922-F00B8254BF35}"/>
              </a:ext>
            </a:extLst>
          </p:cNvPr>
          <p:cNvGrpSpPr/>
          <p:nvPr/>
        </p:nvGrpSpPr>
        <p:grpSpPr>
          <a:xfrm>
            <a:off x="191344" y="2140982"/>
            <a:ext cx="11561767" cy="1318796"/>
            <a:chOff x="191344" y="2492896"/>
            <a:chExt cx="11561767" cy="1318796"/>
          </a:xfrm>
        </p:grpSpPr>
        <p:grpSp>
          <p:nvGrpSpPr>
            <p:cNvPr id="10" name="Group 9">
              <a:extLst>
                <a:ext uri="{FF2B5EF4-FFF2-40B4-BE49-F238E27FC236}">
                  <a16:creationId xmlns:a16="http://schemas.microsoft.com/office/drawing/2014/main" id="{B501E347-4E93-3E95-C8CE-7724EDD3DEED}"/>
                </a:ext>
              </a:extLst>
            </p:cNvPr>
            <p:cNvGrpSpPr/>
            <p:nvPr/>
          </p:nvGrpSpPr>
          <p:grpSpPr>
            <a:xfrm>
              <a:off x="191344" y="2492896"/>
              <a:ext cx="11561767" cy="801380"/>
              <a:chOff x="191344" y="2492896"/>
              <a:chExt cx="11561767" cy="801380"/>
            </a:xfrm>
          </p:grpSpPr>
          <p:sp>
            <p:nvSpPr>
              <p:cNvPr id="7" name="TextBox 6">
                <a:extLst>
                  <a:ext uri="{FF2B5EF4-FFF2-40B4-BE49-F238E27FC236}">
                    <a16:creationId xmlns:a16="http://schemas.microsoft.com/office/drawing/2014/main" id="{D21FCBFC-5837-799A-7E47-78FF482410E1}"/>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a:pPr>
                <a:r>
                  <a:rPr lang="en-IN" b="1" dirty="0">
                    <a:latin typeface="Arial" panose="020B0604020202020204" pitchFamily="34" charset="0"/>
                    <a:cs typeface="Arial" panose="020B0604020202020204" pitchFamily="34" charset="0"/>
                  </a:rPr>
                  <a:t>All students who are either having </a:t>
                </a:r>
                <a:r>
                  <a:rPr lang="en-IN" b="1" dirty="0">
                    <a:latin typeface="Liberation Mono"/>
                  </a:rPr>
                  <a:t>Facebook or LinkedIn</a:t>
                </a:r>
                <a:r>
                  <a:rPr lang="en-IN" dirty="0">
                    <a:latin typeface="Arial" panose="020B0604020202020204" pitchFamily="34" charset="0"/>
                    <a:cs typeface="Arial" panose="020B0604020202020204" pitchFamily="34" charset="0"/>
                  </a:rPr>
                  <a:t>.</a:t>
                </a:r>
              </a:p>
            </p:txBody>
          </p:sp>
          <p:sp>
            <p:nvSpPr>
              <p:cNvPr id="9" name="TextBox 8">
                <a:extLst>
                  <a:ext uri="{FF2B5EF4-FFF2-40B4-BE49-F238E27FC236}">
                    <a16:creationId xmlns:a16="http://schemas.microsoft.com/office/drawing/2014/main" id="{700027CD-EFEC-AACA-2C87-C98483A500A0}"/>
                  </a:ext>
                </a:extLst>
              </p:cNvPr>
              <p:cNvSpPr txBox="1"/>
              <p:nvPr/>
            </p:nvSpPr>
            <p:spPr>
              <a:xfrm>
                <a:off x="528530" y="2924944"/>
                <a:ext cx="109680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UNION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2" name="TextBox 11">
              <a:extLst>
                <a:ext uri="{FF2B5EF4-FFF2-40B4-BE49-F238E27FC236}">
                  <a16:creationId xmlns:a16="http://schemas.microsoft.com/office/drawing/2014/main" id="{21EB298C-FE5A-015D-3C2E-18B8594EFDD2}"/>
                </a:ext>
              </a:extLst>
            </p:cNvPr>
            <p:cNvSpPr txBox="1"/>
            <p:nvPr/>
          </p:nvSpPr>
          <p:spPr>
            <a:xfrm>
              <a:off x="528531" y="3411582"/>
              <a:ext cx="6094378" cy="400110"/>
            </a:xfrm>
            <a:prstGeom prst="rect">
              <a:avLst/>
            </a:prstGeom>
            <a:noFill/>
          </p:spPr>
          <p:txBody>
            <a:bodyPr wrap="square">
              <a:spAutoFit/>
            </a:bodyPr>
            <a:lstStyle/>
            <a:p>
              <a:r>
                <a:rPr lang="en-US" dirty="0">
                  <a:highlight>
                    <a:srgbClr val="FFFF00"/>
                  </a:highlight>
                  <a:latin typeface="Gill Sans MT (Body)"/>
                </a:rPr>
                <a:t>Returns unique student IDs in </a:t>
              </a:r>
              <a:r>
                <a:rPr lang="en-US" sz="2000" b="1" i="1" dirty="0">
                  <a:solidFill>
                    <a:srgbClr val="FF0000"/>
                  </a:solidFill>
                  <a:highlight>
                    <a:srgbClr val="FFFF00"/>
                  </a:highlight>
                  <a:latin typeface="Gill Sans MT (Body)"/>
                </a:rPr>
                <a:t>either</a:t>
              </a:r>
              <a:r>
                <a:rPr lang="en-US"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OR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grpSp>
        <p:nvGrpSpPr>
          <p:cNvPr id="15" name="Group 14">
            <a:extLst>
              <a:ext uri="{FF2B5EF4-FFF2-40B4-BE49-F238E27FC236}">
                <a16:creationId xmlns:a16="http://schemas.microsoft.com/office/drawing/2014/main" id="{CE910005-AFF6-25F4-5129-CC2191BBA6E9}"/>
              </a:ext>
            </a:extLst>
          </p:cNvPr>
          <p:cNvGrpSpPr/>
          <p:nvPr/>
        </p:nvGrpSpPr>
        <p:grpSpPr>
          <a:xfrm>
            <a:off x="191344" y="3717032"/>
            <a:ext cx="11561767" cy="1291501"/>
            <a:chOff x="191344" y="2492896"/>
            <a:chExt cx="11561767" cy="1291501"/>
          </a:xfrm>
        </p:grpSpPr>
        <p:grpSp>
          <p:nvGrpSpPr>
            <p:cNvPr id="16" name="Group 15">
              <a:extLst>
                <a:ext uri="{FF2B5EF4-FFF2-40B4-BE49-F238E27FC236}">
                  <a16:creationId xmlns:a16="http://schemas.microsoft.com/office/drawing/2014/main" id="{A1264C12-D166-67A8-2E33-29CEA5CAA0E9}"/>
                </a:ext>
              </a:extLst>
            </p:cNvPr>
            <p:cNvGrpSpPr/>
            <p:nvPr/>
          </p:nvGrpSpPr>
          <p:grpSpPr>
            <a:xfrm>
              <a:off x="191344" y="2492896"/>
              <a:ext cx="11561767" cy="801380"/>
              <a:chOff x="191344" y="2492896"/>
              <a:chExt cx="11561767" cy="801380"/>
            </a:xfrm>
          </p:grpSpPr>
          <p:sp>
            <p:nvSpPr>
              <p:cNvPr id="18" name="TextBox 17">
                <a:extLst>
                  <a:ext uri="{FF2B5EF4-FFF2-40B4-BE49-F238E27FC236}">
                    <a16:creationId xmlns:a16="http://schemas.microsoft.com/office/drawing/2014/main" id="{26488197-5CCE-C0E0-AF05-32455B6C56C4}"/>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2"/>
                </a:pPr>
                <a:r>
                  <a:rPr lang="en-IN" b="1" dirty="0">
                    <a:latin typeface="Liberation Mono"/>
                  </a:rPr>
                  <a:t>Students with both</a:t>
                </a:r>
                <a:r>
                  <a:rPr lang="en-IN" b="1" dirty="0">
                    <a:latin typeface="Liberation Mono"/>
                    <a:cs typeface="Arial" panose="020B0604020202020204" pitchFamily="34" charset="0"/>
                  </a:rPr>
                  <a:t> </a:t>
                </a:r>
                <a:r>
                  <a:rPr lang="en-IN" b="1" dirty="0">
                    <a:latin typeface="Liberation Mono"/>
                  </a:rPr>
                  <a:t>Facebook or LinkedIn</a:t>
                </a:r>
                <a:r>
                  <a:rPr lang="en-IN" b="1" dirty="0">
                    <a:latin typeface="Liberation Mono"/>
                    <a:cs typeface="Arial" panose="020B0604020202020204" pitchFamily="34" charset="0"/>
                  </a:rPr>
                  <a:t>.</a:t>
                </a:r>
              </a:p>
            </p:txBody>
          </p:sp>
          <p:sp>
            <p:nvSpPr>
              <p:cNvPr id="19" name="TextBox 18">
                <a:extLst>
                  <a:ext uri="{FF2B5EF4-FFF2-40B4-BE49-F238E27FC236}">
                    <a16:creationId xmlns:a16="http://schemas.microsoft.com/office/drawing/2014/main" id="{7AB63546-B456-AB91-8B0F-EC6186114EFA}"/>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sz="1800" dirty="0">
                    <a:solidFill>
                      <a:schemeClr val="accent4">
                        <a:lumMod val="50000"/>
                      </a:schemeClr>
                    </a:solidFill>
                    <a:latin typeface="Liberation Mono"/>
                  </a:rPr>
                  <a:t>INTERSECT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7" name="TextBox 16">
              <a:extLst>
                <a:ext uri="{FF2B5EF4-FFF2-40B4-BE49-F238E27FC236}">
                  <a16:creationId xmlns:a16="http://schemas.microsoft.com/office/drawing/2014/main" id="{DA8EA022-B719-EA7D-5D1B-EE95EF37DD0B}"/>
                </a:ext>
              </a:extLst>
            </p:cNvPr>
            <p:cNvSpPr txBox="1"/>
            <p:nvPr/>
          </p:nvSpPr>
          <p:spPr>
            <a:xfrm>
              <a:off x="528530" y="3384287"/>
              <a:ext cx="6359557" cy="400110"/>
            </a:xfrm>
            <a:prstGeom prst="rect">
              <a:avLst/>
            </a:prstGeom>
            <a:noFill/>
          </p:spPr>
          <p:txBody>
            <a:bodyPr wrap="square">
              <a:spAutoFit/>
            </a:bodyPr>
            <a:lstStyle/>
            <a:p>
              <a:r>
                <a:rPr lang="en-US" dirty="0">
                  <a:highlight>
                    <a:srgbClr val="FFFF00"/>
                  </a:highlight>
                  <a:latin typeface="Gill Sans MT (Body)"/>
                </a:rPr>
                <a:t>Returns student IDs in </a:t>
              </a:r>
              <a:r>
                <a:rPr lang="en-US" sz="2000" b="1" i="1" dirty="0">
                  <a:solidFill>
                    <a:srgbClr val="FF0000"/>
                  </a:solidFill>
                  <a:highlight>
                    <a:srgbClr val="FFFF00"/>
                  </a:highlight>
                  <a:latin typeface="Gill Sans MT (Body)"/>
                </a:rPr>
                <a:t>both</a:t>
              </a:r>
              <a:r>
                <a:rPr lang="en-US" dirty="0">
                  <a:highlight>
                    <a:srgbClr val="FFFF00"/>
                  </a:highlight>
                  <a:latin typeface="Gill Sans MT (Body)"/>
                </a:rPr>
                <a:t> tables[  </a:t>
              </a:r>
              <a:r>
                <a:rPr lang="en-IN" dirty="0">
                  <a:highlight>
                    <a:srgbClr val="FFFF00"/>
                  </a:highlight>
                  <a:latin typeface="Gill Sans MT (Body)"/>
                </a:rPr>
                <a:t>Facebook</a:t>
              </a:r>
              <a:r>
                <a:rPr lang="en-US" dirty="0">
                  <a:highlight>
                    <a:srgbClr val="FFFF00"/>
                  </a:highlight>
                  <a:latin typeface="Gill Sans MT (Body)"/>
                </a:rPr>
                <a:t> AND </a:t>
              </a:r>
              <a:r>
                <a:rPr lang="en-IN" dirty="0">
                  <a:highlight>
                    <a:srgbClr val="FFFF00"/>
                  </a:highlight>
                  <a:latin typeface="Gill Sans MT (Body)"/>
                </a:rPr>
                <a:t>LinkedIn ]</a:t>
              </a:r>
            </a:p>
          </p:txBody>
        </p:sp>
      </p:grpSp>
      <p:grpSp>
        <p:nvGrpSpPr>
          <p:cNvPr id="20" name="Group 19">
            <a:extLst>
              <a:ext uri="{FF2B5EF4-FFF2-40B4-BE49-F238E27FC236}">
                <a16:creationId xmlns:a16="http://schemas.microsoft.com/office/drawing/2014/main" id="{F890C02B-6AB2-77CC-2170-00E06A0615B6}"/>
              </a:ext>
            </a:extLst>
          </p:cNvPr>
          <p:cNvGrpSpPr/>
          <p:nvPr/>
        </p:nvGrpSpPr>
        <p:grpSpPr>
          <a:xfrm>
            <a:off x="191344" y="5229200"/>
            <a:ext cx="11561767" cy="1260723"/>
            <a:chOff x="191344" y="2492896"/>
            <a:chExt cx="11561767" cy="1260723"/>
          </a:xfrm>
        </p:grpSpPr>
        <p:grpSp>
          <p:nvGrpSpPr>
            <p:cNvPr id="21" name="Group 20">
              <a:extLst>
                <a:ext uri="{FF2B5EF4-FFF2-40B4-BE49-F238E27FC236}">
                  <a16:creationId xmlns:a16="http://schemas.microsoft.com/office/drawing/2014/main" id="{C8039B62-0B84-42B3-C28A-1EE6DE611DC2}"/>
                </a:ext>
              </a:extLst>
            </p:cNvPr>
            <p:cNvGrpSpPr/>
            <p:nvPr/>
          </p:nvGrpSpPr>
          <p:grpSpPr>
            <a:xfrm>
              <a:off x="191344" y="2492896"/>
              <a:ext cx="11561767" cy="801380"/>
              <a:chOff x="191344" y="2492896"/>
              <a:chExt cx="11561767" cy="801380"/>
            </a:xfrm>
          </p:grpSpPr>
          <p:sp>
            <p:nvSpPr>
              <p:cNvPr id="23" name="TextBox 22">
                <a:extLst>
                  <a:ext uri="{FF2B5EF4-FFF2-40B4-BE49-F238E27FC236}">
                    <a16:creationId xmlns:a16="http://schemas.microsoft.com/office/drawing/2014/main" id="{8911A58C-A6BF-137D-81AC-BCF8257F328A}"/>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3"/>
                </a:pPr>
                <a:r>
                  <a:rPr lang="en-US" b="1" dirty="0"/>
                  <a:t>Students with a </a:t>
                </a:r>
                <a:r>
                  <a:rPr lang="en-IN" b="1" dirty="0">
                    <a:latin typeface="Liberation Mono"/>
                  </a:rPr>
                  <a:t>Facebook</a:t>
                </a:r>
                <a:r>
                  <a:rPr lang="en-US" b="1" dirty="0"/>
                  <a:t> but no </a:t>
                </a:r>
                <a:r>
                  <a:rPr lang="en-IN" b="1" dirty="0">
                    <a:latin typeface="Liberation Mono"/>
                  </a:rPr>
                  <a:t>LinkedIn and vice versa</a:t>
                </a:r>
                <a:r>
                  <a:rPr lang="en-IN" b="1" dirty="0">
                    <a:latin typeface="Liberation Mono"/>
                    <a:cs typeface="Arial" panose="020B0604020202020204" pitchFamily="34" charset="0"/>
                  </a:rPr>
                  <a:t>.</a:t>
                </a:r>
              </a:p>
            </p:txBody>
          </p:sp>
          <p:sp>
            <p:nvSpPr>
              <p:cNvPr id="24" name="TextBox 23">
                <a:extLst>
                  <a:ext uri="{FF2B5EF4-FFF2-40B4-BE49-F238E27FC236}">
                    <a16:creationId xmlns:a16="http://schemas.microsoft.com/office/drawing/2014/main" id="{7623CC64-ABF5-69B2-DFA3-5619E49011D7}"/>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EXCEPT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22" name="TextBox 21">
              <a:extLst>
                <a:ext uri="{FF2B5EF4-FFF2-40B4-BE49-F238E27FC236}">
                  <a16:creationId xmlns:a16="http://schemas.microsoft.com/office/drawing/2014/main" id="{179C374E-AA0B-B214-1246-240FC4F403B9}"/>
                </a:ext>
              </a:extLst>
            </p:cNvPr>
            <p:cNvSpPr txBox="1"/>
            <p:nvPr/>
          </p:nvSpPr>
          <p:spPr>
            <a:xfrm>
              <a:off x="528530" y="3384287"/>
              <a:ext cx="10824053" cy="369332"/>
            </a:xfrm>
            <a:prstGeom prst="rect">
              <a:avLst/>
            </a:prstGeom>
            <a:noFill/>
          </p:spPr>
          <p:txBody>
            <a:bodyPr wrap="square">
              <a:spAutoFit/>
            </a:bodyPr>
            <a:lstStyle/>
            <a:p>
              <a:r>
                <a:rPr lang="en-US" dirty="0">
                  <a:highlight>
                    <a:srgbClr val="FFFF00"/>
                  </a:highlight>
                  <a:latin typeface="Gill Sans MT (Body)"/>
                </a:rPr>
                <a:t>Returns student IDs who </a:t>
              </a:r>
              <a:r>
                <a:rPr lang="en-US" b="1" dirty="0">
                  <a:solidFill>
                    <a:srgbClr val="FF0000"/>
                  </a:solidFill>
                  <a:highlight>
                    <a:srgbClr val="FFFF00"/>
                  </a:highlight>
                  <a:latin typeface="Gill Sans MT (Body)"/>
                </a:rPr>
                <a:t>have a</a:t>
              </a:r>
              <a:r>
                <a:rPr lang="en-US" b="1"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but </a:t>
              </a:r>
              <a:r>
                <a:rPr lang="en-US" b="1" dirty="0">
                  <a:solidFill>
                    <a:srgbClr val="FF0000"/>
                  </a:solidFill>
                  <a:highlight>
                    <a:srgbClr val="FFFF00"/>
                  </a:highlight>
                  <a:latin typeface="Gill Sans MT (Body)"/>
                </a:rPr>
                <a:t>did not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spTree>
    <p:extLst>
      <p:ext uri="{BB962C8B-B14F-4D97-AF65-F5344CB8AC3E}">
        <p14:creationId xmlns:p14="http://schemas.microsoft.com/office/powerpoint/2010/main" val="355146322"/>
      </p:ext>
    </p:extLst>
  </p:cSld>
  <p:clrMapOvr>
    <a:masterClrMapping/>
  </p:clrMapOvr>
</p:sld>
</file>

<file path=ppt/slides/slide6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185146" y="4215859"/>
            <a:ext cx="11815510" cy="2400657"/>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a:t>
            </a:r>
            <a:r>
              <a:rPr lang="en-US" dirty="0">
                <a:solidFill>
                  <a:srgbClr val="0077AA"/>
                </a:solidFill>
                <a:latin typeface="Liberation Mono"/>
              </a:rPr>
              <a:t>SELECT</a:t>
            </a:r>
            <a:r>
              <a:rPr lang="en-US" dirty="0">
                <a:solidFill>
                  <a:srgbClr val="0077AA"/>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r>
              <a:rPr lang="en-IN" dirty="0">
                <a:solidFill>
                  <a:srgbClr val="DD4A68"/>
                </a:solidFill>
                <a:latin typeface="Liberation Mono"/>
                <a:ea typeface="Times New Roman" panose="02020603050405020304" pitchFamily="18"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dept </a:t>
            </a:r>
            <a:r>
              <a:rPr lang="en-IN" dirty="0">
                <a:solidFill>
                  <a:srgbClr val="DD4A68"/>
                </a:solidFill>
                <a:latin typeface="Liberation Mono"/>
                <a:ea typeface="Times New Roman" panose="02020603050405020304" pitchFamily="18" charset="0"/>
              </a:rPr>
              <a:t>LIMIT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'EMP'</a:t>
            </a:r>
            <a:r>
              <a:rPr lang="en-IN" dirty="0">
                <a:latin typeface="Liberation Mono"/>
                <a:cs typeface="Arial" panose="020B0604020202020204" pitchFamily="34" charset="0"/>
              </a:rPr>
              <a:t> as </a:t>
            </a:r>
            <a:r>
              <a:rPr lang="en-IN" i="1" dirty="0">
                <a:solidFill>
                  <a:schemeClr val="bg1">
                    <a:lumMod val="50000"/>
                  </a:schemeClr>
                </a:solidFill>
                <a:latin typeface="Liberation Mono"/>
              </a:rPr>
              <a:t>'Table Name'</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i="1" dirty="0">
                <a:solidFill>
                  <a:schemeClr val="bg1">
                    <a:lumMod val="50000"/>
                  </a:schemeClr>
                </a:solidFill>
                <a:latin typeface="Liberation Mono"/>
              </a:rPr>
              <a:t>'DEPT'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'BONUS'</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bonus;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customer </a:t>
            </a:r>
            <a:r>
              <a:rPr lang="en-US" dirty="0">
                <a:solidFill>
                  <a:schemeClr val="accent4">
                    <a:lumMod val="50000"/>
                  </a:schemeClr>
                </a:solidFill>
                <a:latin typeface="Liberation Mono"/>
              </a:rPr>
              <a:t>UNION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ord;</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latin typeface="Liberation Mono"/>
                <a:cs typeface="Arial" panose="020B0604020202020204" pitchFamily="34" charset="0"/>
              </a:rPr>
              <a:t> 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'F'</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'M'</a:t>
            </a:r>
            <a:r>
              <a:rPr lang="en-IN" dirty="0">
                <a:latin typeface="Liberation Mono"/>
                <a:cs typeface="Arial" panose="020B0604020202020204" pitchFamily="34" charset="0"/>
              </a:rPr>
              <a:t> ));</a:t>
            </a:r>
          </a:p>
        </p:txBody>
      </p:sp>
      <p:sp>
        <p:nvSpPr>
          <p:cNvPr id="8" name="Rectangle 7">
            <a:extLst>
              <a:ext uri="{FF2B5EF4-FFF2-40B4-BE49-F238E27FC236}">
                <a16:creationId xmlns:a16="http://schemas.microsoft.com/office/drawing/2014/main" id="{D40451BB-205D-44F8-AF81-31A7ACDF308C}"/>
              </a:ext>
            </a:extLst>
          </p:cNvPr>
          <p:cNvSpPr/>
          <p:nvPr/>
        </p:nvSpPr>
        <p:spPr>
          <a:xfrm>
            <a:off x="191344" y="2307064"/>
            <a:ext cx="11815510" cy="166199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used to combine two or more result sets (</a:t>
            </a:r>
            <a:r>
              <a:rPr lang="en-IN" dirty="0">
                <a:latin typeface="Arial" panose="020B0604020202020204" pitchFamily="34" charset="0"/>
                <a:cs typeface="Arial" panose="020B0604020202020204" pitchFamily="34" charset="0"/>
              </a:rPr>
              <a:t>SELECT statements</a:t>
            </a:r>
            <a:r>
              <a:rPr lang="en-US" dirty="0">
                <a:latin typeface="Arial" panose="020B0604020202020204" pitchFamily="34" charset="0"/>
                <a:cs typeface="Arial" panose="020B0604020202020204" pitchFamily="34" charset="0"/>
              </a:rPr>
              <a:t>) into a single set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removes duplicate rows between the various SELECT statements.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each SELECT statement within the UNION operator must have the same number of fields in the result sets.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behaviour for UNION is that duplicate rows are removed from the result.</a:t>
            </a:r>
          </a:p>
        </p:txBody>
      </p:sp>
      <p:sp>
        <p:nvSpPr>
          <p:cNvPr id="10" name="Rectangle 9">
            <a:extLst>
              <a:ext uri="{FF2B5EF4-FFF2-40B4-BE49-F238E27FC236}">
                <a16:creationId xmlns:a16="http://schemas.microsoft.com/office/drawing/2014/main" id="{A369FBB9-5F6F-4ED7-8DFA-6633A0EE997C}"/>
              </a:ext>
            </a:extLst>
          </p:cNvPr>
          <p:cNvSpPr/>
          <p:nvPr/>
        </p:nvSpPr>
        <p:spPr>
          <a:xfrm>
            <a:off x="190550" y="1140713"/>
            <a:ext cx="4177258" cy="101566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F9590813-CFDE-4636-BA1E-5753A9ABF1C2}"/>
              </a:ext>
            </a:extLst>
          </p:cNvPr>
          <p:cNvSpPr/>
          <p:nvPr/>
        </p:nvSpPr>
        <p:spPr>
          <a:xfrm>
            <a:off x="190550" y="476672"/>
            <a:ext cx="1326004" cy="523220"/>
          </a:xfrm>
          <a:prstGeom prst="rect">
            <a:avLst/>
          </a:prstGeom>
        </p:spPr>
        <p:txBody>
          <a:bodyPr wrap="squar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2" name="TextBox 11">
            <a:extLst>
              <a:ext uri="{FF2B5EF4-FFF2-40B4-BE49-F238E27FC236}">
                <a16:creationId xmlns:a16="http://schemas.microsoft.com/office/drawing/2014/main" id="{56BD7F02-50B6-4B44-9B48-AFBF867CD7F8}"/>
              </a:ext>
            </a:extLst>
          </p:cNvPr>
          <p:cNvSpPr txBox="1"/>
          <p:nvPr/>
        </p:nvSpPr>
        <p:spPr>
          <a:xfrm>
            <a:off x="4367808" y="233353"/>
            <a:ext cx="7833933" cy="132343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DISTINCT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deptno, dname, loc, walletid </a:t>
            </a:r>
            <a:r>
              <a:rPr lang="en-US" dirty="0">
                <a:solidFill>
                  <a:srgbClr val="0077AA"/>
                </a:solidFill>
                <a:latin typeface="Liberation Mono"/>
              </a:rPr>
              <a:t>FROM</a:t>
            </a:r>
            <a:r>
              <a:rPr lang="en-US" dirty="0">
                <a:latin typeface="Liberation Mono"/>
              </a:rPr>
              <a:t>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 OVER</a:t>
            </a:r>
            <a:r>
              <a:rPr lang="en-US" dirty="0">
                <a:latin typeface="Liberation Mono"/>
                <a:cs typeface="Arial" panose="020B0604020202020204" pitchFamily="34" charset="0"/>
              </a:rPr>
              <a:t>(</a:t>
            </a:r>
            <a:r>
              <a:rPr lang="en-US" dirty="0">
                <a:solidFill>
                  <a:srgbClr val="DD4A68"/>
                </a:solidFill>
                <a:latin typeface="Liberation Mono"/>
              </a:rPr>
              <a:t>PARTITION</a:t>
            </a:r>
            <a:r>
              <a:rPr lang="en-US" dirty="0">
                <a:latin typeface="Liberation Mono"/>
              </a:rPr>
              <a:t> </a:t>
            </a:r>
            <a:r>
              <a:rPr lang="en-US" dirty="0">
                <a:solidFill>
                  <a:srgbClr val="DD4A68"/>
                </a:solidFill>
                <a:latin typeface="Liberation Mono"/>
              </a:rPr>
              <a:t>BY</a:t>
            </a:r>
            <a:r>
              <a:rPr lang="en-US" dirty="0">
                <a:latin typeface="Liberation Mono"/>
              </a:rPr>
              <a:t> deptno</a:t>
            </a:r>
            <a:r>
              <a:rPr lang="en-US" dirty="0">
                <a:latin typeface="Liberation Mono"/>
                <a:cs typeface="Arial" panose="020B0604020202020204" pitchFamily="34" charset="0"/>
              </a:rPr>
              <a:t>)</a:t>
            </a:r>
            <a:r>
              <a:rPr lang="en-US" dirty="0">
                <a:latin typeface="Liberation Mono"/>
              </a:rPr>
              <a:t> R1, duplicate.</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duplicate</a:t>
            </a:r>
            <a:r>
              <a:rPr lang="en-US" dirty="0">
                <a:latin typeface="Liberation Mono"/>
                <a:cs typeface="Arial" panose="020B0604020202020204" pitchFamily="34" charset="0"/>
              </a:rPr>
              <a:t>)</a:t>
            </a:r>
            <a:r>
              <a:rPr lang="en-US" dirty="0">
                <a:latin typeface="Liberation Mono"/>
              </a:rPr>
              <a:t> T1 </a:t>
            </a:r>
            <a:r>
              <a:rPr lang="en-US" dirty="0">
                <a:solidFill>
                  <a:srgbClr val="0077AA"/>
                </a:solidFill>
                <a:latin typeface="Liberation Mono"/>
              </a:rPr>
              <a:t>WHERE</a:t>
            </a:r>
            <a:r>
              <a:rPr lang="en-US" dirty="0">
                <a:latin typeface="Liberation Mono"/>
              </a:rPr>
              <a:t> R1=1;</a:t>
            </a:r>
            <a:endParaRPr lang="en-IN" dirty="0">
              <a:latin typeface="Liberation Mono"/>
            </a:endParaRPr>
          </a:p>
        </p:txBody>
      </p:sp>
    </p:spTree>
    <p:extLst>
      <p:ext uri="{BB962C8B-B14F-4D97-AF65-F5344CB8AC3E}">
        <p14:creationId xmlns:p14="http://schemas.microsoft.com/office/powerpoint/2010/main" val="4034568701"/>
      </p:ext>
    </p:extLst>
  </p:cSld>
  <p:clrMapOvr>
    <a:masterClrMapping/>
  </p:clrMapOvr>
</p:sld>
</file>

<file path=ppt/slides/slide6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14" name="Rectangle 13">
            <a:extLst>
              <a:ext uri="{FF2B5EF4-FFF2-40B4-BE49-F238E27FC236}">
                <a16:creationId xmlns:a16="http://schemas.microsoft.com/office/drawing/2014/main" id="{14626C5C-DE4D-4F39-853B-EFDD103F93ED}"/>
              </a:ext>
            </a:extLst>
          </p:cNvPr>
          <p:cNvSpPr/>
          <p:nvPr/>
        </p:nvSpPr>
        <p:spPr>
          <a:xfrm>
            <a:off x="137660" y="4990325"/>
            <a:ext cx="6030348" cy="1661993"/>
          </a:xfrm>
          <a:prstGeom prst="rect">
            <a:avLst/>
          </a:prstGeom>
        </p:spPr>
        <p:txBody>
          <a:bodyPr wrap="square">
            <a:spAutoFit/>
          </a:bodyPr>
          <a:lstStyle/>
          <a:p>
            <a:r>
              <a:rPr lang="en-IN" sz="2200" dirty="0">
                <a:solidFill>
                  <a:srgbClr val="FF0000"/>
                </a:solidFill>
                <a:latin typeface="Palatino Linotype" panose="02040502050505030304" pitchFamily="18" charset="0"/>
                <a:cs typeface="Arial" panose="020B0604020202020204" pitchFamily="34" charset="0"/>
              </a:rPr>
              <a:t>Note: </a:t>
            </a:r>
          </a:p>
          <a:p>
            <a:r>
              <a:rPr lang="en-IN" dirty="0">
                <a:solidFill>
                  <a:srgbClr val="FF0000"/>
                </a:solidFill>
                <a:latin typeface="Palatino Linotype" panose="02040502050505030304" pitchFamily="18" charset="0"/>
                <a:cs typeface="Arial" panose="020B0604020202020204" pitchFamily="34" charset="0"/>
              </a:rPr>
              <a:t>The following statement will give an error</a:t>
            </a:r>
            <a:endParaRPr lang="en-IN" sz="2400" dirty="0">
              <a:solidFill>
                <a:srgbClr val="FF0000"/>
              </a:solidFill>
              <a:latin typeface="Palatino Linotype" panose="02040502050505030304" pitchFamily="18" charset="0"/>
              <a:cs typeface="Arial" panose="020B0604020202020204" pitchFamily="34" charset="0"/>
            </a:endParaRP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ORDER</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p>
          <a:p>
            <a:pPr marL="273050"/>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endParaRPr lang="en-IN" dirty="0">
              <a:latin typeface="Liberation Mono"/>
              <a:cs typeface="Arial" panose="020B0604020202020204" pitchFamily="34" charset="0"/>
            </a:endParaRPr>
          </a:p>
        </p:txBody>
      </p:sp>
      <p:sp>
        <p:nvSpPr>
          <p:cNvPr id="31" name="Rectangle 30">
            <a:extLst>
              <a:ext uri="{FF2B5EF4-FFF2-40B4-BE49-F238E27FC236}">
                <a16:creationId xmlns:a16="http://schemas.microsoft.com/office/drawing/2014/main" id="{B3B33C9F-E072-4204-BB99-E400222837A5}"/>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5" name="Picture 4">
            <a:extLst>
              <a:ext uri="{FF2B5EF4-FFF2-40B4-BE49-F238E27FC236}">
                <a16:creationId xmlns:a16="http://schemas.microsoft.com/office/drawing/2014/main" id="{B941B6E2-2BF2-4763-B4E8-21C60DE865E8}"/>
              </a:ext>
            </a:extLst>
          </p:cNvPr>
          <p:cNvPicPr>
            <a:picLocks noChangeAspect="1"/>
          </p:cNvPicPr>
          <p:nvPr/>
        </p:nvPicPr>
        <p:blipFill>
          <a:blip r:embed="rId3"/>
          <a:stretch>
            <a:fillRect/>
          </a:stretch>
        </p:blipFill>
        <p:spPr>
          <a:xfrm>
            <a:off x="8444010" y="2685237"/>
            <a:ext cx="2392274" cy="1316915"/>
          </a:xfrm>
          <a:prstGeom prst="rect">
            <a:avLst/>
          </a:prstGeom>
        </p:spPr>
      </p:pic>
      <p:grpSp>
        <p:nvGrpSpPr>
          <p:cNvPr id="12" name="Group 11">
            <a:extLst>
              <a:ext uri="{FF2B5EF4-FFF2-40B4-BE49-F238E27FC236}">
                <a16:creationId xmlns:a16="http://schemas.microsoft.com/office/drawing/2014/main" id="{2BF090FD-6F6C-324C-5338-3C337378A301}"/>
              </a:ext>
            </a:extLst>
          </p:cNvPr>
          <p:cNvGrpSpPr/>
          <p:nvPr/>
        </p:nvGrpSpPr>
        <p:grpSpPr>
          <a:xfrm>
            <a:off x="97259" y="529362"/>
            <a:ext cx="8111072" cy="1864930"/>
            <a:chOff x="97259" y="529362"/>
            <a:chExt cx="8111072" cy="1864930"/>
          </a:xfrm>
        </p:grpSpPr>
        <p:sp>
          <p:nvSpPr>
            <p:cNvPr id="25" name="Rectangle 24">
              <a:extLst>
                <a:ext uri="{FF2B5EF4-FFF2-40B4-BE49-F238E27FC236}">
                  <a16:creationId xmlns:a16="http://schemas.microsoft.com/office/drawing/2014/main" id="{3503CE00-4AED-4386-8B1F-1FD676E62513}"/>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26" name="Rectangle 25">
              <a:extLst>
                <a:ext uri="{FF2B5EF4-FFF2-40B4-BE49-F238E27FC236}">
                  <a16:creationId xmlns:a16="http://schemas.microsoft.com/office/drawing/2014/main" id="{C5719CBD-217A-4585-8548-2032979F1E4B}"/>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9" name="Picture 8">
              <a:extLst>
                <a:ext uri="{FF2B5EF4-FFF2-40B4-BE49-F238E27FC236}">
                  <a16:creationId xmlns:a16="http://schemas.microsoft.com/office/drawing/2014/main" id="{5F033CB7-C003-7C64-2CB7-F6F64DC24526}"/>
                </a:ext>
              </a:extLst>
            </p:cNvPr>
            <p:cNvPicPr>
              <a:picLocks noChangeAspect="1"/>
            </p:cNvPicPr>
            <p:nvPr/>
          </p:nvPicPr>
          <p:blipFill>
            <a:blip r:embed="rId4"/>
            <a:stretch>
              <a:fillRect/>
            </a:stretch>
          </p:blipFill>
          <p:spPr>
            <a:xfrm>
              <a:off x="97259" y="1040667"/>
              <a:ext cx="3877953" cy="1353625"/>
            </a:xfrm>
            <a:prstGeom prst="rect">
              <a:avLst/>
            </a:prstGeom>
          </p:spPr>
        </p:pic>
        <p:pic>
          <p:nvPicPr>
            <p:cNvPr id="11" name="Picture 10">
              <a:extLst>
                <a:ext uri="{FF2B5EF4-FFF2-40B4-BE49-F238E27FC236}">
                  <a16:creationId xmlns:a16="http://schemas.microsoft.com/office/drawing/2014/main" id="{9876D4B5-AD1F-7A35-466A-F6418B3DB8F7}"/>
                </a:ext>
              </a:extLst>
            </p:cNvPr>
            <p:cNvPicPr>
              <a:picLocks noChangeAspect="1"/>
            </p:cNvPicPr>
            <p:nvPr/>
          </p:nvPicPr>
          <p:blipFill>
            <a:blip r:embed="rId5"/>
            <a:stretch>
              <a:fillRect/>
            </a:stretch>
          </p:blipFill>
          <p:spPr>
            <a:xfrm>
              <a:off x="4477034" y="1040667"/>
              <a:ext cx="3731297" cy="1353625"/>
            </a:xfrm>
            <a:prstGeom prst="rect">
              <a:avLst/>
            </a:prstGeom>
          </p:spPr>
        </p:pic>
      </p:grpSp>
      <p:pic>
        <p:nvPicPr>
          <p:cNvPr id="15" name="Picture 14">
            <a:extLst>
              <a:ext uri="{FF2B5EF4-FFF2-40B4-BE49-F238E27FC236}">
                <a16:creationId xmlns:a16="http://schemas.microsoft.com/office/drawing/2014/main" id="{36E0A25C-1127-29D5-E914-BDE582D8B3B1}"/>
              </a:ext>
            </a:extLst>
          </p:cNvPr>
          <p:cNvPicPr>
            <a:picLocks noChangeAspect="1"/>
          </p:cNvPicPr>
          <p:nvPr/>
        </p:nvPicPr>
        <p:blipFill>
          <a:blip r:embed="rId6"/>
          <a:stretch>
            <a:fillRect/>
          </a:stretch>
        </p:blipFill>
        <p:spPr>
          <a:xfrm>
            <a:off x="8444010" y="1040667"/>
            <a:ext cx="3412629" cy="964439"/>
          </a:xfrm>
          <a:prstGeom prst="rect">
            <a:avLst/>
          </a:prstGeom>
        </p:spPr>
      </p:pic>
      <p:sp>
        <p:nvSpPr>
          <p:cNvPr id="6" name="Rectangle 5">
            <a:extLst>
              <a:ext uri="{FF2B5EF4-FFF2-40B4-BE49-F238E27FC236}">
                <a16:creationId xmlns:a16="http://schemas.microsoft.com/office/drawing/2014/main" id="{529B3CA9-BE34-069E-2910-A4C210F45BA8}"/>
              </a:ext>
            </a:extLst>
          </p:cNvPr>
          <p:cNvSpPr/>
          <p:nvPr/>
        </p:nvSpPr>
        <p:spPr>
          <a:xfrm>
            <a:off x="254053" y="4094377"/>
            <a:ext cx="11683894" cy="73866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sal </a:t>
            </a:r>
            <a:r>
              <a:rPr lang="en-US" dirty="0">
                <a:solidFill>
                  <a:schemeClr val="accent4">
                    <a:lumMod val="50000"/>
                  </a:schemeClr>
                </a:solidFill>
                <a:latin typeface="Liberation Mono"/>
              </a:rPr>
              <a:t>IN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MIN</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a:t>
            </a:r>
          </a:p>
        </p:txBody>
      </p:sp>
      <p:sp>
        <p:nvSpPr>
          <p:cNvPr id="2" name="Rectangle 1">
            <a:extLst>
              <a:ext uri="{FF2B5EF4-FFF2-40B4-BE49-F238E27FC236}">
                <a16:creationId xmlns:a16="http://schemas.microsoft.com/office/drawing/2014/main" id="{467483AA-C8A5-A870-043E-8D33FCA4DAE6}"/>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distinct/unique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99317966"/>
      </p:ext>
    </p:extLst>
  </p:cSld>
  <p:clrMapOvr>
    <a:masterClrMapping/>
  </p:clrMapOvr>
</p:sld>
</file>

<file path=ppt/slides/slide6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08213447-0C55-4663-8943-A02BE0BB851D}"/>
              </a:ext>
            </a:extLst>
          </p:cNvPr>
          <p:cNvPicPr>
            <a:picLocks noChangeAspect="1"/>
          </p:cNvPicPr>
          <p:nvPr/>
        </p:nvPicPr>
        <p:blipFill>
          <a:blip r:embed="rId2"/>
          <a:stretch>
            <a:fillRect/>
          </a:stretch>
        </p:blipFill>
        <p:spPr>
          <a:xfrm>
            <a:off x="8466420" y="3869706"/>
            <a:ext cx="2394000" cy="1340640"/>
          </a:xfrm>
          <a:prstGeom prst="rect">
            <a:avLst/>
          </a:prstGeom>
        </p:spPr>
      </p:pic>
      <p:sp>
        <p:nvSpPr>
          <p:cNvPr id="14" name="TextBox 13">
            <a:extLst>
              <a:ext uri="{FF2B5EF4-FFF2-40B4-BE49-F238E27FC236}">
                <a16:creationId xmlns:a16="http://schemas.microsoft.com/office/drawing/2014/main" id="{645F8480-1D61-420C-8170-FCC4C9877D82}"/>
              </a:ext>
            </a:extLst>
          </p:cNvPr>
          <p:cNvSpPr txBox="1"/>
          <p:nvPr/>
        </p:nvSpPr>
        <p:spPr>
          <a:xfrm>
            <a:off x="210300" y="5242291"/>
            <a:ext cx="11683894"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IN" dirty="0">
                <a:latin typeface="Liberation Mono"/>
              </a:rPr>
              <a:t> </a:t>
            </a: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bookname,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books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newbooks) </a:t>
            </a:r>
            <a:r>
              <a:rPr lang="en-US" i="1" dirty="0">
                <a:solidFill>
                  <a:schemeClr val="bg1">
                    <a:lumMod val="50000"/>
                  </a:schemeClr>
                </a:solidFill>
                <a:latin typeface="Liberation Mono"/>
              </a:rPr>
              <a:t>b</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bookname;</a:t>
            </a:r>
            <a:endParaRPr lang="en-IN" dirty="0">
              <a:latin typeface="Liberation Mono"/>
            </a:endParaRPr>
          </a:p>
        </p:txBody>
      </p:sp>
      <p:grpSp>
        <p:nvGrpSpPr>
          <p:cNvPr id="3" name="Group 2">
            <a:extLst>
              <a:ext uri="{FF2B5EF4-FFF2-40B4-BE49-F238E27FC236}">
                <a16:creationId xmlns:a16="http://schemas.microsoft.com/office/drawing/2014/main" id="{D211B238-640F-84C4-4574-6AE7C082DB65}"/>
              </a:ext>
            </a:extLst>
          </p:cNvPr>
          <p:cNvGrpSpPr/>
          <p:nvPr/>
        </p:nvGrpSpPr>
        <p:grpSpPr>
          <a:xfrm>
            <a:off x="97259" y="529362"/>
            <a:ext cx="8111072" cy="1864930"/>
            <a:chOff x="97259" y="529362"/>
            <a:chExt cx="8111072" cy="1864930"/>
          </a:xfrm>
        </p:grpSpPr>
        <p:sp>
          <p:nvSpPr>
            <p:cNvPr id="5" name="Rectangle 4">
              <a:extLst>
                <a:ext uri="{FF2B5EF4-FFF2-40B4-BE49-F238E27FC236}">
                  <a16:creationId xmlns:a16="http://schemas.microsoft.com/office/drawing/2014/main" id="{43BF21F1-1E8C-2966-8318-29F52ED22D50}"/>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4AAACD1E-667C-B5B8-46EC-EDBF3A2ADD55}"/>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3676FB99-7B95-70E7-28B6-DADB532E662B}"/>
                </a:ext>
              </a:extLst>
            </p:cNvPr>
            <p:cNvPicPr>
              <a:picLocks noChangeAspect="1"/>
            </p:cNvPicPr>
            <p:nvPr/>
          </p:nvPicPr>
          <p:blipFill>
            <a:blip r:embed="rId3"/>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744F6450-8658-DFC9-1427-76C9242E56BA}"/>
                </a:ext>
              </a:extLst>
            </p:cNvPr>
            <p:cNvPicPr>
              <a:picLocks noChangeAspect="1"/>
            </p:cNvPicPr>
            <p:nvPr/>
          </p:nvPicPr>
          <p:blipFill>
            <a:blip r:embed="rId4"/>
            <a:stretch>
              <a:fillRect/>
            </a:stretch>
          </p:blipFill>
          <p:spPr>
            <a:xfrm>
              <a:off x="4477034" y="1040667"/>
              <a:ext cx="3731297" cy="1353625"/>
            </a:xfrm>
            <a:prstGeom prst="rect">
              <a:avLst/>
            </a:prstGeom>
          </p:spPr>
        </p:pic>
      </p:grpSp>
      <p:pic>
        <p:nvPicPr>
          <p:cNvPr id="17" name="Picture 16">
            <a:extLst>
              <a:ext uri="{FF2B5EF4-FFF2-40B4-BE49-F238E27FC236}">
                <a16:creationId xmlns:a16="http://schemas.microsoft.com/office/drawing/2014/main" id="{CCDD0354-6774-FEF7-AB59-EEC272FF6622}"/>
              </a:ext>
            </a:extLst>
          </p:cNvPr>
          <p:cNvPicPr>
            <a:picLocks noChangeAspect="1"/>
          </p:cNvPicPr>
          <p:nvPr/>
        </p:nvPicPr>
        <p:blipFill>
          <a:blip r:embed="rId5"/>
          <a:stretch>
            <a:fillRect/>
          </a:stretch>
        </p:blipFill>
        <p:spPr>
          <a:xfrm>
            <a:off x="8468730" y="988712"/>
            <a:ext cx="3431227" cy="2167664"/>
          </a:xfrm>
          <a:prstGeom prst="rect">
            <a:avLst/>
          </a:prstGeom>
        </p:spPr>
      </p:pic>
      <p:sp>
        <p:nvSpPr>
          <p:cNvPr id="20" name="Rectangle 19">
            <a:extLst>
              <a:ext uri="{FF2B5EF4-FFF2-40B4-BE49-F238E27FC236}">
                <a16:creationId xmlns:a16="http://schemas.microsoft.com/office/drawing/2014/main" id="{8F451CE5-BAF2-3F24-96FD-74E44DD22A00}"/>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0" name="Rectangle 9">
            <a:extLst>
              <a:ext uri="{FF2B5EF4-FFF2-40B4-BE49-F238E27FC236}">
                <a16:creationId xmlns:a16="http://schemas.microsoft.com/office/drawing/2014/main" id="{CA359E46-9309-76B2-6BA9-01F4FFD85545}"/>
              </a:ext>
            </a:extLst>
          </p:cNvPr>
          <p:cNvSpPr/>
          <p:nvPr/>
        </p:nvSpPr>
        <p:spPr>
          <a:xfrm>
            <a:off x="210300" y="4571836"/>
            <a:ext cx="1168389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sp>
        <p:nvSpPr>
          <p:cNvPr id="2" name="Rectangle 1">
            <a:extLst>
              <a:ext uri="{FF2B5EF4-FFF2-40B4-BE49-F238E27FC236}">
                <a16:creationId xmlns:a16="http://schemas.microsoft.com/office/drawing/2014/main" id="{A54E3D71-4B10-CC15-CCB7-C6B34A400930}"/>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all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including duplicates.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33351723"/>
      </p:ext>
    </p:extLst>
  </p:cSld>
  <p:clrMapOvr>
    <a:masterClrMapping/>
  </p:clrMapOvr>
</p:sld>
</file>

<file path=ppt/slides/slide6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AA6C9-C687-3EAC-F27C-94C9323E0A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9966995-A550-6A4D-83F2-D0181EE2A111}"/>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BE74FF68-B83C-3AAE-6AB9-F28215C1F72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BBD6E03-799A-3A82-1B8B-66679515C2D9}"/>
              </a:ext>
            </a:extLst>
          </p:cNvPr>
          <p:cNvSpPr/>
          <p:nvPr/>
        </p:nvSpPr>
        <p:spPr>
          <a:xfrm>
            <a:off x="767408" y="1"/>
            <a:ext cx="9900592" cy="584775"/>
          </a:xfrm>
          <a:prstGeom prst="rect">
            <a:avLst/>
          </a:prstGeom>
          <a:noFill/>
        </p:spPr>
        <p:txBody>
          <a:bodyPr wrap="square">
            <a:spAutoFit/>
          </a:bodyPr>
          <a:lstStyle/>
          <a:p>
            <a:pPr algn="r"/>
            <a:r>
              <a:rPr lang="en-IN" sz="3200" i="1">
                <a:solidFill>
                  <a:srgbClr val="FF9900"/>
                </a:solidFill>
                <a:latin typeface="Arial" pitchFamily="34" charset="0"/>
                <a:cs typeface="Arial" pitchFamily="34" charset="0"/>
              </a:rPr>
              <a:t>union </a:t>
            </a:r>
            <a:r>
              <a:rPr lang="en-IN" sz="3200" i="1" dirty="0">
                <a:solidFill>
                  <a:srgbClr val="FF9900"/>
                </a:solidFill>
                <a:latin typeface="Arial" pitchFamily="34" charset="0"/>
                <a:cs typeface="Arial" pitchFamily="34" charset="0"/>
              </a:rPr>
              <a:t>&amp; union all</a:t>
            </a:r>
          </a:p>
        </p:txBody>
      </p:sp>
      <p:sp>
        <p:nvSpPr>
          <p:cNvPr id="3" name="TextBox 2">
            <a:extLst>
              <a:ext uri="{FF2B5EF4-FFF2-40B4-BE49-F238E27FC236}">
                <a16:creationId xmlns:a16="http://schemas.microsoft.com/office/drawing/2014/main" id="{23B77D87-2366-F8BF-A0AA-B3A545126A5E}"/>
              </a:ext>
            </a:extLst>
          </p:cNvPr>
          <p:cNvSpPr txBox="1"/>
          <p:nvPr/>
        </p:nvSpPr>
        <p:spPr>
          <a:xfrm>
            <a:off x="191344" y="6084004"/>
            <a:ext cx="11881319"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GROUP</a:t>
            </a:r>
            <a:r>
              <a:rPr lang="en-US" dirty="0">
                <a:latin typeface="Liberation Mono"/>
              </a:rPr>
              <a:t> </a:t>
            </a:r>
            <a:r>
              <a:rPr lang="en-US" dirty="0">
                <a:solidFill>
                  <a:srgbClr val="0077AA"/>
                </a:solidFill>
                <a:latin typeface="Liberation Mono"/>
                <a:ea typeface="Times New Roman" panose="02020603050405020304" pitchFamily="18" charset="0"/>
              </a:rPr>
              <a:t>BY</a:t>
            </a:r>
            <a:r>
              <a:rPr lang="en-US" dirty="0">
                <a:latin typeface="Liberation Mono"/>
              </a:rPr>
              <a:t> job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00B050"/>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a:t>
            </a:r>
            <a:endParaRPr lang="en-IN" dirty="0">
              <a:latin typeface="Liberation Mono"/>
            </a:endParaRPr>
          </a:p>
        </p:txBody>
      </p:sp>
      <p:sp>
        <p:nvSpPr>
          <p:cNvPr id="20" name="TextBox 19">
            <a:extLst>
              <a:ext uri="{FF2B5EF4-FFF2-40B4-BE49-F238E27FC236}">
                <a16:creationId xmlns:a16="http://schemas.microsoft.com/office/drawing/2014/main" id="{FB684EAB-7909-B73B-A6E0-1A4D677C3A38}"/>
              </a:ext>
            </a:extLst>
          </p:cNvPr>
          <p:cNvSpPr txBox="1"/>
          <p:nvPr/>
        </p:nvSpPr>
        <p:spPr>
          <a:xfrm>
            <a:off x="292696" y="580618"/>
            <a:ext cx="6811416"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Count number of employees per job title, including total row</a:t>
            </a:r>
            <a:endParaRPr lang="en-IN" dirty="0"/>
          </a:p>
        </p:txBody>
      </p:sp>
      <p:graphicFrame>
        <p:nvGraphicFramePr>
          <p:cNvPr id="21" name="Table 2">
            <a:extLst>
              <a:ext uri="{FF2B5EF4-FFF2-40B4-BE49-F238E27FC236}">
                <a16:creationId xmlns:a16="http://schemas.microsoft.com/office/drawing/2014/main" id="{1AE603CA-90F2-0964-783B-36FFE18C0A32}"/>
              </a:ext>
            </a:extLst>
          </p:cNvPr>
          <p:cNvGraphicFramePr>
            <a:graphicFrameLocks noGrp="1"/>
          </p:cNvGraphicFramePr>
          <p:nvPr>
            <p:extLst>
              <p:ext uri="{D42A27DB-BD31-4B8C-83A1-F6EECF244321}">
                <p14:modId xmlns:p14="http://schemas.microsoft.com/office/powerpoint/2010/main" val="3765761370"/>
              </p:ext>
            </p:extLst>
          </p:nvPr>
        </p:nvGraphicFramePr>
        <p:xfrm>
          <a:off x="292698" y="1532062"/>
          <a:ext cx="7616079" cy="3840480"/>
        </p:xfrm>
        <a:graphic>
          <a:graphicData uri="http://schemas.openxmlformats.org/drawingml/2006/table">
            <a:tbl>
              <a:tblPr firstRow="1" bandRow="1">
                <a:tableStyleId>{5940675A-B579-460E-94D1-54222C63F5DA}</a:tableStyleId>
              </a:tblPr>
              <a:tblGrid>
                <a:gridCol w="1186991">
                  <a:extLst>
                    <a:ext uri="{9D8B030D-6E8A-4147-A177-3AD203B41FA5}">
                      <a16:colId xmlns:a16="http://schemas.microsoft.com/office/drawing/2014/main" val="928063234"/>
                    </a:ext>
                  </a:extLst>
                </a:gridCol>
                <a:gridCol w="1525647">
                  <a:extLst>
                    <a:ext uri="{9D8B030D-6E8A-4147-A177-3AD203B41FA5}">
                      <a16:colId xmlns:a16="http://schemas.microsoft.com/office/drawing/2014/main" val="2965238667"/>
                    </a:ext>
                  </a:extLst>
                </a:gridCol>
                <a:gridCol w="2642400">
                  <a:extLst>
                    <a:ext uri="{9D8B030D-6E8A-4147-A177-3AD203B41FA5}">
                      <a16:colId xmlns:a16="http://schemas.microsoft.com/office/drawing/2014/main" val="111503329"/>
                    </a:ext>
                  </a:extLst>
                </a:gridCol>
                <a:gridCol w="969017">
                  <a:extLst>
                    <a:ext uri="{9D8B030D-6E8A-4147-A177-3AD203B41FA5}">
                      <a16:colId xmlns:a16="http://schemas.microsoft.com/office/drawing/2014/main" val="589038301"/>
                    </a:ext>
                  </a:extLst>
                </a:gridCol>
                <a:gridCol w="1292024">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Job</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l"/>
                      <a:r>
                        <a:rPr kumimoji="0" lang="en-IN" kern="1200">
                          <a:solidFill>
                            <a:schemeClr val="tx1"/>
                          </a:solidFill>
                          <a:latin typeface="Arial" panose="020B0604020202020204" pitchFamily="34" charset="0"/>
                          <a:ea typeface="+mn-ea"/>
                          <a:cs typeface="Arial" panose="020B0604020202020204" pitchFamily="34" charset="0"/>
                        </a:rPr>
                        <a:t>Public Relation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Public Relation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ANALYST</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49F71DF-636F-81BD-2DDB-9E479C8F3427}"/>
              </a:ext>
            </a:extLst>
          </p:cNvPr>
          <p:cNvGraphicFramePr>
            <a:graphicFrameLocks noGrp="1"/>
          </p:cNvGraphicFramePr>
          <p:nvPr>
            <p:extLst>
              <p:ext uri="{D42A27DB-BD31-4B8C-83A1-F6EECF244321}">
                <p14:modId xmlns:p14="http://schemas.microsoft.com/office/powerpoint/2010/main" val="384288221"/>
              </p:ext>
            </p:extLst>
          </p:nvPr>
        </p:nvGraphicFramePr>
        <p:xfrm>
          <a:off x="8184231" y="1532062"/>
          <a:ext cx="3888431" cy="3708400"/>
        </p:xfrm>
        <a:graphic>
          <a:graphicData uri="http://schemas.openxmlformats.org/drawingml/2006/table">
            <a:tbl>
              <a:tblPr firstRow="1" bandRow="1">
                <a:tableStyleId>{5940675A-B579-460E-94D1-54222C63F5DA}</a:tableStyleId>
              </a:tblPr>
              <a:tblGrid>
                <a:gridCol w="2641198">
                  <a:extLst>
                    <a:ext uri="{9D8B030D-6E8A-4147-A177-3AD203B41FA5}">
                      <a16:colId xmlns:a16="http://schemas.microsoft.com/office/drawing/2014/main" val="928063234"/>
                    </a:ext>
                  </a:extLst>
                </a:gridCol>
                <a:gridCol w="1247233">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job</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COUNT(*)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Compliance officers</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8585053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Public Relation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CLERK</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7</a:t>
                      </a:r>
                    </a:p>
                  </a:txBody>
                  <a:tcPr anchor="ctr"/>
                </a:tc>
                <a:extLst>
                  <a:ext uri="{0D108BD9-81ED-4DB2-BD59-A6C34878D82A}">
                    <a16:rowId xmlns:a16="http://schemas.microsoft.com/office/drawing/2014/main" val="3357013405"/>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SALESMAN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3070784058"/>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MANAGER</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354322690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ANALYST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127471519"/>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00264462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vice 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4024705077"/>
                  </a:ext>
                </a:extLst>
              </a:tr>
              <a:tr h="370840">
                <a:tc>
                  <a:txBody>
                    <a:bodyPr/>
                    <a:lstStyle/>
                    <a:p>
                      <a:pPr algn="l"/>
                      <a:r>
                        <a:rPr lang="en-US" b="1" dirty="0">
                          <a:solidFill>
                            <a:srgbClr val="B212AA"/>
                          </a:solidFill>
                          <a:latin typeface="Arial" panose="020B0604020202020204" pitchFamily="34" charset="0"/>
                          <a:cs typeface="Arial" panose="020B0604020202020204" pitchFamily="34" charset="0"/>
                        </a:rPr>
                        <a:t>TOTAL</a:t>
                      </a:r>
                      <a:endParaRPr lang="en-IN" b="1"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28</a:t>
                      </a:r>
                    </a:p>
                  </a:txBody>
                  <a:tcPr anchor="ctr"/>
                </a:tc>
                <a:extLst>
                  <a:ext uri="{0D108BD9-81ED-4DB2-BD59-A6C34878D82A}">
                    <a16:rowId xmlns:a16="http://schemas.microsoft.com/office/drawing/2014/main" val="3875943787"/>
                  </a:ext>
                </a:extLst>
              </a:tr>
            </a:tbl>
          </a:graphicData>
        </a:graphic>
      </p:graphicFrame>
      <p:sp>
        <p:nvSpPr>
          <p:cNvPr id="4" name="TextBox 3">
            <a:extLst>
              <a:ext uri="{FF2B5EF4-FFF2-40B4-BE49-F238E27FC236}">
                <a16:creationId xmlns:a16="http://schemas.microsoft.com/office/drawing/2014/main" id="{0049B912-DC3D-F89A-61DE-8D726AD76423}"/>
              </a:ext>
            </a:extLst>
          </p:cNvPr>
          <p:cNvSpPr txBox="1"/>
          <p:nvPr/>
        </p:nvSpPr>
        <p:spPr>
          <a:xfrm rot="20710647">
            <a:off x="7500154" y="54088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3F7B8892-2CDD-EE2E-D958-72267E47E4B2}"/>
              </a:ext>
            </a:extLst>
          </p:cNvPr>
          <p:cNvSpPr txBox="1"/>
          <p:nvPr/>
        </p:nvSpPr>
        <p:spPr>
          <a:xfrm>
            <a:off x="8184232"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75999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0CBC5-D6C9-8912-F207-D45CDF1930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9371F46-702F-98E7-24F8-114FB56979C3}"/>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2AC8B61F-0282-CD25-B0DD-AEDAE322460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A932AF3-E286-32B6-DA76-050C2B000720}"/>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3" name="TextBox 2">
            <a:extLst>
              <a:ext uri="{FF2B5EF4-FFF2-40B4-BE49-F238E27FC236}">
                <a16:creationId xmlns:a16="http://schemas.microsoft.com/office/drawing/2014/main" id="{46C401A2-C3F8-E3FC-DD01-A4953EBAEF1D}"/>
              </a:ext>
            </a:extLst>
          </p:cNvPr>
          <p:cNvSpPr txBox="1"/>
          <p:nvPr/>
        </p:nvSpPr>
        <p:spPr>
          <a:xfrm>
            <a:off x="191344" y="5602014"/>
            <a:ext cx="11881319"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'DHL'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a:t>
            </a:r>
            <a:endParaRPr lang="en-IN" dirty="0">
              <a:latin typeface="Liberation Mono"/>
            </a:endParaRPr>
          </a:p>
        </p:txBody>
      </p:sp>
      <p:sp>
        <p:nvSpPr>
          <p:cNvPr id="20" name="TextBox 19">
            <a:extLst>
              <a:ext uri="{FF2B5EF4-FFF2-40B4-BE49-F238E27FC236}">
                <a16:creationId xmlns:a16="http://schemas.microsoft.com/office/drawing/2014/main" id="{64A1EB39-0334-F0C4-0D41-7E522BCC87D6}"/>
              </a:ext>
            </a:extLst>
          </p:cNvPr>
          <p:cNvSpPr txBox="1"/>
          <p:nvPr/>
        </p:nvSpPr>
        <p:spPr>
          <a:xfrm>
            <a:off x="292696" y="580618"/>
            <a:ext cx="695543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Count all records from delivery carriers(FEDEX, DHL, and UPS)</a:t>
            </a:r>
          </a:p>
        </p:txBody>
      </p:sp>
      <p:graphicFrame>
        <p:nvGraphicFramePr>
          <p:cNvPr id="21" name="Table 2">
            <a:extLst>
              <a:ext uri="{FF2B5EF4-FFF2-40B4-BE49-F238E27FC236}">
                <a16:creationId xmlns:a16="http://schemas.microsoft.com/office/drawing/2014/main" id="{F0A68478-F62A-D588-84CA-3F570701F6C0}"/>
              </a:ext>
            </a:extLst>
          </p:cNvPr>
          <p:cNvGraphicFramePr>
            <a:graphicFrameLocks noGrp="1"/>
          </p:cNvGraphicFramePr>
          <p:nvPr>
            <p:extLst>
              <p:ext uri="{D42A27DB-BD31-4B8C-83A1-F6EECF244321}">
                <p14:modId xmlns:p14="http://schemas.microsoft.com/office/powerpoint/2010/main" val="1451755030"/>
              </p:ext>
            </p:extLst>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CCD0576A-03AF-6856-FA41-A40D15847D2E}"/>
              </a:ext>
            </a:extLst>
          </p:cNvPr>
          <p:cNvGraphicFramePr>
            <a:graphicFrameLocks noGrp="1"/>
          </p:cNvGraphicFramePr>
          <p:nvPr>
            <p:extLst>
              <p:ext uri="{D42A27DB-BD31-4B8C-83A1-F6EECF244321}">
                <p14:modId xmlns:p14="http://schemas.microsoft.com/office/powerpoint/2010/main" val="2921124362"/>
              </p:ext>
            </p:extLst>
          </p:nvPr>
        </p:nvGraphicFramePr>
        <p:xfrm>
          <a:off x="7644496" y="1532062"/>
          <a:ext cx="2916000" cy="741680"/>
        </p:xfrm>
        <a:graphic>
          <a:graphicData uri="http://schemas.openxmlformats.org/drawingml/2006/table">
            <a:tbl>
              <a:tblPr firstRow="1" bandRow="1">
                <a:tableStyleId>{5940675A-B579-460E-94D1-54222C63F5DA}</a:tableStyleId>
              </a:tblPr>
              <a:tblGrid>
                <a:gridCol w="972000">
                  <a:extLst>
                    <a:ext uri="{9D8B030D-6E8A-4147-A177-3AD203B41FA5}">
                      <a16:colId xmlns:a16="http://schemas.microsoft.com/office/drawing/2014/main" val="928063234"/>
                    </a:ext>
                  </a:extLst>
                </a:gridCol>
                <a:gridCol w="972000">
                  <a:extLst>
                    <a:ext uri="{9D8B030D-6E8A-4147-A177-3AD203B41FA5}">
                      <a16:colId xmlns:a16="http://schemas.microsoft.com/office/drawing/2014/main" val="2965238667"/>
                    </a:ext>
                  </a:extLst>
                </a:gridCol>
                <a:gridCol w="972000">
                  <a:extLst>
                    <a:ext uri="{9D8B030D-6E8A-4147-A177-3AD203B41FA5}">
                      <a16:colId xmlns:a16="http://schemas.microsoft.com/office/drawing/2014/main" val="111503329"/>
                    </a:ext>
                  </a:extLst>
                </a:gridCol>
              </a:tblGrid>
              <a:tr h="370840">
                <a:tc>
                  <a:txBody>
                    <a:bodyPr/>
                    <a:lstStyle/>
                    <a:p>
                      <a:pPr algn="ctr"/>
                      <a:r>
                        <a:rPr lang="en-US" b="1" dirty="0">
                          <a:latin typeface="Arial" panose="020B0604020202020204" pitchFamily="34" charset="0"/>
                          <a:cs typeface="Arial" panose="020B0604020202020204" pitchFamily="34" charset="0"/>
                        </a:rPr>
                        <a:t>FedEx</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DHL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UPS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B212AA"/>
                          </a:solidFill>
                          <a:latin typeface="Arial" panose="020B0604020202020204" pitchFamily="34" charset="0"/>
                          <a:cs typeface="Arial" panose="020B0604020202020204" pitchFamily="34" charset="0"/>
                        </a:rPr>
                        <a:t>7</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8</a:t>
                      </a:r>
                    </a:p>
                  </a:txBody>
                  <a:tcPr anchor="ctr"/>
                </a:tc>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a:t>
                      </a: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295A70AF-74D3-83FD-316B-1340402168FB}"/>
              </a:ext>
            </a:extLst>
          </p:cNvPr>
          <p:cNvSpPr txBox="1"/>
          <p:nvPr/>
        </p:nvSpPr>
        <p:spPr>
          <a:xfrm rot="19668260">
            <a:off x="6222176" y="229348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0179EC3-3A84-704A-CB75-A9DCAF537D37}"/>
              </a:ext>
            </a:extLst>
          </p:cNvPr>
          <p:cNvSpPr txBox="1"/>
          <p:nvPr/>
        </p:nvSpPr>
        <p:spPr>
          <a:xfrm>
            <a:off x="6348353" y="3284984"/>
            <a:ext cx="579631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fedex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dhl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ups)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'FedEx'</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FedEx,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'DHL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DHL,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'UPS</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UPS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a:t>
            </a:r>
          </a:p>
        </p:txBody>
      </p:sp>
      <p:sp>
        <p:nvSpPr>
          <p:cNvPr id="13" name="TextBox 12">
            <a:extLst>
              <a:ext uri="{FF2B5EF4-FFF2-40B4-BE49-F238E27FC236}">
                <a16:creationId xmlns:a16="http://schemas.microsoft.com/office/drawing/2014/main" id="{AD69CB52-6766-5948-2438-6A2C9E5E3CC2}"/>
              </a:ext>
            </a:extLst>
          </p:cNvPr>
          <p:cNvSpPr txBox="1"/>
          <p:nvPr/>
        </p:nvSpPr>
        <p:spPr>
          <a:xfrm>
            <a:off x="7644496"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049740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9CD6E-0E1B-CB40-9BA4-A6B511E25E2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058C890-589A-51E2-4FF7-66BFE6F088E7}"/>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F84B2D23-944B-84AB-29DE-B555F2198777}"/>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3B6ADFA-5FC2-287E-5B65-3715135488EE}"/>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20" name="TextBox 19">
            <a:extLst>
              <a:ext uri="{FF2B5EF4-FFF2-40B4-BE49-F238E27FC236}">
                <a16:creationId xmlns:a16="http://schemas.microsoft.com/office/drawing/2014/main" id="{18CF8D9C-E60F-57F9-01A5-89D0F07DDE90}"/>
              </a:ext>
            </a:extLst>
          </p:cNvPr>
          <p:cNvSpPr txBox="1"/>
          <p:nvPr/>
        </p:nvSpPr>
        <p:spPr>
          <a:xfrm>
            <a:off x="292696" y="580618"/>
            <a:ext cx="659539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A</a:t>
            </a:r>
            <a:r>
              <a:rPr lang="en-IN" dirty="0"/>
              <a:t>assignment’s </a:t>
            </a:r>
            <a:r>
              <a:rPr lang="en-IN" dirty="0">
                <a:latin typeface="Work Sans" pitchFamily="2" charset="0"/>
                <a:cs typeface="Times New Roman" panose="02020603050405020304" pitchFamily="18" charset="0"/>
                <a:sym typeface="Wingdings 3" panose="05040102010807070707" pitchFamily="18" charset="2"/>
              </a:rPr>
              <a:t></a:t>
            </a:r>
            <a:r>
              <a:rPr lang="en-IN" dirty="0"/>
              <a:t> Try-it</a:t>
            </a:r>
          </a:p>
        </p:txBody>
      </p:sp>
      <p:graphicFrame>
        <p:nvGraphicFramePr>
          <p:cNvPr id="21" name="Table 2">
            <a:extLst>
              <a:ext uri="{FF2B5EF4-FFF2-40B4-BE49-F238E27FC236}">
                <a16:creationId xmlns:a16="http://schemas.microsoft.com/office/drawing/2014/main" id="{D5B8B7B0-0A13-6CC8-55D8-E86AE8E84853}"/>
              </a:ext>
            </a:extLst>
          </p:cNvPr>
          <p:cNvGraphicFramePr>
            <a:graphicFrameLocks noGrp="1"/>
          </p:cNvGraphicFramePr>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sp>
        <p:nvSpPr>
          <p:cNvPr id="6" name="TextBox 5">
            <a:extLst>
              <a:ext uri="{FF2B5EF4-FFF2-40B4-BE49-F238E27FC236}">
                <a16:creationId xmlns:a16="http://schemas.microsoft.com/office/drawing/2014/main" id="{8FE13341-BA23-D529-62FA-139141241715}"/>
              </a:ext>
            </a:extLst>
          </p:cNvPr>
          <p:cNvSpPr txBox="1"/>
          <p:nvPr/>
        </p:nvSpPr>
        <p:spPr>
          <a:xfrm>
            <a:off x="6528048" y="1556792"/>
            <a:ext cx="5472608" cy="384720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dispatched shipments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delivered vs. pending</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Track shipments scheduled for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Combine with other carriers using UNION ALL</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Check All Delayed Shipments</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Shipments Scheduled for Delivery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of Shipments by Status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Total Shipments Per Day</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Latest Shipment Record</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List All Pending Shipments</a:t>
            </a:r>
          </a:p>
        </p:txBody>
      </p:sp>
      <p:sp>
        <p:nvSpPr>
          <p:cNvPr id="3" name="TextBox 2">
            <a:extLst>
              <a:ext uri="{FF2B5EF4-FFF2-40B4-BE49-F238E27FC236}">
                <a16:creationId xmlns:a16="http://schemas.microsoft.com/office/drawing/2014/main" id="{8A5F183D-4687-E6BF-30D2-376F840CF1A6}"/>
              </a:ext>
            </a:extLst>
          </p:cNvPr>
          <p:cNvSpPr txBox="1"/>
          <p:nvPr/>
        </p:nvSpPr>
        <p:spPr>
          <a:xfrm>
            <a:off x="191344" y="54452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spTree>
    <p:extLst>
      <p:ext uri="{BB962C8B-B14F-4D97-AF65-F5344CB8AC3E}">
        <p14:creationId xmlns:p14="http://schemas.microsoft.com/office/powerpoint/2010/main" val="3964778179"/>
      </p:ext>
    </p:extLst>
  </p:cSld>
  <p:clrMapOvr>
    <a:masterClrMapping/>
  </p:clrMapOvr>
</p:sld>
</file>

<file path=ppt/slides/slide6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F249C-34D6-5C25-1968-19482BBA3410}"/>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5056257-38BB-B847-7CA4-0BA16F867E2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6C509477-3021-C526-AFB9-17A512823B76}"/>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EE194AAF-1A24-5EFB-6B56-B8191044F9DA}"/>
              </a:ext>
            </a:extLst>
          </p:cNvPr>
          <p:cNvSpPr txBox="1"/>
          <p:nvPr/>
        </p:nvSpPr>
        <p:spPr>
          <a:xfrm>
            <a:off x="286520" y="446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grpSp>
        <p:nvGrpSpPr>
          <p:cNvPr id="12" name="Group 11">
            <a:extLst>
              <a:ext uri="{FF2B5EF4-FFF2-40B4-BE49-F238E27FC236}">
                <a16:creationId xmlns:a16="http://schemas.microsoft.com/office/drawing/2014/main" id="{C6C94590-704E-443D-2E5D-F92CF3D5BD31}"/>
              </a:ext>
            </a:extLst>
          </p:cNvPr>
          <p:cNvGrpSpPr/>
          <p:nvPr/>
        </p:nvGrpSpPr>
        <p:grpSpPr>
          <a:xfrm>
            <a:off x="119336" y="1268760"/>
            <a:ext cx="11953328" cy="5472608"/>
            <a:chOff x="119336" y="1268760"/>
            <a:chExt cx="11953328" cy="5472608"/>
          </a:xfrm>
        </p:grpSpPr>
        <p:sp>
          <p:nvSpPr>
            <p:cNvPr id="6" name="TextBox 5">
              <a:extLst>
                <a:ext uri="{FF2B5EF4-FFF2-40B4-BE49-F238E27FC236}">
                  <a16:creationId xmlns:a16="http://schemas.microsoft.com/office/drawing/2014/main" id="{B3AA7ED5-C9D8-C9A2-DF42-1ECF49A4D92E}"/>
                </a:ext>
              </a:extLst>
            </p:cNvPr>
            <p:cNvSpPr txBox="1"/>
            <p:nvPr/>
          </p:nvSpPr>
          <p:spPr>
            <a:xfrm>
              <a:off x="119336" y="1268760"/>
              <a:ext cx="11953328" cy="3816429"/>
            </a:xfrm>
            <a:prstGeom prst="rect">
              <a:avLst/>
            </a:prstGeom>
            <a:noFill/>
          </p:spPr>
          <p:txBody>
            <a:bodyPr wrap="square">
              <a:spAutoFit/>
            </a:bodyPr>
            <a:lstStyle/>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'Dispatched’</a:t>
              </a:r>
              <a:r>
                <a:rPr lang="en-US" dirty="0">
                  <a:latin typeface="Liberation Mono"/>
                </a:rPr>
                <a:t>;</a:t>
              </a:r>
            </a:p>
            <a:p>
              <a:pPr marL="342900" indent="-342900">
                <a:buFont typeface="+mj-lt"/>
                <a:buAutoNum type="arabicPeriod"/>
              </a:pPr>
              <a:endParaRPr lang="en-US" sz="4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status,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'DHL'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chemeClr val="accent4">
                      <a:lumMod val="50000"/>
                    </a:schemeClr>
                  </a:solidFill>
                  <a:latin typeface="Liberation Mono"/>
                </a:rPr>
                <a:t>IN</a:t>
              </a:r>
              <a:r>
                <a:rPr lang="en-US" dirty="0">
                  <a:latin typeface="Liberation Mono"/>
                </a:rPr>
                <a:t> (</a:t>
              </a:r>
              <a:r>
                <a:rPr lang="en-US" dirty="0">
                  <a:solidFill>
                    <a:srgbClr val="00B050"/>
                  </a:solidFill>
                  <a:latin typeface="Liberation Mono"/>
                </a:rPr>
                <a:t>'Delivered', 'Pending'</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status;</a:t>
              </a: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sz="400" dirty="0">
                <a:solidFill>
                  <a:srgbClr val="0077AA"/>
                </a:solidFill>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t1 </a:t>
              </a:r>
              <a:r>
                <a:rPr lang="en-US" dirty="0">
                  <a:solidFill>
                    <a:srgbClr val="0077AA"/>
                  </a:solidFill>
                  <a:latin typeface="Liberation Mono"/>
                </a:rPr>
                <a:t>WHERE</a:t>
              </a:r>
              <a:r>
                <a:rPr lang="en-US" dirty="0">
                  <a:latin typeface="Liberation Mono"/>
                </a:rPr>
                <a:t> delivery_date = </a:t>
              </a:r>
              <a:r>
                <a:rPr lang="en-US" dirty="0">
                  <a:solidFill>
                    <a:srgbClr val="00B050"/>
                  </a:solidFill>
                  <a:latin typeface="Liberation Mono"/>
                </a:rPr>
                <a:t>'2025-07-07’</a:t>
              </a:r>
              <a:r>
                <a:rPr lang="en-US" dirty="0">
                  <a:latin typeface="Liberation Mono"/>
                </a:rPr>
                <a:t>;</a:t>
              </a:r>
            </a:p>
          </p:txBody>
        </p:sp>
        <p:pic>
          <p:nvPicPr>
            <p:cNvPr id="9" name="Picture 8">
              <a:extLst>
                <a:ext uri="{FF2B5EF4-FFF2-40B4-BE49-F238E27FC236}">
                  <a16:creationId xmlns:a16="http://schemas.microsoft.com/office/drawing/2014/main" id="{C6A02B71-96ED-5BC8-3557-BF58D0FBB809}"/>
                </a:ext>
              </a:extLst>
            </p:cNvPr>
            <p:cNvPicPr>
              <a:picLocks noChangeAspect="1"/>
            </p:cNvPicPr>
            <p:nvPr/>
          </p:nvPicPr>
          <p:blipFill>
            <a:blip r:embed="rId2"/>
            <a:stretch>
              <a:fillRect/>
            </a:stretch>
          </p:blipFill>
          <p:spPr>
            <a:xfrm>
              <a:off x="286520" y="2852936"/>
              <a:ext cx="4496427" cy="1457528"/>
            </a:xfrm>
            <a:prstGeom prst="rect">
              <a:avLst/>
            </a:prstGeom>
          </p:spPr>
        </p:pic>
        <p:pic>
          <p:nvPicPr>
            <p:cNvPr id="11" name="Picture 10">
              <a:extLst>
                <a:ext uri="{FF2B5EF4-FFF2-40B4-BE49-F238E27FC236}">
                  <a16:creationId xmlns:a16="http://schemas.microsoft.com/office/drawing/2014/main" id="{2DE00641-CA7E-8210-B77B-882A63FC1513}"/>
                </a:ext>
              </a:extLst>
            </p:cNvPr>
            <p:cNvPicPr>
              <a:picLocks noChangeAspect="1"/>
            </p:cNvPicPr>
            <p:nvPr/>
          </p:nvPicPr>
          <p:blipFill>
            <a:blip r:embed="rId3"/>
            <a:stretch>
              <a:fillRect/>
            </a:stretch>
          </p:blipFill>
          <p:spPr>
            <a:xfrm>
              <a:off x="286520" y="5055208"/>
              <a:ext cx="8049748" cy="1686160"/>
            </a:xfrm>
            <a:prstGeom prst="rect">
              <a:avLst/>
            </a:prstGeom>
          </p:spPr>
        </p:pic>
      </p:grpSp>
    </p:spTree>
    <p:extLst>
      <p:ext uri="{BB962C8B-B14F-4D97-AF65-F5344CB8AC3E}">
        <p14:creationId xmlns:p14="http://schemas.microsoft.com/office/powerpoint/2010/main" val="85726535"/>
      </p:ext>
    </p:extLst>
  </p:cSld>
  <p:clrMapOvr>
    <a:masterClrMapping/>
  </p:clrMapOvr>
</p:sld>
</file>

<file path=ppt/slides/slide6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C1D1B3DF-420B-330D-FE47-C1D782443B6C}"/>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CDF979D4-6075-3CF2-13E2-2638C3AC0ACE}"/>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A95FA86B-097C-FF60-3891-ADAA76D78D83}"/>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8EF3F3E-DE7C-A265-FFDD-D84D8661574A}"/>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graphicFrame>
        <p:nvGraphicFramePr>
          <p:cNvPr id="13" name="Table 2">
            <a:extLst>
              <a:ext uri="{FF2B5EF4-FFF2-40B4-BE49-F238E27FC236}">
                <a16:creationId xmlns:a16="http://schemas.microsoft.com/office/drawing/2014/main" id="{139589E4-597D-EB8C-473D-354B6D8EB583}"/>
              </a:ext>
            </a:extLst>
          </p:cNvPr>
          <p:cNvGraphicFramePr>
            <a:graphicFrameLocks noGrp="1"/>
          </p:cNvGraphicFramePr>
          <p:nvPr>
            <p:extLst>
              <p:ext uri="{D42A27DB-BD31-4B8C-83A1-F6EECF244321}">
                <p14:modId xmlns:p14="http://schemas.microsoft.com/office/powerpoint/2010/main" val="791008446"/>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CD89A2FD-F45C-B533-7F9E-8580B596BF36}"/>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29EFD3F-74CC-16B5-688E-9CBB8344B088}"/>
              </a:ext>
            </a:extLst>
          </p:cNvPr>
          <p:cNvGraphicFramePr>
            <a:graphicFrameLocks noGrp="1"/>
          </p:cNvGraphicFramePr>
          <p:nvPr>
            <p:extLst>
              <p:ext uri="{D42A27DB-BD31-4B8C-83A1-F6EECF244321}">
                <p14:modId xmlns:p14="http://schemas.microsoft.com/office/powerpoint/2010/main" val="3416898186"/>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29900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01964D1D-ECA4-4500-D09B-898807E1CEDC}"/>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13AB3741-4CF1-4932-F26F-CD101783D3BE}"/>
              </a:ext>
            </a:extLst>
          </p:cNvPr>
          <p:cNvSpPr/>
          <p:nvPr/>
        </p:nvSpPr>
        <p:spPr>
          <a:xfrm>
            <a:off x="4541168" y="4787860"/>
            <a:ext cx="5400152" cy="369332"/>
          </a:xfrm>
          <a:prstGeom prst="rect">
            <a:avLst/>
          </a:prstGeom>
          <a:solidFill>
            <a:schemeClr val="accent5">
              <a:lumMod val="60000"/>
              <a:lumOff val="40000"/>
            </a:schemeClr>
          </a:solidFill>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BFB9DB83-6127-B479-B649-B0B4510D05C2}"/>
              </a:ext>
            </a:extLst>
          </p:cNvPr>
          <p:cNvSpPr txBox="1"/>
          <p:nvPr/>
        </p:nvSpPr>
        <p:spPr>
          <a:xfrm>
            <a:off x="292696" y="580618"/>
            <a:ext cx="3859088"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Payments from Two Sources</a:t>
            </a:r>
          </a:p>
        </p:txBody>
      </p:sp>
      <p:graphicFrame>
        <p:nvGraphicFramePr>
          <p:cNvPr id="21" name="Table 2">
            <a:extLst>
              <a:ext uri="{FF2B5EF4-FFF2-40B4-BE49-F238E27FC236}">
                <a16:creationId xmlns:a16="http://schemas.microsoft.com/office/drawing/2014/main" id="{34206AAF-E8AA-FF1E-D6C8-1EDC05716DF3}"/>
              </a:ext>
            </a:extLst>
          </p:cNvPr>
          <p:cNvGraphicFramePr>
            <a:graphicFrameLocks noGrp="1"/>
          </p:cNvGraphicFramePr>
          <p:nvPr>
            <p:extLst>
              <p:ext uri="{D42A27DB-BD31-4B8C-83A1-F6EECF244321}">
                <p14:modId xmlns:p14="http://schemas.microsoft.com/office/powerpoint/2010/main" val="1525125552"/>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83147C9B-F2AA-099B-D608-FDBC26B765BE}"/>
              </a:ext>
            </a:extLst>
          </p:cNvPr>
          <p:cNvGraphicFramePr>
            <a:graphicFrameLocks noGrp="1"/>
          </p:cNvGraphicFramePr>
          <p:nvPr>
            <p:extLst>
              <p:ext uri="{D42A27DB-BD31-4B8C-83A1-F6EECF244321}">
                <p14:modId xmlns:p14="http://schemas.microsoft.com/office/powerpoint/2010/main" val="4187626635"/>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47100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15790379-2886-42C4-1300-417688A99496}"/>
              </a:ext>
            </a:extLst>
          </p:cNvPr>
          <p:cNvSpPr txBox="1"/>
          <p:nvPr/>
        </p:nvSpPr>
        <p:spPr>
          <a:xfrm>
            <a:off x="9603058" y="1052736"/>
            <a:ext cx="2296246" cy="400110"/>
          </a:xfrm>
          <a:prstGeom prst="rect">
            <a:avLst/>
          </a:prstGeom>
          <a:noFill/>
        </p:spPr>
        <p:txBody>
          <a:bodyPr wrap="square">
            <a:spAutoFit/>
          </a:bodyPr>
          <a:lstStyle/>
          <a:p>
            <a:r>
              <a:rPr lang="en-IN" sz="2000" b="1" dirty="0">
                <a:latin typeface="Liberation Mono"/>
              </a:rPr>
              <a:t>Output with UNION</a:t>
            </a:r>
            <a:endParaRPr lang="en-IN" sz="2000" b="1" dirty="0"/>
          </a:p>
        </p:txBody>
      </p:sp>
      <p:sp>
        <p:nvSpPr>
          <p:cNvPr id="26" name="TextBox 25">
            <a:extLst>
              <a:ext uri="{FF2B5EF4-FFF2-40B4-BE49-F238E27FC236}">
                <a16:creationId xmlns:a16="http://schemas.microsoft.com/office/drawing/2014/main" id="{F72DD159-A598-5E67-BF8B-967FAC407FD2}"/>
              </a:ext>
            </a:extLst>
          </p:cNvPr>
          <p:cNvSpPr txBox="1"/>
          <p:nvPr/>
        </p:nvSpPr>
        <p:spPr>
          <a:xfrm>
            <a:off x="9433705" y="2812866"/>
            <a:ext cx="2758295" cy="400110"/>
          </a:xfrm>
          <a:prstGeom prst="rect">
            <a:avLst/>
          </a:prstGeom>
          <a:noFill/>
        </p:spPr>
        <p:txBody>
          <a:bodyPr wrap="square">
            <a:spAutoFit/>
          </a:bodyPr>
          <a:lstStyle/>
          <a:p>
            <a:r>
              <a:rPr lang="en-IN" sz="2000" b="1" dirty="0">
                <a:latin typeface="Liberation Mono"/>
              </a:rPr>
              <a:t>Output with UNION ALL</a:t>
            </a:r>
            <a:endParaRPr lang="en-IN" sz="2000" b="1" dirty="0"/>
          </a:p>
        </p:txBody>
      </p:sp>
      <p:sp>
        <p:nvSpPr>
          <p:cNvPr id="27" name="TextBox 26">
            <a:extLst>
              <a:ext uri="{FF2B5EF4-FFF2-40B4-BE49-F238E27FC236}">
                <a16:creationId xmlns:a16="http://schemas.microsoft.com/office/drawing/2014/main" id="{F985481E-2924-1A14-407E-99F3F452E3B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456409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1A7C5-5E6B-344D-3763-818EFDCFF87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34BCE91-1418-B98A-81A0-DC3618BF22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a:t>
            </a:r>
          </a:p>
        </p:txBody>
      </p:sp>
      <p:sp>
        <p:nvSpPr>
          <p:cNvPr id="3" name="TextBox 2">
            <a:extLst>
              <a:ext uri="{FF2B5EF4-FFF2-40B4-BE49-F238E27FC236}">
                <a16:creationId xmlns:a16="http://schemas.microsoft.com/office/drawing/2014/main" id="{FC613155-FDBD-401F-D59F-8156C6552C39}"/>
              </a:ext>
            </a:extLst>
          </p:cNvPr>
          <p:cNvSpPr txBox="1"/>
          <p:nvPr/>
        </p:nvSpPr>
        <p:spPr>
          <a:xfrm>
            <a:off x="119336" y="4039904"/>
            <a:ext cx="1189899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'Matching in both table' </a:t>
            </a:r>
            <a:r>
              <a:rPr lang="en-IN" dirty="0">
                <a:solidFill>
                  <a:srgbClr val="DB7BC9"/>
                </a:solidFill>
                <a:latin typeface="Liberation Mono"/>
              </a:rPr>
              <a:t>WHEN</a:t>
            </a:r>
            <a:r>
              <a:rPr lang="en-IN" dirty="0">
                <a:latin typeface="Liberation Mono"/>
              </a:rPr>
              <a:t> tid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source table'</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target table'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&lt;&gt;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'Mismatch Cities'</a:t>
            </a:r>
            <a:r>
              <a:rPr lang="en-IN" dirty="0">
                <a:latin typeface="Liberation Mono"/>
              </a:rPr>
              <a:t> </a:t>
            </a:r>
            <a:r>
              <a:rPr lang="en-IN" dirty="0">
                <a:solidFill>
                  <a:srgbClr val="DB7BC9"/>
                </a:solidFill>
                <a:latin typeface="Liberation Mono"/>
              </a:rPr>
              <a:t>END</a:t>
            </a:r>
            <a:r>
              <a:rPr lang="en-IN" dirty="0">
                <a:latin typeface="Liberation Mono"/>
              </a:rPr>
              <a:t> Output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a:t>
            </a:r>
            <a:r>
              <a:rPr lang="en-IN" i="1" dirty="0">
                <a:solidFill>
                  <a:schemeClr val="bg1">
                    <a:lumMod val="50000"/>
                  </a:schemeClr>
                </a:solidFill>
                <a:latin typeface="Liberation Mono"/>
              </a:rPr>
              <a:t>S</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 JOIN </a:t>
            </a:r>
            <a:r>
              <a:rPr lang="en-IN" dirty="0">
                <a:latin typeface="Liberation Mono"/>
              </a:rPr>
              <a:t>targetCity </a:t>
            </a:r>
            <a:r>
              <a:rPr lang="en-IN" i="1" dirty="0">
                <a:solidFill>
                  <a:schemeClr val="bg1">
                    <a:lumMod val="50000"/>
                  </a:schemeClr>
                </a:solidFill>
                <a:latin typeface="Liberation Mono"/>
              </a:rPr>
              <a:t>T</a:t>
            </a:r>
            <a:r>
              <a:rPr lang="en-IN" dirty="0">
                <a:latin typeface="Liberation Mono"/>
              </a:rPr>
              <a:t> </a:t>
            </a:r>
            <a:r>
              <a:rPr lang="en-IN" dirty="0">
                <a:solidFill>
                  <a:srgbClr val="0077AA"/>
                </a:solidFill>
                <a:latin typeface="Liberation Mono"/>
              </a:rPr>
              <a:t>ON</a:t>
            </a:r>
            <a:r>
              <a:rPr lang="en-IN" dirty="0">
                <a:latin typeface="Liberation Mono"/>
              </a:rPr>
              <a:t> s.id </a:t>
            </a:r>
            <a:r>
              <a:rPr lang="en-IN" dirty="0">
                <a:solidFill>
                  <a:schemeClr val="accent5">
                    <a:lumMod val="75000"/>
                  </a:schemeClr>
                </a:solidFill>
                <a:latin typeface="Liberation Mono"/>
              </a:rPr>
              <a:t>= </a:t>
            </a:r>
            <a:r>
              <a:rPr lang="en-IN" dirty="0">
                <a:latin typeface="Liberation Mono"/>
              </a:rPr>
              <a:t>t.id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s </a:t>
            </a:r>
            <a:r>
              <a:rPr lang="en-IN" dirty="0">
                <a:solidFill>
                  <a:schemeClr val="accent5">
                    <a:lumMod val="75000"/>
                  </a:schemeClr>
                </a:solidFill>
                <a:latin typeface="Liberation Mono"/>
                <a:cs typeface="Arial" panose="020B0604020202020204" pitchFamily="34" charset="0"/>
              </a:rPr>
              <a:t>RIGHT OUTER JOIN </a:t>
            </a:r>
            <a:r>
              <a:rPr lang="en-IN" dirty="0">
                <a:latin typeface="Liberation Mono"/>
              </a:rPr>
              <a:t>targetCity t on s.id </a:t>
            </a:r>
            <a:r>
              <a:rPr lang="en-IN" dirty="0">
                <a:solidFill>
                  <a:schemeClr val="accent5">
                    <a:lumMod val="75000"/>
                  </a:schemeClr>
                </a:solidFill>
                <a:latin typeface="Liberation Mono"/>
              </a:rPr>
              <a:t>= </a:t>
            </a:r>
            <a:r>
              <a:rPr lang="en-IN" dirty="0">
                <a:latin typeface="Liberation Mono"/>
              </a:rPr>
              <a:t>t.id) T1;</a:t>
            </a:r>
          </a:p>
        </p:txBody>
      </p:sp>
      <p:graphicFrame>
        <p:nvGraphicFramePr>
          <p:cNvPr id="4" name="Table 2">
            <a:extLst>
              <a:ext uri="{FF2B5EF4-FFF2-40B4-BE49-F238E27FC236}">
                <a16:creationId xmlns:a16="http://schemas.microsoft.com/office/drawing/2014/main" id="{B0BEB31E-9819-555C-1EEA-4BB076AE1FC1}"/>
              </a:ext>
            </a:extLst>
          </p:cNvPr>
          <p:cNvGraphicFramePr>
            <a:graphicFrameLocks noGrp="1"/>
          </p:cNvGraphicFramePr>
          <p:nvPr/>
        </p:nvGraphicFramePr>
        <p:xfrm>
          <a:off x="119338" y="1256341"/>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33CA5B9B-7761-63F3-95CE-E4269898C161}"/>
              </a:ext>
            </a:extLst>
          </p:cNvPr>
          <p:cNvSpPr txBox="1"/>
          <p:nvPr/>
        </p:nvSpPr>
        <p:spPr>
          <a:xfrm>
            <a:off x="3661073" y="322894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B916E173-6492-2F43-8C68-268B4B28D5BC}"/>
              </a:ext>
            </a:extLst>
          </p:cNvPr>
          <p:cNvSpPr txBox="1"/>
          <p:nvPr/>
        </p:nvSpPr>
        <p:spPr>
          <a:xfrm>
            <a:off x="119336" y="777015"/>
            <a:ext cx="2160109" cy="400110"/>
          </a:xfrm>
          <a:prstGeom prst="rect">
            <a:avLst/>
          </a:prstGeom>
          <a:noFill/>
        </p:spPr>
        <p:txBody>
          <a:bodyPr wrap="square">
            <a:spAutoFit/>
          </a:bodyPr>
          <a:lstStyle/>
          <a:p>
            <a:r>
              <a:rPr lang="en-IN" sz="2000" b="1" dirty="0">
                <a:latin typeface="Liberation Mono"/>
              </a:rPr>
              <a:t>Table:- sourceCity</a:t>
            </a:r>
            <a:endParaRPr lang="en-IN" sz="2000" b="1" dirty="0"/>
          </a:p>
        </p:txBody>
      </p:sp>
      <p:sp>
        <p:nvSpPr>
          <p:cNvPr id="9" name="TextBox 8">
            <a:extLst>
              <a:ext uri="{FF2B5EF4-FFF2-40B4-BE49-F238E27FC236}">
                <a16:creationId xmlns:a16="http://schemas.microsoft.com/office/drawing/2014/main" id="{A764831C-A6F2-532D-E425-8B8C845BBC7A}"/>
              </a:ext>
            </a:extLst>
          </p:cNvPr>
          <p:cNvSpPr txBox="1"/>
          <p:nvPr/>
        </p:nvSpPr>
        <p:spPr>
          <a:xfrm>
            <a:off x="5029225" y="777015"/>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0" name="Table 2">
            <a:extLst>
              <a:ext uri="{FF2B5EF4-FFF2-40B4-BE49-F238E27FC236}">
                <a16:creationId xmlns:a16="http://schemas.microsoft.com/office/drawing/2014/main" id="{9EBB7F2C-3C7C-D37F-A3CC-4666C4BE343B}"/>
              </a:ext>
            </a:extLst>
          </p:cNvPr>
          <p:cNvGraphicFramePr>
            <a:graphicFrameLocks noGrp="1"/>
          </p:cNvGraphicFramePr>
          <p:nvPr/>
        </p:nvGraphicFramePr>
        <p:xfrm>
          <a:off x="2510274" y="1256341"/>
          <a:ext cx="1965500" cy="1854200"/>
        </p:xfrm>
        <a:graphic>
          <a:graphicData uri="http://schemas.openxmlformats.org/drawingml/2006/table">
            <a:tbl>
              <a:tblPr firstRow="1" bandRow="1">
                <a:tableStyleId>{5940675A-B579-460E-94D1-54222C63F5DA}</a:tableStyleId>
              </a:tblPr>
              <a:tblGrid>
                <a:gridCol w="597500">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5</a:t>
                      </a: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621527498"/>
                  </a:ext>
                </a:extLst>
              </a:tr>
            </a:tbl>
          </a:graphicData>
        </a:graphic>
      </p:graphicFrame>
      <p:sp>
        <p:nvSpPr>
          <p:cNvPr id="11" name="TextBox 10">
            <a:extLst>
              <a:ext uri="{FF2B5EF4-FFF2-40B4-BE49-F238E27FC236}">
                <a16:creationId xmlns:a16="http://schemas.microsoft.com/office/drawing/2014/main" id="{FA3FA8E4-4FB1-FC06-DFDC-B0EC216BF0D5}"/>
              </a:ext>
            </a:extLst>
          </p:cNvPr>
          <p:cNvSpPr txBox="1"/>
          <p:nvPr/>
        </p:nvSpPr>
        <p:spPr>
          <a:xfrm>
            <a:off x="2510272" y="777015"/>
            <a:ext cx="2078996" cy="400110"/>
          </a:xfrm>
          <a:prstGeom prst="rect">
            <a:avLst/>
          </a:prstGeom>
          <a:noFill/>
        </p:spPr>
        <p:txBody>
          <a:bodyPr wrap="square">
            <a:spAutoFit/>
          </a:bodyPr>
          <a:lstStyle/>
          <a:p>
            <a:r>
              <a:rPr lang="en-IN" sz="2000" b="1" dirty="0">
                <a:latin typeface="Liberation Mono"/>
              </a:rPr>
              <a:t>Table:- targetCity</a:t>
            </a:r>
            <a:endParaRPr lang="en-IN" sz="2000" b="1" dirty="0"/>
          </a:p>
        </p:txBody>
      </p:sp>
      <p:graphicFrame>
        <p:nvGraphicFramePr>
          <p:cNvPr id="12" name="Table 2">
            <a:extLst>
              <a:ext uri="{FF2B5EF4-FFF2-40B4-BE49-F238E27FC236}">
                <a16:creationId xmlns:a16="http://schemas.microsoft.com/office/drawing/2014/main" id="{0ACF30B6-DB8F-B8D5-388A-90188F1A7DA4}"/>
              </a:ext>
            </a:extLst>
          </p:cNvPr>
          <p:cNvGraphicFramePr>
            <a:graphicFrameLocks noGrp="1"/>
          </p:cNvGraphicFramePr>
          <p:nvPr>
            <p:extLst>
              <p:ext uri="{D42A27DB-BD31-4B8C-83A1-F6EECF244321}">
                <p14:modId xmlns:p14="http://schemas.microsoft.com/office/powerpoint/2010/main" val="3321476367"/>
              </p:ext>
            </p:extLst>
          </p:nvPr>
        </p:nvGraphicFramePr>
        <p:xfrm>
          <a:off x="5007082" y="1256341"/>
          <a:ext cx="6936386" cy="2225040"/>
        </p:xfrm>
        <a:graphic>
          <a:graphicData uri="http://schemas.openxmlformats.org/drawingml/2006/table">
            <a:tbl>
              <a:tblPr firstRow="1" bandRow="1">
                <a:tableStyleId>{5940675A-B579-460E-94D1-54222C63F5DA}</a:tableStyleId>
              </a:tblPr>
              <a:tblGrid>
                <a:gridCol w="816978">
                  <a:extLst>
                    <a:ext uri="{9D8B030D-6E8A-4147-A177-3AD203B41FA5}">
                      <a16:colId xmlns:a16="http://schemas.microsoft.com/office/drawing/2014/main" val="928063234"/>
                    </a:ext>
                  </a:extLst>
                </a:gridCol>
                <a:gridCol w="1411392">
                  <a:extLst>
                    <a:ext uri="{9D8B030D-6E8A-4147-A177-3AD203B41FA5}">
                      <a16:colId xmlns:a16="http://schemas.microsoft.com/office/drawing/2014/main" val="2965238667"/>
                    </a:ext>
                  </a:extLst>
                </a:gridCol>
                <a:gridCol w="817200">
                  <a:extLst>
                    <a:ext uri="{9D8B030D-6E8A-4147-A177-3AD203B41FA5}">
                      <a16:colId xmlns:a16="http://schemas.microsoft.com/office/drawing/2014/main" val="3015362175"/>
                    </a:ext>
                  </a:extLst>
                </a:gridCol>
                <a:gridCol w="1411145">
                  <a:extLst>
                    <a:ext uri="{9D8B030D-6E8A-4147-A177-3AD203B41FA5}">
                      <a16:colId xmlns:a16="http://schemas.microsoft.com/office/drawing/2014/main" val="2167858134"/>
                    </a:ext>
                  </a:extLst>
                </a:gridCol>
                <a:gridCol w="2479671">
                  <a:extLst>
                    <a:ext uri="{9D8B030D-6E8A-4147-A177-3AD203B41FA5}">
                      <a16:colId xmlns:a16="http://schemas.microsoft.com/office/drawing/2014/main" val="1840253131"/>
                    </a:ext>
                  </a:extLst>
                </a:gridCol>
              </a:tblGrid>
              <a:tr h="370840">
                <a:tc>
                  <a:txBody>
                    <a:bodyPr/>
                    <a:lstStyle/>
                    <a:p>
                      <a:pPr algn="ctr"/>
                      <a:r>
                        <a:rPr lang="en-US" dirty="0">
                          <a:latin typeface="Arial" panose="020B0604020202020204" pitchFamily="34" charset="0"/>
                          <a:cs typeface="Arial" panose="020B0604020202020204" pitchFamily="34" charset="0"/>
                        </a:rPr>
                        <a:t>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New in source table</a:t>
                      </a: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tc>
                  <a:txBody>
                    <a:bodyPr/>
                    <a:lstStyle/>
                    <a:p>
                      <a:r>
                        <a:rPr lang="en-IN" dirty="0">
                          <a:solidFill>
                            <a:srgbClr val="7D2170"/>
                          </a:solidFill>
                          <a:latin typeface="Arial" panose="020B0604020202020204" pitchFamily="34" charset="0"/>
                          <a:cs typeface="Arial" panose="020B0604020202020204" pitchFamily="34" charset="0"/>
                        </a:rPr>
                        <a:t>Mismatch Cities</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tc>
                  <a:txBody>
                    <a:bodyPr/>
                    <a:lstStyle/>
                    <a:p>
                      <a:r>
                        <a:rPr lang="en-IN" dirty="0">
                          <a:solidFill>
                            <a:srgbClr val="7D2170"/>
                          </a:solidFill>
                          <a:latin typeface="Arial" panose="020B0604020202020204" pitchFamily="34" charset="0"/>
                          <a:cs typeface="Arial" panose="020B0604020202020204" pitchFamily="34" charset="0"/>
                        </a:rPr>
                        <a:t>New in target table</a:t>
                      </a:r>
                    </a:p>
                  </a:txBody>
                  <a:tcPr/>
                </a:tc>
                <a:extLst>
                  <a:ext uri="{0D108BD9-81ED-4DB2-BD59-A6C34878D82A}">
                    <a16:rowId xmlns:a16="http://schemas.microsoft.com/office/drawing/2014/main" val="2739783659"/>
                  </a:ext>
                </a:extLst>
              </a:tr>
            </a:tbl>
          </a:graphicData>
        </a:graphic>
      </p:graphicFrame>
      <p:sp>
        <p:nvSpPr>
          <p:cNvPr id="5" name="TextBox 4">
            <a:extLst>
              <a:ext uri="{FF2B5EF4-FFF2-40B4-BE49-F238E27FC236}">
                <a16:creationId xmlns:a16="http://schemas.microsoft.com/office/drawing/2014/main" id="{5965FA34-26BD-7F6C-7254-D3D2F744E099}"/>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7986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9CA6A-B7F5-B613-4143-27BAEEC5210B}"/>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92C088BB-2E1E-288A-CF60-109BE8948490}"/>
              </a:ext>
            </a:extLst>
          </p:cNvPr>
          <p:cNvGraphicFramePr>
            <a:graphicFrameLocks noGrp="1"/>
          </p:cNvGraphicFramePr>
          <p:nvPr>
            <p:extLst>
              <p:ext uri="{D42A27DB-BD31-4B8C-83A1-F6EECF244321}">
                <p14:modId xmlns:p14="http://schemas.microsoft.com/office/powerpoint/2010/main" val="802506080"/>
              </p:ext>
            </p:extLst>
          </p:nvPr>
        </p:nvGraphicFramePr>
        <p:xfrm>
          <a:off x="1942904" y="227552"/>
          <a:ext cx="10081117" cy="2966720"/>
        </p:xfrm>
        <a:graphic>
          <a:graphicData uri="http://schemas.openxmlformats.org/drawingml/2006/table">
            <a:tbl>
              <a:tblPr firstRow="1" bandRow="1">
                <a:tableStyleId>{5940675A-B579-460E-94D1-54222C63F5DA}</a:tableStyleId>
              </a:tblPr>
              <a:tblGrid>
                <a:gridCol w="1052158">
                  <a:extLst>
                    <a:ext uri="{9D8B030D-6E8A-4147-A177-3AD203B41FA5}">
                      <a16:colId xmlns:a16="http://schemas.microsoft.com/office/drawing/2014/main" val="928063234"/>
                    </a:ext>
                  </a:extLst>
                </a:gridCol>
                <a:gridCol w="1416657">
                  <a:extLst>
                    <a:ext uri="{9D8B030D-6E8A-4147-A177-3AD203B41FA5}">
                      <a16:colId xmlns:a16="http://schemas.microsoft.com/office/drawing/2014/main" val="2965238667"/>
                    </a:ext>
                  </a:extLst>
                </a:gridCol>
                <a:gridCol w="1587255">
                  <a:extLst>
                    <a:ext uri="{9D8B030D-6E8A-4147-A177-3AD203B41FA5}">
                      <a16:colId xmlns:a16="http://schemas.microsoft.com/office/drawing/2014/main" val="908971141"/>
                    </a:ext>
                  </a:extLst>
                </a:gridCol>
                <a:gridCol w="1383875">
                  <a:extLst>
                    <a:ext uri="{9D8B030D-6E8A-4147-A177-3AD203B41FA5}">
                      <a16:colId xmlns:a16="http://schemas.microsoft.com/office/drawing/2014/main" val="250882842"/>
                    </a:ext>
                  </a:extLst>
                </a:gridCol>
                <a:gridCol w="1033370">
                  <a:extLst>
                    <a:ext uri="{9D8B030D-6E8A-4147-A177-3AD203B41FA5}">
                      <a16:colId xmlns:a16="http://schemas.microsoft.com/office/drawing/2014/main" val="772553615"/>
                    </a:ext>
                  </a:extLst>
                </a:gridCol>
                <a:gridCol w="1803901">
                  <a:extLst>
                    <a:ext uri="{9D8B030D-6E8A-4147-A177-3AD203B41FA5}">
                      <a16:colId xmlns:a16="http://schemas.microsoft.com/office/drawing/2014/main" val="3156452699"/>
                    </a:ext>
                  </a:extLst>
                </a:gridCol>
                <a:gridCol w="1803901">
                  <a:extLst>
                    <a:ext uri="{9D8B030D-6E8A-4147-A177-3AD203B41FA5}">
                      <a16:colId xmlns:a16="http://schemas.microsoft.com/office/drawing/2014/main" val="3731473537"/>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Laptop</a:t>
                      </a: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83000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47000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Headphones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T-shirt</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C005</a:t>
                      </a:r>
                    </a:p>
                  </a:txBody>
                  <a:tcPr/>
                </a:tc>
                <a:tc>
                  <a:txBody>
                    <a:bodyPr/>
                    <a:lstStyle/>
                    <a:p>
                      <a:r>
                        <a:rPr lang="en-US" dirty="0">
                          <a:latin typeface="Arial" panose="020B0604020202020204" pitchFamily="34" charset="0"/>
                          <a:cs typeface="Arial" panose="020B0604020202020204" pitchFamily="34" charset="0"/>
                        </a:rPr>
                        <a:t>Sneakers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C006</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800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1700</a:t>
                      </a:r>
                    </a:p>
                  </a:txBody>
                  <a:tcPr/>
                </a:tc>
                <a:extLst>
                  <a:ext uri="{0D108BD9-81ED-4DB2-BD59-A6C34878D82A}">
                    <a16:rowId xmlns:a16="http://schemas.microsoft.com/office/drawing/2014/main" val="781811451"/>
                  </a:ext>
                </a:extLst>
              </a:tr>
            </a:tbl>
          </a:graphicData>
        </a:graphic>
      </p:graphicFrame>
      <p:sp>
        <p:nvSpPr>
          <p:cNvPr id="7" name="TextBox 6">
            <a:extLst>
              <a:ext uri="{FF2B5EF4-FFF2-40B4-BE49-F238E27FC236}">
                <a16:creationId xmlns:a16="http://schemas.microsoft.com/office/drawing/2014/main" id="{FC19812C-8CC6-0EAC-2BC0-0A2A0B4250CA}"/>
              </a:ext>
            </a:extLst>
          </p:cNvPr>
          <p:cNvSpPr txBox="1"/>
          <p:nvPr/>
        </p:nvSpPr>
        <p:spPr>
          <a:xfrm>
            <a:off x="47328" y="221872"/>
            <a:ext cx="1631504" cy="707886"/>
          </a:xfrm>
          <a:prstGeom prst="rect">
            <a:avLst/>
          </a:prstGeom>
          <a:noFill/>
        </p:spPr>
        <p:txBody>
          <a:bodyPr wrap="square">
            <a:spAutoFit/>
          </a:bodyPr>
          <a:lstStyle/>
          <a:p>
            <a:r>
              <a:rPr lang="en-IN" sz="2000" b="1" dirty="0">
                <a:latin typeface="Liberation Mono"/>
              </a:rPr>
              <a:t>Table:- onlineOrders</a:t>
            </a:r>
            <a:endParaRPr lang="en-IN" sz="2000" b="1" dirty="0"/>
          </a:p>
        </p:txBody>
      </p:sp>
      <p:sp>
        <p:nvSpPr>
          <p:cNvPr id="8" name="TextBox 7">
            <a:extLst>
              <a:ext uri="{FF2B5EF4-FFF2-40B4-BE49-F238E27FC236}">
                <a16:creationId xmlns:a16="http://schemas.microsoft.com/office/drawing/2014/main" id="{19C87904-3194-BB15-9F9A-8E13E23AAB1A}"/>
              </a:ext>
            </a:extLst>
          </p:cNvPr>
          <p:cNvSpPr txBox="1"/>
          <p:nvPr/>
        </p:nvSpPr>
        <p:spPr>
          <a:xfrm>
            <a:off x="7082" y="3356992"/>
            <a:ext cx="2037231" cy="707886"/>
          </a:xfrm>
          <a:prstGeom prst="rect">
            <a:avLst/>
          </a:prstGeom>
          <a:noFill/>
        </p:spPr>
        <p:txBody>
          <a:bodyPr wrap="square">
            <a:spAutoFit/>
          </a:bodyPr>
          <a:lstStyle/>
          <a:p>
            <a:r>
              <a:rPr lang="en-IN" sz="2000" b="1" dirty="0">
                <a:latin typeface="Liberation Mono"/>
              </a:rPr>
              <a:t>Table:- fromStoreOrders</a:t>
            </a:r>
            <a:endParaRPr lang="en-IN" sz="2000" b="1" dirty="0"/>
          </a:p>
        </p:txBody>
      </p:sp>
      <p:graphicFrame>
        <p:nvGraphicFramePr>
          <p:cNvPr id="14" name="Table 2">
            <a:extLst>
              <a:ext uri="{FF2B5EF4-FFF2-40B4-BE49-F238E27FC236}">
                <a16:creationId xmlns:a16="http://schemas.microsoft.com/office/drawing/2014/main" id="{6D72782E-276B-ABD2-54E0-57AFBCDEE643}"/>
              </a:ext>
            </a:extLst>
          </p:cNvPr>
          <p:cNvGraphicFramePr>
            <a:graphicFrameLocks noGrp="1"/>
          </p:cNvGraphicFramePr>
          <p:nvPr>
            <p:extLst>
              <p:ext uri="{D42A27DB-BD31-4B8C-83A1-F6EECF244321}">
                <p14:modId xmlns:p14="http://schemas.microsoft.com/office/powerpoint/2010/main" val="3898895138"/>
              </p:ext>
            </p:extLst>
          </p:nvPr>
        </p:nvGraphicFramePr>
        <p:xfrm>
          <a:off x="1942909" y="3356992"/>
          <a:ext cx="10081115" cy="3337560"/>
        </p:xfrm>
        <a:graphic>
          <a:graphicData uri="http://schemas.openxmlformats.org/drawingml/2006/table">
            <a:tbl>
              <a:tblPr firstRow="1" bandRow="1">
                <a:tableStyleId>{5940675A-B579-460E-94D1-54222C63F5DA}</a:tableStyleId>
              </a:tblPr>
              <a:tblGrid>
                <a:gridCol w="1060025">
                  <a:extLst>
                    <a:ext uri="{9D8B030D-6E8A-4147-A177-3AD203B41FA5}">
                      <a16:colId xmlns:a16="http://schemas.microsoft.com/office/drawing/2014/main" val="928063234"/>
                    </a:ext>
                  </a:extLst>
                </a:gridCol>
                <a:gridCol w="1474680">
                  <a:extLst>
                    <a:ext uri="{9D8B030D-6E8A-4147-A177-3AD203B41FA5}">
                      <a16:colId xmlns:a16="http://schemas.microsoft.com/office/drawing/2014/main" val="2965238667"/>
                    </a:ext>
                  </a:extLst>
                </a:gridCol>
                <a:gridCol w="1766615">
                  <a:extLst>
                    <a:ext uri="{9D8B030D-6E8A-4147-A177-3AD203B41FA5}">
                      <a16:colId xmlns:a16="http://schemas.microsoft.com/office/drawing/2014/main" val="908971141"/>
                    </a:ext>
                  </a:extLst>
                </a:gridCol>
                <a:gridCol w="1459378">
                  <a:extLst>
                    <a:ext uri="{9D8B030D-6E8A-4147-A177-3AD203B41FA5}">
                      <a16:colId xmlns:a16="http://schemas.microsoft.com/office/drawing/2014/main" val="250882842"/>
                    </a:ext>
                  </a:extLst>
                </a:gridCol>
                <a:gridCol w="1075331">
                  <a:extLst>
                    <a:ext uri="{9D8B030D-6E8A-4147-A177-3AD203B41FA5}">
                      <a16:colId xmlns:a16="http://schemas.microsoft.com/office/drawing/2014/main" val="772553615"/>
                    </a:ext>
                  </a:extLst>
                </a:gridCol>
                <a:gridCol w="1622543">
                  <a:extLst>
                    <a:ext uri="{9D8B030D-6E8A-4147-A177-3AD203B41FA5}">
                      <a16:colId xmlns:a16="http://schemas.microsoft.com/office/drawing/2014/main" val="3156452699"/>
                    </a:ext>
                  </a:extLst>
                </a:gridCol>
                <a:gridCol w="1622543">
                  <a:extLst>
                    <a:ext uri="{9D8B030D-6E8A-4147-A177-3AD203B41FA5}">
                      <a16:colId xmlns:a16="http://schemas.microsoft.com/office/drawing/2014/main" val="3334319544"/>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T-shirt</a:t>
                      </a: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C007</a:t>
                      </a:r>
                    </a:p>
                  </a:txBody>
                  <a:tcPr/>
                </a:tc>
                <a:tc>
                  <a:txBody>
                    <a:bodyPr/>
                    <a:lstStyle/>
                    <a:p>
                      <a:r>
                        <a:rPr lang="en-US" dirty="0">
                          <a:latin typeface="Arial" panose="020B0604020202020204" pitchFamily="34" charset="0"/>
                          <a:cs typeface="Arial" panose="020B0604020202020204" pitchFamily="34" charset="0"/>
                        </a:rPr>
                        <a:t>Formal Shoes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Jeans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C008</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Laptop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93500</a:t>
                      </a: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C009</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1800</a:t>
                      </a:r>
                    </a:p>
                  </a:txBody>
                  <a:tcPr/>
                </a:tc>
                <a:extLst>
                  <a:ext uri="{0D108BD9-81ED-4DB2-BD59-A6C34878D82A}">
                    <a16:rowId xmlns:a16="http://schemas.microsoft.com/office/drawing/2014/main" val="781811451"/>
                  </a:ext>
                </a:extLst>
              </a:tr>
              <a:tr h="370840">
                <a:tc>
                  <a:txBody>
                    <a:bodyPr/>
                    <a:lstStyle/>
                    <a:p>
                      <a:pPr algn="ctr"/>
                      <a:r>
                        <a:rPr lang="en-IN" dirty="0">
                          <a:latin typeface="Arial" panose="020B0604020202020204" pitchFamily="34" charset="0"/>
                          <a:cs typeface="Arial" panose="020B0604020202020204" pitchFamily="34" charset="0"/>
                        </a:rPr>
                        <a:t>2008</a:t>
                      </a:r>
                    </a:p>
                  </a:txBody>
                  <a:tcPr/>
                </a:tc>
                <a:tc>
                  <a:txBody>
                    <a:bodyPr/>
                    <a:lstStyle/>
                    <a:p>
                      <a:r>
                        <a:rPr lang="en-IN" dirty="0">
                          <a:latin typeface="Arial" panose="020B0604020202020204" pitchFamily="34" charset="0"/>
                          <a:cs typeface="Arial" panose="020B0604020202020204" pitchFamily="34" charset="0"/>
                        </a:rPr>
                        <a:t>C021</a:t>
                      </a:r>
                    </a:p>
                  </a:txBody>
                  <a:tcPr/>
                </a:tc>
                <a:tc>
                  <a:txBody>
                    <a:bodyPr/>
                    <a:lstStyle/>
                    <a:p>
                      <a:r>
                        <a:rPr lang="en-US" dirty="0">
                          <a:latin typeface="Arial" panose="020B0604020202020204" pitchFamily="34" charset="0"/>
                          <a:cs typeface="Arial" panose="020B0604020202020204" pitchFamily="34" charset="0"/>
                        </a:rPr>
                        <a:t>Mouse</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2025-07-09</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350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61314983"/>
                  </a:ext>
                </a:extLst>
              </a:tr>
            </a:tbl>
          </a:graphicData>
        </a:graphic>
      </p:graphicFrame>
    </p:spTree>
    <p:extLst>
      <p:ext uri="{BB962C8B-B14F-4D97-AF65-F5344CB8AC3E}">
        <p14:creationId xmlns:p14="http://schemas.microsoft.com/office/powerpoint/2010/main" val="4242820242"/>
      </p:ext>
    </p:extLst>
  </p:cSld>
  <p:clrMapOvr>
    <a:masterClrMapping/>
  </p:clrMapOvr>
</p:sld>
</file>

<file path=ppt/slides/slide6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79DCE-9318-5081-3F67-C2D95F8441A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EEACD6E-A768-6D82-CAC3-9E3B36EAD5DF}"/>
              </a:ext>
            </a:extLst>
          </p:cNvPr>
          <p:cNvSpPr txBox="1"/>
          <p:nvPr/>
        </p:nvSpPr>
        <p:spPr>
          <a:xfrm>
            <a:off x="209944" y="980728"/>
            <a:ext cx="11790712" cy="581697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or from-store purchases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purchased both online and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ordered online but not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with product details who made online or from-store purchase with the status ‘Purchased online’ or ‘Purchased from 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of from-store purchase of ‘Laptop’</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total sales made online or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sales done either from online or from-store with appropriate message.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form-store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p:txBody>
      </p:sp>
      <p:sp>
        <p:nvSpPr>
          <p:cNvPr id="7" name="TextBox 6">
            <a:extLst>
              <a:ext uri="{FF2B5EF4-FFF2-40B4-BE49-F238E27FC236}">
                <a16:creationId xmlns:a16="http://schemas.microsoft.com/office/drawing/2014/main" id="{224C69BF-06C7-C6E4-5568-D98846788FE3}"/>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8" name="Rectangle 7">
            <a:extLst>
              <a:ext uri="{FF2B5EF4-FFF2-40B4-BE49-F238E27FC236}">
                <a16:creationId xmlns:a16="http://schemas.microsoft.com/office/drawing/2014/main" id="{BB5A24F4-FF2D-C297-3411-E4BCE7828894}"/>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866114397"/>
      </p:ext>
    </p:extLst>
  </p:cSld>
  <p:clrMapOvr>
    <a:masterClrMapping/>
  </p:clrMapOvr>
</p:sld>
</file>

<file path=ppt/slides/slide6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DB35-39F6-5DA5-954B-0E5E3FE8B32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E1B0B27-DB3E-1ECF-66A0-4C7968C57E8F}"/>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3" name="Rectangle 1">
            <a:extLst>
              <a:ext uri="{FF2B5EF4-FFF2-40B4-BE49-F238E27FC236}">
                <a16:creationId xmlns:a16="http://schemas.microsoft.com/office/drawing/2014/main" id="{580F3C21-5B8A-9822-799B-E5848CBF32B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21B52615-507E-D839-7EAA-6421FD23AD80}"/>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AA9610E9-BCE7-9E44-C15C-A60733FB8F01}"/>
              </a:ext>
            </a:extLst>
          </p:cNvPr>
          <p:cNvSpPr txBox="1"/>
          <p:nvPr/>
        </p:nvSpPr>
        <p:spPr>
          <a:xfrm>
            <a:off x="263352" y="1187455"/>
            <a:ext cx="11665296" cy="4185761"/>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'Online Purchase'</a:t>
            </a:r>
            <a:r>
              <a:rPr lang="en-IN" dirty="0">
                <a:latin typeface="Liberation Mono"/>
              </a:rPr>
              <a:t> </a:t>
            </a:r>
            <a:r>
              <a:rPr lang="en-IN" dirty="0">
                <a:solidFill>
                  <a:srgbClr val="0077AA"/>
                </a:solidFill>
                <a:latin typeface="Liberation Mono"/>
              </a:rPr>
              <a:t>FROM</a:t>
            </a:r>
            <a:r>
              <a:rPr lang="en-IN" dirty="0">
                <a:latin typeface="Liberation Mono"/>
              </a:rPr>
              <a:t> onlineOrders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'Store Purchase'</a:t>
            </a:r>
            <a:r>
              <a:rPr lang="en-IN" dirty="0">
                <a:latin typeface="Liberation Mono"/>
              </a:rPr>
              <a:t> </a:t>
            </a:r>
            <a:r>
              <a:rPr lang="en-IN" dirty="0">
                <a:solidFill>
                  <a:srgbClr val="0077AA"/>
                </a:solidFill>
                <a:latin typeface="Liberation Mono"/>
              </a:rPr>
              <a:t>FROM</a:t>
            </a:r>
            <a:r>
              <a:rPr lang="en-IN" dirty="0">
                <a:latin typeface="Liberation Mono"/>
              </a:rPr>
              <a:t> fromStoreOrders;</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fromStoreOrders</a:t>
            </a:r>
            <a:r>
              <a:rPr lang="en-US" dirty="0">
                <a:latin typeface="Liberation Mono"/>
              </a:rPr>
              <a:t>;</a:t>
            </a:r>
          </a:p>
          <a:p>
            <a:pPr marL="342900" indent="-342900">
              <a:buFont typeface="+mj-lt"/>
              <a:buAutoNum type="arabicPeriod"/>
            </a:pPr>
            <a:endParaRPr lang="en-US"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'Purchased Online'</a:t>
            </a:r>
            <a:r>
              <a:rPr lang="en-US" dirty="0">
                <a:latin typeface="Liberation Mono"/>
              </a:rPr>
              <a:t> AS "Purchase Type"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EXCEPT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fromStoreOrders) t1;</a:t>
            </a:r>
          </a:p>
          <a:p>
            <a:pPr marL="342900" indent="-342900">
              <a:buFont typeface="+mj-lt"/>
              <a:buAutoNum type="arabicPeriod"/>
            </a:pPr>
            <a:endParaRPr lang="en-US"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OO.customerID, OO.product, OO.amount,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SO.customerID, SO.product, SO.amount,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a:t>
            </a:r>
          </a:p>
          <a:p>
            <a:pPr marL="342900" indent="-342900">
              <a:buFont typeface="+mj-lt"/>
              <a:buAutoNum type="arabicPeriod"/>
            </a:pPr>
            <a:endParaRPr lang="en-IN"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OO.customerID, OO.product,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UNION </a:t>
            </a:r>
            <a:r>
              <a:rPr lang="en-IN" dirty="0">
                <a:solidFill>
                  <a:srgbClr val="0077AA"/>
                </a:solidFill>
                <a:latin typeface="Liberation Mono"/>
              </a:rPr>
              <a:t>SELECT</a:t>
            </a:r>
            <a:r>
              <a:rPr lang="en-IN" dirty="0">
                <a:latin typeface="Liberation Mono"/>
              </a:rPr>
              <a:t> SO.customerID, SO.product,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 t1 </a:t>
            </a:r>
            <a:r>
              <a:rPr lang="en-IN" dirty="0">
                <a:solidFill>
                  <a:srgbClr val="0077AA"/>
                </a:solidFill>
                <a:latin typeface="Liberation Mono"/>
              </a:rPr>
              <a:t>WHERE</a:t>
            </a:r>
            <a:r>
              <a:rPr lang="en-IN" dirty="0">
                <a:latin typeface="Liberation Mono"/>
              </a:rPr>
              <a:t> product </a:t>
            </a:r>
            <a:r>
              <a:rPr lang="en-IN" dirty="0">
                <a:solidFill>
                  <a:srgbClr val="A67F59"/>
                </a:solidFill>
                <a:latin typeface="Liberation Mono"/>
              </a:rPr>
              <a:t>=</a:t>
            </a:r>
            <a:r>
              <a:rPr lang="en-IN" dirty="0">
                <a:latin typeface="Liberation Mono"/>
              </a:rPr>
              <a:t> 'Laptop’;</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online'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onlineOrders OO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from store'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fromStoreOrders SO;</a:t>
            </a:r>
            <a:endParaRPr lang="en-IN" dirty="0">
              <a:latin typeface="Liberation Mono"/>
            </a:endParaRPr>
          </a:p>
        </p:txBody>
      </p:sp>
    </p:spTree>
    <p:extLst>
      <p:ext uri="{BB962C8B-B14F-4D97-AF65-F5344CB8AC3E}">
        <p14:creationId xmlns:p14="http://schemas.microsoft.com/office/powerpoint/2010/main" val="2208694111"/>
      </p:ext>
    </p:extLst>
  </p:cSld>
  <p:clrMapOvr>
    <a:masterClrMapping/>
  </p:clrMapOvr>
</p:sld>
</file>

<file path=ppt/slides/slide6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00E9E-B1FF-6E29-908F-EAF74138FCB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0FABF84-ED94-15CD-8AA7-06B55D48174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2F7D0E0E-65B2-1FA6-0945-BDF139084CEA}"/>
              </a:ext>
            </a:extLst>
          </p:cNvPr>
          <p:cNvGraphicFramePr>
            <a:graphicFrameLocks noGrp="1"/>
          </p:cNvGraphicFramePr>
          <p:nvPr>
            <p:extLst>
              <p:ext uri="{D42A27DB-BD31-4B8C-83A1-F6EECF244321}">
                <p14:modId xmlns:p14="http://schemas.microsoft.com/office/powerpoint/2010/main" val="3308061860"/>
              </p:ext>
            </p:extLst>
          </p:nvPr>
        </p:nvGraphicFramePr>
        <p:xfrm>
          <a:off x="407369" y="1256341"/>
          <a:ext cx="4320000" cy="22250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44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Team1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Team2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Winner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India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lang="en-IN" dirty="0">
                          <a:latin typeface="Arial" panose="020B0604020202020204" pitchFamily="34" charset="0"/>
                          <a:cs typeface="Arial" panose="020B0604020202020204" pitchFamily="34" charset="0"/>
                        </a:rPr>
                        <a:t>Aus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IN" dirty="0">
                          <a:latin typeface="Arial" panose="020B0604020202020204" pitchFamily="34" charset="0"/>
                          <a:cs typeface="Arial" panose="020B0604020202020204" pitchFamily="34" charset="0"/>
                        </a:rPr>
                        <a:t>Eng</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F209E784-BBE1-3356-06AA-946E9D01B167}"/>
              </a:ext>
            </a:extLst>
          </p:cNvPr>
          <p:cNvSpPr txBox="1"/>
          <p:nvPr/>
        </p:nvSpPr>
        <p:spPr>
          <a:xfrm>
            <a:off x="4727848"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F1E879A-2641-E0DF-EC24-A565062E2E34}"/>
              </a:ext>
            </a:extLst>
          </p:cNvPr>
          <p:cNvSpPr txBox="1"/>
          <p:nvPr/>
        </p:nvSpPr>
        <p:spPr>
          <a:xfrm>
            <a:off x="407367" y="777015"/>
            <a:ext cx="2952329" cy="400110"/>
          </a:xfrm>
          <a:prstGeom prst="rect">
            <a:avLst/>
          </a:prstGeom>
          <a:noFill/>
        </p:spPr>
        <p:txBody>
          <a:bodyPr wrap="square">
            <a:spAutoFit/>
          </a:bodyPr>
          <a:lstStyle/>
          <a:p>
            <a:r>
              <a:rPr lang="en-IN" sz="2000" b="1" dirty="0">
                <a:latin typeface="Liberation Mono"/>
              </a:rPr>
              <a:t>Table:- cricketwinnerteam</a:t>
            </a:r>
            <a:endParaRPr lang="en-IN" sz="2000" b="1" dirty="0"/>
          </a:p>
        </p:txBody>
      </p:sp>
      <p:graphicFrame>
        <p:nvGraphicFramePr>
          <p:cNvPr id="12" name="Table 2">
            <a:extLst>
              <a:ext uri="{FF2B5EF4-FFF2-40B4-BE49-F238E27FC236}">
                <a16:creationId xmlns:a16="http://schemas.microsoft.com/office/drawing/2014/main" id="{90D9E615-47DC-F2AF-9519-749F48234670}"/>
              </a:ext>
            </a:extLst>
          </p:cNvPr>
          <p:cNvGraphicFramePr>
            <a:graphicFrameLocks noGrp="1"/>
          </p:cNvGraphicFramePr>
          <p:nvPr>
            <p:extLst>
              <p:ext uri="{D42A27DB-BD31-4B8C-83A1-F6EECF244321}">
                <p14:modId xmlns:p14="http://schemas.microsoft.com/office/powerpoint/2010/main" val="3767576210"/>
              </p:ext>
            </p:extLst>
          </p:nvPr>
        </p:nvGraphicFramePr>
        <p:xfrm>
          <a:off x="5951984" y="1256341"/>
          <a:ext cx="5940000" cy="28651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62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gridCol w="1440000">
                  <a:extLst>
                    <a:ext uri="{9D8B030D-6E8A-4147-A177-3AD203B41FA5}">
                      <a16:colId xmlns:a16="http://schemas.microsoft.com/office/drawing/2014/main" val="1753797860"/>
                    </a:ext>
                  </a:extLst>
                </a:gridCol>
              </a:tblGrid>
              <a:tr h="370840">
                <a:tc>
                  <a:txBody>
                    <a:bodyPr/>
                    <a:lstStyle/>
                    <a:p>
                      <a:pPr algn="ctr"/>
                      <a:r>
                        <a:rPr lang="en-US" dirty="0"/>
                        <a:t>Team 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played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won</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lost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Eng</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Aus</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14" name="TextBox 13">
            <a:extLst>
              <a:ext uri="{FF2B5EF4-FFF2-40B4-BE49-F238E27FC236}">
                <a16:creationId xmlns:a16="http://schemas.microsoft.com/office/drawing/2014/main" id="{85CCD09F-338D-6D42-65D9-EA6E3296F550}"/>
              </a:ext>
            </a:extLst>
          </p:cNvPr>
          <p:cNvSpPr txBox="1"/>
          <p:nvPr/>
        </p:nvSpPr>
        <p:spPr>
          <a:xfrm>
            <a:off x="5951984"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42C57A48-E539-7E0A-7C7B-547524A1B9F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B73916B4-8426-83E9-BC17-EE01FAE964AA}"/>
              </a:ext>
            </a:extLst>
          </p:cNvPr>
          <p:cNvSpPr txBox="1"/>
          <p:nvPr/>
        </p:nvSpPr>
        <p:spPr>
          <a:xfrm>
            <a:off x="47328" y="4737600"/>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team1 </a:t>
            </a:r>
            <a:r>
              <a:rPr lang="en-US" i="1" dirty="0">
                <a:solidFill>
                  <a:schemeClr val="bg1">
                    <a:lumMod val="50000"/>
                  </a:schemeClr>
                </a:solidFill>
                <a:latin typeface="Liberation Mono"/>
              </a:rPr>
              <a:t>"Team Name"</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"Matches played"</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won"</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lost"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team1,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team1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Winner</a:t>
            </a:r>
            <a:r>
              <a:rPr lang="en-US" dirty="0">
                <a:latin typeface="Liberation Mono"/>
              </a:rPr>
              <a:t> </a:t>
            </a:r>
            <a:r>
              <a:rPr lang="en-US" dirty="0">
                <a:solidFill>
                  <a:srgbClr val="0077AA"/>
                </a:solidFill>
                <a:latin typeface="Liberation Mono"/>
              </a:rPr>
              <a:t>FROM</a:t>
            </a:r>
            <a:r>
              <a:rPr lang="en-US" dirty="0">
                <a:latin typeface="Liberation Mono"/>
              </a:rPr>
              <a:t> cricketwinnerteam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US" dirty="0">
                <a:latin typeface="Liberation Mono"/>
              </a:rPr>
              <a:t> </a:t>
            </a:r>
            <a:r>
              <a:rPr lang="en-US" dirty="0">
                <a:solidFill>
                  <a:srgbClr val="0077AA"/>
                </a:solidFill>
                <a:latin typeface="Liberation Mono"/>
              </a:rPr>
              <a:t>SELECT</a:t>
            </a:r>
            <a:r>
              <a:rPr lang="en-US" dirty="0">
                <a:latin typeface="Liberation Mono"/>
              </a:rPr>
              <a:t> team2,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team2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0077AA"/>
                </a:solidFill>
                <a:latin typeface="Liberation Mono"/>
              </a:rPr>
              <a:t>FROM</a:t>
            </a:r>
            <a:r>
              <a:rPr lang="en-US" dirty="0">
                <a:latin typeface="Liberation Mono"/>
              </a:rPr>
              <a:t> cricketwinnerteam)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team1;</a:t>
            </a:r>
            <a:endParaRPr lang="en-IN" dirty="0">
              <a:latin typeface="Liberation Mono"/>
            </a:endParaRPr>
          </a:p>
        </p:txBody>
      </p:sp>
      <p:sp>
        <p:nvSpPr>
          <p:cNvPr id="4" name="Rectangle 3">
            <a:extLst>
              <a:ext uri="{FF2B5EF4-FFF2-40B4-BE49-F238E27FC236}">
                <a16:creationId xmlns:a16="http://schemas.microsoft.com/office/drawing/2014/main" id="{CB2403CB-7C93-E4CC-E52E-E421A59888E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03946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6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intersect / intersect all</a:t>
            </a:r>
            <a:endParaRPr lang="en-IN" sz="3200" i="1" dirty="0">
              <a:solidFill>
                <a:srgbClr val="FF9900"/>
              </a:solidFill>
              <a:latin typeface="Arial" pitchFamily="34" charset="0"/>
              <a:cs typeface="Arial" pitchFamily="34" charset="0"/>
            </a:endParaRPr>
          </a:p>
        </p:txBody>
      </p:sp>
      <p:sp>
        <p:nvSpPr>
          <p:cNvPr id="20" name="Rectangle 19">
            <a:extLst>
              <a:ext uri="{FF2B5EF4-FFF2-40B4-BE49-F238E27FC236}">
                <a16:creationId xmlns:a16="http://schemas.microsoft.com/office/drawing/2014/main" id="{A766395A-B674-FDAD-D49E-7E0338DAA45E}"/>
              </a:ext>
            </a:extLst>
          </p:cNvPr>
          <p:cNvSpPr/>
          <p:nvPr/>
        </p:nvSpPr>
        <p:spPr>
          <a:xfrm>
            <a:off x="210300" y="4171727"/>
            <a:ext cx="11683894" cy="267765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INTERSECT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//same products sold by different vendors [A and B].</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1986</a:t>
            </a:r>
            <a:r>
              <a:rPr lang="en-US" dirty="0">
                <a:latin typeface="Liberation Mono"/>
              </a:rPr>
              <a:t>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1987</a:t>
            </a:r>
            <a:r>
              <a:rPr lang="en-US" dirty="0">
                <a:latin typeface="Liberation Mono"/>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a:t>
            </a:r>
            <a:r>
              <a:rPr lang="en-US" dirty="0">
                <a:solidFill>
                  <a:srgbClr val="0077AA"/>
                </a:solidFill>
                <a:latin typeface="Liberation Mono"/>
                <a:ea typeface="Times New Roman" panose="02020603050405020304" pitchFamily="18" charset="0"/>
              </a:rPr>
              <a:t> FROM</a:t>
            </a:r>
            <a:r>
              <a:rPr lang="en-US" dirty="0">
                <a:solidFill>
                  <a:schemeClr val="tx1">
                    <a:lumMod val="85000"/>
                    <a:lumOff val="15000"/>
                  </a:schemeClr>
                </a:solidFill>
                <a:latin typeface="Liberation Mono"/>
                <a:ea typeface="Times New Roman" panose="02020603050405020304" pitchFamily="18"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a:t>
            </a:r>
            <a:r>
              <a:rPr lang="en-US" dirty="0">
                <a:solidFill>
                  <a:schemeClr val="accent4">
                    <a:lumMod val="50000"/>
                  </a:schemeClr>
                </a:solidFill>
                <a:latin typeface="Liberation Mono"/>
                <a:ea typeface="Times New Roman" panose="02020603050405020304" pitchFamily="18" charset="0"/>
              </a:rPr>
              <a:t>EXISTS</a:t>
            </a:r>
            <a:r>
              <a:rPr lang="en-US" dirty="0">
                <a:solidFill>
                  <a:schemeClr val="tx1">
                    <a:lumMod val="85000"/>
                    <a:lumOff val="1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newbooks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books.bookName </a:t>
            </a:r>
            <a:r>
              <a:rPr lang="en-US" dirty="0">
                <a:solidFill>
                  <a:schemeClr val="accent5">
                    <a:lumMod val="75000"/>
                  </a:schemeClr>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newbooks.bookName</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IN</a:t>
            </a:r>
            <a:r>
              <a:rPr lang="en-US" dirty="0">
                <a:solidFill>
                  <a:schemeClr val="tx1">
                    <a:lumMod val="85000"/>
                    <a:lumOff val="15000"/>
                  </a:schemeClr>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newbooks);</a:t>
            </a:r>
          </a:p>
        </p:txBody>
      </p:sp>
      <p:grpSp>
        <p:nvGrpSpPr>
          <p:cNvPr id="13" name="Group 12">
            <a:extLst>
              <a:ext uri="{FF2B5EF4-FFF2-40B4-BE49-F238E27FC236}">
                <a16:creationId xmlns:a16="http://schemas.microsoft.com/office/drawing/2014/main" id="{6E3EDAD6-A9C2-EE0E-105F-8934F0F45940}"/>
              </a:ext>
            </a:extLst>
          </p:cNvPr>
          <p:cNvGrpSpPr/>
          <p:nvPr/>
        </p:nvGrpSpPr>
        <p:grpSpPr>
          <a:xfrm>
            <a:off x="97259" y="814505"/>
            <a:ext cx="11970085" cy="2758511"/>
            <a:chOff x="97259" y="529362"/>
            <a:chExt cx="11970085" cy="2758511"/>
          </a:xfrm>
        </p:grpSpPr>
        <p:grpSp>
          <p:nvGrpSpPr>
            <p:cNvPr id="2" name="Group 1">
              <a:extLst>
                <a:ext uri="{FF2B5EF4-FFF2-40B4-BE49-F238E27FC236}">
                  <a16:creationId xmlns:a16="http://schemas.microsoft.com/office/drawing/2014/main" id="{6B2BED57-A69C-FCA1-9114-B468DF097AF9}"/>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C14EFF57-5BF3-7C68-1E89-49DEF52D9F82}"/>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5DDDD0F7-7793-2E8C-BA5F-A60FB196656E}"/>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7" name="Picture 6">
                <a:extLst>
                  <a:ext uri="{FF2B5EF4-FFF2-40B4-BE49-F238E27FC236}">
                    <a16:creationId xmlns:a16="http://schemas.microsoft.com/office/drawing/2014/main" id="{A05AD309-DDD1-EA97-86C2-1D3C31916382}"/>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8" name="Picture 7">
                <a:extLst>
                  <a:ext uri="{FF2B5EF4-FFF2-40B4-BE49-F238E27FC236}">
                    <a16:creationId xmlns:a16="http://schemas.microsoft.com/office/drawing/2014/main" id="{303E218D-2DA6-4C0D-3374-0B237A0CFC99}"/>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F91CE814-92C3-1E98-D870-11578D015CDB}"/>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9" name="Picture 18">
              <a:extLst>
                <a:ext uri="{FF2B5EF4-FFF2-40B4-BE49-F238E27FC236}">
                  <a16:creationId xmlns:a16="http://schemas.microsoft.com/office/drawing/2014/main" id="{0D6B5439-D711-B7B0-71FD-82FA67B5DD20}"/>
                </a:ext>
              </a:extLst>
            </p:cNvPr>
            <p:cNvPicPr>
              <a:picLocks noChangeAspect="1"/>
            </p:cNvPicPr>
            <p:nvPr/>
          </p:nvPicPr>
          <p:blipFill>
            <a:blip r:embed="rId4"/>
            <a:stretch>
              <a:fillRect/>
            </a:stretch>
          </p:blipFill>
          <p:spPr>
            <a:xfrm>
              <a:off x="8468729" y="1040666"/>
              <a:ext cx="3598615" cy="584775"/>
            </a:xfrm>
            <a:prstGeom prst="rect">
              <a:avLst/>
            </a:prstGeom>
          </p:spPr>
        </p:pic>
        <p:pic>
          <p:nvPicPr>
            <p:cNvPr id="23" name="Picture 22">
              <a:extLst>
                <a:ext uri="{FF2B5EF4-FFF2-40B4-BE49-F238E27FC236}">
                  <a16:creationId xmlns:a16="http://schemas.microsoft.com/office/drawing/2014/main" id="{7FAFC7A6-CD35-21EF-2257-10AA6081AF43}"/>
                </a:ext>
              </a:extLst>
            </p:cNvPr>
            <p:cNvPicPr>
              <a:picLocks noChangeAspect="1"/>
            </p:cNvPicPr>
            <p:nvPr/>
          </p:nvPicPr>
          <p:blipFill>
            <a:blip r:embed="rId5"/>
            <a:stretch>
              <a:fillRect/>
            </a:stretch>
          </p:blipFill>
          <p:spPr>
            <a:xfrm>
              <a:off x="8468729" y="2515908"/>
              <a:ext cx="3535376" cy="771965"/>
            </a:xfrm>
            <a:prstGeom prst="rect">
              <a:avLst/>
            </a:prstGeom>
          </p:spPr>
        </p:pic>
        <p:sp>
          <p:nvSpPr>
            <p:cNvPr id="9" name="Rectangle 8">
              <a:extLst>
                <a:ext uri="{FF2B5EF4-FFF2-40B4-BE49-F238E27FC236}">
                  <a16:creationId xmlns:a16="http://schemas.microsoft.com/office/drawing/2014/main" id="{8EDCA400-6110-DE31-282B-B281145F32FA}"/>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grpSp>
      <p:sp>
        <p:nvSpPr>
          <p:cNvPr id="12" name="TextBox 11">
            <a:extLst>
              <a:ext uri="{FF2B5EF4-FFF2-40B4-BE49-F238E27FC236}">
                <a16:creationId xmlns:a16="http://schemas.microsoft.com/office/drawing/2014/main" id="{955DA9D2-0BAC-8208-89D3-CDF8604EB32B}"/>
              </a:ext>
            </a:extLst>
          </p:cNvPr>
          <p:cNvSpPr txBox="1"/>
          <p:nvPr/>
        </p:nvSpPr>
        <p:spPr>
          <a:xfrm>
            <a:off x="17722" y="78108"/>
            <a:ext cx="643831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It is used to combine two result sets and returns the data which are common in both the result set.</a:t>
            </a:r>
          </a:p>
        </p:txBody>
      </p:sp>
      <p:sp>
        <p:nvSpPr>
          <p:cNvPr id="17" name="Rectangle 16">
            <a:extLst>
              <a:ext uri="{FF2B5EF4-FFF2-40B4-BE49-F238E27FC236}">
                <a16:creationId xmlns:a16="http://schemas.microsoft.com/office/drawing/2014/main" id="{A3687F00-1384-22FE-0DFE-C0258C7828DE}"/>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INTERSECT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only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389177"/>
      </p:ext>
    </p:extLst>
  </p:cSld>
  <p:clrMapOvr>
    <a:masterClrMapping/>
  </p:clrMapOvr>
</p:sld>
</file>

<file path=ppt/slides/slide6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9BEC0-6B6A-9FD5-FF64-C068BED8B2C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C931E9E-7825-9B7C-FEDB-185DE6A55BDE}"/>
              </a:ext>
            </a:extLst>
          </p:cNvPr>
          <p:cNvSpPr txBox="1"/>
          <p:nvPr/>
        </p:nvSpPr>
        <p:spPr>
          <a:xfrm>
            <a:off x="292696" y="1113897"/>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11" name="TextBox 10">
            <a:extLst>
              <a:ext uri="{FF2B5EF4-FFF2-40B4-BE49-F238E27FC236}">
                <a16:creationId xmlns:a16="http://schemas.microsoft.com/office/drawing/2014/main" id="{1862CB3E-C272-C8F1-D73E-CB69905BCE86}"/>
              </a:ext>
            </a:extLst>
          </p:cNvPr>
          <p:cNvSpPr txBox="1"/>
          <p:nvPr/>
        </p:nvSpPr>
        <p:spPr>
          <a:xfrm>
            <a:off x="3453035" y="1113897"/>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sp>
        <p:nvSpPr>
          <p:cNvPr id="5" name="TextBox 4">
            <a:extLst>
              <a:ext uri="{FF2B5EF4-FFF2-40B4-BE49-F238E27FC236}">
                <a16:creationId xmlns:a16="http://schemas.microsoft.com/office/drawing/2014/main" id="{6AACA708-2FB8-7A94-4313-90DBD413581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7B05FC4-CE6A-FD87-23C9-8366AA57EA68}"/>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intersect and inner join</a:t>
            </a:r>
          </a:p>
        </p:txBody>
      </p:sp>
      <p:sp>
        <p:nvSpPr>
          <p:cNvPr id="10" name="TextBox 9">
            <a:extLst>
              <a:ext uri="{FF2B5EF4-FFF2-40B4-BE49-F238E27FC236}">
                <a16:creationId xmlns:a16="http://schemas.microsoft.com/office/drawing/2014/main" id="{0F06F9DD-ABB5-1A8C-5106-1B8E2D2EA856}"/>
              </a:ext>
            </a:extLst>
          </p:cNvPr>
          <p:cNvSpPr txBox="1"/>
          <p:nvPr/>
        </p:nvSpPr>
        <p:spPr>
          <a:xfrm>
            <a:off x="6384032" y="194877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303E10F3-ED7C-0C36-B835-6C2238B16EB1}"/>
              </a:ext>
            </a:extLst>
          </p:cNvPr>
          <p:cNvSpPr txBox="1"/>
          <p:nvPr/>
        </p:nvSpPr>
        <p:spPr>
          <a:xfrm>
            <a:off x="292696" y="641779"/>
            <a:ext cx="5651275"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Difference between INTERSECT and INNER JOIN</a:t>
            </a:r>
          </a:p>
        </p:txBody>
      </p:sp>
      <p:graphicFrame>
        <p:nvGraphicFramePr>
          <p:cNvPr id="2" name="Table 2">
            <a:extLst>
              <a:ext uri="{FF2B5EF4-FFF2-40B4-BE49-F238E27FC236}">
                <a16:creationId xmlns:a16="http://schemas.microsoft.com/office/drawing/2014/main" id="{BAF57BE8-FBD5-4205-3D6C-4497F3B6572E}"/>
              </a:ext>
            </a:extLst>
          </p:cNvPr>
          <p:cNvGraphicFramePr>
            <a:graphicFrameLocks noGrp="1"/>
          </p:cNvGraphicFramePr>
          <p:nvPr/>
        </p:nvGraphicFramePr>
        <p:xfrm>
          <a:off x="292698"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2" name="Table 2">
            <a:extLst>
              <a:ext uri="{FF2B5EF4-FFF2-40B4-BE49-F238E27FC236}">
                <a16:creationId xmlns:a16="http://schemas.microsoft.com/office/drawing/2014/main" id="{C2AC0487-D47B-A8D8-9F3D-206C493CAA26}"/>
              </a:ext>
            </a:extLst>
          </p:cNvPr>
          <p:cNvGraphicFramePr>
            <a:graphicFrameLocks noGrp="1"/>
          </p:cNvGraphicFramePr>
          <p:nvPr/>
        </p:nvGraphicFramePr>
        <p:xfrm>
          <a:off x="3359696"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9" name="TextBox 18">
            <a:extLst>
              <a:ext uri="{FF2B5EF4-FFF2-40B4-BE49-F238E27FC236}">
                <a16:creationId xmlns:a16="http://schemas.microsoft.com/office/drawing/2014/main" id="{F95A8994-E5C1-3BBC-9C52-3DE3F3D4947A}"/>
              </a:ext>
            </a:extLst>
          </p:cNvPr>
          <p:cNvSpPr txBox="1"/>
          <p:nvPr/>
        </p:nvSpPr>
        <p:spPr>
          <a:xfrm>
            <a:off x="292696" y="3942153"/>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21" name="TextBox 20">
            <a:extLst>
              <a:ext uri="{FF2B5EF4-FFF2-40B4-BE49-F238E27FC236}">
                <a16:creationId xmlns:a16="http://schemas.microsoft.com/office/drawing/2014/main" id="{83122F7E-5305-0DB7-021E-70EE4C24BF6E}"/>
              </a:ext>
            </a:extLst>
          </p:cNvPr>
          <p:cNvSpPr txBox="1"/>
          <p:nvPr/>
        </p:nvSpPr>
        <p:spPr>
          <a:xfrm>
            <a:off x="3453035" y="3942153"/>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graphicFrame>
        <p:nvGraphicFramePr>
          <p:cNvPr id="23" name="Table 2">
            <a:extLst>
              <a:ext uri="{FF2B5EF4-FFF2-40B4-BE49-F238E27FC236}">
                <a16:creationId xmlns:a16="http://schemas.microsoft.com/office/drawing/2014/main" id="{FACD1C15-1E22-7C12-9394-F37C4EAD6924}"/>
              </a:ext>
            </a:extLst>
          </p:cNvPr>
          <p:cNvGraphicFramePr>
            <a:graphicFrameLocks noGrp="1"/>
          </p:cNvGraphicFramePr>
          <p:nvPr/>
        </p:nvGraphicFramePr>
        <p:xfrm>
          <a:off x="292698"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25" name="Table 2">
            <a:extLst>
              <a:ext uri="{FF2B5EF4-FFF2-40B4-BE49-F238E27FC236}">
                <a16:creationId xmlns:a16="http://schemas.microsoft.com/office/drawing/2014/main" id="{AE0CC4D0-02AF-9A28-504B-AC1491D45353}"/>
              </a:ext>
            </a:extLst>
          </p:cNvPr>
          <p:cNvGraphicFramePr>
            <a:graphicFrameLocks noGrp="1"/>
          </p:cNvGraphicFramePr>
          <p:nvPr/>
        </p:nvGraphicFramePr>
        <p:xfrm>
          <a:off x="3359696"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27" name="TextBox 26">
            <a:extLst>
              <a:ext uri="{FF2B5EF4-FFF2-40B4-BE49-F238E27FC236}">
                <a16:creationId xmlns:a16="http://schemas.microsoft.com/office/drawing/2014/main" id="{257A725A-2F68-2884-E272-9EAD0B00E516}"/>
              </a:ext>
            </a:extLst>
          </p:cNvPr>
          <p:cNvSpPr txBox="1"/>
          <p:nvPr/>
        </p:nvSpPr>
        <p:spPr>
          <a:xfrm>
            <a:off x="246523" y="3379699"/>
            <a:ext cx="648055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trainers;</a:t>
            </a:r>
          </a:p>
        </p:txBody>
      </p:sp>
      <p:sp>
        <p:nvSpPr>
          <p:cNvPr id="28" name="TextBox 27">
            <a:extLst>
              <a:ext uri="{FF2B5EF4-FFF2-40B4-BE49-F238E27FC236}">
                <a16:creationId xmlns:a16="http://schemas.microsoft.com/office/drawing/2014/main" id="{8899770B-EEFA-C4CB-3D88-35F30D7664F3}"/>
              </a:ext>
            </a:extLst>
          </p:cNvPr>
          <p:cNvSpPr txBox="1"/>
          <p:nvPr/>
        </p:nvSpPr>
        <p:spPr>
          <a:xfrm>
            <a:off x="7723569" y="1113897"/>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29" name="Table 2">
            <a:extLst>
              <a:ext uri="{FF2B5EF4-FFF2-40B4-BE49-F238E27FC236}">
                <a16:creationId xmlns:a16="http://schemas.microsoft.com/office/drawing/2014/main" id="{D3FA2FB1-E227-5167-F589-0A0E4F5817FC}"/>
              </a:ext>
            </a:extLst>
          </p:cNvPr>
          <p:cNvGraphicFramePr>
            <a:graphicFrameLocks noGrp="1"/>
          </p:cNvGraphicFramePr>
          <p:nvPr/>
        </p:nvGraphicFramePr>
        <p:xfrm>
          <a:off x="7767527" y="1614309"/>
          <a:ext cx="2142000" cy="741680"/>
        </p:xfrm>
        <a:graphic>
          <a:graphicData uri="http://schemas.openxmlformats.org/drawingml/2006/table">
            <a:tbl>
              <a:tblPr firstRow="1" bandRow="1">
                <a:tableStyleId>{5940675A-B579-460E-94D1-54222C63F5DA}</a:tableStyleId>
              </a:tblPr>
              <a:tblGrid>
                <a:gridCol w="1026000">
                  <a:extLst>
                    <a:ext uri="{9D8B030D-6E8A-4147-A177-3AD203B41FA5}">
                      <a16:colId xmlns:a16="http://schemas.microsoft.com/office/drawing/2014/main" val="928063234"/>
                    </a:ext>
                  </a:extLst>
                </a:gridCol>
                <a:gridCol w="1116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bl>
          </a:graphicData>
        </a:graphic>
      </p:graphicFrame>
      <p:sp>
        <p:nvSpPr>
          <p:cNvPr id="31" name="TextBox 30">
            <a:extLst>
              <a:ext uri="{FF2B5EF4-FFF2-40B4-BE49-F238E27FC236}">
                <a16:creationId xmlns:a16="http://schemas.microsoft.com/office/drawing/2014/main" id="{78A76643-FDFD-D22B-2C3F-D89EAED32D54}"/>
              </a:ext>
            </a:extLst>
          </p:cNvPr>
          <p:cNvSpPr txBox="1"/>
          <p:nvPr/>
        </p:nvSpPr>
        <p:spPr>
          <a:xfrm>
            <a:off x="246522" y="6156012"/>
            <a:ext cx="800971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trainers </a:t>
            </a:r>
            <a:r>
              <a:rPr lang="en-IN" dirty="0">
                <a:solidFill>
                  <a:srgbClr val="0077AA"/>
                </a:solidFill>
                <a:latin typeface="Liberation Mono"/>
              </a:rPr>
              <a:t>WHERE</a:t>
            </a:r>
            <a:r>
              <a:rPr lang="en-IN" dirty="0">
                <a:latin typeface="Liberation Mono"/>
              </a:rPr>
              <a:t> managers.emp_id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trainers.emp_id;</a:t>
            </a:r>
          </a:p>
        </p:txBody>
      </p:sp>
      <p:sp>
        <p:nvSpPr>
          <p:cNvPr id="32" name="TextBox 31">
            <a:extLst>
              <a:ext uri="{FF2B5EF4-FFF2-40B4-BE49-F238E27FC236}">
                <a16:creationId xmlns:a16="http://schemas.microsoft.com/office/drawing/2014/main" id="{387E1334-69E3-933B-D0AA-3F41B0CB5B5C}"/>
              </a:ext>
            </a:extLst>
          </p:cNvPr>
          <p:cNvSpPr txBox="1"/>
          <p:nvPr/>
        </p:nvSpPr>
        <p:spPr>
          <a:xfrm>
            <a:off x="7719105" y="3942153"/>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33" name="Table 2">
            <a:extLst>
              <a:ext uri="{FF2B5EF4-FFF2-40B4-BE49-F238E27FC236}">
                <a16:creationId xmlns:a16="http://schemas.microsoft.com/office/drawing/2014/main" id="{F974AA47-7755-7C01-34CD-09BA3F295224}"/>
              </a:ext>
            </a:extLst>
          </p:cNvPr>
          <p:cNvGraphicFramePr>
            <a:graphicFrameLocks noGrp="1"/>
          </p:cNvGraphicFramePr>
          <p:nvPr/>
        </p:nvGraphicFramePr>
        <p:xfrm>
          <a:off x="7719105" y="4421479"/>
          <a:ext cx="4281551" cy="1483360"/>
        </p:xfrm>
        <a:graphic>
          <a:graphicData uri="http://schemas.openxmlformats.org/drawingml/2006/table">
            <a:tbl>
              <a:tblPr firstRow="1" bandRow="1">
                <a:tableStyleId>{5940675A-B579-460E-94D1-54222C63F5DA}</a:tableStyleId>
              </a:tblPr>
              <a:tblGrid>
                <a:gridCol w="1024372">
                  <a:extLst>
                    <a:ext uri="{9D8B030D-6E8A-4147-A177-3AD203B41FA5}">
                      <a16:colId xmlns:a16="http://schemas.microsoft.com/office/drawing/2014/main" val="928063234"/>
                    </a:ext>
                  </a:extLst>
                </a:gridCol>
                <a:gridCol w="1115179">
                  <a:extLst>
                    <a:ext uri="{9D8B030D-6E8A-4147-A177-3AD203B41FA5}">
                      <a16:colId xmlns:a16="http://schemas.microsoft.com/office/drawing/2014/main" val="2965238667"/>
                    </a:ext>
                  </a:extLst>
                </a:gridCol>
                <a:gridCol w="1026000">
                  <a:extLst>
                    <a:ext uri="{9D8B030D-6E8A-4147-A177-3AD203B41FA5}">
                      <a16:colId xmlns:a16="http://schemas.microsoft.com/office/drawing/2014/main" val="2916944494"/>
                    </a:ext>
                  </a:extLst>
                </a:gridCol>
                <a:gridCol w="1116000">
                  <a:extLst>
                    <a:ext uri="{9D8B030D-6E8A-4147-A177-3AD203B41FA5}">
                      <a16:colId xmlns:a16="http://schemas.microsoft.com/office/drawing/2014/main" val="3963379204"/>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ruhan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vrushali</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3" name="TextBox 2">
            <a:extLst>
              <a:ext uri="{FF2B5EF4-FFF2-40B4-BE49-F238E27FC236}">
                <a16:creationId xmlns:a16="http://schemas.microsoft.com/office/drawing/2014/main" id="{73E351C6-08C9-26C8-D53E-1F69EB6AAE66}"/>
              </a:ext>
            </a:extLst>
          </p:cNvPr>
          <p:cNvSpPr txBox="1"/>
          <p:nvPr/>
        </p:nvSpPr>
        <p:spPr>
          <a:xfrm>
            <a:off x="6384032" y="51067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526605122"/>
      </p:ext>
    </p:extLst>
  </p:cSld>
  <p:clrMapOvr>
    <a:masterClrMapping/>
  </p:clrMapOvr>
</p:sld>
</file>

<file path=ppt/slides/slide6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09CE6-956E-74BF-D24A-09D24EEDC1D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8D050BE-D117-4CED-47B4-47D4643CE1CC}"/>
              </a:ext>
            </a:extLst>
          </p:cNvPr>
          <p:cNvSpPr txBox="1"/>
          <p:nvPr/>
        </p:nvSpPr>
        <p:spPr>
          <a:xfrm>
            <a:off x="292696" y="908720"/>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775437B1-B0D5-DB54-D1EA-F84401FDB8E8}"/>
              </a:ext>
            </a:extLst>
          </p:cNvPr>
          <p:cNvSpPr txBox="1"/>
          <p:nvPr/>
        </p:nvSpPr>
        <p:spPr>
          <a:xfrm>
            <a:off x="4512272" y="908720"/>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DA663BC8-E50A-4411-F48B-F940B84E20D0}"/>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75CCEA5-5CDE-7055-4E69-0A846970C8C7}"/>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intersect</a:t>
            </a:r>
          </a:p>
        </p:txBody>
      </p:sp>
      <p:graphicFrame>
        <p:nvGraphicFramePr>
          <p:cNvPr id="13" name="Table 2">
            <a:extLst>
              <a:ext uri="{FF2B5EF4-FFF2-40B4-BE49-F238E27FC236}">
                <a16:creationId xmlns:a16="http://schemas.microsoft.com/office/drawing/2014/main" id="{CEB6AAC7-0BD7-02C3-BEDA-81618511A777}"/>
              </a:ext>
            </a:extLst>
          </p:cNvPr>
          <p:cNvGraphicFramePr>
            <a:graphicFrameLocks noGrp="1"/>
          </p:cNvGraphicFramePr>
          <p:nvPr>
            <p:extLst>
              <p:ext uri="{D42A27DB-BD31-4B8C-83A1-F6EECF244321}">
                <p14:modId xmlns:p14="http://schemas.microsoft.com/office/powerpoint/2010/main" val="103840460"/>
              </p:ext>
            </p:extLst>
          </p:nvPr>
        </p:nvGraphicFramePr>
        <p:xfrm>
          <a:off x="4512272" y="1388046"/>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3514197415"/>
                  </a:ext>
                </a:extLst>
              </a:tr>
            </a:tbl>
          </a:graphicData>
        </a:graphic>
      </p:graphicFrame>
      <p:sp>
        <p:nvSpPr>
          <p:cNvPr id="3" name="TextBox 2">
            <a:extLst>
              <a:ext uri="{FF2B5EF4-FFF2-40B4-BE49-F238E27FC236}">
                <a16:creationId xmlns:a16="http://schemas.microsoft.com/office/drawing/2014/main" id="{44C6C47D-34C3-0343-7795-27E17AD51EF4}"/>
              </a:ext>
            </a:extLst>
          </p:cNvPr>
          <p:cNvSpPr txBox="1"/>
          <p:nvPr/>
        </p:nvSpPr>
        <p:spPr>
          <a:xfrm>
            <a:off x="305927" y="5446965"/>
            <a:ext cx="11550712"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 ALL</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endParaRPr lang="en-IN" dirty="0">
              <a:latin typeface="Liberation Mono"/>
            </a:endParaRPr>
          </a:p>
        </p:txBody>
      </p:sp>
      <p:graphicFrame>
        <p:nvGraphicFramePr>
          <p:cNvPr id="6" name="Table 2">
            <a:extLst>
              <a:ext uri="{FF2B5EF4-FFF2-40B4-BE49-F238E27FC236}">
                <a16:creationId xmlns:a16="http://schemas.microsoft.com/office/drawing/2014/main" id="{E3726739-CBCC-A425-6E61-9C493B83243C}"/>
              </a:ext>
            </a:extLst>
          </p:cNvPr>
          <p:cNvGraphicFramePr>
            <a:graphicFrameLocks noGrp="1"/>
          </p:cNvGraphicFramePr>
          <p:nvPr>
            <p:extLst>
              <p:ext uri="{D42A27DB-BD31-4B8C-83A1-F6EECF244321}">
                <p14:modId xmlns:p14="http://schemas.microsoft.com/office/powerpoint/2010/main" val="2088713319"/>
              </p:ext>
            </p:extLst>
          </p:nvPr>
        </p:nvGraphicFramePr>
        <p:xfrm>
          <a:off x="8688288" y="1388046"/>
          <a:ext cx="3405706" cy="148336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10" name="TextBox 9">
            <a:extLst>
              <a:ext uri="{FF2B5EF4-FFF2-40B4-BE49-F238E27FC236}">
                <a16:creationId xmlns:a16="http://schemas.microsoft.com/office/drawing/2014/main" id="{991B20A5-181B-5D11-96E1-AE0C16868BD2}"/>
              </a:ext>
            </a:extLst>
          </p:cNvPr>
          <p:cNvSpPr txBox="1"/>
          <p:nvPr/>
        </p:nvSpPr>
        <p:spPr>
          <a:xfrm>
            <a:off x="7248128" y="461306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22BB7336-F7F6-6AE8-647B-02C22B0144D4}"/>
              </a:ext>
            </a:extLst>
          </p:cNvPr>
          <p:cNvSpPr txBox="1"/>
          <p:nvPr/>
        </p:nvSpPr>
        <p:spPr>
          <a:xfrm>
            <a:off x="292696" y="436602"/>
            <a:ext cx="7531496"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Payments done by students through Cash and Card both the ways</a:t>
            </a:r>
          </a:p>
        </p:txBody>
      </p:sp>
      <p:sp>
        <p:nvSpPr>
          <p:cNvPr id="24" name="TextBox 23">
            <a:extLst>
              <a:ext uri="{FF2B5EF4-FFF2-40B4-BE49-F238E27FC236}">
                <a16:creationId xmlns:a16="http://schemas.microsoft.com/office/drawing/2014/main" id="{33C079CA-D4EA-7C8F-0DC5-1572BD51ECFA}"/>
              </a:ext>
            </a:extLst>
          </p:cNvPr>
          <p:cNvSpPr txBox="1"/>
          <p:nvPr/>
        </p:nvSpPr>
        <p:spPr>
          <a:xfrm>
            <a:off x="8705550" y="908720"/>
            <a:ext cx="2791050" cy="400110"/>
          </a:xfrm>
          <a:prstGeom prst="rect">
            <a:avLst/>
          </a:prstGeom>
          <a:noFill/>
        </p:spPr>
        <p:txBody>
          <a:bodyPr wrap="square">
            <a:spAutoFit/>
          </a:bodyPr>
          <a:lstStyle/>
          <a:p>
            <a:r>
              <a:rPr lang="en-IN" sz="2000" b="1" dirty="0">
                <a:latin typeface="Liberation Mono"/>
              </a:rPr>
              <a:t>Output with INTERSECT</a:t>
            </a:r>
            <a:endParaRPr lang="en-IN" sz="2000" b="1" dirty="0"/>
          </a:p>
        </p:txBody>
      </p:sp>
      <p:graphicFrame>
        <p:nvGraphicFramePr>
          <p:cNvPr id="2" name="Table 2">
            <a:extLst>
              <a:ext uri="{FF2B5EF4-FFF2-40B4-BE49-F238E27FC236}">
                <a16:creationId xmlns:a16="http://schemas.microsoft.com/office/drawing/2014/main" id="{B9242352-D16E-C292-F91A-90C32B38A9C4}"/>
              </a:ext>
            </a:extLst>
          </p:cNvPr>
          <p:cNvGraphicFramePr>
            <a:graphicFrameLocks noGrp="1"/>
          </p:cNvGraphicFramePr>
          <p:nvPr>
            <p:extLst>
              <p:ext uri="{D42A27DB-BD31-4B8C-83A1-F6EECF244321}">
                <p14:modId xmlns:p14="http://schemas.microsoft.com/office/powerpoint/2010/main" val="1302670959"/>
              </p:ext>
            </p:extLst>
          </p:nvPr>
        </p:nvGraphicFramePr>
        <p:xfrm>
          <a:off x="292698" y="1388046"/>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4" name="Table 2">
            <a:extLst>
              <a:ext uri="{FF2B5EF4-FFF2-40B4-BE49-F238E27FC236}">
                <a16:creationId xmlns:a16="http://schemas.microsoft.com/office/drawing/2014/main" id="{7C9AA78C-024D-78BC-F1A7-8EDEE4408D41}"/>
              </a:ext>
            </a:extLst>
          </p:cNvPr>
          <p:cNvGraphicFramePr>
            <a:graphicFrameLocks noGrp="1"/>
          </p:cNvGraphicFramePr>
          <p:nvPr>
            <p:extLst>
              <p:ext uri="{D42A27DB-BD31-4B8C-83A1-F6EECF244321}">
                <p14:modId xmlns:p14="http://schemas.microsoft.com/office/powerpoint/2010/main" val="3583401286"/>
              </p:ext>
            </p:extLst>
          </p:nvPr>
        </p:nvGraphicFramePr>
        <p:xfrm>
          <a:off x="8688288" y="3375000"/>
          <a:ext cx="3405706" cy="185420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79077522"/>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9" name="TextBox 8">
            <a:extLst>
              <a:ext uri="{FF2B5EF4-FFF2-40B4-BE49-F238E27FC236}">
                <a16:creationId xmlns:a16="http://schemas.microsoft.com/office/drawing/2014/main" id="{B558D920-C388-D06E-A5F0-7F34A98965A5}"/>
              </a:ext>
            </a:extLst>
          </p:cNvPr>
          <p:cNvSpPr txBox="1"/>
          <p:nvPr/>
        </p:nvSpPr>
        <p:spPr>
          <a:xfrm>
            <a:off x="8705549" y="2895674"/>
            <a:ext cx="3151089"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Tree>
    <p:extLst>
      <p:ext uri="{BB962C8B-B14F-4D97-AF65-F5344CB8AC3E}">
        <p14:creationId xmlns:p14="http://schemas.microsoft.com/office/powerpoint/2010/main" val="1399815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763F3-FD4A-B8E3-F663-C662B1665C3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134E76D-B450-72E8-9194-A35F182477F9}"/>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351EC4AA-7FDB-234C-F783-E22ED17CF977}"/>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4ABA50F3-CCC6-EA8F-8486-676F2839D3C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5DC5F1B-3913-4AB0-F18B-30C4DBF098DE}"/>
              </a:ext>
            </a:extLst>
          </p:cNvPr>
          <p:cNvSpPr/>
          <p:nvPr/>
        </p:nvSpPr>
        <p:spPr>
          <a:xfrm>
            <a:off x="191344" y="1"/>
            <a:ext cx="1144927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intersect &amp; intersect  all</a:t>
            </a:r>
          </a:p>
        </p:txBody>
      </p:sp>
      <p:graphicFrame>
        <p:nvGraphicFramePr>
          <p:cNvPr id="13" name="Table 2">
            <a:extLst>
              <a:ext uri="{FF2B5EF4-FFF2-40B4-BE49-F238E27FC236}">
                <a16:creationId xmlns:a16="http://schemas.microsoft.com/office/drawing/2014/main" id="{57B9A63D-05F4-222D-AD1F-54608ACE6E9C}"/>
              </a:ext>
            </a:extLst>
          </p:cNvPr>
          <p:cNvGraphicFramePr>
            <a:graphicFrameLocks noGrp="1"/>
          </p:cNvGraphicFramePr>
          <p:nvPr>
            <p:extLst>
              <p:ext uri="{D42A27DB-BD31-4B8C-83A1-F6EECF244321}">
                <p14:modId xmlns:p14="http://schemas.microsoft.com/office/powerpoint/2010/main" val="1512240478"/>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0DE97B5C-380D-BAF3-48A0-5E0C75FBB691}"/>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9CEF718-B547-9D70-604E-B4C4458DDEAF}"/>
              </a:ext>
            </a:extLst>
          </p:cNvPr>
          <p:cNvGraphicFramePr>
            <a:graphicFrameLocks noGrp="1"/>
          </p:cNvGraphicFramePr>
          <p:nvPr>
            <p:extLst>
              <p:ext uri="{D42A27DB-BD31-4B8C-83A1-F6EECF244321}">
                <p14:modId xmlns:p14="http://schemas.microsoft.com/office/powerpoint/2010/main" val="1296782762"/>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67E19154-B177-8CCD-A35E-DFC8C018A5E1}"/>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DBC6CF42-6286-D198-4CA5-C5FA6EFCD194}"/>
              </a:ext>
            </a:extLst>
          </p:cNvPr>
          <p:cNvSpPr/>
          <p:nvPr/>
        </p:nvSpPr>
        <p:spPr>
          <a:xfrm>
            <a:off x="4541168" y="4787860"/>
            <a:ext cx="5400152" cy="369332"/>
          </a:xfrm>
          <a:prstGeom prst="rect">
            <a:avLst/>
          </a:prstGeom>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20F1F957-44FF-5E6F-EE09-4B7407224B8E}"/>
              </a:ext>
            </a:extLst>
          </p:cNvPr>
          <p:cNvSpPr txBox="1"/>
          <p:nvPr/>
        </p:nvSpPr>
        <p:spPr>
          <a:xfrm>
            <a:off x="292696" y="580618"/>
            <a:ext cx="6523384"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(SUM) of Payments done by Cash and Card both ways</a:t>
            </a:r>
          </a:p>
        </p:txBody>
      </p:sp>
      <p:graphicFrame>
        <p:nvGraphicFramePr>
          <p:cNvPr id="21" name="Table 2">
            <a:extLst>
              <a:ext uri="{FF2B5EF4-FFF2-40B4-BE49-F238E27FC236}">
                <a16:creationId xmlns:a16="http://schemas.microsoft.com/office/drawing/2014/main" id="{58E8FDF7-378F-602E-482C-39190D0BE46B}"/>
              </a:ext>
            </a:extLst>
          </p:cNvPr>
          <p:cNvGraphicFramePr>
            <a:graphicFrameLocks noGrp="1"/>
          </p:cNvGraphicFramePr>
          <p:nvPr>
            <p:extLst>
              <p:ext uri="{D42A27DB-BD31-4B8C-83A1-F6EECF244321}">
                <p14:modId xmlns:p14="http://schemas.microsoft.com/office/powerpoint/2010/main" val="3800664801"/>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65AF79C2-4DA9-0826-D240-C6DFB45207C3}"/>
              </a:ext>
            </a:extLst>
          </p:cNvPr>
          <p:cNvGraphicFramePr>
            <a:graphicFrameLocks noGrp="1"/>
          </p:cNvGraphicFramePr>
          <p:nvPr>
            <p:extLst>
              <p:ext uri="{D42A27DB-BD31-4B8C-83A1-F6EECF244321}">
                <p14:modId xmlns:p14="http://schemas.microsoft.com/office/powerpoint/2010/main" val="4035783767"/>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E3123ABA-3D85-BAAC-B230-7C0C171CAB02}"/>
              </a:ext>
            </a:extLst>
          </p:cNvPr>
          <p:cNvSpPr txBox="1"/>
          <p:nvPr/>
        </p:nvSpPr>
        <p:spPr>
          <a:xfrm>
            <a:off x="9433705" y="1052736"/>
            <a:ext cx="2660289" cy="400110"/>
          </a:xfrm>
          <a:prstGeom prst="rect">
            <a:avLst/>
          </a:prstGeom>
          <a:noFill/>
        </p:spPr>
        <p:txBody>
          <a:bodyPr wrap="square">
            <a:spAutoFit/>
          </a:bodyPr>
          <a:lstStyle/>
          <a:p>
            <a:r>
              <a:rPr lang="en-IN" sz="2000" b="1" dirty="0">
                <a:latin typeface="Liberation Mono"/>
              </a:rPr>
              <a:t>Output with INTERSECT</a:t>
            </a:r>
            <a:endParaRPr lang="en-IN" sz="2000" b="1" dirty="0"/>
          </a:p>
        </p:txBody>
      </p:sp>
      <p:sp>
        <p:nvSpPr>
          <p:cNvPr id="26" name="TextBox 25">
            <a:extLst>
              <a:ext uri="{FF2B5EF4-FFF2-40B4-BE49-F238E27FC236}">
                <a16:creationId xmlns:a16="http://schemas.microsoft.com/office/drawing/2014/main" id="{AF2E32C8-DE2D-4F13-70D8-8625591BD7E8}"/>
              </a:ext>
            </a:extLst>
          </p:cNvPr>
          <p:cNvSpPr txBox="1"/>
          <p:nvPr/>
        </p:nvSpPr>
        <p:spPr>
          <a:xfrm>
            <a:off x="9048329" y="2812866"/>
            <a:ext cx="3143672"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
        <p:nvSpPr>
          <p:cNvPr id="27" name="TextBox 26">
            <a:extLst>
              <a:ext uri="{FF2B5EF4-FFF2-40B4-BE49-F238E27FC236}">
                <a16:creationId xmlns:a16="http://schemas.microsoft.com/office/drawing/2014/main" id="{A31E0599-D3C3-08FA-E6CB-B75D7EE5B2F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402307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96688" y="3"/>
            <a:ext cx="1076409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 / except</a:t>
            </a:r>
            <a:r>
              <a:rPr lang="en-IN" sz="3200" i="1" dirty="0">
                <a:solidFill>
                  <a:srgbClr val="FF9900"/>
                </a:solidFill>
                <a:latin typeface="Arial" pitchFamily="34" charset="0"/>
                <a:cs typeface="Arial" pitchFamily="34" charset="0"/>
              </a:rPr>
              <a:t> all</a:t>
            </a:r>
          </a:p>
        </p:txBody>
      </p:sp>
      <p:sp>
        <p:nvSpPr>
          <p:cNvPr id="15" name="Rectangle 14">
            <a:extLst>
              <a:ext uri="{FF2B5EF4-FFF2-40B4-BE49-F238E27FC236}">
                <a16:creationId xmlns:a16="http://schemas.microsoft.com/office/drawing/2014/main" id="{3FF3DFBA-41F0-4568-AF49-A40D46AFB10F}"/>
              </a:ext>
            </a:extLst>
          </p:cNvPr>
          <p:cNvSpPr/>
          <p:nvPr/>
        </p:nvSpPr>
        <p:spPr>
          <a:xfrm>
            <a:off x="119336" y="5345921"/>
            <a:ext cx="11881320" cy="132343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ea typeface="Times New Roman" panose="02020603050405020304" pitchFamily="18" charset="0"/>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books.bookName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cs typeface="Arial" panose="020B0604020202020204" pitchFamily="34" charset="0"/>
              </a:rPr>
              <a:t> newbooks.bookName</a:t>
            </a:r>
            <a:r>
              <a:rPr lang="en-US"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books.bookName </a:t>
            </a:r>
            <a:r>
              <a:rPr lang="en-US" dirty="0">
                <a:solidFill>
                  <a:schemeClr val="accent5">
                    <a:lumMod val="75000"/>
                  </a:schemeClr>
                </a:solidFill>
                <a:latin typeface="Liberation Mono"/>
              </a:rPr>
              <a:t>= </a:t>
            </a:r>
            <a:r>
              <a:rPr lang="en-US" dirty="0">
                <a:latin typeface="Liberation Mono"/>
                <a:cs typeface="Arial" panose="020B0604020202020204" pitchFamily="34" charset="0"/>
              </a:rPr>
              <a:t>newbooks.bookName);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09DE071-4A24-DE5A-89C0-EE8E7D09CC1D}"/>
              </a:ext>
            </a:extLst>
          </p:cNvPr>
          <p:cNvSpPr/>
          <p:nvPr/>
        </p:nvSpPr>
        <p:spPr>
          <a:xfrm>
            <a:off x="210300" y="4293096"/>
            <a:ext cx="11683894" cy="76944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grpSp>
        <p:nvGrpSpPr>
          <p:cNvPr id="12" name="Group 11">
            <a:extLst>
              <a:ext uri="{FF2B5EF4-FFF2-40B4-BE49-F238E27FC236}">
                <a16:creationId xmlns:a16="http://schemas.microsoft.com/office/drawing/2014/main" id="{D3AC1328-4CCB-5284-9502-5D1C5556477A}"/>
              </a:ext>
            </a:extLst>
          </p:cNvPr>
          <p:cNvGrpSpPr/>
          <p:nvPr/>
        </p:nvGrpSpPr>
        <p:grpSpPr>
          <a:xfrm>
            <a:off x="97259" y="813600"/>
            <a:ext cx="11796935" cy="2713943"/>
            <a:chOff x="97259" y="529362"/>
            <a:chExt cx="11796935" cy="2713943"/>
          </a:xfrm>
        </p:grpSpPr>
        <p:grpSp>
          <p:nvGrpSpPr>
            <p:cNvPr id="2" name="Group 1">
              <a:extLst>
                <a:ext uri="{FF2B5EF4-FFF2-40B4-BE49-F238E27FC236}">
                  <a16:creationId xmlns:a16="http://schemas.microsoft.com/office/drawing/2014/main" id="{5F59BA49-05D1-C1BF-F1D5-8FBD481AAD92}"/>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D4FE6E7A-AD72-FF9D-4097-38735D14C5CD}"/>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7" name="Rectangle 6">
                <a:extLst>
                  <a:ext uri="{FF2B5EF4-FFF2-40B4-BE49-F238E27FC236}">
                    <a16:creationId xmlns:a16="http://schemas.microsoft.com/office/drawing/2014/main" id="{F41D2A1C-D938-6676-F7E5-2956800F9D87}"/>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81999ECD-D83B-E6FF-9A28-EC808E2276BE}"/>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E24FA513-81AC-6AD3-AB18-37C922343B45}"/>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E98032CC-E1E8-68E1-B70E-CEC08A17C2CD}"/>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1" name="Rectangle 10">
              <a:extLst>
                <a:ext uri="{FF2B5EF4-FFF2-40B4-BE49-F238E27FC236}">
                  <a16:creationId xmlns:a16="http://schemas.microsoft.com/office/drawing/2014/main" id="{DB3730CE-6ECE-F370-F8D7-23C774E286DD}"/>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6" name="Picture 15">
              <a:extLst>
                <a:ext uri="{FF2B5EF4-FFF2-40B4-BE49-F238E27FC236}">
                  <a16:creationId xmlns:a16="http://schemas.microsoft.com/office/drawing/2014/main" id="{38F9AE6B-0D8B-4D53-2F44-813B8731C3E5}"/>
                </a:ext>
              </a:extLst>
            </p:cNvPr>
            <p:cNvPicPr>
              <a:picLocks noChangeAspect="1"/>
            </p:cNvPicPr>
            <p:nvPr/>
          </p:nvPicPr>
          <p:blipFill>
            <a:blip r:embed="rId4"/>
            <a:stretch>
              <a:fillRect/>
            </a:stretch>
          </p:blipFill>
          <p:spPr>
            <a:xfrm>
              <a:off x="8468729" y="1040666"/>
              <a:ext cx="3425465" cy="584775"/>
            </a:xfrm>
            <a:prstGeom prst="rect">
              <a:avLst/>
            </a:prstGeom>
          </p:spPr>
        </p:pic>
        <p:pic>
          <p:nvPicPr>
            <p:cNvPr id="20" name="Picture 19">
              <a:extLst>
                <a:ext uri="{FF2B5EF4-FFF2-40B4-BE49-F238E27FC236}">
                  <a16:creationId xmlns:a16="http://schemas.microsoft.com/office/drawing/2014/main" id="{8508D325-43D0-ABFE-1A7E-162FCC87DADF}"/>
                </a:ext>
              </a:extLst>
            </p:cNvPr>
            <p:cNvPicPr>
              <a:picLocks noChangeAspect="1"/>
            </p:cNvPicPr>
            <p:nvPr/>
          </p:nvPicPr>
          <p:blipFill>
            <a:blip r:embed="rId5"/>
            <a:stretch>
              <a:fillRect/>
            </a:stretch>
          </p:blipFill>
          <p:spPr>
            <a:xfrm>
              <a:off x="8468728" y="2576555"/>
              <a:ext cx="3425465" cy="666750"/>
            </a:xfrm>
            <a:prstGeom prst="rect">
              <a:avLst/>
            </a:prstGeom>
          </p:spPr>
        </p:pic>
      </p:grpSp>
      <p:sp>
        <p:nvSpPr>
          <p:cNvPr id="14" name="TextBox 13">
            <a:extLst>
              <a:ext uri="{FF2B5EF4-FFF2-40B4-BE49-F238E27FC236}">
                <a16:creationId xmlns:a16="http://schemas.microsoft.com/office/drawing/2014/main" id="{219D1A0E-94AD-691D-B74E-4F00167D0680}"/>
              </a:ext>
            </a:extLst>
          </p:cNvPr>
          <p:cNvSpPr txBox="1"/>
          <p:nvPr/>
        </p:nvSpPr>
        <p:spPr>
          <a:xfrm>
            <a:off x="17721" y="78108"/>
            <a:ext cx="6959901"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It is used to combine two result sets and </a:t>
            </a:r>
            <a:r>
              <a:rPr lang="en-US" dirty="0">
                <a:solidFill>
                  <a:srgbClr val="C00000"/>
                </a:solidFill>
                <a:latin typeface="Arial" panose="020B0604020202020204" pitchFamily="34" charset="0"/>
                <a:cs typeface="Arial" panose="020B0604020202020204" pitchFamily="34" charset="0"/>
              </a:rPr>
              <a:t>returns the data from the first result set which is not present in the second result set.</a:t>
            </a:r>
            <a:endParaRPr lang="en-IN" dirty="0">
              <a:solidFill>
                <a:srgbClr val="C00000"/>
              </a:solidFill>
              <a:latin typeface="Arial" panose="020B0604020202020204" pitchFamily="34" charset="0"/>
              <a:cs typeface="Arial" panose="020B0604020202020204" pitchFamily="34" charset="0"/>
            </a:endParaRPr>
          </a:p>
        </p:txBody>
      </p:sp>
      <p:sp>
        <p:nvSpPr>
          <p:cNvPr id="19" name="Rectangle 18">
            <a:extLst>
              <a:ext uri="{FF2B5EF4-FFF2-40B4-BE49-F238E27FC236}">
                <a16:creationId xmlns:a16="http://schemas.microsoft.com/office/drawing/2014/main" id="{1E3FBD64-DBA4-88D1-5645-88FB171B7524}"/>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EXCEPT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 returns only those rows from result set </a:t>
            </a: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which do not appear in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662720262"/>
      </p:ext>
    </p:extLst>
  </p:cSld>
  <p:clrMapOvr>
    <a:masterClrMapping/>
  </p:clrMapOvr>
</p:sld>
</file>

<file path=ppt/slides/slide6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5ACA26-5D4E-4FD7-BCB4-8667EBB91240}"/>
              </a:ext>
            </a:extLst>
          </p:cNvPr>
          <p:cNvSpPr/>
          <p:nvPr/>
        </p:nvSpPr>
        <p:spPr>
          <a:xfrm>
            <a:off x="119336" y="37132"/>
            <a:ext cx="11845318"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is no </a:t>
            </a:r>
            <a:r>
              <a:rPr lang="en-IN" dirty="0">
                <a:solidFill>
                  <a:schemeClr val="accent4">
                    <a:lumMod val="50000"/>
                  </a:schemeClr>
                </a:solidFill>
                <a:latin typeface="Arial" panose="020B0604020202020204" pitchFamily="34" charset="0"/>
                <a:cs typeface="Arial" panose="020B0604020202020204" pitchFamily="34" charset="0"/>
              </a:rPr>
              <a:t>MINUS</a:t>
            </a:r>
            <a:r>
              <a:rPr lang="en-IN" dirty="0">
                <a:latin typeface="Arial" panose="020B0604020202020204" pitchFamily="34" charset="0"/>
                <a:cs typeface="Arial" panose="020B0604020202020204" pitchFamily="34" charset="0"/>
              </a:rPr>
              <a:t> operator in MySQL, you can easily simulate this type of query using either the </a:t>
            </a:r>
            <a:r>
              <a:rPr lang="en-IN" dirty="0">
                <a:solidFill>
                  <a:schemeClr val="accent4">
                    <a:lumMod val="50000"/>
                  </a:schemeClr>
                </a:solidFill>
                <a:latin typeface="Arial" panose="020B0604020202020204" pitchFamily="34" charset="0"/>
                <a:cs typeface="Arial" panose="020B0604020202020204" pitchFamily="34" charset="0"/>
              </a:rPr>
              <a:t>EXCEPT , 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clause or the </a:t>
            </a:r>
            <a:r>
              <a:rPr lang="en-IN" dirty="0">
                <a:solidFill>
                  <a:schemeClr val="accent4">
                    <a:lumMod val="50000"/>
                  </a:schemeClr>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EXISTS</a:t>
            </a:r>
            <a:r>
              <a:rPr lang="en-IN" dirty="0">
                <a:latin typeface="Arial" panose="020B0604020202020204" pitchFamily="34" charset="0"/>
                <a:cs typeface="Arial" panose="020B0604020202020204" pitchFamily="34" charset="0"/>
              </a:rPr>
              <a:t> clause.</a:t>
            </a:r>
          </a:p>
        </p:txBody>
      </p:sp>
      <p:sp>
        <p:nvSpPr>
          <p:cNvPr id="4" name="TextBox 3">
            <a:extLst>
              <a:ext uri="{FF2B5EF4-FFF2-40B4-BE49-F238E27FC236}">
                <a16:creationId xmlns:a16="http://schemas.microsoft.com/office/drawing/2014/main" id="{D9A9AA9E-9F4D-45BF-B301-11E9A27F434A}"/>
              </a:ext>
            </a:extLst>
          </p:cNvPr>
          <p:cNvSpPr txBox="1"/>
          <p:nvPr/>
        </p:nvSpPr>
        <p:spPr>
          <a:xfrm>
            <a:off x="225864" y="1362864"/>
            <a:ext cx="8534432" cy="954107"/>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            </a:t>
            </a:r>
            <a:r>
              <a:rPr lang="en-IN" dirty="0">
                <a:solidFill>
                  <a:srgbClr val="00B050"/>
                </a:solidFill>
                <a:latin typeface="Liberation Mono"/>
              </a:rPr>
              <a:t>/* Fetch  everything from 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newbooks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p>
        </p:txBody>
      </p:sp>
      <p:sp>
        <p:nvSpPr>
          <p:cNvPr id="5" name="TextBox 4">
            <a:extLst>
              <a:ext uri="{FF2B5EF4-FFF2-40B4-BE49-F238E27FC236}">
                <a16:creationId xmlns:a16="http://schemas.microsoft.com/office/drawing/2014/main" id="{4E395F36-72A8-4C1C-AA61-8A4BAB3DF1C7}"/>
              </a:ext>
            </a:extLst>
          </p:cNvPr>
          <p:cNvSpPr txBox="1"/>
          <p:nvPr/>
        </p:nvSpPr>
        <p:spPr>
          <a:xfrm>
            <a:off x="216024" y="4197596"/>
            <a:ext cx="8760296" cy="954107"/>
          </a:xfrm>
          <a:prstGeom prst="rect">
            <a:avLst/>
          </a:prstGeom>
          <a:noFill/>
        </p:spPr>
        <p:txBody>
          <a:bodyPr wrap="square">
            <a:spAutoFit/>
          </a:bodyPr>
          <a:lstStyle/>
          <a:p>
            <a:pPr marL="342900" indent="-342900">
              <a:buFont typeface="+mj-lt"/>
              <a:buAutoNum type="arabicPeriod" startAt="2"/>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r>
              <a:rPr lang="en-IN" dirty="0">
                <a:solidFill>
                  <a:srgbClr val="00B050"/>
                </a:solidFill>
                <a:latin typeface="Liberation Mono"/>
              </a:rPr>
              <a:t>/* Fetch everything  from newbooks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a:t>
            </a:r>
          </a:p>
        </p:txBody>
      </p:sp>
      <p:sp>
        <p:nvSpPr>
          <p:cNvPr id="2" name="Rectangle 1">
            <a:extLst>
              <a:ext uri="{FF2B5EF4-FFF2-40B4-BE49-F238E27FC236}">
                <a16:creationId xmlns:a16="http://schemas.microsoft.com/office/drawing/2014/main" id="{E5110886-A64A-5786-D5C6-1F703715C39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915939413"/>
      </p:ext>
    </p:extLst>
  </p:cSld>
  <p:clrMapOvr>
    <a:masterClrMapping/>
  </p:clrMapOvr>
</p:sld>
</file>

<file path=ppt/slides/slide6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528A4-4BF0-CA61-CB1F-227110DC29D6}"/>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1E55AC09-7551-E410-19DE-15D1A06EFD29}"/>
              </a:ext>
            </a:extLst>
          </p:cNvPr>
          <p:cNvGraphicFramePr>
            <a:graphicFrameLocks noGrp="1"/>
          </p:cNvGraphicFramePr>
          <p:nvPr>
            <p:extLst>
              <p:ext uri="{D42A27DB-BD31-4B8C-83A1-F6EECF244321}">
                <p14:modId xmlns:p14="http://schemas.microsoft.com/office/powerpoint/2010/main" val="3059002397"/>
              </p:ext>
            </p:extLst>
          </p:nvPr>
        </p:nvGraphicFramePr>
        <p:xfrm>
          <a:off x="292698" y="2129264"/>
          <a:ext cx="4032445" cy="338328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 1001</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1037</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Santosh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2002</a:t>
                      </a:r>
                    </a:p>
                  </a:txBody>
                  <a:tcPr/>
                </a:tc>
                <a:tc>
                  <a:txBody>
                    <a:bodyPr/>
                    <a:lstStyle/>
                    <a:p>
                      <a:r>
                        <a:rPr lang="en-IN" dirty="0">
                          <a:latin typeface="Arial" panose="020B0604020202020204" pitchFamily="34" charset="0"/>
                          <a:cs typeface="Arial" panose="020B0604020202020204" pitchFamily="34" charset="0"/>
                        </a:rPr>
                        <a:t>Joe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2003</a:t>
                      </a:r>
                    </a:p>
                  </a:txBody>
                  <a:tcPr/>
                </a:tc>
                <a:tc>
                  <a:txBody>
                    <a:bodyPr/>
                    <a:lstStyle/>
                    <a:p>
                      <a:r>
                        <a:rPr lang="en-IN" dirty="0">
                          <a:latin typeface="Arial" panose="020B0604020202020204" pitchFamily="34" charset="0"/>
                          <a:cs typeface="Arial" panose="020B0604020202020204" pitchFamily="34" charset="0"/>
                        </a:rPr>
                        <a:t>Raj</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7" name="TextBox 6">
            <a:extLst>
              <a:ext uri="{FF2B5EF4-FFF2-40B4-BE49-F238E27FC236}">
                <a16:creationId xmlns:a16="http://schemas.microsoft.com/office/drawing/2014/main" id="{2EBB85D5-EE51-4597-7CAE-6FED6BB68AED}"/>
              </a:ext>
            </a:extLst>
          </p:cNvPr>
          <p:cNvSpPr txBox="1"/>
          <p:nvPr/>
        </p:nvSpPr>
        <p:spPr>
          <a:xfrm>
            <a:off x="292696" y="1649938"/>
            <a:ext cx="2952328" cy="400110"/>
          </a:xfrm>
          <a:prstGeom prst="rect">
            <a:avLst/>
          </a:prstGeom>
          <a:noFill/>
        </p:spPr>
        <p:txBody>
          <a:bodyPr wrap="square">
            <a:spAutoFit/>
          </a:bodyPr>
          <a:lstStyle/>
          <a:p>
            <a:r>
              <a:rPr lang="en-IN" sz="2000" b="1" dirty="0">
                <a:latin typeface="Liberation Mono"/>
              </a:rPr>
              <a:t>Table:- customers</a:t>
            </a:r>
            <a:endParaRPr lang="en-IN" sz="2000" b="1" dirty="0"/>
          </a:p>
        </p:txBody>
      </p:sp>
      <p:sp>
        <p:nvSpPr>
          <p:cNvPr id="11" name="TextBox 10">
            <a:extLst>
              <a:ext uri="{FF2B5EF4-FFF2-40B4-BE49-F238E27FC236}">
                <a16:creationId xmlns:a16="http://schemas.microsoft.com/office/drawing/2014/main" id="{56AE8FB2-BF31-FD34-BB85-A18FEF40EA56}"/>
              </a:ext>
            </a:extLst>
          </p:cNvPr>
          <p:cNvSpPr txBox="1"/>
          <p:nvPr/>
        </p:nvSpPr>
        <p:spPr>
          <a:xfrm>
            <a:off x="4541168" y="1649938"/>
            <a:ext cx="2490936" cy="400110"/>
          </a:xfrm>
          <a:prstGeom prst="rect">
            <a:avLst/>
          </a:prstGeom>
          <a:noFill/>
        </p:spPr>
        <p:txBody>
          <a:bodyPr wrap="square">
            <a:spAutoFit/>
          </a:bodyPr>
          <a:lstStyle/>
          <a:p>
            <a:r>
              <a:rPr lang="en-IN" sz="2000" b="1" dirty="0">
                <a:latin typeface="Liberation Mono"/>
              </a:rPr>
              <a:t>Table:- orders</a:t>
            </a:r>
            <a:endParaRPr lang="en-IN" sz="2000" b="1" dirty="0"/>
          </a:p>
        </p:txBody>
      </p:sp>
      <p:sp>
        <p:nvSpPr>
          <p:cNvPr id="5" name="TextBox 4">
            <a:extLst>
              <a:ext uri="{FF2B5EF4-FFF2-40B4-BE49-F238E27FC236}">
                <a16:creationId xmlns:a16="http://schemas.microsoft.com/office/drawing/2014/main" id="{2E1009BE-AB82-7F15-6B45-2F81FED14BBD}"/>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CAA66B34-C2B4-A1EA-495C-0208743ACE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a:t>
            </a:r>
          </a:p>
        </p:txBody>
      </p:sp>
      <p:graphicFrame>
        <p:nvGraphicFramePr>
          <p:cNvPr id="13" name="Table 2">
            <a:extLst>
              <a:ext uri="{FF2B5EF4-FFF2-40B4-BE49-F238E27FC236}">
                <a16:creationId xmlns:a16="http://schemas.microsoft.com/office/drawing/2014/main" id="{12BDF913-957B-C46E-EDC6-E3B7DB62966C}"/>
              </a:ext>
            </a:extLst>
          </p:cNvPr>
          <p:cNvGraphicFramePr>
            <a:graphicFrameLocks noGrp="1"/>
          </p:cNvGraphicFramePr>
          <p:nvPr>
            <p:extLst>
              <p:ext uri="{D42A27DB-BD31-4B8C-83A1-F6EECF244321}">
                <p14:modId xmlns:p14="http://schemas.microsoft.com/office/powerpoint/2010/main" val="1297867046"/>
              </p:ext>
            </p:extLst>
          </p:nvPr>
        </p:nvGraphicFramePr>
        <p:xfrm>
          <a:off x="4541168" y="2129264"/>
          <a:ext cx="4032000" cy="338328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ONUM</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CNUM</a:t>
                      </a:r>
                      <a:endParaRPr lang="en-IN" sz="18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2322</a:t>
                      </a:r>
                    </a:p>
                  </a:txBody>
                  <a:tcPr/>
                </a:tc>
                <a:tc>
                  <a:txBody>
                    <a:bodyPr/>
                    <a:lstStyle/>
                    <a:p>
                      <a:r>
                        <a:rPr lang="it-IT" dirty="0">
                          <a:latin typeface="Arial" panose="020B0604020202020204" pitchFamily="34" charset="0"/>
                          <a:cs typeface="Arial" panose="020B0604020202020204" pitchFamily="34" charset="0"/>
                        </a:rPr>
                        <a:t> NULL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2364</a:t>
                      </a:r>
                    </a:p>
                  </a:txBody>
                  <a:tcPr/>
                </a:tc>
                <a:tc>
                  <a:txBody>
                    <a:bodyPr/>
                    <a:lstStyle/>
                    <a:p>
                      <a:r>
                        <a:rPr kumimoji="0" lang="it-IT"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2475</a:t>
                      </a:r>
                    </a:p>
                  </a:txBody>
                  <a:tcPr/>
                </a:tc>
                <a:tc>
                  <a:txBody>
                    <a:bodyPr/>
                    <a:lstStyle/>
                    <a:p>
                      <a:r>
                        <a:rPr kumimoji="0" lang="it-IT"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3001</a:t>
                      </a:r>
                    </a:p>
                  </a:txBody>
                  <a:tcPr/>
                </a:tc>
                <a:tc>
                  <a:txBody>
                    <a:bodyPr/>
                    <a:lstStyle/>
                    <a:p>
                      <a:r>
                        <a:rPr lang="it-IT" dirty="0">
                          <a:latin typeface="Arial" panose="020B0604020202020204" pitchFamily="34" charset="0"/>
                          <a:cs typeface="Arial" panose="020B0604020202020204" pitchFamily="34" charset="0"/>
                        </a:rPr>
                        <a:t>2008</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3002</a:t>
                      </a:r>
                    </a:p>
                  </a:txBody>
                  <a:tcPr/>
                </a:tc>
                <a:tc>
                  <a:txBody>
                    <a:bodyPr/>
                    <a:lstStyle/>
                    <a:p>
                      <a:r>
                        <a:rPr lang="it-IT" dirty="0">
                          <a:latin typeface="Arial" panose="020B0604020202020204" pitchFamily="34" charset="0"/>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14" name="TextBox 13">
            <a:extLst>
              <a:ext uri="{FF2B5EF4-FFF2-40B4-BE49-F238E27FC236}">
                <a16:creationId xmlns:a16="http://schemas.microsoft.com/office/drawing/2014/main" id="{25AA7EEF-A79E-4831-61E4-6E276650CD39}"/>
              </a:ext>
            </a:extLst>
          </p:cNvPr>
          <p:cNvSpPr txBox="1"/>
          <p:nvPr/>
        </p:nvSpPr>
        <p:spPr>
          <a:xfrm>
            <a:off x="9840415" y="1649938"/>
            <a:ext cx="98964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TextBox 2">
            <a:extLst>
              <a:ext uri="{FF2B5EF4-FFF2-40B4-BE49-F238E27FC236}">
                <a16:creationId xmlns:a16="http://schemas.microsoft.com/office/drawing/2014/main" id="{34B289A3-31E2-7D34-E920-062F69A9174D}"/>
              </a:ext>
            </a:extLst>
          </p:cNvPr>
          <p:cNvSpPr txBox="1"/>
          <p:nvPr/>
        </p:nvSpPr>
        <p:spPr>
          <a:xfrm>
            <a:off x="305927" y="5795972"/>
            <a:ext cx="11550712"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customers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rPr>
              <a:t> </a:t>
            </a: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orders;</a:t>
            </a:r>
            <a:endParaRPr lang="en-IN" dirty="0">
              <a:latin typeface="Liberation Mono"/>
            </a:endParaRPr>
          </a:p>
        </p:txBody>
      </p:sp>
      <p:graphicFrame>
        <p:nvGraphicFramePr>
          <p:cNvPr id="6" name="Table 2">
            <a:extLst>
              <a:ext uri="{FF2B5EF4-FFF2-40B4-BE49-F238E27FC236}">
                <a16:creationId xmlns:a16="http://schemas.microsoft.com/office/drawing/2014/main" id="{ECA3A90D-8614-7AEE-45D4-73205055CA6B}"/>
              </a:ext>
            </a:extLst>
          </p:cNvPr>
          <p:cNvGraphicFramePr>
            <a:graphicFrameLocks noGrp="1"/>
          </p:cNvGraphicFramePr>
          <p:nvPr>
            <p:extLst>
              <p:ext uri="{D42A27DB-BD31-4B8C-83A1-F6EECF244321}">
                <p14:modId xmlns:p14="http://schemas.microsoft.com/office/powerpoint/2010/main" val="85509112"/>
              </p:ext>
            </p:extLst>
          </p:nvPr>
        </p:nvGraphicFramePr>
        <p:xfrm>
          <a:off x="9840415" y="2129264"/>
          <a:ext cx="2016223" cy="185420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1001</a:t>
                      </a:r>
                    </a:p>
                  </a:txBody>
                  <a:tcPr/>
                </a:tc>
                <a:extLst>
                  <a:ext uri="{0D108BD9-81ED-4DB2-BD59-A6C34878D82A}">
                    <a16:rowId xmlns:a16="http://schemas.microsoft.com/office/drawing/2014/main" val="38585053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1037</a:t>
                      </a:r>
                    </a:p>
                  </a:txBody>
                  <a:tcPr/>
                </a:tc>
                <a:extLst>
                  <a:ext uri="{0D108BD9-81ED-4DB2-BD59-A6C34878D82A}">
                    <a16:rowId xmlns:a16="http://schemas.microsoft.com/office/drawing/2014/main" val="1553150411"/>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2009</a:t>
                      </a:r>
                    </a:p>
                  </a:txBody>
                  <a:tcPr/>
                </a:tc>
                <a:extLst>
                  <a:ext uri="{0D108BD9-81ED-4DB2-BD59-A6C34878D82A}">
                    <a16:rowId xmlns:a16="http://schemas.microsoft.com/office/drawing/2014/main" val="1081343545"/>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2010</a:t>
                      </a:r>
                    </a:p>
                  </a:txBody>
                  <a:tcPr/>
                </a:tc>
                <a:extLst>
                  <a:ext uri="{0D108BD9-81ED-4DB2-BD59-A6C34878D82A}">
                    <a16:rowId xmlns:a16="http://schemas.microsoft.com/office/drawing/2014/main" val="3332663141"/>
                  </a:ext>
                </a:extLst>
              </a:tr>
            </a:tbl>
          </a:graphicData>
        </a:graphic>
      </p:graphicFrame>
      <p:sp>
        <p:nvSpPr>
          <p:cNvPr id="10" name="TextBox 9">
            <a:extLst>
              <a:ext uri="{FF2B5EF4-FFF2-40B4-BE49-F238E27FC236}">
                <a16:creationId xmlns:a16="http://schemas.microsoft.com/office/drawing/2014/main" id="{D8E0370B-C192-CC6A-5F7C-0818D334547F}"/>
              </a:ext>
            </a:extLst>
          </p:cNvPr>
          <p:cNvSpPr txBox="1"/>
          <p:nvPr/>
        </p:nvSpPr>
        <p:spPr>
          <a:xfrm>
            <a:off x="8579408" y="3094503"/>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TextBox 1">
            <a:extLst>
              <a:ext uri="{FF2B5EF4-FFF2-40B4-BE49-F238E27FC236}">
                <a16:creationId xmlns:a16="http://schemas.microsoft.com/office/drawing/2014/main" id="{C7EFE8FA-5547-4558-86B5-04445330C39B}"/>
              </a:ext>
            </a:extLst>
          </p:cNvPr>
          <p:cNvSpPr txBox="1"/>
          <p:nvPr/>
        </p:nvSpPr>
        <p:spPr>
          <a:xfrm>
            <a:off x="321501" y="611396"/>
            <a:ext cx="4910403"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Customers who have never placed an order.</a:t>
            </a:r>
            <a:endParaRPr lang="en-IN" dirty="0"/>
          </a:p>
        </p:txBody>
      </p:sp>
    </p:spTree>
    <p:extLst>
      <p:ext uri="{BB962C8B-B14F-4D97-AF65-F5344CB8AC3E}">
        <p14:creationId xmlns:p14="http://schemas.microsoft.com/office/powerpoint/2010/main" val="2478400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4078C-C61A-9ED7-21C9-748D451B7B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D3DEF4-7EBA-9201-7893-ACF3772C147D}"/>
              </a:ext>
            </a:extLst>
          </p:cNvPr>
          <p:cNvSpPr txBox="1">
            <a:spLocks/>
          </p:cNvSpPr>
          <p:nvPr/>
        </p:nvSpPr>
        <p:spPr>
          <a:xfrm>
            <a:off x="1077888" y="1916832"/>
            <a:ext cx="10036224"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rows to columns(pivot) and columns to rows (unpivot)</a:t>
            </a:r>
          </a:p>
        </p:txBody>
      </p:sp>
      <p:sp>
        <p:nvSpPr>
          <p:cNvPr id="5" name="Rectangle 4">
            <a:extLst>
              <a:ext uri="{FF2B5EF4-FFF2-40B4-BE49-F238E27FC236}">
                <a16:creationId xmlns:a16="http://schemas.microsoft.com/office/drawing/2014/main" id="{57B2B941-3DBB-0F58-7C87-103A3A7B5461}"/>
              </a:ext>
            </a:extLst>
          </p:cNvPr>
          <p:cNvSpPr/>
          <p:nvPr/>
        </p:nvSpPr>
        <p:spPr>
          <a:xfrm>
            <a:off x="2153208" y="3667671"/>
            <a:ext cx="7885583" cy="769441"/>
          </a:xfrm>
          <a:prstGeom prst="rect">
            <a:avLst/>
          </a:prstGeom>
        </p:spPr>
        <p:txBody>
          <a:bodyPr wrap="square">
            <a:spAutoFit/>
          </a:bodyPr>
          <a:lstStyle/>
          <a:p>
            <a:pPr marL="342900" indent="-342900">
              <a:buFont typeface="Arial" panose="020B0604020202020204" pitchFamily="34" charset="0"/>
              <a:buChar char="•"/>
            </a:pPr>
            <a:r>
              <a:rPr lang="en-IN" sz="2000" b="1" dirty="0">
                <a:latin typeface="Palatino Linotype" panose="02040502050505030304" pitchFamily="18" charset="0"/>
              </a:rPr>
              <a:t>pivot</a:t>
            </a:r>
            <a:r>
              <a:rPr lang="en-IN" sz="2000" dirty="0">
                <a:latin typeface="Palatino Linotype" panose="02040502050505030304" pitchFamily="18" charset="0"/>
              </a:rPr>
              <a:t> operation involves transforming rows into columns.</a:t>
            </a:r>
          </a:p>
          <a:p>
            <a:pPr marL="171450" indent="-171450">
              <a:buFont typeface="Arial" panose="020B0604020202020204" pitchFamily="34" charset="0"/>
              <a:buChar char="•"/>
            </a:pPr>
            <a:endParaRPr lang="en-IN" sz="400" dirty="0">
              <a:latin typeface="Palatino Linotype" panose="02040502050505030304" pitchFamily="18" charset="0"/>
            </a:endParaRPr>
          </a:p>
          <a:p>
            <a:pPr marL="342900" indent="-342900">
              <a:buFont typeface="Arial" panose="020B0604020202020204" pitchFamily="34" charset="0"/>
              <a:buChar char="•"/>
            </a:pPr>
            <a:r>
              <a:rPr lang="en-US" sz="2000" b="1" dirty="0">
                <a:latin typeface="Palatino Linotype" panose="02040502050505030304" pitchFamily="18" charset="0"/>
              </a:rPr>
              <a:t>unpivoting</a:t>
            </a:r>
            <a:r>
              <a:rPr lang="en-US" sz="2000" dirty="0">
                <a:latin typeface="Palatino Linotype" panose="02040502050505030304" pitchFamily="18" charset="0"/>
              </a:rPr>
              <a:t> </a:t>
            </a:r>
            <a:r>
              <a:rPr lang="en-IN" sz="2000" dirty="0">
                <a:latin typeface="Palatino Linotype" panose="02040502050505030304" pitchFamily="18" charset="0"/>
              </a:rPr>
              <a:t>operation involves </a:t>
            </a:r>
            <a:r>
              <a:rPr lang="en-US" sz="2000" dirty="0">
                <a:latin typeface="Palatino Linotype" panose="02040502050505030304" pitchFamily="18" charset="0"/>
              </a:rPr>
              <a:t>transforming columns into rows.</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341508125"/>
      </p:ext>
    </p:extLst>
  </p:cSld>
  <p:clrMapOvr>
    <a:masterClrMapping/>
  </p:clrMapOvr>
  <p:transition/>
</p:sld>
</file>

<file path=ppt/slides/slide6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9A358-B86B-2D2C-B415-8E67A541468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B8FAAF7D-7E8C-327C-FBCD-9636744512C7}"/>
              </a:ext>
            </a:extLst>
          </p:cNvPr>
          <p:cNvSpPr txBox="1"/>
          <p:nvPr/>
        </p:nvSpPr>
        <p:spPr>
          <a:xfrm>
            <a:off x="479376" y="1491749"/>
            <a:ext cx="11233248" cy="2308324"/>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'value1'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value1</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'value2'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value2</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'value3'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value3</a:t>
            </a:r>
          </a:p>
          <a:p>
            <a:r>
              <a:rPr lang="en-IN" dirty="0">
                <a:solidFill>
                  <a:srgbClr val="0077AA"/>
                </a:solidFill>
                <a:latin typeface="Liberation Mono"/>
              </a:rPr>
              <a:t>FROM</a:t>
            </a:r>
            <a:r>
              <a:rPr lang="en-IN" dirty="0">
                <a:latin typeface="Liberation Mono"/>
              </a:rPr>
              <a:t> table_name</a:t>
            </a:r>
          </a:p>
          <a:p>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p:txBody>
      </p:sp>
      <p:sp>
        <p:nvSpPr>
          <p:cNvPr id="10" name="Rectangle 9">
            <a:extLst>
              <a:ext uri="{FF2B5EF4-FFF2-40B4-BE49-F238E27FC236}">
                <a16:creationId xmlns:a16="http://schemas.microsoft.com/office/drawing/2014/main" id="{3A7028A6-92E8-C022-17F8-5AF94F55949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44B14BE-88E7-721A-834C-630E0DC42C47}"/>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5B4A97C-8BBB-7F04-BFE9-4ACBB610119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679326454"/>
      </p:ext>
    </p:extLst>
  </p:cSld>
  <p:clrMapOvr>
    <a:masterClrMapping/>
  </p:clrMapOvr>
  <p:transition/>
</p:sld>
</file>

<file path=ppt/slides/slide6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67CCE-7F5E-825E-A4EA-7E63D45327A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2D31014-F4AA-BD92-A307-B349ADC2FDB8}"/>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FD6EDD72-D744-8348-78C4-9EB3A5082E46}"/>
              </a:ext>
            </a:extLst>
          </p:cNvPr>
          <p:cNvGraphicFramePr>
            <a:graphicFrameLocks noGrp="1"/>
          </p:cNvGraphicFramePr>
          <p:nvPr>
            <p:extLst>
              <p:ext uri="{D42A27DB-BD31-4B8C-83A1-F6EECF244321}">
                <p14:modId xmlns:p14="http://schemas.microsoft.com/office/powerpoint/2010/main" val="349218860"/>
              </p:ext>
            </p:extLst>
          </p:nvPr>
        </p:nvGraphicFramePr>
        <p:xfrm>
          <a:off x="335362" y="1715224"/>
          <a:ext cx="3096342" cy="4450080"/>
        </p:xfrm>
        <a:graphic>
          <a:graphicData uri="http://schemas.openxmlformats.org/drawingml/2006/table">
            <a:tbl>
              <a:tblPr firstRow="1" bandRow="1">
                <a:tableStyleId>{5940675A-B579-460E-94D1-54222C63F5DA}</a:tableStyleId>
              </a:tblPr>
              <a:tblGrid>
                <a:gridCol w="1032114">
                  <a:extLst>
                    <a:ext uri="{9D8B030D-6E8A-4147-A177-3AD203B41FA5}">
                      <a16:colId xmlns:a16="http://schemas.microsoft.com/office/drawing/2014/main" val="928063234"/>
                    </a:ext>
                  </a:extLst>
                </a:gridCol>
                <a:gridCol w="1032114">
                  <a:extLst>
                    <a:ext uri="{9D8B030D-6E8A-4147-A177-3AD203B41FA5}">
                      <a16:colId xmlns:a16="http://schemas.microsoft.com/office/drawing/2014/main" val="790049539"/>
                    </a:ext>
                  </a:extLst>
                </a:gridCol>
                <a:gridCol w="103211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product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banana </a:t>
                      </a:r>
                    </a:p>
                  </a:txBody>
                  <a:tcPr/>
                </a:tc>
                <a:tc>
                  <a:txBody>
                    <a:bodyPr/>
                    <a:lstStyle/>
                    <a:p>
                      <a:pPr algn="r"/>
                      <a:r>
                        <a:rPr lang="en-IN" dirty="0">
                          <a:latin typeface="Arial" panose="020B0604020202020204" pitchFamily="34" charset="0"/>
                          <a:cs typeface="Arial" panose="020B0604020202020204" pitchFamily="34" charset="0"/>
                        </a:rPr>
                        <a:t>1000</a:t>
                      </a:r>
                    </a:p>
                  </a:txBody>
                  <a:tcPr/>
                </a:tc>
                <a:tc>
                  <a:txBody>
                    <a:bodyPr/>
                    <a:lstStyle/>
                    <a:p>
                      <a:pPr algn="l"/>
                      <a:r>
                        <a:rPr lang="en-IN">
                          <a:latin typeface="Arial" panose="020B0604020202020204" pitchFamily="34" charset="0"/>
                          <a:cs typeface="Arial" panose="020B0604020202020204" pitchFamily="34" charset="0"/>
                        </a:rPr>
                        <a:t>usa   </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1600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2000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lang="en-IN" dirty="0">
                          <a:latin typeface="Arial" panose="020B0604020202020204" pitchFamily="34" charset="0"/>
                          <a:cs typeface="Arial" panose="020B0604020202020204" pitchFamily="34" charset="0"/>
                        </a:rPr>
                        <a:t>400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1200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1658921"/>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2505436"/>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4000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42301563"/>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413412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2194184"/>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mexico</a:t>
                      </a:r>
                    </a:p>
                  </a:txBody>
                  <a:tcPr/>
                </a:tc>
                <a:extLst>
                  <a:ext uri="{0D108BD9-81ED-4DB2-BD59-A6C34878D82A}">
                    <a16:rowId xmlns:a16="http://schemas.microsoft.com/office/drawing/2014/main" val="748528096"/>
                  </a:ext>
                </a:extLst>
              </a:tr>
            </a:tbl>
          </a:graphicData>
        </a:graphic>
      </p:graphicFrame>
      <p:sp>
        <p:nvSpPr>
          <p:cNvPr id="8" name="TextBox 7">
            <a:extLst>
              <a:ext uri="{FF2B5EF4-FFF2-40B4-BE49-F238E27FC236}">
                <a16:creationId xmlns:a16="http://schemas.microsoft.com/office/drawing/2014/main" id="{F2EC05B7-C936-E08B-12E7-FB2C2EAA020E}"/>
              </a:ext>
            </a:extLst>
          </p:cNvPr>
          <p:cNvSpPr txBox="1"/>
          <p:nvPr/>
        </p:nvSpPr>
        <p:spPr>
          <a:xfrm>
            <a:off x="3431704" y="276974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2599093-3281-BE38-8B11-1A2D217B4D67}"/>
              </a:ext>
            </a:extLst>
          </p:cNvPr>
          <p:cNvSpPr txBox="1"/>
          <p:nvPr/>
        </p:nvSpPr>
        <p:spPr>
          <a:xfrm>
            <a:off x="335361" y="1235898"/>
            <a:ext cx="1728192" cy="400110"/>
          </a:xfrm>
          <a:prstGeom prst="rect">
            <a:avLst/>
          </a:prstGeom>
          <a:noFill/>
        </p:spPr>
        <p:txBody>
          <a:bodyPr wrap="square">
            <a:spAutoFit/>
          </a:bodyPr>
          <a:lstStyle/>
          <a:p>
            <a:r>
              <a:rPr lang="en-IN" sz="2000" b="1" dirty="0">
                <a:latin typeface="Liberation Mono"/>
              </a:rPr>
              <a:t>Table:- fruits</a:t>
            </a:r>
            <a:endParaRPr lang="en-IN" sz="2000" b="1" dirty="0"/>
          </a:p>
        </p:txBody>
      </p:sp>
      <p:sp>
        <p:nvSpPr>
          <p:cNvPr id="4" name="TextBox 3">
            <a:extLst>
              <a:ext uri="{FF2B5EF4-FFF2-40B4-BE49-F238E27FC236}">
                <a16:creationId xmlns:a16="http://schemas.microsoft.com/office/drawing/2014/main" id="{D5C53B4F-F7C9-4D24-78B8-3BE5E446A55C}"/>
              </a:ext>
            </a:extLst>
          </p:cNvPr>
          <p:cNvSpPr txBox="1"/>
          <p:nvPr/>
        </p:nvSpPr>
        <p:spPr>
          <a:xfrm>
            <a:off x="4692948" y="1235898"/>
            <a:ext cx="10430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54F075BF-6CA2-A435-2F74-9C61D5BAF52B}"/>
              </a:ext>
            </a:extLst>
          </p:cNvPr>
          <p:cNvSpPr txBox="1"/>
          <p:nvPr/>
        </p:nvSpPr>
        <p:spPr>
          <a:xfrm>
            <a:off x="3647729" y="4221088"/>
            <a:ext cx="828092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country,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'banana'</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'banana'</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'carrots'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'carrots'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'beans'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'beans'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'orange'</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'orange'</a:t>
            </a:r>
            <a:r>
              <a:rPr lang="en-IN" dirty="0">
                <a:latin typeface="Liberation Mono"/>
              </a:rPr>
              <a:t> </a:t>
            </a:r>
            <a:r>
              <a:rPr lang="en-IN" dirty="0">
                <a:solidFill>
                  <a:srgbClr val="0077AA"/>
                </a:solidFill>
                <a:latin typeface="Liberation Mono"/>
              </a:rPr>
              <a:t>FROM</a:t>
            </a:r>
            <a:r>
              <a:rPr lang="en-IN" dirty="0">
                <a:latin typeface="Liberation Mono"/>
              </a:rPr>
              <a:t> fruits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country;</a:t>
            </a:r>
          </a:p>
        </p:txBody>
      </p:sp>
      <p:graphicFrame>
        <p:nvGraphicFramePr>
          <p:cNvPr id="11" name="Table 2">
            <a:extLst>
              <a:ext uri="{FF2B5EF4-FFF2-40B4-BE49-F238E27FC236}">
                <a16:creationId xmlns:a16="http://schemas.microsoft.com/office/drawing/2014/main" id="{54D633BE-00BE-39CD-0E26-EC73161A129E}"/>
              </a:ext>
            </a:extLst>
          </p:cNvPr>
          <p:cNvGraphicFramePr>
            <a:graphicFrameLocks noGrp="1"/>
          </p:cNvGraphicFramePr>
          <p:nvPr>
            <p:extLst>
              <p:ext uri="{D42A27DB-BD31-4B8C-83A1-F6EECF244321}">
                <p14:modId xmlns:p14="http://schemas.microsoft.com/office/powerpoint/2010/main" val="1377232779"/>
              </p:ext>
            </p:extLst>
          </p:nvPr>
        </p:nvGraphicFramePr>
        <p:xfrm>
          <a:off x="4655842" y="1715224"/>
          <a:ext cx="6408710" cy="1854200"/>
        </p:xfrm>
        <a:graphic>
          <a:graphicData uri="http://schemas.openxmlformats.org/drawingml/2006/table">
            <a:tbl>
              <a:tblPr firstRow="1" bandRow="1">
                <a:tableStyleId>{5940675A-B579-460E-94D1-54222C63F5DA}</a:tableStyleId>
              </a:tblPr>
              <a:tblGrid>
                <a:gridCol w="1281742">
                  <a:extLst>
                    <a:ext uri="{9D8B030D-6E8A-4147-A177-3AD203B41FA5}">
                      <a16:colId xmlns:a16="http://schemas.microsoft.com/office/drawing/2014/main" val="928063234"/>
                    </a:ext>
                  </a:extLst>
                </a:gridCol>
                <a:gridCol w="1281742">
                  <a:extLst>
                    <a:ext uri="{9D8B030D-6E8A-4147-A177-3AD203B41FA5}">
                      <a16:colId xmlns:a16="http://schemas.microsoft.com/office/drawing/2014/main" val="790049539"/>
                    </a:ext>
                  </a:extLst>
                </a:gridCol>
                <a:gridCol w="1281742">
                  <a:extLst>
                    <a:ext uri="{9D8B030D-6E8A-4147-A177-3AD203B41FA5}">
                      <a16:colId xmlns:a16="http://schemas.microsoft.com/office/drawing/2014/main" val="2965238667"/>
                    </a:ext>
                  </a:extLst>
                </a:gridCol>
                <a:gridCol w="1281742">
                  <a:extLst>
                    <a:ext uri="{9D8B030D-6E8A-4147-A177-3AD203B41FA5}">
                      <a16:colId xmlns:a16="http://schemas.microsoft.com/office/drawing/2014/main" val="474853285"/>
                    </a:ext>
                  </a:extLst>
                </a:gridCol>
                <a:gridCol w="1281742">
                  <a:extLst>
                    <a:ext uri="{9D8B030D-6E8A-4147-A177-3AD203B41FA5}">
                      <a16:colId xmlns:a16="http://schemas.microsoft.com/office/drawing/2014/main" val="4050453626"/>
                    </a:ext>
                  </a:extLst>
                </a:gridCol>
              </a:tblGrid>
              <a:tr h="370840">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banana</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carrots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beans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orange</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usa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1600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india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canada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mexico</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bl>
          </a:graphicData>
        </a:graphic>
      </p:graphicFrame>
      <p:sp>
        <p:nvSpPr>
          <p:cNvPr id="13" name="Rectangle 12">
            <a:extLst>
              <a:ext uri="{FF2B5EF4-FFF2-40B4-BE49-F238E27FC236}">
                <a16:creationId xmlns:a16="http://schemas.microsoft.com/office/drawing/2014/main" id="{8A84FCF5-99AA-88E6-7F82-C641C051B65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D2063FB2-758D-9EE6-20EB-030BBC834A3B}"/>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
        <p:nvSpPr>
          <p:cNvPr id="5" name="Rectangle 4">
            <a:extLst>
              <a:ext uri="{FF2B5EF4-FFF2-40B4-BE49-F238E27FC236}">
                <a16:creationId xmlns:a16="http://schemas.microsoft.com/office/drawing/2014/main" id="{3D4B5123-A160-1678-1736-550201BFE7C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5320754"/>
      </p:ext>
    </p:extLst>
  </p:cSld>
  <p:clrMapOvr>
    <a:masterClrMapping/>
  </p:clrMapOvr>
</p:sld>
</file>

<file path=ppt/slides/slide6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067826-D02C-A522-09AA-9E7D87F56F2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201F1AA-FC23-707D-EECB-CB7ED5CF158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11DFEA-8A0E-1ADC-DD1C-E42EDF4E6B14}"/>
              </a:ext>
            </a:extLst>
          </p:cNvPr>
          <p:cNvSpPr txBox="1"/>
          <p:nvPr/>
        </p:nvSpPr>
        <p:spPr>
          <a:xfrm>
            <a:off x="263352" y="959817"/>
            <a:ext cx="11665296"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solidFill>
                  <a:srgbClr val="DD4A68"/>
                </a:solidFill>
                <a:latin typeface="Liberation Mono"/>
              </a:rPr>
              <a:t> </a:t>
            </a:r>
            <a:r>
              <a:rPr lang="en-IN" dirty="0">
                <a:solidFill>
                  <a:srgbClr val="DB7BC9"/>
                </a:solidFill>
                <a:latin typeface="Liberation Mono"/>
              </a:rPr>
              <a:t>WHEN</a:t>
            </a:r>
            <a:r>
              <a:rPr lang="en-IN" dirty="0">
                <a:solidFill>
                  <a:srgbClr val="DD4A68"/>
                </a:solidFill>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p>
        </p:txBody>
      </p:sp>
      <p:sp>
        <p:nvSpPr>
          <p:cNvPr id="3" name="TextBox 2">
            <a:extLst>
              <a:ext uri="{FF2B5EF4-FFF2-40B4-BE49-F238E27FC236}">
                <a16:creationId xmlns:a16="http://schemas.microsoft.com/office/drawing/2014/main" id="{C4D9206E-5586-77CF-E2FD-E4967D2C85D9}"/>
              </a:ext>
            </a:extLst>
          </p:cNvPr>
          <p:cNvSpPr txBox="1"/>
          <p:nvPr/>
        </p:nvSpPr>
        <p:spPr>
          <a:xfrm>
            <a:off x="271535" y="4869160"/>
            <a:ext cx="11660092" cy="1477328"/>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EC2E8B41-801F-C4D1-80E8-D5EE85750D25}"/>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743986599"/>
      </p:ext>
    </p:extLst>
  </p:cSld>
  <p:clrMapOvr>
    <a:masterClrMapping/>
  </p:clrMapOvr>
</p:sld>
</file>

<file path=ppt/slides/slide6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DF736-E4A2-D5F8-3A64-7191A7E4446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FE2A836-36CC-CA9C-8A01-0893B9792D5E}"/>
              </a:ext>
            </a:extLst>
          </p:cNvPr>
          <p:cNvSpPr txBox="1"/>
          <p:nvPr/>
        </p:nvSpPr>
        <p:spPr>
          <a:xfrm>
            <a:off x="262800" y="961200"/>
            <a:ext cx="11660093"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46C1B9E6-BF93-BE54-99B2-864D348F9064}"/>
              </a:ext>
            </a:extLst>
          </p:cNvPr>
          <p:cNvSpPr txBox="1"/>
          <p:nvPr/>
        </p:nvSpPr>
        <p:spPr>
          <a:xfrm>
            <a:off x="262800" y="4797152"/>
            <a:ext cx="11660093" cy="1754326"/>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3" name="Rectangle 2">
            <a:extLst>
              <a:ext uri="{FF2B5EF4-FFF2-40B4-BE49-F238E27FC236}">
                <a16:creationId xmlns:a16="http://schemas.microsoft.com/office/drawing/2014/main" id="{650AE21D-1EC3-2BBC-05EB-5A63FDB5359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D0EBB7-B57E-E204-43E1-45CC4D7DCEF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925574528"/>
      </p:ext>
    </p:extLst>
  </p:cSld>
  <p:clrMapOvr>
    <a:masterClrMapping/>
  </p:clrMapOvr>
</p:sld>
</file>

<file path=ppt/slides/slide6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1FBCF2-3139-8FE1-8D82-4DCA0E1DE05D}"/>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EA1A5B4-3D2A-052D-BF08-D7FCCFEE7DC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416F2FD4-1115-E6DE-E372-19D56944BEBA}"/>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1377150823"/>
      </p:ext>
    </p:extLst>
  </p:cSld>
  <p:clrMapOvr>
    <a:masterClrMapping/>
  </p:clrMapOvr>
</p:sld>
</file>

<file path=ppt/slides/slide6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05A43-1A34-B6EC-C8D9-B334401B55C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10C6E61-03F8-125D-6644-580BBFF8098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DDB9995-0BA0-7813-699F-5143F73F097D}"/>
              </a:ext>
            </a:extLst>
          </p:cNvPr>
          <p:cNvSpPr txBox="1"/>
          <p:nvPr/>
        </p:nvSpPr>
        <p:spPr>
          <a:xfrm>
            <a:off x="479376" y="1490400"/>
            <a:ext cx="11233248" cy="184665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'column1_name' AS </a:t>
            </a:r>
            <a:r>
              <a:rPr lang="en-IN" i="1" dirty="0">
                <a:solidFill>
                  <a:schemeClr val="bg1">
                    <a:lumMod val="50000"/>
                  </a:schemeClr>
                </a:solidFill>
                <a:latin typeface="Liberation Mono"/>
              </a:rPr>
              <a:t>column_name</a:t>
            </a:r>
            <a:r>
              <a:rPr lang="en-IN" dirty="0">
                <a:latin typeface="Liberation Mono"/>
              </a:rPr>
              <a:t>, column1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'column2_name' AS </a:t>
            </a:r>
            <a:r>
              <a:rPr lang="en-IN" i="1" dirty="0">
                <a:solidFill>
                  <a:schemeClr val="bg1">
                    <a:lumMod val="50000"/>
                  </a:schemeClr>
                </a:solidFill>
                <a:latin typeface="Liberation Mono"/>
              </a:rPr>
              <a:t>column_name</a:t>
            </a:r>
            <a:r>
              <a:rPr lang="en-IN" dirty="0">
                <a:latin typeface="Liberation Mono"/>
              </a:rPr>
              <a:t>, column2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solidFill>
                <a:schemeClr val="accent4">
                  <a:lumMod val="50000"/>
                </a:schemeClr>
              </a:solidFill>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'column3_name' AS </a:t>
            </a:r>
            <a:r>
              <a:rPr lang="en-IN" i="1" dirty="0">
                <a:solidFill>
                  <a:schemeClr val="bg1">
                    <a:lumMod val="50000"/>
                  </a:schemeClr>
                </a:solidFill>
                <a:latin typeface="Liberation Mono"/>
              </a:rPr>
              <a:t>column_name</a:t>
            </a:r>
            <a:r>
              <a:rPr lang="en-IN" dirty="0">
                <a:latin typeface="Liberation Mono"/>
              </a:rPr>
              <a:t>, column3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p:txBody>
      </p:sp>
      <p:sp>
        <p:nvSpPr>
          <p:cNvPr id="7" name="Rectangle 6">
            <a:extLst>
              <a:ext uri="{FF2B5EF4-FFF2-40B4-BE49-F238E27FC236}">
                <a16:creationId xmlns:a16="http://schemas.microsoft.com/office/drawing/2014/main" id="{D16B8B8D-9075-0E0C-11CE-7859654E59C1}"/>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AEEEF67-78D6-992F-9DEB-581E19AF9F99}"/>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3316721419"/>
      </p:ext>
    </p:extLst>
  </p:cSld>
  <p:clrMapOvr>
    <a:masterClrMapping/>
  </p:clrMapOvr>
</p:sld>
</file>

<file path=ppt/slides/slide6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323B1-0164-CCBD-0D84-AD46602BE8D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91B86E4-601B-3049-C783-763E2241E08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09DEB51-F7C4-745D-CC9F-0259E1558E01}"/>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2473251174"/>
      </p:ext>
    </p:extLst>
  </p:cSld>
  <p:clrMapOvr>
    <a:masterClrMapping/>
  </p:clrMapOvr>
</p:sld>
</file>

<file path=ppt/slides/slide6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like statement</a:t>
            </a:r>
          </a:p>
        </p:txBody>
      </p:sp>
    </p:spTree>
  </p:cSld>
  <p:clrMapOvr>
    <a:masterClrMapping/>
  </p:clrMapOvr>
  <p:transition/>
</p:sld>
</file>

<file path=ppt/slides/slide6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 including any column attributes and indexes defined in the original table.</a:t>
            </a:r>
          </a:p>
        </p:txBody>
      </p:sp>
      <p:sp>
        <p:nvSpPr>
          <p:cNvPr id="7" name="Rectangle 6"/>
          <p:cNvSpPr/>
          <p:nvPr/>
        </p:nvSpPr>
        <p:spPr>
          <a:xfrm>
            <a:off x="432997" y="1700808"/>
            <a:ext cx="11184429"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3490139"/>
            <a:ext cx="1137726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472363"/>
            <a:ext cx="11856640" cy="646331"/>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Tree>
    <p:extLst>
      <p:ext uri="{BB962C8B-B14F-4D97-AF65-F5344CB8AC3E}">
        <p14:creationId xmlns:p14="http://schemas.microsoft.com/office/powerpoint/2010/main" val="1892188075"/>
      </p:ext>
    </p:extLst>
  </p:cSld>
  <p:clrMapOvr>
    <a:masterClrMapping/>
  </p:clrMapOvr>
  <p:transition/>
</p:sld>
</file>

<file path=ppt/slides/slide6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create temporary table ... like statement</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4148665827"/>
      </p:ext>
    </p:extLst>
  </p:cSld>
  <p:clrMapOvr>
    <a:masterClrMapping/>
  </p:clrMapOvr>
  <p:transition/>
</p:sld>
</file>

<file path=ppt/slides/slide6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a:t>
            </a:r>
          </a:p>
        </p:txBody>
      </p:sp>
      <p:sp>
        <p:nvSpPr>
          <p:cNvPr id="7" name="Rectangle 6"/>
          <p:cNvSpPr/>
          <p:nvPr/>
        </p:nvSpPr>
        <p:spPr>
          <a:xfrm>
            <a:off x="432997" y="1563469"/>
            <a:ext cx="11255217" cy="400110"/>
          </a:xfrm>
          <a:prstGeom prst="rect">
            <a:avLst/>
          </a:prstGeom>
        </p:spPr>
        <p:txBody>
          <a:bodyPr wrap="square">
            <a:spAutoFit/>
          </a:bodyPr>
          <a:lstStyle/>
          <a:p>
            <a:r>
              <a:rPr lang="en-IN" sz="2000" dirty="0">
                <a:solidFill>
                  <a:srgbClr val="0077AA"/>
                </a:solidFill>
                <a:latin typeface="Liberation Mono"/>
              </a:rPr>
              <a:t>CREATE TEMPORARY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4309646"/>
            <a:ext cx="11449272"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057400"/>
            <a:ext cx="11449272" cy="923330"/>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
        <p:nvSpPr>
          <p:cNvPr id="9" name="Rectangle 8"/>
          <p:cNvSpPr/>
          <p:nvPr/>
        </p:nvSpPr>
        <p:spPr>
          <a:xfrm>
            <a:off x="335360" y="3142709"/>
            <a:ext cx="11449272"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endParaRPr lang="en-IN" dirty="0">
              <a:latin typeface="Arial" panose="020B0604020202020204" pitchFamily="34" charset="0"/>
              <a:cs typeface="Arial" panose="020B0604020202020204" pitchFamily="34" charset="0"/>
            </a:endParaRPr>
          </a:p>
        </p:txBody>
      </p:sp>
      <p:sp>
        <p:nvSpPr>
          <p:cNvPr id="10" name="Rectangle 9"/>
          <p:cNvSpPr/>
          <p:nvPr/>
        </p:nvSpPr>
        <p:spPr>
          <a:xfrm>
            <a:off x="335360" y="48709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Tree>
    <p:extLst>
      <p:ext uri="{BB962C8B-B14F-4D97-AF65-F5344CB8AC3E}">
        <p14:creationId xmlns:p14="http://schemas.microsoft.com/office/powerpoint/2010/main" val="3120947731"/>
      </p:ext>
    </p:extLst>
  </p:cSld>
  <p:clrMapOvr>
    <a:masterClrMapping/>
  </p:clrMapOvr>
  <p:transition/>
</p:sld>
</file>

<file path=ppt/slides/slide6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select statement</a:t>
            </a:r>
          </a:p>
        </p:txBody>
      </p:sp>
    </p:spTree>
    <p:extLst>
      <p:ext uri="{BB962C8B-B14F-4D97-AF65-F5344CB8AC3E}">
        <p14:creationId xmlns:p14="http://schemas.microsoft.com/office/powerpoint/2010/main" val="512018276"/>
      </p:ext>
    </p:extLst>
  </p:cSld>
  <p:clrMapOvr>
    <a:masterClrMapping/>
  </p:clrMapOvr>
  <p:transition/>
</p:sld>
</file>

<file path=ppt/slides/slide6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create one table from another by adding a SELECT statement at the end of the CREATE TABLE statement.</a:t>
            </a:r>
          </a:p>
        </p:txBody>
      </p:sp>
      <p:sp>
        <p:nvSpPr>
          <p:cNvPr id="7" name="Rectangle 6"/>
          <p:cNvSpPr/>
          <p:nvPr/>
        </p:nvSpPr>
        <p:spPr>
          <a:xfrm>
            <a:off x="503785" y="1563469"/>
            <a:ext cx="11042855"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new_tbl(</a:t>
            </a:r>
            <a:r>
              <a:rPr lang="en-IN" sz="2000" i="1" dirty="0">
                <a:latin typeface="Liberation Mono"/>
              </a:rPr>
              <a:t>column_definition</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as</a:t>
            </a:r>
            <a:r>
              <a:rPr lang="en-IN" sz="2000" dirty="0">
                <a:latin typeface="Liberation Mono"/>
              </a:rPr>
              <a:t>]</a:t>
            </a:r>
            <a:r>
              <a:rPr lang="en-IN" sz="2000" dirty="0">
                <a:solidFill>
                  <a:srgbClr val="0077AA"/>
                </a:solidFill>
                <a:latin typeface="Liberation Mono"/>
              </a:rPr>
              <a:t> SELECT </a:t>
            </a:r>
            <a:r>
              <a:rPr lang="en-IN" sz="2000" dirty="0">
                <a:solidFill>
                  <a:srgbClr val="A67F59"/>
                </a:solidFill>
                <a:latin typeface="Liberation Mono"/>
              </a:rPr>
              <a:t>*</a:t>
            </a:r>
            <a:r>
              <a:rPr lang="en-IN" sz="2000" dirty="0">
                <a:solidFill>
                  <a:srgbClr val="0077AA"/>
                </a:solidFill>
                <a:latin typeface="Liberation Mono"/>
              </a:rPr>
              <a:t> FROM </a:t>
            </a:r>
            <a:r>
              <a:rPr lang="en-IN" sz="2000" dirty="0">
                <a:latin typeface="Liberation Mono"/>
              </a:rPr>
              <a:t>orig_tbl;</a:t>
            </a:r>
            <a:endParaRPr lang="en-US" sz="2000" dirty="0">
              <a:latin typeface="Liberation Mono"/>
            </a:endParaRPr>
          </a:p>
        </p:txBody>
      </p:sp>
      <p:sp>
        <p:nvSpPr>
          <p:cNvPr id="8" name="Rectangle 7"/>
          <p:cNvSpPr/>
          <p:nvPr/>
        </p:nvSpPr>
        <p:spPr>
          <a:xfrm>
            <a:off x="407368" y="3003917"/>
            <a:ext cx="11233248" cy="2585323"/>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b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B050"/>
                </a:solidFill>
                <a:latin typeface="Liberation Mono"/>
                <a:cs typeface="Arial" panose="020B0604020202020204" pitchFamily="34" charset="0"/>
              </a:rPr>
              <a:t>//Add new column(‘s) with existing columns.</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"R1"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accent5">
                    <a:lumMod val="75000"/>
                  </a:schemeClr>
                </a:solidFill>
                <a:latin typeface="Liberation Mono"/>
              </a:rPr>
              <a:t>=</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9" name="Rectangle 8"/>
          <p:cNvSpPr/>
          <p:nvPr/>
        </p:nvSpPr>
        <p:spPr>
          <a:xfrm>
            <a:off x="407368" y="2060848"/>
            <a:ext cx="1123324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You cannot use FOR UPDATE as part of the SELECT in a statement such as CREATE TABLE new_table SELECT ... FROM old_table .... FOR UPDATE. If you attempt to do so, the statement fails.</a:t>
            </a:r>
          </a:p>
        </p:txBody>
      </p:sp>
      <p:sp>
        <p:nvSpPr>
          <p:cNvPr id="10" name="Rectangle 9"/>
          <p:cNvSpPr/>
          <p:nvPr/>
        </p:nvSpPr>
        <p:spPr>
          <a:xfrm>
            <a:off x="551993" y="5733256"/>
            <a:ext cx="10947657" cy="815608"/>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700" dirty="0">
                <a:latin typeface="Arial" panose="020B0604020202020204" pitchFamily="34" charset="0"/>
                <a:cs typeface="Arial" panose="020B0604020202020204" pitchFamily="34" charset="0"/>
              </a:rPr>
              <a:t>By default, this statement does not copy all column attributes such as AUTO_INCREMET</a:t>
            </a:r>
          </a:p>
        </p:txBody>
      </p:sp>
    </p:spTree>
    <p:extLst>
      <p:ext uri="{BB962C8B-B14F-4D97-AF65-F5344CB8AC3E}">
        <p14:creationId xmlns:p14="http://schemas.microsoft.com/office/powerpoint/2010/main" val="448656043"/>
      </p:ext>
    </p:extLst>
  </p:cSld>
  <p:clrMapOvr>
    <a:masterClrMapping/>
  </p:clrMapOvr>
  <p:transition/>
</p:sld>
</file>

<file path=ppt/slides/slide6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146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commit and rollback</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D77D0A04-AF96-402F-8447-01DCF35E0F92}"/>
              </a:ext>
            </a:extLst>
          </p:cNvPr>
          <p:cNvSpPr txBox="1"/>
          <p:nvPr/>
        </p:nvSpPr>
        <p:spPr>
          <a:xfrm>
            <a:off x="335360" y="980728"/>
            <a:ext cx="10225136" cy="1569660"/>
          </a:xfrm>
          <a:prstGeom prst="rect">
            <a:avLst/>
          </a:prstGeom>
          <a:noFill/>
        </p:spPr>
        <p:txBody>
          <a:bodyPr wrap="square">
            <a:spAutoFit/>
          </a:bodyPr>
          <a:lstStyle/>
          <a:p>
            <a:pPr algn="l" fontAlgn="base"/>
            <a:r>
              <a:rPr lang="en-US" sz="2000" b="0" i="0" dirty="0">
                <a:solidFill>
                  <a:srgbClr val="232629"/>
                </a:solidFill>
                <a:effectLst/>
                <a:latin typeface="Palatino Linotype" panose="02040502050505030304" pitchFamily="18" charset="0"/>
              </a:rPr>
              <a:t>Turning the autocommit off globally. Open </a:t>
            </a:r>
            <a:r>
              <a:rPr lang="en-US" sz="2000" b="1" i="0" dirty="0">
                <a:solidFill>
                  <a:srgbClr val="232629"/>
                </a:solidFill>
                <a:effectLst/>
                <a:latin typeface="Palatino Linotype" panose="02040502050505030304" pitchFamily="18" charset="0"/>
              </a:rPr>
              <a:t>my.ini</a:t>
            </a:r>
            <a:r>
              <a:rPr lang="en-US" sz="2000" b="0" i="0" dirty="0">
                <a:solidFill>
                  <a:srgbClr val="232629"/>
                </a:solidFill>
                <a:effectLst/>
                <a:latin typeface="Palatino Linotype" panose="02040502050505030304" pitchFamily="18" charset="0"/>
              </a:rPr>
              <a:t> file and add the following statement.</a:t>
            </a:r>
          </a:p>
          <a:p>
            <a:pPr algn="l" fontAlgn="base"/>
            <a:endParaRPr lang="en-US" sz="800" dirty="0">
              <a:solidFill>
                <a:srgbClr val="232629"/>
              </a:solidFill>
              <a:latin typeface="Palatino Linotype" panose="02040502050505030304" pitchFamily="18" charset="0"/>
            </a:endParaRPr>
          </a:p>
          <a:p>
            <a:pPr algn="l" fontAlgn="base"/>
            <a:r>
              <a:rPr lang="en-US" sz="2000" dirty="0">
                <a:solidFill>
                  <a:srgbClr val="C00000"/>
                </a:solidFill>
                <a:latin typeface="Palatino Linotype" panose="02040502050505030304" pitchFamily="18" charset="0"/>
              </a:rPr>
              <a:t>[mysqld]</a:t>
            </a:r>
          </a:p>
          <a:p>
            <a:pPr algn="l" fontAlgn="base"/>
            <a:r>
              <a:rPr lang="en-US" sz="2000" dirty="0">
                <a:solidFill>
                  <a:srgbClr val="006C86"/>
                </a:solidFill>
                <a:latin typeface="Palatino Linotype" panose="02040502050505030304" pitchFamily="18" charset="0"/>
              </a:rPr>
              <a:t>a</a:t>
            </a:r>
            <a:r>
              <a:rPr lang="en-US" sz="2000" i="0" dirty="0">
                <a:solidFill>
                  <a:srgbClr val="006C86"/>
                </a:solidFill>
                <a:effectLst/>
                <a:latin typeface="Palatino Linotype" panose="02040502050505030304" pitchFamily="18" charset="0"/>
              </a:rPr>
              <a:t>utocommit = 0</a:t>
            </a:r>
          </a:p>
          <a:p>
            <a:pPr algn="l" fontAlgn="base"/>
            <a:endParaRPr lang="en-US" sz="800" i="0" dirty="0">
              <a:solidFill>
                <a:srgbClr val="006C86"/>
              </a:solidFill>
              <a:effectLst/>
              <a:latin typeface="Palatino Linotype" panose="02040502050505030304" pitchFamily="18" charset="0"/>
            </a:endParaRPr>
          </a:p>
          <a:p>
            <a:pPr algn="l" fontAlgn="base"/>
            <a:r>
              <a:rPr lang="en-US" sz="2000" b="0" i="0" dirty="0">
                <a:solidFill>
                  <a:srgbClr val="232629"/>
                </a:solidFill>
                <a:effectLst/>
                <a:latin typeface="Palatino Linotype" panose="02040502050505030304" pitchFamily="18" charset="0"/>
              </a:rPr>
              <a:t>After adding the line re-start the MySQL server.</a:t>
            </a:r>
            <a:endParaRPr lang="en-US" sz="2000" i="0" dirty="0">
              <a:solidFill>
                <a:srgbClr val="006C86"/>
              </a:solidFill>
              <a:effectLst/>
              <a:latin typeface="Palatino Linotype" panose="02040502050505030304" pitchFamily="18" charset="0"/>
            </a:endParaRPr>
          </a:p>
        </p:txBody>
      </p:sp>
      <p:sp>
        <p:nvSpPr>
          <p:cNvPr id="4" name="Rectangle 3">
            <a:extLst>
              <a:ext uri="{FF2B5EF4-FFF2-40B4-BE49-F238E27FC236}">
                <a16:creationId xmlns:a16="http://schemas.microsoft.com/office/drawing/2014/main" id="{3712DE4B-05C7-4A45-9B20-F97D01456D37}"/>
              </a:ext>
            </a:extLst>
          </p:cNvPr>
          <p:cNvSpPr/>
          <p:nvPr/>
        </p:nvSpPr>
        <p:spPr>
          <a:xfrm>
            <a:off x="537972" y="75696"/>
            <a:ext cx="8839200" cy="430887"/>
          </a:xfrm>
          <a:prstGeom prst="rect">
            <a:avLst/>
          </a:prstGeom>
        </p:spPr>
        <p:txBody>
          <a:bodyPr wrap="square">
            <a:spAutoFit/>
          </a:bodyPr>
          <a:lstStyle/>
          <a:p>
            <a:pPr marL="285750" indent="-285750">
              <a:buFont typeface="Arial" panose="020B0604020202020204" pitchFamily="34" charset="0"/>
              <a:buChar char="•"/>
            </a:pPr>
            <a:r>
              <a:rPr lang="en-IN" sz="2200" dirty="0">
                <a:solidFill>
                  <a:srgbClr val="298AE5"/>
                </a:solidFill>
                <a:latin typeface="Liberation Mono"/>
                <a:cs typeface="Arial" panose="020B0604020202020204" pitchFamily="34" charset="0"/>
              </a:rPr>
              <a:t>SET autocommit </a:t>
            </a:r>
            <a:r>
              <a:rPr lang="en-IN" sz="2200" dirty="0">
                <a:solidFill>
                  <a:schemeClr val="accent5">
                    <a:lumMod val="75000"/>
                  </a:schemeClr>
                </a:solidFill>
                <a:latin typeface="Liberation Mono"/>
                <a:cs typeface="Arial" panose="020B0604020202020204" pitchFamily="34" charset="0"/>
              </a:rPr>
              <a:t>=</a:t>
            </a:r>
            <a:r>
              <a:rPr lang="en-IN" sz="2200" dirty="0">
                <a:solidFill>
                  <a:srgbClr val="298AE5"/>
                </a:solidFill>
                <a:latin typeface="Liberation Mono"/>
                <a:cs typeface="Arial" panose="020B0604020202020204" pitchFamily="34" charset="0"/>
              </a:rPr>
              <a:t> </a:t>
            </a:r>
            <a:r>
              <a:rPr lang="en-IN" sz="2200" dirty="0">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a:t>
            </a:r>
            <a:r>
              <a:rPr lang="en-IN" sz="2200" dirty="0">
                <a:solidFill>
                  <a:schemeClr val="bg1">
                    <a:lumMod val="65000"/>
                  </a:schemeClr>
                </a:solidFill>
                <a:latin typeface="Liberation Mono"/>
                <a:cs typeface="Arial" panose="020B0604020202020204" pitchFamily="34" charset="0"/>
              </a:rPr>
              <a:t>|</a:t>
            </a:r>
            <a:r>
              <a:rPr lang="en-IN" sz="2200" dirty="0">
                <a:latin typeface="Liberation Mono"/>
                <a:cs typeface="Arial" panose="020B0604020202020204" pitchFamily="34" charset="0"/>
              </a:rPr>
              <a:t> </a:t>
            </a:r>
            <a:r>
              <a:rPr lang="en-IN" sz="2200" dirty="0">
                <a:solidFill>
                  <a:srgbClr val="990055"/>
                </a:solidFill>
                <a:latin typeface="Liberation Mono"/>
              </a:rPr>
              <a:t>1</a:t>
            </a:r>
            <a:r>
              <a:rPr lang="en-IN" sz="2200" dirty="0">
                <a:latin typeface="Liberation Mono"/>
                <a:cs typeface="Arial" panose="020B0604020202020204" pitchFamily="34" charset="0"/>
              </a:rPr>
              <a:t> } </a:t>
            </a:r>
            <a:r>
              <a:rPr lang="en-IN" sz="2200" dirty="0">
                <a:solidFill>
                  <a:srgbClr val="298AE5"/>
                </a:solidFill>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disable</a:t>
            </a:r>
            <a:r>
              <a:rPr lang="en-US" sz="2200" dirty="0">
                <a:latin typeface="Liberation Mono"/>
                <a:cs typeface="Arial" panose="020B0604020202020204" pitchFamily="34" charset="0"/>
              </a:rPr>
              <a:t>; </a:t>
            </a:r>
            <a:r>
              <a:rPr lang="en-US" sz="2200" dirty="0">
                <a:solidFill>
                  <a:srgbClr val="990055"/>
                </a:solidFill>
                <a:latin typeface="Liberation Mono"/>
              </a:rPr>
              <a:t>1</a:t>
            </a:r>
            <a:r>
              <a:rPr lang="en-US"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enable</a:t>
            </a:r>
          </a:p>
        </p:txBody>
      </p:sp>
      <p:sp>
        <p:nvSpPr>
          <p:cNvPr id="5" name="Rectangle 4">
            <a:extLst>
              <a:ext uri="{FF2B5EF4-FFF2-40B4-BE49-F238E27FC236}">
                <a16:creationId xmlns:a16="http://schemas.microsoft.com/office/drawing/2014/main" id="{3EDA6EFE-5D04-4965-A5B4-E65420C42D2C}"/>
              </a:ext>
            </a:extLst>
          </p:cNvPr>
          <p:cNvSpPr/>
          <p:nvPr/>
        </p:nvSpPr>
        <p:spPr>
          <a:xfrm>
            <a:off x="7464152" y="32229"/>
            <a:ext cx="3612464" cy="830997"/>
          </a:xfrm>
          <a:prstGeom prst="rect">
            <a:avLst/>
          </a:prstGeom>
        </p:spPr>
        <p:txBody>
          <a:bodyPr wrap="none">
            <a:spAutoFit/>
          </a:bodyPr>
          <a:lstStyle/>
          <a:p>
            <a:pPr marL="285750" indent="-285750">
              <a:buFont typeface="Arial" panose="020B0604020202020204" pitchFamily="34" charset="0"/>
              <a:buChar char="•"/>
            </a:pPr>
            <a:r>
              <a:rPr lang="en-IN" sz="2200" dirty="0">
                <a:solidFill>
                  <a:srgbClr val="0077AA"/>
                </a:solidFill>
                <a:latin typeface="Liberation Mono"/>
              </a:rPr>
              <a:t>show</a:t>
            </a:r>
            <a:r>
              <a:rPr lang="en-IN" sz="2200" dirty="0">
                <a:latin typeface="Liberation Mono"/>
              </a:rPr>
              <a:t> </a:t>
            </a:r>
            <a:r>
              <a:rPr lang="en-IN" sz="2200" dirty="0">
                <a:solidFill>
                  <a:srgbClr val="0077AA"/>
                </a:solidFill>
                <a:latin typeface="Liberation Mono"/>
              </a:rPr>
              <a:t>variables</a:t>
            </a:r>
            <a:r>
              <a:rPr lang="en-IN" sz="2200" dirty="0">
                <a:latin typeface="Liberation Mono"/>
              </a:rPr>
              <a:t> </a:t>
            </a:r>
            <a:r>
              <a:rPr lang="en-IN" sz="2200" dirty="0">
                <a:solidFill>
                  <a:srgbClr val="0077AA"/>
                </a:solidFill>
                <a:latin typeface="Liberation Mono"/>
              </a:rPr>
              <a:t>like</a:t>
            </a:r>
            <a:r>
              <a:rPr lang="en-IN" sz="2200" dirty="0">
                <a:latin typeface="Liberation Mono"/>
              </a:rPr>
              <a:t> 'auto%’;</a:t>
            </a:r>
          </a:p>
          <a:p>
            <a:pPr marL="285750" indent="-285750">
              <a:buFont typeface="Arial" panose="020B0604020202020204" pitchFamily="34" charset="0"/>
              <a:buChar char="•"/>
            </a:pPr>
            <a:endParaRPr lang="en-IN" sz="4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sz="2200" dirty="0">
                <a:solidFill>
                  <a:srgbClr val="0077AA"/>
                </a:solidFill>
                <a:latin typeface="Liberation Mono"/>
                <a:ea typeface="Times New Roman" panose="02020603050405020304" pitchFamily="18" charset="0"/>
              </a:rPr>
              <a:t>SELECT</a:t>
            </a:r>
            <a:r>
              <a:rPr lang="en-IN" sz="2200" dirty="0">
                <a:latin typeface="Liberation Mono"/>
              </a:rPr>
              <a:t> </a:t>
            </a:r>
            <a:r>
              <a:rPr lang="en-IN" sz="2200" dirty="0">
                <a:latin typeface="Liberation Mono"/>
                <a:ea typeface="Times New Roman" panose="02020603050405020304" pitchFamily="18" charset="0"/>
              </a:rPr>
              <a:t>@@AUTOCOMMIT;</a:t>
            </a:r>
          </a:p>
        </p:txBody>
      </p:sp>
      <p:sp>
        <p:nvSpPr>
          <p:cNvPr id="9" name="TextBox 8">
            <a:extLst>
              <a:ext uri="{FF2B5EF4-FFF2-40B4-BE49-F238E27FC236}">
                <a16:creationId xmlns:a16="http://schemas.microsoft.com/office/drawing/2014/main" id="{01EF03BE-07E8-C0D0-AEC5-A97AC72145DA}"/>
              </a:ext>
            </a:extLst>
          </p:cNvPr>
          <p:cNvSpPr txBox="1"/>
          <p:nvPr/>
        </p:nvSpPr>
        <p:spPr>
          <a:xfrm>
            <a:off x="263352" y="3140968"/>
            <a:ext cx="11593288" cy="360098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is automatically locked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ROW LOCKING IS AUTOMATIC IN MYSQL AND ORACLE.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becomes READ ONLY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from that table; they will view the old data before your changes.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INSERT</a:t>
            </a:r>
            <a:r>
              <a:rPr lang="en-US" dirty="0">
                <a:latin typeface="Arial" panose="020B0604020202020204" pitchFamily="34" charset="0"/>
                <a:cs typeface="Arial" panose="020B0604020202020204" pitchFamily="34" charset="0"/>
              </a:rPr>
              <a:t> rows into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"other" rows of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No other user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your locked row, till you have issued a Rollback or Commit.</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To lock the rows manually you require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statement with a </a:t>
            </a:r>
            <a:r>
              <a:rPr lang="en-US" b="1" dirty="0">
                <a:latin typeface="Arial" panose="020B0604020202020204" pitchFamily="34" charset="0"/>
                <a:cs typeface="Arial" panose="020B0604020202020204" pitchFamily="34" charset="0"/>
              </a:rPr>
              <a:t>FOR UPDATE </a:t>
            </a:r>
            <a:r>
              <a:rPr lang="en-US" dirty="0">
                <a:latin typeface="Arial" panose="020B0604020202020204" pitchFamily="34" charset="0"/>
                <a:cs typeface="Arial" panose="020B0604020202020204" pitchFamily="34" charset="0"/>
              </a:rPr>
              <a:t>clause.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1" dirty="0">
                <a:latin typeface="Arial" panose="020B0604020202020204" pitchFamily="34" charset="0"/>
                <a:cs typeface="Arial" panose="020B0604020202020204" pitchFamily="34" charset="0"/>
              </a:rPr>
              <a:t>LOCKS ARE AUTOMATICALLY RELEASED WHEN YOU ROLLBACK OR COMMIT.</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9053834"/>
      </p:ext>
    </p:extLst>
  </p:cSld>
  <p:clrMapOvr>
    <a:masterClrMapping/>
  </p:clrMapOvr>
  <p:transition/>
</p:sld>
</file>

<file path=ppt/slides/slide6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7" name="Rectangle 6"/>
          <p:cNvSpPr/>
          <p:nvPr/>
        </p:nvSpPr>
        <p:spPr>
          <a:xfrm>
            <a:off x="407368" y="1642409"/>
            <a:ext cx="8839200" cy="1938992"/>
          </a:xfrm>
          <a:prstGeom prst="rect">
            <a:avLst/>
          </a:prstGeom>
        </p:spPr>
        <p:txBody>
          <a:bodyPr wrap="square">
            <a:spAutoFit/>
          </a:bodyPr>
          <a:lstStyle/>
          <a:p>
            <a:r>
              <a:rPr lang="en-IN" dirty="0">
                <a:solidFill>
                  <a:srgbClr val="298AE5"/>
                </a:solidFill>
                <a:latin typeface="Arial" panose="020B0604020202020204" pitchFamily="34" charset="0"/>
                <a:cs typeface="Arial" panose="020B0604020202020204" pitchFamily="34" charset="0"/>
              </a:rPr>
              <a:t> </a:t>
            </a:r>
            <a:r>
              <a:rPr lang="en-IN" sz="2000" dirty="0">
                <a:solidFill>
                  <a:srgbClr val="0077AA"/>
                </a:solidFill>
                <a:latin typeface="Liberation Mono"/>
              </a:rPr>
              <a:t>START TRANSACTION</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transaction_characteristic</a:t>
            </a:r>
            <a:r>
              <a:rPr lang="en-IN" sz="2000" dirty="0">
                <a:latin typeface="Liberation Mono"/>
              </a:rPr>
              <a:t>]</a:t>
            </a:r>
          </a:p>
          <a:p>
            <a:endParaRPr lang="en-IN" sz="2000" dirty="0">
              <a:solidFill>
                <a:srgbClr val="0077AA"/>
              </a:solidFill>
              <a:latin typeface="Liberation Mono"/>
            </a:endParaRPr>
          </a:p>
          <a:p>
            <a:r>
              <a:rPr lang="en-IN" sz="2000" dirty="0">
                <a:solidFill>
                  <a:srgbClr val="0077AA"/>
                </a:solidFill>
                <a:latin typeface="Liberation Mono"/>
              </a:rPr>
              <a:t> transaction_characteristic:</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WRITE</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ONLY</a:t>
            </a:r>
            <a:endParaRPr lang="en-US" sz="2000" dirty="0">
              <a:solidFill>
                <a:srgbClr val="0077AA"/>
              </a:solidFill>
              <a:latin typeface="Liberation Mono"/>
            </a:endParaRPr>
          </a:p>
        </p:txBody>
      </p:sp>
      <p:sp>
        <p:nvSpPr>
          <p:cNvPr id="8" name="Rectangle 7"/>
          <p:cNvSpPr/>
          <p:nvPr/>
        </p:nvSpPr>
        <p:spPr>
          <a:xfrm>
            <a:off x="407368" y="4809926"/>
            <a:ext cx="8991600"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rPr>
              <a:t>START</a:t>
            </a:r>
            <a:r>
              <a:rPr lang="en-IN" dirty="0">
                <a:latin typeface="Liberation Mono"/>
                <a:cs typeface="Arial" panose="020B0604020202020204" pitchFamily="34" charset="0"/>
              </a:rPr>
              <a:t> </a:t>
            </a:r>
            <a:r>
              <a:rPr lang="en-IN" dirty="0">
                <a:solidFill>
                  <a:srgbClr val="0077AA"/>
                </a:solidFill>
                <a:latin typeface="Liberation Mono"/>
              </a:rPr>
              <a:t>TRANSACTION</a:t>
            </a:r>
            <a:r>
              <a:rPr lang="en-IN" dirty="0">
                <a:latin typeface="Liberation Mono"/>
                <a:cs typeface="Arial" panose="020B0604020202020204" pitchFamily="34" charset="0"/>
              </a:rPr>
              <a:t> </a:t>
            </a:r>
            <a:r>
              <a:rPr lang="en-IN" dirty="0">
                <a:solidFill>
                  <a:srgbClr val="0077AA"/>
                </a:solidFill>
                <a:latin typeface="Liberation Mono"/>
              </a:rPr>
              <a:t>READ</a:t>
            </a:r>
            <a:r>
              <a:rPr lang="en-IN" dirty="0">
                <a:latin typeface="Liberation Mono"/>
                <a:cs typeface="Arial" panose="020B0604020202020204" pitchFamily="34" charset="0"/>
              </a:rPr>
              <a:t> </a:t>
            </a:r>
            <a:r>
              <a:rPr lang="en-IN" dirty="0">
                <a:solidFill>
                  <a:srgbClr val="0077AA"/>
                </a:solidFill>
                <a:latin typeface="Liberation Mono"/>
              </a:rPr>
              <a:t>ONLY</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rPr>
              <a:t>INSERT INTO</a:t>
            </a:r>
            <a:r>
              <a:rPr lang="en-IN" dirty="0">
                <a:latin typeface="Liberation Mono"/>
                <a:cs typeface="Arial" panose="020B0604020202020204" pitchFamily="34" charset="0"/>
              </a:rPr>
              <a:t> dept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rPr>
              <a:t>COMMIT</a:t>
            </a:r>
          </a:p>
        </p:txBody>
      </p:sp>
      <p:sp>
        <p:nvSpPr>
          <p:cNvPr id="2" name="Rectangle 1">
            <a:extLst>
              <a:ext uri="{FF2B5EF4-FFF2-40B4-BE49-F238E27FC236}">
                <a16:creationId xmlns:a16="http://schemas.microsoft.com/office/drawing/2014/main" id="{70A4C9E3-87EC-44F4-AEF7-219E1836A4C0}"/>
              </a:ext>
            </a:extLst>
          </p:cNvPr>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3" name="Rectangle 2">
            <a:extLst>
              <a:ext uri="{FF2B5EF4-FFF2-40B4-BE49-F238E27FC236}">
                <a16:creationId xmlns:a16="http://schemas.microsoft.com/office/drawing/2014/main" id="{000D6FF7-B022-4C13-81D0-44B2ABD76BCA}"/>
              </a:ext>
            </a:extLst>
          </p:cNvPr>
          <p:cNvSpPr/>
          <p:nvPr/>
        </p:nvSpPr>
        <p:spPr>
          <a:xfrm>
            <a:off x="407368" y="3860911"/>
            <a:ext cx="11377264"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Tree>
    <p:extLst>
      <p:ext uri="{BB962C8B-B14F-4D97-AF65-F5344CB8AC3E}">
        <p14:creationId xmlns:p14="http://schemas.microsoft.com/office/powerpoint/2010/main" val="2207770282"/>
      </p:ext>
    </p:extLst>
  </p:cSld>
  <p:clrMapOvr>
    <a:masterClrMapping/>
  </p:clrMapOvr>
  <p:transition/>
</p:sld>
</file>

<file path=ppt/slides/slide6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7" name="Rectangle 6"/>
          <p:cNvSpPr/>
          <p:nvPr/>
        </p:nvSpPr>
        <p:spPr>
          <a:xfrm>
            <a:off x="503785" y="1586185"/>
            <a:ext cx="10011815" cy="1631216"/>
          </a:xfrm>
          <a:prstGeom prst="rect">
            <a:avLst/>
          </a:prstGeom>
        </p:spPr>
        <p:txBody>
          <a:bodyPr wrap="square">
            <a:spAutoFit/>
          </a:bodyPr>
          <a:lstStyle/>
          <a:p>
            <a:r>
              <a:rPr lang="en-IN" sz="2000" dirty="0">
                <a:solidFill>
                  <a:srgbClr val="0077AA"/>
                </a:solidFill>
                <a:latin typeface="Liberation Mono"/>
              </a:rPr>
              <a:t>BEGIN </a:t>
            </a:r>
            <a:r>
              <a:rPr lang="en-IN" sz="2000" dirty="0">
                <a:latin typeface="Liberation Mono"/>
              </a:rPr>
              <a:t>[</a:t>
            </a:r>
            <a:r>
              <a:rPr lang="en-IN" sz="2000" i="1" dirty="0">
                <a:latin typeface="Liberation Mono"/>
              </a:rPr>
              <a:t>work</a:t>
            </a:r>
            <a:r>
              <a:rPr lang="en-IN" sz="2000" dirty="0">
                <a:latin typeface="Liberation Mono"/>
              </a:rPr>
              <a:t>]</a:t>
            </a:r>
          </a:p>
          <a:p>
            <a:r>
              <a:rPr lang="en-IN" sz="2000" dirty="0">
                <a:solidFill>
                  <a:srgbClr val="0077AA"/>
                </a:solidFill>
                <a:latin typeface="Liberation Mono"/>
              </a:rPr>
              <a:t>COMMIT </a:t>
            </a:r>
            <a:r>
              <a:rPr lang="en-IN" sz="2000" dirty="0">
                <a:latin typeface="Liberation Mono"/>
              </a:rPr>
              <a:t>[</a:t>
            </a:r>
            <a:r>
              <a:rPr lang="en-IN" sz="2000" i="1" dirty="0">
                <a:latin typeface="Liberation Mono"/>
              </a:rPr>
              <a:t>work</a:t>
            </a:r>
            <a:r>
              <a:rPr lang="en-IN" sz="2000" dirty="0">
                <a:latin typeface="Liberation Mono"/>
              </a:rPr>
              <a:t>]</a:t>
            </a:r>
          </a:p>
          <a:p>
            <a:r>
              <a:rPr lang="en-IN" sz="2000" b="0" i="0" dirty="0">
                <a:solidFill>
                  <a:srgbClr val="0077AA"/>
                </a:solidFill>
                <a:effectLst/>
                <a:latin typeface="Liberation Mono"/>
              </a:rPr>
              <a:t>SAVEPOINT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chemeClr val="bg1">
                  <a:lumMod val="65000"/>
                </a:schemeClr>
              </a:solidFill>
              <a:latin typeface="Liberation Mono"/>
            </a:endParaRPr>
          </a:p>
          <a:p>
            <a:r>
              <a:rPr lang="en-IN" sz="2000" dirty="0">
                <a:solidFill>
                  <a:srgbClr val="0077AA"/>
                </a:solidFill>
                <a:latin typeface="Liberation Mono"/>
              </a:rPr>
              <a:t>ROLLBACK </a:t>
            </a:r>
            <a:r>
              <a:rPr lang="en-IN" sz="2000" dirty="0">
                <a:latin typeface="Liberation Mono"/>
              </a:rPr>
              <a:t>[</a:t>
            </a:r>
            <a:r>
              <a:rPr lang="en-IN" sz="2000" i="1" dirty="0">
                <a:latin typeface="Liberation Mono"/>
              </a:rPr>
              <a:t>work</a:t>
            </a:r>
            <a:r>
              <a:rPr lang="en-IN" sz="2000" dirty="0">
                <a:latin typeface="Liberation Mono"/>
              </a:rPr>
              <a:t>]</a:t>
            </a:r>
            <a:r>
              <a:rPr lang="en-IN" sz="2000" dirty="0">
                <a:solidFill>
                  <a:srgbClr val="0077AA"/>
                </a:solidFill>
                <a:latin typeface="Liberation Mono"/>
              </a:rPr>
              <a:t> </a:t>
            </a:r>
            <a:r>
              <a:rPr lang="en-IN" sz="2000" b="0" i="0" dirty="0">
                <a:solidFill>
                  <a:srgbClr val="0077AA"/>
                </a:solidFill>
                <a:effectLst/>
                <a:latin typeface="Liberation Mono"/>
              </a:rPr>
              <a:t>TO</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77AA"/>
                </a:solidFill>
                <a:effectLst/>
                <a:latin typeface="Liberation Mono"/>
              </a:rPr>
              <a:t>SAVEPOINT</a:t>
            </a:r>
            <a:r>
              <a:rPr lang="en-IN" sz="2000" b="0" i="0" dirty="0">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rgbClr val="0077AA"/>
              </a:solidFill>
              <a:latin typeface="Liberation Mono"/>
            </a:endParaRPr>
          </a:p>
          <a:p>
            <a:r>
              <a:rPr lang="en-IN" sz="2000" dirty="0">
                <a:solidFill>
                  <a:srgbClr val="0077AA"/>
                </a:solidFill>
                <a:latin typeface="Liberation Mono"/>
              </a:rPr>
              <a:t>SET autocommit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990055"/>
                </a:solidFill>
                <a:latin typeface="Liberation Mono"/>
              </a:rPr>
              <a:t>0</a:t>
            </a:r>
            <a:r>
              <a:rPr lang="en-IN" sz="2000" dirty="0">
                <a:solidFill>
                  <a:schemeClr val="bg1">
                    <a:lumMod val="65000"/>
                  </a:schemeClr>
                </a:solidFill>
                <a:latin typeface="Liberation Mono"/>
              </a:rPr>
              <a:t> </a:t>
            </a:r>
            <a:r>
              <a:rPr lang="en-IN" sz="2000" dirty="0">
                <a:solidFill>
                  <a:schemeClr val="bg1">
                    <a:lumMod val="50000"/>
                  </a:schemeClr>
                </a:solidFill>
                <a:latin typeface="Liberation Mono"/>
              </a:rPr>
              <a:t>|</a:t>
            </a:r>
            <a:r>
              <a:rPr lang="en-IN" sz="2000" dirty="0">
                <a:solidFill>
                  <a:schemeClr val="bg1">
                    <a:lumMod val="65000"/>
                  </a:schemeClr>
                </a:solidFill>
                <a:latin typeface="Liberation Mono"/>
              </a:rPr>
              <a:t> </a:t>
            </a:r>
            <a:r>
              <a:rPr lang="en-IN" sz="2000" dirty="0">
                <a:solidFill>
                  <a:srgbClr val="990055"/>
                </a:solidFill>
                <a:latin typeface="Liberation Mono"/>
              </a:rPr>
              <a:t>1</a:t>
            </a:r>
            <a:r>
              <a:rPr lang="en-IN" sz="2000" dirty="0">
                <a:latin typeface="Liberation Mono"/>
              </a:rPr>
              <a:t>}</a:t>
            </a:r>
            <a:endParaRPr lang="en-US" sz="2000" dirty="0">
              <a:latin typeface="Liberation Mono"/>
            </a:endParaRPr>
          </a:p>
        </p:txBody>
      </p:sp>
      <p:sp>
        <p:nvSpPr>
          <p:cNvPr id="8" name="Rectangle 7"/>
          <p:cNvSpPr/>
          <p:nvPr/>
        </p:nvSpPr>
        <p:spPr>
          <a:xfrm>
            <a:off x="407368" y="4149080"/>
            <a:ext cx="10260632"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BEGIN </a:t>
            </a:r>
            <a:r>
              <a:rPr lang="en-IN" dirty="0">
                <a:latin typeface="Liberation Mono"/>
              </a:rPr>
              <a:t>WORK</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dirty="0">
                <a:solidFill>
                  <a:srgbClr val="0077AA"/>
                </a:solidFill>
                <a:latin typeface="Liberation Mono"/>
              </a:rPr>
              <a:t>ROLLBACK </a:t>
            </a:r>
            <a:r>
              <a:rPr lang="en-IN" sz="1800" dirty="0">
                <a:latin typeface="Liberation Mono"/>
              </a:rPr>
              <a:t>/</a:t>
            </a:r>
            <a:r>
              <a:rPr lang="en-IN" sz="1800" dirty="0">
                <a:solidFill>
                  <a:srgbClr val="0077AA"/>
                </a:solidFill>
                <a:latin typeface="Liberation Mono"/>
              </a:rPr>
              <a:t> </a:t>
            </a:r>
            <a:r>
              <a:rPr lang="en-IN" dirty="0">
                <a:solidFill>
                  <a:srgbClr val="0077AA"/>
                </a:solidFill>
                <a:latin typeface="Liberation Mono"/>
                <a:ea typeface="Times New Roman" panose="02020603050405020304" pitchFamily="18" charset="0"/>
              </a:rPr>
              <a:t>COMMIT </a:t>
            </a:r>
            <a:r>
              <a:rPr lang="en-IN" dirty="0">
                <a:latin typeface="Liberation Mono"/>
                <a:ea typeface="Times New Roman" panose="02020603050405020304" pitchFamily="18" charset="0"/>
              </a:rPr>
              <a:t>WORK</a:t>
            </a:r>
          </a:p>
        </p:txBody>
      </p:sp>
      <p:sp>
        <p:nvSpPr>
          <p:cNvPr id="2" name="Rectangle 1">
            <a:extLst>
              <a:ext uri="{FF2B5EF4-FFF2-40B4-BE49-F238E27FC236}">
                <a16:creationId xmlns:a16="http://schemas.microsoft.com/office/drawing/2014/main" id="{99783F57-F51D-4518-A27C-52438A461DAC}"/>
              </a:ext>
            </a:extLst>
          </p:cNvPr>
          <p:cNvSpPr/>
          <p:nvPr/>
        </p:nvSpPr>
        <p:spPr>
          <a:xfrm>
            <a:off x="407368" y="3284984"/>
            <a:ext cx="11377264"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
        <p:nvSpPr>
          <p:cNvPr id="11" name="Rectangle 10">
            <a:extLst>
              <a:ext uri="{FF2B5EF4-FFF2-40B4-BE49-F238E27FC236}">
                <a16:creationId xmlns:a16="http://schemas.microsoft.com/office/drawing/2014/main" id="{855E7D78-942F-4948-A229-1C65B16C64C9}"/>
              </a:ext>
            </a:extLst>
          </p:cNvPr>
          <p:cNvSpPr/>
          <p:nvPr/>
        </p:nvSpPr>
        <p:spPr>
          <a:xfrm>
            <a:off x="407368" y="5264040"/>
            <a:ext cx="10260632" cy="1477328"/>
          </a:xfrm>
          <a:prstGeom prst="rect">
            <a:avLst/>
          </a:prstGeom>
        </p:spPr>
        <p:txBody>
          <a:bodyPr wrap="square">
            <a:spAutoFit/>
          </a:bodyPr>
          <a:lstStyle/>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pt0;</a:t>
            </a:r>
            <a:endParaRPr lang="en-IN"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pt1;</a:t>
            </a:r>
            <a:endParaRPr lang="en-IN" sz="1800" dirty="0">
              <a:latin typeface="Liberation Mono"/>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sz="1800" dirty="0">
                <a:solidFill>
                  <a:srgbClr val="0077AA"/>
                </a:solidFill>
                <a:latin typeface="Liberation Mono"/>
              </a:rPr>
              <a:t>ROLLBACK TO SAVEPOINT </a:t>
            </a:r>
            <a:r>
              <a:rPr lang="en-IN" sz="1800" dirty="0">
                <a:latin typeface="Liberation Mono"/>
              </a:rPr>
              <a:t>pt1;</a:t>
            </a:r>
            <a:endParaRPr lang="en-IN" dirty="0">
              <a:latin typeface="Liberation Mono"/>
              <a:ea typeface="Times New Roman" panose="02020603050405020304" pitchFamily="18" charset="0"/>
            </a:endParaRPr>
          </a:p>
        </p:txBody>
      </p:sp>
      <p:cxnSp>
        <p:nvCxnSpPr>
          <p:cNvPr id="6" name="Straight Connector 5">
            <a:extLst>
              <a:ext uri="{FF2B5EF4-FFF2-40B4-BE49-F238E27FC236}">
                <a16:creationId xmlns:a16="http://schemas.microsoft.com/office/drawing/2014/main" id="{D96333C0-37E9-4542-B8CC-6AD0317B73CF}"/>
              </a:ext>
            </a:extLst>
          </p:cNvPr>
          <p:cNvCxnSpPr/>
          <p:nvPr/>
        </p:nvCxnSpPr>
        <p:spPr>
          <a:xfrm>
            <a:off x="478971" y="5157192"/>
            <a:ext cx="11248572" cy="0"/>
          </a:xfrm>
          <a:prstGeom prst="line">
            <a:avLst/>
          </a:prstGeom>
          <a:ln w="28575">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6562057"/>
      </p:ext>
    </p:extLst>
  </p:cSld>
  <p:clrMapOvr>
    <a:masterClrMapping/>
  </p:clrMapOvr>
  <p:transition/>
</p:sld>
</file>

<file path=ppt/slides/slide6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for update</a:t>
            </a:r>
          </a:p>
        </p:txBody>
      </p:sp>
    </p:spTree>
    <p:extLst>
      <p:ext uri="{BB962C8B-B14F-4D97-AF65-F5344CB8AC3E}">
        <p14:creationId xmlns:p14="http://schemas.microsoft.com/office/powerpoint/2010/main" val="3707465087"/>
      </p:ext>
    </p:extLst>
  </p:cSld>
  <p:clrMapOvr>
    <a:masterClrMapping/>
  </p:clrMapOvr>
  <p:transition/>
</p:sld>
</file>

<file path=ppt/slides/slide6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for update</a:t>
            </a:r>
            <a:endParaRPr lang="en-IN" sz="3200" i="1" dirty="0">
              <a:solidFill>
                <a:srgbClr val="FF9900"/>
              </a:solidFill>
              <a:latin typeface="Arial" pitchFamily="34" charset="0"/>
              <a:cs typeface="Arial" pitchFamily="34" charset="0"/>
            </a:endParaRPr>
          </a:p>
        </p:txBody>
      </p:sp>
      <p:sp>
        <p:nvSpPr>
          <p:cNvPr id="9" name="Rectangle 8"/>
          <p:cNvSpPr/>
          <p:nvPr/>
        </p:nvSpPr>
        <p:spPr>
          <a:xfrm>
            <a:off x="623392" y="2204864"/>
            <a:ext cx="86868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DD4A68"/>
                </a:solidFill>
                <a:latin typeface="Liberation Mono"/>
                <a:ea typeface="Times New Roman" panose="02020603050405020304" pitchFamily="18" charset="0"/>
              </a:rPr>
              <a:t>FOR</a:t>
            </a:r>
            <a:r>
              <a:rPr lang="en-US" dirty="0">
                <a:solidFill>
                  <a:srgbClr val="0077AA"/>
                </a:solidFill>
                <a:latin typeface="Liberation Mono"/>
                <a:ea typeface="Times New Roman" panose="02020603050405020304" pitchFamily="18" charset="0"/>
              </a:rPr>
              <a:t> </a:t>
            </a:r>
            <a:r>
              <a:rPr lang="en-US" dirty="0">
                <a:solidFill>
                  <a:srgbClr val="DD4A68"/>
                </a:solidFill>
                <a:latin typeface="Liberation Mono"/>
                <a:ea typeface="Times New Roman" panose="02020603050405020304" pitchFamily="18" charset="0"/>
              </a:rPr>
              <a:t>UPDATE</a:t>
            </a:r>
            <a:r>
              <a:rPr lang="en-US" dirty="0">
                <a:solidFill>
                  <a:srgbClr val="000000"/>
                </a:solidFill>
                <a:latin typeface="Liberation Mono"/>
                <a:ea typeface="Times New Roman" panose="02020603050405020304" pitchFamily="18" charset="0"/>
              </a:rPr>
              <a:t>;</a:t>
            </a:r>
            <a:endParaRPr lang="en-IN" dirty="0">
              <a:solidFill>
                <a:srgbClr val="000000"/>
              </a:solidFill>
              <a:latin typeface="Liberation Mono"/>
              <a:ea typeface="Times New Roman" panose="02020603050405020304" pitchFamily="18" charset="0"/>
            </a:endParaRPr>
          </a:p>
        </p:txBody>
      </p:sp>
      <p:sp>
        <p:nvSpPr>
          <p:cNvPr id="8" name="Rectangle 7">
            <a:extLst>
              <a:ext uri="{FF2B5EF4-FFF2-40B4-BE49-F238E27FC236}">
                <a16:creationId xmlns:a16="http://schemas.microsoft.com/office/drawing/2014/main" id="{55FD76A5-EDE8-F04C-B8C6-06833B6B75E7}"/>
              </a:ext>
            </a:extLst>
          </p:cNvPr>
          <p:cNvSpPr/>
          <p:nvPr/>
        </p:nvSpPr>
        <p:spPr>
          <a:xfrm>
            <a:off x="622598" y="941044"/>
            <a:ext cx="1130525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Sets a shared mode lock on any rows that are read. Other sessions can read the rows, but cannot modify them until your transaction commits. If any of these rows were changed by another transaction that has not yet committed, your query waits until that transaction ends and then uses the latest values.</a:t>
            </a:r>
          </a:p>
        </p:txBody>
      </p:sp>
    </p:spTree>
    <p:extLst>
      <p:ext uri="{BB962C8B-B14F-4D97-AF65-F5344CB8AC3E}">
        <p14:creationId xmlns:p14="http://schemas.microsoft.com/office/powerpoint/2010/main" val="3323614553"/>
      </p:ext>
    </p:extLst>
  </p:cSld>
  <p:clrMapOvr>
    <a:masterClrMapping/>
  </p:clrMapOvr>
  <p:transition/>
</p:sld>
</file>

<file path=ppt/slides/slide6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truncate table</a:t>
            </a:r>
          </a:p>
        </p:txBody>
      </p:sp>
      <p:sp>
        <p:nvSpPr>
          <p:cNvPr id="8" name="Rectangle 7">
            <a:extLst>
              <a:ext uri="{FF2B5EF4-FFF2-40B4-BE49-F238E27FC236}">
                <a16:creationId xmlns:a16="http://schemas.microsoft.com/office/drawing/2014/main" id="{53903889-7619-467A-A413-59E1BF6BB508}"/>
              </a:ext>
            </a:extLst>
          </p:cNvPr>
          <p:cNvSpPr/>
          <p:nvPr/>
        </p:nvSpPr>
        <p:spPr>
          <a:xfrm>
            <a:off x="263352" y="3717032"/>
            <a:ext cx="11664502" cy="190821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while DROP and TRUNCATE operations cannot be rolled back.</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TRUNCATE TABLE statement removes all the data/rows of a table and resets the auto-increment value to zero.</a:t>
            </a:r>
          </a:p>
        </p:txBody>
      </p:sp>
      <p:cxnSp>
        <p:nvCxnSpPr>
          <p:cNvPr id="10" name="Straight Connector 9">
            <a:extLst>
              <a:ext uri="{FF2B5EF4-FFF2-40B4-BE49-F238E27FC236}">
                <a16:creationId xmlns:a16="http://schemas.microsoft.com/office/drawing/2014/main" id="{A5248665-1969-40E7-A8FD-F5B133669C56}"/>
              </a:ext>
            </a:extLst>
          </p:cNvPr>
          <p:cNvCxnSpPr>
            <a:cxnSpLocks/>
          </p:cNvCxnSpPr>
          <p:nvPr/>
        </p:nvCxnSpPr>
        <p:spPr>
          <a:xfrm>
            <a:off x="263352" y="5733256"/>
            <a:ext cx="11592494"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798836"/>
      </p:ext>
    </p:extLst>
  </p:cSld>
  <p:clrMapOvr>
    <a:masterClrMapping/>
  </p:clrMapOvr>
</p:sld>
</file>

<file path=ppt/slides/slide7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truncate table</a:t>
            </a:r>
          </a:p>
        </p:txBody>
      </p:sp>
      <p:sp>
        <p:nvSpPr>
          <p:cNvPr id="8" name="Rectangle 7">
            <a:extLst>
              <a:ext uri="{FF2B5EF4-FFF2-40B4-BE49-F238E27FC236}">
                <a16:creationId xmlns:a16="http://schemas.microsoft.com/office/drawing/2014/main" id="{53DC5C15-8402-4660-A099-589DF34E65FE}"/>
              </a:ext>
            </a:extLst>
          </p:cNvPr>
          <p:cNvSpPr/>
          <p:nvPr/>
        </p:nvSpPr>
        <p:spPr>
          <a:xfrm>
            <a:off x="622598" y="941044"/>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Logically, TRUNCATE TABLE is similar to a DELETE statement that deletes all rows, or a sequence of DROP TABLE and CREATE TABLE statements.</a:t>
            </a:r>
          </a:p>
        </p:txBody>
      </p:sp>
      <p:sp>
        <p:nvSpPr>
          <p:cNvPr id="9" name="Rectangle 8">
            <a:extLst>
              <a:ext uri="{FF2B5EF4-FFF2-40B4-BE49-F238E27FC236}">
                <a16:creationId xmlns:a16="http://schemas.microsoft.com/office/drawing/2014/main" id="{EE0AE80C-322B-4B97-867E-877292D3CB4A}"/>
              </a:ext>
            </a:extLst>
          </p:cNvPr>
          <p:cNvSpPr/>
          <p:nvPr/>
        </p:nvSpPr>
        <p:spPr>
          <a:xfrm>
            <a:off x="622598" y="1761631"/>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TRUNCATE [TABLE] </a:t>
            </a:r>
            <a:r>
              <a:rPr lang="en-IN" sz="2000" dirty="0">
                <a:latin typeface="Liberation Mono"/>
                <a:cs typeface="Arial" panose="020B0604020202020204" pitchFamily="34" charset="0"/>
              </a:rPr>
              <a:t>tbl_name</a:t>
            </a:r>
            <a:endParaRPr lang="en-US" sz="2000" dirty="0">
              <a:latin typeface="Liberation Mono"/>
              <a:cs typeface="Arial" panose="020B0604020202020204" pitchFamily="34" charset="0"/>
            </a:endParaRPr>
          </a:p>
        </p:txBody>
      </p:sp>
      <p:sp>
        <p:nvSpPr>
          <p:cNvPr id="10" name="Rectangle 9">
            <a:extLst>
              <a:ext uri="{FF2B5EF4-FFF2-40B4-BE49-F238E27FC236}">
                <a16:creationId xmlns:a16="http://schemas.microsoft.com/office/drawing/2014/main" id="{3CF66E0E-2584-4A80-BC6A-174BB8A280C1}"/>
              </a:ext>
            </a:extLst>
          </p:cNvPr>
          <p:cNvSpPr/>
          <p:nvPr/>
        </p:nvSpPr>
        <p:spPr>
          <a:xfrm>
            <a:off x="298562" y="2492896"/>
            <a:ext cx="11593288" cy="3411190"/>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drop and re-create the table, which is much faster than deleting rows one by one.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cause an implicit commit, and so cannot be rolled back.</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does not cause ON DELETE triggers to fire.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cannot be performed for parent-child foreign key relationships.</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retain Identity and reset to the seed </a:t>
            </a:r>
            <a:r>
              <a:rPr lang="en-IN" dirty="0">
                <a:solidFill>
                  <a:srgbClr val="00B050"/>
                </a:solidFill>
                <a:latin typeface="Arial" panose="020B0604020202020204" pitchFamily="34" charset="0"/>
                <a:cs typeface="Arial" panose="020B0604020202020204" pitchFamily="34" charset="0"/>
              </a:rPr>
              <a:t>(start value) </a:t>
            </a:r>
            <a:r>
              <a:rPr lang="en-IN" dirty="0">
                <a:latin typeface="Arial" panose="020B0604020202020204" pitchFamily="34" charset="0"/>
                <a:cs typeface="Arial" panose="020B0604020202020204" pitchFamily="34" charset="0"/>
              </a:rPr>
              <a:t>value.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Cannot truncate a table referenced in a foreign key constraint.</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Any AUTO_INCREMENT value is reset to its start value [</a:t>
            </a:r>
            <a:r>
              <a:rPr lang="en-US" dirty="0">
                <a:solidFill>
                  <a:srgbClr val="990055"/>
                </a:solidFill>
                <a:latin typeface="Arial" panose="020B0604020202020204" pitchFamily="34" charset="0"/>
                <a:cs typeface="Arial" panose="020B0604020202020204" pitchFamily="34" charset="0"/>
              </a:rPr>
              <a:t>0</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F6B88A41-549E-4984-A5E3-50BF2544BABB}"/>
              </a:ext>
            </a:extLst>
          </p:cNvPr>
          <p:cNvCxnSpPr/>
          <p:nvPr/>
        </p:nvCxnSpPr>
        <p:spPr>
          <a:xfrm>
            <a:off x="298562" y="6093296"/>
            <a:ext cx="1134126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4231385"/>
      </p:ext>
    </p:extLst>
  </p:cSld>
  <p:clrMapOvr>
    <a:masterClrMapping/>
  </p:clrMapOvr>
</p:sld>
</file>

<file path=ppt/slides/slide7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471878" cy="553998"/>
            </a:xfrm>
            <a:prstGeom prst="rect">
              <a:avLst/>
            </a:prstGeom>
            <a:noFill/>
          </p:spPr>
          <p:txBody>
            <a:bodyPr wrap="none" rtlCol="0">
              <a:spAutoFit/>
            </a:bodyPr>
            <a:lstStyle/>
            <a:p>
              <a:r>
                <a:rPr lang="en-US" sz="3000" dirty="0"/>
                <a:t>DELETE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1281033890"/>
              </p:ext>
            </p:extLst>
          </p:nvPr>
        </p:nvGraphicFramePr>
        <p:xfrm>
          <a:off x="191344" y="1196570"/>
          <a:ext cx="11809312" cy="5389262"/>
        </p:xfrm>
        <a:graphic>
          <a:graphicData uri="http://schemas.openxmlformats.org/drawingml/2006/table">
            <a:tbl>
              <a:tblPr>
                <a:tableStyleId>{BDBED569-4797-4DF1-A0F4-6AAB3CD982D8}</a:tableStyleId>
              </a:tblPr>
              <a:tblGrid>
                <a:gridCol w="5904656">
                  <a:extLst>
                    <a:ext uri="{9D8B030D-6E8A-4147-A177-3AD203B41FA5}">
                      <a16:colId xmlns:a16="http://schemas.microsoft.com/office/drawing/2014/main" val="133407038"/>
                    </a:ext>
                  </a:extLst>
                </a:gridCol>
                <a:gridCol w="5904656">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DELETE</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t"/>
                      <a:r>
                        <a:rPr lang="en-US" sz="1800" dirty="0">
                          <a:effectLst/>
                          <a:latin typeface="Palatino Linotype" panose="02040502050505030304" pitchFamily="18" charset="0"/>
                        </a:rPr>
                        <a:t>You can specify the tuple that you want to delete.</a:t>
                      </a:r>
                    </a:p>
                  </a:txBody>
                  <a:tcPr marL="32051" marR="32051" marT="32051" marB="32051"/>
                </a:tc>
                <a:tc>
                  <a:txBody>
                    <a:bodyPr/>
                    <a:lstStyle/>
                    <a:p>
                      <a:pPr algn="l" fontAlgn="t"/>
                      <a:r>
                        <a:rPr lang="en-US" sz="1800" dirty="0">
                          <a:effectLst/>
                          <a:latin typeface="Palatino Linotype" panose="02040502050505030304" pitchFamily="18" charset="0"/>
                        </a:rPr>
                        <a:t>It deletes all the tuples from a relation.</a:t>
                      </a:r>
                    </a:p>
                  </a:txBody>
                  <a:tcPr marL="32051" marR="32051" marT="32051" marB="32051"/>
                </a:tc>
                <a:extLst>
                  <a:ext uri="{0D108BD9-81ED-4DB2-BD59-A6C34878D82A}">
                    <a16:rowId xmlns:a16="http://schemas.microsoft.com/office/drawing/2014/main" val="3098090292"/>
                  </a:ext>
                </a:extLst>
              </a:tr>
              <a:tr h="410246">
                <a:tc>
                  <a:txBody>
                    <a:bodyPr/>
                    <a:lstStyle/>
                    <a:p>
                      <a:pPr algn="l" fontAlgn="t"/>
                      <a:r>
                        <a:rPr lang="en-IN" sz="1800" dirty="0">
                          <a:effectLst/>
                          <a:latin typeface="Palatino Linotype" panose="02040502050505030304" pitchFamily="18" charset="0"/>
                        </a:rPr>
                        <a:t>DELETE is a Data Manipulation Language command.</a:t>
                      </a:r>
                    </a:p>
                  </a:txBody>
                  <a:tcPr marL="32051" marR="32051" marT="32051" marB="32051"/>
                </a:tc>
                <a:tc>
                  <a:txBody>
                    <a:bodyPr/>
                    <a:lstStyle/>
                    <a:p>
                      <a:pPr algn="l" fontAlgn="t"/>
                      <a:r>
                        <a:rPr lang="en-IN" sz="1800" dirty="0">
                          <a:effectLst/>
                          <a:latin typeface="Palatino Linotype" panose="02040502050505030304" pitchFamily="18" charset="0"/>
                        </a:rPr>
                        <a:t>TRUNCATE is a Data Definition Language command.</a:t>
                      </a:r>
                    </a:p>
                  </a:txBody>
                  <a:tcPr marL="32051" marR="32051" marT="32051" marB="32051"/>
                </a:tc>
                <a:extLst>
                  <a:ext uri="{0D108BD9-81ED-4DB2-BD59-A6C34878D82A}">
                    <a16:rowId xmlns:a16="http://schemas.microsoft.com/office/drawing/2014/main" val="832143257"/>
                  </a:ext>
                </a:extLst>
              </a:tr>
              <a:tr h="525628">
                <a:tc>
                  <a:txBody>
                    <a:bodyPr/>
                    <a:lstStyle/>
                    <a:p>
                      <a:pPr algn="l" fontAlgn="t"/>
                      <a:r>
                        <a:rPr lang="en-US" sz="1800" dirty="0">
                          <a:effectLst/>
                          <a:latin typeface="Palatino Linotype" panose="02040502050505030304" pitchFamily="18" charset="0"/>
                        </a:rPr>
                        <a:t>DELETE command can have WHERE clause.</a:t>
                      </a:r>
                    </a:p>
                  </a:txBody>
                  <a:tcPr marL="32051" marR="32051" marT="32051" marB="32051"/>
                </a:tc>
                <a:tc>
                  <a:txBody>
                    <a:bodyPr/>
                    <a:lstStyle/>
                    <a:p>
                      <a:pPr algn="l" fontAlgn="t"/>
                      <a:r>
                        <a:rPr lang="en-US" sz="1800" dirty="0">
                          <a:effectLst/>
                          <a:latin typeface="Palatino Linotype" panose="02040502050505030304" pitchFamily="18" charset="0"/>
                        </a:rPr>
                        <a:t>TRUNCATE command do not have WHERE clause.</a:t>
                      </a:r>
                    </a:p>
                  </a:txBody>
                  <a:tcPr marL="32051" marR="32051" marT="32051" marB="32051"/>
                </a:tc>
                <a:extLst>
                  <a:ext uri="{0D108BD9-81ED-4DB2-BD59-A6C34878D82A}">
                    <a16:rowId xmlns:a16="http://schemas.microsoft.com/office/drawing/2014/main" val="3469526371"/>
                  </a:ext>
                </a:extLst>
              </a:tr>
              <a:tr h="641010">
                <a:tc>
                  <a:txBody>
                    <a:bodyPr/>
                    <a:lstStyle/>
                    <a:p>
                      <a:pPr algn="l" fontAlgn="t"/>
                      <a:r>
                        <a:rPr lang="en-US" sz="1800" dirty="0">
                          <a:effectLst/>
                          <a:latin typeface="Palatino Linotype" panose="02040502050505030304" pitchFamily="18" charset="0"/>
                        </a:rPr>
                        <a:t>DELETE command activates the trigger applied on the table and causes them to fire.</a:t>
                      </a:r>
                    </a:p>
                  </a:txBody>
                  <a:tcPr marL="32051" marR="32051" marT="32051" marB="32051"/>
                </a:tc>
                <a:tc>
                  <a:txBody>
                    <a:bodyPr/>
                    <a:lstStyle/>
                    <a:p>
                      <a:pPr algn="l" fontAlgn="t"/>
                      <a:r>
                        <a:rPr lang="en-US" sz="1800" dirty="0">
                          <a:effectLst/>
                          <a:latin typeface="Palatino Linotype" panose="02040502050505030304" pitchFamily="18" charset="0"/>
                        </a:rPr>
                        <a:t>TRUNCATE command does not activate the triggers to fire.</a:t>
                      </a:r>
                    </a:p>
                  </a:txBody>
                  <a:tcPr marL="32051" marR="32051" marT="32051" marB="32051"/>
                </a:tc>
                <a:extLst>
                  <a:ext uri="{0D108BD9-81ED-4DB2-BD59-A6C34878D82A}">
                    <a16:rowId xmlns:a16="http://schemas.microsoft.com/office/drawing/2014/main" val="1131930068"/>
                  </a:ext>
                </a:extLst>
              </a:tr>
              <a:tr h="525628">
                <a:tc>
                  <a:txBody>
                    <a:bodyPr/>
                    <a:lstStyle/>
                    <a:p>
                      <a:pPr algn="l" fontAlgn="t"/>
                      <a:r>
                        <a:rPr lang="en-US" sz="1800" dirty="0">
                          <a:effectLst/>
                          <a:latin typeface="Palatino Linotype" panose="02040502050505030304" pitchFamily="18" charset="0"/>
                        </a:rPr>
                        <a:t>DELETE command eliminate the tuples one-by-one.</a:t>
                      </a:r>
                    </a:p>
                  </a:txBody>
                  <a:tcPr marL="32051" marR="32051" marT="32051" marB="32051"/>
                </a:tc>
                <a:tc>
                  <a:txBody>
                    <a:bodyPr/>
                    <a:lstStyle/>
                    <a:p>
                      <a:pPr algn="l" fontAlgn="t"/>
                      <a:r>
                        <a:rPr lang="en-US" sz="1800" dirty="0">
                          <a:effectLst/>
                          <a:latin typeface="Palatino Linotype" panose="02040502050505030304" pitchFamily="18" charset="0"/>
                        </a:rPr>
                        <a:t>TRUNCATE delete the entire data page containing the tuples.</a:t>
                      </a:r>
                    </a:p>
                  </a:txBody>
                  <a:tcPr marL="32051" marR="32051" marT="32051" marB="32051"/>
                </a:tc>
                <a:extLst>
                  <a:ext uri="{0D108BD9-81ED-4DB2-BD59-A6C34878D82A}">
                    <a16:rowId xmlns:a16="http://schemas.microsoft.com/office/drawing/2014/main" val="1973152838"/>
                  </a:ext>
                </a:extLst>
              </a:tr>
              <a:tr h="525628">
                <a:tc>
                  <a:txBody>
                    <a:bodyPr/>
                    <a:lstStyle/>
                    <a:p>
                      <a:pPr algn="l" fontAlgn="t"/>
                      <a:r>
                        <a:rPr lang="en-US" sz="1800">
                          <a:effectLst/>
                          <a:latin typeface="Palatino Linotype" panose="02040502050505030304" pitchFamily="18" charset="0"/>
                        </a:rPr>
                        <a:t>DELETE command lock the row/tuple before deleteing it.</a:t>
                      </a:r>
                    </a:p>
                  </a:txBody>
                  <a:tcPr marL="32051" marR="32051" marT="32051" marB="32051"/>
                </a:tc>
                <a:tc>
                  <a:txBody>
                    <a:bodyPr/>
                    <a:lstStyle/>
                    <a:p>
                      <a:pPr algn="l" fontAlgn="t"/>
                      <a:r>
                        <a:rPr lang="en-US" sz="1800" dirty="0">
                          <a:effectLst/>
                          <a:latin typeface="Palatino Linotype" panose="02040502050505030304" pitchFamily="18" charset="0"/>
                        </a:rPr>
                        <a:t>TRUNCATE command lock data page </a:t>
                      </a:r>
                      <a:r>
                        <a:rPr lang="en-US" sz="1800">
                          <a:effectLst/>
                          <a:latin typeface="Palatino Linotype" panose="02040502050505030304" pitchFamily="18" charset="0"/>
                        </a:rPr>
                        <a:t>before deleting </a:t>
                      </a:r>
                      <a:r>
                        <a:rPr lang="en-US" sz="1800" dirty="0">
                          <a:effectLst/>
                          <a:latin typeface="Palatino Linotype" panose="02040502050505030304" pitchFamily="18" charset="0"/>
                        </a:rPr>
                        <a:t>table data.</a:t>
                      </a:r>
                    </a:p>
                  </a:txBody>
                  <a:tcPr marL="32051" marR="32051" marT="32051" marB="32051"/>
                </a:tc>
                <a:extLst>
                  <a:ext uri="{0D108BD9-81ED-4DB2-BD59-A6C34878D82A}">
                    <a16:rowId xmlns:a16="http://schemas.microsoft.com/office/drawing/2014/main" val="240027574"/>
                  </a:ext>
                </a:extLst>
              </a:tr>
              <a:tr h="525628">
                <a:tc>
                  <a:txBody>
                    <a:bodyPr/>
                    <a:lstStyle/>
                    <a:p>
                      <a:pPr algn="l" fontAlgn="t"/>
                      <a:r>
                        <a:rPr lang="en-US" sz="1800">
                          <a:effectLst/>
                          <a:latin typeface="Palatino Linotype" panose="02040502050505030304" pitchFamily="18" charset="0"/>
                        </a:rPr>
                        <a:t>DELETE command acts slower as compared to TRUNCATE.</a:t>
                      </a:r>
                    </a:p>
                  </a:txBody>
                  <a:tcPr marL="32051" marR="32051" marT="32051" marB="32051"/>
                </a:tc>
                <a:tc>
                  <a:txBody>
                    <a:bodyPr/>
                    <a:lstStyle/>
                    <a:p>
                      <a:pPr algn="l" fontAlgn="t"/>
                      <a:r>
                        <a:rPr lang="en-US" sz="1800" dirty="0">
                          <a:effectLst/>
                          <a:latin typeface="Palatino Linotype" panose="02040502050505030304" pitchFamily="18" charset="0"/>
                        </a:rPr>
                        <a:t>TRUNCATE is faster as compared to DELETE.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r>
                        <a:rPr lang="en-US" sz="1800">
                          <a:effectLst/>
                          <a:latin typeface="Palatino Linotype" panose="02040502050505030304" pitchFamily="18" charset="0"/>
                        </a:rPr>
                        <a:t>DELETE records transaction log for each deleted tuple.</a:t>
                      </a:r>
                    </a:p>
                  </a:txBody>
                  <a:tcPr marL="32051" marR="32051" marT="32051" marB="32051"/>
                </a:tc>
                <a:tc>
                  <a:txBody>
                    <a:bodyPr/>
                    <a:lstStyle/>
                    <a:p>
                      <a:pPr algn="l" fontAlgn="t"/>
                      <a:r>
                        <a:rPr lang="en-US" sz="1800" dirty="0">
                          <a:effectLst/>
                          <a:latin typeface="Palatino Linotype" panose="02040502050505030304" pitchFamily="18" charset="0"/>
                        </a:rPr>
                        <a:t>TRUNCATE record transaction log for each deleted data page.</a:t>
                      </a:r>
                    </a:p>
                  </a:txBody>
                  <a:tcPr marL="32051" marR="32051" marT="32051" marB="32051"/>
                </a:tc>
                <a:extLst>
                  <a:ext uri="{0D108BD9-81ED-4DB2-BD59-A6C34878D82A}">
                    <a16:rowId xmlns:a16="http://schemas.microsoft.com/office/drawing/2014/main" val="1580569957"/>
                  </a:ext>
                </a:extLst>
              </a:tr>
              <a:tr h="525628">
                <a:tc>
                  <a:txBody>
                    <a:bodyPr/>
                    <a:lstStyle/>
                    <a:p>
                      <a:pPr algn="l" fontAlgn="t"/>
                      <a:r>
                        <a:rPr lang="en-US" sz="1800" dirty="0">
                          <a:effectLst/>
                          <a:latin typeface="Palatino Linotype" panose="02040502050505030304" pitchFamily="18" charset="0"/>
                        </a:rPr>
                        <a:t>DELETE command can be followed either by COMMIT or ROLLBACK.</a:t>
                      </a:r>
                    </a:p>
                  </a:txBody>
                  <a:tcPr marL="32051" marR="32051" marT="32051" marB="32051"/>
                </a:tc>
                <a:tc>
                  <a:txBody>
                    <a:bodyPr/>
                    <a:lstStyle/>
                    <a:p>
                      <a:pPr algn="l" fontAlgn="t"/>
                      <a:r>
                        <a:rPr lang="en-US" sz="1800" dirty="0">
                          <a:effectLst/>
                          <a:latin typeface="Palatino Linotype" panose="02040502050505030304" pitchFamily="18" charset="0"/>
                        </a:rPr>
                        <a:t>TRUNCATE command can't be ROLLBACK.</a:t>
                      </a:r>
                    </a:p>
                  </a:txBody>
                  <a:tcPr marL="32051" marR="32051" marT="32051" marB="32051"/>
                </a:tc>
                <a:extLst>
                  <a:ext uri="{0D108BD9-81ED-4DB2-BD59-A6C34878D82A}">
                    <a16:rowId xmlns:a16="http://schemas.microsoft.com/office/drawing/2014/main" val="3417188898"/>
                  </a:ext>
                </a:extLst>
              </a:tr>
            </a:tbl>
          </a:graphicData>
        </a:graphic>
      </p:graphicFrame>
    </p:spTree>
    <p:extLst>
      <p:ext uri="{BB962C8B-B14F-4D97-AF65-F5344CB8AC3E}">
        <p14:creationId xmlns:p14="http://schemas.microsoft.com/office/powerpoint/2010/main" val="1510763801"/>
      </p:ext>
    </p:extLst>
  </p:cSld>
  <p:clrMapOvr>
    <a:masterClrMapping/>
  </p:clrMapOvr>
</p:sld>
</file>

<file path=ppt/slides/slide7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195520" cy="553998"/>
            </a:xfrm>
            <a:prstGeom prst="rect">
              <a:avLst/>
            </a:prstGeom>
            <a:noFill/>
          </p:spPr>
          <p:txBody>
            <a:bodyPr wrap="none" rtlCol="0">
              <a:spAutoFit/>
            </a:bodyPr>
            <a:lstStyle/>
            <a:p>
              <a:r>
                <a:rPr lang="en-US" sz="3000" dirty="0"/>
                <a:t>DROP</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2288465829"/>
              </p:ext>
            </p:extLst>
          </p:nvPr>
        </p:nvGraphicFramePr>
        <p:xfrm>
          <a:off x="119336" y="1196570"/>
          <a:ext cx="11953328" cy="5304718"/>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133407038"/>
                    </a:ext>
                  </a:extLst>
                </a:gridCol>
                <a:gridCol w="5976664">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Drop</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base"/>
                      <a:r>
                        <a:rPr lang="en-US" b="0" dirty="0">
                          <a:effectLst/>
                          <a:latin typeface="Palatino Linotype" panose="02040502050505030304" pitchFamily="18" charset="0"/>
                        </a:rPr>
                        <a:t>The DROP command is used to remove table definition and its contents.</a:t>
                      </a:r>
                    </a:p>
                  </a:txBody>
                  <a:tcPr marL="133350" marR="133350" marT="66675" marB="66675" anchor="ctr"/>
                </a:tc>
                <a:tc>
                  <a:txBody>
                    <a:bodyPr/>
                    <a:lstStyle/>
                    <a:p>
                      <a:pPr algn="l" fontAlgn="base"/>
                      <a:r>
                        <a:rPr lang="en-US" b="0" dirty="0">
                          <a:effectLst/>
                          <a:latin typeface="Palatino Linotype" panose="02040502050505030304" pitchFamily="18" charset="0"/>
                        </a:rPr>
                        <a:t>Whereas the TRUNCATE command is used to delete all the rows from the table.</a:t>
                      </a:r>
                    </a:p>
                  </a:txBody>
                  <a:tcPr marL="133350" marR="133350" marT="66675" marB="66675" anchor="ctr"/>
                </a:tc>
                <a:extLst>
                  <a:ext uri="{0D108BD9-81ED-4DB2-BD59-A6C34878D82A}">
                    <a16:rowId xmlns:a16="http://schemas.microsoft.com/office/drawing/2014/main" val="3098090292"/>
                  </a:ext>
                </a:extLst>
              </a:tr>
              <a:tr h="410246">
                <a:tc>
                  <a:txBody>
                    <a:bodyPr/>
                    <a:lstStyle/>
                    <a:p>
                      <a:pPr algn="l" fontAlgn="base"/>
                      <a:r>
                        <a:rPr lang="en-US" b="0" dirty="0">
                          <a:effectLst/>
                          <a:latin typeface="Palatino Linotype" panose="02040502050505030304" pitchFamily="18" charset="0"/>
                        </a:rPr>
                        <a:t>In the DROP command, VIEW of table does not exist.</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VIEW of table exist.</a:t>
                      </a:r>
                    </a:p>
                  </a:txBody>
                  <a:tcPr marL="133350" marR="133350" marT="66675" marB="66675" anchor="ctr"/>
                </a:tc>
                <a:extLst>
                  <a:ext uri="{0D108BD9-81ED-4DB2-BD59-A6C34878D82A}">
                    <a16:rowId xmlns:a16="http://schemas.microsoft.com/office/drawing/2014/main" val="832143257"/>
                  </a:ext>
                </a:extLst>
              </a:tr>
              <a:tr h="525628">
                <a:tc>
                  <a:txBody>
                    <a:bodyPr/>
                    <a:lstStyle/>
                    <a:p>
                      <a:pPr algn="l" fontAlgn="base"/>
                      <a:r>
                        <a:rPr lang="en-US" b="0" dirty="0">
                          <a:effectLst/>
                          <a:latin typeface="Palatino Linotype" panose="02040502050505030304" pitchFamily="18" charset="0"/>
                        </a:rPr>
                        <a:t>In the DROP command, integrity constraints will be removed.</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integrity constraints will not be removed.</a:t>
                      </a:r>
                    </a:p>
                  </a:txBody>
                  <a:tcPr marL="133350" marR="133350" marT="66675" marB="66675" anchor="ctr"/>
                </a:tc>
                <a:extLst>
                  <a:ext uri="{0D108BD9-81ED-4DB2-BD59-A6C34878D82A}">
                    <a16:rowId xmlns:a16="http://schemas.microsoft.com/office/drawing/2014/main" val="3469526371"/>
                  </a:ext>
                </a:extLst>
              </a:tr>
              <a:tr h="64101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INDEX associated to the table will be removed.</a:t>
                      </a:r>
                      <a:endParaRPr lang="en-US" sz="1800" dirty="0">
                        <a:effectLst/>
                        <a:latin typeface="Palatino Linotype" panose="02040502050505030304" pitchFamily="18" charset="0"/>
                      </a:endParaRPr>
                    </a:p>
                  </a:txBody>
                  <a:tcPr marL="32051" marR="32051" marT="32051" marB="32051" anchor="ctr"/>
                </a:tc>
                <a:tc>
                  <a:txBody>
                    <a:bodyPr/>
                    <a:lstStyle/>
                    <a:p>
                      <a:pPr algn="l" fontAlgn="t"/>
                      <a:r>
                        <a:rPr lang="en-US" b="0" dirty="0">
                          <a:effectLst/>
                          <a:latin typeface="Palatino Linotype" panose="02040502050505030304" pitchFamily="18" charset="0"/>
                        </a:rPr>
                        <a:t>In the TRUNCATE command, INDEX associated to the table will not be removed.</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13193006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execute.</a:t>
                      </a:r>
                      <a:endParaRPr lang="en-US" sz="1800" dirty="0">
                        <a:effectLst/>
                        <a:latin typeface="Palatino Linotype" panose="02040502050505030304" pitchFamily="18" charset="0"/>
                      </a:endParaRPr>
                    </a:p>
                  </a:txBody>
                  <a:tcPr marL="32051" marR="32051" marT="32051" marB="32051" anchor="ct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not execute.</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97315283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be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be not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240027574"/>
                  </a:ext>
                </a:extLst>
              </a:tr>
              <a:tr h="525628">
                <a:tc>
                  <a:txBody>
                    <a:bodyPr/>
                    <a:lstStyle/>
                    <a:p>
                      <a:pPr algn="l" fontAlgn="t"/>
                      <a:endParaRPr lang="en-US" sz="1800" dirty="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endParaRPr lang="en-US" sz="180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1580569957"/>
                  </a:ext>
                </a:extLst>
              </a:tr>
            </a:tbl>
          </a:graphicData>
        </a:graphic>
      </p:graphicFrame>
    </p:spTree>
    <p:extLst>
      <p:ext uri="{BB962C8B-B14F-4D97-AF65-F5344CB8AC3E}">
        <p14:creationId xmlns:p14="http://schemas.microsoft.com/office/powerpoint/2010/main" val="2088446221"/>
      </p:ext>
    </p:extLst>
  </p:cSld>
  <p:clrMapOvr>
    <a:masterClrMapping/>
  </p:clrMapOvr>
</p:sld>
</file>

<file path=ppt/slides/slide7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2BBD848E-A3AF-434F-B8D2-FEFD642448B2}"/>
              </a:ext>
            </a:extLst>
          </p:cNvPr>
          <p:cNvSpPr txBox="1">
            <a:spLocks/>
          </p:cNvSpPr>
          <p:nvPr/>
        </p:nvSpPr>
        <p:spPr>
          <a:xfrm>
            <a:off x="1676182"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table</a:t>
            </a:r>
          </a:p>
        </p:txBody>
      </p:sp>
      <p:sp>
        <p:nvSpPr>
          <p:cNvPr id="6" name="Rectangle 5">
            <a:extLst>
              <a:ext uri="{FF2B5EF4-FFF2-40B4-BE49-F238E27FC236}">
                <a16:creationId xmlns:a16="http://schemas.microsoft.com/office/drawing/2014/main" id="{EE6F1E77-A399-4DCD-B39E-980E4619B2EE}"/>
              </a:ext>
            </a:extLst>
          </p:cNvPr>
          <p:cNvSpPr/>
          <p:nvPr/>
        </p:nvSpPr>
        <p:spPr>
          <a:xfrm>
            <a:off x="478582" y="4255532"/>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RENAME TABLE </a:t>
            </a:r>
            <a:r>
              <a:rPr lang="en-IN" sz="2000" dirty="0">
                <a:latin typeface="Liberation Mono"/>
                <a:cs typeface="Arial" panose="020B0604020202020204" pitchFamily="34" charset="0"/>
              </a:rPr>
              <a:t>old_tbl_name </a:t>
            </a:r>
            <a:r>
              <a:rPr lang="en-IN" sz="2000" dirty="0">
                <a:solidFill>
                  <a:srgbClr val="0077AA"/>
                </a:solidFill>
                <a:latin typeface="Liberation Mono"/>
                <a:cs typeface="Arial" panose="020B0604020202020204" pitchFamily="34" charset="0"/>
              </a:rPr>
              <a:t>TO </a:t>
            </a:r>
            <a:r>
              <a:rPr lang="en-IN" sz="2000" dirty="0">
                <a:latin typeface="Liberation Mono"/>
                <a:cs typeface="Arial" panose="020B0604020202020204" pitchFamily="34" charset="0"/>
              </a:rPr>
              <a:t>new_tbl_name</a:t>
            </a:r>
            <a:endParaRPr lang="en-US" sz="2000"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E42E016B-238F-4883-A094-93B1EF9819D0}"/>
              </a:ext>
            </a:extLst>
          </p:cNvPr>
          <p:cNvSpPr/>
          <p:nvPr/>
        </p:nvSpPr>
        <p:spPr>
          <a:xfrm>
            <a:off x="478582" y="5023122"/>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RENAME</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TABLE</a:t>
            </a:r>
            <a:r>
              <a:rPr lang="en-IN" dirty="0">
                <a:latin typeface="Liberation Mono"/>
                <a:ea typeface="Verdana" panose="020B0604030504040204" pitchFamily="34" charset="0"/>
                <a:cs typeface="Arial" panose="020B0604020202020204" pitchFamily="34" charset="0"/>
              </a:rPr>
              <a:t> emp</a:t>
            </a:r>
            <a:r>
              <a:rPr lang="en-IN" dirty="0">
                <a:solidFill>
                  <a:srgbClr val="DD4A68"/>
                </a:solidFill>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TO</a:t>
            </a:r>
            <a:r>
              <a:rPr lang="en-IN" dirty="0">
                <a:solidFill>
                  <a:srgbClr val="DD4A68"/>
                </a:solidFill>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cs typeface="Arial" panose="020B0604020202020204" pitchFamily="34" charset="0"/>
              </a:rPr>
              <a:t>employee</a:t>
            </a:r>
            <a:r>
              <a:rPr lang="en-IN" dirty="0">
                <a:solidFill>
                  <a:srgbClr val="DD4A68"/>
                </a:solidFill>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D4A3D3D5-8251-4415-897F-CAD729951431}"/>
              </a:ext>
            </a:extLst>
          </p:cNvPr>
          <p:cNvSpPr/>
          <p:nvPr/>
        </p:nvSpPr>
        <p:spPr>
          <a:xfrm>
            <a:off x="4663649" y="3165901"/>
            <a:ext cx="2863113"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Change the table name. </a:t>
            </a:r>
          </a:p>
        </p:txBody>
      </p:sp>
    </p:spTree>
    <p:extLst>
      <p:ext uri="{BB962C8B-B14F-4D97-AF65-F5344CB8AC3E}">
        <p14:creationId xmlns:p14="http://schemas.microsoft.com/office/powerpoint/2010/main" val="1522131221"/>
      </p:ext>
    </p:extLst>
  </p:cSld>
  <p:clrMapOvr>
    <a:masterClrMapping/>
  </p:clrMapOvr>
</p:sld>
</file>

<file path=ppt/slides/slide7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71192"/>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views</a:t>
            </a:r>
          </a:p>
        </p:txBody>
      </p:sp>
      <p:sp>
        <p:nvSpPr>
          <p:cNvPr id="3" name="Rectangle 2"/>
          <p:cNvSpPr/>
          <p:nvPr/>
        </p:nvSpPr>
        <p:spPr>
          <a:xfrm>
            <a:off x="335360" y="142852"/>
            <a:ext cx="11449272" cy="923330"/>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in SQL as a logical subset of data from one or more tables. Views are used to restrict data access. 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contains no data of its own but its like window through which data from tables can be viewed or changed. The table on which a View is based are called BASE Tables.</a:t>
            </a:r>
          </a:p>
        </p:txBody>
      </p:sp>
      <p:sp>
        <p:nvSpPr>
          <p:cNvPr id="4" name="Rectangle 3"/>
          <p:cNvSpPr/>
          <p:nvPr/>
        </p:nvSpPr>
        <p:spPr>
          <a:xfrm>
            <a:off x="328221" y="1231012"/>
            <a:ext cx="11449272" cy="1261884"/>
          </a:xfrm>
          <a:prstGeom prst="rect">
            <a:avLst/>
          </a:prstGeom>
        </p:spPr>
        <p:txBody>
          <a:bodyPr wrap="square">
            <a:spAutoFit/>
          </a:bodyPr>
          <a:lstStyle/>
          <a:p>
            <a:r>
              <a:rPr lang="en-US" dirty="0">
                <a:solidFill>
                  <a:schemeClr val="bg2">
                    <a:lumMod val="25000"/>
                  </a:schemeClr>
                </a:solidFill>
                <a:latin typeface="Arial" panose="020B0604020202020204" pitchFamily="34" charset="0"/>
                <a:cs typeface="Arial" panose="020B0604020202020204" pitchFamily="34" charset="0"/>
              </a:rPr>
              <a:t>There are 2 types of Views in SQL: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Simple View    </a:t>
            </a:r>
            <a:r>
              <a:rPr lang="en-US" dirty="0">
                <a:solidFill>
                  <a:schemeClr val="bg2">
                    <a:lumMod val="25000"/>
                  </a:schemeClr>
                </a:solidFill>
                <a:latin typeface="Arial" panose="020B0604020202020204" pitchFamily="34" charset="0"/>
                <a:cs typeface="Arial" panose="020B0604020202020204" pitchFamily="34" charset="0"/>
              </a:rPr>
              <a:t>: Simple views can only contain a single base table.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Complex View </a:t>
            </a:r>
            <a:r>
              <a:rPr lang="en-US" dirty="0">
                <a:solidFill>
                  <a:schemeClr val="bg2">
                    <a:lumMod val="25000"/>
                  </a:schemeClr>
                </a:solidFill>
                <a:latin typeface="Arial" panose="020B0604020202020204" pitchFamily="34" charset="0"/>
                <a:cs typeface="Arial" panose="020B0604020202020204" pitchFamily="34" charset="0"/>
              </a:rPr>
              <a:t>: Complex views can be constructed on more than one base table. In particular, complex views can contain: join conditions, a group by clause, a order by clause.</a:t>
            </a:r>
          </a:p>
        </p:txBody>
      </p:sp>
      <p:pic>
        <p:nvPicPr>
          <p:cNvPr id="6" name="Picture 5">
            <a:extLst>
              <a:ext uri="{FF2B5EF4-FFF2-40B4-BE49-F238E27FC236}">
                <a16:creationId xmlns:a16="http://schemas.microsoft.com/office/drawing/2014/main" id="{0E057382-20E0-47B5-97F3-35F8E0D113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2935"/>
            <a:ext cx="6528048" cy="3909969"/>
          </a:xfrm>
          <a:prstGeom prst="rect">
            <a:avLst/>
          </a:prstGeom>
        </p:spPr>
      </p:pic>
      <p:sp>
        <p:nvSpPr>
          <p:cNvPr id="5" name="TextBox 6">
            <a:extLst>
              <a:ext uri="{FF2B5EF4-FFF2-40B4-BE49-F238E27FC236}">
                <a16:creationId xmlns:a16="http://schemas.microsoft.com/office/drawing/2014/main" id="{43567F66-65E6-8EB5-2F64-278574281D6B}"/>
              </a:ext>
            </a:extLst>
          </p:cNvPr>
          <p:cNvSpPr txBox="1"/>
          <p:nvPr/>
        </p:nvSpPr>
        <p:spPr>
          <a:xfrm>
            <a:off x="6023992" y="4077072"/>
            <a:ext cx="5760640" cy="163121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IN" sz="2000" dirty="0">
                <a:latin typeface="Arial" panose="020B0604020202020204" pitchFamily="34" charset="0"/>
                <a:cs typeface="Arial" panose="020B0604020202020204" pitchFamily="34" charset="0"/>
              </a:rPr>
              <a:t>Views are created in order to store your queries as virtual table. If there are a lot of columns and we don’t want to use all columns and make the table simpler, we can create a view and reuse it repeatedly.</a:t>
            </a:r>
          </a:p>
        </p:txBody>
      </p:sp>
    </p:spTree>
    <p:extLst>
      <p:ext uri="{BB962C8B-B14F-4D97-AF65-F5344CB8AC3E}">
        <p14:creationId xmlns:p14="http://schemas.microsoft.com/office/powerpoint/2010/main" val="2406561690"/>
      </p:ext>
    </p:extLst>
  </p:cSld>
  <p:clrMapOvr>
    <a:masterClrMapping/>
  </p:clrMapOvr>
</p:sld>
</file>

<file path=ppt/slides/slide7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7508611"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grpSp>
        <p:nvGrpSpPr>
          <p:cNvPr id="121" name="Group 120">
            <a:extLst>
              <a:ext uri="{FF2B5EF4-FFF2-40B4-BE49-F238E27FC236}">
                <a16:creationId xmlns:a16="http://schemas.microsoft.com/office/drawing/2014/main" id="{A4166F48-B5C9-A003-BC3E-05F57DF06E16}"/>
              </a:ext>
            </a:extLst>
          </p:cNvPr>
          <p:cNvGrpSpPr/>
          <p:nvPr/>
        </p:nvGrpSpPr>
        <p:grpSpPr>
          <a:xfrm>
            <a:off x="487070" y="276518"/>
            <a:ext cx="2453783" cy="6304964"/>
            <a:chOff x="559078" y="326668"/>
            <a:chExt cx="2453783" cy="6304964"/>
          </a:xfrm>
        </p:grpSpPr>
        <p:grpSp>
          <p:nvGrpSpPr>
            <p:cNvPr id="79" name="Group 78">
              <a:extLst>
                <a:ext uri="{FF2B5EF4-FFF2-40B4-BE49-F238E27FC236}">
                  <a16:creationId xmlns:a16="http://schemas.microsoft.com/office/drawing/2014/main" id="{6711E5D2-1EAB-51CF-5B6C-70288AF305FF}"/>
                </a:ext>
              </a:extLst>
            </p:cNvPr>
            <p:cNvGrpSpPr/>
            <p:nvPr/>
          </p:nvGrpSpPr>
          <p:grpSpPr>
            <a:xfrm>
              <a:off x="1092527" y="326668"/>
              <a:ext cx="1920334" cy="6304964"/>
              <a:chOff x="431250" y="292388"/>
              <a:chExt cx="1344269" cy="5996178"/>
            </a:xfrm>
          </p:grpSpPr>
          <p:sp>
            <p:nvSpPr>
              <p:cNvPr id="7" name="Rectangle 6">
                <a:extLst>
                  <a:ext uri="{FF2B5EF4-FFF2-40B4-BE49-F238E27FC236}">
                    <a16:creationId xmlns:a16="http://schemas.microsoft.com/office/drawing/2014/main" id="{7F2BA3D2-5FE3-BDA3-A244-E5233159E7C0}"/>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 name="Rectangle 7">
                <a:extLst>
                  <a:ext uri="{FF2B5EF4-FFF2-40B4-BE49-F238E27FC236}">
                    <a16:creationId xmlns:a16="http://schemas.microsoft.com/office/drawing/2014/main" id="{957D6E26-EDC4-AE55-F2A3-AEBAE77B32DE}"/>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 name="Rectangle 8">
                <a:extLst>
                  <a:ext uri="{FF2B5EF4-FFF2-40B4-BE49-F238E27FC236}">
                    <a16:creationId xmlns:a16="http://schemas.microsoft.com/office/drawing/2014/main" id="{FFFD1B14-547E-8090-B3B8-7D70ABFEC337}"/>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 name="Rectangle 9">
                <a:extLst>
                  <a:ext uri="{FF2B5EF4-FFF2-40B4-BE49-F238E27FC236}">
                    <a16:creationId xmlns:a16="http://schemas.microsoft.com/office/drawing/2014/main" id="{DF216EFC-94A7-6617-64CC-BEDFC66D89F5}"/>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 name="Rectangle 10">
                <a:extLst>
                  <a:ext uri="{FF2B5EF4-FFF2-40B4-BE49-F238E27FC236}">
                    <a16:creationId xmlns:a16="http://schemas.microsoft.com/office/drawing/2014/main" id="{BEA72B1D-648A-21B8-CC9C-E7339DDC63F8}"/>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2" name="Rectangle 11">
                <a:extLst>
                  <a:ext uri="{FF2B5EF4-FFF2-40B4-BE49-F238E27FC236}">
                    <a16:creationId xmlns:a16="http://schemas.microsoft.com/office/drawing/2014/main" id="{29A5B95E-93FA-02F6-7D7B-DF74E7348918}"/>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3" name="Rectangle 12">
                <a:extLst>
                  <a:ext uri="{FF2B5EF4-FFF2-40B4-BE49-F238E27FC236}">
                    <a16:creationId xmlns:a16="http://schemas.microsoft.com/office/drawing/2014/main" id="{88EFAD8B-0CDF-26A4-42BE-00DB5D6F4625}"/>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4" name="Rectangle 13">
                <a:extLst>
                  <a:ext uri="{FF2B5EF4-FFF2-40B4-BE49-F238E27FC236}">
                    <a16:creationId xmlns:a16="http://schemas.microsoft.com/office/drawing/2014/main" id="{6CE75A81-BEA9-192E-6A75-E5C9A9B07702}"/>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5" name="Rectangle 14">
                <a:extLst>
                  <a:ext uri="{FF2B5EF4-FFF2-40B4-BE49-F238E27FC236}">
                    <a16:creationId xmlns:a16="http://schemas.microsoft.com/office/drawing/2014/main" id="{7C23D5F1-C331-0556-A97E-10869B640805}"/>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6" name="Rectangle 15">
                <a:extLst>
                  <a:ext uri="{FF2B5EF4-FFF2-40B4-BE49-F238E27FC236}">
                    <a16:creationId xmlns:a16="http://schemas.microsoft.com/office/drawing/2014/main" id="{DA12EE7B-5630-27E8-4A1A-2CB3AFE8A23A}"/>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7" name="Rectangle 16">
                <a:extLst>
                  <a:ext uri="{FF2B5EF4-FFF2-40B4-BE49-F238E27FC236}">
                    <a16:creationId xmlns:a16="http://schemas.microsoft.com/office/drawing/2014/main" id="{4015255D-0446-98BA-5A49-3689BA296A10}"/>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8" name="Rectangle 17">
                <a:extLst>
                  <a:ext uri="{FF2B5EF4-FFF2-40B4-BE49-F238E27FC236}">
                    <a16:creationId xmlns:a16="http://schemas.microsoft.com/office/drawing/2014/main" id="{171E415D-37CD-C424-CCE8-1CD032DC77BD}"/>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3" name="Rectangle 42">
                <a:extLst>
                  <a:ext uri="{FF2B5EF4-FFF2-40B4-BE49-F238E27FC236}">
                    <a16:creationId xmlns:a16="http://schemas.microsoft.com/office/drawing/2014/main" id="{D17FA2AB-D7BD-6AAB-4B91-7F56CDD44AF0}"/>
                  </a:ext>
                </a:extLst>
              </p:cNvPr>
              <p:cNvSpPr/>
              <p:nvPr/>
            </p:nvSpPr>
            <p:spPr>
              <a:xfrm>
                <a:off x="431250" y="2394446"/>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4" name="Rectangle 43">
                <a:extLst>
                  <a:ext uri="{FF2B5EF4-FFF2-40B4-BE49-F238E27FC236}">
                    <a16:creationId xmlns:a16="http://schemas.microsoft.com/office/drawing/2014/main" id="{486FB847-166E-54A1-DC3D-FBE9E98E00B6}"/>
                  </a:ext>
                </a:extLst>
              </p:cNvPr>
              <p:cNvSpPr/>
              <p:nvPr/>
            </p:nvSpPr>
            <p:spPr>
              <a:xfrm>
                <a:off x="431250" y="2861648"/>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5" name="Rectangle 44">
                <a:extLst>
                  <a:ext uri="{FF2B5EF4-FFF2-40B4-BE49-F238E27FC236}">
                    <a16:creationId xmlns:a16="http://schemas.microsoft.com/office/drawing/2014/main" id="{7A067607-3547-1937-E4F1-B9DCA5F983A2}"/>
                  </a:ext>
                </a:extLst>
              </p:cNvPr>
              <p:cNvSpPr/>
              <p:nvPr/>
            </p:nvSpPr>
            <p:spPr>
              <a:xfrm>
                <a:off x="431250" y="3325344"/>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6" name="Rectangle 45">
                <a:extLst>
                  <a:ext uri="{FF2B5EF4-FFF2-40B4-BE49-F238E27FC236}">
                    <a16:creationId xmlns:a16="http://schemas.microsoft.com/office/drawing/2014/main" id="{CDA29791-4BAD-07B1-B52A-45C0675F0A10}"/>
                  </a:ext>
                </a:extLst>
              </p:cNvPr>
              <p:cNvSpPr/>
              <p:nvPr/>
            </p:nvSpPr>
            <p:spPr>
              <a:xfrm>
                <a:off x="431250" y="3789040"/>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7" name="Rectangle 46">
                <a:extLst>
                  <a:ext uri="{FF2B5EF4-FFF2-40B4-BE49-F238E27FC236}">
                    <a16:creationId xmlns:a16="http://schemas.microsoft.com/office/drawing/2014/main" id="{FDB452FF-A9A1-F0BE-B930-7C1AEC472922}"/>
                  </a:ext>
                </a:extLst>
              </p:cNvPr>
              <p:cNvSpPr/>
              <p:nvPr/>
            </p:nvSpPr>
            <p:spPr>
              <a:xfrm>
                <a:off x="911423" y="2394446"/>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8" name="Rectangle 47">
                <a:extLst>
                  <a:ext uri="{FF2B5EF4-FFF2-40B4-BE49-F238E27FC236}">
                    <a16:creationId xmlns:a16="http://schemas.microsoft.com/office/drawing/2014/main" id="{EF2B0501-62A9-7F9C-8D78-60CDDC63C732}"/>
                  </a:ext>
                </a:extLst>
              </p:cNvPr>
              <p:cNvSpPr/>
              <p:nvPr/>
            </p:nvSpPr>
            <p:spPr>
              <a:xfrm>
                <a:off x="911423" y="2861648"/>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9" name="Rectangle 48">
                <a:extLst>
                  <a:ext uri="{FF2B5EF4-FFF2-40B4-BE49-F238E27FC236}">
                    <a16:creationId xmlns:a16="http://schemas.microsoft.com/office/drawing/2014/main" id="{953DB412-1A11-F397-5E20-78BEE2F21814}"/>
                  </a:ext>
                </a:extLst>
              </p:cNvPr>
              <p:cNvSpPr/>
              <p:nvPr/>
            </p:nvSpPr>
            <p:spPr>
              <a:xfrm>
                <a:off x="911423" y="3325344"/>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0" name="Rectangle 49">
                <a:extLst>
                  <a:ext uri="{FF2B5EF4-FFF2-40B4-BE49-F238E27FC236}">
                    <a16:creationId xmlns:a16="http://schemas.microsoft.com/office/drawing/2014/main" id="{B5C79B23-634E-3791-67E9-CE5894BB1F13}"/>
                  </a:ext>
                </a:extLst>
              </p:cNvPr>
              <p:cNvSpPr/>
              <p:nvPr/>
            </p:nvSpPr>
            <p:spPr>
              <a:xfrm>
                <a:off x="911423" y="3789040"/>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1" name="Rectangle 50">
                <a:extLst>
                  <a:ext uri="{FF2B5EF4-FFF2-40B4-BE49-F238E27FC236}">
                    <a16:creationId xmlns:a16="http://schemas.microsoft.com/office/drawing/2014/main" id="{E0690106-505D-589D-4812-220C738EA63E}"/>
                  </a:ext>
                </a:extLst>
              </p:cNvPr>
              <p:cNvSpPr/>
              <p:nvPr/>
            </p:nvSpPr>
            <p:spPr>
              <a:xfrm>
                <a:off x="1391596" y="2394446"/>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2" name="Rectangle 51">
                <a:extLst>
                  <a:ext uri="{FF2B5EF4-FFF2-40B4-BE49-F238E27FC236}">
                    <a16:creationId xmlns:a16="http://schemas.microsoft.com/office/drawing/2014/main" id="{C1EE47A9-F5CF-2B2E-EA9B-8A8BC9A16A45}"/>
                  </a:ext>
                </a:extLst>
              </p:cNvPr>
              <p:cNvSpPr/>
              <p:nvPr/>
            </p:nvSpPr>
            <p:spPr>
              <a:xfrm>
                <a:off x="1391596" y="2861648"/>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3" name="Rectangle 52">
                <a:extLst>
                  <a:ext uri="{FF2B5EF4-FFF2-40B4-BE49-F238E27FC236}">
                    <a16:creationId xmlns:a16="http://schemas.microsoft.com/office/drawing/2014/main" id="{E17E1784-925B-1D29-4BA6-4A3A61C4CCDF}"/>
                  </a:ext>
                </a:extLst>
              </p:cNvPr>
              <p:cNvSpPr/>
              <p:nvPr/>
            </p:nvSpPr>
            <p:spPr>
              <a:xfrm>
                <a:off x="1391596" y="3325344"/>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4" name="Rectangle 53">
                <a:extLst>
                  <a:ext uri="{FF2B5EF4-FFF2-40B4-BE49-F238E27FC236}">
                    <a16:creationId xmlns:a16="http://schemas.microsoft.com/office/drawing/2014/main" id="{D23F6E05-4616-22D2-E7B0-CCD9D3BACFD2}"/>
                  </a:ext>
                </a:extLst>
              </p:cNvPr>
              <p:cNvSpPr/>
              <p:nvPr/>
            </p:nvSpPr>
            <p:spPr>
              <a:xfrm>
                <a:off x="1391596" y="3789040"/>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7" name="Rectangle 66">
                <a:extLst>
                  <a:ext uri="{FF2B5EF4-FFF2-40B4-BE49-F238E27FC236}">
                    <a16:creationId xmlns:a16="http://schemas.microsoft.com/office/drawing/2014/main" id="{76A8C736-1B4F-673F-F8EF-18DB849CFBE7}"/>
                  </a:ext>
                </a:extLst>
              </p:cNvPr>
              <p:cNvSpPr/>
              <p:nvPr/>
            </p:nvSpPr>
            <p:spPr>
              <a:xfrm>
                <a:off x="431250" y="4513660"/>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8" name="Rectangle 67">
                <a:extLst>
                  <a:ext uri="{FF2B5EF4-FFF2-40B4-BE49-F238E27FC236}">
                    <a16:creationId xmlns:a16="http://schemas.microsoft.com/office/drawing/2014/main" id="{B2B98AFE-3E04-43C2-F24C-6F04C595C740}"/>
                  </a:ext>
                </a:extLst>
              </p:cNvPr>
              <p:cNvSpPr/>
              <p:nvPr/>
            </p:nvSpPr>
            <p:spPr>
              <a:xfrm>
                <a:off x="431250" y="4980862"/>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9" name="Rectangle 68">
                <a:extLst>
                  <a:ext uri="{FF2B5EF4-FFF2-40B4-BE49-F238E27FC236}">
                    <a16:creationId xmlns:a16="http://schemas.microsoft.com/office/drawing/2014/main" id="{38D569A4-5107-8954-06F9-F33F41816576}"/>
                  </a:ext>
                </a:extLst>
              </p:cNvPr>
              <p:cNvSpPr/>
              <p:nvPr/>
            </p:nvSpPr>
            <p:spPr>
              <a:xfrm>
                <a:off x="431250" y="5444558"/>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0" name="Rectangle 69">
                <a:extLst>
                  <a:ext uri="{FF2B5EF4-FFF2-40B4-BE49-F238E27FC236}">
                    <a16:creationId xmlns:a16="http://schemas.microsoft.com/office/drawing/2014/main" id="{3B1F85A6-632F-7CD8-F7FC-8C3BA7F5BC35}"/>
                  </a:ext>
                </a:extLst>
              </p:cNvPr>
              <p:cNvSpPr/>
              <p:nvPr/>
            </p:nvSpPr>
            <p:spPr>
              <a:xfrm>
                <a:off x="431250" y="590825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1" name="Rectangle 70">
                <a:extLst>
                  <a:ext uri="{FF2B5EF4-FFF2-40B4-BE49-F238E27FC236}">
                    <a16:creationId xmlns:a16="http://schemas.microsoft.com/office/drawing/2014/main" id="{7A6F2B5A-3A06-DC31-9082-24D5C828A6D5}"/>
                  </a:ext>
                </a:extLst>
              </p:cNvPr>
              <p:cNvSpPr/>
              <p:nvPr/>
            </p:nvSpPr>
            <p:spPr>
              <a:xfrm>
                <a:off x="911423" y="4513660"/>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2" name="Rectangle 71">
                <a:extLst>
                  <a:ext uri="{FF2B5EF4-FFF2-40B4-BE49-F238E27FC236}">
                    <a16:creationId xmlns:a16="http://schemas.microsoft.com/office/drawing/2014/main" id="{F6F1F58B-4189-05ED-81C2-C05F4553DCF6}"/>
                  </a:ext>
                </a:extLst>
              </p:cNvPr>
              <p:cNvSpPr/>
              <p:nvPr/>
            </p:nvSpPr>
            <p:spPr>
              <a:xfrm>
                <a:off x="911423" y="4980862"/>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3" name="Rectangle 72">
                <a:extLst>
                  <a:ext uri="{FF2B5EF4-FFF2-40B4-BE49-F238E27FC236}">
                    <a16:creationId xmlns:a16="http://schemas.microsoft.com/office/drawing/2014/main" id="{5C9C33AA-2481-8B47-A578-18561183DFF4}"/>
                  </a:ext>
                </a:extLst>
              </p:cNvPr>
              <p:cNvSpPr/>
              <p:nvPr/>
            </p:nvSpPr>
            <p:spPr>
              <a:xfrm>
                <a:off x="911423" y="5444558"/>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4" name="Rectangle 73">
                <a:extLst>
                  <a:ext uri="{FF2B5EF4-FFF2-40B4-BE49-F238E27FC236}">
                    <a16:creationId xmlns:a16="http://schemas.microsoft.com/office/drawing/2014/main" id="{92ADDBB1-08A9-0DCC-B477-D3266049D8B4}"/>
                  </a:ext>
                </a:extLst>
              </p:cNvPr>
              <p:cNvSpPr/>
              <p:nvPr/>
            </p:nvSpPr>
            <p:spPr>
              <a:xfrm>
                <a:off x="911423" y="590825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5" name="Rectangle 74">
                <a:extLst>
                  <a:ext uri="{FF2B5EF4-FFF2-40B4-BE49-F238E27FC236}">
                    <a16:creationId xmlns:a16="http://schemas.microsoft.com/office/drawing/2014/main" id="{87BD395E-8160-A878-0D04-FDF70B0077C0}"/>
                  </a:ext>
                </a:extLst>
              </p:cNvPr>
              <p:cNvSpPr/>
              <p:nvPr/>
            </p:nvSpPr>
            <p:spPr>
              <a:xfrm>
                <a:off x="1391596" y="4513660"/>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6" name="Rectangle 75">
                <a:extLst>
                  <a:ext uri="{FF2B5EF4-FFF2-40B4-BE49-F238E27FC236}">
                    <a16:creationId xmlns:a16="http://schemas.microsoft.com/office/drawing/2014/main" id="{9058922E-F554-4E2F-D089-9791BC1E8865}"/>
                  </a:ext>
                </a:extLst>
              </p:cNvPr>
              <p:cNvSpPr/>
              <p:nvPr/>
            </p:nvSpPr>
            <p:spPr>
              <a:xfrm>
                <a:off x="1391596" y="4980862"/>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7" name="Rectangle 76">
                <a:extLst>
                  <a:ext uri="{FF2B5EF4-FFF2-40B4-BE49-F238E27FC236}">
                    <a16:creationId xmlns:a16="http://schemas.microsoft.com/office/drawing/2014/main" id="{FD972CC8-5DB2-6A27-234F-6245DCE22FF2}"/>
                  </a:ext>
                </a:extLst>
              </p:cNvPr>
              <p:cNvSpPr/>
              <p:nvPr/>
            </p:nvSpPr>
            <p:spPr>
              <a:xfrm>
                <a:off x="1391596" y="5444558"/>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8" name="Rectangle 77">
                <a:extLst>
                  <a:ext uri="{FF2B5EF4-FFF2-40B4-BE49-F238E27FC236}">
                    <a16:creationId xmlns:a16="http://schemas.microsoft.com/office/drawing/2014/main" id="{38118F20-11F6-D0F3-6069-00E428A93ABC}"/>
                  </a:ext>
                </a:extLst>
              </p:cNvPr>
              <p:cNvSpPr/>
              <p:nvPr/>
            </p:nvSpPr>
            <p:spPr>
              <a:xfrm>
                <a:off x="1391596" y="590825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sp>
          <p:nvSpPr>
            <p:cNvPr id="118" name="TextBox 117">
              <a:extLst>
                <a:ext uri="{FF2B5EF4-FFF2-40B4-BE49-F238E27FC236}">
                  <a16:creationId xmlns:a16="http://schemas.microsoft.com/office/drawing/2014/main" id="{A7E325B7-1DB0-5EC3-DF93-661EF12517EA}"/>
                </a:ext>
              </a:extLst>
            </p:cNvPr>
            <p:cNvSpPr txBox="1"/>
            <p:nvPr/>
          </p:nvSpPr>
          <p:spPr>
            <a:xfrm rot="16200000">
              <a:off x="163201" y="5451136"/>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Cinema</a:t>
              </a:r>
            </a:p>
          </p:txBody>
        </p:sp>
        <p:sp>
          <p:nvSpPr>
            <p:cNvPr id="119" name="TextBox 118">
              <a:extLst>
                <a:ext uri="{FF2B5EF4-FFF2-40B4-BE49-F238E27FC236}">
                  <a16:creationId xmlns:a16="http://schemas.microsoft.com/office/drawing/2014/main" id="{D211D500-19BF-A311-17EC-E266137E839D}"/>
                </a:ext>
              </a:extLst>
            </p:cNvPr>
            <p:cNvSpPr txBox="1"/>
            <p:nvPr/>
          </p:nvSpPr>
          <p:spPr>
            <a:xfrm rot="16200000">
              <a:off x="262021" y="3216667"/>
              <a:ext cx="978837"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Opera</a:t>
              </a:r>
            </a:p>
          </p:txBody>
        </p:sp>
        <p:sp>
          <p:nvSpPr>
            <p:cNvPr id="120" name="TextBox 119">
              <a:extLst>
                <a:ext uri="{FF2B5EF4-FFF2-40B4-BE49-F238E27FC236}">
                  <a16:creationId xmlns:a16="http://schemas.microsoft.com/office/drawing/2014/main" id="{16E4127A-53CA-EC28-60A7-E274918D9E3D}"/>
                </a:ext>
              </a:extLst>
            </p:cNvPr>
            <p:cNvSpPr txBox="1"/>
            <p:nvPr/>
          </p:nvSpPr>
          <p:spPr>
            <a:xfrm rot="16200000">
              <a:off x="163201" y="1001852"/>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Theater</a:t>
              </a:r>
            </a:p>
          </p:txBody>
        </p:sp>
      </p:grpSp>
      <p:sp>
        <p:nvSpPr>
          <p:cNvPr id="122" name="TextBox 121">
            <a:extLst>
              <a:ext uri="{FF2B5EF4-FFF2-40B4-BE49-F238E27FC236}">
                <a16:creationId xmlns:a16="http://schemas.microsoft.com/office/drawing/2014/main" id="{E304E7CA-4999-144A-6975-F41DFAB63450}"/>
              </a:ext>
            </a:extLst>
          </p:cNvPr>
          <p:cNvSpPr txBox="1"/>
          <p:nvPr/>
        </p:nvSpPr>
        <p:spPr>
          <a:xfrm>
            <a:off x="9786241" y="2357"/>
            <a:ext cx="1796326" cy="369332"/>
          </a:xfrm>
          <a:prstGeom prst="rect">
            <a:avLst/>
          </a:prstGeom>
          <a:noFill/>
        </p:spPr>
        <p:txBody>
          <a:bodyPr wrap="none" rtlCol="0">
            <a:spAutoFit/>
          </a:bodyPr>
          <a:lstStyle/>
          <a:p>
            <a:r>
              <a:rPr lang="en-IN" b="1" dirty="0">
                <a:solidFill>
                  <a:srgbClr val="C00000"/>
                </a:solidFill>
                <a:latin typeface="Arial" panose="020B0604020202020204" pitchFamily="34" charset="0"/>
                <a:cs typeface="Arial" panose="020B0604020202020204" pitchFamily="34" charset="0"/>
              </a:rPr>
              <a:t>Executed View</a:t>
            </a:r>
          </a:p>
        </p:txBody>
      </p:sp>
      <p:sp>
        <p:nvSpPr>
          <p:cNvPr id="123" name="TextBox 122">
            <a:extLst>
              <a:ext uri="{FF2B5EF4-FFF2-40B4-BE49-F238E27FC236}">
                <a16:creationId xmlns:a16="http://schemas.microsoft.com/office/drawing/2014/main" id="{FA9A7160-97CE-C355-268C-398495883A93}"/>
              </a:ext>
            </a:extLst>
          </p:cNvPr>
          <p:cNvSpPr txBox="1"/>
          <p:nvPr/>
        </p:nvSpPr>
        <p:spPr>
          <a:xfrm>
            <a:off x="4420010" y="2139601"/>
            <a:ext cx="4216526" cy="2126864"/>
          </a:xfrm>
          <a:prstGeom prst="rect">
            <a:avLst/>
          </a:prstGeom>
          <a:noFill/>
          <a:ln w="19050">
            <a:solidFill>
              <a:srgbClr val="66CCFF"/>
            </a:solidFill>
            <a:prstDash val="lgDashDotDot"/>
          </a:ln>
        </p:spPr>
        <p:txBody>
          <a:bodyPr wrap="square" rtlCol="0">
            <a:spAutoFit/>
          </a:bodyPr>
          <a:lstStyle/>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theater</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opera</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cinema;</a:t>
            </a:r>
          </a:p>
        </p:txBody>
      </p:sp>
      <p:grpSp>
        <p:nvGrpSpPr>
          <p:cNvPr id="128" name="Group 127">
            <a:extLst>
              <a:ext uri="{FF2B5EF4-FFF2-40B4-BE49-F238E27FC236}">
                <a16:creationId xmlns:a16="http://schemas.microsoft.com/office/drawing/2014/main" id="{C13DBE8B-68D1-3705-CEEF-2C1281DB96F9}"/>
              </a:ext>
            </a:extLst>
          </p:cNvPr>
          <p:cNvGrpSpPr/>
          <p:nvPr/>
        </p:nvGrpSpPr>
        <p:grpSpPr>
          <a:xfrm>
            <a:off x="1020519" y="-27384"/>
            <a:ext cx="2195161" cy="338554"/>
            <a:chOff x="1020519" y="-92814"/>
            <a:chExt cx="2195161" cy="338554"/>
          </a:xfrm>
        </p:grpSpPr>
        <p:sp>
          <p:nvSpPr>
            <p:cNvPr id="125" name="TextBox 124">
              <a:extLst>
                <a:ext uri="{FF2B5EF4-FFF2-40B4-BE49-F238E27FC236}">
                  <a16:creationId xmlns:a16="http://schemas.microsoft.com/office/drawing/2014/main" id="{DA42C870-ABA8-C082-0CC0-4B19FF379B7D}"/>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26" name="TextBox 125">
              <a:extLst>
                <a:ext uri="{FF2B5EF4-FFF2-40B4-BE49-F238E27FC236}">
                  <a16:creationId xmlns:a16="http://schemas.microsoft.com/office/drawing/2014/main" id="{0FF52E3C-55FD-4D89-8930-CE19C49DBF55}"/>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27" name="TextBox 126">
              <a:extLst>
                <a:ext uri="{FF2B5EF4-FFF2-40B4-BE49-F238E27FC236}">
                  <a16:creationId xmlns:a16="http://schemas.microsoft.com/office/drawing/2014/main" id="{85EAAEB9-CDF2-A5A3-D063-F1D4E02C4788}"/>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38" name="Group 137">
            <a:extLst>
              <a:ext uri="{FF2B5EF4-FFF2-40B4-BE49-F238E27FC236}">
                <a16:creationId xmlns:a16="http://schemas.microsoft.com/office/drawing/2014/main" id="{730F9F73-0670-A232-83DA-A9D3C059A6D5}"/>
              </a:ext>
            </a:extLst>
          </p:cNvPr>
          <p:cNvGrpSpPr/>
          <p:nvPr/>
        </p:nvGrpSpPr>
        <p:grpSpPr>
          <a:xfrm>
            <a:off x="1020519" y="2204864"/>
            <a:ext cx="2195161" cy="338554"/>
            <a:chOff x="1020519" y="-92814"/>
            <a:chExt cx="2195161" cy="338554"/>
          </a:xfrm>
        </p:grpSpPr>
        <p:sp>
          <p:nvSpPr>
            <p:cNvPr id="139" name="TextBox 138">
              <a:extLst>
                <a:ext uri="{FF2B5EF4-FFF2-40B4-BE49-F238E27FC236}">
                  <a16:creationId xmlns:a16="http://schemas.microsoft.com/office/drawing/2014/main" id="{19ED8B72-76B2-0312-BD0F-89A882763684}"/>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0" name="TextBox 139">
              <a:extLst>
                <a:ext uri="{FF2B5EF4-FFF2-40B4-BE49-F238E27FC236}">
                  <a16:creationId xmlns:a16="http://schemas.microsoft.com/office/drawing/2014/main" id="{B9B51047-9323-18BA-4231-64DD71ADBAFB}"/>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1" name="TextBox 140">
              <a:extLst>
                <a:ext uri="{FF2B5EF4-FFF2-40B4-BE49-F238E27FC236}">
                  <a16:creationId xmlns:a16="http://schemas.microsoft.com/office/drawing/2014/main" id="{540802CF-37CF-3A49-C5D6-4DC71DA7B0BA}"/>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42" name="Group 141">
            <a:extLst>
              <a:ext uri="{FF2B5EF4-FFF2-40B4-BE49-F238E27FC236}">
                <a16:creationId xmlns:a16="http://schemas.microsoft.com/office/drawing/2014/main" id="{9077BBBB-4CA8-C822-3293-61DC6B43B20D}"/>
              </a:ext>
            </a:extLst>
          </p:cNvPr>
          <p:cNvGrpSpPr/>
          <p:nvPr/>
        </p:nvGrpSpPr>
        <p:grpSpPr>
          <a:xfrm>
            <a:off x="1020519" y="4437112"/>
            <a:ext cx="2195161" cy="338554"/>
            <a:chOff x="1020519" y="-92814"/>
            <a:chExt cx="2195161" cy="338554"/>
          </a:xfrm>
        </p:grpSpPr>
        <p:sp>
          <p:nvSpPr>
            <p:cNvPr id="143" name="TextBox 142">
              <a:extLst>
                <a:ext uri="{FF2B5EF4-FFF2-40B4-BE49-F238E27FC236}">
                  <a16:creationId xmlns:a16="http://schemas.microsoft.com/office/drawing/2014/main" id="{BB47B8DD-FED0-5257-1714-D2E973D633AA}"/>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4" name="TextBox 143">
              <a:extLst>
                <a:ext uri="{FF2B5EF4-FFF2-40B4-BE49-F238E27FC236}">
                  <a16:creationId xmlns:a16="http://schemas.microsoft.com/office/drawing/2014/main" id="{2F56C840-281C-A01E-F293-88148FB01442}"/>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5" name="TextBox 144">
              <a:extLst>
                <a:ext uri="{FF2B5EF4-FFF2-40B4-BE49-F238E27FC236}">
                  <a16:creationId xmlns:a16="http://schemas.microsoft.com/office/drawing/2014/main" id="{F2934556-B3C1-9425-EE85-C65AC822BDB2}"/>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cxnSp>
        <p:nvCxnSpPr>
          <p:cNvPr id="19" name="Straight Arrow Connector 18">
            <a:extLst>
              <a:ext uri="{FF2B5EF4-FFF2-40B4-BE49-F238E27FC236}">
                <a16:creationId xmlns:a16="http://schemas.microsoft.com/office/drawing/2014/main" id="{8AA16B71-3A85-6B03-F8FB-C8371C35968C}"/>
              </a:ext>
            </a:extLst>
          </p:cNvPr>
          <p:cNvCxnSpPr>
            <a:cxnSpLocks/>
          </p:cNvCxnSpPr>
          <p:nvPr/>
        </p:nvCxnSpPr>
        <p:spPr>
          <a:xfrm>
            <a:off x="2980297" y="1167677"/>
            <a:ext cx="1307771" cy="196254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1949D973-13B0-A25B-B8D3-EB951C93505E}"/>
              </a:ext>
            </a:extLst>
          </p:cNvPr>
          <p:cNvCxnSpPr>
            <a:cxnSpLocks/>
          </p:cNvCxnSpPr>
          <p:nvPr/>
        </p:nvCxnSpPr>
        <p:spPr>
          <a:xfrm flipV="1">
            <a:off x="2980297" y="3501901"/>
            <a:ext cx="1286227" cy="172944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671C0B4-197F-BD40-FBD1-7F72D84BD07C}"/>
              </a:ext>
            </a:extLst>
          </p:cNvPr>
          <p:cNvCxnSpPr>
            <a:cxnSpLocks/>
          </p:cNvCxnSpPr>
          <p:nvPr/>
        </p:nvCxnSpPr>
        <p:spPr>
          <a:xfrm>
            <a:off x="3021892" y="3318444"/>
            <a:ext cx="134184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37" name="Group 36">
            <a:extLst>
              <a:ext uri="{FF2B5EF4-FFF2-40B4-BE49-F238E27FC236}">
                <a16:creationId xmlns:a16="http://schemas.microsoft.com/office/drawing/2014/main" id="{0C06D236-1962-9F50-EE3A-55272A0C4913}"/>
              </a:ext>
            </a:extLst>
          </p:cNvPr>
          <p:cNvGrpSpPr/>
          <p:nvPr/>
        </p:nvGrpSpPr>
        <p:grpSpPr>
          <a:xfrm>
            <a:off x="9784595" y="767780"/>
            <a:ext cx="1920334" cy="5562071"/>
            <a:chOff x="431250" y="292388"/>
            <a:chExt cx="1344269" cy="5289669"/>
          </a:xfrm>
        </p:grpSpPr>
        <p:sp>
          <p:nvSpPr>
            <p:cNvPr id="41" name="Rectangle 40">
              <a:extLst>
                <a:ext uri="{FF2B5EF4-FFF2-40B4-BE49-F238E27FC236}">
                  <a16:creationId xmlns:a16="http://schemas.microsoft.com/office/drawing/2014/main" id="{1227F637-1AD5-3046-BCE8-347B540F7E2B}"/>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2" name="Rectangle 41">
              <a:extLst>
                <a:ext uri="{FF2B5EF4-FFF2-40B4-BE49-F238E27FC236}">
                  <a16:creationId xmlns:a16="http://schemas.microsoft.com/office/drawing/2014/main" id="{89B3E4FD-1795-BC57-2623-B23A67FF2168}"/>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5" name="Rectangle 54">
              <a:extLst>
                <a:ext uri="{FF2B5EF4-FFF2-40B4-BE49-F238E27FC236}">
                  <a16:creationId xmlns:a16="http://schemas.microsoft.com/office/drawing/2014/main" id="{2314BE6B-ACF2-F316-5C03-8F1F3F60FC00}"/>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6" name="Rectangle 55">
              <a:extLst>
                <a:ext uri="{FF2B5EF4-FFF2-40B4-BE49-F238E27FC236}">
                  <a16:creationId xmlns:a16="http://schemas.microsoft.com/office/drawing/2014/main" id="{7AF08F6A-32C7-1244-4E30-0306E1C81A34}"/>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7" name="Rectangle 56">
              <a:extLst>
                <a:ext uri="{FF2B5EF4-FFF2-40B4-BE49-F238E27FC236}">
                  <a16:creationId xmlns:a16="http://schemas.microsoft.com/office/drawing/2014/main" id="{8E41D2C6-3A71-2DC8-A3EB-F7F23A0C1AC2}"/>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8" name="Rectangle 57">
              <a:extLst>
                <a:ext uri="{FF2B5EF4-FFF2-40B4-BE49-F238E27FC236}">
                  <a16:creationId xmlns:a16="http://schemas.microsoft.com/office/drawing/2014/main" id="{6CA25D3E-50EF-5CD7-88C2-C2854E5213EC}"/>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9" name="Rectangle 58">
              <a:extLst>
                <a:ext uri="{FF2B5EF4-FFF2-40B4-BE49-F238E27FC236}">
                  <a16:creationId xmlns:a16="http://schemas.microsoft.com/office/drawing/2014/main" id="{1290D3D8-7D59-56F8-ACE8-599668C70754}"/>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0" name="Rectangle 59">
              <a:extLst>
                <a:ext uri="{FF2B5EF4-FFF2-40B4-BE49-F238E27FC236}">
                  <a16:creationId xmlns:a16="http://schemas.microsoft.com/office/drawing/2014/main" id="{0DD1B8F2-3646-4DC9-2BBD-BF5CAB1DDB36}"/>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1" name="Rectangle 60">
              <a:extLst>
                <a:ext uri="{FF2B5EF4-FFF2-40B4-BE49-F238E27FC236}">
                  <a16:creationId xmlns:a16="http://schemas.microsoft.com/office/drawing/2014/main" id="{AD95D642-8C69-5E96-C508-1E4F79DF7CC4}"/>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2" name="Rectangle 61">
              <a:extLst>
                <a:ext uri="{FF2B5EF4-FFF2-40B4-BE49-F238E27FC236}">
                  <a16:creationId xmlns:a16="http://schemas.microsoft.com/office/drawing/2014/main" id="{89658E4E-C540-C4C8-604B-5E5245C89D7D}"/>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3" name="Rectangle 62">
              <a:extLst>
                <a:ext uri="{FF2B5EF4-FFF2-40B4-BE49-F238E27FC236}">
                  <a16:creationId xmlns:a16="http://schemas.microsoft.com/office/drawing/2014/main" id="{4C141F25-7FFE-0912-0BD5-D535BAE9FF97}"/>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4" name="Rectangle 63">
              <a:extLst>
                <a:ext uri="{FF2B5EF4-FFF2-40B4-BE49-F238E27FC236}">
                  <a16:creationId xmlns:a16="http://schemas.microsoft.com/office/drawing/2014/main" id="{B9AD0F6C-D351-1D2D-511C-79C3AB1F7F54}"/>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5" name="Rectangle 64">
              <a:extLst>
                <a:ext uri="{FF2B5EF4-FFF2-40B4-BE49-F238E27FC236}">
                  <a16:creationId xmlns:a16="http://schemas.microsoft.com/office/drawing/2014/main" id="{3185A56A-D8AF-25B9-7F60-562F163A6AF1}"/>
                </a:ext>
              </a:extLst>
            </p:cNvPr>
            <p:cNvSpPr/>
            <p:nvPr/>
          </p:nvSpPr>
          <p:spPr>
            <a:xfrm>
              <a:off x="431250" y="215402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6" name="Rectangle 65">
              <a:extLst>
                <a:ext uri="{FF2B5EF4-FFF2-40B4-BE49-F238E27FC236}">
                  <a16:creationId xmlns:a16="http://schemas.microsoft.com/office/drawing/2014/main" id="{3D6A320D-948D-E1F1-077A-29BF2E9D3A40}"/>
                </a:ext>
              </a:extLst>
            </p:cNvPr>
            <p:cNvSpPr/>
            <p:nvPr/>
          </p:nvSpPr>
          <p:spPr>
            <a:xfrm>
              <a:off x="431250" y="258056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0" name="Rectangle 79">
              <a:extLst>
                <a:ext uri="{FF2B5EF4-FFF2-40B4-BE49-F238E27FC236}">
                  <a16:creationId xmlns:a16="http://schemas.microsoft.com/office/drawing/2014/main" id="{0B507073-D5A3-B790-617D-FD00C139491D}"/>
                </a:ext>
              </a:extLst>
            </p:cNvPr>
            <p:cNvSpPr/>
            <p:nvPr/>
          </p:nvSpPr>
          <p:spPr>
            <a:xfrm>
              <a:off x="431250" y="3007106"/>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3" name="Rectangle 92">
              <a:extLst>
                <a:ext uri="{FF2B5EF4-FFF2-40B4-BE49-F238E27FC236}">
                  <a16:creationId xmlns:a16="http://schemas.microsoft.com/office/drawing/2014/main" id="{23C6F7F7-B4A2-DE6E-00D7-A77FD8A4120C}"/>
                </a:ext>
              </a:extLst>
            </p:cNvPr>
            <p:cNvSpPr/>
            <p:nvPr/>
          </p:nvSpPr>
          <p:spPr>
            <a:xfrm>
              <a:off x="431250" y="3439159"/>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4" name="Rectangle 93">
              <a:extLst>
                <a:ext uri="{FF2B5EF4-FFF2-40B4-BE49-F238E27FC236}">
                  <a16:creationId xmlns:a16="http://schemas.microsoft.com/office/drawing/2014/main" id="{6040EA8B-E1A7-CE4B-0C95-FDD710EFF598}"/>
                </a:ext>
              </a:extLst>
            </p:cNvPr>
            <p:cNvSpPr/>
            <p:nvPr/>
          </p:nvSpPr>
          <p:spPr>
            <a:xfrm>
              <a:off x="911423" y="215402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5" name="Rectangle 94">
              <a:extLst>
                <a:ext uri="{FF2B5EF4-FFF2-40B4-BE49-F238E27FC236}">
                  <a16:creationId xmlns:a16="http://schemas.microsoft.com/office/drawing/2014/main" id="{698A042A-A94B-11F3-0855-E211B490E33C}"/>
                </a:ext>
              </a:extLst>
            </p:cNvPr>
            <p:cNvSpPr/>
            <p:nvPr/>
          </p:nvSpPr>
          <p:spPr>
            <a:xfrm>
              <a:off x="911423" y="258056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6" name="Rectangle 95">
              <a:extLst>
                <a:ext uri="{FF2B5EF4-FFF2-40B4-BE49-F238E27FC236}">
                  <a16:creationId xmlns:a16="http://schemas.microsoft.com/office/drawing/2014/main" id="{35C84016-73CA-3887-D752-6D08C2112068}"/>
                </a:ext>
              </a:extLst>
            </p:cNvPr>
            <p:cNvSpPr/>
            <p:nvPr/>
          </p:nvSpPr>
          <p:spPr>
            <a:xfrm>
              <a:off x="911423" y="3007106"/>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7" name="Rectangle 96">
              <a:extLst>
                <a:ext uri="{FF2B5EF4-FFF2-40B4-BE49-F238E27FC236}">
                  <a16:creationId xmlns:a16="http://schemas.microsoft.com/office/drawing/2014/main" id="{13177A3B-F48E-4000-77B8-3B4C260F8858}"/>
                </a:ext>
              </a:extLst>
            </p:cNvPr>
            <p:cNvSpPr/>
            <p:nvPr/>
          </p:nvSpPr>
          <p:spPr>
            <a:xfrm>
              <a:off x="911423" y="3439159"/>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8" name="Rectangle 97">
              <a:extLst>
                <a:ext uri="{FF2B5EF4-FFF2-40B4-BE49-F238E27FC236}">
                  <a16:creationId xmlns:a16="http://schemas.microsoft.com/office/drawing/2014/main" id="{E83FEDA0-E05B-C7E6-1000-477CD4CA6EFB}"/>
                </a:ext>
              </a:extLst>
            </p:cNvPr>
            <p:cNvSpPr/>
            <p:nvPr/>
          </p:nvSpPr>
          <p:spPr>
            <a:xfrm>
              <a:off x="1391596" y="215402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9" name="Rectangle 98">
              <a:extLst>
                <a:ext uri="{FF2B5EF4-FFF2-40B4-BE49-F238E27FC236}">
                  <a16:creationId xmlns:a16="http://schemas.microsoft.com/office/drawing/2014/main" id="{DD45F6C3-7662-8DB2-0879-36D7E78C3D73}"/>
                </a:ext>
              </a:extLst>
            </p:cNvPr>
            <p:cNvSpPr/>
            <p:nvPr/>
          </p:nvSpPr>
          <p:spPr>
            <a:xfrm>
              <a:off x="1391596" y="258056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0" name="Rectangle 99">
              <a:extLst>
                <a:ext uri="{FF2B5EF4-FFF2-40B4-BE49-F238E27FC236}">
                  <a16:creationId xmlns:a16="http://schemas.microsoft.com/office/drawing/2014/main" id="{859D856F-3BF3-A96C-7EED-DE9F7393BF84}"/>
                </a:ext>
              </a:extLst>
            </p:cNvPr>
            <p:cNvSpPr/>
            <p:nvPr/>
          </p:nvSpPr>
          <p:spPr>
            <a:xfrm>
              <a:off x="1391596" y="3007106"/>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1" name="Rectangle 100">
              <a:extLst>
                <a:ext uri="{FF2B5EF4-FFF2-40B4-BE49-F238E27FC236}">
                  <a16:creationId xmlns:a16="http://schemas.microsoft.com/office/drawing/2014/main" id="{FCF93CF7-68BB-256B-0E94-ED2890D91C67}"/>
                </a:ext>
              </a:extLst>
            </p:cNvPr>
            <p:cNvSpPr/>
            <p:nvPr/>
          </p:nvSpPr>
          <p:spPr>
            <a:xfrm>
              <a:off x="1391596" y="3439159"/>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2" name="Rectangle 101">
              <a:extLst>
                <a:ext uri="{FF2B5EF4-FFF2-40B4-BE49-F238E27FC236}">
                  <a16:creationId xmlns:a16="http://schemas.microsoft.com/office/drawing/2014/main" id="{8231EF60-5E8A-C6D6-2B4A-C8EDBF82268F}"/>
                </a:ext>
              </a:extLst>
            </p:cNvPr>
            <p:cNvSpPr/>
            <p:nvPr/>
          </p:nvSpPr>
          <p:spPr>
            <a:xfrm>
              <a:off x="431250" y="385787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3" name="Rectangle 102">
              <a:extLst>
                <a:ext uri="{FF2B5EF4-FFF2-40B4-BE49-F238E27FC236}">
                  <a16:creationId xmlns:a16="http://schemas.microsoft.com/office/drawing/2014/main" id="{2B00A87F-92A1-C141-9535-EB77EB654899}"/>
                </a:ext>
              </a:extLst>
            </p:cNvPr>
            <p:cNvSpPr/>
            <p:nvPr/>
          </p:nvSpPr>
          <p:spPr>
            <a:xfrm>
              <a:off x="431250" y="430613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4" name="Rectangle 103">
              <a:extLst>
                <a:ext uri="{FF2B5EF4-FFF2-40B4-BE49-F238E27FC236}">
                  <a16:creationId xmlns:a16="http://schemas.microsoft.com/office/drawing/2014/main" id="{12F0D9E5-9CE0-BDCD-2ADB-831EEB3F21D8}"/>
                </a:ext>
              </a:extLst>
            </p:cNvPr>
            <p:cNvSpPr/>
            <p:nvPr/>
          </p:nvSpPr>
          <p:spPr>
            <a:xfrm>
              <a:off x="431250" y="475393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5" name="Rectangle 104">
              <a:extLst>
                <a:ext uri="{FF2B5EF4-FFF2-40B4-BE49-F238E27FC236}">
                  <a16:creationId xmlns:a16="http://schemas.microsoft.com/office/drawing/2014/main" id="{142EE5B6-33AF-F63E-B85C-11CBB59BFA62}"/>
                </a:ext>
              </a:extLst>
            </p:cNvPr>
            <p:cNvSpPr/>
            <p:nvPr/>
          </p:nvSpPr>
          <p:spPr>
            <a:xfrm>
              <a:off x="431250" y="5201745"/>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6" name="Rectangle 105">
              <a:extLst>
                <a:ext uri="{FF2B5EF4-FFF2-40B4-BE49-F238E27FC236}">
                  <a16:creationId xmlns:a16="http://schemas.microsoft.com/office/drawing/2014/main" id="{E0D3D122-24CF-9933-FBB8-BA89F683EFA4}"/>
                </a:ext>
              </a:extLst>
            </p:cNvPr>
            <p:cNvSpPr/>
            <p:nvPr/>
          </p:nvSpPr>
          <p:spPr>
            <a:xfrm>
              <a:off x="911423" y="386578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7" name="Rectangle 106">
              <a:extLst>
                <a:ext uri="{FF2B5EF4-FFF2-40B4-BE49-F238E27FC236}">
                  <a16:creationId xmlns:a16="http://schemas.microsoft.com/office/drawing/2014/main" id="{CE626A7B-7F89-A3DB-9639-304DD9D87E64}"/>
                </a:ext>
              </a:extLst>
            </p:cNvPr>
            <p:cNvSpPr/>
            <p:nvPr/>
          </p:nvSpPr>
          <p:spPr>
            <a:xfrm>
              <a:off x="911423" y="430613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8" name="Rectangle 107">
              <a:extLst>
                <a:ext uri="{FF2B5EF4-FFF2-40B4-BE49-F238E27FC236}">
                  <a16:creationId xmlns:a16="http://schemas.microsoft.com/office/drawing/2014/main" id="{42B685C7-496F-C1BC-BA26-315F5D62FA8B}"/>
                </a:ext>
              </a:extLst>
            </p:cNvPr>
            <p:cNvSpPr/>
            <p:nvPr/>
          </p:nvSpPr>
          <p:spPr>
            <a:xfrm>
              <a:off x="911423" y="4753939"/>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9" name="Rectangle 108">
              <a:extLst>
                <a:ext uri="{FF2B5EF4-FFF2-40B4-BE49-F238E27FC236}">
                  <a16:creationId xmlns:a16="http://schemas.microsoft.com/office/drawing/2014/main" id="{C6CB219E-C6DC-1DA1-4510-5CD76CC39FDB}"/>
                </a:ext>
              </a:extLst>
            </p:cNvPr>
            <p:cNvSpPr/>
            <p:nvPr/>
          </p:nvSpPr>
          <p:spPr>
            <a:xfrm>
              <a:off x="911423" y="5201745"/>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0" name="Rectangle 109">
              <a:extLst>
                <a:ext uri="{FF2B5EF4-FFF2-40B4-BE49-F238E27FC236}">
                  <a16:creationId xmlns:a16="http://schemas.microsoft.com/office/drawing/2014/main" id="{A7EE4647-2B81-A268-50A8-025923CE23CC}"/>
                </a:ext>
              </a:extLst>
            </p:cNvPr>
            <p:cNvSpPr/>
            <p:nvPr/>
          </p:nvSpPr>
          <p:spPr>
            <a:xfrm>
              <a:off x="1391596" y="386578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1" name="Rectangle 110">
              <a:extLst>
                <a:ext uri="{FF2B5EF4-FFF2-40B4-BE49-F238E27FC236}">
                  <a16:creationId xmlns:a16="http://schemas.microsoft.com/office/drawing/2014/main" id="{D257AC08-4EC9-D632-ADC0-5A744FBA6C15}"/>
                </a:ext>
              </a:extLst>
            </p:cNvPr>
            <p:cNvSpPr/>
            <p:nvPr/>
          </p:nvSpPr>
          <p:spPr>
            <a:xfrm>
              <a:off x="1391596" y="430613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2" name="Rectangle 111">
              <a:extLst>
                <a:ext uri="{FF2B5EF4-FFF2-40B4-BE49-F238E27FC236}">
                  <a16:creationId xmlns:a16="http://schemas.microsoft.com/office/drawing/2014/main" id="{E9F5A99F-F850-BD6A-9594-0290F42FD72B}"/>
                </a:ext>
              </a:extLst>
            </p:cNvPr>
            <p:cNvSpPr/>
            <p:nvPr/>
          </p:nvSpPr>
          <p:spPr>
            <a:xfrm>
              <a:off x="1391596" y="4753939"/>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3" name="Rectangle 112">
              <a:extLst>
                <a:ext uri="{FF2B5EF4-FFF2-40B4-BE49-F238E27FC236}">
                  <a16:creationId xmlns:a16="http://schemas.microsoft.com/office/drawing/2014/main" id="{228ACA22-A4C2-4B34-765F-6B0AAEA6F94B}"/>
                </a:ext>
              </a:extLst>
            </p:cNvPr>
            <p:cNvSpPr/>
            <p:nvPr/>
          </p:nvSpPr>
          <p:spPr>
            <a:xfrm>
              <a:off x="1391596" y="5201745"/>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grpSp>
        <p:nvGrpSpPr>
          <p:cNvPr id="114" name="Group 113">
            <a:extLst>
              <a:ext uri="{FF2B5EF4-FFF2-40B4-BE49-F238E27FC236}">
                <a16:creationId xmlns:a16="http://schemas.microsoft.com/office/drawing/2014/main" id="{201A35ED-288D-EEFC-091D-32C66CB100C6}"/>
              </a:ext>
            </a:extLst>
          </p:cNvPr>
          <p:cNvGrpSpPr/>
          <p:nvPr/>
        </p:nvGrpSpPr>
        <p:grpSpPr>
          <a:xfrm>
            <a:off x="9733487" y="362280"/>
            <a:ext cx="2267169" cy="338554"/>
            <a:chOff x="1106826" y="-92814"/>
            <a:chExt cx="2267169" cy="338554"/>
          </a:xfrm>
        </p:grpSpPr>
        <p:sp>
          <p:nvSpPr>
            <p:cNvPr id="115" name="TextBox 114">
              <a:extLst>
                <a:ext uri="{FF2B5EF4-FFF2-40B4-BE49-F238E27FC236}">
                  <a16:creationId xmlns:a16="http://schemas.microsoft.com/office/drawing/2014/main" id="{5278F3C1-B552-5CB7-DBA3-7D31B76CAB65}"/>
                </a:ext>
              </a:extLst>
            </p:cNvPr>
            <p:cNvSpPr txBox="1"/>
            <p:nvPr/>
          </p:nvSpPr>
          <p:spPr>
            <a:xfrm>
              <a:off x="1765344" y="-92814"/>
              <a:ext cx="744555" cy="338554"/>
            </a:xfrm>
            <a:prstGeom prst="rect">
              <a:avLst/>
            </a:prstGeom>
            <a:noFill/>
          </p:spPr>
          <p:txBody>
            <a:bodyPr wrap="square">
              <a:spAutoFit/>
            </a:bodyPr>
            <a:lstStyle/>
            <a:p>
              <a:r>
                <a:rPr lang="en-IN" sz="1600" dirty="0"/>
                <a:t>Name</a:t>
              </a:r>
            </a:p>
          </p:txBody>
        </p:sp>
        <p:sp>
          <p:nvSpPr>
            <p:cNvPr id="116" name="TextBox 115">
              <a:extLst>
                <a:ext uri="{FF2B5EF4-FFF2-40B4-BE49-F238E27FC236}">
                  <a16:creationId xmlns:a16="http://schemas.microsoft.com/office/drawing/2014/main" id="{6097E469-D2C4-F74B-41AD-820D8D3A69FA}"/>
                </a:ext>
              </a:extLst>
            </p:cNvPr>
            <p:cNvSpPr txBox="1"/>
            <p:nvPr/>
          </p:nvSpPr>
          <p:spPr>
            <a:xfrm>
              <a:off x="2469682" y="-92814"/>
              <a:ext cx="904313" cy="338554"/>
            </a:xfrm>
            <a:prstGeom prst="rect">
              <a:avLst/>
            </a:prstGeom>
            <a:noFill/>
          </p:spPr>
          <p:txBody>
            <a:bodyPr wrap="square">
              <a:spAutoFit/>
            </a:bodyPr>
            <a:lstStyle/>
            <a:p>
              <a:r>
                <a:rPr lang="en-IN" sz="1600" dirty="0"/>
                <a:t>Address</a:t>
              </a:r>
            </a:p>
          </p:txBody>
        </p:sp>
        <p:sp>
          <p:nvSpPr>
            <p:cNvPr id="124" name="TextBox 123">
              <a:extLst>
                <a:ext uri="{FF2B5EF4-FFF2-40B4-BE49-F238E27FC236}">
                  <a16:creationId xmlns:a16="http://schemas.microsoft.com/office/drawing/2014/main" id="{7F2EC79D-A89B-D5E4-E6D2-727FBFE69BBA}"/>
                </a:ext>
              </a:extLst>
            </p:cNvPr>
            <p:cNvSpPr txBox="1"/>
            <p:nvPr/>
          </p:nvSpPr>
          <p:spPr>
            <a:xfrm>
              <a:off x="1106826" y="-92814"/>
              <a:ext cx="394961" cy="338554"/>
            </a:xfrm>
            <a:prstGeom prst="rect">
              <a:avLst/>
            </a:prstGeom>
            <a:noFill/>
          </p:spPr>
          <p:txBody>
            <a:bodyPr wrap="square">
              <a:spAutoFit/>
            </a:bodyPr>
            <a:lstStyle/>
            <a:p>
              <a:r>
                <a:rPr lang="en-IN" sz="1600" dirty="0"/>
                <a:t>ID</a:t>
              </a:r>
            </a:p>
          </p:txBody>
        </p:sp>
      </p:grpSp>
      <p:cxnSp>
        <p:nvCxnSpPr>
          <p:cNvPr id="129" name="Straight Arrow Connector 128">
            <a:extLst>
              <a:ext uri="{FF2B5EF4-FFF2-40B4-BE49-F238E27FC236}">
                <a16:creationId xmlns:a16="http://schemas.microsoft.com/office/drawing/2014/main" id="{F3438F6F-26C7-A48E-8171-F183D7DEFA20}"/>
              </a:ext>
            </a:extLst>
          </p:cNvPr>
          <p:cNvCxnSpPr>
            <a:cxnSpLocks/>
          </p:cNvCxnSpPr>
          <p:nvPr/>
        </p:nvCxnSpPr>
        <p:spPr>
          <a:xfrm>
            <a:off x="8760296" y="3318444"/>
            <a:ext cx="95229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6640798"/>
      </p:ext>
    </p:extLst>
  </p:cSld>
  <p:clrMapOvr>
    <a:masterClrMapping/>
  </p:clrMapOvr>
</p:sld>
</file>

<file path=ppt/slides/slide7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2558" y="2901131"/>
            <a:ext cx="11594082" cy="261610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Rules: </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a VIEW is defined as SELECT * on a table, new columns added to the base table later do not become part of the VIEW, and columns dropped from the base table will result in an error when selecting from the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must have unique column names with no duplicates, just like a base table. By default, the names of the columns retrieved by the SELECT statement are used for the VIEW column names. </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VIEW definition cannot refer to a TEMPORARY table, and you cannot create a TEMPORARY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You cannot associate a TRIGGER with a VIEW.</a:t>
            </a:r>
          </a:p>
        </p:txBody>
      </p:sp>
      <p:sp>
        <p:nvSpPr>
          <p:cNvPr id="7" name="Rectangle 6">
            <a:extLst>
              <a:ext uri="{FF2B5EF4-FFF2-40B4-BE49-F238E27FC236}">
                <a16:creationId xmlns:a16="http://schemas.microsoft.com/office/drawing/2014/main" id="{ED018844-249D-4547-9278-04C9A52032D0}"/>
              </a:ext>
            </a:extLst>
          </p:cNvPr>
          <p:cNvSpPr/>
          <p:nvPr/>
        </p:nvSpPr>
        <p:spPr>
          <a:xfrm>
            <a:off x="273997" y="116632"/>
            <a:ext cx="11089232" cy="2739211"/>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 </a:t>
            </a:r>
          </a:p>
          <a:p>
            <a:pPr algn="just"/>
            <a:endParaRPr lang="en-US" sz="800" dirty="0">
              <a:solidFill>
                <a:srgbClr val="FF0000"/>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described </a:t>
            </a:r>
            <a:r>
              <a:rPr lang="en-US">
                <a:solidFill>
                  <a:schemeClr val="tx1">
                    <a:lumMod val="85000"/>
                    <a:lumOff val="15000"/>
                  </a:schemeClr>
                </a:solidFill>
                <a:latin typeface="Arial" panose="020B0604020202020204" pitchFamily="34" charset="0"/>
                <a:cs typeface="Arial" panose="020B0604020202020204" pitchFamily="34" charset="0"/>
              </a:rPr>
              <a:t>as a </a:t>
            </a:r>
            <a:r>
              <a:rPr lang="en-US" b="1">
                <a:solidFill>
                  <a:schemeClr val="tx1">
                    <a:lumMod val="85000"/>
                    <a:lumOff val="15000"/>
                  </a:schemeClr>
                </a:solidFill>
                <a:latin typeface="Arial" panose="020B0604020202020204" pitchFamily="34" charset="0"/>
                <a:cs typeface="Arial" panose="020B0604020202020204" pitchFamily="34" charset="0"/>
              </a:rPr>
              <a:t>virtual</a:t>
            </a:r>
            <a:r>
              <a:rPr lang="en-US" b="1" dirty="0">
                <a:solidFill>
                  <a:schemeClr val="tx1">
                    <a:lumMod val="85000"/>
                    <a:lumOff val="15000"/>
                  </a:schemeClr>
                </a:solidFill>
                <a:latin typeface="Arial" panose="020B0604020202020204" pitchFamily="34" charset="0"/>
                <a:cs typeface="Arial" panose="020B0604020202020204" pitchFamily="34" charset="0"/>
              </a:rPr>
              <a:t>/derived </a:t>
            </a:r>
            <a:r>
              <a:rPr lang="en-US" dirty="0">
                <a:solidFill>
                  <a:schemeClr val="tx1">
                    <a:lumMod val="85000"/>
                    <a:lumOff val="15000"/>
                  </a:schemeClr>
                </a:solidFill>
                <a:latin typeface="Arial" panose="020B0604020202020204" pitchFamily="34" charset="0"/>
                <a:cs typeface="Arial" panose="020B0604020202020204" pitchFamily="34" charset="0"/>
              </a:rPr>
              <a:t>table which derived its data from one or more than one base table.</a:t>
            </a: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View names may appear in a query in any place where a relation name may appear.</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stored in the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created using tables of same database or different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used to implement the security mechanism in the SQL.</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have max 64 char (view name).</a:t>
            </a:r>
          </a:p>
        </p:txBody>
      </p:sp>
      <p:sp>
        <p:nvSpPr>
          <p:cNvPr id="8" name="Rectangle 7">
            <a:extLst>
              <a:ext uri="{FF2B5EF4-FFF2-40B4-BE49-F238E27FC236}">
                <a16:creationId xmlns:a16="http://schemas.microsoft.com/office/drawing/2014/main" id="{62576E36-B263-4CC7-AC7F-11D43388280B}"/>
              </a:ext>
            </a:extLst>
          </p:cNvPr>
          <p:cNvSpPr/>
          <p:nvPr/>
        </p:nvSpPr>
        <p:spPr>
          <a:xfrm>
            <a:off x="273997" y="5589240"/>
            <a:ext cx="11366619" cy="116955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VIEW will not be dropped.</a:t>
            </a:r>
          </a:p>
          <a:p>
            <a:pPr marL="285750" indent="-285750">
              <a:buFont typeface="Arial" panose="020B0604020202020204" pitchFamily="34" charset="0"/>
              <a:buChar char="•"/>
            </a:pPr>
            <a:endParaRPr lang="en-IN" sz="4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definition (structure) is not permanently stored as part of the database.</a:t>
            </a:r>
          </a:p>
        </p:txBody>
      </p:sp>
      <p:grpSp>
        <p:nvGrpSpPr>
          <p:cNvPr id="6" name="Group 5">
            <a:extLst>
              <a:ext uri="{FF2B5EF4-FFF2-40B4-BE49-F238E27FC236}">
                <a16:creationId xmlns:a16="http://schemas.microsoft.com/office/drawing/2014/main" id="{D3F998DA-60EB-1A83-C5EC-E98F346581C8}"/>
              </a:ext>
            </a:extLst>
          </p:cNvPr>
          <p:cNvGrpSpPr/>
          <p:nvPr/>
        </p:nvGrpSpPr>
        <p:grpSpPr>
          <a:xfrm>
            <a:off x="7752184" y="5096043"/>
            <a:ext cx="4322421" cy="1573317"/>
            <a:chOff x="7680176" y="5085184"/>
            <a:chExt cx="4322421" cy="1573317"/>
          </a:xfrm>
        </p:grpSpPr>
        <p:cxnSp>
          <p:nvCxnSpPr>
            <p:cNvPr id="11" name="Connector: Elbow 10">
              <a:extLst>
                <a:ext uri="{FF2B5EF4-FFF2-40B4-BE49-F238E27FC236}">
                  <a16:creationId xmlns:a16="http://schemas.microsoft.com/office/drawing/2014/main" id="{C4311182-C3C6-53AB-438D-951630CC6B00}"/>
                </a:ext>
              </a:extLst>
            </p:cNvPr>
            <p:cNvCxnSpPr>
              <a:cxnSpLocks/>
            </p:cNvCxnSpPr>
            <p:nvPr/>
          </p:nvCxnSpPr>
          <p:spPr>
            <a:xfrm flipV="1">
              <a:off x="8667506" y="6226453"/>
              <a:ext cx="504056" cy="432048"/>
            </a:xfrm>
            <a:prstGeom prst="bentConnector3">
              <a:avLst>
                <a:gd name="adj1" fmla="val 101537"/>
              </a:avLst>
            </a:prstGeom>
            <a:ln w="38100">
              <a:solidFill>
                <a:srgbClr val="F63122"/>
              </a:solidFill>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23A5E50-DD91-1D11-D125-7377EC080594}"/>
                </a:ext>
              </a:extLst>
            </p:cNvPr>
            <p:cNvGrpSpPr/>
            <p:nvPr/>
          </p:nvGrpSpPr>
          <p:grpSpPr>
            <a:xfrm>
              <a:off x="7680176" y="5085184"/>
              <a:ext cx="4322421" cy="1447149"/>
              <a:chOff x="7680176" y="5190193"/>
              <a:chExt cx="4322421" cy="1447149"/>
            </a:xfrm>
          </p:grpSpPr>
          <p:sp>
            <p:nvSpPr>
              <p:cNvPr id="3" name="TextBox 2">
                <a:extLst>
                  <a:ext uri="{FF2B5EF4-FFF2-40B4-BE49-F238E27FC236}">
                    <a16:creationId xmlns:a16="http://schemas.microsoft.com/office/drawing/2014/main" id="{3CF779B6-65C4-697F-25A3-0CB7A198E6A3}"/>
                  </a:ext>
                </a:extLst>
              </p:cNvPr>
              <p:cNvSpPr txBox="1"/>
              <p:nvPr/>
            </p:nvSpPr>
            <p:spPr>
              <a:xfrm>
                <a:off x="7680176" y="5190193"/>
                <a:ext cx="4322421"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dept;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v1;</a:t>
                </a:r>
              </a:p>
            </p:txBody>
          </p:sp>
          <p:sp>
            <p:nvSpPr>
              <p:cNvPr id="18" name="TextBox 17">
                <a:extLst>
                  <a:ext uri="{FF2B5EF4-FFF2-40B4-BE49-F238E27FC236}">
                    <a16:creationId xmlns:a16="http://schemas.microsoft.com/office/drawing/2014/main" id="{28BA1400-C3F4-6C07-C21D-69756F6CF9FD}"/>
                  </a:ext>
                </a:extLst>
              </p:cNvPr>
              <p:cNvSpPr txBox="1"/>
              <p:nvPr/>
            </p:nvSpPr>
            <p:spPr>
              <a:xfrm>
                <a:off x="8688288" y="6237232"/>
                <a:ext cx="1379776" cy="400110"/>
              </a:xfrm>
              <a:prstGeom prst="rect">
                <a:avLst/>
              </a:prstGeom>
              <a:noFill/>
            </p:spPr>
            <p:txBody>
              <a:bodyPr wrap="square">
                <a:spAutoFit/>
              </a:bodyPr>
              <a:lstStyle/>
              <a:p>
                <a:r>
                  <a:rPr lang="en-IN" sz="2000" dirty="0">
                    <a:solidFill>
                      <a:srgbClr val="00B050"/>
                    </a:solidFill>
                    <a:latin typeface="Liberation Mono"/>
                    <a:cs typeface="Arial" panose="020B0604020202020204" pitchFamily="34" charset="0"/>
                  </a:rPr>
                  <a:t>Try   this</a:t>
                </a:r>
                <a:endParaRPr lang="en-IN" sz="2000" dirty="0">
                  <a:solidFill>
                    <a:srgbClr val="00B050"/>
                  </a:solidFill>
                </a:endParaRPr>
              </a:p>
            </p:txBody>
          </p:sp>
        </p:grpSp>
      </p:grpSp>
    </p:spTree>
    <p:extLst>
      <p:ext uri="{BB962C8B-B14F-4D97-AF65-F5344CB8AC3E}">
        <p14:creationId xmlns:p14="http://schemas.microsoft.com/office/powerpoint/2010/main" val="3685254420"/>
      </p:ext>
    </p:extLst>
  </p:cSld>
  <p:clrMapOvr>
    <a:masterClrMapping/>
  </p:clrMapOvr>
</p:sld>
</file>

<file path=ppt/slides/slide7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3352" y="732760"/>
            <a:ext cx="11665296" cy="4924425"/>
          </a:xfrm>
          <a:prstGeom prst="rect">
            <a:avLst/>
          </a:prstGeom>
          <a:noFill/>
        </p:spPr>
        <p:txBody>
          <a:bodyPr wrap="square">
            <a:spAutoFit/>
          </a:bodyPr>
          <a:lstStyle/>
          <a:p>
            <a:pPr algn="l" fontAlgn="base"/>
            <a:r>
              <a:rPr lang="en-US" sz="2200" dirty="0">
                <a:solidFill>
                  <a:schemeClr val="accent2">
                    <a:lumMod val="50000"/>
                  </a:schemeClr>
                </a:solidFill>
                <a:latin typeface="Arial" panose="020B0604020202020204" pitchFamily="34" charset="0"/>
                <a:cs typeface="Arial" panose="020B0604020202020204" pitchFamily="34" charset="0"/>
              </a:rPr>
              <a:t>Uses of a View: A good database should contain views due to the following reasons:</a:t>
            </a:r>
          </a:p>
          <a:p>
            <a:pPr algn="l" fontAlgn="base"/>
            <a:endParaRPr lang="en-US" sz="2200"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Restricting data access –</a:t>
            </a:r>
            <a:r>
              <a:rPr lang="en-US" b="0" i="0" dirty="0">
                <a:solidFill>
                  <a:srgbClr val="273239"/>
                </a:solidFill>
                <a:effectLst/>
                <a:latin typeface="Arial" panose="020B0604020202020204" pitchFamily="34" charset="0"/>
                <a:cs typeface="Arial" panose="020B0604020202020204" pitchFamily="34" charset="0"/>
              </a:rPr>
              <a:t> Views provide an additional level of table security by restricting access to a predetermined set of rows and columns of a table.</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Hiding data complexity –</a:t>
            </a:r>
            <a:r>
              <a:rPr lang="en-US" b="0" i="0" dirty="0">
                <a:solidFill>
                  <a:srgbClr val="273239"/>
                </a:solidFill>
                <a:effectLst/>
                <a:latin typeface="Arial" panose="020B0604020202020204" pitchFamily="34" charset="0"/>
                <a:cs typeface="Arial" panose="020B0604020202020204" pitchFamily="34" charset="0"/>
              </a:rPr>
              <a:t> A view can hide the complexity that exists in multiple tables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Simplify commands for the user –</a:t>
            </a:r>
            <a:r>
              <a:rPr lang="en-US" b="0" i="0" dirty="0">
                <a:solidFill>
                  <a:srgbClr val="273239"/>
                </a:solidFill>
                <a:effectLst/>
                <a:latin typeface="Arial" panose="020B0604020202020204" pitchFamily="34" charset="0"/>
                <a:cs typeface="Arial" panose="020B0604020202020204" pitchFamily="34" charset="0"/>
              </a:rPr>
              <a:t> Views allow the user to select information from multiple tables without requiring the users to actually know how to perform a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Store complex queries –</a:t>
            </a:r>
            <a:r>
              <a:rPr lang="en-US" b="0" i="0" dirty="0">
                <a:solidFill>
                  <a:srgbClr val="273239"/>
                </a:solidFill>
                <a:effectLst/>
                <a:latin typeface="Arial" panose="020B0604020202020204" pitchFamily="34" charset="0"/>
                <a:cs typeface="Arial" panose="020B0604020202020204" pitchFamily="34" charset="0"/>
              </a:rPr>
              <a:t> Views can be used to store complex queries.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Rename Columns –</a:t>
            </a:r>
            <a:r>
              <a:rPr lang="en-US" b="0" i="0" dirty="0">
                <a:solidFill>
                  <a:srgbClr val="273239"/>
                </a:solidFill>
                <a:effectLst/>
                <a:latin typeface="Arial" panose="020B0604020202020204" pitchFamily="34" charset="0"/>
                <a:cs typeface="Arial" panose="020B0604020202020204" pitchFamily="34" charset="0"/>
              </a:rPr>
              <a:t> Views can also be used to rename the columns without affecting the base tables provided the number of columns in view must match the number of columns specified in select statement. Thus, renaming helps to hide the names of the columns of the base tables.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Multiple view facility –</a:t>
            </a:r>
            <a:r>
              <a:rPr lang="en-US" b="0" i="0" dirty="0">
                <a:solidFill>
                  <a:srgbClr val="273239"/>
                </a:solidFill>
                <a:effectLst/>
                <a:latin typeface="Arial" panose="020B0604020202020204" pitchFamily="34" charset="0"/>
                <a:cs typeface="Arial" panose="020B0604020202020204" pitchFamily="34" charset="0"/>
              </a:rPr>
              <a:t> Different views can be created on the same table for different users.</a:t>
            </a:r>
          </a:p>
        </p:txBody>
      </p:sp>
    </p:spTree>
    <p:extLst>
      <p:ext uri="{BB962C8B-B14F-4D97-AF65-F5344CB8AC3E}">
        <p14:creationId xmlns:p14="http://schemas.microsoft.com/office/powerpoint/2010/main" val="4016401194"/>
      </p:ext>
    </p:extLst>
  </p:cSld>
  <p:clrMapOvr>
    <a:masterClrMapping/>
  </p:clrMapOvr>
</p:sld>
</file>

<file path=ppt/slides/slide7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3" name="Rectangle 2"/>
          <p:cNvSpPr/>
          <p:nvPr/>
        </p:nvSpPr>
        <p:spPr>
          <a:xfrm>
            <a:off x="263352" y="806408"/>
            <a:ext cx="8991600" cy="430887"/>
          </a:xfrm>
          <a:prstGeom prst="rect">
            <a:avLst/>
          </a:prstGeom>
        </p:spPr>
        <p:txBody>
          <a:bodyPr wrap="square">
            <a:spAutoFit/>
          </a:bodyPr>
          <a:lstStyle/>
          <a:p>
            <a:r>
              <a:rPr lang="en-IN" sz="2200" dirty="0">
                <a:solidFill>
                  <a:schemeClr val="accent2">
                    <a:lumMod val="50000"/>
                  </a:schemeClr>
                </a:solidFill>
                <a:latin typeface="Arial" panose="020B0604020202020204" pitchFamily="34" charset="0"/>
                <a:cs typeface="Arial" panose="020B0604020202020204" pitchFamily="34" charset="0"/>
              </a:rPr>
              <a:t>Views are not updatable in the following cases:</a:t>
            </a:r>
          </a:p>
        </p:txBody>
      </p:sp>
      <p:sp>
        <p:nvSpPr>
          <p:cNvPr id="5" name="Rectangle 4"/>
          <p:cNvSpPr/>
          <p:nvPr/>
        </p:nvSpPr>
        <p:spPr>
          <a:xfrm>
            <a:off x="263352" y="1428150"/>
            <a:ext cx="11665296" cy="2923877"/>
          </a:xfrm>
          <a:prstGeom prst="rect">
            <a:avLst/>
          </a:prstGeom>
          <a:noFill/>
        </p:spPr>
        <p:txBody>
          <a:bodyPr wrap="square">
            <a:spAutoFit/>
          </a:bodyPr>
          <a:lstStyle/>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A table in the FROM clause is reference by a subquery in the WHERE statement.</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There is a subquery in the SELECT clause.</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SQL statement defining the view joins tables.</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One of the tables in the FROM clause is a non-updatable view.</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SELECT statement of the view contains an aggregate function such as SUM(), COUNT(), MAX(), MIN(), and so on.</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keywords DISTINCT, GROUP BY, HAVING clause, LIMIT clause, UNION, or UNION ALL appear in the defining SQL statement.</a:t>
            </a:r>
          </a:p>
        </p:txBody>
      </p:sp>
    </p:spTree>
    <p:extLst>
      <p:ext uri="{BB962C8B-B14F-4D97-AF65-F5344CB8AC3E}">
        <p14:creationId xmlns:p14="http://schemas.microsoft.com/office/powerpoint/2010/main" val="2662115593"/>
      </p:ext>
    </p:extLst>
  </p:cSld>
  <p:clrMapOvr>
    <a:masterClrMapping/>
  </p:clrMapOvr>
</p:sld>
</file>

<file path=ppt/slides/slide7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46785" name="Rectangle 1"/>
          <p:cNvSpPr>
            <a:spLocks noChangeArrowheads="1"/>
          </p:cNvSpPr>
          <p:nvPr/>
        </p:nvSpPr>
        <p:spPr bwMode="auto">
          <a:xfrm>
            <a:off x="1524001" y="-369142"/>
            <a:ext cx="65" cy="738285"/>
          </a:xfrm>
          <a:prstGeom prst="rect">
            <a:avLst/>
          </a:prstGeom>
          <a:solidFill>
            <a:srgbClr val="FFFFFF"/>
          </a:solidFill>
          <a:ln w="9525">
            <a:noFill/>
            <a:miter lim="800000"/>
            <a:headEnd/>
            <a:tailEnd/>
          </a:ln>
          <a:effectLst/>
        </p:spPr>
        <p:txBody>
          <a:bodyPr vert="horz" wrap="none" lIns="0" tIns="0" rIns="0" bIns="182505" numCol="1" anchor="ctr" anchorCtr="0" compatLnSpc="1">
            <a:prstTxWarp prst="textNoShape">
              <a:avLst/>
            </a:prstTxWarp>
            <a:spAutoFit/>
          </a:bodyPr>
          <a:lstStyle/>
          <a:p>
            <a:pPr fontAlgn="base">
              <a:spcBef>
                <a:spcPct val="0"/>
              </a:spcBef>
              <a:spcAft>
                <a:spcPct val="0"/>
              </a:spcAft>
            </a:pPr>
            <a:endParaRPr lang="en-US">
              <a:latin typeface="Arial" pitchFamily="34" charset="0"/>
              <a:cs typeface="Arial" pitchFamily="34" charset="0"/>
            </a:endParaRPr>
          </a:p>
          <a:p>
            <a:pPr eaLnBrk="0" fontAlgn="base" hangingPunct="0">
              <a:spcBef>
                <a:spcPct val="0"/>
              </a:spcBef>
              <a:spcAft>
                <a:spcPct val="0"/>
              </a:spcAft>
            </a:pPr>
            <a:endParaRPr lang="en-US">
              <a:latin typeface="Arial" pitchFamily="34" charset="0"/>
              <a:cs typeface="Arial" pitchFamily="34" charset="0"/>
            </a:endParaRPr>
          </a:p>
        </p:txBody>
      </p:sp>
      <p:graphicFrame>
        <p:nvGraphicFramePr>
          <p:cNvPr id="7" name="Table 6"/>
          <p:cNvGraphicFramePr>
            <a:graphicFrameLocks noGrp="1"/>
          </p:cNvGraphicFramePr>
          <p:nvPr>
            <p:extLst>
              <p:ext uri="{D42A27DB-BD31-4B8C-83A1-F6EECF244321}">
                <p14:modId xmlns:p14="http://schemas.microsoft.com/office/powerpoint/2010/main" val="2527267214"/>
              </p:ext>
            </p:extLst>
          </p:nvPr>
        </p:nvGraphicFramePr>
        <p:xfrm>
          <a:off x="119532" y="738286"/>
          <a:ext cx="11952936" cy="5070556"/>
        </p:xfrm>
        <a:graphic>
          <a:graphicData uri="http://schemas.openxmlformats.org/drawingml/2006/table">
            <a:tbl>
              <a:tblPr>
                <a:tableStyleId>{BDBED569-4797-4DF1-A0F4-6AAB3CD982D8}</a:tableStyleId>
              </a:tblPr>
              <a:tblGrid>
                <a:gridCol w="5976468">
                  <a:extLst>
                    <a:ext uri="{9D8B030D-6E8A-4147-A177-3AD203B41FA5}">
                      <a16:colId xmlns:a16="http://schemas.microsoft.com/office/drawing/2014/main" val="20000"/>
                    </a:ext>
                  </a:extLst>
                </a:gridCol>
                <a:gridCol w="5976468">
                  <a:extLst>
                    <a:ext uri="{9D8B030D-6E8A-4147-A177-3AD203B41FA5}">
                      <a16:colId xmlns:a16="http://schemas.microsoft.com/office/drawing/2014/main" val="20001"/>
                    </a:ext>
                  </a:extLst>
                </a:gridCol>
              </a:tblGrid>
              <a:tr h="256966">
                <a:tc>
                  <a:txBody>
                    <a:bodyPr/>
                    <a:lstStyle/>
                    <a:p>
                      <a:pPr algn="ctr" fontAlgn="base"/>
                      <a:r>
                        <a:rPr lang="en-US" sz="1800" b="1" cap="all" dirty="0">
                          <a:solidFill>
                            <a:schemeClr val="accent6">
                              <a:lumMod val="50000"/>
                            </a:schemeClr>
                          </a:solidFill>
                          <a:latin typeface="Palatino Linotype" panose="02040502050505030304" pitchFamily="18" charset="0"/>
                        </a:rPr>
                        <a:t>SIMPLE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tc>
                  <a:txBody>
                    <a:bodyPr/>
                    <a:lstStyle/>
                    <a:p>
                      <a:pPr algn="ctr" fontAlgn="base"/>
                      <a:r>
                        <a:rPr lang="en-US" sz="1800" b="1" cap="all" dirty="0">
                          <a:solidFill>
                            <a:schemeClr val="accent6">
                              <a:lumMod val="50000"/>
                            </a:schemeClr>
                          </a:solidFill>
                          <a:latin typeface="Palatino Linotype" panose="02040502050505030304" pitchFamily="18" charset="0"/>
                        </a:rPr>
                        <a:t>COMPLEX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extLst>
                  <a:ext uri="{0D108BD9-81ED-4DB2-BD59-A6C34878D82A}">
                    <a16:rowId xmlns:a16="http://schemas.microsoft.com/office/drawing/2014/main" val="10000"/>
                  </a:ext>
                </a:extLst>
              </a:tr>
              <a:tr h="689681">
                <a:tc>
                  <a:txBody>
                    <a:bodyPr/>
                    <a:lstStyle/>
                    <a:p>
                      <a:pPr algn="l" fontAlgn="base"/>
                      <a:r>
                        <a:rPr lang="en-US" sz="1800" dirty="0">
                          <a:latin typeface="Palatino Linotype" panose="02040502050505030304" pitchFamily="18" charset="0"/>
                        </a:rPr>
                        <a:t>Contains only one base table or is created from only one table, it may include WHERE clause and ORDER BY clause. </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Contains more than one base tables or is created from more than one tables.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1"/>
                  </a:ext>
                </a:extLst>
              </a:tr>
              <a:tr h="535171">
                <a:tc>
                  <a:txBody>
                    <a:bodyPr/>
                    <a:lstStyle/>
                    <a:p>
                      <a:pPr algn="l" fontAlgn="base"/>
                      <a:r>
                        <a:rPr lang="en-US" sz="1800" dirty="0">
                          <a:latin typeface="Palatino Linotype" panose="02040502050505030304" pitchFamily="18" charset="0"/>
                        </a:rPr>
                        <a:t>We cannot use group functions like MAX(), COUNT(), etc.</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We can use group functions.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2"/>
                  </a:ext>
                </a:extLst>
              </a:tr>
              <a:tr h="380659">
                <a:tc>
                  <a:txBody>
                    <a:bodyPr/>
                    <a:lstStyle/>
                    <a:p>
                      <a:pPr algn="l" fontAlgn="base"/>
                      <a:r>
                        <a:rPr lang="en-US" sz="1800">
                          <a:latin typeface="Palatino Linotype" panose="02040502050505030304" pitchFamily="18" charset="0"/>
                        </a:rPr>
                        <a:t>Does not contain groups of data.</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It can conatin groups of data.</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3"/>
                  </a:ext>
                </a:extLst>
              </a:tr>
              <a:tr h="535171">
                <a:tc>
                  <a:txBody>
                    <a:bodyPr/>
                    <a:lstStyle/>
                    <a:p>
                      <a:pPr algn="l" fontAlgn="base"/>
                      <a:r>
                        <a:rPr lang="en-US" sz="1800" dirty="0">
                          <a:latin typeface="Palatino Linotype" panose="02040502050505030304" pitchFamily="18" charset="0"/>
                        </a:rPr>
                        <a:t>DML operations could be performed through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DML operations could not always be performed through a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4"/>
                  </a:ext>
                </a:extLst>
              </a:tr>
              <a:tr h="535171">
                <a:tc>
                  <a:txBody>
                    <a:bodyPr/>
                    <a:lstStyle/>
                    <a:p>
                      <a:pPr algn="l" fontAlgn="base"/>
                      <a:r>
                        <a:rPr lang="en-US" sz="1800" dirty="0">
                          <a:latin typeface="Palatino Linotype" panose="02040502050505030304" pitchFamily="18" charset="0"/>
                        </a:rPr>
                        <a:t>INSERT, DELETE and UPDATE are directly possible on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We cannot apply INSERT, DELETE and UPDATE on complex view directly.</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5"/>
                  </a:ext>
                </a:extLst>
              </a:tr>
              <a:tr h="844192">
                <a:tc>
                  <a:txBody>
                    <a:bodyPr/>
                    <a:lstStyle/>
                    <a:p>
                      <a:pPr algn="l" fontAlgn="base"/>
                      <a:r>
                        <a:rPr lang="en-US" sz="1800" dirty="0">
                          <a:latin typeface="Palatino Linotype" panose="02040502050505030304" pitchFamily="18" charset="0"/>
                        </a:rPr>
                        <a:t>Simple view does not contain group by, , having clause, limit clause, distinct, pseudo 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It can contain group by, having clause, limit clause, distinct, pseudocolumn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6"/>
                  </a:ext>
                </a:extLst>
              </a:tr>
              <a:tr h="689681">
                <a:tc>
                  <a:txBody>
                    <a:bodyPr/>
                    <a:lstStyle/>
                    <a:p>
                      <a:pPr algn="l" fontAlgn="base"/>
                      <a:r>
                        <a:rPr lang="en-US" sz="1800">
                          <a:latin typeface="Palatino Linotype" panose="02040502050505030304" pitchFamily="18" charset="0"/>
                        </a:rPr>
                        <a:t>Does not include NOT NULL columns from base tables.</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NOT NULL columns that are not selected by simple view can be included in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7"/>
                  </a:ext>
                </a:extLst>
              </a:tr>
            </a:tbl>
          </a:graphicData>
        </a:graphic>
      </p:graphicFrame>
      <p:sp>
        <p:nvSpPr>
          <p:cNvPr id="2" name="Rectangle 1">
            <a:extLst>
              <a:ext uri="{FF2B5EF4-FFF2-40B4-BE49-F238E27FC236}">
                <a16:creationId xmlns:a16="http://schemas.microsoft.com/office/drawing/2014/main" id="{F0599443-B8C2-48C0-AB99-DD51775CD781}"/>
              </a:ext>
            </a:extLst>
          </p:cNvPr>
          <p:cNvSpPr/>
          <p:nvPr/>
        </p:nvSpPr>
        <p:spPr>
          <a:xfrm>
            <a:off x="1523802" y="448"/>
            <a:ext cx="10548536" cy="584699"/>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simple and complex view</a:t>
            </a:r>
          </a:p>
        </p:txBody>
      </p:sp>
    </p:spTree>
    <p:extLst>
      <p:ext uri="{BB962C8B-B14F-4D97-AF65-F5344CB8AC3E}">
        <p14:creationId xmlns:p14="http://schemas.microsoft.com/office/powerpoint/2010/main" val="2662115593"/>
      </p:ext>
    </p:extLst>
  </p:cSld>
  <p:clrMapOvr>
    <a:masterClrMapping/>
  </p:clrMapOvr>
</p:sld>
</file>

<file path=ppt/slides/slide7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479376" y="838201"/>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select_statement is a SELECT statement that provides the definition of the view. The select_statement can select from base tables or other views.</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479376" y="1737957"/>
            <a:ext cx="8839200"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OR REPLACE </a:t>
            </a:r>
            <a:r>
              <a:rPr lang="en-IN" sz="2000" dirty="0">
                <a:latin typeface="Liberation Mono"/>
              </a:rPr>
              <a:t>]</a:t>
            </a:r>
            <a:r>
              <a:rPr lang="en-IN" sz="2000" dirty="0">
                <a:solidFill>
                  <a:srgbClr val="0077AA"/>
                </a:solidFill>
                <a:latin typeface="Liberation Mono"/>
              </a:rPr>
              <a:t>  VIEW </a:t>
            </a:r>
            <a:r>
              <a:rPr lang="en-IN" sz="2000" dirty="0">
                <a:latin typeface="Liberation Mono"/>
              </a:rPr>
              <a:t>view_name [ (</a:t>
            </a:r>
            <a:r>
              <a:rPr lang="en-IN" sz="2000" i="1" dirty="0">
                <a:latin typeface="Liberation Mono"/>
              </a:rPr>
              <a:t>column_list</a:t>
            </a:r>
            <a:r>
              <a:rPr lang="en-IN" sz="2000" dirty="0">
                <a:latin typeface="Liberation Mono"/>
              </a:rPr>
              <a:t>) ]</a:t>
            </a:r>
          </a:p>
          <a:p>
            <a:r>
              <a:rPr lang="en-IN" sz="2000" dirty="0">
                <a:solidFill>
                  <a:srgbClr val="0077AA"/>
                </a:solidFill>
                <a:latin typeface="Liberation Mono"/>
              </a:rPr>
              <a:t>     as </a:t>
            </a:r>
            <a:r>
              <a:rPr lang="en-IN" sz="2000" i="1" dirty="0">
                <a:latin typeface="Liberation Mono"/>
              </a:rPr>
              <a:t>select_statement  </a:t>
            </a:r>
            <a:r>
              <a:rPr lang="en-IN" sz="2000" dirty="0">
                <a:latin typeface="Liberation Mono"/>
              </a:rPr>
              <a:t>[ </a:t>
            </a:r>
            <a:r>
              <a:rPr lang="en-IN" sz="2000" dirty="0">
                <a:solidFill>
                  <a:srgbClr val="0077AA"/>
                </a:solidFill>
                <a:latin typeface="Liberation Mono"/>
              </a:rPr>
              <a:t>WITH CHECK OPTION </a:t>
            </a:r>
            <a:r>
              <a:rPr lang="en-IN" sz="2000" dirty="0">
                <a:latin typeface="Liberation Mono"/>
              </a:rPr>
              <a:t>]</a:t>
            </a:r>
            <a:endParaRPr lang="en-US" sz="2000" dirty="0">
              <a:latin typeface="Liberation Mono"/>
            </a:endParaRPr>
          </a:p>
        </p:txBody>
      </p:sp>
      <p:sp>
        <p:nvSpPr>
          <p:cNvPr id="7" name="Rectangle 6"/>
          <p:cNvSpPr/>
          <p:nvPr/>
        </p:nvSpPr>
        <p:spPr>
          <a:xfrm>
            <a:off x="478069" y="3749443"/>
            <a:ext cx="8991600" cy="110799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a:t>
            </a:r>
            <a:r>
              <a:rPr lang="en-IN" baseline="-25000" dirty="0">
                <a:latin typeface="Liberation Mono"/>
                <a:ea typeface="Times New Roman" panose="02020603050405020304" pitchFamily="18" charset="0"/>
              </a:rPr>
              <a:t>1</a:t>
            </a:r>
            <a:r>
              <a:rPr lang="en-IN" dirty="0">
                <a:latin typeface="Liberation Mono"/>
                <a:ea typeface="Times New Roman" panose="02020603050405020304" pitchFamily="18" charset="0"/>
              </a:rPr>
              <a:t>, A</a:t>
            </a:r>
            <a:r>
              <a:rPr lang="en-IN" baseline="-25000" dirty="0">
                <a:latin typeface="Liberation Mono"/>
                <a:ea typeface="Times New Roman" panose="02020603050405020304" pitchFamily="18" charset="0"/>
              </a:rPr>
              <a:t>2</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rPr>
              <a:t>deptno, dname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WITH</a:t>
            </a:r>
            <a:r>
              <a:rPr lang="en-IN" dirty="0">
                <a:latin typeface="Liberation Mono"/>
                <a:cs typeface="Arial" panose="020B0604020202020204" pitchFamily="34" charset="0"/>
              </a:rPr>
              <a:t> </a:t>
            </a:r>
            <a:r>
              <a:rPr lang="en-IN" dirty="0">
                <a:solidFill>
                  <a:srgbClr val="0077AA"/>
                </a:solidFill>
                <a:latin typeface="Liberation Mono"/>
              </a:rPr>
              <a:t>CHECK</a:t>
            </a:r>
            <a:r>
              <a:rPr lang="en-IN" dirty="0">
                <a:latin typeface="Liberation Mono"/>
                <a:cs typeface="Arial" panose="020B0604020202020204" pitchFamily="34" charset="0"/>
              </a:rPr>
              <a:t> </a:t>
            </a:r>
            <a:r>
              <a:rPr lang="en-IN" dirty="0">
                <a:solidFill>
                  <a:srgbClr val="0077AA"/>
                </a:solidFill>
                <a:latin typeface="Liberation Mono"/>
              </a:rPr>
              <a:t>OPTION</a:t>
            </a:r>
            <a:r>
              <a:rPr lang="en-IN" dirty="0">
                <a:latin typeface="Liberation Mono"/>
                <a:cs typeface="Arial" panose="020B0604020202020204" pitchFamily="34" charset="0"/>
              </a:rPr>
              <a:t>;</a:t>
            </a:r>
          </a:p>
        </p:txBody>
      </p:sp>
      <p:sp>
        <p:nvSpPr>
          <p:cNvPr id="8" name="Rectangle 7"/>
          <p:cNvSpPr/>
          <p:nvPr/>
        </p:nvSpPr>
        <p:spPr>
          <a:xfrm>
            <a:off x="479376" y="2747157"/>
            <a:ext cx="11161240" cy="646331"/>
          </a:xfrm>
          <a:prstGeom prst="rect">
            <a:avLst/>
          </a:prstGeom>
          <a:noFill/>
        </p:spPr>
        <p:txBody>
          <a:bodyPr wrap="square">
            <a:spAutoFit/>
          </a:bodyPr>
          <a:lstStyle/>
          <a:p>
            <a:pPr algn="just"/>
            <a:r>
              <a:rPr lang="en-IN" dirty="0">
                <a:solidFill>
                  <a:schemeClr val="tx1">
                    <a:lumMod val="85000"/>
                    <a:lumOff val="15000"/>
                  </a:schemeClr>
                </a:solidFill>
                <a:latin typeface="Arial" panose="020B0604020202020204" pitchFamily="34" charset="0"/>
                <a:cs typeface="Arial" panose="020B0604020202020204" pitchFamily="34" charset="0"/>
              </a:rPr>
              <a:t>UPDATE AND DELETE on VIEW (with check option given on view) will work only when the DATA MATCHES IN WHERE CLAUSE.</a:t>
            </a:r>
          </a:p>
        </p:txBody>
      </p:sp>
      <p:sp>
        <p:nvSpPr>
          <p:cNvPr id="2" name="Rectangle 1"/>
          <p:cNvSpPr/>
          <p:nvPr/>
        </p:nvSpPr>
        <p:spPr>
          <a:xfrm>
            <a:off x="479521" y="5258289"/>
            <a:ext cx="4426212" cy="400110"/>
          </a:xfrm>
          <a:prstGeom prst="rect">
            <a:avLst/>
          </a:prstGeom>
        </p:spPr>
        <p:txBody>
          <a:bodyPr wrap="none">
            <a:spAutoFit/>
          </a:bodyPr>
          <a:lstStyle/>
          <a:p>
            <a:r>
              <a:rPr lang="en-IN" sz="2000" dirty="0">
                <a:solidFill>
                  <a:schemeClr val="tx1">
                    <a:lumMod val="85000"/>
                    <a:lumOff val="15000"/>
                  </a:schemeClr>
                </a:solidFill>
              </a:rPr>
              <a:t>desc INFORMATION_SCHEMA.VIEWS;</a:t>
            </a:r>
          </a:p>
        </p:txBody>
      </p:sp>
    </p:spTree>
    <p:extLst>
      <p:ext uri="{BB962C8B-B14F-4D97-AF65-F5344CB8AC3E}">
        <p14:creationId xmlns:p14="http://schemas.microsoft.com/office/powerpoint/2010/main" val="412755605"/>
      </p:ext>
    </p:extLst>
  </p:cSld>
  <p:clrMapOvr>
    <a:masterClrMapping/>
  </p:clrMapOvr>
</p:sld>
</file>

<file path=ppt/slides/slide7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pic>
        <p:nvPicPr>
          <p:cNvPr id="3" name="Picture 2">
            <a:extLst>
              <a:ext uri="{FF2B5EF4-FFF2-40B4-BE49-F238E27FC236}">
                <a16:creationId xmlns:a16="http://schemas.microsoft.com/office/drawing/2014/main" id="{EDDF9068-A221-4DAA-860B-64D4A1A3F5A0}"/>
              </a:ext>
            </a:extLst>
          </p:cNvPr>
          <p:cNvPicPr>
            <a:picLocks noChangeAspect="1"/>
          </p:cNvPicPr>
          <p:nvPr/>
        </p:nvPicPr>
        <p:blipFill>
          <a:blip r:embed="rId2"/>
          <a:stretch>
            <a:fillRect/>
          </a:stretch>
        </p:blipFill>
        <p:spPr>
          <a:xfrm>
            <a:off x="31838" y="584776"/>
            <a:ext cx="12160162" cy="3992889"/>
          </a:xfrm>
          <a:prstGeom prst="rect">
            <a:avLst/>
          </a:prstGeom>
        </p:spPr>
      </p:pic>
      <p:sp>
        <p:nvSpPr>
          <p:cNvPr id="8" name="Rectangle 7">
            <a:extLst>
              <a:ext uri="{FF2B5EF4-FFF2-40B4-BE49-F238E27FC236}">
                <a16:creationId xmlns:a16="http://schemas.microsoft.com/office/drawing/2014/main" id="{7498E566-0CFF-4737-BBB9-092213D9408C}"/>
              </a:ext>
            </a:extLst>
          </p:cNvPr>
          <p:cNvSpPr/>
          <p:nvPr/>
        </p:nvSpPr>
        <p:spPr>
          <a:xfrm>
            <a:off x="191344" y="4869160"/>
            <a:ext cx="11527783" cy="1569660"/>
          </a:xfrm>
          <a:prstGeom prst="rect">
            <a:avLst/>
          </a:prstGeom>
        </p:spPr>
        <p:txBody>
          <a:bodyPr wrap="square">
            <a:spAutoFit/>
          </a:bodyPr>
          <a:lstStyle/>
          <a:p>
            <a:r>
              <a:rPr lang="en-IN" dirty="0">
                <a:solidFill>
                  <a:srgbClr val="00B050"/>
                </a:solidFill>
                <a:latin typeface="Liberation Mono"/>
                <a:cs typeface="Arial" panose="020B0604020202020204" pitchFamily="34" charset="0"/>
              </a:rPr>
              <a:t># all are Simple View</a:t>
            </a:r>
          </a:p>
          <a:p>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agent1_view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validTo;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agent2_view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agent3_view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p:txBody>
      </p:sp>
      <p:sp>
        <p:nvSpPr>
          <p:cNvPr id="10" name="Rectangle 9">
            <a:extLst>
              <a:ext uri="{FF2B5EF4-FFF2-40B4-BE49-F238E27FC236}">
                <a16:creationId xmlns:a16="http://schemas.microsoft.com/office/drawing/2014/main" id="{6ADDB0C9-BFF5-4E8D-AD0A-B461023019ED}"/>
              </a:ext>
            </a:extLst>
          </p:cNvPr>
          <p:cNvSpPr/>
          <p:nvPr/>
        </p:nvSpPr>
        <p:spPr>
          <a:xfrm>
            <a:off x="-7188" y="176527"/>
            <a:ext cx="1467068"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licence table</a:t>
            </a:r>
          </a:p>
        </p:txBody>
      </p:sp>
    </p:spTree>
    <p:extLst>
      <p:ext uri="{BB962C8B-B14F-4D97-AF65-F5344CB8AC3E}">
        <p14:creationId xmlns:p14="http://schemas.microsoft.com/office/powerpoint/2010/main" val="951073234"/>
      </p:ext>
    </p:extLst>
  </p:cSld>
  <p:clrMapOvr>
    <a:masterClrMapping/>
  </p:clrMapOvr>
</p:sld>
</file>

<file path=ppt/slides/slide7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user and grant/revoke privileges </a:t>
            </a:r>
          </a:p>
        </p:txBody>
      </p:sp>
    </p:spTree>
    <p:extLst>
      <p:ext uri="{BB962C8B-B14F-4D97-AF65-F5344CB8AC3E}">
        <p14:creationId xmlns:p14="http://schemas.microsoft.com/office/powerpoint/2010/main" val="3896216673"/>
      </p:ext>
    </p:extLst>
  </p:cSld>
  <p:clrMapOvr>
    <a:masterClrMapping/>
  </p:clrMapOvr>
</p:sld>
</file>

<file path=ppt/slides/slide7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user</a:t>
            </a:r>
          </a:p>
        </p:txBody>
      </p:sp>
      <p:sp>
        <p:nvSpPr>
          <p:cNvPr id="9" name="TextBox 8">
            <a:extLst>
              <a:ext uri="{FF2B5EF4-FFF2-40B4-BE49-F238E27FC236}">
                <a16:creationId xmlns:a16="http://schemas.microsoft.com/office/drawing/2014/main" id="{04E95129-809F-483A-9A10-1E4726569CE6}"/>
              </a:ext>
            </a:extLst>
          </p:cNvPr>
          <p:cNvSpPr txBox="1"/>
          <p:nvPr/>
        </p:nvSpPr>
        <p:spPr>
          <a:xfrm>
            <a:off x="691218" y="1700808"/>
            <a:ext cx="10733374" cy="1261884"/>
          </a:xfrm>
          <a:prstGeom prst="rect">
            <a:avLst/>
          </a:prstGeom>
          <a:noFill/>
        </p:spPr>
        <p:txBody>
          <a:bodyPr wrap="square">
            <a:spAutoFit/>
          </a:bodyPr>
          <a:lstStyle/>
          <a:p>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dirty="0">
                <a:solidFill>
                  <a:srgbClr val="0077AA"/>
                </a:solidFill>
                <a:latin typeface="Liberation Mono"/>
              </a:rPr>
              <a:t>NOT</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 </a:t>
            </a:r>
            <a:r>
              <a:rPr lang="en-US" sz="2000" b="0" i="0" dirty="0">
                <a:solidFill>
                  <a:srgbClr val="0077AA"/>
                </a:solidFill>
                <a:effectLst/>
                <a:latin typeface="Liberation Mono"/>
              </a:rPr>
              <a:t>IDENTIFIED BY </a:t>
            </a:r>
            <a:r>
              <a:rPr lang="en-US" sz="2000" b="0" i="1" dirty="0">
                <a:solidFill>
                  <a:srgbClr val="000000"/>
                </a:solidFill>
                <a:effectLst/>
                <a:latin typeface="Liberation Mono"/>
              </a:rPr>
              <a:t>'password'</a:t>
            </a:r>
          </a:p>
          <a:p>
            <a:endParaRPr lang="en-US" sz="800" i="1" dirty="0">
              <a:solidFill>
                <a:srgbClr val="000000"/>
              </a:solidFill>
              <a:latin typeface="Liberation Mono"/>
            </a:endParaRPr>
          </a:p>
          <a:p>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PASSWORD</a:t>
            </a:r>
            <a:r>
              <a:rPr lang="en-IN" sz="2000" b="0" i="0" dirty="0">
                <a:solidFill>
                  <a:srgbClr val="000000"/>
                </a:solidFill>
                <a:effectLst/>
                <a:latin typeface="Liberation Mono"/>
              </a:rPr>
              <a:t> </a:t>
            </a:r>
            <a:r>
              <a:rPr lang="en-IN" sz="2000" b="0" i="0" dirty="0">
                <a:solidFill>
                  <a:srgbClr val="0077AA"/>
                </a:solidFill>
                <a:effectLst/>
                <a:latin typeface="Liberation Mono"/>
              </a:rPr>
              <a:t>FOR</a:t>
            </a:r>
            <a:r>
              <a:rPr lang="en-IN" sz="2000" b="0" i="0" dirty="0">
                <a:solidFill>
                  <a:srgbClr val="000000"/>
                </a:solidFill>
                <a:effectLst/>
                <a:latin typeface="Liberation Mono"/>
              </a:rPr>
              <a:t> </a:t>
            </a:r>
            <a:r>
              <a:rPr lang="en-US" sz="2000" b="0" i="0" dirty="0">
                <a:solidFill>
                  <a:srgbClr val="000000"/>
                </a:solidFill>
                <a:effectLst/>
                <a:latin typeface="Liberation Mono"/>
              </a:rPr>
              <a:t> '</a:t>
            </a:r>
            <a:r>
              <a:rPr lang="en-US" sz="2000" b="0" i="1" dirty="0">
                <a:solidFill>
                  <a:srgbClr val="000000"/>
                </a:solidFill>
                <a:effectLst/>
                <a:latin typeface="Liberation Mono"/>
              </a:rPr>
              <a:t>user_name'@'localhost'</a:t>
            </a:r>
            <a:r>
              <a:rPr lang="en-IN" sz="2000" b="0" i="0" dirty="0">
                <a:solidFill>
                  <a:srgbClr val="999999"/>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669900"/>
                </a:solidFill>
                <a:effectLst/>
                <a:latin typeface="Liberation Mono"/>
              </a:rPr>
              <a:t>'</a:t>
            </a:r>
            <a:r>
              <a:rPr lang="en-IN" sz="2000" b="0" i="1" dirty="0">
                <a:solidFill>
                  <a:srgbClr val="669900"/>
                </a:solidFill>
                <a:effectLst/>
                <a:latin typeface="Liberation Mono"/>
              </a:rPr>
              <a:t>auth_string</a:t>
            </a:r>
            <a:r>
              <a:rPr lang="en-IN" sz="2000" b="0" i="0" dirty="0">
                <a:solidFill>
                  <a:srgbClr val="669900"/>
                </a:solidFill>
                <a:effectLst/>
                <a:latin typeface="Liberation Mono"/>
              </a:rPr>
              <a:t>'</a:t>
            </a:r>
            <a:endParaRPr lang="en-US" sz="2000" b="0" i="1" dirty="0">
              <a:solidFill>
                <a:srgbClr val="000000"/>
              </a:solidFill>
              <a:effectLst/>
              <a:latin typeface="Liberation Mono"/>
            </a:endParaRPr>
          </a:p>
          <a:p>
            <a:endParaRPr lang="en-US" sz="800" i="1" dirty="0">
              <a:solidFill>
                <a:srgbClr val="000000"/>
              </a:solidFill>
              <a:latin typeface="Liberation Mono"/>
            </a:endParaRPr>
          </a:p>
          <a:p>
            <a:r>
              <a:rPr lang="en-US" sz="2000" b="0" i="0" dirty="0">
                <a:solidFill>
                  <a:srgbClr val="0077AA"/>
                </a:solidFill>
                <a:effectLst/>
                <a:latin typeface="Liberation Mono"/>
              </a:rPr>
              <a:t>DROP</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a:t>
            </a:r>
            <a:endParaRPr lang="en-IN" sz="2000" dirty="0">
              <a:latin typeface="Liberation Mono"/>
            </a:endParaRPr>
          </a:p>
        </p:txBody>
      </p:sp>
      <p:sp>
        <p:nvSpPr>
          <p:cNvPr id="10" name="Rectangle 9">
            <a:extLst>
              <a:ext uri="{FF2B5EF4-FFF2-40B4-BE49-F238E27FC236}">
                <a16:creationId xmlns:a16="http://schemas.microsoft.com/office/drawing/2014/main" id="{F454BE50-4A4E-4D06-AB0C-AB584C310321}"/>
              </a:ext>
            </a:extLst>
          </p:cNvPr>
          <p:cNvSpPr/>
          <p:nvPr/>
        </p:nvSpPr>
        <p:spPr>
          <a:xfrm>
            <a:off x="479376" y="3483585"/>
            <a:ext cx="10945216" cy="116955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CREATE</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US" sz="1800" b="0" i="1" dirty="0">
                <a:solidFill>
                  <a:srgbClr val="000000"/>
                </a:solidFill>
                <a:effectLst/>
                <a:latin typeface="Liberation Mono"/>
              </a:rPr>
              <a:t> </a:t>
            </a:r>
            <a:r>
              <a:rPr lang="en-US" sz="1800" b="0" i="0" dirty="0">
                <a:solidFill>
                  <a:srgbClr val="0077AA"/>
                </a:solidFill>
                <a:effectLst/>
                <a:latin typeface="Liberation Mono"/>
              </a:rPr>
              <a:t>IDENTIFIED BY </a:t>
            </a:r>
            <a:r>
              <a:rPr lang="en-US" dirty="0">
                <a:solidFill>
                  <a:srgbClr val="669900"/>
                </a:solidFill>
                <a:latin typeface="Liberation Mono"/>
              </a:rPr>
              <a:t>'saleel</a:t>
            </a:r>
            <a:r>
              <a:rPr lang="en-IN" sz="1800" b="0" i="0" dirty="0">
                <a:solidFill>
                  <a:srgbClr val="669900"/>
                </a:solidFill>
                <a:effectLst/>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sz="1800" b="0" i="0" dirty="0">
                <a:solidFill>
                  <a:srgbClr val="0077AA"/>
                </a:solidFill>
                <a:effectLst/>
                <a:latin typeface="Liberation Mono"/>
              </a:rPr>
              <a:t>SET</a:t>
            </a:r>
            <a:r>
              <a:rPr lang="en-IN" sz="1800" b="0" i="0" dirty="0">
                <a:solidFill>
                  <a:srgbClr val="000000"/>
                </a:solidFill>
                <a:effectLst/>
                <a:latin typeface="Liberation Mono"/>
              </a:rPr>
              <a:t> </a:t>
            </a:r>
            <a:r>
              <a:rPr lang="en-IN" sz="1800" b="0" i="0" dirty="0">
                <a:solidFill>
                  <a:srgbClr val="0077AA"/>
                </a:solidFill>
                <a:effectLst/>
                <a:latin typeface="Liberation Mono"/>
              </a:rPr>
              <a:t>PASSWORD</a:t>
            </a:r>
            <a:r>
              <a:rPr lang="en-IN" sz="1800" b="0" i="0" dirty="0">
                <a:solidFill>
                  <a:srgbClr val="000000"/>
                </a:solidFill>
                <a:effectLst/>
                <a:latin typeface="Liberation Mono"/>
              </a:rPr>
              <a:t> </a:t>
            </a:r>
            <a:r>
              <a:rPr lang="en-IN" sz="1800" b="0" i="0" dirty="0">
                <a:solidFill>
                  <a:srgbClr val="0077AA"/>
                </a:solidFill>
                <a:effectLst/>
                <a:latin typeface="Liberation Mono"/>
              </a:rPr>
              <a:t>FOR</a:t>
            </a:r>
            <a:r>
              <a:rPr lang="en-IN"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sz="1800" b="0" i="0" dirty="0">
                <a:solidFill>
                  <a:srgbClr val="999999"/>
                </a:solidFill>
                <a:effectLst/>
                <a:latin typeface="Liberation Mono"/>
              </a:rPr>
              <a:t> </a:t>
            </a:r>
            <a:r>
              <a:rPr lang="en-IN" sz="1800" b="0" i="0" dirty="0">
                <a:solidFill>
                  <a:srgbClr val="A67F59"/>
                </a:solidFill>
                <a:effectLst/>
                <a:latin typeface="Liberation Mono"/>
              </a:rPr>
              <a:t>=</a:t>
            </a:r>
            <a:r>
              <a:rPr lang="en-IN" sz="1800" b="0" i="0" dirty="0">
                <a:solidFill>
                  <a:srgbClr val="000000"/>
                </a:solidFill>
                <a:effectLst/>
                <a:latin typeface="Liberation Mono"/>
              </a:rPr>
              <a:t> </a:t>
            </a:r>
            <a:r>
              <a:rPr lang="en-IN" sz="1800" b="0" i="0" dirty="0">
                <a:solidFill>
                  <a:srgbClr val="669900"/>
                </a:solidFill>
                <a:effectLst/>
                <a:latin typeface="Liberation Mono"/>
              </a:rPr>
              <a:t>'</a:t>
            </a:r>
            <a:r>
              <a:rPr lang="en-IN" sz="1800" b="0" i="1" dirty="0">
                <a:solidFill>
                  <a:srgbClr val="669900"/>
                </a:solidFill>
                <a:effectLst/>
                <a:latin typeface="Liberation Mono"/>
              </a:rPr>
              <a:t>sharmin</a:t>
            </a:r>
            <a:r>
              <a:rPr lang="en-IN" sz="1800" b="0" i="0" dirty="0">
                <a:solidFill>
                  <a:srgbClr val="669900"/>
                </a:solidFill>
                <a:effectLst/>
                <a:latin typeface="Liberation Mono"/>
              </a:rPr>
              <a:t>'</a:t>
            </a:r>
            <a:r>
              <a:rPr lang="en-IN" dirty="0">
                <a:latin typeface="Liberation Mono"/>
                <a:cs typeface="Arial" panose="020B0604020202020204" pitchFamily="34" charset="0"/>
              </a:rPr>
              <a:t>;</a:t>
            </a:r>
            <a:endParaRPr lang="en-US" sz="1800" b="0" i="0" dirty="0">
              <a:solidFill>
                <a:srgbClr val="0077AA"/>
              </a:solidFill>
              <a:effectLst/>
              <a:latin typeface="Liberation Mono"/>
            </a:endParaRPr>
          </a:p>
          <a:p>
            <a:pPr marL="285750" indent="-285750">
              <a:buFont typeface="Arial" panose="020B0604020202020204" pitchFamily="34" charset="0"/>
              <a:buChar char="•"/>
            </a:pPr>
            <a:endParaRPr lang="en-US" sz="800" dirty="0">
              <a:solidFill>
                <a:srgbClr val="0077AA"/>
              </a:solidFill>
              <a:latin typeface="Liberation Mono"/>
            </a:endParaRPr>
          </a:p>
          <a:p>
            <a:pPr marL="285750" indent="-285750">
              <a:buFont typeface="Arial" panose="020B0604020202020204" pitchFamily="34" charset="0"/>
              <a:buChar char="•"/>
            </a:pPr>
            <a:r>
              <a:rPr lang="en-US" sz="1800" b="0" i="0" dirty="0">
                <a:solidFill>
                  <a:srgbClr val="0077AA"/>
                </a:solidFill>
                <a:effectLst/>
                <a:latin typeface="Liberation Mono"/>
              </a:rPr>
              <a:t>DROP</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584428629"/>
      </p:ext>
    </p:extLst>
  </p:cSld>
  <p:clrMapOvr>
    <a:masterClrMapping/>
  </p:clrMapOvr>
</p:sld>
</file>

<file path=ppt/slides/slide7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grant/revoke privileges</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04E95129-809F-483A-9A10-1E4726569CE6}"/>
              </a:ext>
            </a:extLst>
          </p:cNvPr>
          <p:cNvSpPr txBox="1"/>
          <p:nvPr/>
        </p:nvSpPr>
        <p:spPr>
          <a:xfrm>
            <a:off x="479376" y="1700808"/>
            <a:ext cx="11305256" cy="830997"/>
          </a:xfrm>
          <a:prstGeom prst="rect">
            <a:avLst/>
          </a:prstGeom>
          <a:noFill/>
        </p:spPr>
        <p:txBody>
          <a:bodyPr wrap="square">
            <a:spAutoFit/>
          </a:bodyPr>
          <a:lstStyle/>
          <a:p>
            <a:r>
              <a:rPr lang="en-US" sz="2000" dirty="0">
                <a:solidFill>
                  <a:srgbClr val="0077AA"/>
                </a:solidFill>
                <a:latin typeface="Liberation Mono"/>
              </a:rPr>
              <a:t>GRANT</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TO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r>
              <a:rPr lang="en-IN" sz="2000" b="0" i="0" dirty="0">
                <a:solidFill>
                  <a:srgbClr val="0077AA"/>
                </a:solidFill>
                <a:effectLst/>
                <a:latin typeface="Liberation Mono"/>
              </a:rPr>
              <a:t> </a:t>
            </a:r>
          </a:p>
          <a:p>
            <a:endParaRPr lang="en-IN" sz="800" dirty="0">
              <a:solidFill>
                <a:srgbClr val="0077AA"/>
              </a:solidFill>
              <a:latin typeface="Liberation Mono"/>
            </a:endParaRPr>
          </a:p>
          <a:p>
            <a:r>
              <a:rPr lang="en-US" sz="2000" dirty="0">
                <a:solidFill>
                  <a:srgbClr val="0077AA"/>
                </a:solidFill>
                <a:latin typeface="Liberation Mono"/>
              </a:rPr>
              <a:t>REVOKE</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FROM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endParaRPr lang="en-IN" sz="2000" dirty="0">
              <a:latin typeface="Liberation Mono"/>
            </a:endParaRP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graphicFrame>
        <p:nvGraphicFramePr>
          <p:cNvPr id="2" name="Table 1">
            <a:extLst>
              <a:ext uri="{FF2B5EF4-FFF2-40B4-BE49-F238E27FC236}">
                <a16:creationId xmlns:a16="http://schemas.microsoft.com/office/drawing/2014/main" id="{EC64E0E2-04F5-4103-9693-4DA2EA5AB497}"/>
              </a:ext>
            </a:extLst>
          </p:cNvPr>
          <p:cNvGraphicFramePr>
            <a:graphicFrameLocks noGrp="1"/>
          </p:cNvGraphicFramePr>
          <p:nvPr>
            <p:extLst>
              <p:ext uri="{D42A27DB-BD31-4B8C-83A1-F6EECF244321}">
                <p14:modId xmlns:p14="http://schemas.microsoft.com/office/powerpoint/2010/main" val="2909726011"/>
              </p:ext>
            </p:extLst>
          </p:nvPr>
        </p:nvGraphicFramePr>
        <p:xfrm>
          <a:off x="7608168" y="694748"/>
          <a:ext cx="4396670" cy="1872960"/>
        </p:xfrm>
        <a:graphic>
          <a:graphicData uri="http://schemas.openxmlformats.org/drawingml/2006/table">
            <a:tbl>
              <a:tblPr/>
              <a:tblGrid>
                <a:gridCol w="2198335">
                  <a:extLst>
                    <a:ext uri="{9D8B030D-6E8A-4147-A177-3AD203B41FA5}">
                      <a16:colId xmlns:a16="http://schemas.microsoft.com/office/drawing/2014/main" val="438212384"/>
                    </a:ext>
                  </a:extLst>
                </a:gridCol>
                <a:gridCol w="2198335">
                  <a:extLst>
                    <a:ext uri="{9D8B030D-6E8A-4147-A177-3AD203B41FA5}">
                      <a16:colId xmlns:a16="http://schemas.microsoft.com/office/drawing/2014/main" val="3928249199"/>
                    </a:ext>
                  </a:extLst>
                </a:gridCol>
              </a:tblGrid>
              <a:tr h="86879">
                <a:tc>
                  <a:txBody>
                    <a:bodyPr/>
                    <a:lstStyle/>
                    <a:p>
                      <a:pPr algn="ctr" fontAlgn="base"/>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marR="0" lvl="0" indent="0" algn="ctr" defTabSz="914400" rtl="0" eaLnBrk="1" fontAlgn="base" latinLnBrk="0" hangingPunct="1">
                        <a:lnSpc>
                          <a:spcPct val="100000"/>
                        </a:lnSpc>
                        <a:spcBef>
                          <a:spcPts val="0"/>
                        </a:spcBef>
                        <a:spcAft>
                          <a:spcPts val="0"/>
                        </a:spcAft>
                        <a:buClrTx/>
                        <a:buSzTx/>
                        <a:buFontTx/>
                        <a:buNone/>
                        <a:tabLst/>
                        <a:defRPr/>
                      </a:pPr>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80632347"/>
                  </a:ext>
                </a:extLst>
              </a:tr>
              <a:tr h="158778">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ALL [PRIVILEGES]</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SELECT</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9364826"/>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CREATE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INSERT</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503141627"/>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ALTER</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UPDATE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461106098"/>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DROP</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DELETE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132490423"/>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EXECUTE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indent="0" fontAlgn="base">
                        <a:buFontTx/>
                        <a:buNone/>
                      </a:pP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4203084677"/>
                  </a:ext>
                </a:extLst>
              </a:tr>
            </a:tbl>
          </a:graphicData>
        </a:graphic>
      </p:graphicFrame>
      <p:sp>
        <p:nvSpPr>
          <p:cNvPr id="10" name="Rectangle 9">
            <a:extLst>
              <a:ext uri="{FF2B5EF4-FFF2-40B4-BE49-F238E27FC236}">
                <a16:creationId xmlns:a16="http://schemas.microsoft.com/office/drawing/2014/main" id="{89C97C1C-A8D7-41C9-A1DB-B075CD9414F6}"/>
              </a:ext>
            </a:extLst>
          </p:cNvPr>
          <p:cNvSpPr/>
          <p:nvPr/>
        </p:nvSpPr>
        <p:spPr>
          <a:xfrm>
            <a:off x="479376" y="3195553"/>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000000"/>
                </a:solidFill>
                <a:latin typeface="Liberation Mono"/>
              </a:rPr>
              <a:t>db1.</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A67F59"/>
                </a:solidFill>
                <a:latin typeface="Liberation Mono"/>
              </a:rPr>
              <a:t>*</a:t>
            </a:r>
            <a:r>
              <a:rPr lang="en-US" dirty="0">
                <a:solidFill>
                  <a:srgbClr val="000000"/>
                </a:solidFill>
                <a:latin typeface="Liberation Mono"/>
              </a:rPr>
              <a:t>.</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6E758B24-3EAC-46B6-81E8-237C01CF7904}"/>
              </a:ext>
            </a:extLst>
          </p:cNvPr>
          <p:cNvSpPr/>
          <p:nvPr/>
        </p:nvSpPr>
        <p:spPr>
          <a:xfrm>
            <a:off x="479376" y="4387436"/>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REVOKE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FROM</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294640575"/>
      </p:ext>
    </p:extLst>
  </p:cSld>
  <p:clrMapOvr>
    <a:masterClrMapping/>
  </p:clrMapOvr>
</p:sld>
</file>

<file path=ppt/slides/slide7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328859" y="107722"/>
            <a:ext cx="1014614"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
        <p:nvSpPr>
          <p:cNvPr id="6" name="Rectangle 5">
            <a:extLst>
              <a:ext uri="{FF2B5EF4-FFF2-40B4-BE49-F238E27FC236}">
                <a16:creationId xmlns:a16="http://schemas.microsoft.com/office/drawing/2014/main" id="{24323EA6-E12F-406B-A68F-3B91101C06AD}"/>
              </a:ext>
            </a:extLst>
          </p:cNvPr>
          <p:cNvSpPr/>
          <p:nvPr/>
        </p:nvSpPr>
        <p:spPr>
          <a:xfrm>
            <a:off x="299356" y="776652"/>
            <a:ext cx="11593288"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 </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ID </a:t>
            </a:r>
            <a:r>
              <a:rPr lang="en-IN" dirty="0">
                <a:solidFill>
                  <a:srgbClr val="834689"/>
                </a:solidFill>
                <a:latin typeface="Liberation Mono"/>
                <a:cs typeface="Arial" panose="020B0604020202020204" pitchFamily="34" charset="0"/>
              </a:rPr>
              <a:t>INT PRIMARY 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TEXT</a:t>
            </a:r>
          </a:p>
          <a:p>
            <a:r>
              <a:rPr lang="en-IN" dirty="0">
                <a:latin typeface="Liberation Mono"/>
                <a:cs typeface="Arial" panose="020B0604020202020204" pitchFamily="34" charset="0"/>
              </a:rPr>
              <a:t>);</a:t>
            </a:r>
          </a:p>
          <a:p>
            <a:endParaRPr lang="en-IN" dirty="0">
              <a:solidFill>
                <a:srgbClr val="0077AA"/>
              </a:solidFill>
              <a:latin typeface="Liberation Mono"/>
              <a:ea typeface="Times New Roman" panose="02020603050405020304" pitchFamily="18" charset="0"/>
              <a:cs typeface="Arial" panose="020B0604020202020204" pitchFamily="34" charset="0"/>
            </a:endParaRPr>
          </a:p>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orders</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orderDate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fk_</a:t>
            </a:r>
            <a:r>
              <a:rPr lang="en-IN" dirty="0">
                <a:latin typeface="Liberation Mono"/>
                <a:cs typeface="Arial" panose="020B0604020202020204" pitchFamily="34" charset="0"/>
              </a:rPr>
              <a:t>customerID</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FOREIGN KEY</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customerID</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REFERENCES</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a:t>
            </a:r>
            <a:r>
              <a:rPr lang="en-IN" dirty="0">
                <a:latin typeface="Liberation Mono"/>
                <a:cs typeface="Arial" panose="020B0604020202020204" pitchFamily="34" charset="0"/>
              </a:rPr>
              <a:t>(ID</a:t>
            </a:r>
            <a:r>
              <a:rPr lang="en-IN" dirty="0">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C9E4509D-9485-4592-B2DC-1CE1BBE404AF}"/>
              </a:ext>
            </a:extLst>
          </p:cNvPr>
          <p:cNvSpPr/>
          <p:nvPr/>
        </p:nvSpPr>
        <p:spPr>
          <a:xfrm>
            <a:off x="119336" y="4630660"/>
            <a:ext cx="1195332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'saleel'</a:t>
            </a:r>
            <a:r>
              <a:rPr lang="en-IN" dirty="0">
                <a:latin typeface="Liberation Mono"/>
                <a:cs typeface="Arial" panose="020B0604020202020204" pitchFamily="34" charset="0"/>
              </a:rPr>
              <a:t>, </a:t>
            </a:r>
            <a:r>
              <a:rPr lang="en-IN" dirty="0">
                <a:solidFill>
                  <a:srgbClr val="669900"/>
                </a:solidFill>
                <a:latin typeface="Liberation Mono"/>
              </a:rPr>
              <a:t>'description Text 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'vrushali'</a:t>
            </a:r>
            <a:r>
              <a:rPr lang="en-IN" dirty="0">
                <a:latin typeface="Liberation Mono"/>
                <a:cs typeface="Arial" panose="020B0604020202020204" pitchFamily="34" charset="0"/>
              </a:rPr>
              <a:t>, </a:t>
            </a:r>
            <a:r>
              <a:rPr lang="en-IN" dirty="0">
                <a:solidFill>
                  <a:srgbClr val="669900"/>
                </a:solidFill>
                <a:latin typeface="Liberation Mono"/>
              </a:rPr>
              <a:t>'description Text 2'</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'description Text 3'</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ruhan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'description Text 4'</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orders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908673893"/>
      </p:ext>
    </p:extLst>
  </p:cSld>
  <p:clrMapOvr>
    <a:masterClrMapping/>
  </p:clrMapOvr>
</p:sld>
</file>

<file path=ppt/slides/slide7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3" name="Rectangle 2">
            <a:extLst>
              <a:ext uri="{FF2B5EF4-FFF2-40B4-BE49-F238E27FC236}">
                <a16:creationId xmlns:a16="http://schemas.microsoft.com/office/drawing/2014/main" id="{74AD92C7-80CE-4328-9380-7B4C6CE184CD}"/>
              </a:ext>
            </a:extLst>
          </p:cNvPr>
          <p:cNvSpPr/>
          <p:nvPr/>
        </p:nvSpPr>
        <p:spPr>
          <a:xfrm>
            <a:off x="328857" y="836712"/>
            <a:ext cx="11527783" cy="116955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v2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customer.</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 </a:t>
            </a:r>
            <a:r>
              <a:rPr lang="en-IN" dirty="0">
                <a:latin typeface="Liberation Mono"/>
                <a:cs typeface="Arial" panose="020B0604020202020204" pitchFamily="34" charset="0"/>
              </a:rPr>
              <a:t>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v3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orders.</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D4731B0C-B374-4FD4-83EC-CF0EE246EA1B}"/>
              </a:ext>
            </a:extLst>
          </p:cNvPr>
          <p:cNvSpPr/>
          <p:nvPr/>
        </p:nvSpPr>
        <p:spPr>
          <a:xfrm>
            <a:off x="328857" y="2786732"/>
            <a:ext cx="11387929" cy="295465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orderID, customerID, orderdate, amount)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10</a:t>
            </a:r>
            <a:r>
              <a:rPr lang="en-IN" dirty="0">
                <a:latin typeface="Liberation Mono"/>
                <a:cs typeface="Arial" panose="020B0604020202020204" pitchFamily="34" charset="0"/>
              </a:rPr>
              <a:t>,'S10',"D1",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111);  </a:t>
            </a:r>
            <a:r>
              <a:rPr lang="en-IN" dirty="0">
                <a:solidFill>
                  <a:srgbClr val="00B050"/>
                </a:solidFill>
                <a:latin typeface="Liberation Mono"/>
                <a:cs typeface="Arial" panose="020B0604020202020204" pitchFamily="34" charset="0"/>
              </a:rPr>
              <a:t>// Error: </a:t>
            </a:r>
            <a:r>
              <a:rPr lang="en-US" dirty="0">
                <a:solidFill>
                  <a:srgbClr val="00B050"/>
                </a:solidFill>
                <a:latin typeface="Liberation Mono"/>
                <a:cs typeface="Arial" panose="020B0604020202020204" pitchFamily="34" charset="0"/>
              </a:rPr>
              <a:t>Can not modify more than one base table through a join view 'db5.v1’</a:t>
            </a:r>
          </a:p>
          <a:p>
            <a:pPr marL="285750" indent="-285750">
              <a:buFont typeface="Arial" panose="020B0604020202020204" pitchFamily="34" charset="0"/>
              <a:buChar char="•"/>
            </a:pPr>
            <a:endParaRPr lang="en-IN" dirty="0">
              <a:solidFill>
                <a:srgbClr val="00B050"/>
              </a:solidFill>
              <a:latin typeface="Liberation Mono"/>
              <a:cs typeface="Arial" panose="020B0604020202020204" pitchFamily="34" charset="0"/>
            </a:endParaRPr>
          </a:p>
          <a:p>
            <a:r>
              <a:rPr lang="en-IN" dirty="0">
                <a:solidFill>
                  <a:srgbClr val="00B050"/>
                </a:solidFill>
                <a:latin typeface="Liberation Mono"/>
                <a:cs typeface="Arial" panose="020B0604020202020204" pitchFamily="34" charset="0"/>
              </a:rPr>
              <a:t>// We may get  Error: </a:t>
            </a:r>
            <a:r>
              <a:rPr lang="en-US" dirty="0">
                <a:solidFill>
                  <a:srgbClr val="00B050"/>
                </a:solidFill>
                <a:latin typeface="Liberation Mono"/>
                <a:cs typeface="Arial" panose="020B0604020202020204" pitchFamily="34" charset="0"/>
              </a:rPr>
              <a:t>Can not insert into join view 'db5.v2' without fields list.</a:t>
            </a:r>
          </a:p>
          <a:p>
            <a:endParaRPr lang="en-US"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7000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v2(ID,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v3(orderID,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6</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56B308D3-2D0C-44E3-A417-35B399C6A7E8}"/>
              </a:ext>
            </a:extLst>
          </p:cNvPr>
          <p:cNvSpPr/>
          <p:nvPr/>
        </p:nvSpPr>
        <p:spPr>
          <a:xfrm>
            <a:off x="328858" y="107722"/>
            <a:ext cx="346288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Tree>
    <p:extLst>
      <p:ext uri="{BB962C8B-B14F-4D97-AF65-F5344CB8AC3E}">
        <p14:creationId xmlns:p14="http://schemas.microsoft.com/office/powerpoint/2010/main" val="480526808"/>
      </p:ext>
    </p:extLst>
  </p:cSld>
  <p:clrMapOvr>
    <a:masterClrMapping/>
  </p:clrMapOvr>
</p:sld>
</file>

<file path=ppt/slides/slide7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CREATE VIEW Syntax</a:t>
            </a:r>
          </a:p>
        </p:txBody>
      </p:sp>
      <p:sp>
        <p:nvSpPr>
          <p:cNvPr id="5" name="Rectangle 4"/>
          <p:cNvSpPr/>
          <p:nvPr/>
        </p:nvSpPr>
        <p:spPr>
          <a:xfrm>
            <a:off x="1676400" y="1425714"/>
            <a:ext cx="8763000" cy="369332"/>
          </a:xfrm>
          <a:prstGeom prst="rect">
            <a:avLst/>
          </a:prstGeom>
          <a:solidFill>
            <a:schemeClr val="bg1"/>
          </a:solidFill>
        </p:spPr>
        <p:txBody>
          <a:bodyPr wrap="square">
            <a:spAutoFit/>
          </a:bodyPr>
          <a:lstStyle/>
          <a:p>
            <a:r>
              <a:rPr lang="en-US" dirty="0">
                <a:solidFill>
                  <a:srgbClr val="0077AA"/>
                </a:solidFill>
                <a:latin typeface="Liberation Mono"/>
              </a:rPr>
              <a:t>SHOW CREATE VIEW </a:t>
            </a:r>
            <a:r>
              <a:rPr lang="en-US" dirty="0">
                <a:latin typeface="Liberation Mono"/>
              </a:rPr>
              <a:t>view_name</a:t>
            </a:r>
            <a:endParaRPr lang="en-IN" dirty="0">
              <a:latin typeface="Liberation Mono"/>
            </a:endParaRPr>
          </a:p>
        </p:txBody>
      </p:sp>
      <p:sp>
        <p:nvSpPr>
          <p:cNvPr id="3" name="Rectangle 2"/>
          <p:cNvSpPr/>
          <p:nvPr/>
        </p:nvSpPr>
        <p:spPr>
          <a:xfrm>
            <a:off x="1676400" y="18699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create VIEW v1;</a:t>
            </a:r>
          </a:p>
        </p:txBody>
      </p:sp>
      <p:sp>
        <p:nvSpPr>
          <p:cNvPr id="7" name="Rectangle 6"/>
          <p:cNvSpPr/>
          <p:nvPr/>
        </p:nvSpPr>
        <p:spPr>
          <a:xfrm>
            <a:off x="1676400" y="2706470"/>
            <a:ext cx="8763000" cy="646331"/>
          </a:xfrm>
          <a:prstGeom prst="rect">
            <a:avLst/>
          </a:prstGeom>
          <a:solidFill>
            <a:schemeClr val="bg1"/>
          </a:solidFill>
        </p:spPr>
        <p:txBody>
          <a:bodyPr wrap="square">
            <a:spAutoFit/>
          </a:bodyPr>
          <a:lstStyle/>
          <a:p>
            <a:r>
              <a:rPr lang="en-IN" dirty="0">
                <a:solidFill>
                  <a:srgbClr val="0077AA"/>
                </a:solidFill>
                <a:latin typeface="Liberation Mono"/>
              </a:rPr>
              <a:t>SHOW </a:t>
            </a:r>
            <a:r>
              <a:rPr lang="en-IN" dirty="0">
                <a:latin typeface="Liberation Mono"/>
              </a:rPr>
              <a:t>[</a:t>
            </a:r>
            <a:r>
              <a:rPr lang="en-IN" dirty="0">
                <a:solidFill>
                  <a:srgbClr val="0077AA"/>
                </a:solidFill>
                <a:latin typeface="Liberation Mono"/>
              </a:rPr>
              <a:t>FULL</a:t>
            </a:r>
            <a:r>
              <a:rPr lang="en-IN" dirty="0">
                <a:latin typeface="Liberation Mono"/>
              </a:rPr>
              <a:t>]</a:t>
            </a:r>
            <a:r>
              <a:rPr lang="en-IN" dirty="0">
                <a:solidFill>
                  <a:srgbClr val="0077AA"/>
                </a:solidFill>
                <a:latin typeface="Liberation Mono"/>
              </a:rPr>
              <a:t> TABLES </a:t>
            </a:r>
            <a:r>
              <a:rPr lang="en-IN" dirty="0">
                <a:latin typeface="Liberation Mono"/>
              </a:rPr>
              <a:t>[ {</a:t>
            </a:r>
            <a:r>
              <a:rPr lang="en-IN" dirty="0">
                <a:solidFill>
                  <a:srgbClr val="0077AA"/>
                </a:solidFill>
                <a:latin typeface="Liberation Mono"/>
              </a:rPr>
              <a:t> FROM </a:t>
            </a:r>
            <a:r>
              <a:rPr lang="en-IN" dirty="0">
                <a:solidFill>
                  <a:schemeClr val="bg1">
                    <a:lumMod val="50000"/>
                  </a:schemeClr>
                </a:solidFill>
                <a:latin typeface="Liberation Mono"/>
              </a:rPr>
              <a:t>|</a:t>
            </a:r>
            <a:r>
              <a:rPr lang="en-IN" dirty="0">
                <a:solidFill>
                  <a:srgbClr val="0077AA"/>
                </a:solidFill>
                <a:latin typeface="Liberation Mono"/>
              </a:rPr>
              <a:t> IN </a:t>
            </a:r>
            <a:r>
              <a:rPr lang="en-IN" dirty="0">
                <a:latin typeface="Liberation Mono"/>
              </a:rPr>
              <a:t>}</a:t>
            </a:r>
            <a:r>
              <a:rPr lang="en-IN" dirty="0">
                <a:solidFill>
                  <a:srgbClr val="0077AA"/>
                </a:solidFill>
                <a:latin typeface="Liberation Mono"/>
              </a:rPr>
              <a:t> </a:t>
            </a:r>
            <a:r>
              <a:rPr lang="en-IN" i="1" dirty="0">
                <a:latin typeface="Liberation Mono"/>
              </a:rPr>
              <a:t>db_name </a:t>
            </a:r>
            <a:r>
              <a:rPr lang="en-IN" dirty="0">
                <a:latin typeface="Liberation Mono"/>
              </a:rPr>
              <a:t>]</a:t>
            </a:r>
          </a:p>
          <a:p>
            <a:r>
              <a:rPr lang="en-IN" dirty="0">
                <a:solidFill>
                  <a:srgbClr val="0077AA"/>
                </a:solidFill>
                <a:latin typeface="Liberation Mono"/>
              </a:rPr>
              <a:t>      </a:t>
            </a:r>
            <a:r>
              <a:rPr lang="en-IN" dirty="0">
                <a:latin typeface="Liberation Mono"/>
              </a:rPr>
              <a:t>[</a:t>
            </a:r>
            <a:r>
              <a:rPr lang="en-IN" dirty="0">
                <a:solidFill>
                  <a:srgbClr val="0077AA"/>
                </a:solidFill>
                <a:latin typeface="Liberation Mono"/>
              </a:rPr>
              <a:t> LIKE </a:t>
            </a:r>
            <a:r>
              <a:rPr lang="en-IN" dirty="0">
                <a:solidFill>
                  <a:srgbClr val="39AE0A"/>
                </a:solidFill>
                <a:latin typeface="Liberation Mono"/>
              </a:rPr>
              <a:t>'pattern'</a:t>
            </a:r>
            <a:r>
              <a:rPr lang="en-IN" dirty="0">
                <a:solidFill>
                  <a:srgbClr val="0077AA"/>
                </a:solidFill>
                <a:latin typeface="Liberation Mono"/>
              </a:rPr>
              <a:t> </a:t>
            </a:r>
            <a:r>
              <a:rPr lang="en-IN" dirty="0">
                <a:solidFill>
                  <a:schemeClr val="bg1">
                    <a:lumMod val="50000"/>
                  </a:schemeClr>
                </a:solidFill>
                <a:latin typeface="Liberation Mono"/>
              </a:rPr>
              <a:t>|</a:t>
            </a:r>
            <a:r>
              <a:rPr lang="en-IN" dirty="0">
                <a:solidFill>
                  <a:srgbClr val="0077AA"/>
                </a:solidFill>
                <a:latin typeface="Liberation Mono"/>
              </a:rPr>
              <a:t> WHERE </a:t>
            </a:r>
            <a:r>
              <a:rPr lang="en-IN" i="1" dirty="0">
                <a:latin typeface="Liberation Mono"/>
              </a:rPr>
              <a:t>expr</a:t>
            </a:r>
            <a:r>
              <a:rPr lang="en-IN" dirty="0">
                <a:solidFill>
                  <a:srgbClr val="0077AA"/>
                </a:solidFill>
                <a:latin typeface="Liberation Mono"/>
              </a:rPr>
              <a:t> </a:t>
            </a:r>
            <a:r>
              <a:rPr lang="en-IN" dirty="0">
                <a:latin typeface="Liberation Mono"/>
              </a:rPr>
              <a:t>]</a:t>
            </a:r>
          </a:p>
        </p:txBody>
      </p:sp>
      <p:sp>
        <p:nvSpPr>
          <p:cNvPr id="8" name="Rectangle 7"/>
          <p:cNvSpPr/>
          <p:nvPr/>
        </p:nvSpPr>
        <p:spPr>
          <a:xfrm>
            <a:off x="1676400" y="36225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full tables where table_type like </a:t>
            </a:r>
            <a:r>
              <a:rPr lang="en-IN" sz="1600" dirty="0"/>
              <a:t>'VIEW';</a:t>
            </a:r>
            <a:endParaRPr lang="en-IN" sz="1600" dirty="0">
              <a:latin typeface="Arial" panose="020B0604020202020204" pitchFamily="34" charset="0"/>
              <a:ea typeface="Arial Unicode MS"/>
              <a:cs typeface="Arial" panose="020B0604020202020204" pitchFamily="34" charset="0"/>
            </a:endParaRPr>
          </a:p>
        </p:txBody>
      </p:sp>
    </p:spTree>
    <p:extLst>
      <p:ext uri="{BB962C8B-B14F-4D97-AF65-F5344CB8AC3E}">
        <p14:creationId xmlns:p14="http://schemas.microsoft.com/office/powerpoint/2010/main" val="1869408089"/>
      </p:ext>
    </p:extLst>
  </p:cSld>
  <p:clrMapOvr>
    <a:masterClrMapping/>
  </p:clrMapOvr>
</p:sld>
</file>

<file path=ppt/slides/slide7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547058" y="945148"/>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This statement changes the definition of a view, which must exist.</a:t>
            </a:r>
            <a:endParaRPr lang="en-IN" dirty="0">
              <a:solidFill>
                <a:schemeClr val="bg1"/>
              </a:solidFill>
              <a:latin typeface="Palatino Linotype" panose="02040502050505030304" pitchFamily="18" charset="0"/>
              <a:cs typeface="Arial" panose="020B0604020202020204" pitchFamily="34" charset="0"/>
            </a:endParaRPr>
          </a:p>
        </p:txBody>
      </p:sp>
      <p:sp>
        <p:nvSpPr>
          <p:cNvPr id="6" name="Rectangle 5"/>
          <p:cNvSpPr/>
          <p:nvPr/>
        </p:nvSpPr>
        <p:spPr>
          <a:xfrm>
            <a:off x="623249" y="1478547"/>
            <a:ext cx="8838049" cy="1015663"/>
          </a:xfrm>
          <a:prstGeom prst="rect">
            <a:avLst/>
          </a:prstGeom>
        </p:spPr>
        <p:txBody>
          <a:bodyPr wrap="square">
            <a:spAutoFit/>
          </a:bodyPr>
          <a:lstStyle/>
          <a:p>
            <a:r>
              <a:rPr lang="en-IN" sz="2000" dirty="0">
                <a:solidFill>
                  <a:srgbClr val="0077AA"/>
                </a:solidFill>
                <a:latin typeface="Liberation Mono"/>
              </a:rPr>
              <a:t>ALTER VIEW </a:t>
            </a:r>
            <a:r>
              <a:rPr lang="en-IN" sz="2000" dirty="0">
                <a:latin typeface="Liberation Mono"/>
              </a:rPr>
              <a:t>view_name [(</a:t>
            </a:r>
            <a:r>
              <a:rPr lang="en-IN" sz="2000" i="1" dirty="0">
                <a:latin typeface="Liberation Mono"/>
              </a:rPr>
              <a:t>column_list</a:t>
            </a:r>
            <a:r>
              <a:rPr lang="en-IN" sz="2000" dirty="0">
                <a:latin typeface="Liberation Mono"/>
              </a:rPr>
              <a:t>)]</a:t>
            </a:r>
          </a:p>
          <a:p>
            <a:r>
              <a:rPr lang="en-IN" sz="2000" dirty="0">
                <a:solidFill>
                  <a:srgbClr val="0077AA"/>
                </a:solidFill>
                <a:latin typeface="Liberation Mono"/>
              </a:rPr>
              <a:t>    AS </a:t>
            </a:r>
            <a:r>
              <a:rPr lang="en-IN" sz="2000" i="1" dirty="0">
                <a:latin typeface="Liberation Mono"/>
              </a:rPr>
              <a:t>select_statement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WITH CHECK OPTION</a:t>
            </a:r>
            <a:r>
              <a:rPr lang="en-IN" sz="2000" dirty="0">
                <a:latin typeface="Liberation Mono"/>
              </a:rPr>
              <a:t>]</a:t>
            </a:r>
            <a:endParaRPr lang="en-US" sz="2000" dirty="0">
              <a:latin typeface="Liberation Mono"/>
            </a:endParaRPr>
          </a:p>
        </p:txBody>
      </p:sp>
      <p:sp>
        <p:nvSpPr>
          <p:cNvPr id="9" name="Rectangle 8"/>
          <p:cNvSpPr/>
          <p:nvPr/>
        </p:nvSpPr>
        <p:spPr>
          <a:xfrm>
            <a:off x="551527" y="4064151"/>
            <a:ext cx="8838049" cy="646331"/>
          </a:xfrm>
          <a:prstGeom prst="rect">
            <a:avLst/>
          </a:prstGeom>
        </p:spPr>
        <p:txBody>
          <a:bodyPr wrap="square">
            <a:spAutoFit/>
          </a:bodyPr>
          <a:lstStyle/>
          <a:p>
            <a:r>
              <a:rPr lang="en-IN" dirty="0">
                <a:solidFill>
                  <a:srgbClr val="0077AA"/>
                </a:solidFill>
                <a:latin typeface="Liberation Mono"/>
              </a:rPr>
              <a:t>DROP VIEW </a:t>
            </a:r>
            <a:r>
              <a:rPr lang="en-IN" dirty="0">
                <a:latin typeface="Liberation Mono"/>
              </a:rPr>
              <a:t>[</a:t>
            </a:r>
            <a:r>
              <a:rPr lang="en-IN" dirty="0">
                <a:solidFill>
                  <a:srgbClr val="0077AA"/>
                </a:solidFill>
                <a:latin typeface="Liberation Mono"/>
              </a:rPr>
              <a:t>IF EXISTS</a:t>
            </a:r>
            <a:r>
              <a:rPr lang="en-IN" dirty="0">
                <a:latin typeface="Liberation Mono"/>
              </a:rPr>
              <a:t>]</a:t>
            </a:r>
          </a:p>
          <a:p>
            <a:r>
              <a:rPr lang="en-IN" dirty="0">
                <a:solidFill>
                  <a:srgbClr val="0077AA"/>
                </a:solidFill>
                <a:latin typeface="Liberation Mono"/>
              </a:rPr>
              <a:t>    view_name </a:t>
            </a:r>
            <a:r>
              <a:rPr lang="en-IN" dirty="0">
                <a:latin typeface="Liberation Mono"/>
              </a:rPr>
              <a:t>[</a:t>
            </a:r>
            <a:r>
              <a:rPr lang="en-IN" dirty="0">
                <a:solidFill>
                  <a:srgbClr val="0077AA"/>
                </a:solidFill>
                <a:latin typeface="Liberation Mono"/>
              </a:rPr>
              <a:t>, view_name</a:t>
            </a:r>
            <a:r>
              <a:rPr lang="en-IN" dirty="0">
                <a:latin typeface="Liberation Mono"/>
              </a:rPr>
              <a:t>,  . . . ]</a:t>
            </a:r>
            <a:endParaRPr lang="en-US" dirty="0">
              <a:solidFill>
                <a:srgbClr val="0077AA"/>
              </a:solidFill>
              <a:latin typeface="Liberation Mono"/>
            </a:endParaRPr>
          </a:p>
        </p:txBody>
      </p:sp>
      <p:sp>
        <p:nvSpPr>
          <p:cNvPr id="10" name="Rectangle 9"/>
          <p:cNvSpPr/>
          <p:nvPr/>
        </p:nvSpPr>
        <p:spPr>
          <a:xfrm>
            <a:off x="475336" y="3573016"/>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VIEW removes one or more views.</a:t>
            </a:r>
            <a:endParaRPr lang="en-IN" dirty="0">
              <a:solidFill>
                <a:schemeClr val="bg1"/>
              </a:solidFill>
              <a:latin typeface="Palatino Linotype" panose="02040502050505030304" pitchFamily="18" charset="0"/>
              <a:cs typeface="Arial" panose="020B0604020202020204" pitchFamily="34" charset="0"/>
            </a:endParaRPr>
          </a:p>
        </p:txBody>
      </p:sp>
      <p:sp>
        <p:nvSpPr>
          <p:cNvPr id="2" name="Rectangle 1">
            <a:extLst>
              <a:ext uri="{FF2B5EF4-FFF2-40B4-BE49-F238E27FC236}">
                <a16:creationId xmlns:a16="http://schemas.microsoft.com/office/drawing/2014/main" id="{A193B986-F6C7-4DA4-8794-993E472DA552}"/>
              </a:ext>
            </a:extLst>
          </p:cNvPr>
          <p:cNvSpPr/>
          <p:nvPr/>
        </p:nvSpPr>
        <p:spPr>
          <a:xfrm>
            <a:off x="479376" y="5024210"/>
            <a:ext cx="10657184" cy="1323439"/>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studentid10view, studentviewwithcheck;</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studentTotalMarksView, studentAddressView;</a:t>
            </a:r>
          </a:p>
        </p:txBody>
      </p:sp>
      <p:sp>
        <p:nvSpPr>
          <p:cNvPr id="11" name="Rectangle 10">
            <a:extLst>
              <a:ext uri="{FF2B5EF4-FFF2-40B4-BE49-F238E27FC236}">
                <a16:creationId xmlns:a16="http://schemas.microsoft.com/office/drawing/2014/main" id="{F522BC75-1355-425B-B281-8FC71B49C7DC}"/>
              </a:ext>
            </a:extLst>
          </p:cNvPr>
          <p:cNvSpPr/>
          <p:nvPr/>
        </p:nvSpPr>
        <p:spPr>
          <a:xfrm>
            <a:off x="475336" y="2420889"/>
            <a:ext cx="10657184" cy="769441"/>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 AS </a:t>
            </a:r>
            <a:r>
              <a:rPr lang="en-IN" dirty="0">
                <a:solidFill>
                  <a:srgbClr val="0077AA"/>
                </a:solidFill>
                <a:latin typeface="Liberation Mono"/>
              </a:rPr>
              <a:t>SELECT</a:t>
            </a:r>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namelast, </a:t>
            </a:r>
            <a:r>
              <a:rPr lang="en-IN" dirty="0" err="1">
                <a:latin typeface="Liberation Mono"/>
                <a:cs typeface="Arial" panose="020B0604020202020204" pitchFamily="34" charset="0"/>
              </a:rPr>
              <a:t>emailid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student;</a:t>
            </a:r>
          </a:p>
        </p:txBody>
      </p:sp>
      <p:sp>
        <p:nvSpPr>
          <p:cNvPr id="3" name="Rectangle 2">
            <a:extLst>
              <a:ext uri="{FF2B5EF4-FFF2-40B4-BE49-F238E27FC236}">
                <a16:creationId xmlns:a16="http://schemas.microsoft.com/office/drawing/2014/main" id="{9E5AC732-1151-487C-BC74-E074C4D7A17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view</a:t>
            </a:r>
          </a:p>
        </p:txBody>
      </p:sp>
    </p:spTree>
    <p:extLst>
      <p:ext uri="{BB962C8B-B14F-4D97-AF65-F5344CB8AC3E}">
        <p14:creationId xmlns:p14="http://schemas.microsoft.com/office/powerpoint/2010/main" val="459685060"/>
      </p:ext>
    </p:extLst>
  </p:cSld>
  <p:clrMapOvr>
    <a:masterClrMapping/>
  </p:clrMapOvr>
</p:sld>
</file>

<file path=ppt/slides/slide7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index</a:t>
            </a:r>
          </a:p>
        </p:txBody>
      </p:sp>
      <p:sp>
        <p:nvSpPr>
          <p:cNvPr id="3" name="Rectangle 2"/>
          <p:cNvSpPr/>
          <p:nvPr/>
        </p:nvSpPr>
        <p:spPr>
          <a:xfrm>
            <a:off x="1676400" y="152400"/>
            <a:ext cx="8839200" cy="1077218"/>
          </a:xfrm>
          <a:prstGeom prst="rect">
            <a:avLst/>
          </a:prstGeom>
          <a:solidFill>
            <a:schemeClr val="accent4">
              <a:lumMod val="75000"/>
            </a:schemeClr>
          </a:solidFill>
        </p:spPr>
        <p:txBody>
          <a:bodyPr wrap="square">
            <a:spAutoFit/>
          </a:bodyPr>
          <a:lstStyle/>
          <a:p>
            <a:r>
              <a:rPr lang="en-IN" sz="1600" dirty="0">
                <a:latin typeface="Arial" panose="020B0604020202020204" pitchFamily="34" charset="0"/>
                <a:cs typeface="Arial" panose="020B0604020202020204" pitchFamily="34" charset="0"/>
              </a:rPr>
              <a:t>MySQL indexes (PRIMARY KEY, UNIQUE, INDEX, and FULLTEXT) are stored in B-trees. </a:t>
            </a:r>
            <a:r>
              <a:rPr lang="en-IN" sz="1600" dirty="0">
                <a:solidFill>
                  <a:schemeClr val="accent4">
                    <a:lumMod val="75000"/>
                  </a:schemeClr>
                </a:solidFill>
                <a:latin typeface="Arial" panose="020B0604020202020204" pitchFamily="34" charset="0"/>
                <a:cs typeface="Arial" panose="020B0604020202020204" pitchFamily="34" charset="0"/>
              </a:rPr>
              <a:t>FULLTEXT indexes are created on text-based columns (CHAR, VARCHAR, or TEXT columns) to help speed up queries and DML operations on data contained within those columns, omitting any words that are defined as stopwords. </a:t>
            </a:r>
          </a:p>
        </p:txBody>
      </p:sp>
      <p:sp>
        <p:nvSpPr>
          <p:cNvPr id="6" name="Rectangle 5">
            <a:extLst>
              <a:ext uri="{FF2B5EF4-FFF2-40B4-BE49-F238E27FC236}">
                <a16:creationId xmlns:a16="http://schemas.microsoft.com/office/drawing/2014/main" id="{7A48E473-F89F-4197-8A2D-B6FA2A12B551}"/>
              </a:ext>
            </a:extLst>
          </p:cNvPr>
          <p:cNvSpPr/>
          <p:nvPr/>
        </p:nvSpPr>
        <p:spPr>
          <a:xfrm>
            <a:off x="406574" y="3212976"/>
            <a:ext cx="11089232" cy="2862322"/>
          </a:xfrm>
          <a:prstGeom prst="rect">
            <a:avLst/>
          </a:prstGeom>
        </p:spPr>
        <p:txBody>
          <a:bodyPr wrap="square">
            <a:spAutoFit/>
          </a:bodyPr>
          <a:lstStyle/>
          <a:p>
            <a:pPr marL="342900" indent="-342900" algn="just">
              <a:buFont typeface="Arial" panose="020B0604020202020204" pitchFamily="34" charset="0"/>
              <a:buChar char="•"/>
            </a:pPr>
            <a:r>
              <a:rPr lang="en-US" sz="2000" dirty="0">
                <a:solidFill>
                  <a:srgbClr val="006C86"/>
                </a:solidFill>
              </a:rPr>
              <a:t>it is a schema object.</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is used by the server to speed up the retrieval of rows.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reduces disk I/O(input/output) process.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helps to speed up select queries where clauses, but it slows down data input, with the update and the insert statements.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can be created or dropped with no effect on the data.</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a:solidFill>
                  <a:srgbClr val="006C86"/>
                </a:solidFill>
              </a:rPr>
              <a:t>multiple columns </a:t>
            </a:r>
            <a:r>
              <a:rPr lang="en-US" sz="2000" dirty="0">
                <a:solidFill>
                  <a:srgbClr val="006C86"/>
                </a:solidFill>
              </a:rPr>
              <a:t>index may consist of up to 16 columns.</a:t>
            </a:r>
          </a:p>
        </p:txBody>
      </p:sp>
    </p:spTree>
    <p:extLst>
      <p:ext uri="{BB962C8B-B14F-4D97-AF65-F5344CB8AC3E}">
        <p14:creationId xmlns:p14="http://schemas.microsoft.com/office/powerpoint/2010/main" val="1338227008"/>
      </p:ext>
    </p:extLst>
  </p:cSld>
  <p:clrMapOvr>
    <a:masterClrMapping/>
  </p:clrMapOvr>
</p:sld>
</file>

<file path=ppt/slides/slide7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index</a:t>
            </a:r>
          </a:p>
        </p:txBody>
      </p:sp>
      <p:sp>
        <p:nvSpPr>
          <p:cNvPr id="3" name="Rectangle 2"/>
          <p:cNvSpPr/>
          <p:nvPr/>
        </p:nvSpPr>
        <p:spPr>
          <a:xfrm>
            <a:off x="191344" y="838200"/>
            <a:ext cx="11809312" cy="1200329"/>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 Without an index, MySQL must begin with the first row and then read through the entire table to find the relevant rows. If the table has an index for the columns in question, MySQL can quickly determine the position (</a:t>
            </a:r>
            <a:r>
              <a:rPr lang="en-IN" b="1" dirty="0">
                <a:latin typeface="Arial" panose="020B0604020202020204" pitchFamily="34" charset="0"/>
                <a:cs typeface="Arial" panose="020B0604020202020204" pitchFamily="34" charset="0"/>
              </a:rPr>
              <a:t>from the index file</a:t>
            </a:r>
            <a:r>
              <a:rPr lang="en-IN" dirty="0">
                <a:latin typeface="Arial" panose="020B0604020202020204" pitchFamily="34" charset="0"/>
                <a:cs typeface="Arial" panose="020B0604020202020204" pitchFamily="34" charset="0"/>
              </a:rPr>
              <a:t>) to seek to in the middle of the data file without having to look at all the data. This is much faster than reading every row sequentially.</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191344" y="2527281"/>
            <a:ext cx="11809312" cy="1354217"/>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find the rows matching a WHERE clause quickly.</a:t>
            </a:r>
          </a:p>
          <a:p>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table has a multiple-column index, any leftmost prefix of the index can be used by the optimizer to look up rows. For example, if you have a three-column index on (col1, col2, col3), you have indexed search capabilities on (col1), (col1, col2), and (col1, col2, col3).</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0EA59238-B526-49EB-A121-9A6FD52C1AA4}"/>
              </a:ext>
            </a:extLst>
          </p:cNvPr>
          <p:cNvSpPr/>
          <p:nvPr/>
        </p:nvSpPr>
        <p:spPr>
          <a:xfrm>
            <a:off x="273997" y="5085184"/>
            <a:ext cx="7616252" cy="1631216"/>
          </a:xfrm>
          <a:prstGeom prst="rect">
            <a:avLst/>
          </a:prstGeom>
        </p:spPr>
        <p:txBody>
          <a:bodyPr wrap="non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Index name can have max 64 char.</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not possible to create an INDEX on a VIEW.</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INDEX will be dropped automatically.</a:t>
            </a:r>
          </a:p>
        </p:txBody>
      </p:sp>
    </p:spTree>
    <p:extLst>
      <p:ext uri="{BB962C8B-B14F-4D97-AF65-F5344CB8AC3E}">
        <p14:creationId xmlns:p14="http://schemas.microsoft.com/office/powerpoint/2010/main" val="1743543644"/>
      </p:ext>
    </p:extLst>
  </p:cSld>
  <p:clrMapOvr>
    <a:masterClrMapping/>
  </p:clrMapOvr>
</p:sld>
</file>

<file path=ppt/slides/slide7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index</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747C56AD-42B0-4B5B-AD54-9ABF91A44D83}"/>
              </a:ext>
            </a:extLst>
          </p:cNvPr>
          <p:cNvSpPr/>
          <p:nvPr/>
        </p:nvSpPr>
        <p:spPr>
          <a:xfrm>
            <a:off x="1676182" y="1600202"/>
            <a:ext cx="8838049"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a:t>
            </a:r>
            <a:r>
              <a:rPr lang="en-IN" sz="2000" dirty="0">
                <a:solidFill>
                  <a:srgbClr val="0077AA"/>
                </a:solidFill>
                <a:latin typeface="Liberation Mono"/>
              </a:rPr>
              <a:t>UNIQUE</a:t>
            </a:r>
            <a:r>
              <a:rPr lang="en-IN" sz="2000" dirty="0">
                <a:latin typeface="Liberation Mono"/>
              </a:rPr>
              <a:t>]</a:t>
            </a:r>
            <a:r>
              <a:rPr lang="en-IN" sz="2000" dirty="0">
                <a:solidFill>
                  <a:srgbClr val="0077AA"/>
                </a:solidFill>
                <a:latin typeface="Liberation Mono"/>
              </a:rPr>
              <a:t> INDEX </a:t>
            </a:r>
            <a:r>
              <a:rPr lang="en-IN" sz="2000" dirty="0">
                <a:latin typeface="Liberation Mono"/>
              </a:rPr>
              <a:t>index_name</a:t>
            </a:r>
          </a:p>
          <a:p>
            <a:r>
              <a:rPr lang="en-IN" sz="2000" dirty="0">
                <a:solidFill>
                  <a:srgbClr val="0077AA"/>
                </a:solidFill>
                <a:latin typeface="Liberation Mono"/>
              </a:rPr>
              <a:t>    ON </a:t>
            </a:r>
            <a:r>
              <a:rPr lang="en-IN" sz="2000" dirty="0">
                <a:latin typeface="Liberation Mono"/>
              </a:rPr>
              <a:t>tbl_name (</a:t>
            </a:r>
            <a:r>
              <a:rPr lang="en-IN" sz="2000" i="1" dirty="0">
                <a:latin typeface="Liberation Mono"/>
              </a:rPr>
              <a:t>index_col_name</a:t>
            </a:r>
            <a:r>
              <a:rPr lang="en-IN" sz="2000" dirty="0">
                <a:latin typeface="Liberation Mono"/>
              </a:rPr>
              <a:t>, . . .)  { </a:t>
            </a:r>
            <a:r>
              <a:rPr lang="en-IN" sz="2000" dirty="0">
                <a:solidFill>
                  <a:srgbClr val="0077AA"/>
                </a:solidFill>
                <a:latin typeface="Liberation Mono"/>
              </a:rPr>
              <a:t>visible</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0077AA"/>
                </a:solidFill>
                <a:latin typeface="Liberation Mono"/>
              </a:rPr>
              <a:t>invisible </a:t>
            </a:r>
            <a:r>
              <a:rPr lang="en-IN" sz="2000" dirty="0">
                <a:latin typeface="Liberation Mono"/>
              </a:rPr>
              <a:t>}</a:t>
            </a:r>
            <a:endParaRPr lang="en-US" sz="2000" dirty="0">
              <a:latin typeface="Liberation Mono"/>
            </a:endParaRPr>
          </a:p>
        </p:txBody>
      </p:sp>
      <p:sp>
        <p:nvSpPr>
          <p:cNvPr id="9" name="Rectangle 8">
            <a:extLst>
              <a:ext uri="{FF2B5EF4-FFF2-40B4-BE49-F238E27FC236}">
                <a16:creationId xmlns:a16="http://schemas.microsoft.com/office/drawing/2014/main" id="{919B6212-FF29-4CD5-894A-1C9A68B28D87}"/>
              </a:ext>
            </a:extLst>
          </p:cNvPr>
          <p:cNvSpPr/>
          <p:nvPr/>
        </p:nvSpPr>
        <p:spPr>
          <a:xfrm>
            <a:off x="1676182" y="2492896"/>
            <a:ext cx="8838049" cy="1757532"/>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a:lnSpc>
                <a:spcPct val="150000"/>
              </a:lnSpc>
            </a:pPr>
            <a:endParaRPr lang="en-IN" sz="400" dirty="0">
              <a:solidFill>
                <a:srgbClr val="FF0000"/>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i</a:t>
            </a:r>
            <a:r>
              <a:rPr lang="en-IN" dirty="0">
                <a:latin typeface="Liberation Mono"/>
                <a:ea typeface="Times New Roman" panose="02020603050405020304" pitchFamily="18" charset="0"/>
              </a:rPr>
              <a:t>ndexOnName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CREATE</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INDEX</a:t>
            </a:r>
            <a:r>
              <a:rPr lang="en-IN" dirty="0">
                <a:solidFill>
                  <a:schemeClr val="tx1">
                    <a:lumMod val="95000"/>
                    <a:lumOff val="5000"/>
                  </a:schemeClr>
                </a:solidFill>
                <a:latin typeface="Liberation Mono"/>
                <a:cs typeface="Arial" panose="020B0604020202020204" pitchFamily="34" charset="0"/>
              </a:rPr>
              <a:t> indexOnUniversity </a:t>
            </a:r>
            <a:r>
              <a:rPr lang="en-IN" dirty="0">
                <a:solidFill>
                  <a:srgbClr val="0077AA"/>
                </a:solidFill>
                <a:latin typeface="Liberation Mono"/>
                <a:ea typeface="Times New Roman" panose="02020603050405020304" pitchFamily="18" charset="0"/>
              </a:rPr>
              <a:t>ON</a:t>
            </a:r>
            <a:r>
              <a:rPr lang="en-IN" dirty="0">
                <a:solidFill>
                  <a:schemeClr val="tx1">
                    <a:lumMod val="95000"/>
                    <a:lumOff val="5000"/>
                  </a:schemeClr>
                </a:solidFill>
                <a:latin typeface="Liberation Mono"/>
                <a:cs typeface="Arial" panose="020B0604020202020204" pitchFamily="34" charset="0"/>
              </a:rPr>
              <a:t> student_qualifications</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university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UNIQUE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uniqueIndexOnName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p:txBody>
      </p:sp>
      <p:sp>
        <p:nvSpPr>
          <p:cNvPr id="5" name="TextBox 4">
            <a:extLst>
              <a:ext uri="{FF2B5EF4-FFF2-40B4-BE49-F238E27FC236}">
                <a16:creationId xmlns:a16="http://schemas.microsoft.com/office/drawing/2014/main" id="{16B89D3F-2E3E-B154-0FF8-C242D09469CE}"/>
              </a:ext>
            </a:extLst>
          </p:cNvPr>
          <p:cNvSpPr txBox="1"/>
          <p:nvPr/>
        </p:nvSpPr>
        <p:spPr>
          <a:xfrm>
            <a:off x="1676182" y="4509120"/>
            <a:ext cx="9604394" cy="2126864"/>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IN</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endParaRPr lang="en-IN" sz="1600" dirty="0">
              <a:latin typeface="Liberation Mono"/>
              <a:cs typeface="Leelawadee UI Semilight" panose="020B0402040204020203" pitchFamily="34" charset="-34"/>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p:txBody>
      </p:sp>
    </p:spTree>
    <p:extLst>
      <p:ext uri="{BB962C8B-B14F-4D97-AF65-F5344CB8AC3E}">
        <p14:creationId xmlns:p14="http://schemas.microsoft.com/office/powerpoint/2010/main" val="1773200555"/>
      </p:ext>
    </p:extLst>
  </p:cSld>
  <p:clrMapOvr>
    <a:masterClrMapping/>
  </p:clrMapOvr>
</p:sld>
</file>

<file path=ppt/slides/slide7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129"/>
            <a:ext cx="11704197" cy="3493264"/>
          </a:xfrm>
          <a:prstGeom prst="rect">
            <a:avLst/>
          </a:prstGeom>
          <a:noFill/>
        </p:spPr>
        <p:txBody>
          <a:bodyPr wrap="square">
            <a:spAutoFit/>
          </a:bodyPr>
          <a:lstStyle/>
          <a:p>
            <a:pPr algn="just"/>
            <a:r>
              <a:rPr lang="en-IN" sz="2100" b="0" i="0" dirty="0">
                <a:solidFill>
                  <a:srgbClr val="610B4B"/>
                </a:solidFill>
                <a:effectLst/>
                <a:latin typeface="erdana"/>
              </a:rPr>
              <a:t>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i="0" dirty="0">
                <a:solidFill>
                  <a:srgbClr val="333333"/>
                </a:solidFill>
                <a:latin typeface="Palatino Linotype" panose="02040502050505030304" pitchFamily="18" charset="0"/>
              </a:rPr>
              <a:t>Clustered index is used to optimize the speed of most common lookups and DML operations like INSERT, UPDATE, and DELETE command. </a:t>
            </a:r>
          </a:p>
          <a:p>
            <a:pPr marL="285750" indent="-285750" algn="just">
              <a:buFont typeface="Arial" panose="020B0604020202020204" pitchFamily="34" charset="0"/>
              <a:buChar char="•"/>
            </a:pPr>
            <a:endParaRPr lang="en-US" sz="800" i="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Clustered indexes sort and store the data rows in the table based on their key (primary key) values </a:t>
            </a:r>
            <a:r>
              <a:rPr lang="en-US" b="0" i="0" dirty="0">
                <a:solidFill>
                  <a:srgbClr val="333333"/>
                </a:solidFill>
                <a:effectLst/>
                <a:latin typeface="inter-regular"/>
              </a:rPr>
              <a:t>that can be sorted in only one direction. </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If the table column contains a </a:t>
            </a:r>
            <a:r>
              <a:rPr lang="en-US" b="1" dirty="0">
                <a:solidFill>
                  <a:srgbClr val="333333"/>
                </a:solidFill>
                <a:latin typeface="Palatino Linotype" panose="02040502050505030304" pitchFamily="18" charset="0"/>
              </a:rPr>
              <a:t>primary key</a:t>
            </a:r>
            <a:r>
              <a:rPr lang="en-US" dirty="0">
                <a:solidFill>
                  <a:srgbClr val="333333"/>
                </a:solidFill>
                <a:latin typeface="Palatino Linotype" panose="02040502050505030304" pitchFamily="18" charset="0"/>
              </a:rPr>
              <a:t> or </a:t>
            </a:r>
            <a:r>
              <a:rPr lang="en-US" b="1" dirty="0">
                <a:solidFill>
                  <a:srgbClr val="333333"/>
                </a:solidFill>
                <a:latin typeface="Palatino Linotype" panose="02040502050505030304" pitchFamily="18" charset="0"/>
              </a:rPr>
              <a:t>not null </a:t>
            </a:r>
            <a:r>
              <a:rPr lang="en-US" dirty="0">
                <a:solidFill>
                  <a:srgbClr val="333333"/>
                </a:solidFill>
                <a:latin typeface="Palatino Linotype" panose="02040502050505030304" pitchFamily="18" charset="0"/>
              </a:rPr>
              <a:t>and </a:t>
            </a:r>
            <a:r>
              <a:rPr lang="en-US" b="1" dirty="0">
                <a:solidFill>
                  <a:srgbClr val="333333"/>
                </a:solidFill>
                <a:latin typeface="Palatino Linotype" panose="02040502050505030304" pitchFamily="18" charset="0"/>
              </a:rPr>
              <a:t>unique key</a:t>
            </a:r>
            <a:r>
              <a:rPr lang="en-US" dirty="0">
                <a:solidFill>
                  <a:srgbClr val="333333"/>
                </a:solidFill>
                <a:latin typeface="Palatino Linotype" panose="02040502050505030304" pitchFamily="18" charset="0"/>
              </a:rPr>
              <a:t>, MySQL creates a clustered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retrieval is faster than non-cluster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Slower inserts/updates if the indexed column values change frequently, as it may require rearranging rows to maintain the order.</a:t>
            </a:r>
          </a:p>
          <a:p>
            <a:pPr algn="just"/>
            <a:endParaRPr lang="en-US" sz="400"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634279264"/>
      </p:ext>
    </p:extLst>
  </p:cSld>
  <p:clrMapOvr>
    <a:masterClrMapping/>
  </p:clrMapOvr>
</p:sld>
</file>

<file path=ppt/slides/slide7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709"/>
            <a:ext cx="11704197" cy="3954929"/>
          </a:xfrm>
          <a:prstGeom prst="rect">
            <a:avLst/>
          </a:prstGeom>
          <a:noFill/>
        </p:spPr>
        <p:txBody>
          <a:bodyPr wrap="square">
            <a:spAutoFit/>
          </a:bodyPr>
          <a:lstStyle/>
          <a:p>
            <a:pPr algn="just"/>
            <a:r>
              <a:rPr lang="en-IN" sz="2100" b="0" i="0" dirty="0">
                <a:solidFill>
                  <a:srgbClr val="610B4B"/>
                </a:solidFill>
                <a:effectLst/>
                <a:latin typeface="erdana"/>
              </a:rPr>
              <a:t>Non-Clustered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indexes other than PRIMARY indexes (clustered indexes) called a non-clustered index.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indexes are also known as secondary indexes.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A secondary index may be created on one or more virtual columns or on a combination of virtual columns and regular columns.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 and base table data are both stored in different places, so it does not affect the physical row order in </a:t>
            </a:r>
            <a:r>
              <a:rPr lang="en-US">
                <a:solidFill>
                  <a:srgbClr val="333333"/>
                </a:solidFill>
                <a:latin typeface="Palatino Linotype" panose="02040502050505030304" pitchFamily="18" charset="0"/>
              </a:rPr>
              <a:t>the base table</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b="0" i="0" dirty="0">
                <a:solidFill>
                  <a:srgbClr val="333333"/>
                </a:solidFill>
                <a:effectLst/>
                <a:latin typeface="inter-regular"/>
              </a:rPr>
              <a:t>It is not sorted (ordering) the table data.</a:t>
            </a:r>
          </a:p>
          <a:p>
            <a:pPr marL="285750" indent="-285750" algn="just">
              <a:buFont typeface="Arial" panose="020B0604020202020204" pitchFamily="34" charset="0"/>
              <a:buChar char="•"/>
            </a:pPr>
            <a:endParaRPr lang="en-US" sz="800" b="0" i="0" dirty="0">
              <a:solidFill>
                <a:srgbClr val="333333"/>
              </a:solidFill>
              <a:effectLst/>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Extra space is required to store logical structure</a:t>
            </a:r>
          </a:p>
          <a:p>
            <a:pPr marL="285750" indent="-285750" algn="just">
              <a:buFont typeface="Arial" panose="020B0604020202020204" pitchFamily="34" charset="0"/>
              <a:buChar char="•"/>
            </a:pPr>
            <a:endParaRPr lang="en-US" sz="800" dirty="0">
              <a:solidFill>
                <a:srgbClr val="333333"/>
              </a:solidFill>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update is faster than clustered index</a:t>
            </a:r>
            <a:endParaRPr lang="en-IN"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3636081722"/>
      </p:ext>
    </p:extLst>
  </p:cSld>
  <p:clrMapOvr>
    <a:masterClrMapping/>
  </p:clrMapOvr>
</p:sld>
</file>

<file path=ppt/slides/slide7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INDEX Syntax</a:t>
            </a:r>
          </a:p>
        </p:txBody>
      </p:sp>
      <p:sp>
        <p:nvSpPr>
          <p:cNvPr id="6" name="Rectangle 5"/>
          <p:cNvSpPr/>
          <p:nvPr/>
        </p:nvSpPr>
        <p:spPr>
          <a:xfrm>
            <a:off x="1415480" y="5661248"/>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INDEX returns table index information.</a:t>
            </a:r>
          </a:p>
        </p:txBody>
      </p:sp>
      <p:sp>
        <p:nvSpPr>
          <p:cNvPr id="11" name="Rectangle 10">
            <a:extLst>
              <a:ext uri="{FF2B5EF4-FFF2-40B4-BE49-F238E27FC236}">
                <a16:creationId xmlns:a16="http://schemas.microsoft.com/office/drawing/2014/main" id="{090B0674-7475-4FA3-8ED6-5B18A7CB3C40}"/>
              </a:ext>
            </a:extLst>
          </p:cNvPr>
          <p:cNvSpPr/>
          <p:nvPr/>
        </p:nvSpPr>
        <p:spPr>
          <a:xfrm>
            <a:off x="609520" y="2058970"/>
            <a:ext cx="8761859" cy="1323439"/>
          </a:xfrm>
          <a:prstGeom prst="rect">
            <a:avLst/>
          </a:prstGeom>
          <a:solidFill>
            <a:schemeClr val="bg1"/>
          </a:solidFill>
        </p:spPr>
        <p:txBody>
          <a:bodyPr wrap="square">
            <a:spAutoFit/>
          </a:bodyPr>
          <a:lstStyle/>
          <a:p>
            <a:r>
              <a:rPr lang="en-US" sz="2000" dirty="0">
                <a:solidFill>
                  <a:srgbClr val="0077AA"/>
                </a:solidFill>
                <a:latin typeface="Liberation Mono"/>
              </a:rPr>
              <a:t>SHOW </a:t>
            </a:r>
            <a:r>
              <a:rPr lang="en-US" sz="2000" dirty="0">
                <a:latin typeface="Liberation Mono"/>
              </a:rPr>
              <a:t>{</a:t>
            </a:r>
            <a:r>
              <a:rPr lang="en-US" sz="2000" dirty="0">
                <a:solidFill>
                  <a:srgbClr val="0077AA"/>
                </a:solidFill>
                <a:latin typeface="Liberation Mono"/>
              </a:rPr>
              <a:t> INDEX </a:t>
            </a:r>
            <a:r>
              <a:rPr lang="en-US" sz="2000" dirty="0">
                <a:solidFill>
                  <a:schemeClr val="bg1">
                    <a:lumMod val="50000"/>
                  </a:schemeClr>
                </a:solidFill>
                <a:latin typeface="Liberation Mono"/>
              </a:rPr>
              <a:t>|</a:t>
            </a:r>
            <a:r>
              <a:rPr lang="en-US" sz="2000" dirty="0">
                <a:solidFill>
                  <a:srgbClr val="0077AA"/>
                </a:solidFill>
                <a:latin typeface="Liberation Mono"/>
              </a:rPr>
              <a:t> INDEXES </a:t>
            </a:r>
            <a:r>
              <a:rPr lang="en-US" sz="2000" dirty="0">
                <a:solidFill>
                  <a:schemeClr val="bg1">
                    <a:lumMod val="50000"/>
                  </a:schemeClr>
                </a:solidFill>
                <a:latin typeface="Liberation Mono"/>
              </a:rPr>
              <a:t>|</a:t>
            </a:r>
            <a:r>
              <a:rPr lang="en-US" sz="2000" dirty="0">
                <a:solidFill>
                  <a:srgbClr val="0077AA"/>
                </a:solidFill>
                <a:latin typeface="Liberation Mono"/>
              </a:rPr>
              <a:t> KEYS </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tbl_name</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db_name</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WHERE </a:t>
            </a:r>
            <a:r>
              <a:rPr lang="en-US" sz="2000" i="1" dirty="0">
                <a:latin typeface="Liberation Mono"/>
              </a:rPr>
              <a:t>expr</a:t>
            </a:r>
            <a:r>
              <a:rPr lang="en-US" sz="2000" dirty="0">
                <a:latin typeface="Liberation Mono"/>
              </a:rPr>
              <a:t>]</a:t>
            </a:r>
            <a:endParaRPr lang="en-IN" sz="2000" dirty="0">
              <a:latin typeface="Liberation Mono"/>
            </a:endParaRPr>
          </a:p>
        </p:txBody>
      </p:sp>
      <p:sp>
        <p:nvSpPr>
          <p:cNvPr id="12" name="Rectangle 11">
            <a:extLst>
              <a:ext uri="{FF2B5EF4-FFF2-40B4-BE49-F238E27FC236}">
                <a16:creationId xmlns:a16="http://schemas.microsoft.com/office/drawing/2014/main" id="{8D629726-6613-454E-A007-490A9A4C0788}"/>
              </a:ext>
            </a:extLst>
          </p:cNvPr>
          <p:cNvSpPr/>
          <p:nvPr/>
        </p:nvSpPr>
        <p:spPr>
          <a:xfrm>
            <a:off x="609520" y="3493846"/>
            <a:ext cx="8838049" cy="1434367"/>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marL="342900" indent="-342900">
              <a:lnSpc>
                <a:spcPct val="150000"/>
              </a:lnSpc>
              <a:buFont typeface="Arial" panose="020B0604020202020204" pitchFamily="34" charset="0"/>
              <a:buChar char="•"/>
            </a:pPr>
            <a:endParaRPr lang="en-IN" sz="800" dirty="0">
              <a:solidFill>
                <a:srgbClr val="0077AA"/>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rPr>
              <a:t>SHOW</a:t>
            </a:r>
            <a:r>
              <a:rPr lang="en-US" dirty="0">
                <a:latin typeface="Liberation Mono"/>
                <a:ea typeface="Arial Unicode MS"/>
                <a:cs typeface="Arial" panose="020B0604020202020204" pitchFamily="34" charset="0"/>
              </a:rPr>
              <a:t> </a:t>
            </a:r>
            <a:r>
              <a:rPr lang="en-US" dirty="0">
                <a:solidFill>
                  <a:srgbClr val="0077AA"/>
                </a:solidFill>
                <a:latin typeface="Liberation Mono"/>
              </a:rPr>
              <a:t>INDEX</a:t>
            </a:r>
            <a:r>
              <a:rPr lang="en-US" dirty="0">
                <a:latin typeface="Liberation Mono"/>
                <a:ea typeface="Arial Unicode MS"/>
                <a:cs typeface="Arial" panose="020B0604020202020204" pitchFamily="34" charset="0"/>
              </a:rPr>
              <a:t> </a:t>
            </a:r>
            <a:r>
              <a:rPr lang="en-US" dirty="0">
                <a:solidFill>
                  <a:srgbClr val="0077AA"/>
                </a:solidFill>
                <a:latin typeface="Liberation Mono"/>
              </a:rPr>
              <a:t>FROM</a:t>
            </a:r>
            <a:r>
              <a:rPr lang="en-US" dirty="0">
                <a:latin typeface="Liberation Mono"/>
                <a:ea typeface="Arial Unicode MS"/>
                <a:cs typeface="Arial" panose="020B0604020202020204" pitchFamily="34" charset="0"/>
              </a:rPr>
              <a:t> student_qualifications;</a:t>
            </a:r>
            <a:endParaRPr lang="en-IN" dirty="0">
              <a:latin typeface="Liberation Mono"/>
              <a:ea typeface="Arial Unicode MS"/>
              <a:cs typeface="Arial" panose="020B0604020202020204" pitchFamily="34" charset="0"/>
            </a:endParaRPr>
          </a:p>
        </p:txBody>
      </p:sp>
      <p:sp>
        <p:nvSpPr>
          <p:cNvPr id="13" name="Rectangle 12">
            <a:extLst>
              <a:ext uri="{FF2B5EF4-FFF2-40B4-BE49-F238E27FC236}">
                <a16:creationId xmlns:a16="http://schemas.microsoft.com/office/drawing/2014/main" id="{96098953-215A-45B9-A129-D8510CF84139}"/>
              </a:ext>
            </a:extLst>
          </p:cNvPr>
          <p:cNvSpPr/>
          <p:nvPr/>
        </p:nvSpPr>
        <p:spPr>
          <a:xfrm>
            <a:off x="609520" y="1198493"/>
            <a:ext cx="11174318" cy="646331"/>
          </a:xfrm>
          <a:prstGeom prst="rect">
            <a:avLst/>
          </a:prstGeom>
        </p:spPr>
        <p:txBody>
          <a:bodyPr wrap="square">
            <a:spAutoFit/>
          </a:bodyPr>
          <a:lstStyle/>
          <a:p>
            <a:r>
              <a:rPr lang="en-IN" dirty="0">
                <a:latin typeface="Palatino Linotype" panose="02040502050505030304" pitchFamily="18" charset="0"/>
              </a:rPr>
              <a:t>To get the index of a table, you specify the table name after the FROM keyword. The statement will return the index information associated with the table in the current database.</a:t>
            </a:r>
          </a:p>
        </p:txBody>
      </p:sp>
    </p:spTree>
    <p:extLst>
      <p:ext uri="{BB962C8B-B14F-4D97-AF65-F5344CB8AC3E}">
        <p14:creationId xmlns:p14="http://schemas.microsoft.com/office/powerpoint/2010/main" val="2678806817"/>
      </p:ext>
    </p:extLst>
  </p:cSld>
  <p:clrMapOvr>
    <a:masterClrMapping/>
  </p:clrMapOvr>
</p:sld>
</file>

<file path=ppt/slides/slide7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index</a:t>
            </a:r>
          </a:p>
        </p:txBody>
      </p:sp>
      <p:sp>
        <p:nvSpPr>
          <p:cNvPr id="7" name="Rectangle 6">
            <a:extLst>
              <a:ext uri="{FF2B5EF4-FFF2-40B4-BE49-F238E27FC236}">
                <a16:creationId xmlns:a16="http://schemas.microsoft.com/office/drawing/2014/main" id="{2C3DABE4-7400-4CC2-8D57-E0D7A27A6012}"/>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INDEX drops the index named index_name from the table tbl_name.</a:t>
            </a:r>
            <a:endParaRPr lang="en-IN" dirty="0">
              <a:solidFill>
                <a:schemeClr val="bg1"/>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D90F735F-FC14-4A0C-B2D9-FF2B4E3C8473}"/>
              </a:ext>
            </a:extLst>
          </p:cNvPr>
          <p:cNvSpPr/>
          <p:nvPr/>
        </p:nvSpPr>
        <p:spPr>
          <a:xfrm>
            <a:off x="767408" y="1669033"/>
            <a:ext cx="8761859" cy="400110"/>
          </a:xfrm>
          <a:prstGeom prst="rect">
            <a:avLst/>
          </a:prstGeom>
          <a:solidFill>
            <a:schemeClr val="bg1"/>
          </a:solidFill>
        </p:spPr>
        <p:txBody>
          <a:bodyPr wrap="square">
            <a:spAutoFit/>
          </a:bodyPr>
          <a:lstStyle/>
          <a:p>
            <a:r>
              <a:rPr lang="en-IN" sz="2000" dirty="0">
                <a:solidFill>
                  <a:srgbClr val="0077AA"/>
                </a:solidFill>
                <a:latin typeface="Liberation Mono"/>
              </a:rPr>
              <a:t>DROP INDEX </a:t>
            </a:r>
            <a:r>
              <a:rPr lang="en-IN" sz="2000" dirty="0">
                <a:latin typeface="Liberation Mono"/>
              </a:rPr>
              <a:t>index_name </a:t>
            </a:r>
            <a:r>
              <a:rPr lang="en-IN" sz="2000" dirty="0">
                <a:solidFill>
                  <a:srgbClr val="0077AA"/>
                </a:solidFill>
                <a:latin typeface="Liberation Mono"/>
              </a:rPr>
              <a:t>ON </a:t>
            </a:r>
            <a:r>
              <a:rPr lang="en-IN" sz="2000" dirty="0">
                <a:latin typeface="Liberation Mono"/>
              </a:rPr>
              <a:t>tbl_name</a:t>
            </a:r>
          </a:p>
        </p:txBody>
      </p:sp>
      <p:sp>
        <p:nvSpPr>
          <p:cNvPr id="9" name="Rectangle 8">
            <a:extLst>
              <a:ext uri="{FF2B5EF4-FFF2-40B4-BE49-F238E27FC236}">
                <a16:creationId xmlns:a16="http://schemas.microsoft.com/office/drawing/2014/main" id="{788DD586-7FA6-4796-84A5-3FE913AB63FC}"/>
              </a:ext>
            </a:extLst>
          </p:cNvPr>
          <p:cNvSpPr/>
          <p:nvPr/>
        </p:nvSpPr>
        <p:spPr>
          <a:xfrm>
            <a:off x="767408" y="2348880"/>
            <a:ext cx="5974905" cy="1569660"/>
          </a:xfrm>
          <a:prstGeom prst="rect">
            <a:avLst/>
          </a:prstGeom>
        </p:spPr>
        <p:txBody>
          <a:bodyPr wrap="non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i</a:t>
            </a:r>
            <a:r>
              <a:rPr lang="en-IN" dirty="0">
                <a:latin typeface="Liberation Mono"/>
                <a:ea typeface="Times New Roman" panose="02020603050405020304" pitchFamily="18" charset="0"/>
              </a:rPr>
              <a:t>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solidFill>
                  <a:schemeClr val="tx1">
                    <a:lumMod val="95000"/>
                    <a:lumOff val="5000"/>
                  </a:schemeClr>
                </a:solidFill>
                <a:latin typeface="Liberation Mono"/>
                <a:cs typeface="Arial" panose="020B0604020202020204" pitchFamily="34" charset="0"/>
              </a:rPr>
              <a:t>indexOnUniversity</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student_qualifications;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uniqueIndexOnName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248663808"/>
      </p:ext>
    </p:extLst>
  </p:cSld>
  <p:clrMapOvr>
    <a:masterClrMapping/>
  </p:clrMapOvr>
</p:sld>
</file>

<file path=ppt/slides/slide7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json</a:t>
            </a:r>
          </a:p>
        </p:txBody>
      </p:sp>
      <p:sp>
        <p:nvSpPr>
          <p:cNvPr id="3" name="Rectangle 2"/>
          <p:cNvSpPr/>
          <p:nvPr/>
        </p:nvSpPr>
        <p:spPr>
          <a:xfrm>
            <a:off x="407368" y="620688"/>
            <a:ext cx="6929486" cy="400110"/>
          </a:xfrm>
          <a:prstGeom prst="rect">
            <a:avLst/>
          </a:prstGeom>
        </p:spPr>
        <p:txBody>
          <a:bodyPr wrap="square">
            <a:spAutoFit/>
          </a:bodyPr>
          <a:lstStyle/>
          <a:p>
            <a:pPr marL="342900" indent="-342900">
              <a:buFont typeface="Arial" panose="020B0604020202020204" pitchFamily="34" charset="0"/>
              <a:buChar char="•"/>
            </a:pPr>
            <a:r>
              <a:rPr lang="en-US" sz="2000" dirty="0">
                <a:solidFill>
                  <a:srgbClr val="0077AA"/>
                </a:solidFill>
                <a:latin typeface="Liberation Mono"/>
              </a:rPr>
              <a:t>UPDATE</a:t>
            </a:r>
            <a:r>
              <a:rPr lang="en-US" sz="2000" dirty="0">
                <a:latin typeface="Liberation Mono"/>
              </a:rPr>
              <a:t> j </a:t>
            </a:r>
            <a:r>
              <a:rPr lang="en-US" sz="2000" dirty="0">
                <a:solidFill>
                  <a:srgbClr val="0077AA"/>
                </a:solidFill>
                <a:latin typeface="Liberation Mono"/>
              </a:rPr>
              <a:t>SET</a:t>
            </a:r>
            <a:r>
              <a:rPr lang="en-US" sz="2000" dirty="0">
                <a:latin typeface="Liberation Mono"/>
              </a:rPr>
              <a:t> doc = </a:t>
            </a:r>
            <a:r>
              <a:rPr lang="en-US" sz="2000" dirty="0">
                <a:solidFill>
                  <a:srgbClr val="0077AA"/>
                </a:solidFill>
                <a:latin typeface="Liberation Mono"/>
              </a:rPr>
              <a:t>JSON_SET</a:t>
            </a:r>
            <a:r>
              <a:rPr lang="en-US" sz="2000" dirty="0">
                <a:latin typeface="Liberation Mono"/>
              </a:rPr>
              <a:t>(doc, </a:t>
            </a:r>
            <a:r>
              <a:rPr lang="en-US" sz="2000" dirty="0">
                <a:solidFill>
                  <a:srgbClr val="FF0000"/>
                </a:solidFill>
                <a:latin typeface="Liberation Mono"/>
              </a:rPr>
              <a:t>'$.ename'</a:t>
            </a:r>
            <a:r>
              <a:rPr lang="en-US" sz="2000" dirty="0">
                <a:latin typeface="Liberation Mono"/>
              </a:rPr>
              <a:t>, </a:t>
            </a:r>
            <a:r>
              <a:rPr lang="en-US" sz="2000" dirty="0">
                <a:solidFill>
                  <a:srgbClr val="669900"/>
                </a:solidFill>
                <a:latin typeface="Liberation Mono"/>
              </a:rPr>
              <a:t>'sharmin'</a:t>
            </a:r>
            <a:r>
              <a:rPr lang="en-US" sz="2000" dirty="0">
                <a:latin typeface="Liberation Mono"/>
              </a:rPr>
              <a:t>);</a:t>
            </a:r>
          </a:p>
        </p:txBody>
      </p:sp>
    </p:spTree>
    <p:extLst>
      <p:ext uri="{BB962C8B-B14F-4D97-AF65-F5344CB8AC3E}">
        <p14:creationId xmlns:p14="http://schemas.microsoft.com/office/powerpoint/2010/main" val="1125773866"/>
      </p:ext>
    </p:extLst>
  </p:cSld>
  <p:clrMapOvr>
    <a:masterClrMapping/>
  </p:clrMapOvr>
</p:sld>
</file>

<file path=ppt/slides/slide7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json</a:t>
            </a:r>
          </a:p>
        </p:txBody>
      </p:sp>
      <p:sp>
        <p:nvSpPr>
          <p:cNvPr id="8" name="Rectangle 7"/>
          <p:cNvSpPr/>
          <p:nvPr/>
        </p:nvSpPr>
        <p:spPr>
          <a:xfrm>
            <a:off x="1828800" y="1371600"/>
            <a:ext cx="8534400" cy="2308324"/>
          </a:xfrm>
          <a:prstGeom prst="rect">
            <a:avLst/>
          </a:prstGeom>
          <a:solidFill>
            <a:srgbClr val="F9DAFE"/>
          </a:solidFill>
        </p:spPr>
        <p:txBody>
          <a:bodyPr wrap="square">
            <a:spAutoFit/>
          </a:bodyPr>
          <a:lstStyle/>
          <a:p>
            <a:pPr marL="347663" indent="-347663">
              <a:lnSpc>
                <a:spcPct val="200000"/>
              </a:lnSpc>
              <a:buFont typeface="Wingdings" pitchFamily="2" charset="2"/>
              <a:buChar char="§"/>
            </a:pPr>
            <a:r>
              <a:rPr lang="en-US" dirty="0">
                <a:latin typeface="Arial" pitchFamily="34" charset="0"/>
                <a:cs typeface="Arial" pitchFamily="34" charset="0"/>
              </a:rPr>
              <a:t>Data is in name/value pairs</a:t>
            </a:r>
          </a:p>
          <a:p>
            <a:pPr marL="347663" indent="-347663">
              <a:lnSpc>
                <a:spcPct val="200000"/>
              </a:lnSpc>
              <a:buFont typeface="Wingdings" pitchFamily="2" charset="2"/>
              <a:buChar char="§"/>
            </a:pPr>
            <a:r>
              <a:rPr lang="en-US" dirty="0">
                <a:latin typeface="Arial" pitchFamily="34" charset="0"/>
                <a:cs typeface="Arial" pitchFamily="34" charset="0"/>
              </a:rPr>
              <a:t>Data is separated </a:t>
            </a:r>
            <a:r>
              <a:rPr lang="en-US">
                <a:latin typeface="Arial" pitchFamily="34" charset="0"/>
                <a:cs typeface="Arial" pitchFamily="34" charset="0"/>
              </a:rPr>
              <a:t>by comm</a:t>
            </a:r>
            <a:endParaRPr lang="en-US" dirty="0">
              <a:latin typeface="Arial" pitchFamily="34" charset="0"/>
              <a:cs typeface="Arial" pitchFamily="34" charset="0"/>
            </a:endParaRPr>
          </a:p>
          <a:p>
            <a:pPr marL="347663" indent="-347663">
              <a:lnSpc>
                <a:spcPct val="200000"/>
              </a:lnSpc>
              <a:buFont typeface="Wingdings" pitchFamily="2" charset="2"/>
              <a:buChar char="§"/>
            </a:pPr>
            <a:r>
              <a:rPr lang="en-US" dirty="0">
                <a:latin typeface="Arial" pitchFamily="34" charset="0"/>
                <a:cs typeface="Arial" pitchFamily="34" charset="0"/>
              </a:rPr>
              <a:t>Curly braces hold objects</a:t>
            </a:r>
          </a:p>
          <a:p>
            <a:pPr marL="347663" indent="-347663">
              <a:lnSpc>
                <a:spcPct val="200000"/>
              </a:lnSpc>
              <a:buFont typeface="Wingdings" pitchFamily="2" charset="2"/>
              <a:buChar char="§"/>
            </a:pPr>
            <a:r>
              <a:rPr lang="en-US" dirty="0">
                <a:latin typeface="Arial" pitchFamily="34" charset="0"/>
                <a:cs typeface="Arial" pitchFamily="34" charset="0"/>
              </a:rPr>
              <a:t>Square brackets hold arrays</a:t>
            </a:r>
          </a:p>
        </p:txBody>
      </p:sp>
      <p:sp>
        <p:nvSpPr>
          <p:cNvPr id="9" name="Rectangle 8"/>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JSON (JavaScript Object Notation) documents.</a:t>
            </a:r>
          </a:p>
        </p:txBody>
      </p:sp>
    </p:spTree>
    <p:extLst>
      <p:ext uri="{BB962C8B-B14F-4D97-AF65-F5344CB8AC3E}">
        <p14:creationId xmlns:p14="http://schemas.microsoft.com/office/powerpoint/2010/main" val="3080897746"/>
      </p:ext>
    </p:extLst>
  </p:cSld>
  <p:clrMapOvr>
    <a:masterClrMapping/>
  </p:clrMapOvr>
</p:sld>
</file>

<file path=ppt/slides/slide7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json.org/object.gif"/>
          <p:cNvPicPr>
            <a:picLocks noChangeAspect="1" noChangeArrowheads="1"/>
          </p:cNvPicPr>
          <p:nvPr/>
        </p:nvPicPr>
        <p:blipFill>
          <a:blip r:embed="rId2" cstate="print"/>
          <a:srcRect/>
          <a:stretch>
            <a:fillRect/>
          </a:stretch>
        </p:blipFill>
        <p:spPr bwMode="auto">
          <a:xfrm>
            <a:off x="2667000" y="1143000"/>
            <a:ext cx="6248400" cy="1260642"/>
          </a:xfrm>
          <a:prstGeom prst="rect">
            <a:avLst/>
          </a:prstGeom>
          <a:noFill/>
        </p:spPr>
      </p:pic>
      <p:sp>
        <p:nvSpPr>
          <p:cNvPr id="3" name="Rectangle 2"/>
          <p:cNvSpPr/>
          <p:nvPr/>
        </p:nvSpPr>
        <p:spPr>
          <a:xfrm>
            <a:off x="1828800" y="22860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object is an unordered set of name/value pairs.</a:t>
            </a:r>
          </a:p>
        </p:txBody>
      </p:sp>
      <p:sp>
        <p:nvSpPr>
          <p:cNvPr id="4" name="Rectangle 3"/>
          <p:cNvSpPr/>
          <p:nvPr/>
        </p:nvSpPr>
        <p:spPr>
          <a:xfrm>
            <a:off x="1828800" y="321058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array is an ordered collection of values.</a:t>
            </a:r>
          </a:p>
        </p:txBody>
      </p:sp>
      <p:pic>
        <p:nvPicPr>
          <p:cNvPr id="1028" name="Picture 4" descr="http://www.json.org/array.gif"/>
          <p:cNvPicPr>
            <a:picLocks noChangeAspect="1" noChangeArrowheads="1"/>
          </p:cNvPicPr>
          <p:nvPr/>
        </p:nvPicPr>
        <p:blipFill>
          <a:blip r:embed="rId3" cstate="print"/>
          <a:srcRect/>
          <a:stretch>
            <a:fillRect/>
          </a:stretch>
        </p:blipFill>
        <p:spPr bwMode="auto">
          <a:xfrm>
            <a:off x="2667000" y="4145509"/>
            <a:ext cx="6248400" cy="1348175"/>
          </a:xfrm>
          <a:prstGeom prst="rect">
            <a:avLst/>
          </a:prstGeom>
          <a:noFill/>
        </p:spPr>
      </p:pic>
    </p:spTree>
    <p:extLst>
      <p:ext uri="{BB962C8B-B14F-4D97-AF65-F5344CB8AC3E}">
        <p14:creationId xmlns:p14="http://schemas.microsoft.com/office/powerpoint/2010/main" val="1992029908"/>
      </p:ext>
    </p:extLst>
  </p:cSld>
  <p:clrMapOvr>
    <a:masterClrMapping/>
  </p:clrMapOvr>
</p:sld>
</file>

<file path=ppt/slides/slide7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7" name="Rectangle 6"/>
          <p:cNvSpPr/>
          <p:nvPr/>
        </p:nvSpPr>
        <p:spPr>
          <a:xfrm>
            <a:off x="290449" y="1412776"/>
            <a:ext cx="11278159" cy="800219"/>
          </a:xfrm>
          <a:prstGeom prst="rect">
            <a:avLst/>
          </a:prstGeom>
        </p:spPr>
        <p:txBody>
          <a:bodyPr wrap="square">
            <a:spAutoFit/>
          </a:bodyPr>
          <a:lstStyle/>
          <a:p>
            <a:r>
              <a:rPr lang="en-US" sz="2000" b="0" i="0" dirty="0">
                <a:solidFill>
                  <a:srgbClr val="DD4A68"/>
                </a:solidFill>
                <a:effectLst/>
                <a:latin typeface="Liberation Mono"/>
              </a:rPr>
              <a:t>JSON_OBJECT</a:t>
            </a:r>
            <a:r>
              <a:rPr lang="en-US" sz="2000" b="0" i="0" dirty="0">
                <a:effectLst/>
                <a:latin typeface="Liberation Mono"/>
              </a:rPr>
              <a:t>(</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a:t>
            </a:r>
            <a:r>
              <a:rPr lang="en-IN" sz="2000" dirty="0">
                <a:latin typeface="Liberation Mono"/>
              </a:rPr>
              <a:t>,</a:t>
            </a:r>
            <a:r>
              <a:rPr lang="en-US" sz="2000" b="0" i="0" dirty="0">
                <a:solidFill>
                  <a:srgbClr val="669900"/>
                </a:solidFill>
                <a:effectLst/>
                <a:latin typeface="Liberation Mono"/>
              </a:rPr>
              <a:t> </a:t>
            </a:r>
            <a:r>
              <a:rPr lang="en-US" sz="2000" dirty="0">
                <a:solidFill>
                  <a:srgbClr val="DD4A68"/>
                </a:solidFill>
                <a:latin typeface="Liberation Mono"/>
              </a:rPr>
              <a:t>JSON_ARRAY</a:t>
            </a:r>
            <a:r>
              <a:rPr lang="en-US" sz="2000" b="0" i="0" dirty="0">
                <a:effectLst/>
                <a:latin typeface="Liberation Mono"/>
              </a:rPr>
              <a:t>(</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600" dirty="0">
              <a:latin typeface="Liberation Mono"/>
            </a:endParaRPr>
          </a:p>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3501008"/>
            <a:ext cx="11542041" cy="3170099"/>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2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1001</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1002</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 </a:t>
            </a:r>
            <a:r>
              <a:rPr lang="en-IN" dirty="0">
                <a:solidFill>
                  <a:srgbClr val="669900"/>
                </a:solidFill>
                <a:latin typeface="Liberation Mono"/>
              </a:rPr>
              <a:t>"pune"</a:t>
            </a:r>
            <a:r>
              <a:rPr lang="en-IN" dirty="0">
                <a:latin typeface="Liberation Mono"/>
                <a:cs typeface="Arial" panose="020B0604020202020204" pitchFamily="34" charset="0"/>
              </a:rPr>
              <a:t>,</a:t>
            </a:r>
            <a:r>
              <a:rPr lang="en-IN" dirty="0">
                <a:solidFill>
                  <a:srgbClr val="669900"/>
                </a:solidFill>
                <a:latin typeface="Liberation Mono"/>
              </a:rPr>
              <a:t> </a:t>
            </a:r>
            <a:r>
              <a:rPr lang="en-IN" dirty="0">
                <a:latin typeface="Liberation Mono"/>
                <a:cs typeface="Arial" panose="020B0604020202020204" pitchFamily="34" charset="0"/>
              </a:rPr>
              <a:t>"phone":[11111, 22222]</a:t>
            </a:r>
            <a:r>
              <a:rPr lang="en-IN" dirty="0">
                <a:solidFill>
                  <a:srgbClr val="669900"/>
                </a:solidFill>
                <a:latin typeface="Liberation Mono"/>
              </a:rPr>
              <a:t> </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1003</a:t>
            </a:r>
            <a:r>
              <a:rPr lang="en-IN" dirty="0">
                <a:latin typeface="Liberation Mono"/>
                <a:cs typeface="Arial" panose="020B0604020202020204" pitchFamily="34" charset="0"/>
              </a:rPr>
              <a:t>,"name":</a:t>
            </a:r>
            <a:r>
              <a:rPr lang="en-IN" dirty="0">
                <a:solidFill>
                  <a:srgbClr val="669900"/>
                </a:solidFill>
                <a:latin typeface="Liberation Mono"/>
              </a:rPr>
              <a:t>"sharmin"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669900"/>
                </a:solidFill>
                <a:latin typeface="Liberation Mono"/>
              </a:rPr>
              <a:t>"maggi"</a:t>
            </a:r>
            <a:r>
              <a:rPr lang="en-IN" dirty="0">
                <a:latin typeface="Liberation Mono"/>
                <a:cs typeface="Arial" panose="020B0604020202020204" pitchFamily="34" charset="0"/>
              </a:rPr>
              <a:t>, </a:t>
            </a:r>
            <a:r>
              <a:rPr lang="en-IN" dirty="0">
                <a:solidFill>
                  <a:srgbClr val="669900"/>
                </a:solidFill>
                <a:latin typeface="Liberation Mono"/>
              </a:rPr>
              <a:t>"burger"</a:t>
            </a:r>
            <a:r>
              <a:rPr lang="en-IN" dirty="0">
                <a:latin typeface="Liberation Mono"/>
                <a:cs typeface="Arial" panose="020B0604020202020204" pitchFamily="34" charset="0"/>
              </a:rPr>
              <a:t>, </a:t>
            </a:r>
            <a:r>
              <a:rPr lang="en-IN" dirty="0">
                <a:solidFill>
                  <a:srgbClr val="669900"/>
                </a:solidFill>
                <a:latin typeface="Liberation Mono"/>
              </a:rPr>
              <a:t>"coffee"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"qty",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2</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"rate",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45</a:t>
            </a:r>
            <a:r>
              <a:rPr lang="en-IN" dirty="0">
                <a:latin typeface="Liberation Mono"/>
                <a:cs typeface="Arial" panose="020B0604020202020204" pitchFamily="34" charset="0"/>
              </a:rPr>
              <a:t>, </a:t>
            </a:r>
            <a:r>
              <a:rPr lang="en-IN" dirty="0">
                <a:solidFill>
                  <a:srgbClr val="990055"/>
                </a:solidFill>
                <a:latin typeface="Liberation Mono"/>
              </a:rPr>
              <a:t>375</a:t>
            </a:r>
            <a:r>
              <a:rPr lang="en-IN" dirty="0">
                <a:latin typeface="Liberation Mono"/>
                <a:cs typeface="Arial" panose="020B0604020202020204" pitchFamily="34" charset="0"/>
              </a:rPr>
              <a:t>, </a:t>
            </a:r>
            <a:r>
              <a:rPr lang="en-IN" dirty="0">
                <a:solidFill>
                  <a:srgbClr val="990055"/>
                </a:solidFill>
                <a:latin typeface="Liberation Mono"/>
              </a:rPr>
              <a:t>125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 </a:t>
            </a:r>
            <a:r>
              <a:rPr lang="en-IN" dirty="0">
                <a:solidFill>
                  <a:srgbClr val="DD4A68"/>
                </a:solidFill>
                <a:latin typeface="Liberation Mono"/>
              </a:rPr>
              <a:t>JSON_OBJECT</a:t>
            </a:r>
            <a:r>
              <a:rPr lang="en-IN" dirty="0">
                <a:latin typeface="Liberation Mono"/>
                <a:cs typeface="Arial" panose="020B0604020202020204" pitchFamily="34" charset="0"/>
              </a:rPr>
              <a:t>("CID", </a:t>
            </a:r>
            <a:r>
              <a:rPr lang="en-IN" dirty="0">
                <a:solidFill>
                  <a:srgbClr val="990055"/>
                </a:solidFill>
                <a:latin typeface="Liberation Mono"/>
              </a:rPr>
              <a:t>1004</a:t>
            </a:r>
            <a:r>
              <a:rPr lang="en-IN" dirty="0">
                <a:latin typeface="Liberation Mono"/>
                <a:cs typeface="Arial" panose="020B0604020202020204" pitchFamily="34" charset="0"/>
              </a:rPr>
              <a:t>, "name", </a:t>
            </a:r>
            <a:r>
              <a:rPr lang="en-IN" dirty="0">
                <a:solidFill>
                  <a:srgbClr val="669900"/>
                </a:solidFill>
                <a:latin typeface="Liberation Mono"/>
              </a:rPr>
              <a:t>"ruhan"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"phone",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990055"/>
                </a:solidFill>
                <a:latin typeface="Liberation Mono"/>
              </a:rPr>
              <a:t>1111</a:t>
            </a:r>
            <a:r>
              <a:rPr lang="en-IN" dirty="0">
                <a:latin typeface="Liberation Mono"/>
                <a:cs typeface="Arial" panose="020B0604020202020204" pitchFamily="34" charset="0"/>
              </a:rPr>
              <a:t>,</a:t>
            </a:r>
            <a:r>
              <a:rPr lang="en-IN" dirty="0">
                <a:solidFill>
                  <a:srgbClr val="990055"/>
                </a:solidFill>
                <a:latin typeface="Liberation Mono"/>
              </a:rPr>
              <a:t> 2222</a:t>
            </a:r>
            <a:r>
              <a:rPr lang="en-IN" dirty="0">
                <a:latin typeface="Liberation Mono"/>
                <a:cs typeface="Arial" panose="020B0604020202020204" pitchFamily="34" charset="0"/>
              </a:rPr>
              <a:t>)),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("orderID", 1,"item", </a:t>
            </a:r>
            <a:r>
              <a:rPr lang="en-IN" dirty="0">
                <a:solidFill>
                  <a:srgbClr val="669900"/>
                </a:solidFill>
                <a:latin typeface="Liberation Mono"/>
              </a:rPr>
              <a:t>"mouse", </a:t>
            </a:r>
            <a:r>
              <a:rPr lang="en-IN" dirty="0">
                <a:latin typeface="Liberation Mono"/>
                <a:cs typeface="Arial" panose="020B0604020202020204" pitchFamily="34" charset="0"/>
              </a:rPr>
              <a:t>"qty", </a:t>
            </a:r>
            <a:r>
              <a:rPr lang="en-IN" dirty="0">
                <a:solidFill>
                  <a:srgbClr val="990055"/>
                </a:solidFill>
                <a:latin typeface="Liberation Mono"/>
              </a:rPr>
              <a:t>2</a:t>
            </a:r>
            <a:r>
              <a:rPr lang="en-IN" dirty="0">
                <a:latin typeface="Liberation Mono"/>
                <a:cs typeface="Arial" panose="020B0604020202020204" pitchFamily="34" charset="0"/>
              </a:rPr>
              <a:t>, "rate", </a:t>
            </a:r>
            <a:r>
              <a:rPr lang="en-IN" dirty="0">
                <a:solidFill>
                  <a:srgbClr val="990055"/>
                </a:solidFill>
                <a:latin typeface="Liberation Mono"/>
              </a:rPr>
              <a:t>1200</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2</a:t>
            </a:r>
            <a:r>
              <a:rPr lang="en-IN" dirty="0">
                <a:latin typeface="Liberation Mono"/>
                <a:cs typeface="Arial" panose="020B0604020202020204" pitchFamily="34" charset="0"/>
              </a:rPr>
              <a:t>, "item", </a:t>
            </a:r>
            <a:r>
              <a:rPr lang="en-IN" dirty="0">
                <a:solidFill>
                  <a:srgbClr val="669900"/>
                </a:solidFill>
                <a:latin typeface="Liberation Mono"/>
              </a:rPr>
              <a:t>"pd"</a:t>
            </a:r>
            <a:r>
              <a:rPr lang="en-IN" dirty="0">
                <a:latin typeface="Liberation Mono"/>
                <a:cs typeface="Arial" panose="020B0604020202020204" pitchFamily="34" charset="0"/>
              </a:rPr>
              <a:t>,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1600</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348880"/>
            <a:ext cx="1156913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json object… values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77595149"/>
      </p:ext>
    </p:extLst>
  </p:cSld>
  <p:clrMapOvr>
    <a:masterClrMapping/>
  </p:clrMapOvr>
</p:sld>
</file>

<file path=ppt/slides/slide7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D4A68"/>
                </a:solidFill>
                <a:latin typeface="Segoe UI Light" panose="020B0502040204020203" pitchFamily="34" charset="0"/>
                <a:cs typeface="Segoe UI Light" panose="020B0502040204020203" pitchFamily="34" charset="0"/>
              </a:rPr>
              <a:t>json_extract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1676974" y="3266499"/>
            <a:ext cx="8838050" cy="646331"/>
          </a:xfrm>
          <a:prstGeom prst="rect">
            <a:avLst/>
          </a:prstGeom>
        </p:spPr>
        <p:txBody>
          <a:bodyPr wrap="square">
            <a:spAutoFit/>
          </a:bodyPr>
          <a:lstStyle/>
          <a:p>
            <a:r>
              <a:rPr lang="en-US" sz="1800" dirty="0">
                <a:effectLst/>
                <a:latin typeface="Palatino Linotype" panose="02040502050505030304" pitchFamily="18" charset="0"/>
                <a:cs typeface="Arial" panose="020B0604020202020204" pitchFamily="34" charset="0"/>
              </a:rPr>
              <a:t>Returns data from a JSON document, selected from the parts of the document matched by the path arguments.</a:t>
            </a:r>
            <a:endParaRPr lang="en-IN" sz="1800" dirty="0">
              <a:effectLst/>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895915423"/>
      </p:ext>
    </p:extLst>
  </p:cSld>
  <p:clrMapOvr>
    <a:masterClrMapping/>
  </p:clrMapOvr>
</p:sld>
</file>

<file path=ppt/slides/slide7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json_extract (select)</a:t>
            </a:r>
          </a:p>
        </p:txBody>
      </p:sp>
      <p:sp>
        <p:nvSpPr>
          <p:cNvPr id="5" name="Rectangle 4"/>
          <p:cNvSpPr/>
          <p:nvPr/>
        </p:nvSpPr>
        <p:spPr>
          <a:xfrm>
            <a:off x="334800"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7" name="Rectangle 6"/>
          <p:cNvSpPr/>
          <p:nvPr/>
        </p:nvSpPr>
        <p:spPr>
          <a:xfrm>
            <a:off x="263352" y="2206019"/>
            <a:ext cx="11665296" cy="1723549"/>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solidFill>
                  <a:srgbClr val="A67F59"/>
                </a:solidFill>
                <a:latin typeface="Liberation Mono"/>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.empID')</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phone[</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address.street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empID</a:t>
            </a:r>
            <a:r>
              <a:rPr lang="en-IN" dirty="0">
                <a:latin typeface="Liberation Mono"/>
              </a:rPr>
              <a:t>"</a:t>
            </a:r>
            <a:r>
              <a:rPr lang="en-IN" dirty="0">
                <a:latin typeface="Liberation Mono"/>
                <a:ea typeface="Times New Roman" panose="02020603050405020304" pitchFamily="18" charset="0"/>
              </a:rPr>
              <a: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ename</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p:txBody>
      </p:sp>
      <p:sp>
        <p:nvSpPr>
          <p:cNvPr id="9" name="Rectangle 8">
            <a:extLst>
              <a:ext uri="{FF2B5EF4-FFF2-40B4-BE49-F238E27FC236}">
                <a16:creationId xmlns:a16="http://schemas.microsoft.com/office/drawing/2014/main" id="{927F6A87-17D0-46FF-989B-B5F99B9421A8}"/>
              </a:ext>
            </a:extLst>
          </p:cNvPr>
          <p:cNvSpPr/>
          <p:nvPr/>
        </p:nvSpPr>
        <p:spPr>
          <a:xfrm>
            <a:off x="432000" y="1556792"/>
            <a:ext cx="11635855" cy="400110"/>
          </a:xfrm>
          <a:prstGeom prst="rect">
            <a:avLst/>
          </a:prstGeom>
        </p:spPr>
        <p:txBody>
          <a:bodyPr wrap="square">
            <a:spAutoFit/>
          </a:bodyPr>
          <a:lstStyle/>
          <a:p>
            <a:r>
              <a:rPr lang="en-IN" sz="2000" dirty="0">
                <a:solidFill>
                  <a:srgbClr val="298AE5"/>
                </a:solidFill>
                <a:latin typeface="Liberation Mono"/>
                <a:cs typeface="Arial" panose="020B0604020202020204" pitchFamily="34" charset="0"/>
              </a:rPr>
              <a:t>JSON_EXTRACT</a:t>
            </a:r>
            <a:r>
              <a:rPr lang="en-IN" sz="2000" dirty="0">
                <a:latin typeface="Liberation Mono"/>
                <a:cs typeface="Arial" panose="020B0604020202020204" pitchFamily="34" charset="0"/>
              </a:rPr>
              <a:t>(json_doc, path[, path]</a:t>
            </a:r>
            <a:r>
              <a:rPr lang="en-IN" sz="2000" dirty="0">
                <a:solidFill>
                  <a:srgbClr val="298AE5"/>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endParaRPr lang="en-IN" sz="2000" dirty="0">
              <a:solidFill>
                <a:schemeClr val="bg1">
                  <a:lumMod val="50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2107004567"/>
      </p:ext>
    </p:extLst>
  </p:cSld>
  <p:clrMapOvr>
    <a:masterClrMapping/>
  </p:clrMapOvr>
</p:sld>
</file>

<file path=ppt/slides/slide7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61D4DBD0-8F36-4C7F-B345-35EB6F7793F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1009439563"/>
      </p:ext>
    </p:extLst>
  </p:cSld>
  <p:clrMapOvr>
    <a:masterClrMapping/>
  </p:clrMapOvr>
</p:sld>
</file>

<file path=ppt/slides/slide7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Print a JSON document in human-readable format</a:t>
            </a:r>
            <a:endParaRPr lang="en-IN"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144655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oid, </a:t>
            </a:r>
            <a:r>
              <a:rPr lang="en-IN" dirty="0">
                <a:solidFill>
                  <a:srgbClr val="DD4A68"/>
                </a:solidFill>
                <a:latin typeface="Liberation Mono"/>
              </a:rPr>
              <a:t>JSON_PRETTY</a:t>
            </a:r>
            <a:r>
              <a:rPr lang="en-IN" dirty="0">
                <a:latin typeface="Liberation Mono"/>
              </a:rPr>
              <a:t>(orderheader) </a:t>
            </a:r>
            <a:r>
              <a:rPr lang="en-IN" dirty="0">
                <a:solidFill>
                  <a:srgbClr val="0077AA"/>
                </a:solidFill>
                <a:latin typeface="Liberation Mono"/>
              </a:rPr>
              <a:t>FROM</a:t>
            </a:r>
            <a:r>
              <a:rPr lang="en-IN" dirty="0">
                <a:latin typeface="Liberation Mono"/>
              </a:rPr>
              <a:t> orderj;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oid,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orderitemsj;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orderj.oid, </a:t>
            </a:r>
            <a:r>
              <a:rPr lang="en-IN" dirty="0">
                <a:solidFill>
                  <a:srgbClr val="DD4A68"/>
                </a:solidFill>
                <a:latin typeface="Liberation Mono"/>
              </a:rPr>
              <a:t>JSON_PRETTY</a:t>
            </a:r>
            <a:r>
              <a:rPr lang="en-IN" dirty="0">
                <a:latin typeface="Liberation Mono"/>
              </a:rPr>
              <a:t>(orderheader),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orderj, orderitemsj </a:t>
            </a:r>
            <a:r>
              <a:rPr lang="en-IN" dirty="0">
                <a:solidFill>
                  <a:srgbClr val="0077AA"/>
                </a:solidFill>
                <a:latin typeface="Liberation Mono"/>
              </a:rPr>
              <a:t>WHERE</a:t>
            </a:r>
            <a:r>
              <a:rPr lang="en-IN" dirty="0">
                <a:latin typeface="Liberation Mono"/>
              </a:rPr>
              <a:t> orderj.oid = orderitemsj.oid;</a:t>
            </a:r>
          </a:p>
        </p:txBody>
      </p:sp>
      <p:sp>
        <p:nvSpPr>
          <p:cNvPr id="6" name="Rectangle 5">
            <a:extLst>
              <a:ext uri="{FF2B5EF4-FFF2-40B4-BE49-F238E27FC236}">
                <a16:creationId xmlns:a16="http://schemas.microsoft.com/office/drawing/2014/main" id="{D02E03CB-F4A4-461C-9B06-A8BCA984FCC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json_pretty … (select)</a:t>
            </a:r>
          </a:p>
        </p:txBody>
      </p:sp>
    </p:spTree>
    <p:extLst>
      <p:ext uri="{BB962C8B-B14F-4D97-AF65-F5344CB8AC3E}">
        <p14:creationId xmlns:p14="http://schemas.microsoft.com/office/powerpoint/2010/main" val="2905016299"/>
      </p:ext>
    </p:extLst>
  </p:cSld>
  <p:clrMapOvr>
    <a:masterClrMapping/>
  </p:clrMapOvr>
</p:sld>
</file>

<file path=ppt/slides/slide7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json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3058951" y="3276600"/>
            <a:ext cx="865943" cy="369332"/>
          </a:xfrm>
          <a:prstGeom prst="rect">
            <a:avLst/>
          </a:prstGeom>
        </p:spPr>
        <p:txBody>
          <a:bodyPr wrap="none">
            <a:spAutoFit/>
          </a:bodyPr>
          <a:lstStyle/>
          <a:p>
            <a:r>
              <a:rPr lang="en-IN" dirty="0">
                <a:latin typeface="Palatino Linotype" panose="02040502050505030304" pitchFamily="18" charset="0"/>
              </a:rPr>
              <a:t>TODO</a:t>
            </a:r>
          </a:p>
        </p:txBody>
      </p:sp>
      <p:sp>
        <p:nvSpPr>
          <p:cNvPr id="8" name="Rectangle 7">
            <a:extLst>
              <a:ext uri="{FF2B5EF4-FFF2-40B4-BE49-F238E27FC236}">
                <a16:creationId xmlns:a16="http://schemas.microsoft.com/office/drawing/2014/main" id="{8179B2D0-24EE-455B-8988-B44950E43A0B}"/>
              </a:ext>
            </a:extLst>
          </p:cNvPr>
          <p:cNvSpPr/>
          <p:nvPr/>
        </p:nvSpPr>
        <p:spPr>
          <a:xfrm>
            <a:off x="406573" y="193261"/>
            <a:ext cx="11449272"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TODO</a:t>
            </a:r>
            <a:endParaRPr lang="en-IN" dirty="0">
              <a:solidFill>
                <a:schemeClr val="accent6">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20181468"/>
      </p:ext>
    </p:extLst>
  </p:cSld>
  <p:clrMapOvr>
    <a:masterClrMapping/>
  </p:clrMapOvr>
</p:sld>
</file>

<file path=ppt/slides/slide7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2551836222"/>
              </p:ext>
            </p:extLst>
          </p:nvPr>
        </p:nvGraphicFramePr>
        <p:xfrm>
          <a:off x="191344" y="907200"/>
          <a:ext cx="11809312" cy="4478442"/>
        </p:xfrm>
        <a:graphic>
          <a:graphicData uri="http://schemas.openxmlformats.org/drawingml/2006/table">
            <a:tbl>
              <a:tblPr firstRow="1" bandRow="1">
                <a:tableStyleId>{7E9639D4-E3E2-4D34-9284-5A2195B3D0D7}</a:tableStyleId>
              </a:tblPr>
              <a:tblGrid>
                <a:gridCol w="5544616">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-&gt;</a:t>
                      </a:r>
                    </a:p>
                  </a:txBody>
                  <a:tcPr marL="76200" marR="76200" marT="76200" marB="76200" anchor="ctr"/>
                </a:tc>
                <a:tc>
                  <a:txBody>
                    <a:bodyPr/>
                    <a:lstStyle/>
                    <a:p>
                      <a:pPr fontAlgn="base"/>
                      <a:r>
                        <a:rPr kumimoji="0" lang="en-US" b="0" i="0" kern="1200" dirty="0">
                          <a:solidFill>
                            <a:schemeClr val="tx1"/>
                          </a:solidFill>
                          <a:effectLst/>
                          <a:latin typeface="Liberation Mono"/>
                          <a:ea typeface="+mn-ea"/>
                          <a:cs typeface="+mn-cs"/>
                        </a:rPr>
                        <a:t>Return value from JSON column after evaluating path; equivalent to JSON_EXTRACT().</a:t>
                      </a:r>
                    </a:p>
                  </a:txBody>
                  <a:tcPr marL="28575" marR="28575" marT="28575" marB="28575"/>
                </a:tc>
                <a:extLst>
                  <a:ext uri="{0D108BD9-81ED-4DB2-BD59-A6C34878D82A}">
                    <a16:rowId xmlns:a16="http://schemas.microsoft.com/office/drawing/2014/main" val="1497284422"/>
                  </a:ext>
                </a:extLst>
              </a:tr>
              <a:tr h="442383">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-&gt;&gt; / JSON_UNQUOTE(</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Return value from JSON column after evaluating path and unquoting the result.</a:t>
                      </a:r>
                      <a:endParaRPr kumimoji="0" lang="en-IN" b="0" i="0" kern="1200" dirty="0">
                        <a:solidFill>
                          <a:schemeClr val="tx1"/>
                        </a:solidFill>
                        <a:effectLst/>
                        <a:latin typeface="Liberation Mono"/>
                        <a:ea typeface="+mn-ea"/>
                        <a:cs typeface="+mn-cs"/>
                      </a:endParaRPr>
                    </a:p>
                  </a:txBody>
                  <a:tcPr marL="76200" marR="76200" marT="76200" marB="76200"/>
                </a:tc>
                <a:extLst>
                  <a:ext uri="{0D108BD9-81ED-4DB2-BD59-A6C34878D82A}">
                    <a16:rowId xmlns:a16="http://schemas.microsoft.com/office/drawing/2014/main" val="245688998"/>
                  </a:ext>
                </a:extLst>
              </a:tr>
              <a:tr h="442383">
                <a:tc>
                  <a:txBody>
                    <a:bodyPr/>
                    <a:lstStyle/>
                    <a:p>
                      <a:pPr fontAlgn="t"/>
                      <a:r>
                        <a:rPr kumimoji="0" lang="en-US" sz="1800" kern="1200" dirty="0">
                          <a:solidFill>
                            <a:srgbClr val="0077AA"/>
                          </a:solidFill>
                          <a:latin typeface="Liberation Mono"/>
                          <a:ea typeface="+mn-ea"/>
                          <a:cs typeface="+mn-cs"/>
                        </a:rPr>
                        <a:t>JSON_EXTRACT(</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Returns data from a JSON document, selected from the parts of the document matched by the path arguments.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04551948"/>
                  </a:ext>
                </a:extLst>
              </a:tr>
              <a:tr h="442383">
                <a:tc>
                  <a:txBody>
                    <a:bodyPr/>
                    <a:lstStyle/>
                    <a:p>
                      <a:pPr fontAlgn="t"/>
                      <a:r>
                        <a:rPr kumimoji="0" lang="en-IN" sz="1800" kern="1200" dirty="0">
                          <a:solidFill>
                            <a:srgbClr val="0077AA"/>
                          </a:solidFill>
                          <a:latin typeface="Liberation Mono"/>
                          <a:ea typeface="+mn-ea"/>
                          <a:cs typeface="+mn-cs"/>
                        </a:rPr>
                        <a:t>JSON_ARRAY(</a:t>
                      </a:r>
                      <a:r>
                        <a:rPr kumimoji="0" lang="en-IN" sz="1800" kern="1200" dirty="0">
                          <a:solidFill>
                            <a:schemeClr val="tx2"/>
                          </a:solidFill>
                          <a:latin typeface="Liberation Mono"/>
                          <a:ea typeface="+mn-ea"/>
                          <a:cs typeface="+mn-cs"/>
                        </a:rPr>
                        <a:t>[val[, val] </a:t>
                      </a:r>
                      <a:r>
                        <a:rPr kumimoji="0" lang="en-IN" sz="1800" kern="1200" dirty="0">
                          <a:solidFill>
                            <a:schemeClr val="bg1">
                              <a:lumMod val="50000"/>
                            </a:schemeClr>
                          </a:solidFill>
                          <a:latin typeface="Liberation Mono"/>
                          <a:ea typeface="+mn-ea"/>
                          <a:cs typeface="+mn-cs"/>
                        </a:rPr>
                        <a:t>. . .</a:t>
                      </a:r>
                      <a:r>
                        <a:rPr kumimoji="0" lang="en-IN" sz="1800" kern="1200" dirty="0">
                          <a:solidFill>
                            <a:schemeClr val="tx2"/>
                          </a:solidFill>
                          <a:latin typeface="Liberation Mono"/>
                          <a:ea typeface="+mn-ea"/>
                          <a:cs typeface="+mn-cs"/>
                        </a:rPr>
                        <a:t>]</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Evaluates a list of values and returns a JSON array containing those values.</a:t>
                      </a:r>
                      <a:endParaRPr lang="en-IN" sz="1800" b="1"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US" sz="1800" kern="1200" dirty="0">
                          <a:solidFill>
                            <a:srgbClr val="0077AA"/>
                          </a:solidFill>
                          <a:latin typeface="Liberation Mono"/>
                          <a:ea typeface="+mn-ea"/>
                          <a:cs typeface="+mn-cs"/>
                        </a:rPr>
                        <a:t>JSON_OBJECT(</a:t>
                      </a:r>
                      <a:r>
                        <a:rPr kumimoji="0" lang="en-US" sz="1800" kern="1200" dirty="0">
                          <a:solidFill>
                            <a:schemeClr val="tx2"/>
                          </a:solidFill>
                          <a:latin typeface="Liberation Mono"/>
                          <a:ea typeface="+mn-ea"/>
                          <a:cs typeface="+mn-cs"/>
                        </a:rPr>
                        <a:t>[key, val[, key, val] </a:t>
                      </a:r>
                      <a:r>
                        <a:rPr kumimoji="0" lang="en-US" sz="1800" kern="1200" dirty="0">
                          <a:solidFill>
                            <a:schemeClr val="bg1">
                              <a:lumMod val="50000"/>
                            </a:schemeClr>
                          </a:solidFill>
                          <a:latin typeface="Liberation Mono"/>
                          <a:ea typeface="+mn-ea"/>
                          <a:cs typeface="+mn-cs"/>
                        </a:rPr>
                        <a:t>. . .</a:t>
                      </a:r>
                      <a:r>
                        <a:rPr kumimoji="0" lang="en-US" sz="1800" kern="1200" dirty="0">
                          <a:solidFill>
                            <a:schemeClr val="tx2"/>
                          </a:solidFill>
                          <a:latin typeface="Liberation Mono"/>
                          <a:ea typeface="+mn-ea"/>
                          <a:cs typeface="+mn-cs"/>
                        </a:rPr>
                        <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en-IN" b="0" i="0" kern="1200" dirty="0">
                          <a:solidFill>
                            <a:schemeClr val="tx1"/>
                          </a:solidFill>
                          <a:effectLst/>
                          <a:latin typeface="Liberation Mono"/>
                          <a:ea typeface="+mn-ea"/>
                          <a:cs typeface="+mn-cs"/>
                        </a:rPr>
                        <a:t>Create JSON object.</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sv-SE" sz="1800" kern="1200" dirty="0">
                          <a:solidFill>
                            <a:srgbClr val="0077AA"/>
                          </a:solidFill>
                          <a:latin typeface="Liberation Mono"/>
                          <a:ea typeface="+mn-ea"/>
                          <a:cs typeface="+mn-cs"/>
                        </a:rPr>
                        <a:t>JSON_INSERT(</a:t>
                      </a:r>
                      <a:r>
                        <a:rPr kumimoji="0" lang="sv-SE" sz="1800" kern="1200" dirty="0">
                          <a:solidFill>
                            <a:schemeClr val="tx2"/>
                          </a:solidFill>
                          <a:latin typeface="Liberation Mono"/>
                          <a:ea typeface="+mn-ea"/>
                          <a:cs typeface="+mn-cs"/>
                        </a:rPr>
                        <a:t>json_doc, path, val[, path, val] </a:t>
                      </a:r>
                      <a:r>
                        <a:rPr kumimoji="0" lang="sv-SE" sz="1800" kern="1200" dirty="0">
                          <a:solidFill>
                            <a:schemeClr val="bg1">
                              <a:lumMod val="50000"/>
                            </a:schemeClr>
                          </a:solidFill>
                          <a:latin typeface="Liberation Mono"/>
                          <a:ea typeface="+mn-ea"/>
                          <a:cs typeface="+mn-cs"/>
                        </a:rPr>
                        <a:t>. . .</a:t>
                      </a:r>
                      <a:r>
                        <a:rPr kumimoji="0" lang="sv-SE"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sv-SE" sz="1800" kern="1200" dirty="0">
                          <a:solidFill>
                            <a:schemeClr val="tx1"/>
                          </a:solidFill>
                          <a:effectLst/>
                          <a:latin typeface="Liberation Mono"/>
                          <a:ea typeface="+mn-ea"/>
                          <a:cs typeface="Arial" panose="020B0604020202020204" pitchFamily="34" charset="0"/>
                        </a:rPr>
                        <a:t>INSERT a key, if not present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3039528155"/>
                  </a:ext>
                </a:extLst>
              </a:tr>
              <a:tr h="442383">
                <a:tc>
                  <a:txBody>
                    <a:bodyPr/>
                    <a:lstStyle/>
                    <a:p>
                      <a:pPr fontAlgn="t"/>
                      <a:r>
                        <a:rPr kumimoji="0" lang="en-IN" sz="1800" kern="1200" dirty="0">
                          <a:solidFill>
                            <a:srgbClr val="0077AA"/>
                          </a:solidFill>
                          <a:latin typeface="Liberation Mono"/>
                          <a:ea typeface="+mn-ea"/>
                          <a:cs typeface="+mn-cs"/>
                        </a:rPr>
                        <a:t>JSON_PRETTY(</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sz="1800" kern="1200" dirty="0">
                          <a:solidFill>
                            <a:schemeClr val="tx1"/>
                          </a:solidFill>
                          <a:effectLst/>
                          <a:latin typeface="Liberation Mono"/>
                          <a:ea typeface="+mn-ea"/>
                          <a:cs typeface="Arial" panose="020B0604020202020204" pitchFamily="34" charset="0"/>
                        </a:rPr>
                        <a:t>Provides pretty-printing of JSON values</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10004"/>
                  </a:ext>
                </a:extLst>
              </a:tr>
            </a:tbl>
          </a:graphicData>
        </a:graphic>
      </p:graphicFrame>
      <p:sp>
        <p:nvSpPr>
          <p:cNvPr id="3" name="Rectangle 2">
            <a:extLst>
              <a:ext uri="{FF2B5EF4-FFF2-40B4-BE49-F238E27FC236}">
                <a16:creationId xmlns:a16="http://schemas.microsoft.com/office/drawing/2014/main" id="{F5884E94-7111-4234-8F10-29D18FAF9BB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1378488458"/>
      </p:ext>
    </p:extLst>
  </p:cSld>
  <p:clrMapOvr>
    <a:masterClrMapping/>
  </p:clrMapOvr>
</p:sld>
</file>

<file path=ppt/slides/slide7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887533147"/>
              </p:ext>
            </p:extLst>
          </p:nvPr>
        </p:nvGraphicFramePr>
        <p:xfrm>
          <a:off x="191344" y="908383"/>
          <a:ext cx="11809834" cy="3096681"/>
        </p:xfrm>
        <a:graphic>
          <a:graphicData uri="http://schemas.openxmlformats.org/drawingml/2006/table">
            <a:tbl>
              <a:tblPr firstRow="1" bandRow="1">
                <a:tableStyleId>{7E9639D4-E3E2-4D34-9284-5A2195B3D0D7}</a:tableStyleId>
              </a:tblPr>
              <a:tblGrid>
                <a:gridCol w="5545138">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algn="l" fontAlgn="t"/>
                      <a:r>
                        <a:rPr kumimoji="0" lang="en-IN" sz="1800" kern="1200" dirty="0">
                          <a:solidFill>
                            <a:srgbClr val="0077AA"/>
                          </a:solidFill>
                          <a:latin typeface="Liberation Mono"/>
                          <a:ea typeface="+mn-ea"/>
                          <a:cs typeface="+mn-cs"/>
                        </a:rPr>
                        <a:t>JSON_REPLACE(</a:t>
                      </a:r>
                      <a:r>
                        <a:rPr kumimoji="0" lang="en-IN" sz="1800" kern="1200" dirty="0">
                          <a:solidFill>
                            <a:schemeClr val="tx2"/>
                          </a:solidFill>
                          <a:latin typeface="Liberation Mono"/>
                          <a:ea typeface="+mn-ea"/>
                          <a:cs typeface="+mn-cs"/>
                        </a:rPr>
                        <a:t>json_doc, path, val[, path, val]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fr-FR" b="0" i="0" kern="1200" dirty="0">
                          <a:solidFill>
                            <a:schemeClr val="tx1"/>
                          </a:solidFill>
                          <a:effectLst/>
                          <a:latin typeface="Liberation Mono"/>
                          <a:ea typeface="+mn-ea"/>
                          <a:cs typeface="+mn-cs"/>
                        </a:rPr>
                        <a:t>Replace values in JSON document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US" b="0" i="0" kern="1200" dirty="0">
                        <a:solidFill>
                          <a:schemeClr val="tx1"/>
                        </a:solidFill>
                        <a:effectLst/>
                        <a:latin typeface="Liberation Mono"/>
                        <a:ea typeface="+mn-ea"/>
                        <a:cs typeface="+mn-cs"/>
                      </a:endParaRPr>
                    </a:p>
                  </a:txBody>
                  <a:tcPr marL="28575" marR="28575" marT="28575" marB="28575" anchor="ctr"/>
                </a:tc>
                <a:extLst>
                  <a:ext uri="{0D108BD9-81ED-4DB2-BD59-A6C34878D82A}">
                    <a16:rowId xmlns:a16="http://schemas.microsoft.com/office/drawing/2014/main" val="1497284422"/>
                  </a:ext>
                </a:extLst>
              </a:tr>
              <a:tr h="442383">
                <a:tc>
                  <a:txBody>
                    <a:bodyPr/>
                    <a:lstStyle/>
                    <a:p>
                      <a:pPr algn="l" fontAlgn="t"/>
                      <a:r>
                        <a:rPr kumimoji="0" lang="en-IN" sz="1800" kern="1200" dirty="0">
                          <a:solidFill>
                            <a:srgbClr val="0077AA"/>
                          </a:solidFill>
                          <a:latin typeface="Liberation Mono"/>
                          <a:ea typeface="+mn-ea"/>
                          <a:cs typeface="+mn-cs"/>
                        </a:rPr>
                        <a:t>JSON_SET(</a:t>
                      </a:r>
                      <a:r>
                        <a:rPr kumimoji="0" lang="en-IN" sz="1800" kern="1200" dirty="0">
                          <a:solidFill>
                            <a:schemeClr val="tx2"/>
                          </a:solidFill>
                          <a:latin typeface="Liberation Mono"/>
                          <a:ea typeface="+mn-ea"/>
                          <a:cs typeface="+mn-cs"/>
                        </a:rPr>
                        <a:t>json_doc, path, val[, path, val]</a:t>
                      </a:r>
                      <a:r>
                        <a:rPr kumimoji="0" lang="en-IN" sz="1800" kern="1200" dirty="0">
                          <a:solidFill>
                            <a:srgbClr val="0077AA"/>
                          </a:solidFill>
                          <a:latin typeface="Liberation Mono"/>
                          <a:ea typeface="+mn-ea"/>
                          <a:cs typeface="+mn-cs"/>
                        </a:rPr>
                        <a:t>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en-US" sz="1800" kern="1200" dirty="0">
                          <a:solidFill>
                            <a:schemeClr val="tx1"/>
                          </a:solidFill>
                          <a:effectLst/>
                          <a:latin typeface="Liberation Mono"/>
                          <a:ea typeface="+mn-ea"/>
                          <a:cs typeface="Arial" panose="020B0604020202020204" pitchFamily="34" charset="0"/>
                        </a:rPr>
                        <a:t>Insert data into JSON document [ with UPDATE ]</a:t>
                      </a:r>
                    </a:p>
                  </a:txBody>
                  <a:tcPr marL="28575" marR="28575" marT="28575" marB="28575" anchor="ctr"/>
                </a:tc>
                <a:extLst>
                  <a:ext uri="{0D108BD9-81ED-4DB2-BD59-A6C34878D82A}">
                    <a16:rowId xmlns:a16="http://schemas.microsoft.com/office/drawing/2014/main" val="10005"/>
                  </a:ext>
                </a:extLst>
              </a:tr>
              <a:tr h="442383">
                <a:tc>
                  <a:txBody>
                    <a:bodyPr/>
                    <a:lstStyle/>
                    <a:p>
                      <a:pPr algn="l" fontAlgn="t"/>
                      <a:r>
                        <a:rPr kumimoji="0" lang="en-US" sz="1800" kern="1200" dirty="0">
                          <a:solidFill>
                            <a:srgbClr val="0077AA"/>
                          </a:solidFill>
                          <a:latin typeface="Liberation Mono"/>
                          <a:ea typeface="+mn-ea"/>
                          <a:cs typeface="+mn-cs"/>
                        </a:rPr>
                        <a:t>JSON_REMOVE(</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Remove data from JSON document </a:t>
                      </a:r>
                      <a:r>
                        <a:rPr kumimoji="0" lang="en-US" sz="1800" kern="1200" dirty="0">
                          <a:solidFill>
                            <a:schemeClr val="tx1"/>
                          </a:solidFill>
                          <a:effectLst/>
                          <a:latin typeface="Liberation Mono"/>
                          <a:ea typeface="+mn-ea"/>
                          <a:cs typeface="Arial" panose="020B0604020202020204" pitchFamily="34" charset="0"/>
                        </a:rPr>
                        <a: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6"/>
                  </a:ext>
                </a:extLst>
              </a:tr>
              <a:tr h="442383">
                <a:tc>
                  <a:txBody>
                    <a:bodyPr/>
                    <a:lstStyle/>
                    <a:p>
                      <a:pPr algn="l" fontAlgn="t"/>
                      <a:r>
                        <a:rPr kumimoji="0" lang="en-US" sz="1800" kern="1200" dirty="0">
                          <a:solidFill>
                            <a:srgbClr val="0077AA"/>
                          </a:solidFill>
                          <a:latin typeface="Liberation Mono"/>
                          <a:ea typeface="+mn-ea"/>
                          <a:cs typeface="+mn-cs"/>
                        </a:rPr>
                        <a:t>JSON_KEYS(</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Array of keys from JSON 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7"/>
                  </a:ext>
                </a:extLst>
              </a:tr>
              <a:tr h="442383">
                <a:tc>
                  <a:txBody>
                    <a:bodyPr/>
                    <a:lstStyle/>
                    <a:p>
                      <a:pPr algn="l" fontAlgn="t"/>
                      <a:r>
                        <a:rPr kumimoji="0" lang="en-US" sz="1800" kern="1200" dirty="0">
                          <a:solidFill>
                            <a:srgbClr val="0077AA"/>
                          </a:solidFill>
                          <a:latin typeface="Liberation Mono"/>
                          <a:ea typeface="+mn-ea"/>
                          <a:cs typeface="+mn-cs"/>
                        </a:rPr>
                        <a:t>JSON_ARRAY_APPEND(</a:t>
                      </a:r>
                      <a:r>
                        <a:rPr kumimoji="0" lang="en-US" sz="1800" kern="1200" dirty="0">
                          <a:solidFill>
                            <a:schemeClr val="tx2"/>
                          </a:solidFill>
                          <a:latin typeface="Liberation Mono"/>
                          <a:ea typeface="+mn-ea"/>
                          <a:cs typeface="+mn-cs"/>
                        </a:rPr>
                        <a:t>json_doc, path, val[, path, val]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Append data to JSON document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8"/>
                  </a:ext>
                </a:extLst>
              </a:tr>
              <a:tr h="442383">
                <a:tc>
                  <a:txBody>
                    <a:bodyPr/>
                    <a:lstStyle/>
                    <a:p>
                      <a:pPr algn="l" fontAlgn="t"/>
                      <a:r>
                        <a:rPr kumimoji="0" lang="en-US" sz="1800" kern="1200" dirty="0">
                          <a:solidFill>
                            <a:srgbClr val="0077AA"/>
                          </a:solidFill>
                          <a:latin typeface="Liberation Mono"/>
                          <a:ea typeface="+mn-ea"/>
                          <a:cs typeface="+mn-cs"/>
                        </a:rPr>
                        <a:t>JSON_LENGTH(</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Number of elements in </a:t>
                      </a:r>
                      <a:r>
                        <a:rPr kumimoji="0" lang="en-US" sz="1800" kern="1200">
                          <a:solidFill>
                            <a:schemeClr val="tx1"/>
                          </a:solidFill>
                          <a:effectLst/>
                          <a:latin typeface="Liberation Mono"/>
                          <a:ea typeface="+mn-ea"/>
                          <a:cs typeface="Arial" panose="020B0604020202020204" pitchFamily="34" charset="0"/>
                        </a:rPr>
                        <a:t>JSON array/document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258856819"/>
                  </a:ext>
                </a:extLst>
              </a:tr>
            </a:tbl>
          </a:graphicData>
        </a:graphic>
      </p:graphicFrame>
      <p:sp>
        <p:nvSpPr>
          <p:cNvPr id="4" name="Rectangle 3">
            <a:extLst>
              <a:ext uri="{FF2B5EF4-FFF2-40B4-BE49-F238E27FC236}">
                <a16:creationId xmlns:a16="http://schemas.microsoft.com/office/drawing/2014/main" id="{8175F671-BFE5-4D26-9C76-DBE1898D728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3854754402"/>
      </p:ext>
    </p:extLst>
  </p:cSld>
  <p:clrMapOvr>
    <a:masterClrMapping/>
  </p:clrMapOvr>
</p:sld>
</file>

<file path=ppt/slides/slide7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US" dirty="0">
                <a:latin typeface="Palatino Linotype" panose="02040502050505030304" pitchFamily="18" charset="0"/>
                <a:cs typeface="Arial" panose="020B0604020202020204" pitchFamily="34" charset="0"/>
              </a:rPr>
              <a:t>Inserts or Updates data in a JSON document and returns the result.</a:t>
            </a:r>
            <a:endParaRPr lang="en-IN" dirty="0">
              <a:latin typeface="Palatino Linotype" panose="02040502050505030304" pitchFamily="18" charset="0"/>
              <a:cs typeface="Arial" panose="020B0604020202020204" pitchFamily="34" charset="0"/>
            </a:endParaRPr>
          </a:p>
        </p:txBody>
      </p:sp>
      <p:sp>
        <p:nvSpPr>
          <p:cNvPr id="7" name="Rectangle 6"/>
          <p:cNvSpPr/>
          <p:nvPr/>
        </p:nvSpPr>
        <p:spPr>
          <a:xfrm>
            <a:off x="290449" y="1412776"/>
            <a:ext cx="11278159" cy="830997"/>
          </a:xfrm>
          <a:prstGeom prst="rect">
            <a:avLst/>
          </a:prstGeom>
        </p:spPr>
        <p:txBody>
          <a:bodyPr wrap="square">
            <a:spAutoFit/>
          </a:bodyPr>
          <a:lstStyle/>
          <a:p>
            <a:r>
              <a:rPr lang="en-US" sz="2000" b="0" i="0" dirty="0">
                <a:solidFill>
                  <a:srgbClr val="DD4A68"/>
                </a:solidFill>
                <a:effectLst/>
                <a:latin typeface="Liberation Mono"/>
              </a:rPr>
              <a:t>JSON_SET</a:t>
            </a:r>
            <a:r>
              <a:rPr lang="en-US" sz="2000" b="0" i="0" dirty="0">
                <a:effectLst/>
                <a:latin typeface="Liberation Mono"/>
              </a:rPr>
              <a:t>(</a:t>
            </a:r>
            <a:r>
              <a:rPr lang="en-US" sz="2000" dirty="0">
                <a:latin typeface="Liberation Mono"/>
              </a:rPr>
              <a:t>json_doc, path, value1[, path, value2]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800" dirty="0">
              <a:latin typeface="Liberation Mono"/>
            </a:endParaRPr>
          </a:p>
          <a:p>
            <a:r>
              <a:rPr lang="en-US" sz="2000" dirty="0">
                <a:solidFill>
                  <a:srgbClr val="DD4A68"/>
                </a:solidFill>
                <a:latin typeface="Liberation Mono"/>
              </a:rPr>
              <a:t>JSON_REMOVE</a:t>
            </a:r>
            <a:r>
              <a:rPr lang="en-US" sz="2000" dirty="0">
                <a:latin typeface="Liberation Mono"/>
              </a:rPr>
              <a:t>(json_doc, path[, path]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4236764"/>
            <a:ext cx="11542041" cy="1569660"/>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.state', </a:t>
            </a:r>
            <a:r>
              <a:rPr lang="en-US" dirty="0">
                <a:solidFill>
                  <a:srgbClr val="669900"/>
                </a:solidFill>
                <a:latin typeface="Liberation Mono"/>
              </a:rPr>
              <a:t>'MH'</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.city', </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JSON_REMOVE</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 state")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update/remove json object… values</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B103164-7CE0-48E5-B6F6-53A39A9EC8E2}"/>
              </a:ext>
            </a:extLst>
          </p:cNvPr>
          <p:cNvSpPr/>
          <p:nvPr/>
        </p:nvSpPr>
        <p:spPr>
          <a:xfrm>
            <a:off x="359510" y="2492896"/>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a:p>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285238590"/>
      </p:ext>
    </p:extLst>
  </p:cSld>
  <p:clrMapOvr>
    <a:masterClrMapping/>
  </p:clrMapOvr>
</p:sld>
</file>

<file path=ppt/slides/slide7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pk/fk in json</a:t>
            </a:r>
          </a:p>
        </p:txBody>
      </p:sp>
      <p:sp>
        <p:nvSpPr>
          <p:cNvPr id="7" name="TextBox 6">
            <a:extLst>
              <a:ext uri="{FF2B5EF4-FFF2-40B4-BE49-F238E27FC236}">
                <a16:creationId xmlns:a16="http://schemas.microsoft.com/office/drawing/2014/main" id="{CB5E702B-E12F-4613-9072-7AAF31972FFF}"/>
              </a:ext>
            </a:extLst>
          </p:cNvPr>
          <p:cNvSpPr txBox="1"/>
          <p:nvPr/>
        </p:nvSpPr>
        <p:spPr>
          <a:xfrm>
            <a:off x="149975" y="404664"/>
            <a:ext cx="5946025"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orderJ(oid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p>
          <a:p>
            <a:r>
              <a:rPr lang="en-IN" dirty="0">
                <a:latin typeface="Liberation Mono"/>
              </a:rPr>
              <a:t>          orderheader </a:t>
            </a:r>
            <a:r>
              <a:rPr lang="en-IN" dirty="0">
                <a:solidFill>
                  <a:srgbClr val="834689"/>
                </a:solidFill>
                <a:latin typeface="Liberation Mono"/>
                <a:cs typeface="Arial" panose="020B0604020202020204" pitchFamily="34" charset="0"/>
              </a:rPr>
              <a:t>JSON</a:t>
            </a:r>
            <a:r>
              <a:rPr lang="en-IN" dirty="0">
                <a:latin typeface="Liberation Mono"/>
              </a:rPr>
              <a:t>);</a:t>
            </a:r>
          </a:p>
        </p:txBody>
      </p:sp>
      <p:sp>
        <p:nvSpPr>
          <p:cNvPr id="9" name="TextBox 8">
            <a:extLst>
              <a:ext uri="{FF2B5EF4-FFF2-40B4-BE49-F238E27FC236}">
                <a16:creationId xmlns:a16="http://schemas.microsoft.com/office/drawing/2014/main" id="{28EBC309-A19D-4F18-91CF-95D06D683099}"/>
              </a:ext>
            </a:extLst>
          </p:cNvPr>
          <p:cNvSpPr txBox="1"/>
          <p:nvPr/>
        </p:nvSpPr>
        <p:spPr>
          <a:xfrm>
            <a:off x="149975" y="3945830"/>
            <a:ext cx="5946025"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orderItemsJ(oid </a:t>
            </a:r>
            <a:r>
              <a:rPr lang="en-IN" dirty="0">
                <a:solidFill>
                  <a:srgbClr val="834689"/>
                </a:solidFill>
                <a:latin typeface="Liberation Mono"/>
                <a:cs typeface="Arial" panose="020B0604020202020204" pitchFamily="34" charset="0"/>
              </a:rPr>
              <a:t>INT</a:t>
            </a:r>
            <a:r>
              <a:rPr lang="en-US" dirty="0">
                <a:latin typeface="Liberation Mono"/>
              </a:rPr>
              <a:t>,           </a:t>
            </a:r>
          </a:p>
          <a:p>
            <a:r>
              <a:rPr lang="en-US" dirty="0">
                <a:latin typeface="Liberation Mono"/>
              </a:rPr>
              <a:t>          order_items </a:t>
            </a:r>
            <a:r>
              <a:rPr lang="en-US" dirty="0">
                <a:solidFill>
                  <a:srgbClr val="834689"/>
                </a:solidFill>
                <a:latin typeface="Liberation Mono"/>
                <a:cs typeface="Arial" panose="020B0604020202020204" pitchFamily="34" charset="0"/>
              </a:rPr>
              <a:t>JSON</a:t>
            </a:r>
            <a:r>
              <a:rPr lang="en-US" dirty="0">
                <a:latin typeface="Liberation Mono"/>
              </a:rPr>
              <a:t>,</a:t>
            </a:r>
          </a:p>
          <a:p>
            <a:r>
              <a:rPr lang="en-US" dirty="0">
                <a:solidFill>
                  <a:srgbClr val="C00000"/>
                </a:solidFill>
                <a:latin typeface="Liberation Mono"/>
                <a:cs typeface="Arial" panose="020B0604020202020204" pitchFamily="34" charset="0"/>
              </a:rPr>
              <a:t>          FOREIGN KEY</a:t>
            </a:r>
            <a:r>
              <a:rPr lang="en-US" dirty="0">
                <a:latin typeface="Liberation Mono"/>
              </a:rPr>
              <a:t>(oid) </a:t>
            </a:r>
            <a:r>
              <a:rPr lang="en-US" dirty="0">
                <a:solidFill>
                  <a:srgbClr val="C00000"/>
                </a:solidFill>
                <a:latin typeface="Liberation Mono"/>
                <a:cs typeface="Arial" panose="020B0604020202020204" pitchFamily="34" charset="0"/>
              </a:rPr>
              <a:t>REFERENCES</a:t>
            </a:r>
            <a:r>
              <a:rPr lang="en-US" dirty="0">
                <a:latin typeface="Liberation Mono"/>
              </a:rPr>
              <a:t> </a:t>
            </a:r>
            <a:r>
              <a:rPr lang="en-IN" dirty="0">
                <a:latin typeface="Liberation Mono"/>
              </a:rPr>
              <a:t>orderJ</a:t>
            </a:r>
            <a:r>
              <a:rPr lang="en-US" dirty="0">
                <a:latin typeface="Liberation Mono"/>
              </a:rPr>
              <a:t>(oid));</a:t>
            </a:r>
            <a:endParaRPr lang="en-IN" dirty="0">
              <a:latin typeface="Liberation Mono"/>
            </a:endParaRPr>
          </a:p>
        </p:txBody>
      </p:sp>
      <p:sp>
        <p:nvSpPr>
          <p:cNvPr id="10" name="TextBox 9">
            <a:extLst>
              <a:ext uri="{FF2B5EF4-FFF2-40B4-BE49-F238E27FC236}">
                <a16:creationId xmlns:a16="http://schemas.microsoft.com/office/drawing/2014/main" id="{7746A0F7-20A0-4FC2-8BE6-96DBD01FFBF6}"/>
              </a:ext>
            </a:extLst>
          </p:cNvPr>
          <p:cNvSpPr txBox="1"/>
          <p:nvPr/>
        </p:nvSpPr>
        <p:spPr>
          <a:xfrm>
            <a:off x="155340" y="1052736"/>
            <a:ext cx="1188132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1001</a:t>
            </a:r>
            <a:r>
              <a:rPr lang="en-IN" dirty="0">
                <a:latin typeface="Liberation Mono"/>
              </a:rPr>
              <a:t>, 'customerName', </a:t>
            </a:r>
            <a:r>
              <a:rPr lang="en-IN" dirty="0">
                <a:solidFill>
                  <a:srgbClr val="669900"/>
                </a:solidFill>
                <a:latin typeface="Liberation Mono"/>
              </a:rPr>
              <a:t>'saleel'</a:t>
            </a:r>
            <a:r>
              <a:rPr lang="en-IN" dirty="0">
                <a:latin typeface="Liberation Mono"/>
              </a:rPr>
              <a:t>, 'mobile', </a:t>
            </a:r>
            <a:r>
              <a:rPr lang="en-IN" dirty="0">
                <a:solidFill>
                  <a:srgbClr val="990055"/>
                </a:solidFill>
                <a:latin typeface="Liberation Mono"/>
              </a:rPr>
              <a:t>9850884228</a:t>
            </a:r>
            <a:r>
              <a:rPr lang="en-IN" dirty="0">
                <a:latin typeface="Liberation Mono"/>
              </a:rPr>
              <a:t>, 'city', </a:t>
            </a:r>
            <a:r>
              <a:rPr lang="en-IN" dirty="0">
                <a:solidFill>
                  <a:srgbClr val="669900"/>
                </a:solidFill>
                <a:latin typeface="Liberation Mono"/>
              </a:rPr>
              <a:t>'baroda'</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1002</a:t>
            </a:r>
            <a:r>
              <a:rPr lang="en-IN" dirty="0">
                <a:latin typeface="Liberation Mono"/>
              </a:rPr>
              <a:t>, 'customerName', </a:t>
            </a:r>
            <a:r>
              <a:rPr lang="en-IN" dirty="0">
                <a:solidFill>
                  <a:srgbClr val="669900"/>
                </a:solidFill>
                <a:latin typeface="Liberation Mono"/>
              </a:rPr>
              <a:t>'sharmin'</a:t>
            </a:r>
            <a:r>
              <a:rPr lang="en-IN" dirty="0">
                <a:latin typeface="Liberation Mono"/>
              </a:rPr>
              <a:t>, 'mobile', </a:t>
            </a:r>
            <a:r>
              <a:rPr lang="en-IN" dirty="0">
                <a:solidFill>
                  <a:srgbClr val="990055"/>
                </a:solidFill>
                <a:latin typeface="Liberation Mono"/>
              </a:rPr>
              <a:t>9850884229</a:t>
            </a:r>
            <a:r>
              <a:rPr lang="en-IN" dirty="0">
                <a:latin typeface="Liberation Mono"/>
              </a:rPr>
              <a:t>, 'city', </a:t>
            </a:r>
            <a:r>
              <a:rPr lang="en-IN" dirty="0">
                <a:solidFill>
                  <a:srgbClr val="669900"/>
                </a:solidFill>
                <a:latin typeface="Liberation Mono"/>
              </a:rPr>
              <a:t>'pune'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1003</a:t>
            </a:r>
            <a:r>
              <a:rPr lang="en-IN" dirty="0">
                <a:latin typeface="Liberation Mono"/>
              </a:rPr>
              <a:t>, 'customerName', </a:t>
            </a:r>
            <a:r>
              <a:rPr lang="en-IN" dirty="0">
                <a:solidFill>
                  <a:srgbClr val="669900"/>
                </a:solidFill>
                <a:latin typeface="Liberation Mono"/>
              </a:rPr>
              <a:t>'vrushali'</a:t>
            </a:r>
            <a:r>
              <a:rPr lang="en-IN" dirty="0">
                <a:latin typeface="Liberation Mono"/>
              </a:rPr>
              <a:t>, 'mobile', </a:t>
            </a:r>
            <a:r>
              <a:rPr lang="en-IN" dirty="0">
                <a:solidFill>
                  <a:srgbClr val="990055"/>
                </a:solidFill>
                <a:latin typeface="Liberation Mono"/>
              </a:rPr>
              <a:t>9850884230</a:t>
            </a:r>
            <a:r>
              <a:rPr lang="en-IN" dirty="0">
                <a:latin typeface="Liberation Mono"/>
              </a:rPr>
              <a:t>, 'city', </a:t>
            </a:r>
            <a:r>
              <a:rPr lang="en-IN" dirty="0">
                <a:solidFill>
                  <a:srgbClr val="669900"/>
                </a:solidFill>
                <a:latin typeface="Liberation Mono"/>
              </a:rPr>
              <a:t>'</a:t>
            </a:r>
            <a:r>
              <a:rPr lang="en-IN" dirty="0" err="1">
                <a:solidFill>
                  <a:srgbClr val="669900"/>
                </a:solidFill>
                <a:latin typeface="Liberation Mono"/>
              </a:rPr>
              <a:t>pune</a:t>
            </a:r>
            <a:r>
              <a:rPr lang="en-IN" dirty="0">
                <a:solidFill>
                  <a:srgbClr val="669900"/>
                </a:solidFill>
                <a:latin typeface="Liberation Mono"/>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1004</a:t>
            </a:r>
            <a:r>
              <a:rPr lang="en-IN" dirty="0">
                <a:latin typeface="Liberation Mono"/>
              </a:rPr>
              <a:t>, 'customerName' ,</a:t>
            </a:r>
            <a:r>
              <a:rPr lang="en-IN" dirty="0">
                <a:solidFill>
                  <a:srgbClr val="669900"/>
                </a:solidFill>
                <a:latin typeface="Liberation Mono"/>
              </a:rPr>
              <a:t>'ruhan'</a:t>
            </a:r>
            <a:r>
              <a:rPr lang="en-IN" dirty="0">
                <a:latin typeface="Liberation Mono"/>
              </a:rPr>
              <a:t>, 'mobile', </a:t>
            </a:r>
            <a:r>
              <a:rPr lang="en-IN" dirty="0">
                <a:solidFill>
                  <a:srgbClr val="DD4A68"/>
                </a:solidFill>
                <a:latin typeface="Liberation Mono"/>
              </a:rPr>
              <a:t>JSON_ARRAY</a:t>
            </a:r>
            <a:r>
              <a:rPr lang="en-IN" dirty="0">
                <a:latin typeface="Liberation Mono"/>
              </a:rPr>
              <a:t>(</a:t>
            </a:r>
            <a:r>
              <a:rPr lang="en-IN" dirty="0">
                <a:solidFill>
                  <a:srgbClr val="990055"/>
                </a:solidFill>
                <a:latin typeface="Liberation Mono"/>
              </a:rPr>
              <a:t>11111111</a:t>
            </a:r>
            <a:r>
              <a:rPr lang="en-IN" dirty="0">
                <a:latin typeface="Liberation Mono"/>
              </a:rPr>
              <a:t>, </a:t>
            </a:r>
            <a:r>
              <a:rPr lang="en-IN" dirty="0">
                <a:solidFill>
                  <a:srgbClr val="990055"/>
                </a:solidFill>
                <a:latin typeface="Liberation Mono"/>
              </a:rPr>
              <a:t>22222222</a:t>
            </a:r>
            <a:r>
              <a:rPr lang="en-IN" dirty="0">
                <a:latin typeface="Liberation Mono"/>
              </a:rPr>
              <a:t>), 'city', </a:t>
            </a:r>
            <a:r>
              <a:rPr lang="en-IN" dirty="0">
                <a:solidFill>
                  <a:srgbClr val="669900"/>
                </a:solidFill>
                <a:latin typeface="Liberation Mono"/>
              </a:rPr>
              <a:t>'pune'</a:t>
            </a:r>
            <a:r>
              <a:rPr lang="en-IN" dirty="0">
                <a:latin typeface="Liberation Mono"/>
              </a:rPr>
              <a:t>));</a:t>
            </a:r>
          </a:p>
        </p:txBody>
      </p:sp>
      <p:cxnSp>
        <p:nvCxnSpPr>
          <p:cNvPr id="11" name="Straight Connector 10">
            <a:extLst>
              <a:ext uri="{FF2B5EF4-FFF2-40B4-BE49-F238E27FC236}">
                <a16:creationId xmlns:a16="http://schemas.microsoft.com/office/drawing/2014/main" id="{0090B64C-6014-4E17-BBFF-8CBBA2F9DCC3}"/>
              </a:ext>
            </a:extLst>
          </p:cNvPr>
          <p:cNvCxnSpPr/>
          <p:nvPr/>
        </p:nvCxnSpPr>
        <p:spPr>
          <a:xfrm>
            <a:off x="149975" y="3789040"/>
            <a:ext cx="11634657" cy="0"/>
          </a:xfrm>
          <a:prstGeom prst="line">
            <a:avLst/>
          </a:prstGeom>
          <a:ln>
            <a:solidFill>
              <a:schemeClr val="accent6">
                <a:lumMod val="50000"/>
              </a:schemeClr>
            </a:solidFill>
          </a:ln>
        </p:spPr>
        <p:style>
          <a:lnRef idx="3">
            <a:schemeClr val="dk1"/>
          </a:lnRef>
          <a:fillRef idx="0">
            <a:schemeClr val="dk1"/>
          </a:fillRef>
          <a:effectRef idx="2">
            <a:schemeClr val="dk1"/>
          </a:effectRef>
          <a:fontRef idx="minor">
            <a:schemeClr val="tx1"/>
          </a:fontRef>
        </p:style>
      </p:cxnSp>
      <p:sp>
        <p:nvSpPr>
          <p:cNvPr id="13" name="TextBox 12">
            <a:extLst>
              <a:ext uri="{FF2B5EF4-FFF2-40B4-BE49-F238E27FC236}">
                <a16:creationId xmlns:a16="http://schemas.microsoft.com/office/drawing/2014/main" id="{656108CF-D21C-4F0A-AF9C-384BC034255D}"/>
              </a:ext>
            </a:extLst>
          </p:cNvPr>
          <p:cNvSpPr txBox="1"/>
          <p:nvPr/>
        </p:nvSpPr>
        <p:spPr>
          <a:xfrm>
            <a:off x="149974" y="4941168"/>
            <a:ext cx="11881319"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 </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5</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2</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JSON_ARRAY</a:t>
            </a:r>
            <a:r>
              <a:rPr lang="en-IN" dirty="0">
                <a:solidFill>
                  <a:schemeClr val="bg1">
                    <a:lumMod val="65000"/>
                  </a:schemeClr>
                </a:solidFill>
                <a:latin typeface="Liberation Mono"/>
              </a:rPr>
              <a:t>(</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1003</a:t>
            </a:r>
            <a:r>
              <a:rPr lang="en-IN" dirty="0">
                <a:latin typeface="Liberation Mono"/>
              </a:rPr>
              <a:t>, 'itemName', </a:t>
            </a:r>
            <a:r>
              <a:rPr lang="en-IN" dirty="0">
                <a:solidFill>
                  <a:srgbClr val="669900"/>
                </a:solidFill>
                <a:latin typeface="Liberation Mono"/>
              </a:rPr>
              <a:t>'bread'</a:t>
            </a:r>
            <a:r>
              <a:rPr lang="en-IN" dirty="0">
                <a:latin typeface="Liberation Mono"/>
              </a:rPr>
              <a:t>, 'rate', </a:t>
            </a:r>
            <a:r>
              <a:rPr lang="en-IN" dirty="0">
                <a:solidFill>
                  <a:srgbClr val="990055"/>
                </a:solidFill>
                <a:latin typeface="Liberation Mono"/>
              </a:rPr>
              <a:t>45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4</a:t>
            </a:r>
            <a:r>
              <a:rPr lang="en-IN" dirty="0">
                <a:latin typeface="Liberation Mono"/>
              </a:rPr>
              <a:t>)));</a:t>
            </a:r>
          </a:p>
        </p:txBody>
      </p:sp>
      <p:sp>
        <p:nvSpPr>
          <p:cNvPr id="12" name="TextBox 11">
            <a:extLst>
              <a:ext uri="{FF2B5EF4-FFF2-40B4-BE49-F238E27FC236}">
                <a16:creationId xmlns:a16="http://schemas.microsoft.com/office/drawing/2014/main" id="{0BA12B95-E0A9-4FF9-99AD-14DB14622162}"/>
              </a:ext>
            </a:extLst>
          </p:cNvPr>
          <p:cNvSpPr txBox="1"/>
          <p:nvPr/>
        </p:nvSpPr>
        <p:spPr>
          <a:xfrm>
            <a:off x="23664" y="-67454"/>
            <a:ext cx="671736" cy="400110"/>
          </a:xfrm>
          <a:prstGeom prst="rect">
            <a:avLst/>
          </a:prstGeom>
          <a:noFill/>
        </p:spPr>
        <p:txBody>
          <a:bodyPr wrap="square">
            <a:spAutoFit/>
          </a:bodyPr>
          <a:lstStyle/>
          <a:p>
            <a:r>
              <a:rPr lang="en-IN" sz="2000" dirty="0">
                <a:solidFill>
                  <a:srgbClr val="FF0000"/>
                </a:solidFill>
                <a:latin typeface="Liberation Mono"/>
                <a:cs typeface="Arial" panose="020B0604020202020204" pitchFamily="34" charset="0"/>
              </a:rPr>
              <a:t>e.g.</a:t>
            </a:r>
          </a:p>
        </p:txBody>
      </p:sp>
    </p:spTree>
    <p:extLst>
      <p:ext uri="{BB962C8B-B14F-4D97-AF65-F5344CB8AC3E}">
        <p14:creationId xmlns:p14="http://schemas.microsoft.com/office/powerpoint/2010/main" val="3784150698"/>
      </p:ext>
    </p:extLst>
  </p:cSld>
  <p:clrMapOvr>
    <a:masterClrMapping/>
  </p:clrMapOvr>
</p:sld>
</file>

<file path=ppt/slides/slide7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lock / unlock table</a:t>
            </a:r>
          </a:p>
        </p:txBody>
      </p:sp>
    </p:spTree>
    <p:extLst>
      <p:ext uri="{BB962C8B-B14F-4D97-AF65-F5344CB8AC3E}">
        <p14:creationId xmlns:p14="http://schemas.microsoft.com/office/powerpoint/2010/main" val="2789843155"/>
      </p:ext>
    </p:extLst>
  </p:cSld>
  <p:clrMapOvr>
    <a:masterClrMapping/>
  </p:clrMapOvr>
</p:sld>
</file>

<file path=ppt/slides/slide7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lock / unlock</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enables client sessions to acquire table locks to prevent from modifying tables</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1371601"/>
            <a:ext cx="8991600" cy="646331"/>
          </a:xfrm>
          <a:prstGeom prst="rect">
            <a:avLst/>
          </a:prstGeom>
        </p:spPr>
        <p:txBody>
          <a:bodyPr wrap="square">
            <a:spAutoFit/>
          </a:bodyPr>
          <a:lstStyle/>
          <a:p>
            <a:r>
              <a:rPr lang="en-IN" dirty="0">
                <a:solidFill>
                  <a:srgbClr val="3F6971"/>
                </a:solidFill>
                <a:latin typeface="Arial" panose="020B0604020202020204" pitchFamily="34" charset="0"/>
                <a:cs typeface="Arial" panose="020B0604020202020204" pitchFamily="34" charset="0"/>
              </a:rPr>
              <a:t>Sessions holding a READ lock, DROP TABLE and TRUNCATE TABLE operations are not permitted.</a:t>
            </a:r>
          </a:p>
        </p:txBody>
      </p:sp>
      <p:sp>
        <p:nvSpPr>
          <p:cNvPr id="9" name="Rectangle 8"/>
          <p:cNvSpPr/>
          <p:nvPr/>
        </p:nvSpPr>
        <p:spPr>
          <a:xfrm>
            <a:off x="1632857" y="2133601"/>
            <a:ext cx="4572000" cy="2031325"/>
          </a:xfrm>
          <a:prstGeom prst="rect">
            <a:avLst/>
          </a:prstGeom>
          <a:solidFill>
            <a:schemeClr val="bg1"/>
          </a:solidFill>
        </p:spPr>
        <p:txBody>
          <a:bodyPr wrap="square">
            <a:spAutoFit/>
          </a:bodyPr>
          <a:lstStyle/>
          <a:p>
            <a:r>
              <a:rPr lang="en-IN" dirty="0">
                <a:solidFill>
                  <a:srgbClr val="0077AA"/>
                </a:solidFill>
                <a:latin typeface="Liberation Mono"/>
              </a:rPr>
              <a:t>LOCK TABLES tbl_name lock_type [, tbl_name] lock_type] ...</a:t>
            </a:r>
          </a:p>
          <a:p>
            <a:endParaRPr lang="en-IN" dirty="0">
              <a:solidFill>
                <a:srgbClr val="0077AA"/>
              </a:solidFill>
              <a:latin typeface="Liberation Mono"/>
            </a:endParaRPr>
          </a:p>
          <a:p>
            <a:r>
              <a:rPr lang="en-IN" dirty="0">
                <a:solidFill>
                  <a:srgbClr val="0077AA"/>
                </a:solidFill>
                <a:latin typeface="Liberation Mono"/>
              </a:rPr>
              <a:t>lock_type:</a:t>
            </a:r>
          </a:p>
          <a:p>
            <a:r>
              <a:rPr lang="en-IN" dirty="0">
                <a:solidFill>
                  <a:srgbClr val="0077AA"/>
                </a:solidFill>
                <a:latin typeface="Liberation Mono"/>
              </a:rPr>
              <a:t>    READ |WRITE</a:t>
            </a:r>
          </a:p>
          <a:p>
            <a:endParaRPr lang="en-IN" dirty="0">
              <a:solidFill>
                <a:srgbClr val="0077AA"/>
              </a:solidFill>
              <a:latin typeface="Liberation Mono"/>
            </a:endParaRPr>
          </a:p>
          <a:p>
            <a:r>
              <a:rPr lang="en-IN" dirty="0">
                <a:solidFill>
                  <a:srgbClr val="0077AA"/>
                </a:solidFill>
                <a:latin typeface="Liberation Mono"/>
              </a:rPr>
              <a:t>UNLOCK TABLES</a:t>
            </a:r>
          </a:p>
        </p:txBody>
      </p:sp>
      <p:sp>
        <p:nvSpPr>
          <p:cNvPr id="10" name="Rectangle 9"/>
          <p:cNvSpPr/>
          <p:nvPr/>
        </p:nvSpPr>
        <p:spPr>
          <a:xfrm>
            <a:off x="1632857" y="4687976"/>
            <a:ext cx="9144000"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READ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WRITE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UNLOCK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p>
        </p:txBody>
      </p:sp>
    </p:spTree>
    <p:extLst>
      <p:ext uri="{BB962C8B-B14F-4D97-AF65-F5344CB8AC3E}">
        <p14:creationId xmlns:p14="http://schemas.microsoft.com/office/powerpoint/2010/main" val="2903269922"/>
      </p:ext>
    </p:extLst>
  </p:cSld>
  <p:clrMapOvr>
    <a:masterClrMapping/>
  </p:clrMapOvr>
</p:sld>
</file>

<file path=ppt/slides/slide7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a:t>
            </a:r>
          </a:p>
        </p:txBody>
      </p:sp>
    </p:spTree>
    <p:extLst>
      <p:ext uri="{BB962C8B-B14F-4D97-AF65-F5344CB8AC3E}">
        <p14:creationId xmlns:p14="http://schemas.microsoft.com/office/powerpoint/2010/main" val="498136785"/>
      </p:ext>
    </p:extLst>
  </p:cSld>
  <p:clrMapOvr>
    <a:masterClrMapping/>
  </p:clrMapOvr>
  <p:transition/>
</p:sld>
</file>

<file path=ppt/slides/slide7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a:t>
            </a:r>
            <a:endParaRPr lang="en-IN" sz="3200" i="1" dirty="0">
              <a:solidFill>
                <a:srgbClr val="FF9900"/>
              </a:solidFill>
              <a:latin typeface="Arial" pitchFamily="34" charset="0"/>
              <a:cs typeface="Arial" pitchFamily="34" charset="0"/>
            </a:endParaRPr>
          </a:p>
        </p:txBody>
      </p:sp>
      <p:sp>
        <p:nvSpPr>
          <p:cNvPr id="6" name="Rectangle 5"/>
          <p:cNvSpPr/>
          <p:nvPr/>
        </p:nvSpPr>
        <p:spPr>
          <a:xfrm>
            <a:off x="372215" y="1043444"/>
            <a:ext cx="11429793"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8" name="Rectangle 7"/>
          <p:cNvSpPr/>
          <p:nvPr/>
        </p:nvSpPr>
        <p:spPr>
          <a:xfrm>
            <a:off x="191344" y="3582595"/>
            <a:ext cx="11809312" cy="144655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Selects column values and stores them into variables.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a single row to a file without any formatting.</a:t>
            </a:r>
            <a:endParaRPr lang="en-IN" b="1" i="1" dirty="0">
              <a:latin typeface="Arial" panose="020B0604020202020204" pitchFamily="34" charset="0"/>
              <a:cs typeface="Arial" panose="020B0604020202020204" pitchFamily="34" charset="0"/>
            </a:endParaRPr>
          </a:p>
        </p:txBody>
      </p:sp>
      <p:sp>
        <p:nvSpPr>
          <p:cNvPr id="9" name="Rectangle 8"/>
          <p:cNvSpPr/>
          <p:nvPr/>
        </p:nvSpPr>
        <p:spPr>
          <a:xfrm>
            <a:off x="469229" y="1735648"/>
            <a:ext cx="11236068" cy="1261884"/>
          </a:xfrm>
          <a:prstGeom prst="rect">
            <a:avLst/>
          </a:prstGeom>
        </p:spPr>
        <p:txBody>
          <a:bodyPr wrap="square">
            <a:spAutoFit/>
          </a:bodyPr>
          <a:lstStyle/>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i="1" dirty="0">
                <a:latin typeface="Liberation Mono"/>
              </a:rPr>
              <a:t>var_list</a:t>
            </a:r>
          </a:p>
          <a:p>
            <a:endParaRPr lang="en-IN" sz="800" dirty="0">
              <a:solidFill>
                <a:srgbClr val="298AE5"/>
              </a:solidFill>
              <a:latin typeface="Liberation Mono"/>
              <a:cs typeface="Arial" panose="020B0604020202020204" pitchFamily="34" charset="0"/>
            </a:endParaRPr>
          </a:p>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dirty="0">
                <a:solidFill>
                  <a:schemeClr val="tx1">
                    <a:lumMod val="75000"/>
                    <a:lumOff val="25000"/>
                  </a:schemeClr>
                </a:solidFill>
                <a:latin typeface="Liberation Mono"/>
              </a:rPr>
              <a:t>OUTFILE</a:t>
            </a:r>
          </a:p>
          <a:p>
            <a:endParaRPr lang="en-IN" sz="800" dirty="0">
              <a:solidFill>
                <a:srgbClr val="298AE5"/>
              </a:solidFill>
              <a:latin typeface="Liberation Mono"/>
              <a:cs typeface="Arial" panose="020B0604020202020204" pitchFamily="34" charset="0"/>
            </a:endParaRPr>
          </a:p>
          <a:p>
            <a:r>
              <a:rPr lang="en-US" sz="2000" dirty="0">
                <a:solidFill>
                  <a:srgbClr val="0077AA"/>
                </a:solidFill>
                <a:latin typeface="Liberation Mono"/>
              </a:rPr>
              <a:t>SELECT</a:t>
            </a:r>
            <a:r>
              <a:rPr lang="en-US" sz="2000" dirty="0">
                <a:solidFill>
                  <a:srgbClr val="298AE5"/>
                </a:solidFill>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rPr>
              <a:t>INTO</a:t>
            </a:r>
            <a:r>
              <a:rPr lang="en-US" sz="2000" dirty="0">
                <a:solidFill>
                  <a:srgbClr val="298AE5"/>
                </a:solidFill>
                <a:latin typeface="Liberation Mono"/>
                <a:cs typeface="Arial" panose="020B0604020202020204" pitchFamily="34" charset="0"/>
              </a:rPr>
              <a:t> </a:t>
            </a:r>
            <a:r>
              <a:rPr lang="en-US" sz="2000" dirty="0">
                <a:solidFill>
                  <a:schemeClr val="tx1">
                    <a:lumMod val="75000"/>
                    <a:lumOff val="25000"/>
                  </a:schemeClr>
                </a:solidFill>
                <a:latin typeface="Liberation Mono"/>
              </a:rPr>
              <a:t>DUMPFILE</a:t>
            </a:r>
          </a:p>
        </p:txBody>
      </p:sp>
      <p:sp>
        <p:nvSpPr>
          <p:cNvPr id="7" name="Rectangle 6">
            <a:extLst>
              <a:ext uri="{FF2B5EF4-FFF2-40B4-BE49-F238E27FC236}">
                <a16:creationId xmlns:a16="http://schemas.microsoft.com/office/drawing/2014/main" id="{85BA5BD7-A5C5-4D39-A2DD-E5D9A7198AD4}"/>
              </a:ext>
            </a:extLst>
          </p:cNvPr>
          <p:cNvSpPr/>
          <p:nvPr/>
        </p:nvSpPr>
        <p:spPr>
          <a:xfrm>
            <a:off x="372215" y="191870"/>
            <a:ext cx="7414041" cy="64633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solidFill>
                  <a:schemeClr val="accent6">
                    <a:lumMod val="50000"/>
                  </a:schemeClr>
                </a:solidFill>
                <a:latin typeface="Arial" panose="020B0604020202020204" pitchFamily="34" charset="0"/>
                <a:cs typeface="Arial" panose="020B0604020202020204" pitchFamily="34" charset="0"/>
              </a:rPr>
              <a:t>An INTO clause should not be used in a nested SELECT because such a SELECT must return its result to the outer context.</a:t>
            </a:r>
          </a:p>
        </p:txBody>
      </p:sp>
    </p:spTree>
    <p:extLst>
      <p:ext uri="{BB962C8B-B14F-4D97-AF65-F5344CB8AC3E}">
        <p14:creationId xmlns:p14="http://schemas.microsoft.com/office/powerpoint/2010/main" val="1666135630"/>
      </p:ext>
    </p:extLst>
  </p:cSld>
  <p:clrMapOvr>
    <a:masterClrMapping/>
  </p:clrMapOvr>
  <p:transition/>
</p:sld>
</file>

<file path=ppt/slides/slide7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var_list</a:t>
            </a:r>
          </a:p>
        </p:txBody>
      </p:sp>
    </p:spTree>
    <p:extLst>
      <p:ext uri="{BB962C8B-B14F-4D97-AF65-F5344CB8AC3E}">
        <p14:creationId xmlns:p14="http://schemas.microsoft.com/office/powerpoint/2010/main" val="2483309414"/>
      </p:ext>
    </p:extLst>
  </p:cSld>
  <p:clrMapOvr>
    <a:masterClrMapping/>
  </p:clrMapOvr>
  <p:transition/>
</p:sld>
</file>

<file path=ppt/slides/slide7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5787" y="838201"/>
            <a:ext cx="11426925"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1384" y="1598474"/>
            <a:ext cx="1123324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551384" y="2081749"/>
            <a:ext cx="11233248" cy="341632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selected values are assigned to the variables.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number of variables must match the number of columns.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query should return a single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no rows, a warning with error code 1329 occurs (No data), and the variable values remain unchanged.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multiple rows, error 1172 occurs (Result consisted of more than one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statement may retrieve multiple rows, you can use LIMIT 1 to limit the result set to a single row.</a:t>
            </a:r>
          </a:p>
        </p:txBody>
      </p:sp>
    </p:spTree>
    <p:extLst>
      <p:ext uri="{BB962C8B-B14F-4D97-AF65-F5344CB8AC3E}">
        <p14:creationId xmlns:p14="http://schemas.microsoft.com/office/powerpoint/2010/main" val="1195651254"/>
      </p:ext>
    </p:extLst>
  </p:cSld>
  <p:clrMapOvr>
    <a:masterClrMapping/>
  </p:clrMapOvr>
  <p:transition/>
</p:sld>
</file>

<file path=ppt/slides/slide7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7200" y="838201"/>
            <a:ext cx="11060677"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0800" y="1598474"/>
            <a:ext cx="1087320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479376" y="2189526"/>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
        <p:nvSpPr>
          <p:cNvPr id="7" name="Rectangle 6"/>
          <p:cNvSpPr/>
          <p:nvPr/>
        </p:nvSpPr>
        <p:spPr>
          <a:xfrm>
            <a:off x="550800" y="3359314"/>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DD4A68"/>
                </a:solidFill>
                <a:latin typeface="Liberation Mono"/>
              </a:rPr>
              <a:t>MIN</a:t>
            </a:r>
            <a:r>
              <a:rPr lang="en-IN" dirty="0">
                <a:latin typeface="Liberation Mono"/>
                <a:cs typeface="Arial" panose="020B0604020202020204" pitchFamily="34" charset="0"/>
              </a:rPr>
              <a:t>(sal)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586734371"/>
      </p:ext>
    </p:extLst>
  </p:cSld>
  <p:clrMapOvr>
    <a:masterClrMapping/>
  </p:clrMapOvr>
  <p:transition/>
</p:sld>
</file>

<file path=ppt/slides/slide7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outfile</a:t>
            </a:r>
          </a:p>
        </p:txBody>
      </p:sp>
      <p:sp>
        <p:nvSpPr>
          <p:cNvPr id="3" name="Rectangle 2"/>
          <p:cNvSpPr/>
          <p:nvPr/>
        </p:nvSpPr>
        <p:spPr>
          <a:xfrm>
            <a:off x="191344" y="4091884"/>
            <a:ext cx="5736250" cy="1200329"/>
          </a:xfrm>
          <a:prstGeom prst="rect">
            <a:avLst/>
          </a:prstGeom>
        </p:spPr>
        <p:txBody>
          <a:bodyPr wrap="none">
            <a:spAutoFit/>
          </a:bodyPr>
          <a:lstStyle/>
          <a:p>
            <a:r>
              <a:rPr lang="en-US" sz="2400" dirty="0">
                <a:solidFill>
                  <a:schemeClr val="tx1">
                    <a:lumMod val="85000"/>
                    <a:lumOff val="15000"/>
                  </a:schemeClr>
                </a:solidFill>
                <a:latin typeface="Liberation Mono"/>
              </a:rPr>
              <a:t>If not working then do changes in </a:t>
            </a:r>
            <a:r>
              <a:rPr lang="en-US" sz="2400" b="1" i="1" dirty="0">
                <a:solidFill>
                  <a:schemeClr val="accent5">
                    <a:lumMod val="75000"/>
                  </a:schemeClr>
                </a:solidFill>
                <a:latin typeface="Liberation Mono"/>
              </a:rPr>
              <a:t>my.ini</a:t>
            </a:r>
            <a:r>
              <a:rPr lang="en-US" sz="2400" b="1" dirty="0">
                <a:solidFill>
                  <a:srgbClr val="00B0F0"/>
                </a:solidFill>
                <a:latin typeface="Liberation Mono"/>
              </a:rPr>
              <a:t> </a:t>
            </a:r>
            <a:r>
              <a:rPr lang="en-US" sz="2400" dirty="0">
                <a:solidFill>
                  <a:schemeClr val="tx1">
                    <a:lumMod val="85000"/>
                    <a:lumOff val="15000"/>
                  </a:schemeClr>
                </a:solidFill>
                <a:latin typeface="Liberation Mono"/>
              </a:rPr>
              <a:t>file.</a:t>
            </a:r>
          </a:p>
          <a:p>
            <a:endParaRPr lang="en-US" sz="800" dirty="0">
              <a:solidFill>
                <a:srgbClr val="00B0F0"/>
              </a:solidFill>
              <a:latin typeface="Liberation Mono"/>
            </a:endParaRPr>
          </a:p>
          <a:p>
            <a:r>
              <a:rPr lang="en-US" sz="2000" dirty="0">
                <a:solidFill>
                  <a:srgbClr val="669900"/>
                </a:solidFill>
                <a:latin typeface="Liberation Mono"/>
              </a:rPr>
              <a:t>secure_file_priv </a:t>
            </a:r>
            <a:r>
              <a:rPr lang="en-US" sz="2000" dirty="0">
                <a:solidFill>
                  <a:srgbClr val="A67F59"/>
                </a:solidFill>
                <a:latin typeface="Liberation Mono"/>
              </a:rPr>
              <a:t>=</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cs typeface="Arial" panose="020B0604020202020204" pitchFamily="34" charset="0"/>
              </a:rPr>
              <a:t>""</a:t>
            </a:r>
          </a:p>
          <a:p>
            <a:r>
              <a:rPr lang="en-US" sz="2000" dirty="0">
                <a:solidFill>
                  <a:srgbClr val="0077AA"/>
                </a:solidFill>
                <a:latin typeface="Liberation Mono"/>
              </a:rPr>
              <a:t>SHOW</a:t>
            </a:r>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VARIABLES</a:t>
            </a:r>
            <a:r>
              <a:rPr lang="en-US" sz="2000" dirty="0">
                <a:solidFill>
                  <a:srgbClr val="298AE5"/>
                </a:solidFill>
                <a:latin typeface="Liberation Mono"/>
                <a:cs typeface="Arial" panose="020B0604020202020204" pitchFamily="34" charset="0"/>
              </a:rPr>
              <a:t> </a:t>
            </a:r>
            <a:r>
              <a:rPr lang="en-US" sz="2000" dirty="0">
                <a:solidFill>
                  <a:srgbClr val="A67F59"/>
                </a:solidFill>
                <a:latin typeface="Liberation Mono"/>
              </a:rPr>
              <a:t>LIKE</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rPr>
              <a:t>"</a:t>
            </a:r>
            <a:r>
              <a:rPr lang="en-US" sz="2000" dirty="0">
                <a:solidFill>
                  <a:srgbClr val="669900"/>
                </a:solidFill>
                <a:latin typeface="Liberation Mono"/>
              </a:rPr>
              <a:t>secure_file_priv</a:t>
            </a:r>
            <a:r>
              <a:rPr lang="en-US" sz="2000" dirty="0">
                <a:solidFill>
                  <a:schemeClr val="tx1">
                    <a:lumMod val="85000"/>
                    <a:lumOff val="15000"/>
                  </a:schemeClr>
                </a:solidFill>
                <a:latin typeface="Liberation Mono"/>
              </a:rPr>
              <a:t>"</a:t>
            </a:r>
            <a:r>
              <a:rPr lang="en-US" sz="2000" dirty="0">
                <a:solidFill>
                  <a:schemeClr val="tx1">
                    <a:lumMod val="85000"/>
                    <a:lumOff val="15000"/>
                  </a:schemeClr>
                </a:solidFill>
                <a:latin typeface="Liberation Mono"/>
                <a:cs typeface="Arial" panose="020B0604020202020204" pitchFamily="34" charset="0"/>
              </a:rPr>
              <a:t>;</a:t>
            </a:r>
          </a:p>
        </p:txBody>
      </p:sp>
      <p:sp>
        <p:nvSpPr>
          <p:cNvPr id="5" name="Rectangle 2">
            <a:extLst>
              <a:ext uri="{FF2B5EF4-FFF2-40B4-BE49-F238E27FC236}">
                <a16:creationId xmlns:a16="http://schemas.microsoft.com/office/drawing/2014/main" id="{6C72BE06-4B41-4A7E-9B19-71E8B41235C4}"/>
              </a:ext>
            </a:extLst>
          </p:cNvPr>
          <p:cNvSpPr>
            <a:spLocks noChangeArrowheads="1"/>
          </p:cNvSpPr>
          <p:nvPr/>
        </p:nvSpPr>
        <p:spPr bwMode="auto">
          <a:xfrm>
            <a:off x="191344" y="-21408"/>
            <a:ext cx="11665296" cy="1938992"/>
          </a:xfrm>
          <a:prstGeom prst="rect">
            <a:avLst/>
          </a:prstGeom>
          <a:solidFill>
            <a:srgbClr val="F8F8F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variable_name        | value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secure_file_priv      | C:/ProgramData/MySQL/MySQL Server 8.0/Uploads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In this example, I can only read files from the /</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Uploads</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directory.</a:t>
            </a:r>
          </a:p>
        </p:txBody>
      </p:sp>
    </p:spTree>
    <p:extLst>
      <p:ext uri="{BB962C8B-B14F-4D97-AF65-F5344CB8AC3E}">
        <p14:creationId xmlns:p14="http://schemas.microsoft.com/office/powerpoint/2010/main" val="3874618867"/>
      </p:ext>
    </p:extLst>
  </p:cSld>
  <p:clrMapOvr>
    <a:masterClrMapping/>
  </p:clrMapOvr>
  <p:transition/>
</p:sld>
</file>

<file path=ppt/slides/slide7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outfile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236039" y="838201"/>
            <a:ext cx="1157342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p:txBody>
      </p:sp>
      <p:sp>
        <p:nvSpPr>
          <p:cNvPr id="9" name="Rectangle 8"/>
          <p:cNvSpPr/>
          <p:nvPr/>
        </p:nvSpPr>
        <p:spPr>
          <a:xfrm>
            <a:off x="335360" y="1598474"/>
            <a:ext cx="11377264"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OUTFILE</a:t>
            </a:r>
          </a:p>
        </p:txBody>
      </p:sp>
      <p:sp>
        <p:nvSpPr>
          <p:cNvPr id="7" name="Rectangle 6"/>
          <p:cNvSpPr/>
          <p:nvPr/>
        </p:nvSpPr>
        <p:spPr>
          <a:xfrm>
            <a:off x="236039" y="2149113"/>
            <a:ext cx="11791929" cy="304698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OPTIONALLY</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ENCLOSED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E4516F8F-7E06-45C7-8C67-FA8D6D291539}"/>
              </a:ext>
            </a:extLst>
          </p:cNvPr>
          <p:cNvSpPr/>
          <p:nvPr/>
        </p:nvSpPr>
        <p:spPr>
          <a:xfrm>
            <a:off x="335360" y="5539879"/>
            <a:ext cx="6096000" cy="769441"/>
          </a:xfrm>
          <a:prstGeom prst="rect">
            <a:avLst/>
          </a:prstGeom>
        </p:spPr>
        <p:txBody>
          <a:bodyPr>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cxnSp>
        <p:nvCxnSpPr>
          <p:cNvPr id="10" name="Straight Connector 9">
            <a:extLst>
              <a:ext uri="{FF2B5EF4-FFF2-40B4-BE49-F238E27FC236}">
                <a16:creationId xmlns:a16="http://schemas.microsoft.com/office/drawing/2014/main" id="{7C07C240-DB4B-4C4A-94E4-0C844282E7D1}"/>
              </a:ext>
            </a:extLst>
          </p:cNvPr>
          <p:cNvCxnSpPr/>
          <p:nvPr/>
        </p:nvCxnSpPr>
        <p:spPr>
          <a:xfrm>
            <a:off x="236039" y="5395863"/>
            <a:ext cx="11692609" cy="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2574476"/>
      </p:ext>
    </p:extLst>
  </p:cSld>
  <p:clrMapOvr>
    <a:masterClrMapping/>
  </p:clrMapOvr>
  <p:transition/>
</p:sld>
</file>

<file path=ppt/slides/slide7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dumpfile</a:t>
            </a:r>
          </a:p>
        </p:txBody>
      </p:sp>
    </p:spTree>
    <p:extLst>
      <p:ext uri="{BB962C8B-B14F-4D97-AF65-F5344CB8AC3E}">
        <p14:creationId xmlns:p14="http://schemas.microsoft.com/office/powerpoint/2010/main" val="3113369704"/>
      </p:ext>
    </p:extLst>
  </p:cSld>
  <p:clrMapOvr>
    <a:masterClrMapping/>
  </p:clrMapOvr>
  <p:transition/>
</p:sld>
</file>

<file path=ppt/slides/slide7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dumpfile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382537" y="838200"/>
            <a:ext cx="11353675"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use INTO DUMPFILE instead of INTO OUTFILE, MySQL writes only one row into the file, without any column or line termination and without performing any escape processing. This is useful if you want to store a BLOB value in a file.</a:t>
            </a:r>
          </a:p>
        </p:txBody>
      </p:sp>
      <p:sp>
        <p:nvSpPr>
          <p:cNvPr id="9" name="Rectangle 8"/>
          <p:cNvSpPr/>
          <p:nvPr/>
        </p:nvSpPr>
        <p:spPr>
          <a:xfrm>
            <a:off x="479376" y="1916668"/>
            <a:ext cx="11161240" cy="400110"/>
          </a:xfrm>
          <a:prstGeom prst="rect">
            <a:avLst/>
          </a:prstGeom>
        </p:spPr>
        <p:txBody>
          <a:bodyPr wrap="square">
            <a:spAutoFit/>
          </a:bodyPr>
          <a:lstStyle/>
          <a:p>
            <a:r>
              <a:rPr lang="en-US" sz="2000" dirty="0">
                <a:solidFill>
                  <a:srgbClr val="0077AA"/>
                </a:solidFill>
                <a:latin typeface="Liberation Mono"/>
              </a:rPr>
              <a:t>SELECT </a:t>
            </a:r>
            <a:r>
              <a:rPr lang="en-US" sz="2000" dirty="0">
                <a:solidFill>
                  <a:schemeClr val="bg1">
                    <a:lumMod val="50000"/>
                  </a:schemeClr>
                </a:solidFill>
                <a:latin typeface="Liberation Mono"/>
              </a:rPr>
              <a:t>. . .</a:t>
            </a:r>
            <a:r>
              <a:rPr lang="en-US" sz="2000" dirty="0">
                <a:solidFill>
                  <a:srgbClr val="0077AA"/>
                </a:solidFill>
                <a:latin typeface="Liberation Mono"/>
              </a:rPr>
              <a:t> INTO </a:t>
            </a:r>
            <a:r>
              <a:rPr lang="en-US" sz="2000" dirty="0">
                <a:solidFill>
                  <a:schemeClr val="tx1">
                    <a:lumMod val="75000"/>
                    <a:lumOff val="25000"/>
                  </a:schemeClr>
                </a:solidFill>
                <a:latin typeface="Liberation Mono"/>
              </a:rPr>
              <a:t>DUMPFILE</a:t>
            </a:r>
            <a:endParaRPr lang="en-IN" sz="2000" dirty="0">
              <a:solidFill>
                <a:schemeClr val="tx1">
                  <a:lumMod val="75000"/>
                  <a:lumOff val="25000"/>
                </a:schemeClr>
              </a:solidFill>
              <a:latin typeface="Liberation Mono"/>
            </a:endParaRPr>
          </a:p>
        </p:txBody>
      </p:sp>
      <p:sp>
        <p:nvSpPr>
          <p:cNvPr id="7" name="Rectangle 6"/>
          <p:cNvSpPr/>
          <p:nvPr/>
        </p:nvSpPr>
        <p:spPr>
          <a:xfrm>
            <a:off x="479376" y="2492514"/>
            <a:ext cx="11161240" cy="369332"/>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7788</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DUMPFILE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764902352"/>
      </p:ext>
    </p:extLst>
  </p:cSld>
  <p:clrMapOvr>
    <a:masterClrMapping/>
  </p:clrMapOvr>
  <p:transition/>
</p:sld>
</file>

<file path=ppt/slides/slide7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09D454D-9222-45A6-9F64-58FED461D323}"/>
              </a:ext>
            </a:extLst>
          </p:cNvPr>
          <p:cNvSpPr txBox="1">
            <a:spLocks/>
          </p:cNvSpPr>
          <p:nvPr/>
        </p:nvSpPr>
        <p:spPr>
          <a:xfrm>
            <a:off x="1676400" y="4653136"/>
            <a:ext cx="8839200" cy="685800"/>
          </a:xfrm>
          <a:prstGeom prst="rect">
            <a:avLst/>
          </a:prstGeom>
        </p:spPr>
        <p:txBody>
          <a:bodyP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4800" dirty="0">
                <a:solidFill>
                  <a:srgbClr val="DC525C"/>
                </a:solidFill>
                <a:latin typeface="Segoe UI Light" panose="020B0502040204020203" pitchFamily="34" charset="0"/>
                <a:cs typeface="Segoe UI Light" panose="020B0502040204020203" pitchFamily="34" charset="0"/>
              </a:rPr>
              <a:t>snapshots</a:t>
            </a:r>
          </a:p>
        </p:txBody>
      </p:sp>
      <p:sp>
        <p:nvSpPr>
          <p:cNvPr id="9" name="Rectangle 8">
            <a:extLst>
              <a:ext uri="{FF2B5EF4-FFF2-40B4-BE49-F238E27FC236}">
                <a16:creationId xmlns:a16="http://schemas.microsoft.com/office/drawing/2014/main" id="{2E523377-0A94-4852-8E2D-AC796C0D79C8}"/>
              </a:ext>
            </a:extLst>
          </p:cNvPr>
          <p:cNvSpPr/>
          <p:nvPr/>
        </p:nvSpPr>
        <p:spPr>
          <a:xfrm>
            <a:off x="191344" y="156119"/>
            <a:ext cx="11809312" cy="4278094"/>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latin typeface="Liberation Mono"/>
                <a:cs typeface="Arial" panose="020B0604020202020204" pitchFamily="34" charset="0"/>
              </a:rPr>
              <a:t>mysqldump -uroot -p db1 </a:t>
            </a:r>
            <a:r>
              <a:rPr lang="en-US" sz="2000" dirty="0">
                <a:solidFill>
                  <a:srgbClr val="2658E6"/>
                </a:solidFill>
                <a:latin typeface="Liberation Mono"/>
                <a:cs typeface="Arial" panose="020B0604020202020204" pitchFamily="34" charset="0"/>
              </a:rPr>
              <a:t>&gt;&gt;</a:t>
            </a:r>
            <a:r>
              <a:rPr lang="en-US" sz="2000" dirty="0">
                <a:latin typeface="Liberation Mono"/>
                <a:cs typeface="Arial" panose="020B0604020202020204" pitchFamily="34" charset="0"/>
              </a:rPr>
              <a:t> d:\bk.sql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-u[username] -p[password] --all-databases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="deptno=10"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="job='manager'"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a:t>
            </a:r>
            <a:r>
              <a:rPr lang="en-US" sz="2000" dirty="0">
                <a:solidFill>
                  <a:srgbClr val="2658E6"/>
                </a:solidFill>
                <a:latin typeface="Liberation Mono"/>
                <a:cs typeface="Arial" panose="020B0604020202020204" pitchFamily="34" charset="0"/>
              </a:rPr>
              <a:t>--column-statistics=0  </a:t>
            </a:r>
            <a:r>
              <a:rPr lang="en-US" sz="2000" dirty="0">
                <a:latin typeface="Liberation Mono"/>
                <a:cs typeface="Arial" panose="020B0604020202020204" pitchFamily="34" charset="0"/>
              </a:rPr>
              <a:t>-P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db_name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db2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 db2</a:t>
            </a:r>
          </a:p>
        </p:txBody>
      </p:sp>
      <p:cxnSp>
        <p:nvCxnSpPr>
          <p:cNvPr id="10" name="Straight Connector 9">
            <a:extLst>
              <a:ext uri="{FF2B5EF4-FFF2-40B4-BE49-F238E27FC236}">
                <a16:creationId xmlns:a16="http://schemas.microsoft.com/office/drawing/2014/main" id="{74E99FB4-69D0-4CFD-808E-9A16AEEB36E6}"/>
              </a:ext>
            </a:extLst>
          </p:cNvPr>
          <p:cNvCxnSpPr/>
          <p:nvPr/>
        </p:nvCxnSpPr>
        <p:spPr>
          <a:xfrm>
            <a:off x="191344" y="4581128"/>
            <a:ext cx="11665296" cy="0"/>
          </a:xfrm>
          <a:prstGeom prst="line">
            <a:avLst/>
          </a:prstGeom>
          <a:ln w="19050">
            <a:solidFill>
              <a:srgbClr val="FE1212"/>
            </a:solidFill>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2D2DD4DD-4EFA-603B-80FE-1F5A6BA0C4A4}"/>
              </a:ext>
            </a:extLst>
          </p:cNvPr>
          <p:cNvSpPr/>
          <p:nvPr/>
        </p:nvSpPr>
        <p:spPr>
          <a:xfrm>
            <a:off x="335360" y="5509681"/>
            <a:ext cx="11521280" cy="1015663"/>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dirty="0">
                <a:latin typeface="Palatino Linotype" panose="02040502050505030304" pitchFamily="18" charset="0"/>
              </a:rPr>
              <a:t>In MySQL, a "snapshot" refers to a point-in-time copy of a database or a dataset within it. This copy captures the state of the data at a specific moment, preserving it for various purposes, primarily related to backup and recovery.</a:t>
            </a:r>
          </a:p>
        </p:txBody>
      </p:sp>
    </p:spTree>
    <p:extLst>
      <p:ext uri="{BB962C8B-B14F-4D97-AF65-F5344CB8AC3E}">
        <p14:creationId xmlns:p14="http://schemas.microsoft.com/office/powerpoint/2010/main" val="1566008335"/>
      </p:ext>
    </p:extLst>
  </p:cSld>
  <p:clrMapOvr>
    <a:masterClrMapping/>
  </p:clrMapOvr>
</p:sld>
</file>

<file path=ppt/slides/slide7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.csv / .tsv file</a:t>
            </a:r>
          </a:p>
        </p:txBody>
      </p:sp>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countries </a:t>
            </a:r>
            <a:r>
              <a:rPr lang="en-IN" dirty="0">
                <a:solidFill>
                  <a:schemeClr val="bg1">
                    <a:lumMod val="65000"/>
                  </a:schemeClr>
                </a:solidFill>
                <a:latin typeface="Liberation Mono"/>
                <a:cs typeface="Arial" panose="020B0604020202020204" pitchFamily="34" charset="0"/>
              </a:rPr>
              <a:t>(</a:t>
            </a:r>
          </a:p>
          <a:p>
            <a:r>
              <a:rPr lang="en-IN" dirty="0">
                <a:latin typeface="Liberation Mono"/>
              </a:rPr>
              <a:t>CountryName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CapitalLatitude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CapitalLongitude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CountryCode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ContinentName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remark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447928" y="4437112"/>
            <a:ext cx="6469682" cy="1323439"/>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countries</a:t>
            </a:r>
          </a:p>
          <a:p>
            <a:r>
              <a:rPr lang="en-IN" sz="2000" dirty="0">
                <a:solidFill>
                  <a:srgbClr val="0077AA"/>
                </a:solidFill>
                <a:latin typeface="Liberation Mono"/>
                <a:cs typeface="Arial" panose="020B0604020202020204" pitchFamily="34" charset="0"/>
              </a:rPr>
              <a:t>FIELDS TERMINATED BY ','  </a:t>
            </a:r>
            <a:r>
              <a:rPr lang="en-IN" sz="2000" dirty="0">
                <a:solidFill>
                  <a:srgbClr val="FF0000"/>
                </a:solidFill>
                <a:latin typeface="Liberation Mono"/>
                <a:cs typeface="Arial" panose="020B0604020202020204" pitchFamily="34" charset="0"/>
              </a:rPr>
              <a:t>or</a:t>
            </a:r>
            <a:r>
              <a:rPr lang="en-IN" sz="2000" dirty="0">
                <a:solidFill>
                  <a:srgbClr val="0077AA"/>
                </a:solidFill>
                <a:latin typeface="Liberation Mono"/>
                <a:cs typeface="Arial" panose="020B0604020202020204" pitchFamily="34" charset="0"/>
              </a:rPr>
              <a:t> FIELDS TERMINATED BY '\t'</a:t>
            </a:r>
          </a:p>
          <a:p>
            <a:r>
              <a:rPr lang="en-IN" sz="2000" dirty="0">
                <a:solidFill>
                  <a:srgbClr val="0077AA"/>
                </a:solidFill>
                <a:latin typeface="Liberation Mono"/>
                <a:cs typeface="Arial" panose="020B0604020202020204" pitchFamily="34" charset="0"/>
              </a:rPr>
              <a:t>LINES TERMINATED BY '\n' </a:t>
            </a:r>
          </a:p>
          <a:p>
            <a:r>
              <a:rPr lang="en-IN" sz="2000" dirty="0">
                <a:solidFill>
                  <a:srgbClr val="0077AA"/>
                </a:solidFill>
                <a:latin typeface="Liberation Mono"/>
                <a:cs typeface="Arial" panose="020B0604020202020204" pitchFamily="34" charset="0"/>
              </a:rPr>
              <a:t>IGNORE 1 ROWS;</a:t>
            </a:r>
          </a:p>
        </p:txBody>
      </p:sp>
      <p:sp>
        <p:nvSpPr>
          <p:cNvPr id="8" name="TextBox 7">
            <a:extLst>
              <a:ext uri="{FF2B5EF4-FFF2-40B4-BE49-F238E27FC236}">
                <a16:creationId xmlns:a16="http://schemas.microsoft.com/office/drawing/2014/main" id="{85250B21-3EA6-4B1D-8757-EFD86FD3C7E0}"/>
              </a:ext>
            </a:extLst>
          </p:cNvPr>
          <p:cNvSpPr txBox="1"/>
          <p:nvPr/>
        </p:nvSpPr>
        <p:spPr>
          <a:xfrm>
            <a:off x="202382" y="116632"/>
            <a:ext cx="11870282" cy="2893100"/>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CountryName,CapitalName,CapitalLatitude,CapitalLongitude,CountryCode,ContinentName,remark</a:t>
            </a:r>
          </a:p>
          <a:p>
            <a:r>
              <a:rPr lang="en-IN" dirty="0">
                <a:latin typeface="Liberation Mono"/>
              </a:rPr>
              <a:t>Somaliland,Hargeisa,9.55,44.05,NULL,Africa,</a:t>
            </a:r>
          </a:p>
          <a:p>
            <a:r>
              <a:rPr lang="en-IN" dirty="0">
                <a:latin typeface="Liberation Mono"/>
              </a:rPr>
              <a:t>South Georgia and South Sandwich Islands,King Edward Point,-54.283333,-36.5,GS,Antarctica,</a:t>
            </a:r>
          </a:p>
          <a:p>
            <a:r>
              <a:rPr lang="en-IN" dirty="0">
                <a:latin typeface="Liberation Mono"/>
              </a:rPr>
              <a:t>French Southern and Antarctic Lands,Port-aux-Français,-49.35,70.216667,TF,Antarctica,</a:t>
            </a:r>
          </a:p>
          <a:p>
            <a:r>
              <a:rPr lang="en-IN" dirty="0">
                <a:latin typeface="Liberation Mono"/>
              </a:rPr>
              <a:t>Palestine,Jerusalem,31.76666667,35.233333,PS,Asia,</a:t>
            </a:r>
          </a:p>
          <a:p>
            <a:r>
              <a:rPr lang="en-IN" dirty="0">
                <a:latin typeface="Liberation Mono"/>
              </a:rPr>
              <a:t>Aland Islands,Mariehamn,60.116667,19.9,AX,Europe,</a:t>
            </a:r>
          </a:p>
          <a:p>
            <a:r>
              <a:rPr lang="en-IN" dirty="0">
                <a:latin typeface="Liberation Mono"/>
              </a:rPr>
              <a:t>Nauru,Yaren,-0.5477,166.920867,NR,Australia,</a:t>
            </a:r>
          </a:p>
          <a:p>
            <a:r>
              <a:rPr lang="en-IN" dirty="0">
                <a:latin typeface="Liberation Mono"/>
              </a:rPr>
              <a:t>Saint Martin,Marigot,18.0731,-63.0822,MF,North America,</a:t>
            </a:r>
          </a:p>
          <a:p>
            <a:r>
              <a:rPr lang="en-IN" dirty="0">
                <a:latin typeface="Liberation Mono"/>
              </a:rPr>
              <a:t>Tokelau,Atafu,-9.166667,-171.833333,TK,Australia,</a:t>
            </a:r>
          </a:p>
          <a:p>
            <a:r>
              <a:rPr lang="en-IN" dirty="0">
                <a:latin typeface="Liberation Mono"/>
              </a:rPr>
              <a:t>Western Sahara,El-Aaiún,27.153611,-13.203333,EH,Africa,</a:t>
            </a:r>
          </a:p>
        </p:txBody>
      </p:sp>
      <p:sp>
        <p:nvSpPr>
          <p:cNvPr id="7" name="TextBox 6">
            <a:extLst>
              <a:ext uri="{FF2B5EF4-FFF2-40B4-BE49-F238E27FC236}">
                <a16:creationId xmlns:a16="http://schemas.microsoft.com/office/drawing/2014/main" id="{DC96FF26-69F5-4429-93E7-4906E6EA1048}"/>
              </a:ext>
            </a:extLst>
          </p:cNvPr>
          <p:cNvSpPr txBox="1"/>
          <p:nvPr/>
        </p:nvSpPr>
        <p:spPr>
          <a:xfrm>
            <a:off x="4871864" y="6038541"/>
            <a:ext cx="7045746" cy="646331"/>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922934599"/>
      </p:ext>
    </p:extLst>
  </p:cSld>
  <p:clrMapOvr>
    <a:masterClrMapping/>
  </p:clrMapOvr>
</p:sld>
</file>

<file path=ppt/slides/slide7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module </a:t>
            </a:r>
            <a:r>
              <a:rPr lang="en-IN" dirty="0">
                <a:solidFill>
                  <a:schemeClr val="bg1">
                    <a:lumMod val="65000"/>
                  </a:schemeClr>
                </a:solidFill>
                <a:latin typeface="Liberation Mono"/>
                <a:cs typeface="Arial" panose="020B0604020202020204" pitchFamily="34" charset="0"/>
              </a:rPr>
              <a:t>(</a:t>
            </a:r>
          </a:p>
          <a:p>
            <a:r>
              <a:rPr lang="en-IN" dirty="0">
                <a:latin typeface="Liberation Mono"/>
              </a:rPr>
              <a:t>moduleID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moduleName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duration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startedON </a:t>
            </a:r>
            <a:r>
              <a:rPr lang="en-IN" dirty="0">
                <a:solidFill>
                  <a:srgbClr val="834689"/>
                </a:solidFill>
                <a:latin typeface="Liberation Mono"/>
                <a:cs typeface="Arial" panose="020B0604020202020204" pitchFamily="34" charset="0"/>
              </a:rPr>
              <a:t>DATE</a:t>
            </a:r>
            <a:endParaRPr lang="en-IN" dirty="0">
              <a:solidFill>
                <a:schemeClr val="bg1">
                  <a:lumMod val="65000"/>
                </a:schemeClr>
              </a:solidFill>
              <a:latin typeface="Liberation Mono"/>
              <a:cs typeface="Arial" panose="020B0604020202020204" pitchFamily="34" charset="0"/>
            </a:endParaRP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375920" y="4005064"/>
            <a:ext cx="6408712" cy="1938992"/>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module</a:t>
            </a:r>
          </a:p>
          <a:p>
            <a:r>
              <a:rPr lang="en-IN" sz="2000" dirty="0">
                <a:solidFill>
                  <a:srgbClr val="0077AA"/>
                </a:solidFill>
                <a:latin typeface="Liberation Mono"/>
                <a:cs typeface="Arial" panose="020B0604020202020204" pitchFamily="34" charset="0"/>
              </a:rPr>
              <a:t>FIELDS TERMINATED BY </a:t>
            </a:r>
            <a:r>
              <a:rPr lang="en-IN" sz="2000" dirty="0">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LINES TERMINATED BY </a:t>
            </a:r>
            <a:r>
              <a:rPr lang="en-IN" sz="2000" dirty="0">
                <a:latin typeface="Liberation Mono"/>
                <a:cs typeface="Arial" panose="020B0604020202020204" pitchFamily="34" charset="0"/>
              </a:rPr>
              <a:t>'\n'</a:t>
            </a:r>
            <a:r>
              <a:rPr lang="en-IN" sz="2000" dirty="0">
                <a:solidFill>
                  <a:srgbClr val="0077AA"/>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IGNORE 1 ROWS</a:t>
            </a:r>
          </a:p>
          <a:p>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moduleID,modulename,moduleDuration,</a:t>
            </a:r>
            <a:r>
              <a:rPr lang="en-IN" sz="2000" dirty="0">
                <a:solidFill>
                  <a:srgbClr val="A67F59"/>
                </a:solidFill>
                <a:latin typeface="Liberation Mono"/>
              </a:rPr>
              <a:t>@</a:t>
            </a:r>
            <a:r>
              <a:rPr lang="en-IN" sz="2000" dirty="0">
                <a:latin typeface="Liberation Mono"/>
              </a:rPr>
              <a:t>startedOn</a:t>
            </a:r>
            <a:r>
              <a:rPr lang="en-IN" sz="2000" dirty="0">
                <a:solidFill>
                  <a:schemeClr val="bg1">
                    <a:lumMod val="65000"/>
                  </a:schemeClr>
                </a:solidFill>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SET </a:t>
            </a:r>
            <a:r>
              <a:rPr lang="en-IN" sz="2000" dirty="0">
                <a:latin typeface="Liberation Mono"/>
                <a:cs typeface="Arial" panose="020B0604020202020204" pitchFamily="34" charset="0"/>
              </a:rPr>
              <a:t>startedOn </a:t>
            </a:r>
            <a:r>
              <a:rPr lang="en-IN" sz="2000" dirty="0">
                <a:solidFill>
                  <a:srgbClr val="0077AA"/>
                </a:solidFill>
                <a:latin typeface="Liberation Mono"/>
                <a:cs typeface="Arial" panose="020B0604020202020204" pitchFamily="34" charset="0"/>
              </a:rPr>
              <a:t>= STR_TO_DATE</a:t>
            </a:r>
            <a:r>
              <a:rPr lang="en-IN" sz="2000" dirty="0">
                <a:solidFill>
                  <a:schemeClr val="bg1">
                    <a:lumMod val="65000"/>
                  </a:schemeClr>
                </a:solidFill>
                <a:latin typeface="Liberation Mono"/>
                <a:cs typeface="Arial" panose="020B0604020202020204" pitchFamily="34" charset="0"/>
              </a:rPr>
              <a:t>(</a:t>
            </a:r>
            <a:r>
              <a:rPr lang="en-IN" sz="2000" dirty="0">
                <a:solidFill>
                  <a:srgbClr val="A67F59"/>
                </a:solidFill>
                <a:latin typeface="Liberation Mono"/>
              </a:rPr>
              <a:t>@</a:t>
            </a:r>
            <a:r>
              <a:rPr lang="en-IN" sz="2000" dirty="0">
                <a:latin typeface="Liberation Mono"/>
              </a:rPr>
              <a:t>startedOn</a:t>
            </a:r>
            <a:r>
              <a:rPr lang="en-IN" sz="2000" dirty="0">
                <a:latin typeface="Liberation Mono"/>
                <a:cs typeface="Arial" panose="020B0604020202020204" pitchFamily="34" charset="0"/>
              </a:rPr>
              <a:t>,'%d-%m-%Y'</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85250B21-3EA6-4B1D-8757-EFD86FD3C7E0}"/>
              </a:ext>
            </a:extLst>
          </p:cNvPr>
          <p:cNvSpPr txBox="1"/>
          <p:nvPr/>
        </p:nvSpPr>
        <p:spPr>
          <a:xfrm>
            <a:off x="191344" y="904652"/>
            <a:ext cx="11870282" cy="2308324"/>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moduleID,moduleName,duration,startedON</a:t>
            </a:r>
          </a:p>
          <a:p>
            <a:r>
              <a:rPr lang="en-IN" dirty="0">
                <a:latin typeface="Liberation Mono"/>
                <a:cs typeface="Arial" panose="020B0604020202020204" pitchFamily="34" charset="0"/>
              </a:rPr>
              <a:t>1,OracleCR,6 months,23-10-2022</a:t>
            </a:r>
          </a:p>
          <a:p>
            <a:r>
              <a:rPr lang="en-IN" dirty="0">
                <a:latin typeface="Liberation Mono"/>
                <a:cs typeface="Arial" panose="020B0604020202020204" pitchFamily="34" charset="0"/>
              </a:rPr>
              <a:t>2,PIG,2 months,12-10-2022</a:t>
            </a:r>
          </a:p>
          <a:p>
            <a:r>
              <a:rPr lang="en-IN" dirty="0">
                <a:latin typeface="Liberation Mono"/>
                <a:cs typeface="Arial" panose="020B0604020202020204" pitchFamily="34" charset="0"/>
              </a:rPr>
              <a:t>3,Neo4j,4 months,20-10-2022</a:t>
            </a:r>
          </a:p>
          <a:p>
            <a:r>
              <a:rPr lang="en-IN" dirty="0">
                <a:latin typeface="Liberation Mono"/>
                <a:cs typeface="Arial" panose="020B0604020202020204" pitchFamily="34" charset="0"/>
              </a:rPr>
              <a:t>4,Cassandra,7 months,03-10-2022</a:t>
            </a:r>
          </a:p>
          <a:p>
            <a:r>
              <a:rPr lang="en-IN" dirty="0">
                <a:latin typeface="Liberation Mono"/>
                <a:cs typeface="Arial" panose="020B0604020202020204" pitchFamily="34" charset="0"/>
              </a:rPr>
              <a:t>5,HIVE,3 months,09-10-2022</a:t>
            </a:r>
          </a:p>
          <a:p>
            <a:r>
              <a:rPr lang="en-IN" dirty="0">
                <a:latin typeface="Liberation Mono"/>
                <a:cs typeface="Arial" panose="020B0604020202020204" pitchFamily="34" charset="0"/>
              </a:rPr>
              <a:t>6,MongoDB,2 months,25-10-2022</a:t>
            </a:r>
          </a:p>
          <a:p>
            <a:r>
              <a:rPr lang="en-IN" dirty="0">
                <a:latin typeface="Liberation Mono"/>
                <a:cs typeface="Arial" panose="020B0604020202020204" pitchFamily="34" charset="0"/>
              </a:rPr>
              <a:t>7,Redis,1 months,06-10-2022</a:t>
            </a:r>
          </a:p>
        </p:txBody>
      </p:sp>
      <p:sp>
        <p:nvSpPr>
          <p:cNvPr id="6" name="Rectangle 5">
            <a:extLst>
              <a:ext uri="{FF2B5EF4-FFF2-40B4-BE49-F238E27FC236}">
                <a16:creationId xmlns:a16="http://schemas.microsoft.com/office/drawing/2014/main" id="{E3DAE33D-BAAD-C5DE-7CED-83F7E7FED84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Import .CSV file with dateFormat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19957247"/>
      </p:ext>
    </p:extLst>
  </p:cSld>
  <p:clrMapOvr>
    <a:masterClrMapping/>
  </p:clrMapOvr>
</p:sld>
</file>

<file path=ppt/slides/slide7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44D6F6-F210-CFC6-AFA7-801CFFBE0861}"/>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DD9BC94E-FB5E-18DA-96C6-06B97EAC9F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an Entire CSV Without Cleaning Data</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5A101EC6-1782-F78D-A942-8DF1D968E90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load data</a:t>
            </a:r>
          </a:p>
        </p:txBody>
      </p:sp>
      <p:sp>
        <p:nvSpPr>
          <p:cNvPr id="14" name="TextBox 13">
            <a:extLst>
              <a:ext uri="{FF2B5EF4-FFF2-40B4-BE49-F238E27FC236}">
                <a16:creationId xmlns:a16="http://schemas.microsoft.com/office/drawing/2014/main" id="{7E01221A-D742-A994-B3BC-EE011EB9BBDA}"/>
              </a:ext>
            </a:extLst>
          </p:cNvPr>
          <p:cNvSpPr txBox="1"/>
          <p:nvPr/>
        </p:nvSpPr>
        <p:spPr>
          <a:xfrm>
            <a:off x="288344" y="1650138"/>
            <a:ext cx="739183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LOAD DATA INFILE </a:t>
            </a:r>
            <a:r>
              <a:rPr lang="en-IN" dirty="0">
                <a:latin typeface="Liberation Mono"/>
              </a:rPr>
              <a:t>'path/file-name.csv' </a:t>
            </a:r>
            <a:r>
              <a:rPr lang="en-IN" dirty="0">
                <a:solidFill>
                  <a:srgbClr val="0077AA"/>
                </a:solidFill>
                <a:latin typeface="Liberation Mono"/>
                <a:cs typeface="Arial" panose="020B0604020202020204" pitchFamily="34" charset="0"/>
              </a:rPr>
              <a:t>INTO TABLE </a:t>
            </a:r>
            <a:r>
              <a:rPr lang="en-IN" dirty="0">
                <a:latin typeface="Liberation Mono"/>
              </a:rPr>
              <a:t>countries</a:t>
            </a:r>
          </a:p>
          <a:p>
            <a:r>
              <a:rPr lang="en-IN" dirty="0">
                <a:solidFill>
                  <a:srgbClr val="0077AA"/>
                </a:solidFill>
                <a:latin typeface="Liberation Mono"/>
                <a:cs typeface="Arial" panose="020B0604020202020204" pitchFamily="34" charset="0"/>
              </a:rPr>
              <a:t>            FIELDS TERMINATED BY </a:t>
            </a:r>
            <a:r>
              <a:rPr lang="en-IN" dirty="0">
                <a:latin typeface="Liberation Mono"/>
              </a:rPr>
              <a:t>','</a:t>
            </a:r>
            <a:endParaRPr lang="en-US" dirty="0">
              <a:latin typeface="Liberation Mono"/>
            </a:endParaRPr>
          </a:p>
        </p:txBody>
      </p:sp>
      <p:sp>
        <p:nvSpPr>
          <p:cNvPr id="22" name="TextBox 21">
            <a:extLst>
              <a:ext uri="{FF2B5EF4-FFF2-40B4-BE49-F238E27FC236}">
                <a16:creationId xmlns:a16="http://schemas.microsoft.com/office/drawing/2014/main" id="{46088DA0-39E1-5DF3-091A-0B517398910B}"/>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IN" dirty="0">
                <a:latin typeface="Arial" panose="020B0604020202020204" pitchFamily="34" charset="0"/>
                <a:cs typeface="Arial" panose="020B0604020202020204" pitchFamily="34" charset="0"/>
              </a:rPr>
              <a:t>Clean/validate before inserting.</a:t>
            </a:r>
            <a:endParaRPr lang="en-US"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534672F8-EDD9-3DAD-4B72-D368F723AE11}"/>
              </a:ext>
            </a:extLst>
          </p:cNvPr>
          <p:cNvSpPr txBox="1"/>
          <p:nvPr/>
        </p:nvSpPr>
        <p:spPr>
          <a:xfrm>
            <a:off x="288344" y="3284984"/>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blank rows, invalid emails, wrong phone numbers, .  .  . </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94635394"/>
      </p:ext>
    </p:extLst>
  </p:cSld>
  <p:clrMapOvr>
    <a:masterClrMapping/>
  </p:clrMapOvr>
</p:sld>
</file>

<file path=ppt/slides/slide7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C2C70-4C67-4501-ACBE-FE030C34F9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B93818-6BDF-0D66-8F5F-E7C1154B916B}"/>
              </a:ext>
            </a:extLst>
          </p:cNvPr>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.JSON file</a:t>
            </a:r>
          </a:p>
        </p:txBody>
      </p:sp>
      <p:grpSp>
        <p:nvGrpSpPr>
          <p:cNvPr id="3" name="Group 2">
            <a:extLst>
              <a:ext uri="{FF2B5EF4-FFF2-40B4-BE49-F238E27FC236}">
                <a16:creationId xmlns:a16="http://schemas.microsoft.com/office/drawing/2014/main" id="{729C3CD2-B686-D589-ACE0-4E5B3DF0808F}"/>
              </a:ext>
            </a:extLst>
          </p:cNvPr>
          <p:cNvGrpSpPr/>
          <p:nvPr/>
        </p:nvGrpSpPr>
        <p:grpSpPr>
          <a:xfrm>
            <a:off x="191344" y="116632"/>
            <a:ext cx="11881320" cy="2985631"/>
            <a:chOff x="191344" y="292388"/>
            <a:chExt cx="11737304" cy="2985631"/>
          </a:xfrm>
        </p:grpSpPr>
        <p:sp>
          <p:nvSpPr>
            <p:cNvPr id="4" name="TextBox 3">
              <a:extLst>
                <a:ext uri="{FF2B5EF4-FFF2-40B4-BE49-F238E27FC236}">
                  <a16:creationId xmlns:a16="http://schemas.microsoft.com/office/drawing/2014/main" id="{7CF4502A-A4F8-5950-A713-8620D9C79E67}"/>
                </a:ext>
              </a:extLst>
            </p:cNvPr>
            <p:cNvSpPr txBox="1"/>
            <p:nvPr/>
          </p:nvSpPr>
          <p:spPr>
            <a:xfrm>
              <a:off x="191344" y="692696"/>
              <a:ext cx="11737304" cy="2585323"/>
            </a:xfrm>
            <a:prstGeom prst="rect">
              <a:avLst/>
            </a:prstGeom>
            <a:noFill/>
          </p:spPr>
          <p:txBody>
            <a:bodyPr wrap="square">
              <a:spAutoFit/>
            </a:bodyPr>
            <a:lstStyle/>
            <a:p>
              <a:r>
                <a:rPr lang="en-IN" dirty="0"/>
                <a:t>{"productId": "P1004","name": "LED Smart TV 50-inch","description": "4K Ultra HD, HDR, WiFi enabled.","category": "Electronics","brand":"VisionPro","price": { "currency": "USD", "amount": 499.99 },"stock": { "available": false, "quantity": 0 },"specifications": { "resolution": "4K", "screenSize": "50 inch", "hdmiPorts": 3 }}</a:t>
              </a:r>
            </a:p>
            <a:p>
              <a:r>
                <a:rPr lang="en-IN" dirty="0"/>
                <a:t>{"productId": "P1005","name": "Wooden Coffee Table","description": "Classic design with oak finish.","category": "Furniture","brand": "HomeCraft","price": { "currency": "USD", "amount": 149.99 },"stock": { "available": true, "quantity": 35 },"specifications": { "material": "Oak Wood", "dimensions": "120x60x45 cm" }}</a:t>
              </a:r>
            </a:p>
            <a:p>
              <a:r>
                <a:rPr lang="en-IN" dirty="0"/>
                <a:t>{"productId": "P1006","name": "Stainless Steel Water Bottle","description": "Insulated bottle keeps drinks hot/cold for 12 hours.","category": "Home &amp; Kitchen","brand": "HydraCool","price": { "currency": "USD", "amount": 19.99 },"stock": { "available": true, "quantity": 500 },"specifications": { "capacity": "750ml", "color": "Silver" }}</a:t>
              </a:r>
            </a:p>
          </p:txBody>
        </p:sp>
        <p:sp>
          <p:nvSpPr>
            <p:cNvPr id="5" name="TextBox 4">
              <a:extLst>
                <a:ext uri="{FF2B5EF4-FFF2-40B4-BE49-F238E27FC236}">
                  <a16:creationId xmlns:a16="http://schemas.microsoft.com/office/drawing/2014/main" id="{9D551425-3990-D826-4D55-9AC1A8E2E6C7}"/>
                </a:ext>
              </a:extLst>
            </p:cNvPr>
            <p:cNvSpPr txBox="1"/>
            <p:nvPr/>
          </p:nvSpPr>
          <p:spPr>
            <a:xfrm>
              <a:off x="245342" y="292388"/>
              <a:ext cx="1890217" cy="369332"/>
            </a:xfrm>
            <a:prstGeom prst="rect">
              <a:avLst/>
            </a:prstGeom>
            <a:noFill/>
          </p:spPr>
          <p:txBody>
            <a:bodyPr wrap="square">
              <a:spAutoFit/>
            </a:bodyPr>
            <a:lstStyle/>
            <a:p>
              <a:r>
                <a:rPr lang="en-IN" b="1" dirty="0">
                  <a:latin typeface="Liberation Mono"/>
                </a:rPr>
                <a:t>Product.JSON file</a:t>
              </a:r>
              <a:endParaRPr lang="en-IN" b="1" dirty="0"/>
            </a:p>
          </p:txBody>
        </p:sp>
      </p:grpSp>
      <p:sp>
        <p:nvSpPr>
          <p:cNvPr id="6" name="TextBox 5">
            <a:extLst>
              <a:ext uri="{FF2B5EF4-FFF2-40B4-BE49-F238E27FC236}">
                <a16:creationId xmlns:a16="http://schemas.microsoft.com/office/drawing/2014/main" id="{FBE5491F-6A10-6DAE-CE88-22FB4EB21B91}"/>
              </a:ext>
            </a:extLst>
          </p:cNvPr>
          <p:cNvSpPr txBox="1"/>
          <p:nvPr/>
        </p:nvSpPr>
        <p:spPr>
          <a:xfrm>
            <a:off x="250544" y="4708301"/>
            <a:ext cx="4477304" cy="1200329"/>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 </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US" dirty="0">
                <a:latin typeface="Liberation Mono"/>
              </a:rPr>
              <a:t>id </a:t>
            </a:r>
            <a:r>
              <a:rPr lang="en-US" dirty="0">
                <a:solidFill>
                  <a:srgbClr val="834689"/>
                </a:solidFill>
                <a:latin typeface="Liberation Mono"/>
                <a:cs typeface="Arial" panose="020B0604020202020204" pitchFamily="34" charset="0"/>
              </a:rPr>
              <a:t>INT</a:t>
            </a:r>
            <a:r>
              <a:rPr lang="en-US"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rPr>
              <a:t>document</a:t>
            </a:r>
            <a:r>
              <a:rPr lang="en-IN" dirty="0">
                <a:solidFill>
                  <a:schemeClr val="bg1">
                    <a:lumMod val="6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JSON</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9" name="TextBox 8">
            <a:extLst>
              <a:ext uri="{FF2B5EF4-FFF2-40B4-BE49-F238E27FC236}">
                <a16:creationId xmlns:a16="http://schemas.microsoft.com/office/drawing/2014/main" id="{257A22ED-DAC3-BC81-544F-5E7A2B152863}"/>
              </a:ext>
            </a:extLst>
          </p:cNvPr>
          <p:cNvSpPr txBox="1"/>
          <p:nvPr/>
        </p:nvSpPr>
        <p:spPr>
          <a:xfrm>
            <a:off x="5591944" y="4708301"/>
            <a:ext cx="6408712" cy="1077218"/>
          </a:xfrm>
          <a:prstGeom prst="rect">
            <a:avLst/>
          </a:prstGeom>
          <a:solidFill>
            <a:schemeClr val="bg1">
              <a:lumMod val="95000"/>
            </a:schemeClr>
          </a:solidFill>
        </p:spPr>
        <p:txBody>
          <a:bodyPr wrap="square">
            <a:spAutoFit/>
          </a:bodyPr>
          <a:lstStyle>
            <a:defPPr>
              <a:defRPr lang="en-US"/>
            </a:defPPr>
            <a:lvl1pPr>
              <a:defRPr sz="2000">
                <a:solidFill>
                  <a:srgbClr val="0077AA"/>
                </a:solidFill>
                <a:latin typeface="Liberation Mono"/>
                <a:cs typeface="Arial" panose="020B0604020202020204" pitchFamily="34" charset="0"/>
              </a:defRPr>
            </a:lvl1pPr>
          </a:lstStyle>
          <a:p>
            <a:r>
              <a:rPr lang="en-IN" dirty="0"/>
              <a:t>LOAD DATA INFILE </a:t>
            </a:r>
            <a:r>
              <a:rPr lang="en-IN" dirty="0">
                <a:solidFill>
                  <a:schemeClr val="tx1"/>
                </a:solidFill>
                <a:cs typeface="+mn-cs"/>
              </a:rPr>
              <a:t>'path/file-</a:t>
            </a:r>
            <a:r>
              <a:rPr lang="en-IN" dirty="0" err="1">
                <a:solidFill>
                  <a:schemeClr val="tx1"/>
                </a:solidFill>
                <a:cs typeface="+mn-cs"/>
              </a:rPr>
              <a:t>name.json</a:t>
            </a:r>
            <a:r>
              <a:rPr lang="en-IN" sz="2400" dirty="0">
                <a:solidFill>
                  <a:schemeClr val="tx1"/>
                </a:solidFill>
              </a:rPr>
              <a:t>'</a:t>
            </a:r>
            <a:r>
              <a:rPr lang="en-IN" dirty="0">
                <a:solidFill>
                  <a:schemeClr val="tx1"/>
                </a:solidFill>
                <a:cs typeface="+mn-cs"/>
              </a:rPr>
              <a:t> </a:t>
            </a:r>
            <a:r>
              <a:rPr lang="en-IN" dirty="0"/>
              <a:t>INTO TABLE </a:t>
            </a:r>
            <a:r>
              <a:rPr lang="en-IN" dirty="0">
                <a:solidFill>
                  <a:schemeClr val="tx1"/>
                </a:solidFill>
                <a:cs typeface="+mn-cs"/>
              </a:rPr>
              <a:t>product</a:t>
            </a:r>
          </a:p>
          <a:p>
            <a:r>
              <a:rPr lang="en-IN" b="1" dirty="0">
                <a:solidFill>
                  <a:srgbClr val="B212AA"/>
                </a:solidFill>
              </a:rPr>
              <a:t>(@json)</a:t>
            </a:r>
          </a:p>
          <a:p>
            <a:r>
              <a:rPr lang="en-IN" b="1" dirty="0">
                <a:solidFill>
                  <a:srgbClr val="B212AA"/>
                </a:solidFill>
              </a:rPr>
              <a:t>SET document = @json</a:t>
            </a:r>
            <a:r>
              <a:rPr lang="en-IN" dirty="0">
                <a:solidFill>
                  <a:schemeClr val="tx1"/>
                </a:solidFill>
                <a:cs typeface="+mn-cs"/>
              </a:rPr>
              <a:t>;</a:t>
            </a:r>
          </a:p>
        </p:txBody>
      </p:sp>
    </p:spTree>
    <p:extLst>
      <p:ext uri="{BB962C8B-B14F-4D97-AF65-F5344CB8AC3E}">
        <p14:creationId xmlns:p14="http://schemas.microsoft.com/office/powerpoint/2010/main" val="4152335307"/>
      </p:ext>
    </p:extLst>
  </p:cSld>
  <p:clrMapOvr>
    <a:masterClrMapping/>
  </p:clrMapOvr>
</p:sld>
</file>

<file path=ppt/slides/slide7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cluster</a:t>
            </a:r>
          </a:p>
        </p:txBody>
      </p:sp>
      <p:sp>
        <p:nvSpPr>
          <p:cNvPr id="3" name="Rectangle 2"/>
          <p:cNvSpPr/>
          <p:nvPr/>
        </p:nvSpPr>
        <p:spPr>
          <a:xfrm>
            <a:off x="335360" y="3276601"/>
            <a:ext cx="11377264" cy="646331"/>
          </a:xfrm>
          <a:prstGeom prst="rect">
            <a:avLst/>
          </a:prstGeom>
        </p:spPr>
        <p:txBody>
          <a:bodyPr wrap="square">
            <a:spAutoFit/>
          </a:bodyPr>
          <a:lstStyle/>
          <a:p>
            <a:r>
              <a:rPr lang="en-US" dirty="0">
                <a:latin typeface="Palatino Linotype" panose="02040502050505030304" pitchFamily="18" charset="0"/>
              </a:rPr>
              <a:t>A cluster comprises multiple interconnected computers or servers that appear as if they are one server to end users and applications.</a:t>
            </a:r>
          </a:p>
        </p:txBody>
      </p:sp>
    </p:spTree>
    <p:extLst>
      <p:ext uri="{BB962C8B-B14F-4D97-AF65-F5344CB8AC3E}">
        <p14:creationId xmlns:p14="http://schemas.microsoft.com/office/powerpoint/2010/main" val="1566008335"/>
      </p:ext>
    </p:extLst>
  </p:cSld>
  <p:clrMapOvr>
    <a:masterClrMapping/>
  </p:clrMapOvr>
</p:sld>
</file>

<file path=ppt/slides/slide7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060848"/>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data dictionary</a:t>
            </a:r>
          </a:p>
        </p:txBody>
      </p:sp>
      <p:sp>
        <p:nvSpPr>
          <p:cNvPr id="4" name="TextBox 3">
            <a:extLst>
              <a:ext uri="{FF2B5EF4-FFF2-40B4-BE49-F238E27FC236}">
                <a16:creationId xmlns:a16="http://schemas.microsoft.com/office/drawing/2014/main" id="{CD61D6CD-7247-451B-9373-31D915A9AC63}"/>
              </a:ext>
            </a:extLst>
          </p:cNvPr>
          <p:cNvSpPr txBox="1"/>
          <p:nvPr/>
        </p:nvSpPr>
        <p:spPr>
          <a:xfrm>
            <a:off x="304800" y="3119477"/>
            <a:ext cx="11479832" cy="3477875"/>
          </a:xfrm>
          <a:prstGeom prst="rect">
            <a:avLst/>
          </a:prstGeom>
        </p:spPr>
        <p:txBody>
          <a:bodyPr wrap="square">
            <a:spAutoFit/>
          </a:bodyPr>
          <a:lstStyle>
            <a:defPPr>
              <a:defRPr lang="en-US"/>
            </a:defPPr>
            <a:lvl1pPr algn="just">
              <a:defRPr sz="2000">
                <a:latin typeface="Palatino Linotype" panose="02040502050505030304" pitchFamily="18" charset="0"/>
                <a:cs typeface="Segoe UI Light" panose="020B0502040204020203" pitchFamily="34" charset="0"/>
              </a:defRPr>
            </a:lvl1pPr>
          </a:lstStyle>
          <a:p>
            <a:r>
              <a:rPr lang="en-US" dirty="0"/>
              <a:t>A data dictionary contains metadata </a:t>
            </a:r>
            <a:r>
              <a:rPr lang="en-US" dirty="0" err="1"/>
              <a:t>i.e</a:t>
            </a:r>
            <a:r>
              <a:rPr lang="en-US" dirty="0"/>
              <a:t> data about the database. The data dictionary is very important as it contains information such as what is in the database, who is allowed to access it, where is the database physically stored etc. The users of the database normally don't interact with the data dictionary, it is only handled by the database administrators.</a:t>
            </a:r>
          </a:p>
          <a:p>
            <a:r>
              <a:rPr lang="en-US" dirty="0"/>
              <a:t>The data dictionary in general contains information about the following −</a:t>
            </a:r>
          </a:p>
          <a:p>
            <a:pPr marL="342900" indent="-342900">
              <a:buFont typeface="Arial" panose="020B0604020202020204" pitchFamily="34" charset="0"/>
              <a:buChar char="•"/>
            </a:pPr>
            <a:r>
              <a:rPr lang="en-US" dirty="0"/>
              <a:t>Names of all the database tables and their schemas.</a:t>
            </a:r>
          </a:p>
          <a:p>
            <a:pPr marL="342900" indent="-342900">
              <a:buFont typeface="Arial" panose="020B0604020202020204" pitchFamily="34" charset="0"/>
              <a:buChar char="•"/>
            </a:pPr>
            <a:r>
              <a:rPr lang="en-US" dirty="0"/>
              <a:t>Details about all the tables in the database, such as their owners, their security constraints, when they were created etc.</a:t>
            </a:r>
          </a:p>
          <a:p>
            <a:pPr marL="342900" indent="-342900">
              <a:buFont typeface="Arial" panose="020B0604020202020204" pitchFamily="34" charset="0"/>
              <a:buChar char="•"/>
            </a:pPr>
            <a:r>
              <a:rPr lang="en-US" dirty="0"/>
              <a:t>Physical information about the tables such as where they are stored and how.</a:t>
            </a:r>
          </a:p>
          <a:p>
            <a:pPr marL="342900" indent="-342900">
              <a:buFont typeface="Arial" panose="020B0604020202020204" pitchFamily="34" charset="0"/>
              <a:buChar char="•"/>
            </a:pPr>
            <a:r>
              <a:rPr lang="en-US" dirty="0"/>
              <a:t>Table constraints such as primary key attributes, foreign key information etc.</a:t>
            </a:r>
          </a:p>
          <a:p>
            <a:pPr marL="342900" indent="-342900">
              <a:buFont typeface="Arial" panose="020B0604020202020204" pitchFamily="34" charset="0"/>
              <a:buChar char="•"/>
            </a:pPr>
            <a:r>
              <a:rPr lang="en-US" dirty="0"/>
              <a:t>Information about the database views that are visible.</a:t>
            </a:r>
          </a:p>
        </p:txBody>
      </p:sp>
    </p:spTree>
  </p:cSld>
  <p:clrMapOvr>
    <a:masterClrMapping/>
  </p:clrMapOvr>
</p:sld>
</file>

<file path=ppt/slides/slide7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dictionary - information_schema</a:t>
            </a:r>
            <a:endParaRPr lang="en-IN" sz="3200" i="1" dirty="0">
              <a:solidFill>
                <a:srgbClr val="FF9900"/>
              </a:solidFill>
              <a:latin typeface="Arial" pitchFamily="34" charset="0"/>
              <a:cs typeface="Arial" pitchFamily="34" charset="0"/>
            </a:endParaRPr>
          </a:p>
        </p:txBody>
      </p:sp>
      <p:graphicFrame>
        <p:nvGraphicFramePr>
          <p:cNvPr id="2" name="Table 1"/>
          <p:cNvGraphicFramePr>
            <a:graphicFrameLocks noGrp="1"/>
          </p:cNvGraphicFramePr>
          <p:nvPr>
            <p:extLst>
              <p:ext uri="{D42A27DB-BD31-4B8C-83A1-F6EECF244321}">
                <p14:modId xmlns:p14="http://schemas.microsoft.com/office/powerpoint/2010/main" val="3561788668"/>
              </p:ext>
            </p:extLst>
          </p:nvPr>
        </p:nvGraphicFramePr>
        <p:xfrm>
          <a:off x="1676400" y="838200"/>
          <a:ext cx="8839200" cy="3966210"/>
        </p:xfrm>
        <a:graphic>
          <a:graphicData uri="http://schemas.openxmlformats.org/drawingml/2006/table">
            <a:tbl>
              <a:tblPr firstRow="1" bandRow="1">
                <a:tableStyleId>{7E9639D4-E3E2-4D34-9284-5A2195B3D0D7}</a:tableStyleId>
              </a:tblPr>
              <a:tblGrid>
                <a:gridCol w="8839200">
                  <a:extLst>
                    <a:ext uri="{9D8B030D-6E8A-4147-A177-3AD203B41FA5}">
                      <a16:colId xmlns:a16="http://schemas.microsoft.com/office/drawing/2014/main" val="20000"/>
                    </a:ext>
                  </a:extLst>
                </a:gridCol>
              </a:tblGrid>
              <a:tr h="440690">
                <a:tc>
                  <a:txBody>
                    <a:bodyPr/>
                    <a:lstStyle/>
                    <a:p>
                      <a:r>
                        <a:rPr kumimoji="0" lang="en-US" b="1" kern="1200" dirty="0">
                          <a:solidFill>
                            <a:srgbClr val="B7F7E2"/>
                          </a:solidFill>
                          <a:latin typeface="Arial" panose="020B0604020202020204" pitchFamily="34" charset="0"/>
                          <a:ea typeface="+mn-ea"/>
                          <a:cs typeface="Arial" panose="020B0604020202020204" pitchFamily="34" charset="0"/>
                        </a:rPr>
                        <a:t>Data</a:t>
                      </a:r>
                      <a:r>
                        <a:rPr lang="en-US" sz="1600" baseline="0" dirty="0">
                          <a:latin typeface="Arial" panose="020B0604020202020204" pitchFamily="34" charset="0"/>
                          <a:cs typeface="Arial" panose="020B0604020202020204" pitchFamily="34" charset="0"/>
                        </a:rPr>
                        <a:t> </a:t>
                      </a:r>
                      <a:r>
                        <a:rPr kumimoji="0" lang="en-US" b="1" kern="1200" dirty="0">
                          <a:solidFill>
                            <a:srgbClr val="B7F7E2"/>
                          </a:solidFill>
                          <a:latin typeface="Arial" panose="020B0604020202020204" pitchFamily="34" charset="0"/>
                          <a:ea typeface="+mn-ea"/>
                          <a:cs typeface="Arial" panose="020B0604020202020204" pitchFamily="34" charset="0"/>
                        </a:rPr>
                        <a:t>Dictionary</a:t>
                      </a:r>
                    </a:p>
                  </a:txBody>
                  <a:tcPr anchor="ctr"/>
                </a:tc>
                <a:extLst>
                  <a:ext uri="{0D108BD9-81ED-4DB2-BD59-A6C34878D82A}">
                    <a16:rowId xmlns:a16="http://schemas.microsoft.com/office/drawing/2014/main" val="10000"/>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COLUMNS</a:t>
                      </a:r>
                    </a:p>
                  </a:txBody>
                  <a:tcPr anchor="ctr"/>
                </a:tc>
                <a:extLst>
                  <a:ext uri="{0D108BD9-81ED-4DB2-BD59-A6C34878D82A}">
                    <a16:rowId xmlns:a16="http://schemas.microsoft.com/office/drawing/2014/main" val="10001"/>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TABLES</a:t>
                      </a:r>
                    </a:p>
                  </a:txBody>
                  <a:tcPr anchor="ctr"/>
                </a:tc>
                <a:extLst>
                  <a:ext uri="{0D108BD9-81ED-4DB2-BD59-A6C34878D82A}">
                    <a16:rowId xmlns:a16="http://schemas.microsoft.com/office/drawing/2014/main" val="10002"/>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TABLE_CONSTRAINTS</a:t>
                      </a:r>
                    </a:p>
                  </a:txBody>
                  <a:tcPr anchor="ctr"/>
                </a:tc>
                <a:extLst>
                  <a:ext uri="{0D108BD9-81ED-4DB2-BD59-A6C34878D82A}">
                    <a16:rowId xmlns:a16="http://schemas.microsoft.com/office/drawing/2014/main" val="10003"/>
                  </a:ext>
                </a:extLst>
              </a:tr>
              <a:tr h="440690">
                <a:tc>
                  <a:txBody>
                    <a:bodyPr/>
                    <a:lstStyle/>
                    <a:p>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STATISTICS</a:t>
                      </a:r>
                    </a:p>
                  </a:txBody>
                  <a:tcPr anchor="ctr"/>
                </a:tc>
                <a:extLst>
                  <a:ext uri="{0D108BD9-81ED-4DB2-BD59-A6C34878D82A}">
                    <a16:rowId xmlns:a16="http://schemas.microsoft.com/office/drawing/2014/main" val="10004"/>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KEY_COLUMN_USAGE</a:t>
                      </a:r>
                    </a:p>
                  </a:txBody>
                  <a:tcPr anchor="ctr"/>
                </a:tc>
                <a:extLst>
                  <a:ext uri="{0D108BD9-81ED-4DB2-BD59-A6C34878D82A}">
                    <a16:rowId xmlns:a16="http://schemas.microsoft.com/office/drawing/2014/main" val="10005"/>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ROUTINES</a:t>
                      </a:r>
                    </a:p>
                  </a:txBody>
                  <a:tcPr anchor="ctr"/>
                </a:tc>
                <a:extLst>
                  <a:ext uri="{0D108BD9-81ED-4DB2-BD59-A6C34878D82A}">
                    <a16:rowId xmlns:a16="http://schemas.microsoft.com/office/drawing/2014/main" val="10006"/>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PARAMETERS</a:t>
                      </a:r>
                    </a:p>
                  </a:txBody>
                  <a:tcPr anchor="ctr"/>
                </a:tc>
                <a:extLst>
                  <a:ext uri="{0D108BD9-81ED-4DB2-BD59-A6C34878D82A}">
                    <a16:rowId xmlns:a16="http://schemas.microsoft.com/office/drawing/2014/main" val="10007"/>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TRIGGERS</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362904671"/>
      </p:ext>
    </p:extLst>
  </p:cSld>
  <p:clrMapOvr>
    <a:masterClrMapping/>
  </p:clrMapOvr>
</p:sld>
</file>

<file path=ppt/slides/slide7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extLst>
      <p:ext uri="{BB962C8B-B14F-4D97-AF65-F5344CB8AC3E}">
        <p14:creationId xmlns:p14="http://schemas.microsoft.com/office/powerpoint/2010/main" val="2505497767"/>
      </p:ext>
    </p:extLst>
  </p:cSld>
  <p:clrMapOvr>
    <a:masterClrMapping/>
  </p:clrMapOvr>
</p:sld>
</file>

<file path=ppt/slides/slide7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pl/sql</a:t>
            </a:r>
          </a:p>
        </p:txBody>
      </p:sp>
      <p:sp>
        <p:nvSpPr>
          <p:cNvPr id="3" name="Rectangle 2"/>
          <p:cNvSpPr/>
          <p:nvPr/>
        </p:nvSpPr>
        <p:spPr>
          <a:xfrm>
            <a:off x="335360" y="3352801"/>
            <a:ext cx="11521280" cy="707886"/>
          </a:xfrm>
          <a:prstGeom prst="rect">
            <a:avLst/>
          </a:prstGeom>
        </p:spPr>
        <p:txBody>
          <a:bodyPr wrap="square">
            <a:spAutoFit/>
          </a:bodyPr>
          <a:lstStyle/>
          <a:p>
            <a:pPr algn="just"/>
            <a:r>
              <a:rPr lang="en-IN" sz="2000" dirty="0">
                <a:latin typeface="Palatino Linotype" panose="02040502050505030304" pitchFamily="18" charset="0"/>
                <a:cs typeface="Segoe UI Light" panose="020B0502040204020203" pitchFamily="34" charset="0"/>
              </a:rPr>
              <a:t>PL/SQL is a procedural language extension to Structured Query Language (SQL). The purpose of PL/SQL is to combine database language and procedural programming language.</a:t>
            </a:r>
          </a:p>
        </p:txBody>
      </p:sp>
    </p:spTree>
    <p:extLst>
      <p:ext uri="{BB962C8B-B14F-4D97-AF65-F5344CB8AC3E}">
        <p14:creationId xmlns:p14="http://schemas.microsoft.com/office/powerpoint/2010/main" val="999257173"/>
      </p:ext>
    </p:extLst>
  </p:cSld>
  <p:clrMapOvr>
    <a:masterClrMapping/>
  </p:clrMapOvr>
</p:sld>
</file>

<file path=ppt/slides/slide7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3243064"/>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create procedure and </a:t>
            </a:r>
          </a:p>
          <a:p>
            <a:pPr algn="ctr"/>
            <a:r>
              <a:rPr lang="en-IN" sz="4800" dirty="0">
                <a:solidFill>
                  <a:srgbClr val="DC525C"/>
                </a:solidFill>
                <a:latin typeface="Segoe UI Light" panose="020B0502040204020203" pitchFamily="34" charset="0"/>
                <a:cs typeface="Segoe UI Light" panose="020B0502040204020203" pitchFamily="34" charset="0"/>
              </a:rPr>
              <a:t>create function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087E69C5-420A-4BB5-9D75-63EDE6D52E76}"/>
              </a:ext>
            </a:extLst>
          </p:cNvPr>
          <p:cNvSpPr/>
          <p:nvPr/>
        </p:nvSpPr>
        <p:spPr>
          <a:xfrm>
            <a:off x="191344" y="22552"/>
            <a:ext cx="11809312" cy="326243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4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75000"/>
                  </a:schemeClr>
                </a:solidFill>
                <a:latin typeface="Palatino Linotype" panose="02040502050505030304" pitchFamily="18" charset="0"/>
              </a:rPr>
              <a:t>Statements that return a </a:t>
            </a:r>
            <a:r>
              <a:rPr lang="en-IN" sz="2400" b="1" dirty="0">
                <a:solidFill>
                  <a:schemeClr val="tx2">
                    <a:lumMod val="75000"/>
                  </a:schemeClr>
                </a:solidFill>
                <a:latin typeface="Palatino Linotype" panose="02040502050505030304" pitchFamily="18" charset="0"/>
              </a:rPr>
              <a:t>result set </a:t>
            </a:r>
            <a:r>
              <a:rPr lang="en-IN" dirty="0">
                <a:solidFill>
                  <a:schemeClr val="tx2">
                    <a:lumMod val="75000"/>
                  </a:schemeClr>
                </a:solidFill>
                <a:latin typeface="Palatino Linotype" panose="02040502050505030304" pitchFamily="18" charset="0"/>
              </a:rPr>
              <a:t>can be used within a STORED PROCEDURE but </a:t>
            </a:r>
            <a:r>
              <a:rPr lang="en-IN" sz="2400" dirty="0">
                <a:solidFill>
                  <a:srgbClr val="FF0000"/>
                </a:solidFill>
                <a:latin typeface="Palatino Linotype" panose="02040502050505030304" pitchFamily="18" charset="0"/>
              </a:rPr>
              <a:t>not</a:t>
            </a:r>
            <a:r>
              <a:rPr lang="en-IN" dirty="0">
                <a:solidFill>
                  <a:schemeClr val="tx2">
                    <a:lumMod val="75000"/>
                  </a:schemeClr>
                </a:solidFill>
                <a:latin typeface="Palatino Linotype" panose="02040502050505030304" pitchFamily="18" charset="0"/>
              </a:rPr>
              <a:t> within a STORED FUNCTION. This prohibition includes </a:t>
            </a:r>
            <a:r>
              <a:rPr lang="en-IN" dirty="0">
                <a:solidFill>
                  <a:srgbClr val="006C86"/>
                </a:solidFill>
                <a:latin typeface="Palatino Linotype" panose="02040502050505030304" pitchFamily="18" charset="0"/>
              </a:rPr>
              <a:t>SELECT</a:t>
            </a:r>
            <a:r>
              <a:rPr lang="en-IN" dirty="0">
                <a:solidFill>
                  <a:schemeClr val="tx2">
                    <a:lumMod val="75000"/>
                  </a:schemeClr>
                </a:solidFill>
                <a:latin typeface="Palatino Linotype" panose="02040502050505030304" pitchFamily="18" charset="0"/>
              </a:rPr>
              <a:t> statements that do not have an </a:t>
            </a:r>
            <a:r>
              <a:rPr lang="en-IN" dirty="0">
                <a:solidFill>
                  <a:srgbClr val="006C86"/>
                </a:solidFill>
                <a:latin typeface="Palatino Linotype" panose="02040502050505030304" pitchFamily="18" charset="0"/>
              </a:rPr>
              <a:t>INTO</a:t>
            </a:r>
            <a:r>
              <a:rPr lang="en-IN" dirty="0">
                <a:solidFill>
                  <a:schemeClr val="tx2">
                    <a:lumMod val="75000"/>
                  </a:schemeClr>
                </a:solidFill>
                <a:latin typeface="Palatino Linotype" panose="02040502050505030304" pitchFamily="18" charset="0"/>
              </a:rPr>
              <a:t> </a:t>
            </a:r>
            <a:r>
              <a:rPr lang="en-IN" dirty="0">
                <a:solidFill>
                  <a:srgbClr val="006C86"/>
                </a:solidFill>
                <a:latin typeface="Palatino Linotype" panose="02040502050505030304" pitchFamily="18" charset="0"/>
              </a:rPr>
              <a:t>var_list </a:t>
            </a:r>
            <a:r>
              <a:rPr lang="en-IN" dirty="0">
                <a:solidFill>
                  <a:schemeClr val="tx2">
                    <a:lumMod val="75000"/>
                  </a:schemeClr>
                </a:solidFill>
                <a:latin typeface="Palatino Linotype" panose="02040502050505030304" pitchFamily="18" charset="0"/>
              </a:rPr>
              <a:t>clause.</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DDL statements, such as </a:t>
            </a:r>
            <a:r>
              <a:rPr lang="en-US" dirty="0">
                <a:solidFill>
                  <a:srgbClr val="006C86"/>
                </a:solidFill>
                <a:latin typeface="Palatino Linotype" panose="02040502050505030304" pitchFamily="18" charset="0"/>
              </a:rPr>
              <a:t>CREATE</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ALTER</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DROP</a:t>
            </a:r>
            <a:r>
              <a:rPr lang="en-US" dirty="0">
                <a:solidFill>
                  <a:schemeClr val="tx2">
                    <a:lumMod val="75000"/>
                  </a:schemeClr>
                </a:solidFill>
                <a:latin typeface="Palatino Linotype" panose="02040502050505030304" pitchFamily="18" charset="0"/>
              </a:rPr>
              <a:t> etc. are permitted in STORED PROCEDURES, (</a:t>
            </a:r>
            <a:r>
              <a:rPr lang="en-US" sz="2000" b="1" dirty="0">
                <a:solidFill>
                  <a:srgbClr val="C00000"/>
                </a:solidFill>
                <a:latin typeface="Palatino Linotype" panose="02040502050505030304" pitchFamily="18" charset="0"/>
              </a:rPr>
              <a:t>but not in </a:t>
            </a:r>
            <a:r>
              <a:rPr lang="en-US" dirty="0">
                <a:solidFill>
                  <a:schemeClr val="tx2">
                    <a:lumMod val="75000"/>
                  </a:schemeClr>
                </a:solidFill>
                <a:latin typeface="Palatino Linotype" panose="02040502050505030304" pitchFamily="18" charset="0"/>
              </a:rPr>
              <a:t>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DML statements, such as </a:t>
            </a:r>
            <a:r>
              <a:rPr lang="en-US" dirty="0">
                <a:solidFill>
                  <a:srgbClr val="006C86"/>
                </a:solidFill>
                <a:latin typeface="Palatino Linotype" panose="02040502050505030304" pitchFamily="18" charset="0"/>
              </a:rPr>
              <a:t>INSERT</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UPDATE</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DELETE</a:t>
            </a:r>
            <a:r>
              <a:rPr lang="en-US" dirty="0">
                <a:solidFill>
                  <a:schemeClr val="tx2">
                    <a:lumMod val="75000"/>
                  </a:schemeClr>
                </a:solidFill>
                <a:latin typeface="Palatino Linotype" panose="02040502050505030304" pitchFamily="18" charset="0"/>
              </a:rPr>
              <a:t> are permitted in STORED PROCEDURES &amp; 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ERROR 1314 (0A000): USE command is not allowed in stored procedures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Stored PROCEDURES and FUNCTIONS name can have max 64 char.</a:t>
            </a:r>
          </a:p>
        </p:txBody>
      </p:sp>
      <p:sp>
        <p:nvSpPr>
          <p:cNvPr id="8" name="TextBox 7">
            <a:extLst>
              <a:ext uri="{FF2B5EF4-FFF2-40B4-BE49-F238E27FC236}">
                <a16:creationId xmlns:a16="http://schemas.microsoft.com/office/drawing/2014/main" id="{C2EEBB75-D77D-4CBB-9F7C-CC85AFDC35F6}"/>
              </a:ext>
            </a:extLst>
          </p:cNvPr>
          <p:cNvSpPr txBox="1"/>
          <p:nvPr/>
        </p:nvSpPr>
        <p:spPr>
          <a:xfrm>
            <a:off x="1676400" y="4809346"/>
            <a:ext cx="8839200"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GRANT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cs typeface="Segoe UI Semilight" panose="020B0402040204020203" pitchFamily="34" charset="0"/>
              </a:rPr>
              <a:t> ] object_name </a:t>
            </a:r>
            <a:r>
              <a:rPr lang="en-IN" dirty="0">
                <a:solidFill>
                  <a:srgbClr val="0077AA"/>
                </a:solidFill>
                <a:latin typeface="Segoe UI Semilight" panose="020B0402040204020203" pitchFamily="34" charset="0"/>
                <a:cs typeface="Segoe UI Semilight" panose="020B0402040204020203" pitchFamily="34" charset="0"/>
              </a:rPr>
              <a:t>TO</a:t>
            </a:r>
            <a:r>
              <a:rPr lang="en-IN" dirty="0">
                <a:latin typeface="Segoe UI Semilight" panose="020B0402040204020203" pitchFamily="34" charset="0"/>
                <a:cs typeface="Segoe UI Semilight" panose="020B0402040204020203" pitchFamily="34" charset="0"/>
              </a:rPr>
              <a:t> user;</a:t>
            </a:r>
          </a:p>
          <a:p>
            <a:endParaRPr lang="en-IN" sz="4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REVOKE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cs typeface="Segoe UI Semilight" panose="020B0402040204020203" pitchFamily="34" charset="0"/>
              </a:rPr>
              <a:t> ] object_name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user;</a:t>
            </a:r>
            <a:endParaRPr lang="en-IN" dirty="0">
              <a:latin typeface="Segoe UI Semilight" panose="020B0402040204020203" pitchFamily="34" charset="0"/>
              <a:cs typeface="Segoe UI Semilight" panose="020B0402040204020203" pitchFamily="34" charset="0"/>
            </a:endParaRPr>
          </a:p>
        </p:txBody>
      </p:sp>
      <p:sp>
        <p:nvSpPr>
          <p:cNvPr id="7" name="TextBox 6">
            <a:extLst>
              <a:ext uri="{FF2B5EF4-FFF2-40B4-BE49-F238E27FC236}">
                <a16:creationId xmlns:a16="http://schemas.microsoft.com/office/drawing/2014/main" id="{4718AB44-4E64-4B8A-80BC-E689E8609A5A}"/>
              </a:ext>
            </a:extLst>
          </p:cNvPr>
          <p:cNvSpPr txBox="1"/>
          <p:nvPr/>
        </p:nvSpPr>
        <p:spPr>
          <a:xfrm>
            <a:off x="191344" y="5827911"/>
            <a:ext cx="6096000" cy="738664"/>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t> </a:t>
            </a:r>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&lt;routine_name&gt;</a:t>
            </a:r>
          </a:p>
          <a:p>
            <a:pPr marL="171450" indent="-171450">
              <a:buFont typeface="Arial" panose="020B0604020202020204" pitchFamily="34" charset="0"/>
              <a:buChar char="•"/>
            </a:pPr>
            <a:endParaRPr lang="en-IN" sz="6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solidFill>
                  <a:srgbClr val="0077AA"/>
                </a:solidFill>
                <a:latin typeface="Segoe UI Semilight" panose="020B0402040204020203" pitchFamily="34" charset="0"/>
                <a:cs typeface="Segoe UI Semilight" panose="020B0402040204020203" pitchFamily="34" charset="0"/>
              </a:rPr>
              <a:t> CREATE FUNCTION </a:t>
            </a:r>
            <a:r>
              <a:rPr lang="en-IN" dirty="0">
                <a:latin typeface="Segoe UI Semilight" panose="020B0402040204020203" pitchFamily="34" charset="0"/>
                <a:cs typeface="Segoe UI Semilight" panose="020B0402040204020203" pitchFamily="34" charset="0"/>
              </a:rPr>
              <a:t>&lt;routine_name&gt;</a:t>
            </a:r>
          </a:p>
        </p:txBody>
      </p:sp>
    </p:spTree>
    <p:extLst>
      <p:ext uri="{BB962C8B-B14F-4D97-AF65-F5344CB8AC3E}">
        <p14:creationId xmlns:p14="http://schemas.microsoft.com/office/powerpoint/2010/main" val="3691138925"/>
      </p:ext>
    </p:extLst>
  </p:cSld>
  <p:clrMapOvr>
    <a:masterClrMapping/>
  </p:clrMapOvr>
</p:sld>
</file>

<file path=ppt/slides/slide7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3" name="Rectangle 2"/>
          <p:cNvSpPr/>
          <p:nvPr/>
        </p:nvSpPr>
        <p:spPr>
          <a:xfrm>
            <a:off x="263352" y="692696"/>
            <a:ext cx="1169012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These statements create stored routines. By default, a routine is associated with the default database. To associate the routine explicitly with a given database, specify the name as db_name.sp_name when you create it.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236988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a:t>
            </a:r>
            <a:r>
              <a:rPr lang="en-IN" sz="2000" dirty="0">
                <a:solidFill>
                  <a:srgbClr val="0077AA"/>
                </a:solidFill>
                <a:latin typeface="Liberation Mono"/>
              </a:rPr>
              <a:t> </a:t>
            </a:r>
            <a:r>
              <a:rPr lang="en-IN" sz="2000" dirty="0">
                <a:solidFill>
                  <a:schemeClr val="bg1">
                    <a:lumMod val="50000"/>
                  </a:schemeClr>
                </a:solidFill>
                <a:latin typeface="Liberation Mono"/>
              </a:rPr>
              <a:t>|</a:t>
            </a:r>
            <a:r>
              <a:rPr lang="en-IN" sz="2000" dirty="0">
                <a:solidFill>
                  <a:srgbClr val="0077AA"/>
                </a:solidFill>
                <a:latin typeface="Liberation Mono"/>
              </a:rPr>
              <a:t> </a:t>
            </a:r>
            <a:r>
              <a:rPr lang="en-IN" sz="2000" dirty="0">
                <a:solidFill>
                  <a:srgbClr val="FD8603"/>
                </a:solidFill>
                <a:latin typeface="Liberation Mono"/>
              </a:rPr>
              <a:t>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param_name type</a:t>
            </a:r>
          </a:p>
          <a:p>
            <a:endParaRPr lang="en-IN" sz="2000" dirty="0">
              <a:solidFill>
                <a:srgbClr val="0077AA"/>
              </a:solidFill>
              <a:latin typeface="Liberation Mono"/>
            </a:endParaRPr>
          </a:p>
          <a:p>
            <a:endParaRPr lang="en-IN" sz="800" dirty="0">
              <a:solidFill>
                <a:srgbClr val="0077AA"/>
              </a:solidFill>
              <a:latin typeface="Liberation Mono"/>
            </a:endParaRPr>
          </a:p>
          <a:p>
            <a:r>
              <a:rPr lang="en-IN" sz="2000" dirty="0">
                <a:solidFill>
                  <a:srgbClr val="0077AA"/>
                </a:solidFill>
                <a:latin typeface="Liberation Mono"/>
              </a:rPr>
              <a:t>CREATE FUNCTION </a:t>
            </a:r>
            <a:r>
              <a:rPr lang="en-IN" sz="2000" dirty="0">
                <a:latin typeface="Liberation Mono"/>
              </a:rPr>
              <a:t>sp_name ([</a:t>
            </a:r>
            <a:r>
              <a:rPr lang="en-IN" sz="2000" i="1" dirty="0">
                <a:latin typeface="Liberation Mono"/>
              </a:rPr>
              <a:t>func_parameter</a:t>
            </a:r>
            <a:r>
              <a:rPr lang="en-IN" sz="2000" dirty="0">
                <a:latin typeface="Liberation Mono"/>
              </a:rPr>
              <a:t>[,. . .]])</a:t>
            </a:r>
          </a:p>
          <a:p>
            <a:r>
              <a:rPr lang="en-IN" sz="2000" dirty="0">
                <a:solidFill>
                  <a:srgbClr val="0077AA"/>
                </a:solidFill>
                <a:latin typeface="Liberation Mono"/>
              </a:rPr>
              <a:t>    </a:t>
            </a:r>
            <a:r>
              <a:rPr lang="en-IN" sz="2000" dirty="0">
                <a:solidFill>
                  <a:schemeClr val="accent5">
                    <a:lumMod val="75000"/>
                  </a:schemeClr>
                </a:solidFill>
                <a:latin typeface="Liberation Mono"/>
              </a:rPr>
              <a:t>RETURNS</a:t>
            </a:r>
            <a:r>
              <a:rPr lang="en-IN" sz="2000" dirty="0">
                <a:solidFill>
                  <a:srgbClr val="0077AA"/>
                </a:solidFill>
                <a:latin typeface="Liberation Mono"/>
              </a:rPr>
              <a:t> </a:t>
            </a:r>
            <a:r>
              <a:rPr lang="en-IN" sz="2000" i="1" dirty="0">
                <a:latin typeface="Liberation Mono"/>
              </a:rPr>
              <a:t>type</a:t>
            </a:r>
          </a:p>
          <a:p>
            <a:r>
              <a:rPr lang="en-IN" sz="2000" dirty="0">
                <a:solidFill>
                  <a:srgbClr val="0077AA"/>
                </a:solidFill>
                <a:latin typeface="Liberation Mono"/>
              </a:rPr>
              <a:t>DETERMINISTIC</a:t>
            </a:r>
          </a:p>
        </p:txBody>
      </p:sp>
      <p:sp>
        <p:nvSpPr>
          <p:cNvPr id="6" name="Rectangle 5"/>
          <p:cNvSpPr/>
          <p:nvPr/>
        </p:nvSpPr>
        <p:spPr>
          <a:xfrm>
            <a:off x="9876212" y="2708920"/>
            <a:ext cx="2036135" cy="400110"/>
          </a:xfrm>
          <a:prstGeom prst="rect">
            <a:avLst/>
          </a:prstGeom>
          <a:solidFill>
            <a:srgbClr val="DC525C"/>
          </a:solidFill>
        </p:spPr>
        <p:txBody>
          <a:bodyPr wrap="none">
            <a:spAutoFit/>
          </a:bodyPr>
          <a:lstStyle/>
          <a:p>
            <a:r>
              <a:rPr lang="en-IN" sz="2000" dirty="0">
                <a:solidFill>
                  <a:srgbClr val="FFC000"/>
                </a:solidFill>
                <a:latin typeface="Arial" panose="020B0604020202020204" pitchFamily="34" charset="0"/>
                <a:cs typeface="Arial" panose="020B0604020202020204" pitchFamily="34" charset="0"/>
              </a:rPr>
              <a:t>desc </a:t>
            </a:r>
            <a:r>
              <a:rPr lang="en-IN" sz="2000" dirty="0" err="1">
                <a:solidFill>
                  <a:srgbClr val="FFC000"/>
                </a:solidFill>
                <a:latin typeface="Arial" panose="020B0604020202020204" pitchFamily="34" charset="0"/>
                <a:cs typeface="Arial" panose="020B0604020202020204" pitchFamily="34" charset="0"/>
              </a:rPr>
              <a:t>mysql.proc</a:t>
            </a:r>
            <a:endParaRPr lang="en-IN" sz="2000" dirty="0">
              <a:solidFill>
                <a:srgbClr val="FFC000"/>
              </a:solidFill>
              <a:latin typeface="Arial" panose="020B0604020202020204" pitchFamily="34" charset="0"/>
              <a:cs typeface="Arial" panose="020B0604020202020204" pitchFamily="34" charset="0"/>
            </a:endParaRPr>
          </a:p>
        </p:txBody>
      </p:sp>
      <p:sp>
        <p:nvSpPr>
          <p:cNvPr id="7" name="Rectangle 6"/>
          <p:cNvSpPr/>
          <p:nvPr/>
        </p:nvSpPr>
        <p:spPr>
          <a:xfrm>
            <a:off x="6591068" y="1890410"/>
            <a:ext cx="5375920"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SELECT * FROM information_schema.parameters </a:t>
            </a:r>
          </a:p>
          <a:p>
            <a:r>
              <a:rPr lang="en-IN" dirty="0">
                <a:latin typeface="Arial" panose="020B0604020202020204" pitchFamily="34" charset="0"/>
                <a:cs typeface="Arial" panose="020B0604020202020204" pitchFamily="34" charset="0"/>
              </a:rPr>
              <a:t>WHERE SPECIFIC_NAME = 'pro1';</a:t>
            </a:r>
          </a:p>
        </p:txBody>
      </p:sp>
      <p:sp>
        <p:nvSpPr>
          <p:cNvPr id="9" name="TextBox 8">
            <a:extLst>
              <a:ext uri="{FF2B5EF4-FFF2-40B4-BE49-F238E27FC236}">
                <a16:creationId xmlns:a16="http://schemas.microsoft.com/office/drawing/2014/main" id="{AF32A960-C42B-437F-AAFB-22E1766A3FC9}"/>
              </a:ext>
            </a:extLst>
          </p:cNvPr>
          <p:cNvSpPr txBox="1"/>
          <p:nvPr/>
        </p:nvSpPr>
        <p:spPr>
          <a:xfrm>
            <a:off x="244244" y="6165304"/>
            <a:ext cx="11618118" cy="707886"/>
          </a:xfrm>
          <a:prstGeom prst="rect">
            <a:avLst/>
          </a:prstGeom>
          <a:noFill/>
        </p:spPr>
        <p:txBody>
          <a:bodyPr wrap="square">
            <a:spAutoFit/>
          </a:bodyPr>
          <a:lstStyle/>
          <a:p>
            <a:r>
              <a:rPr lang="en-IN" sz="2000" b="1" dirty="0">
                <a:latin typeface="Liberation Mono"/>
              </a:rPr>
              <a:t>Parameter</a:t>
            </a:r>
            <a:r>
              <a:rPr lang="en-IN" sz="2000" dirty="0">
                <a:latin typeface="Liberation Mono"/>
              </a:rPr>
              <a:t>: Is an unknown thing. Means it exists but don’t know it. </a:t>
            </a:r>
          </a:p>
          <a:p>
            <a:r>
              <a:rPr lang="en-IN" sz="2000" dirty="0">
                <a:solidFill>
                  <a:srgbClr val="FF0000"/>
                </a:solidFill>
                <a:latin typeface="Liberation Mono"/>
              </a:rPr>
              <a:t>e.g. </a:t>
            </a:r>
            <a:r>
              <a:rPr lang="en-IN" sz="2000" dirty="0">
                <a:latin typeface="Liberation Mono"/>
              </a:rPr>
              <a:t>Blood sugar it exists but we don’t know it.</a:t>
            </a:r>
            <a:endParaRPr lang="en-IN" sz="2000" dirty="0"/>
          </a:p>
        </p:txBody>
      </p:sp>
      <p:sp>
        <p:nvSpPr>
          <p:cNvPr id="10" name="Rectangle 9">
            <a:extLst>
              <a:ext uri="{FF2B5EF4-FFF2-40B4-BE49-F238E27FC236}">
                <a16:creationId xmlns:a16="http://schemas.microsoft.com/office/drawing/2014/main" id="{7427CB8D-6244-44BF-A312-A2C020168846}"/>
              </a:ext>
            </a:extLst>
          </p:cNvPr>
          <p:cNvSpPr/>
          <p:nvPr/>
        </p:nvSpPr>
        <p:spPr>
          <a:xfrm>
            <a:off x="361027" y="4011448"/>
            <a:ext cx="4942091" cy="209288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11" name="Rectangle 10">
            <a:extLst>
              <a:ext uri="{FF2B5EF4-FFF2-40B4-BE49-F238E27FC236}">
                <a16:creationId xmlns:a16="http://schemas.microsoft.com/office/drawing/2014/main" id="{AB1789F4-D14B-436B-9B95-1FD934D4F8C2}"/>
              </a:ext>
            </a:extLst>
          </p:cNvPr>
          <p:cNvSpPr/>
          <p:nvPr/>
        </p:nvSpPr>
        <p:spPr>
          <a:xfrm>
            <a:off x="6158328" y="3518715"/>
            <a:ext cx="5808660" cy="261610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FUNCTION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63519791"/>
      </p:ext>
    </p:extLst>
  </p:cSld>
  <p:clrMapOvr>
    <a:masterClrMapping/>
  </p:clrMapOvr>
</p:sld>
</file>

<file path=ppt/slides/slide7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proc_parameter - out | inout param-name type</a:t>
            </a:r>
          </a:p>
        </p:txBody>
      </p:sp>
      <p:sp>
        <p:nvSpPr>
          <p:cNvPr id="3" name="Rectangle 2"/>
          <p:cNvSpPr/>
          <p:nvPr/>
        </p:nvSpPr>
        <p:spPr>
          <a:xfrm>
            <a:off x="263352" y="692696"/>
            <a:ext cx="1169012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104644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200" dirty="0">
                <a:solidFill>
                  <a:schemeClr val="bg1">
                    <a:lumMod val="50000"/>
                  </a:schemeClr>
                </a:solidFill>
                <a:latin typeface="Liberation Mono"/>
              </a:rPr>
              <a:t>[</a:t>
            </a:r>
            <a:r>
              <a:rPr lang="en-IN" sz="2200" dirty="0">
                <a:solidFill>
                  <a:srgbClr val="FD8603"/>
                </a:solidFill>
                <a:latin typeface="Liberation Mono"/>
              </a:rPr>
              <a:t> IN </a:t>
            </a:r>
            <a:r>
              <a:rPr lang="en-IN" sz="2200" dirty="0">
                <a:solidFill>
                  <a:schemeClr val="bg1">
                    <a:lumMod val="50000"/>
                  </a:schemeClr>
                </a:solidFill>
                <a:latin typeface="Liberation Mono"/>
              </a:rPr>
              <a:t>|</a:t>
            </a:r>
            <a:r>
              <a:rPr lang="en-IN" sz="2200" dirty="0">
                <a:solidFill>
                  <a:srgbClr val="FD8603"/>
                </a:solidFill>
                <a:latin typeface="Liberation Mono"/>
              </a:rPr>
              <a:t> OUT </a:t>
            </a:r>
            <a:r>
              <a:rPr lang="en-IN" sz="2200" dirty="0">
                <a:solidFill>
                  <a:schemeClr val="bg1">
                    <a:lumMod val="50000"/>
                  </a:schemeClr>
                </a:solidFill>
                <a:latin typeface="Liberation Mono"/>
              </a:rPr>
              <a:t>|</a:t>
            </a:r>
            <a:r>
              <a:rPr lang="en-IN" sz="2200" dirty="0">
                <a:solidFill>
                  <a:srgbClr val="FD8603"/>
                </a:solidFill>
                <a:latin typeface="Liberation Mono"/>
              </a:rPr>
              <a:t> INOUT </a:t>
            </a:r>
            <a:r>
              <a:rPr lang="en-IN" sz="2200" dirty="0">
                <a:solidFill>
                  <a:schemeClr val="bg1">
                    <a:lumMod val="50000"/>
                  </a:schemeClr>
                </a:solidFill>
                <a:latin typeface="Liberation Mono"/>
              </a:rPr>
              <a:t>]</a:t>
            </a:r>
            <a:r>
              <a:rPr lang="en-IN" sz="2200" dirty="0">
                <a:solidFill>
                  <a:srgbClr val="FD8603"/>
                </a:solidFill>
                <a:latin typeface="Liberation Mono"/>
              </a:rPr>
              <a:t> </a:t>
            </a:r>
            <a:r>
              <a:rPr lang="en-IN" sz="2200" i="1" dirty="0">
                <a:latin typeface="Liberation Mono"/>
              </a:rPr>
              <a:t>param_name type</a:t>
            </a:r>
          </a:p>
        </p:txBody>
      </p:sp>
      <p:sp>
        <p:nvSpPr>
          <p:cNvPr id="12" name="TextBox 11">
            <a:extLst>
              <a:ext uri="{FF2B5EF4-FFF2-40B4-BE49-F238E27FC236}">
                <a16:creationId xmlns:a16="http://schemas.microsoft.com/office/drawing/2014/main" id="{42473276-B36C-41DA-8448-22E4B9842446}"/>
              </a:ext>
            </a:extLst>
          </p:cNvPr>
          <p:cNvSpPr txBox="1"/>
          <p:nvPr/>
        </p:nvSpPr>
        <p:spPr>
          <a:xfrm>
            <a:off x="263352" y="4725144"/>
            <a:ext cx="11155114" cy="1785104"/>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algn="just"/>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For each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 pass a user-defined variable in the </a:t>
            </a:r>
            <a:r>
              <a:rPr lang="en-IN" b="1" dirty="0">
                <a:latin typeface="Palatino Linotype" panose="02040502050505030304" pitchFamily="18" charset="0"/>
              </a:rPr>
              <a:t>CALL</a:t>
            </a:r>
            <a:r>
              <a:rPr lang="en-IN" dirty="0">
                <a:latin typeface="Palatino Linotype" panose="02040502050505030304" pitchFamily="18" charset="0"/>
              </a:rPr>
              <a:t> statement that invokes the PROCEDURE. So that you can obtain its value when the PROCEDURE returns.</a:t>
            </a:r>
          </a:p>
          <a:p>
            <a:pPr marL="285750" indent="-285750" algn="just">
              <a:buFont typeface="Arial" panose="020B0604020202020204" pitchFamily="34" charset="0"/>
              <a:buChar char="•"/>
            </a:pPr>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If you are calling the PROCEDURE from within another stored PROCEDURE or FUNCTION, you can also pass a routine parameter or local routine variable as an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a:t>
            </a:r>
          </a:p>
        </p:txBody>
      </p:sp>
      <p:sp>
        <p:nvSpPr>
          <p:cNvPr id="2" name="Rectangle 1">
            <a:extLst>
              <a:ext uri="{FF2B5EF4-FFF2-40B4-BE49-F238E27FC236}">
                <a16:creationId xmlns:a16="http://schemas.microsoft.com/office/drawing/2014/main" id="{5D05A841-091E-0725-61EC-8A622460B0E8}"/>
              </a:ext>
            </a:extLst>
          </p:cNvPr>
          <p:cNvSpPr/>
          <p:nvPr/>
        </p:nvSpPr>
        <p:spPr>
          <a:xfrm>
            <a:off x="4799856" y="2696241"/>
            <a:ext cx="7153622" cy="230832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a:t>
            </a:r>
            <a:r>
              <a:rPr lang="en-IN" dirty="0" err="1">
                <a:latin typeface="Segoe UI Semilight" panose="020B0402040204020203" pitchFamily="34" charset="0"/>
                <a:cs typeface="Segoe UI Semilight" panose="020B0402040204020203" pitchFamily="34" charset="0"/>
              </a:rPr>
              <a:t>local_x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endParaRPr lang="en-IN" dirty="0">
              <a:solidFill>
                <a:srgbClr val="B212AA"/>
              </a:solidFill>
              <a:latin typeface="Segoe UI Semilight" panose="020B04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4A044134-F951-3B6B-874A-29820C0A7C0F}"/>
              </a:ext>
            </a:extLst>
          </p:cNvPr>
          <p:cNvSpPr txBox="1"/>
          <p:nvPr/>
        </p:nvSpPr>
        <p:spPr>
          <a:xfrm>
            <a:off x="5927812" y="647689"/>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84FE0770-0BF6-D109-6F56-91CB1CDDC508}"/>
              </a:ext>
            </a:extLst>
          </p:cNvPr>
          <p:cNvSpPr txBox="1"/>
          <p:nvPr/>
        </p:nvSpPr>
        <p:spPr>
          <a:xfrm>
            <a:off x="296188" y="2981002"/>
            <a:ext cx="3888432" cy="1231106"/>
          </a:xfrm>
          <a:prstGeom prst="rect">
            <a:avLst/>
          </a:prstGeom>
          <a:solidFill>
            <a:schemeClr val="accent5">
              <a:lumMod val="20000"/>
              <a:lumOff val="80000"/>
            </a:schemeClr>
          </a:solidFill>
        </p:spPr>
        <p:txBody>
          <a:bodyPr wrap="square">
            <a:spAutoFit/>
          </a:bodyPr>
          <a:lstStyle/>
          <a:p>
            <a:r>
              <a:rPr lang="en-IN" sz="2000" dirty="0">
                <a:solidFill>
                  <a:srgbClr val="FD8603"/>
                </a:solidFill>
                <a:latin typeface="Liberation Mono"/>
              </a:rPr>
              <a:t>   IN </a:t>
            </a:r>
            <a:r>
              <a:rPr lang="en-IN" sz="2000" dirty="0">
                <a:latin typeface="Liberation Mono"/>
              </a:rPr>
              <a:t>:- </a:t>
            </a:r>
            <a:r>
              <a:rPr lang="en-IN" sz="2000" b="1" i="1" dirty="0">
                <a:latin typeface="Liberation Mono"/>
              </a:rPr>
              <a:t>Input Parameter</a:t>
            </a:r>
          </a:p>
          <a:p>
            <a:endParaRPr lang="en-IN" sz="700" dirty="0">
              <a:latin typeface="Liberation Mono"/>
            </a:endParaRPr>
          </a:p>
          <a:p>
            <a:r>
              <a:rPr lang="en-IN" sz="2000" dirty="0">
                <a:solidFill>
                  <a:srgbClr val="FD8603"/>
                </a:solidFill>
                <a:latin typeface="Liberation Mono"/>
              </a:rPr>
              <a:t>   OUT </a:t>
            </a:r>
            <a:r>
              <a:rPr lang="en-IN" sz="2000" dirty="0">
                <a:latin typeface="Liberation Mono"/>
              </a:rPr>
              <a:t>:- </a:t>
            </a:r>
            <a:r>
              <a:rPr lang="en-IN" sz="2000" b="1" i="1" dirty="0">
                <a:latin typeface="Liberation Mono"/>
              </a:rPr>
              <a:t>Output Parameters</a:t>
            </a:r>
          </a:p>
          <a:p>
            <a:endParaRPr lang="en-IN" sz="700" dirty="0">
              <a:latin typeface="Liberation Mono"/>
            </a:endParaRPr>
          </a:p>
          <a:p>
            <a:r>
              <a:rPr lang="en-IN" sz="2000" dirty="0">
                <a:solidFill>
                  <a:srgbClr val="FD8603"/>
                </a:solidFill>
                <a:latin typeface="Liberation Mono"/>
              </a:rPr>
              <a:t>   INOUT </a:t>
            </a:r>
            <a:r>
              <a:rPr lang="en-IN" sz="2000" dirty="0">
                <a:latin typeface="Liberation Mono"/>
              </a:rPr>
              <a:t>:- </a:t>
            </a:r>
            <a:r>
              <a:rPr lang="en-IN" sz="2000" b="1" i="1" dirty="0">
                <a:latin typeface="Liberation Mono"/>
              </a:rPr>
              <a:t>InputOutput Parameters</a:t>
            </a:r>
          </a:p>
        </p:txBody>
      </p:sp>
    </p:spTree>
    <p:extLst>
      <p:ext uri="{BB962C8B-B14F-4D97-AF65-F5344CB8AC3E}">
        <p14:creationId xmlns:p14="http://schemas.microsoft.com/office/powerpoint/2010/main" val="2425644158"/>
      </p:ext>
    </p:extLst>
  </p:cSld>
  <p:clrMapOvr>
    <a:masterClrMapping/>
  </p:clrMapOvr>
</p:sld>
</file>

<file path=ppt/slides/slide7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arguments and parameters?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59" y="4038601"/>
            <a:ext cx="11521279" cy="968535"/>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IN" sz="2000" b="1" dirty="0">
                <a:latin typeface="Palatino Linotype" panose="02040502050505030304" pitchFamily="18" charset="0"/>
              </a:rPr>
              <a:t>Parameter</a:t>
            </a:r>
            <a:r>
              <a:rPr lang="en-IN" sz="2000" dirty="0">
                <a:latin typeface="Palatino Linotype" panose="02040502050505030304" pitchFamily="18" charset="0"/>
              </a:rPr>
              <a:t> is variable in the declaration of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a:p>
            <a:pPr marL="342900" indent="-342900">
              <a:lnSpc>
                <a:spcPct val="150000"/>
              </a:lnSpc>
              <a:buFont typeface="Arial" panose="020B0604020202020204" pitchFamily="34" charset="0"/>
              <a:buChar char="•"/>
            </a:pPr>
            <a:r>
              <a:rPr lang="en-IN" sz="2000" b="1" dirty="0">
                <a:latin typeface="Palatino Linotype" panose="02040502050505030304" pitchFamily="18" charset="0"/>
              </a:rPr>
              <a:t>Argument</a:t>
            </a:r>
            <a:r>
              <a:rPr lang="en-IN" sz="2000" dirty="0">
                <a:latin typeface="Palatino Linotype" panose="02040502050505030304" pitchFamily="18" charset="0"/>
              </a:rPr>
              <a:t> is the actual value of this variable that gets passed to a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p:txBody>
      </p:sp>
      <p:sp>
        <p:nvSpPr>
          <p:cNvPr id="5" name="Rectangle 4"/>
          <p:cNvSpPr/>
          <p:nvPr/>
        </p:nvSpPr>
        <p:spPr>
          <a:xfrm>
            <a:off x="335360" y="247472"/>
            <a:ext cx="11521279" cy="923330"/>
          </a:xfrm>
          <a:prstGeom prst="rect">
            <a:avLst/>
          </a:prstGeom>
        </p:spPr>
        <p:txBody>
          <a:bodyPr wrap="square">
            <a:spAutoFit/>
          </a:bodyPr>
          <a:lstStyle/>
          <a:p>
            <a:pPr algn="just"/>
            <a:r>
              <a:rPr lang="en-IN" dirty="0">
                <a:latin typeface="Palatino Linotype" panose="02040502050505030304" pitchFamily="18" charset="0"/>
              </a:rPr>
              <a:t>A parameter is a variable in a method definition. When a method is called, the arguments are the data you pass into the method's parameters.  Parameter  is variable in the declaration of function. Argument is the actual value of this variable that gets passed to function.</a:t>
            </a:r>
          </a:p>
        </p:txBody>
      </p:sp>
    </p:spTree>
    <p:extLst>
      <p:ext uri="{BB962C8B-B14F-4D97-AF65-F5344CB8AC3E}">
        <p14:creationId xmlns:p14="http://schemas.microsoft.com/office/powerpoint/2010/main" val="1118865071"/>
      </p:ext>
    </p:extLst>
  </p:cSld>
  <p:clrMapOvr>
    <a:masterClrMapping/>
  </p:clrMapOvr>
</p:sld>
</file>

<file path=ppt/slides/slide7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grpSp>
        <p:nvGrpSpPr>
          <p:cNvPr id="3" name="Group 2"/>
          <p:cNvGrpSpPr/>
          <p:nvPr/>
        </p:nvGrpSpPr>
        <p:grpSpPr>
          <a:xfrm>
            <a:off x="2159769" y="1078468"/>
            <a:ext cx="7627399" cy="4255532"/>
            <a:chOff x="177800" y="914400"/>
            <a:chExt cx="6933999" cy="4255532"/>
          </a:xfrm>
        </p:grpSpPr>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7800" y="1959662"/>
              <a:ext cx="6553200" cy="2231338"/>
            </a:xfrm>
            <a:prstGeom prst="rect">
              <a:avLst/>
            </a:prstGeom>
          </p:spPr>
        </p:pic>
        <p:cxnSp>
          <p:nvCxnSpPr>
            <p:cNvPr id="12" name="Elbow Connector 11"/>
            <p:cNvCxnSpPr/>
            <p:nvPr/>
          </p:nvCxnSpPr>
          <p:spPr>
            <a:xfrm rot="5400000">
              <a:off x="5493534" y="948520"/>
              <a:ext cx="581183" cy="1350360"/>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p:cNvSpPr/>
            <p:nvPr/>
          </p:nvSpPr>
          <p:spPr>
            <a:xfrm>
              <a:off x="5409818" y="914400"/>
              <a:ext cx="1701981" cy="369332"/>
            </a:xfrm>
            <a:prstGeom prst="rect">
              <a:avLst/>
            </a:prstGeom>
            <a:solidFill>
              <a:srgbClr val="CFFF21"/>
            </a:solidFill>
          </p:spPr>
          <p:txBody>
            <a:bodyPr wrap="none">
              <a:spAutoFit/>
            </a:bodyPr>
            <a:lstStyle/>
            <a:p>
              <a:r>
                <a:rPr lang="en-IN" b="1" dirty="0"/>
                <a:t>Parameter</a:t>
              </a:r>
              <a:r>
                <a:rPr lang="en-IN" dirty="0"/>
                <a:t>  </a:t>
              </a:r>
              <a:r>
                <a:rPr lang="en-IN" b="1" dirty="0"/>
                <a:t>List</a:t>
              </a:r>
            </a:p>
          </p:txBody>
        </p:sp>
        <p:sp>
          <p:nvSpPr>
            <p:cNvPr id="17" name="Rectangle 16"/>
            <p:cNvSpPr/>
            <p:nvPr/>
          </p:nvSpPr>
          <p:spPr>
            <a:xfrm>
              <a:off x="2670403" y="4800600"/>
              <a:ext cx="1603295" cy="369332"/>
            </a:xfrm>
            <a:prstGeom prst="rect">
              <a:avLst/>
            </a:prstGeom>
            <a:solidFill>
              <a:srgbClr val="CFFF21"/>
            </a:solidFill>
          </p:spPr>
          <p:txBody>
            <a:bodyPr wrap="none">
              <a:spAutoFit/>
            </a:bodyPr>
            <a:lstStyle/>
            <a:p>
              <a:r>
                <a:rPr lang="en-IN" b="1" dirty="0"/>
                <a:t>Argument</a:t>
              </a:r>
              <a:r>
                <a:rPr lang="en-IN" dirty="0"/>
                <a:t> </a:t>
              </a:r>
              <a:r>
                <a:rPr lang="en-IN" b="1" dirty="0"/>
                <a:t>List</a:t>
              </a:r>
            </a:p>
          </p:txBody>
        </p:sp>
        <p:cxnSp>
          <p:nvCxnSpPr>
            <p:cNvPr id="19" name="Elbow Connector 18"/>
            <p:cNvCxnSpPr/>
            <p:nvPr/>
          </p:nvCxnSpPr>
          <p:spPr>
            <a:xfrm rot="16200000" flipV="1">
              <a:off x="2930438" y="4140606"/>
              <a:ext cx="590124" cy="614713"/>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08170250"/>
      </p:ext>
    </p:extLst>
  </p:cSld>
  <p:clrMapOvr>
    <a:masterClrMapping/>
  </p:clrMapOvr>
</p:sld>
</file>

<file path=ppt/slides/slide7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stored procedure and function?</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696420847"/>
      </p:ext>
    </p:extLst>
  </p:cSld>
  <p:clrMapOvr>
    <a:masterClrMapping/>
  </p:clrMapOvr>
</p:sld>
</file>

<file path=ppt/slides/slide7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6" name="Rectangle 5">
            <a:extLst>
              <a:ext uri="{FF2B5EF4-FFF2-40B4-BE49-F238E27FC236}">
                <a16:creationId xmlns:a16="http://schemas.microsoft.com/office/drawing/2014/main" id="{E9A2D1C9-1561-460B-BE5E-5BB2A50A12A5}"/>
              </a:ext>
            </a:extLst>
          </p:cNvPr>
          <p:cNvSpPr/>
          <p:nvPr/>
        </p:nvSpPr>
        <p:spPr>
          <a:xfrm>
            <a:off x="227348" y="928671"/>
            <a:ext cx="11737304" cy="307776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A FUNCTION always returns a value using the return statement. PROCEDURE may return one or more values through OUT parameter(s) or may not return any at all.</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FUNCTIONS are normally used for computations where as PROCEDURES are normally used for executing business logic.</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returns 1 value only. PROCEDURE can return multiple values (max 1024).</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can be called directly by SQL statement like select func_name from dual while PROCEDURES cannot.</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dose  not allow the use of DDL statements (like: CREATE, ALTER, DROP etc.) while PROCEDURE  can.</a:t>
            </a:r>
          </a:p>
        </p:txBody>
      </p:sp>
      <p:sp>
        <p:nvSpPr>
          <p:cNvPr id="7" name="Rectangle 6">
            <a:extLst>
              <a:ext uri="{FF2B5EF4-FFF2-40B4-BE49-F238E27FC236}">
                <a16:creationId xmlns:a16="http://schemas.microsoft.com/office/drawing/2014/main" id="{E154FDA3-6358-4826-A655-B2127B6A1EF6}"/>
              </a:ext>
            </a:extLst>
          </p:cNvPr>
          <p:cNvSpPr/>
          <p:nvPr/>
        </p:nvSpPr>
        <p:spPr>
          <a:xfrm>
            <a:off x="227348" y="4031193"/>
            <a:ext cx="11737304" cy="830997"/>
          </a:xfrm>
          <a:prstGeom prst="rect">
            <a:avLst/>
          </a:prstGeom>
        </p:spPr>
        <p:txBody>
          <a:bodyPr wrap="square">
            <a:spAutoFit/>
          </a:bodyPr>
          <a:lstStyle/>
          <a:p>
            <a:pPr algn="just"/>
            <a:r>
              <a:rPr lang="en-IN" sz="2400" dirty="0">
                <a:solidFill>
                  <a:srgbClr val="0070C0"/>
                </a:solidFill>
                <a:latin typeface="Segoe UI Light" panose="020B0502040204020203" pitchFamily="34" charset="0"/>
                <a:cs typeface="Segoe UI Light" panose="020B0502040204020203" pitchFamily="34" charset="0"/>
              </a:rPr>
              <a:t>The major difference is that UDFs can be used like any other expression within SQL statements, whereas stored procedures must be invoked using the CALL statement.</a:t>
            </a:r>
          </a:p>
        </p:txBody>
      </p:sp>
      <p:sp>
        <p:nvSpPr>
          <p:cNvPr id="8" name="TextBox 7">
            <a:extLst>
              <a:ext uri="{FF2B5EF4-FFF2-40B4-BE49-F238E27FC236}">
                <a16:creationId xmlns:a16="http://schemas.microsoft.com/office/drawing/2014/main" id="{4F29923A-1946-4AD1-AB53-B1F1112C5E6B}"/>
              </a:ext>
            </a:extLst>
          </p:cNvPr>
          <p:cNvSpPr txBox="1"/>
          <p:nvPr/>
        </p:nvSpPr>
        <p:spPr>
          <a:xfrm>
            <a:off x="227348" y="5006206"/>
            <a:ext cx="11737304" cy="116955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p>
          <a:p>
            <a:pPr marL="285750" indent="-285750">
              <a:buFont typeface="Arial" panose="020B0604020202020204" pitchFamily="34" charset="0"/>
              <a:buChar char="•"/>
            </a:pPr>
            <a:r>
              <a:rPr lang="en-IN" dirty="0">
                <a:latin typeface="Palatino Linotype" panose="02040502050505030304" pitchFamily="18" charset="0"/>
              </a:rPr>
              <a:t>MySQL permits routines to contain DDL statements, such as CREATE, ALTER and DROP in </a:t>
            </a:r>
            <a:r>
              <a:rPr lang="en-IN" b="1" dirty="0">
                <a:latin typeface="Palatino Linotype" panose="02040502050505030304" pitchFamily="18" charset="0"/>
              </a:rPr>
              <a:t>stored procedure,</a:t>
            </a:r>
          </a:p>
          <a:p>
            <a:pPr marL="285750" indent="-285750">
              <a:buFont typeface="Arial" panose="020B0604020202020204" pitchFamily="34" charset="0"/>
              <a:buChar char="•"/>
            </a:pPr>
            <a:endParaRPr lang="en-IN" sz="400" b="1"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but DDL statements, such as CREATE, ALTER and DROP are not permits in </a:t>
            </a:r>
            <a:r>
              <a:rPr lang="en-IN" b="1" dirty="0">
                <a:latin typeface="Palatino Linotype" panose="02040502050505030304" pitchFamily="18" charset="0"/>
              </a:rPr>
              <a:t>stored function</a:t>
            </a:r>
            <a:r>
              <a:rPr lang="en-IN" dirty="0">
                <a:latin typeface="Palatino Linotype" panose="02040502050505030304" pitchFamily="18" charset="0"/>
              </a:rPr>
              <a:t>.</a:t>
            </a:r>
          </a:p>
        </p:txBody>
      </p:sp>
    </p:spTree>
    <p:extLst>
      <p:ext uri="{BB962C8B-B14F-4D97-AF65-F5344CB8AC3E}">
        <p14:creationId xmlns:p14="http://schemas.microsoft.com/office/powerpoint/2010/main" val="3333021521"/>
      </p:ext>
    </p:extLst>
  </p:cSld>
  <p:clrMapOvr>
    <a:masterClrMapping/>
  </p:clrMapOvr>
</p:sld>
</file>

<file path=ppt/slides/slide7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calling procedure from function and contrariwise</a:t>
            </a:r>
          </a:p>
        </p:txBody>
      </p:sp>
      <p:grpSp>
        <p:nvGrpSpPr>
          <p:cNvPr id="16" name="Group 15">
            <a:extLst>
              <a:ext uri="{FF2B5EF4-FFF2-40B4-BE49-F238E27FC236}">
                <a16:creationId xmlns:a16="http://schemas.microsoft.com/office/drawing/2014/main" id="{6BCAFF7B-35C5-415A-B74F-D75DB45F537E}"/>
              </a:ext>
            </a:extLst>
          </p:cNvPr>
          <p:cNvGrpSpPr/>
          <p:nvPr/>
        </p:nvGrpSpPr>
        <p:grpSpPr>
          <a:xfrm>
            <a:off x="551384" y="908720"/>
            <a:ext cx="11017224" cy="5641868"/>
            <a:chOff x="551384" y="1066798"/>
            <a:chExt cx="11017224" cy="5641868"/>
          </a:xfrm>
        </p:grpSpPr>
        <p:sp>
          <p:nvSpPr>
            <p:cNvPr id="2" name="Rectangle 1"/>
            <p:cNvSpPr/>
            <p:nvPr/>
          </p:nvSpPr>
          <p:spPr>
            <a:xfrm>
              <a:off x="551384" y="1066798"/>
              <a:ext cx="11017224" cy="563231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F1() 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sz="1800" dirty="0">
                  <a:solidFill>
                    <a:srgbClr val="0077AA"/>
                  </a:solidFill>
                  <a:latin typeface="Liberation Mono"/>
                </a:rPr>
                <a:t>DETERMINISTIC</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 default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call p1(x);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return x;</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para1;</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grpSp>
          <p:nvGrpSpPr>
            <p:cNvPr id="9" name="Group 8"/>
            <p:cNvGrpSpPr/>
            <p:nvPr/>
          </p:nvGrpSpPr>
          <p:grpSpPr>
            <a:xfrm>
              <a:off x="2919122" y="6117084"/>
              <a:ext cx="2463188" cy="591582"/>
              <a:chOff x="2009383" y="5812286"/>
              <a:chExt cx="2067394" cy="591582"/>
            </a:xfrm>
            <a:noFill/>
          </p:grpSpPr>
          <p:grpSp>
            <p:nvGrpSpPr>
              <p:cNvPr id="6" name="Group 5"/>
              <p:cNvGrpSpPr/>
              <p:nvPr/>
            </p:nvGrpSpPr>
            <p:grpSpPr>
              <a:xfrm>
                <a:off x="2009383" y="5812286"/>
                <a:ext cx="876301" cy="381000"/>
                <a:chOff x="2009384" y="5668052"/>
                <a:chExt cx="876301" cy="381000"/>
              </a:xfrm>
              <a:grpFill/>
            </p:grpSpPr>
            <p:cxnSp>
              <p:nvCxnSpPr>
                <p:cNvPr id="13" name="Straight Connector 12"/>
                <p:cNvCxnSpPr/>
                <p:nvPr/>
              </p:nvCxnSpPr>
              <p:spPr>
                <a:xfrm>
                  <a:off x="2009384" y="5668052"/>
                  <a:ext cx="0" cy="38100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H="1">
                  <a:off x="2009385" y="6049052"/>
                  <a:ext cx="876300" cy="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8" name="TextBox 7"/>
              <p:cNvSpPr txBox="1"/>
              <p:nvPr/>
            </p:nvSpPr>
            <p:spPr>
              <a:xfrm>
                <a:off x="2802227" y="6034536"/>
                <a:ext cx="1274550" cy="369332"/>
              </a:xfrm>
              <a:prstGeom prst="rect">
                <a:avLst/>
              </a:prstGeom>
              <a:grpFill/>
            </p:spPr>
            <p:txBody>
              <a:bodyPr wrap="none" rtlCol="0">
                <a:spAutoFit/>
              </a:bodyPr>
              <a:lstStyle/>
              <a:p>
                <a:r>
                  <a:rPr lang="en-IN" dirty="0">
                    <a:solidFill>
                      <a:srgbClr val="00B050"/>
                    </a:solidFill>
                    <a:latin typeface="Gill Sans MT (Body)"/>
                  </a:rPr>
                  <a:t>This will work</a:t>
                </a:r>
              </a:p>
            </p:txBody>
          </p:sp>
        </p:grpSp>
        <p:grpSp>
          <p:nvGrpSpPr>
            <p:cNvPr id="10" name="Group 9">
              <a:extLst>
                <a:ext uri="{FF2B5EF4-FFF2-40B4-BE49-F238E27FC236}">
                  <a16:creationId xmlns:a16="http://schemas.microsoft.com/office/drawing/2014/main" id="{50589387-586F-4D07-8AA1-43FA9A437145}"/>
                </a:ext>
              </a:extLst>
            </p:cNvPr>
            <p:cNvGrpSpPr/>
            <p:nvPr/>
          </p:nvGrpSpPr>
          <p:grpSpPr>
            <a:xfrm>
              <a:off x="3993696" y="5387072"/>
              <a:ext cx="7430960" cy="646331"/>
              <a:chOff x="3993696" y="5387072"/>
              <a:chExt cx="7430960" cy="646331"/>
            </a:xfrm>
          </p:grpSpPr>
          <p:sp>
            <p:nvSpPr>
              <p:cNvPr id="3" name="Rectangle 2"/>
              <p:cNvSpPr/>
              <p:nvPr/>
            </p:nvSpPr>
            <p:spPr>
              <a:xfrm>
                <a:off x="6662974" y="5387072"/>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1" name="Straight Arrow Connector 10"/>
              <p:cNvCxnSpPr/>
              <p:nvPr/>
            </p:nvCxnSpPr>
            <p:spPr>
              <a:xfrm>
                <a:off x="3993696" y="5682347"/>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nvGrpSpPr>
            <p:cNvPr id="5" name="Group 4">
              <a:extLst>
                <a:ext uri="{FF2B5EF4-FFF2-40B4-BE49-F238E27FC236}">
                  <a16:creationId xmlns:a16="http://schemas.microsoft.com/office/drawing/2014/main" id="{352C8475-32E3-403B-B82A-8F932C4C9852}"/>
                </a:ext>
              </a:extLst>
            </p:cNvPr>
            <p:cNvGrpSpPr/>
            <p:nvPr/>
          </p:nvGrpSpPr>
          <p:grpSpPr>
            <a:xfrm>
              <a:off x="3993696" y="2646007"/>
              <a:ext cx="7430960" cy="646331"/>
              <a:chOff x="3993696" y="2646007"/>
              <a:chExt cx="7430960" cy="646331"/>
            </a:xfrm>
          </p:grpSpPr>
          <p:sp>
            <p:nvSpPr>
              <p:cNvPr id="14" name="Rectangle 13"/>
              <p:cNvSpPr/>
              <p:nvPr/>
            </p:nvSpPr>
            <p:spPr>
              <a:xfrm>
                <a:off x="6662974" y="2646007"/>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5" name="Straight Arrow Connector 14"/>
              <p:cNvCxnSpPr/>
              <p:nvPr/>
            </p:nvCxnSpPr>
            <p:spPr>
              <a:xfrm>
                <a:off x="3993696" y="2941282"/>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74860134"/>
      </p:ext>
    </p:extLst>
  </p:cSld>
  <p:clrMapOvr>
    <a:masterClrMapping/>
  </p:clrMapOvr>
</p:sld>
</file>

<file path=ppt/slides/slide7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source and call 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979634020"/>
      </p:ext>
    </p:extLst>
  </p:cSld>
  <p:clrMapOvr>
    <a:masterClrMapping/>
  </p:clrMapOvr>
</p:sld>
</file>

<file path=ppt/slides/slide7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and call stored procedure</a:t>
            </a:r>
          </a:p>
        </p:txBody>
      </p:sp>
      <p:sp>
        <p:nvSpPr>
          <p:cNvPr id="3" name="Rectangle 2"/>
          <p:cNvSpPr/>
          <p:nvPr/>
        </p:nvSpPr>
        <p:spPr>
          <a:xfrm>
            <a:off x="455787" y="692696"/>
            <a:ext cx="11184829"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are already running mysql, you can execute an SQL script file using the </a:t>
            </a:r>
            <a:r>
              <a:rPr lang="en-IN" b="1" dirty="0">
                <a:latin typeface="Arial" panose="020B0604020202020204" pitchFamily="34" charset="0"/>
                <a:cs typeface="Arial" panose="020B0604020202020204" pitchFamily="34" charset="0"/>
              </a:rPr>
              <a:t>source</a:t>
            </a:r>
            <a:r>
              <a:rPr lang="en-IN" dirty="0">
                <a:latin typeface="Arial" panose="020B0604020202020204" pitchFamily="34" charset="0"/>
                <a:cs typeface="Arial" panose="020B0604020202020204" pitchFamily="34" charset="0"/>
              </a:rPr>
              <a:t> command or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command</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84881" y="1484784"/>
            <a:ext cx="10900469" cy="769441"/>
          </a:xfrm>
          <a:prstGeom prst="rect">
            <a:avLst/>
          </a:prstGeom>
          <a:solidFill>
            <a:schemeClr val="bg1"/>
          </a:solidFill>
        </p:spPr>
        <p:txBody>
          <a:bodyPr wrap="square">
            <a:spAutoFit/>
          </a:bodyPr>
          <a:lstStyle/>
          <a:p>
            <a:r>
              <a:rPr lang="en-IN" dirty="0">
                <a:solidFill>
                  <a:srgbClr val="0077AA"/>
                </a:solidFill>
                <a:latin typeface="Liberation Mono"/>
              </a:rPr>
              <a:t>source </a:t>
            </a:r>
            <a:r>
              <a:rPr lang="en-IN" i="1" dirty="0">
                <a:solidFill>
                  <a:srgbClr val="000000"/>
                </a:solidFill>
                <a:latin typeface="Liberation Mono"/>
              </a:rPr>
              <a:t>file_name.sql</a:t>
            </a:r>
          </a:p>
          <a:p>
            <a:endParaRPr lang="en-IN" sz="800" dirty="0">
              <a:solidFill>
                <a:srgbClr val="0077AA"/>
              </a:solidFill>
              <a:latin typeface="Liberation Mono"/>
            </a:endParaRPr>
          </a:p>
          <a:p>
            <a:r>
              <a:rPr lang="en-IN" dirty="0">
                <a:solidFill>
                  <a:srgbClr val="0077AA"/>
                </a:solidFill>
                <a:latin typeface="Liberation Mono"/>
              </a:rPr>
              <a:t>\. </a:t>
            </a:r>
            <a:r>
              <a:rPr lang="en-IN" i="1" dirty="0">
                <a:solidFill>
                  <a:srgbClr val="000000"/>
                </a:solidFill>
                <a:latin typeface="Liberation Mono"/>
              </a:rPr>
              <a:t>file_name.sql</a:t>
            </a:r>
          </a:p>
        </p:txBody>
      </p:sp>
      <p:sp>
        <p:nvSpPr>
          <p:cNvPr id="2" name="Rectangle 1"/>
          <p:cNvSpPr/>
          <p:nvPr/>
        </p:nvSpPr>
        <p:spPr>
          <a:xfrm>
            <a:off x="551383" y="2494637"/>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source pl1.sql;</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 file_name.sql;</a:t>
            </a:r>
          </a:p>
        </p:txBody>
      </p:sp>
      <p:sp>
        <p:nvSpPr>
          <p:cNvPr id="6" name="Rectangle 5"/>
          <p:cNvSpPr/>
          <p:nvPr/>
        </p:nvSpPr>
        <p:spPr>
          <a:xfrm>
            <a:off x="455787" y="3513782"/>
            <a:ext cx="11184829"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CALL statement invokes a stored procedure that was defined previously with CREATE PROCEDURE. Stored procedures that take no arguments can be invoked without parentheses. That is, CALL sp_name and CALL sp_name() are equivalent.</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551383" y="5662989"/>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p:txBody>
      </p:sp>
      <p:sp>
        <p:nvSpPr>
          <p:cNvPr id="9" name="Rectangle 8"/>
          <p:cNvSpPr/>
          <p:nvPr/>
        </p:nvSpPr>
        <p:spPr>
          <a:xfrm>
            <a:off x="551383" y="4646121"/>
            <a:ext cx="5687201" cy="769441"/>
          </a:xfrm>
          <a:prstGeom prst="rect">
            <a:avLst/>
          </a:prstGeom>
        </p:spPr>
        <p:txBody>
          <a:bodyPr wrap="square">
            <a:spAutoFit/>
          </a:bodyPr>
          <a:lstStyle/>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r>
              <a:rPr lang="en-IN" i="1" dirty="0">
                <a:solidFill>
                  <a:srgbClr val="000000"/>
                </a:solidFill>
                <a:latin typeface="Liberation Mono"/>
              </a:rPr>
              <a:t>parameter</a:t>
            </a:r>
            <a:r>
              <a:rPr lang="en-IN" dirty="0">
                <a:solidFill>
                  <a:srgbClr val="999999"/>
                </a:solidFill>
                <a:latin typeface="Liberation Mono"/>
              </a:rPr>
              <a:t>[,...]])</a:t>
            </a:r>
          </a:p>
          <a:p>
            <a:endParaRPr lang="en-IN" sz="800" dirty="0">
              <a:solidFill>
                <a:srgbClr val="999999"/>
              </a:solidFill>
              <a:latin typeface="Liberation Mono"/>
            </a:endParaRPr>
          </a:p>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endParaRPr lang="en-IN" dirty="0"/>
          </a:p>
        </p:txBody>
      </p:sp>
    </p:spTree>
    <p:extLst>
      <p:ext uri="{BB962C8B-B14F-4D97-AF65-F5344CB8AC3E}">
        <p14:creationId xmlns:p14="http://schemas.microsoft.com/office/powerpoint/2010/main" val="2039662687"/>
      </p:ext>
    </p:extLst>
  </p:cSld>
  <p:clrMapOvr>
    <a:masterClrMapping/>
  </p:clrMapOvr>
</p:sld>
</file>

<file path=ppt/slides/slide7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b="1" i="1" dirty="0">
                <a:solidFill>
                  <a:srgbClr val="DC525C"/>
                </a:solidFill>
                <a:latin typeface="Segoe UI Light" panose="020B0502040204020203" pitchFamily="34" charset="0"/>
                <a:cs typeface="Segoe UI Light" panose="020B0502040204020203" pitchFamily="34" charset="0"/>
              </a:rPr>
              <a:t>delimiter</a:t>
            </a:r>
            <a:r>
              <a:rPr lang="en-IN" sz="4800" dirty="0">
                <a:solidFill>
                  <a:srgbClr val="DC525C"/>
                </a:solidFill>
                <a:latin typeface="Segoe UI Light" panose="020B0502040204020203" pitchFamily="34" charset="0"/>
                <a:cs typeface="Segoe UI Light" panose="020B0502040204020203" pitchFamily="34" charset="0"/>
              </a:rPr>
              <a:t> </a:t>
            </a:r>
            <a:r>
              <a:rPr lang="en-US" sz="4800" b="1" i="1" dirty="0">
                <a:solidFill>
                  <a:srgbClr val="DC525C"/>
                </a:solidFill>
                <a:latin typeface="Segoe UI Light" panose="020B0502040204020203" pitchFamily="34" charset="0"/>
                <a:cs typeface="Segoe UI Light" panose="020B0502040204020203" pitchFamily="34" charset="0"/>
              </a:rPr>
              <a:t>- statement</a:t>
            </a:r>
          </a:p>
        </p:txBody>
      </p:sp>
      <p:sp>
        <p:nvSpPr>
          <p:cNvPr id="3" name="Rectangle 2"/>
          <p:cNvSpPr/>
          <p:nvPr/>
        </p:nvSpPr>
        <p:spPr>
          <a:xfrm>
            <a:off x="371364" y="3225969"/>
            <a:ext cx="11449272" cy="1015663"/>
          </a:xfrm>
          <a:prstGeom prst="rect">
            <a:avLst/>
          </a:prstGeom>
          <a:noFill/>
        </p:spPr>
        <p:txBody>
          <a:bodyPr wrap="square">
            <a:spAutoFit/>
          </a:bodyPr>
          <a:lstStyle/>
          <a:p>
            <a:pPr algn="just"/>
            <a:r>
              <a:rPr lang="en-IN" sz="2000" dirty="0">
                <a:latin typeface="Palatino Linotype" panose="02040502050505030304" pitchFamily="18" charset="0"/>
                <a:cs typeface="Arial" panose="020B0604020202020204" pitchFamily="34" charset="0"/>
              </a:rPr>
              <a:t>By default, mysql itself recognizes the semicolon as a statement delimiter, so you must redefine the delimiter temporarily to cause mysql to pass the entire stored program definition to the server. To redefine the mysql delimiter, use the delimiter command.</a:t>
            </a:r>
          </a:p>
        </p:txBody>
      </p:sp>
    </p:spTree>
    <p:extLst>
      <p:ext uri="{BB962C8B-B14F-4D97-AF65-F5344CB8AC3E}">
        <p14:creationId xmlns:p14="http://schemas.microsoft.com/office/powerpoint/2010/main" val="1797025571"/>
      </p:ext>
    </p:extLst>
  </p:cSld>
  <p:clrMapOvr>
    <a:masterClrMapping/>
  </p:clrMapOvr>
</p:sld>
</file>

<file path=ppt/slides/slide7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077888" y="2566645"/>
            <a:ext cx="10036224"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begin ... end </a:t>
            </a:r>
          </a:p>
          <a:p>
            <a:pPr algn="ctr"/>
            <a:r>
              <a:rPr lang="en-US" sz="4800" dirty="0">
                <a:solidFill>
                  <a:srgbClr val="DC525C"/>
                </a:solidFill>
                <a:latin typeface="Segoe UI Light" panose="020B0502040204020203" pitchFamily="34" charset="0"/>
                <a:cs typeface="Segoe UI Light" panose="020B0502040204020203" pitchFamily="34" charset="0"/>
              </a:rPr>
              <a:t>compound-statement</a:t>
            </a:r>
          </a:p>
        </p:txBody>
      </p:sp>
      <p:sp>
        <p:nvSpPr>
          <p:cNvPr id="3" name="Rectangle 2"/>
          <p:cNvSpPr/>
          <p:nvPr/>
        </p:nvSpPr>
        <p:spPr>
          <a:xfrm>
            <a:off x="119336" y="4149080"/>
            <a:ext cx="6480720" cy="2616101"/>
          </a:xfrm>
          <a:prstGeom prst="rect">
            <a:avLst/>
          </a:prstGeom>
          <a:noFill/>
        </p:spPr>
        <p:txBody>
          <a:bodyPr wrap="square">
            <a:spAutoFit/>
          </a:bodyPr>
          <a:lstStyle/>
          <a:p>
            <a:r>
              <a:rPr lang="en-IN" sz="2200" dirty="0">
                <a:latin typeface="Palatino Linotype" panose="02040502050505030304" pitchFamily="18" charset="0"/>
                <a:cs typeface="Arial" panose="020B0604020202020204" pitchFamily="34" charset="0"/>
              </a:rPr>
              <a:t>A compound statement is a block that can contain:</a:t>
            </a:r>
          </a:p>
          <a:p>
            <a:endParaRPr lang="en-IN" sz="2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other blocks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variables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cursors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exception handlers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compound statements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flow control constructs such as loops and conditional tests</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156EF34E-4EDC-478C-A30C-4560F43935D5}"/>
              </a:ext>
            </a:extLst>
          </p:cNvPr>
          <p:cNvSpPr/>
          <p:nvPr/>
        </p:nvSpPr>
        <p:spPr>
          <a:xfrm>
            <a:off x="335360" y="164827"/>
            <a:ext cx="4942091" cy="209288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42266D04-809B-41C7-BD10-8AAA2350448F}"/>
              </a:ext>
            </a:extLst>
          </p:cNvPr>
          <p:cNvSpPr/>
          <p:nvPr/>
        </p:nvSpPr>
        <p:spPr>
          <a:xfrm>
            <a:off x="6240016" y="164827"/>
            <a:ext cx="5808660" cy="261610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TextBox 3">
            <a:extLst>
              <a:ext uri="{FF2B5EF4-FFF2-40B4-BE49-F238E27FC236}">
                <a16:creationId xmlns:a16="http://schemas.microsoft.com/office/drawing/2014/main" id="{6397E2B8-822E-2517-DC95-E5DE76C0F2F8}"/>
              </a:ext>
            </a:extLst>
          </p:cNvPr>
          <p:cNvSpPr txBox="1"/>
          <p:nvPr/>
        </p:nvSpPr>
        <p:spPr>
          <a:xfrm>
            <a:off x="6312024" y="4830832"/>
            <a:ext cx="5760640" cy="1046440"/>
          </a:xfrm>
          <a:prstGeom prst="rect">
            <a:avLst/>
          </a:prstGeom>
          <a:solidFill>
            <a:schemeClr val="accent3">
              <a:lumMod val="40000"/>
              <a:lumOff val="60000"/>
            </a:schemeClr>
          </a:solidFill>
        </p:spPr>
        <p:txBody>
          <a:bodyPr wrap="square">
            <a:spAutoFit/>
          </a:bodyPr>
          <a:lstStyle/>
          <a:p>
            <a:pPr marL="457200" indent="-457200">
              <a:buFont typeface="+mj-lt"/>
              <a:buAutoNum type="arabicPeriod"/>
            </a:pPr>
            <a:endParaRPr lang="en-IN" sz="1000" dirty="0">
              <a:latin typeface="Palatino Linotype" panose="02040502050505030304" pitchFamily="18" charset="0"/>
            </a:endParaRPr>
          </a:p>
          <a:p>
            <a:pPr marL="273050" indent="-273050">
              <a:buFont typeface="+mj-lt"/>
              <a:buAutoNum type="arabicPeriod"/>
            </a:pPr>
            <a:r>
              <a:rPr lang="en-IN" dirty="0">
                <a:latin typeface="Palatino Linotype" panose="02040502050505030304" pitchFamily="18" charset="0"/>
              </a:rPr>
              <a:t>Inner block can access outer block variables.</a:t>
            </a:r>
          </a:p>
          <a:p>
            <a:pPr marL="273050" indent="-273050"/>
            <a:r>
              <a:rPr lang="en-IN" sz="600" dirty="0">
                <a:latin typeface="Palatino Linotype" panose="02040502050505030304" pitchFamily="18" charset="0"/>
              </a:rPr>
              <a:t>  </a:t>
            </a:r>
          </a:p>
          <a:p>
            <a:pPr marL="273050" indent="-273050">
              <a:buFont typeface="+mj-lt"/>
              <a:buAutoNum type="arabicPeriod" startAt="2"/>
            </a:pPr>
            <a:r>
              <a:rPr lang="en-IN" dirty="0">
                <a:latin typeface="Palatino Linotype" panose="02040502050505030304" pitchFamily="18" charset="0"/>
              </a:rPr>
              <a:t>But outer block cannot access inner block  variables.</a:t>
            </a:r>
          </a:p>
          <a:p>
            <a:endParaRPr lang="en-IN" sz="1000" dirty="0">
              <a:latin typeface="Palatino Linotype" panose="02040502050505030304" pitchFamily="18" charset="0"/>
            </a:endParaRPr>
          </a:p>
        </p:txBody>
      </p:sp>
    </p:spTree>
    <p:extLst>
      <p:ext uri="{BB962C8B-B14F-4D97-AF65-F5344CB8AC3E}">
        <p14:creationId xmlns:p14="http://schemas.microsoft.com/office/powerpoint/2010/main" val="2198085191"/>
      </p:ext>
    </p:extLst>
  </p:cSld>
  <p:clrMapOvr>
    <a:masterClrMapping/>
  </p:clrMapOvr>
</p:sld>
</file>

<file path=ppt/slides/slide7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begin ... end</a:t>
            </a:r>
          </a:p>
        </p:txBody>
      </p:sp>
      <p:sp>
        <p:nvSpPr>
          <p:cNvPr id="3" name="Rectangle 2"/>
          <p:cNvSpPr/>
          <p:nvPr/>
        </p:nvSpPr>
        <p:spPr>
          <a:xfrm>
            <a:off x="407368" y="838200"/>
            <a:ext cx="11305256"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BEGIN ... END syntax is used for writing compound statements, which can appear within stored programs (stored procedures and functions, triggers, and events). A compound statement can contain multiple statements, enclosed by the BEGIN and END keywords. statement_list represents a list of one or more statements, each terminated by a semicolon (;) statement delimiter. The statement_list itself is optional, so the empty compound statement (BEGIN END) is legal.</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07368" y="2570890"/>
            <a:ext cx="8763000" cy="3477875"/>
          </a:xfrm>
          <a:prstGeom prst="rect">
            <a:avLst/>
          </a:prstGeom>
          <a:solidFill>
            <a:schemeClr val="bg1"/>
          </a:solidFill>
        </p:spPr>
        <p:txBody>
          <a:bodyPr wrap="square">
            <a:spAutoFit/>
          </a:bodyPr>
          <a:lstStyle/>
          <a:p>
            <a:r>
              <a:rPr lang="en-IN" sz="2000" dirty="0">
                <a:solidFill>
                  <a:srgbClr val="0077AA"/>
                </a:solidFill>
                <a:latin typeface="Liberation Mono"/>
              </a:rPr>
              <a:t>[begin_label:] BEGIN</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[begin_label:] BEGIN</a:t>
            </a:r>
          </a:p>
          <a:p>
            <a:r>
              <a:rPr lang="en-IN" sz="2000" dirty="0">
                <a:solidFill>
                  <a:schemeClr val="bg1">
                    <a:lumMod val="50000"/>
                  </a:schemeClr>
                </a:solidFill>
                <a:latin typeface="Liberation Mono"/>
              </a:rPr>
              <a:t>             .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END [end_label]</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END [end_label]</a:t>
            </a:r>
          </a:p>
        </p:txBody>
      </p:sp>
      <p:sp>
        <p:nvSpPr>
          <p:cNvPr id="6" name="TextBox 5">
            <a:extLst>
              <a:ext uri="{FF2B5EF4-FFF2-40B4-BE49-F238E27FC236}">
                <a16:creationId xmlns:a16="http://schemas.microsoft.com/office/drawing/2014/main" id="{87A349F8-DD82-4E14-A6A9-CB7806A61976}"/>
              </a:ext>
            </a:extLst>
          </p:cNvPr>
          <p:cNvSpPr txBox="1"/>
          <p:nvPr/>
        </p:nvSpPr>
        <p:spPr>
          <a:xfrm>
            <a:off x="4795233" y="2903453"/>
            <a:ext cx="6093724"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solidFill>
                  <a:srgbClr val="0077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false;</a:t>
            </a:r>
          </a:p>
          <a:p>
            <a:pPr marL="273050"/>
            <a:r>
              <a:rPr lang="en-IN" dirty="0">
                <a:solidFill>
                  <a:srgbClr val="0077AA"/>
                </a:solidFill>
                <a:latin typeface="Segoe UI Semilight" panose="020B0402040204020203" pitchFamily="34" charset="0"/>
                <a:cs typeface="Segoe UI Semilight" panose="020B0402040204020203" pitchFamily="34" charset="0"/>
              </a:rPr>
              <a:t>   begin</a:t>
            </a:r>
          </a:p>
          <a:p>
            <a:pPr marL="273050"/>
            <a:r>
              <a:rPr lang="en-IN" dirty="0">
                <a:latin typeface="Segoe UI Semilight" panose="020B04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x;</a:t>
            </a:r>
          </a:p>
          <a:p>
            <a:pPr marL="273050"/>
            <a:r>
              <a:rPr lang="en-IN" dirty="0">
                <a:solidFill>
                  <a:srgbClr val="0077AA"/>
                </a:solidFill>
                <a:latin typeface="Segoe UI Semilight" panose="020B0402040204020203" pitchFamily="34" charset="0"/>
                <a:cs typeface="Segoe UI Semilight" panose="020B0402040204020203" pitchFamily="34" charset="0"/>
              </a:rPr>
              <a:t>   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SELECT y;</a:t>
            </a:r>
          </a:p>
          <a:p>
            <a:pPr marL="273050"/>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92780797"/>
      </p:ext>
    </p:extLst>
  </p:cSld>
  <p:clrMapOvr>
    <a:masterClrMapping/>
  </p:clrMapOvr>
</p:sld>
</file>

<file path=ppt/slides/slide7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3" name="Table 2"/>
          <p:cNvGraphicFramePr>
            <a:graphicFrameLocks noGrp="1"/>
          </p:cNvGraphicFramePr>
          <p:nvPr>
            <p:extLst>
              <p:ext uri="{D42A27DB-BD31-4B8C-83A1-F6EECF244321}">
                <p14:modId xmlns:p14="http://schemas.microsoft.com/office/powerpoint/2010/main" val="1541544720"/>
              </p:ext>
            </p:extLst>
          </p:nvPr>
        </p:nvGraphicFramePr>
        <p:xfrm>
          <a:off x="6600056" y="1060728"/>
          <a:ext cx="5544616" cy="426720"/>
        </p:xfrm>
        <a:graphic>
          <a:graphicData uri="http://schemas.openxmlformats.org/drawingml/2006/table">
            <a:tbl>
              <a:tblPr/>
              <a:tblGrid>
                <a:gridCol w="5544616">
                  <a:extLst>
                    <a:ext uri="{9D8B030D-6E8A-4147-A177-3AD203B41FA5}">
                      <a16:colId xmlns:a16="http://schemas.microsoft.com/office/drawing/2014/main" val="20000"/>
                    </a:ext>
                  </a:extLst>
                </a:gridCol>
              </a:tblGrid>
              <a:tr h="0">
                <a:tc>
                  <a:txBody>
                    <a:bodyPr/>
                    <a:lstStyle/>
                    <a:p>
                      <a:pPr algn="l" fontAlgn="t" latinLnBrk="1"/>
                      <a:r>
                        <a:rPr lang="en-IN" sz="2200" dirty="0">
                          <a:solidFill>
                            <a:srgbClr val="FECF84"/>
                          </a:solidFill>
                          <a:effectLst/>
                          <a:latin typeface="inherit"/>
                        </a:rPr>
                        <a:t>DECLARE</a:t>
                      </a:r>
                      <a:r>
                        <a:rPr lang="en-IN" sz="2200" dirty="0">
                          <a:solidFill>
                            <a:srgbClr val="82ADC9"/>
                          </a:solidFill>
                          <a:effectLst/>
                          <a:latin typeface="inherit"/>
                        </a:rPr>
                        <a:t> </a:t>
                      </a:r>
                      <a:r>
                        <a:rPr lang="en-IN" sz="2200" dirty="0">
                          <a:solidFill>
                            <a:srgbClr val="FFFFFF"/>
                          </a:solidFill>
                          <a:effectLst/>
                          <a:latin typeface="inherit"/>
                        </a:rPr>
                        <a:t>variable_name</a:t>
                      </a:r>
                      <a:r>
                        <a:rPr lang="en-IN" sz="2200" dirty="0">
                          <a:solidFill>
                            <a:srgbClr val="82ADC9"/>
                          </a:solidFill>
                          <a:effectLst/>
                          <a:latin typeface="inherit"/>
                        </a:rPr>
                        <a:t> </a:t>
                      </a:r>
                      <a:r>
                        <a:rPr lang="en-IN" sz="2200" dirty="0">
                          <a:solidFill>
                            <a:srgbClr val="FFFFFF"/>
                          </a:solidFill>
                          <a:effectLst/>
                          <a:latin typeface="inherit"/>
                        </a:rPr>
                        <a:t>datatype(size)</a:t>
                      </a:r>
                    </a:p>
                  </a:txBody>
                  <a:tcPr>
                    <a:lnL>
                      <a:noFill/>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sp>
        <p:nvSpPr>
          <p:cNvPr id="5" name="Rectangle 4"/>
          <p:cNvSpPr/>
          <p:nvPr/>
        </p:nvSpPr>
        <p:spPr>
          <a:xfrm>
            <a:off x="9696400" y="683404"/>
            <a:ext cx="2448272" cy="369332"/>
          </a:xfrm>
          <a:prstGeom prst="rect">
            <a:avLst/>
          </a:prstGeom>
        </p:spPr>
        <p:txBody>
          <a:bodyPr wrap="square">
            <a:spAutoFit/>
          </a:bodyPr>
          <a:lstStyle/>
          <a:p>
            <a:r>
              <a:rPr lang="en-IN" b="1" dirty="0">
                <a:solidFill>
                  <a:srgbClr val="000000"/>
                </a:solidFill>
                <a:latin typeface="Open Sans"/>
              </a:rPr>
              <a:t>Declaring variables</a:t>
            </a:r>
          </a:p>
        </p:txBody>
      </p:sp>
      <p:sp>
        <p:nvSpPr>
          <p:cNvPr id="7" name="Rectangle 6"/>
          <p:cNvSpPr/>
          <p:nvPr/>
        </p:nvSpPr>
        <p:spPr>
          <a:xfrm>
            <a:off x="9696400" y="1627500"/>
            <a:ext cx="2448272" cy="369332"/>
          </a:xfrm>
          <a:prstGeom prst="rect">
            <a:avLst/>
          </a:prstGeom>
        </p:spPr>
        <p:txBody>
          <a:bodyPr wrap="square">
            <a:spAutoFit/>
          </a:bodyPr>
          <a:lstStyle/>
          <a:p>
            <a:r>
              <a:rPr lang="en-IN" b="1" dirty="0">
                <a:solidFill>
                  <a:srgbClr val="000000"/>
                </a:solidFill>
                <a:latin typeface="Open Sans"/>
              </a:rPr>
              <a:t>Assigning variables</a:t>
            </a:r>
          </a:p>
        </p:txBody>
      </p:sp>
      <p:graphicFrame>
        <p:nvGraphicFramePr>
          <p:cNvPr id="8" name="Table 7"/>
          <p:cNvGraphicFramePr>
            <a:graphicFrameLocks noGrp="1"/>
          </p:cNvGraphicFramePr>
          <p:nvPr>
            <p:extLst>
              <p:ext uri="{D42A27DB-BD31-4B8C-83A1-F6EECF244321}">
                <p14:modId xmlns:p14="http://schemas.microsoft.com/office/powerpoint/2010/main" val="3469704032"/>
              </p:ext>
            </p:extLst>
          </p:nvPr>
        </p:nvGraphicFramePr>
        <p:xfrm>
          <a:off x="7464152" y="1996832"/>
          <a:ext cx="4680520" cy="640080"/>
        </p:xfrm>
        <a:graphic>
          <a:graphicData uri="http://schemas.openxmlformats.org/drawingml/2006/table">
            <a:tbl>
              <a:tblPr/>
              <a:tblGrid>
                <a:gridCol w="234675">
                  <a:extLst>
                    <a:ext uri="{9D8B030D-6E8A-4147-A177-3AD203B41FA5}">
                      <a16:colId xmlns:a16="http://schemas.microsoft.com/office/drawing/2014/main" val="20000"/>
                    </a:ext>
                  </a:extLst>
                </a:gridCol>
                <a:gridCol w="4445845">
                  <a:extLst>
                    <a:ext uri="{9D8B030D-6E8A-4147-A177-3AD203B41FA5}">
                      <a16:colId xmlns:a16="http://schemas.microsoft.com/office/drawing/2014/main" val="20001"/>
                    </a:ext>
                  </a:extLst>
                </a:gridCol>
              </a:tblGrid>
              <a:tr h="640080">
                <a:tc>
                  <a:txBody>
                    <a:bodyPr/>
                    <a:lstStyle/>
                    <a:p>
                      <a:pPr algn="ctr" fontAlgn="t"/>
                      <a:r>
                        <a:rPr lang="en-IN" dirty="0">
                          <a:solidFill>
                            <a:srgbClr val="666666"/>
                          </a:solidFill>
                          <a:effectLst/>
                          <a:latin typeface="inherit"/>
                        </a:rPr>
                        <a:t>1</a:t>
                      </a:r>
                    </a:p>
                    <a:p>
                      <a:pPr algn="ctr" fontAlgn="t"/>
                      <a:r>
                        <a:rPr lang="en-IN" dirty="0">
                          <a:solidFill>
                            <a:srgbClr val="666666"/>
                          </a:solidFill>
                          <a:effectLst/>
                          <a:latin typeface="inherit"/>
                        </a:rPr>
                        <a:t>2</a:t>
                      </a:r>
                    </a:p>
                  </a:txBody>
                  <a:tcPr>
                    <a:lnL>
                      <a:noFill/>
                    </a:lnL>
                    <a:lnR w="9525" cap="flat" cmpd="sng" algn="ctr">
                      <a:solidFill>
                        <a:srgbClr val="333333"/>
                      </a:solidFill>
                      <a:prstDash val="solid"/>
                      <a:round/>
                      <a:headEnd type="none" w="med" len="med"/>
                      <a:tailEnd type="none" w="med" len="med"/>
                    </a:lnR>
                    <a:lnT>
                      <a:noFill/>
                    </a:lnT>
                    <a:lnB>
                      <a:noFill/>
                    </a:lnB>
                    <a:solidFill>
                      <a:srgbClr val="343434"/>
                    </a:solidFill>
                  </a:tcPr>
                </a:tc>
                <a:tc>
                  <a:txBody>
                    <a:bodyPr/>
                    <a:lstStyle/>
                    <a:p>
                      <a:pPr algn="l" fontAlgn="t" latinLnBrk="1"/>
                      <a:r>
                        <a:rPr lang="en-IN" dirty="0">
                          <a:solidFill>
                            <a:srgbClr val="FECF84"/>
                          </a:solidFill>
                          <a:effectLst/>
                          <a:latin typeface="inherit"/>
                        </a:rPr>
                        <a:t>DECLARE</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ECF84"/>
                          </a:solidFill>
                          <a:effectLst/>
                          <a:latin typeface="inherit"/>
                        </a:rPr>
                        <a:t>INT</a:t>
                      </a:r>
                      <a:r>
                        <a:rPr lang="en-IN" dirty="0">
                          <a:solidFill>
                            <a:srgbClr val="FFFFFF"/>
                          </a:solidFill>
                          <a:effectLst/>
                          <a:latin typeface="inherit"/>
                        </a:rPr>
                        <a:t>;</a:t>
                      </a:r>
                    </a:p>
                    <a:p>
                      <a:pPr algn="l" fontAlgn="t" latinLnBrk="1"/>
                      <a:r>
                        <a:rPr lang="en-IN" dirty="0">
                          <a:solidFill>
                            <a:srgbClr val="FECF84"/>
                          </a:solidFill>
                          <a:effectLst/>
                          <a:latin typeface="inherit"/>
                        </a:rPr>
                        <a:t>SET</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FFFFF"/>
                          </a:solidFill>
                          <a:effectLst/>
                          <a:latin typeface="inherit"/>
                        </a:rPr>
                        <a:t>=</a:t>
                      </a:r>
                      <a:r>
                        <a:rPr lang="en-IN" dirty="0">
                          <a:solidFill>
                            <a:srgbClr val="82ADC9"/>
                          </a:solidFill>
                          <a:effectLst/>
                          <a:latin typeface="inherit"/>
                        </a:rPr>
                        <a:t> </a:t>
                      </a:r>
                      <a:r>
                        <a:rPr lang="en-IN" dirty="0">
                          <a:solidFill>
                            <a:srgbClr val="FFFFFF"/>
                          </a:solidFill>
                          <a:effectLst/>
                          <a:latin typeface="inherit"/>
                        </a:rPr>
                        <a:t>10;</a:t>
                      </a:r>
                    </a:p>
                  </a:txBody>
                  <a:tcPr>
                    <a:lnL w="9525" cap="flat" cmpd="sng" algn="ctr">
                      <a:solidFill>
                        <a:srgbClr val="333333"/>
                      </a:solidFill>
                      <a:prstDash val="solid"/>
                      <a:round/>
                      <a:headEnd type="none" w="med" len="med"/>
                      <a:tailEnd type="none" w="med" len="med"/>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graphicFrame>
        <p:nvGraphicFramePr>
          <p:cNvPr id="10" name="Table 10">
            <a:extLst>
              <a:ext uri="{FF2B5EF4-FFF2-40B4-BE49-F238E27FC236}">
                <a16:creationId xmlns:a16="http://schemas.microsoft.com/office/drawing/2014/main" id="{3F172B1E-4033-426E-BFBA-4A88D0906D67}"/>
              </a:ext>
            </a:extLst>
          </p:cNvPr>
          <p:cNvGraphicFramePr>
            <a:graphicFrameLocks noGrp="1"/>
          </p:cNvGraphicFramePr>
          <p:nvPr>
            <p:extLst>
              <p:ext uri="{D42A27DB-BD31-4B8C-83A1-F6EECF244321}">
                <p14:modId xmlns:p14="http://schemas.microsoft.com/office/powerpoint/2010/main" val="1579952081"/>
              </p:ext>
            </p:extLst>
          </p:nvPr>
        </p:nvGraphicFramePr>
        <p:xfrm>
          <a:off x="191344" y="980728"/>
          <a:ext cx="3762215" cy="1645920"/>
        </p:xfrm>
        <a:graphic>
          <a:graphicData uri="http://schemas.openxmlformats.org/drawingml/2006/table">
            <a:tbl>
              <a:tblPr firstRow="1" bandRow="1">
                <a:tableStyleId>{BDBED569-4797-4DF1-A0F4-6AAB3CD982D8}</a:tableStyleId>
              </a:tblPr>
              <a:tblGrid>
                <a:gridCol w="451466">
                  <a:extLst>
                    <a:ext uri="{9D8B030D-6E8A-4147-A177-3AD203B41FA5}">
                      <a16:colId xmlns:a16="http://schemas.microsoft.com/office/drawing/2014/main" val="1380068625"/>
                    </a:ext>
                  </a:extLst>
                </a:gridCol>
                <a:gridCol w="3310749">
                  <a:extLst>
                    <a:ext uri="{9D8B030D-6E8A-4147-A177-3AD203B41FA5}">
                      <a16:colId xmlns:a16="http://schemas.microsoft.com/office/drawing/2014/main" val="4212706371"/>
                    </a:ext>
                  </a:extLst>
                </a:gridCol>
              </a:tblGrid>
              <a:tr h="370840">
                <a:tc>
                  <a:txBody>
                    <a:bodyPr/>
                    <a:lstStyle/>
                    <a:p>
                      <a:r>
                        <a:rPr lang="en-US" sz="1800" b="0" kern="1200" dirty="0">
                          <a:solidFill>
                            <a:srgbClr val="006C86"/>
                          </a:solidFill>
                          <a:latin typeface="Palatino Linotype" panose="02040502050505030304" pitchFamily="18" charset="0"/>
                          <a:ea typeface="+mn-ea"/>
                          <a:cs typeface="+mn-cs"/>
                        </a:rPr>
                        <a:t> 1.</a:t>
                      </a:r>
                    </a:p>
                    <a:p>
                      <a:r>
                        <a:rPr lang="en-US" sz="1800" b="0" kern="1200" dirty="0">
                          <a:solidFill>
                            <a:srgbClr val="006C86"/>
                          </a:solidFill>
                          <a:latin typeface="Palatino Linotype" panose="02040502050505030304" pitchFamily="18" charset="0"/>
                          <a:ea typeface="+mn-ea"/>
                          <a:cs typeface="+mn-cs"/>
                        </a:rPr>
                        <a:t> </a:t>
                      </a:r>
                    </a:p>
                    <a:p>
                      <a:endParaRPr lang="en-US" sz="600" b="0" kern="1200" dirty="0">
                        <a:solidFill>
                          <a:srgbClr val="006C86"/>
                        </a:solidFill>
                        <a:latin typeface="Palatino Linotype" panose="02040502050505030304" pitchFamily="18" charset="0"/>
                        <a:ea typeface="+mn-ea"/>
                        <a:cs typeface="+mn-cs"/>
                      </a:endParaRPr>
                    </a:p>
                    <a:p>
                      <a:r>
                        <a:rPr lang="en-US" sz="1800" b="0" kern="1200" dirty="0">
                          <a:solidFill>
                            <a:srgbClr val="006C86"/>
                          </a:solidFill>
                          <a:latin typeface="Palatino Linotype" panose="02040502050505030304" pitchFamily="18" charset="0"/>
                          <a:ea typeface="+mn-ea"/>
                          <a:cs typeface="+mn-cs"/>
                        </a:rPr>
                        <a:t> 2.</a:t>
                      </a:r>
                    </a:p>
                    <a:p>
                      <a:endParaRPr lang="en-IN" sz="1800" b="0" kern="1200" dirty="0">
                        <a:solidFill>
                          <a:srgbClr val="006C86"/>
                        </a:solidFill>
                        <a:latin typeface="Palatino Linotype" panose="02040502050505030304" pitchFamily="18" charset="0"/>
                        <a:ea typeface="+mn-ea"/>
                        <a:cs typeface="+mn-cs"/>
                      </a:endParaRPr>
                    </a:p>
                    <a:p>
                      <a:endParaRPr lang="en-IN" sz="600" b="0" kern="1200" dirty="0">
                        <a:solidFill>
                          <a:srgbClr val="006C86"/>
                        </a:solidFill>
                        <a:latin typeface="Palatino Linotype" panose="02040502050505030304" pitchFamily="18" charset="0"/>
                        <a:ea typeface="+mn-ea"/>
                        <a:cs typeface="+mn-cs"/>
                      </a:endParaRPr>
                    </a:p>
                    <a:p>
                      <a:r>
                        <a:rPr lang="en-IN" sz="1800" b="0" kern="1200" dirty="0">
                          <a:solidFill>
                            <a:srgbClr val="006C86"/>
                          </a:solidFill>
                          <a:latin typeface="Palatino Linotype" panose="02040502050505030304" pitchFamily="18" charset="0"/>
                          <a:ea typeface="+mn-ea"/>
                          <a:cs typeface="+mn-cs"/>
                        </a:rPr>
                        <a:t> 3. </a:t>
                      </a:r>
                    </a:p>
                  </a:txBody>
                  <a:tcPr/>
                </a:tc>
                <a:tc>
                  <a:txBody>
                    <a:bodyPr/>
                    <a:lstStyle/>
                    <a:p>
                      <a:pPr algn="l" fontAlgn="t" latinLnBrk="1"/>
                      <a:r>
                        <a:rPr lang="en-IN" sz="1800" b="0" kern="1200" dirty="0">
                          <a:solidFill>
                            <a:srgbClr val="006C86"/>
                          </a:solidFill>
                          <a:latin typeface="Palatino Linotype" panose="02040502050505030304" pitchFamily="18" charset="0"/>
                          <a:ea typeface="+mn-ea"/>
                          <a:cs typeface="+mn-cs"/>
                        </a:rPr>
                        <a:t>declare x INT DEFAULT 0;</a:t>
                      </a:r>
                    </a:p>
                    <a:p>
                      <a:pPr algn="l" fontAlgn="t" latinLnBrk="1"/>
                      <a:r>
                        <a:rPr lang="en-IN" sz="1800" b="0" kern="1200" dirty="0">
                          <a:solidFill>
                            <a:srgbClr val="006C86"/>
                          </a:solidFill>
                          <a:latin typeface="Palatino Linotype" panose="02040502050505030304" pitchFamily="18" charset="0"/>
                          <a:ea typeface="+mn-ea"/>
                          <a:cs typeface="+mn-cs"/>
                        </a:rPr>
                        <a:t>SET x := 10;</a:t>
                      </a:r>
                    </a:p>
                    <a:p>
                      <a:endParaRPr lang="en-IN" sz="600" b="0" kern="1200" dirty="0">
                        <a:solidFill>
                          <a:srgbClr val="006C86"/>
                        </a:solidFill>
                        <a:latin typeface="Palatino Linotype" panose="02040502050505030304" pitchFamily="18" charset="0"/>
                        <a:ea typeface="+mn-ea"/>
                        <a:cs typeface="+mn-cs"/>
                      </a:endParaRPr>
                    </a:p>
                    <a:p>
                      <a:pPr algn="l" fontAlgn="t" latinLnBrk="1"/>
                      <a:r>
                        <a:rPr lang="en-IN" sz="1800" b="0" kern="1200" dirty="0">
                          <a:solidFill>
                            <a:srgbClr val="006C86"/>
                          </a:solidFill>
                          <a:latin typeface="Palatino Linotype" panose="02040502050505030304" pitchFamily="18" charset="0"/>
                          <a:ea typeface="+mn-ea"/>
                          <a:cs typeface="+mn-cs"/>
                        </a:rPr>
                        <a:t>declare y INT;</a:t>
                      </a:r>
                    </a:p>
                    <a:p>
                      <a:pPr algn="l" fontAlgn="t" latinLnBrk="1"/>
                      <a:r>
                        <a:rPr lang="en-IN" sz="1800" b="0" kern="1200" dirty="0">
                          <a:solidFill>
                            <a:srgbClr val="006C86"/>
                          </a:solidFill>
                          <a:latin typeface="Palatino Linotype" panose="02040502050505030304" pitchFamily="18" charset="0"/>
                          <a:ea typeface="+mn-ea"/>
                          <a:cs typeface="+mn-cs"/>
                        </a:rPr>
                        <a:t>SET y := 10;</a:t>
                      </a:r>
                    </a:p>
                    <a:p>
                      <a:pPr algn="l" fontAlgn="t" latinLnBrk="1"/>
                      <a:endParaRPr lang="en-IN" sz="600" b="0" kern="1200" dirty="0">
                        <a:solidFill>
                          <a:srgbClr val="006C86"/>
                        </a:solidFill>
                        <a:latin typeface="Palatino Linotype" panose="02040502050505030304" pitchFamily="18" charset="0"/>
                        <a:ea typeface="+mn-ea"/>
                        <a:cs typeface="+mn-cs"/>
                      </a:endParaRPr>
                    </a:p>
                    <a:p>
                      <a:pPr algn="l" fontAlgn="t" latinLnBrk="1"/>
                      <a:r>
                        <a:rPr lang="en-US" dirty="0">
                          <a:solidFill>
                            <a:srgbClr val="006C86"/>
                          </a:solidFill>
                          <a:latin typeface="Palatino Linotype" panose="02040502050505030304" pitchFamily="18" charset="0"/>
                        </a:rPr>
                        <a:t>SET x := </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SELECT 1001</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 </a:t>
                      </a:r>
                      <a:endParaRPr lang="en-IN" sz="1800" b="0" kern="1200" dirty="0">
                        <a:solidFill>
                          <a:srgbClr val="006C86"/>
                        </a:solidFill>
                        <a:latin typeface="Palatino Linotype" panose="02040502050505030304" pitchFamily="18" charset="0"/>
                        <a:ea typeface="+mn-ea"/>
                        <a:cs typeface="+mn-cs"/>
                      </a:endParaRPr>
                    </a:p>
                  </a:txBody>
                  <a:tcPr/>
                </a:tc>
                <a:extLst>
                  <a:ext uri="{0D108BD9-81ED-4DB2-BD59-A6C34878D82A}">
                    <a16:rowId xmlns:a16="http://schemas.microsoft.com/office/drawing/2014/main" val="485078474"/>
                  </a:ext>
                </a:extLst>
              </a:tr>
            </a:tbl>
          </a:graphicData>
        </a:graphic>
      </p:graphicFrame>
      <p:graphicFrame>
        <p:nvGraphicFramePr>
          <p:cNvPr id="12" name="Table 11">
            <a:extLst>
              <a:ext uri="{FF2B5EF4-FFF2-40B4-BE49-F238E27FC236}">
                <a16:creationId xmlns:a16="http://schemas.microsoft.com/office/drawing/2014/main" id="{B49C3EEB-4DB9-432E-8F3C-A19C6AA9D636}"/>
              </a:ext>
            </a:extLst>
          </p:cNvPr>
          <p:cNvGraphicFramePr>
            <a:graphicFrameLocks noGrp="1"/>
          </p:cNvGraphicFramePr>
          <p:nvPr>
            <p:extLst>
              <p:ext uri="{D42A27DB-BD31-4B8C-83A1-F6EECF244321}">
                <p14:modId xmlns:p14="http://schemas.microsoft.com/office/powerpoint/2010/main" val="1663300777"/>
              </p:ext>
            </p:extLst>
          </p:nvPr>
        </p:nvGraphicFramePr>
        <p:xfrm>
          <a:off x="191344" y="368464"/>
          <a:ext cx="7002575" cy="396240"/>
        </p:xfrm>
        <a:graphic>
          <a:graphicData uri="http://schemas.openxmlformats.org/drawingml/2006/table">
            <a:tbl>
              <a:tblPr/>
              <a:tblGrid>
                <a:gridCol w="7002575">
                  <a:extLst>
                    <a:ext uri="{9D8B030D-6E8A-4147-A177-3AD203B41FA5}">
                      <a16:colId xmlns:a16="http://schemas.microsoft.com/office/drawing/2014/main" val="20000"/>
                    </a:ext>
                  </a:extLst>
                </a:gridCol>
              </a:tblGrid>
              <a:tr h="0">
                <a:tc>
                  <a:txBody>
                    <a:bodyPr/>
                    <a:lstStyle/>
                    <a:p>
                      <a:pPr algn="l" fontAlgn="t" latinLnBrk="1"/>
                      <a:r>
                        <a:rPr lang="en-IN" sz="2000" kern="1200" dirty="0">
                          <a:solidFill>
                            <a:srgbClr val="0077AA"/>
                          </a:solidFill>
                          <a:latin typeface="Liberation Mono"/>
                          <a:ea typeface="+mn-ea"/>
                          <a:cs typeface="+mn-cs"/>
                        </a:rPr>
                        <a:t>DECLARE</a:t>
                      </a:r>
                      <a:r>
                        <a:rPr lang="en-IN" sz="2000" dirty="0">
                          <a:solidFill>
                            <a:schemeClr val="tx1"/>
                          </a:solidFill>
                          <a:effectLst/>
                          <a:latin typeface="Liberation Mono"/>
                        </a:rPr>
                        <a:t> variable_name </a:t>
                      </a:r>
                      <a:r>
                        <a:rPr lang="en-IN" sz="2000" kern="1200" dirty="0">
                          <a:solidFill>
                            <a:srgbClr val="0077AA"/>
                          </a:solidFill>
                          <a:latin typeface="Liberation Mono"/>
                          <a:ea typeface="+mn-ea"/>
                          <a:cs typeface="+mn-cs"/>
                        </a:rPr>
                        <a:t>datatype</a:t>
                      </a:r>
                      <a:r>
                        <a:rPr lang="en-IN" sz="2000" dirty="0">
                          <a:solidFill>
                            <a:schemeClr val="tx1"/>
                          </a:solidFill>
                          <a:effectLst/>
                          <a:latin typeface="Liberation Mono"/>
                        </a:rPr>
                        <a:t>(size) [ </a:t>
                      </a:r>
                      <a:r>
                        <a:rPr lang="en-IN" sz="2000" kern="1200" dirty="0">
                          <a:solidFill>
                            <a:srgbClr val="0077AA"/>
                          </a:solidFill>
                          <a:latin typeface="Liberation Mono"/>
                          <a:ea typeface="+mn-ea"/>
                          <a:cs typeface="+mn-cs"/>
                        </a:rPr>
                        <a:t>DEFAULT</a:t>
                      </a:r>
                      <a:r>
                        <a:rPr lang="en-IN" sz="2000" dirty="0">
                          <a:solidFill>
                            <a:schemeClr val="tx1"/>
                          </a:solidFill>
                          <a:effectLst/>
                          <a:latin typeface="Liberation Mono"/>
                        </a:rPr>
                        <a:t> default_value ];</a:t>
                      </a:r>
                    </a:p>
                  </a:txBody>
                  <a:tcPr marL="91428" marR="91428">
                    <a:lnL>
                      <a:noFill/>
                    </a:lnL>
                    <a:lnR>
                      <a:noFill/>
                    </a:lnR>
                    <a:lnT>
                      <a:noFill/>
                    </a:lnT>
                    <a:lnB>
                      <a:noFill/>
                    </a:lnB>
                    <a:noFill/>
                  </a:tcPr>
                </a:tc>
                <a:extLst>
                  <a:ext uri="{0D108BD9-81ED-4DB2-BD59-A6C34878D82A}">
                    <a16:rowId xmlns:a16="http://schemas.microsoft.com/office/drawing/2014/main" val="10000"/>
                  </a:ext>
                </a:extLst>
              </a:tr>
            </a:tbl>
          </a:graphicData>
        </a:graphic>
      </p:graphicFrame>
      <p:sp>
        <p:nvSpPr>
          <p:cNvPr id="15" name="Title 1">
            <a:extLst>
              <a:ext uri="{FF2B5EF4-FFF2-40B4-BE49-F238E27FC236}">
                <a16:creationId xmlns:a16="http://schemas.microsoft.com/office/drawing/2014/main" id="{88C4D779-39FC-4B32-8EA9-DD5BE4BF17F1}"/>
              </a:ext>
            </a:extLst>
          </p:cNvPr>
          <p:cNvSpPr txBox="1">
            <a:spLocks/>
          </p:cNvSpPr>
          <p:nvPr/>
        </p:nvSpPr>
        <p:spPr>
          <a:xfrm>
            <a:off x="1865669" y="2522984"/>
            <a:ext cx="8838049"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declare variables</a:t>
            </a:r>
          </a:p>
        </p:txBody>
      </p:sp>
      <p:sp>
        <p:nvSpPr>
          <p:cNvPr id="16" name="Rectangle 15">
            <a:extLst>
              <a:ext uri="{FF2B5EF4-FFF2-40B4-BE49-F238E27FC236}">
                <a16:creationId xmlns:a16="http://schemas.microsoft.com/office/drawing/2014/main" id="{9BDC5B3B-282A-4C8D-B82D-EC4F2D495477}"/>
              </a:ext>
            </a:extLst>
          </p:cNvPr>
          <p:cNvSpPr/>
          <p:nvPr/>
        </p:nvSpPr>
        <p:spPr>
          <a:xfrm>
            <a:off x="296068" y="4494599"/>
            <a:ext cx="11487769" cy="2246769"/>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First, you specify the variable name after the DECLARE keyword. The variable name must follow the naming rules of MySQL table column names.</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Second, you specify the data type of the variable and its size. A variable can have any MySQL data types such as INT, VARCHAR , and DATETIME.</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Third, when you declare a variable, its initial value is NULL. You can assign the variable a default value using the </a:t>
            </a:r>
            <a:r>
              <a:rPr lang="en-IN" i="1" dirty="0">
                <a:solidFill>
                  <a:schemeClr val="tx1">
                    <a:lumMod val="95000"/>
                    <a:lumOff val="5000"/>
                  </a:schemeClr>
                </a:solidFill>
                <a:latin typeface="Palatino Linotype" panose="02040502050505030304" pitchFamily="18" charset="0"/>
                <a:cs typeface="Segoe UI Light" panose="020B0502040204020203" pitchFamily="34" charset="0"/>
              </a:rPr>
              <a:t>DEFAULT</a:t>
            </a:r>
            <a:r>
              <a:rPr lang="en-IN" dirty="0">
                <a:solidFill>
                  <a:schemeClr val="tx1">
                    <a:lumMod val="95000"/>
                    <a:lumOff val="5000"/>
                  </a:schemeClr>
                </a:solidFill>
                <a:latin typeface="Palatino Linotype" panose="02040502050505030304" pitchFamily="18" charset="0"/>
                <a:cs typeface="Segoe UI Light" panose="020B0502040204020203" pitchFamily="34" charset="0"/>
              </a:rPr>
              <a:t> keyword.</a:t>
            </a:r>
          </a:p>
        </p:txBody>
      </p:sp>
      <p:sp>
        <p:nvSpPr>
          <p:cNvPr id="17" name="Rectangle 16">
            <a:extLst>
              <a:ext uri="{FF2B5EF4-FFF2-40B4-BE49-F238E27FC236}">
                <a16:creationId xmlns:a16="http://schemas.microsoft.com/office/drawing/2014/main" id="{13AA09E0-DD4B-4DE7-AF9E-2C0042441DCC}"/>
              </a:ext>
            </a:extLst>
          </p:cNvPr>
          <p:cNvSpPr/>
          <p:nvPr/>
        </p:nvSpPr>
        <p:spPr>
          <a:xfrm>
            <a:off x="296069" y="2924944"/>
            <a:ext cx="11487768" cy="1538883"/>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rgbClr val="006C86"/>
                </a:solidFill>
                <a:latin typeface="Palatino Linotype" panose="02040502050505030304" pitchFamily="18" charset="0"/>
              </a:rPr>
              <a:t>DECLARE </a:t>
            </a:r>
            <a:r>
              <a:rPr lang="en-IN" dirty="0">
                <a:solidFill>
                  <a:schemeClr val="tx2">
                    <a:lumMod val="75000"/>
                  </a:schemeClr>
                </a:solidFill>
                <a:latin typeface="Palatino Linotype" panose="02040502050505030304" pitchFamily="18" charset="0"/>
              </a:rPr>
              <a:t>is permitted only inside a </a:t>
            </a:r>
            <a:r>
              <a:rPr lang="en-IN" dirty="0">
                <a:solidFill>
                  <a:srgbClr val="006C86"/>
                </a:solidFill>
                <a:latin typeface="Palatino Linotype" panose="02040502050505030304" pitchFamily="18" charset="0"/>
              </a:rPr>
              <a:t>BEGIN ... END</a:t>
            </a:r>
            <a:r>
              <a:rPr lang="en-IN" dirty="0">
                <a:solidFill>
                  <a:schemeClr val="tx2">
                    <a:lumMod val="75000"/>
                  </a:schemeClr>
                </a:solidFill>
                <a:latin typeface="Palatino Linotype" panose="02040502050505030304" pitchFamily="18" charset="0"/>
              </a:rPr>
              <a:t> compound statement and must be at its start, before any other statements.</a:t>
            </a:r>
          </a:p>
          <a:p>
            <a:pPr marL="285750" indent="-285750">
              <a:buFont typeface="Arial" panose="020B0604020202020204" pitchFamily="34" charset="0"/>
              <a:buChar char="•"/>
            </a:pPr>
            <a:endParaRPr lang="en-IN" sz="2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Only scalar values can be assigned. For example, a statement such as </a:t>
            </a:r>
            <a:r>
              <a:rPr lang="en-US" dirty="0">
                <a:solidFill>
                  <a:srgbClr val="006C86"/>
                </a:solidFill>
                <a:latin typeface="Palatino Linotype" panose="02040502050505030304" pitchFamily="18" charset="0"/>
              </a:rPr>
              <a:t>SET x = (SELECT 1, 2) </a:t>
            </a:r>
            <a:r>
              <a:rPr lang="en-US" sz="2400" dirty="0">
                <a:solidFill>
                  <a:srgbClr val="C00000"/>
                </a:solidFill>
                <a:latin typeface="Palatino Linotype" panose="02040502050505030304" pitchFamily="18" charset="0"/>
              </a:rPr>
              <a:t>is invalid</a:t>
            </a:r>
            <a:r>
              <a:rPr lang="en-US" dirty="0">
                <a:solidFill>
                  <a:schemeClr val="tx2">
                    <a:lumMod val="75000"/>
                  </a:schemeClr>
                </a:solidFill>
                <a:latin typeface="Palatino Linotype" panose="02040502050505030304" pitchFamily="18" charset="0"/>
              </a:rPr>
              <a:t>.</a:t>
            </a:r>
            <a:endParaRPr lang="en-IN" dirty="0">
              <a:solidFill>
                <a:schemeClr val="tx2">
                  <a:lumMod val="75000"/>
                </a:schemeClr>
              </a:solidFill>
              <a:latin typeface="Palatino Linotype" panose="02040502050505030304" pitchFamily="18" charset="0"/>
            </a:endParaRPr>
          </a:p>
        </p:txBody>
      </p:sp>
      <p:sp>
        <p:nvSpPr>
          <p:cNvPr id="2" name="TextBox 1">
            <a:extLst>
              <a:ext uri="{FF2B5EF4-FFF2-40B4-BE49-F238E27FC236}">
                <a16:creationId xmlns:a16="http://schemas.microsoft.com/office/drawing/2014/main" id="{547806D4-350C-B47D-44D2-BC458ADEE813}"/>
              </a:ext>
            </a:extLst>
          </p:cNvPr>
          <p:cNvSpPr txBox="1"/>
          <p:nvPr/>
        </p:nvSpPr>
        <p:spPr>
          <a:xfrm>
            <a:off x="7404484" y="44624"/>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46512444"/>
      </p:ext>
    </p:extLst>
  </p:cSld>
  <p:clrMapOvr>
    <a:masterClrMapping/>
  </p:clrMapOvr>
</p:sld>
</file>

<file path=ppt/slides/slide7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BDC5B3B-282A-4C8D-B82D-EC4F2D495477}"/>
              </a:ext>
            </a:extLst>
          </p:cNvPr>
          <p:cNvSpPr/>
          <p:nvPr/>
        </p:nvSpPr>
        <p:spPr>
          <a:xfrm>
            <a:off x="292009" y="3145465"/>
            <a:ext cx="11487769" cy="2308324"/>
          </a:xfrm>
          <a:prstGeom prst="rect">
            <a:avLst/>
          </a:prstGeom>
        </p:spPr>
        <p:txBody>
          <a:bodyPr wrap="square">
            <a:spAutoFit/>
          </a:bodyPr>
          <a:lstStyle/>
          <a:p>
            <a:pPr marL="285750" indent="-285750" algn="just">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lgn="just"/>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IN" dirty="0">
                <a:solidFill>
                  <a:srgbClr val="B212AA"/>
                </a:solidFill>
                <a:latin typeface="Segoe UI Semilight" panose="020B0402040204020203" pitchFamily="34" charset="0"/>
                <a:cs typeface="Segoe UI Semilight" panose="020B0402040204020203" pitchFamily="34" charset="0"/>
              </a:rPr>
              <a:t>begin</a:t>
            </a:r>
            <a:endParaRPr lang="en-US" dirty="0">
              <a:solidFill>
                <a:srgbClr val="B212AA"/>
              </a:solidFill>
              <a:latin typeface="Segoe UI Semilight" panose="020B0402040204020203" pitchFamily="34" charset="0"/>
              <a:cs typeface="Segoe UI Semilight" panose="020B0402040204020203" pitchFamily="34" charset="0"/>
            </a:endParaRP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a:t>
            </a:r>
            <a:r>
              <a:rPr lang="en-US" dirty="0">
                <a:solidFill>
                  <a:srgbClr val="990055"/>
                </a:solidFill>
                <a:latin typeface="Segoe UI Semilight" panose="020B0402040204020203" pitchFamily="34" charset="0"/>
                <a:cs typeface="Segoe UI Semilight" panose="020B0402040204020203" pitchFamily="34" charset="0"/>
              </a:rPr>
              <a:t>0</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SELECT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FROM x;</a:t>
            </a:r>
          </a:p>
          <a:p>
            <a:pPr marL="273050" algn="just"/>
            <a:r>
              <a:rPr lang="en-IN"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BFFA65AB-5645-0610-3203-103E7FFB703F}"/>
              </a:ext>
            </a:extLst>
          </p:cNvPr>
          <p:cNvSpPr/>
          <p:nvPr/>
        </p:nvSpPr>
        <p:spPr>
          <a:xfrm>
            <a:off x="296068" y="404664"/>
            <a:ext cx="11487769" cy="1231106"/>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local variable takes precedence over a routine parameter or table column.</a:t>
            </a:r>
          </a:p>
          <a:p>
            <a:pPr marL="342900" indent="-342900" algn="just">
              <a:buFont typeface="Arial" panose="020B0604020202020204" pitchFamily="34" charset="0"/>
              <a:buChar char="•"/>
            </a:pPr>
            <a:endParaRPr lang="en-US" sz="6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routine parameter takes precedence over a table column.</a:t>
            </a:r>
            <a:endParaRPr lang="en-IN" dirty="0">
              <a:solidFill>
                <a:schemeClr val="tx1">
                  <a:lumMod val="95000"/>
                  <a:lumOff val="5000"/>
                </a:schemeClr>
              </a:solidFill>
              <a:latin typeface="Palatino Linotype" panose="02040502050505030304" pitchFamily="18" charset="0"/>
              <a:cs typeface="Segoe UI Light" panose="020B0502040204020203" pitchFamily="34" charset="0"/>
            </a:endParaRPr>
          </a:p>
        </p:txBody>
      </p:sp>
      <p:sp>
        <p:nvSpPr>
          <p:cNvPr id="4" name="Rectangle 3">
            <a:extLst>
              <a:ext uri="{FF2B5EF4-FFF2-40B4-BE49-F238E27FC236}">
                <a16:creationId xmlns:a16="http://schemas.microsoft.com/office/drawing/2014/main" id="{AA1B14A5-4436-0395-EEE8-782BE650EF1E}"/>
              </a:ext>
            </a:extLst>
          </p:cNvPr>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11" name="TextBox 10">
            <a:extLst>
              <a:ext uri="{FF2B5EF4-FFF2-40B4-BE49-F238E27FC236}">
                <a16:creationId xmlns:a16="http://schemas.microsoft.com/office/drawing/2014/main" id="{60BE6B66-9F62-F238-F71B-BE2BBD370DA9}"/>
              </a:ext>
            </a:extLst>
          </p:cNvPr>
          <p:cNvSpPr txBox="1"/>
          <p:nvPr/>
        </p:nvSpPr>
        <p:spPr>
          <a:xfrm>
            <a:off x="292009" y="5873678"/>
            <a:ext cx="6094378" cy="369332"/>
          </a:xfrm>
          <a:prstGeom prst="rect">
            <a:avLst/>
          </a:prstGeom>
          <a:noFill/>
        </p:spPr>
        <p:txBody>
          <a:bodyPr wrap="square">
            <a:spAutoFit/>
          </a:bodyPr>
          <a:lstStyle/>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mysql&gt; CALL </a:t>
            </a:r>
            <a:r>
              <a:rPr lang="en-US" dirty="0">
                <a:solidFill>
                  <a:srgbClr val="990055"/>
                </a:solidFill>
                <a:latin typeface="Segoe UI Semilight" panose="020B0402040204020203" pitchFamily="34" charset="0"/>
                <a:cs typeface="Segoe UI Semilight" panose="020B0402040204020203" pitchFamily="34" charset="0"/>
              </a:rPr>
              <a:t>pro1(12</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p:txBody>
      </p:sp>
      <p:graphicFrame>
        <p:nvGraphicFramePr>
          <p:cNvPr id="13" name="Table 13">
            <a:extLst>
              <a:ext uri="{FF2B5EF4-FFF2-40B4-BE49-F238E27FC236}">
                <a16:creationId xmlns:a16="http://schemas.microsoft.com/office/drawing/2014/main" id="{DAC14B68-5801-9032-99F1-F21F6B88C5CB}"/>
              </a:ext>
            </a:extLst>
          </p:cNvPr>
          <p:cNvGraphicFramePr>
            <a:graphicFrameLocks noGrp="1"/>
          </p:cNvGraphicFramePr>
          <p:nvPr>
            <p:extLst>
              <p:ext uri="{D42A27DB-BD31-4B8C-83A1-F6EECF244321}">
                <p14:modId xmlns:p14="http://schemas.microsoft.com/office/powerpoint/2010/main" val="1586231604"/>
              </p:ext>
            </p:extLst>
          </p:nvPr>
        </p:nvGraphicFramePr>
        <p:xfrm>
          <a:off x="407368" y="1809690"/>
          <a:ext cx="1540006" cy="748684"/>
        </p:xfrm>
        <a:graphic>
          <a:graphicData uri="http://schemas.openxmlformats.org/drawingml/2006/table">
            <a:tbl>
              <a:tblPr firstRow="1" bandRow="1">
                <a:tableStyleId>{5940675A-B579-460E-94D1-54222C63F5DA}</a:tableStyleId>
              </a:tblPr>
              <a:tblGrid>
                <a:gridCol w="770003">
                  <a:extLst>
                    <a:ext uri="{9D8B030D-6E8A-4147-A177-3AD203B41FA5}">
                      <a16:colId xmlns:a16="http://schemas.microsoft.com/office/drawing/2014/main" val="1126579393"/>
                    </a:ext>
                  </a:extLst>
                </a:gridCol>
                <a:gridCol w="770003">
                  <a:extLst>
                    <a:ext uri="{9D8B030D-6E8A-4147-A177-3AD203B41FA5}">
                      <a16:colId xmlns:a16="http://schemas.microsoft.com/office/drawing/2014/main" val="629513780"/>
                    </a:ext>
                  </a:extLst>
                </a:gridCol>
              </a:tblGrid>
              <a:tr h="370840">
                <a:tc>
                  <a:txBody>
                    <a:bodyPr/>
                    <a:lstStyle/>
                    <a:p>
                      <a:pPr algn="ctr"/>
                      <a:r>
                        <a:rPr lang="en-IN" dirty="0">
                          <a:latin typeface="Arial" panose="020B0604020202020204" pitchFamily="34" charset="0"/>
                          <a:cs typeface="Arial" panose="020B0604020202020204" pitchFamily="34" charset="0"/>
                        </a:rPr>
                        <a:t>c1</a:t>
                      </a:r>
                    </a:p>
                  </a:txBody>
                  <a:tcPr/>
                </a:tc>
                <a:tc>
                  <a:txBody>
                    <a:bodyPr/>
                    <a:lstStyle/>
                    <a:p>
                      <a:pPr algn="ctr"/>
                      <a:r>
                        <a:rPr lang="en-IN" dirty="0">
                          <a:latin typeface="Arial" panose="020B0604020202020204" pitchFamily="34" charset="0"/>
                          <a:cs typeface="Arial" panose="020B0604020202020204" pitchFamily="34" charset="0"/>
                        </a:rPr>
                        <a:t>c2</a:t>
                      </a:r>
                    </a:p>
                  </a:txBody>
                  <a:tcPr/>
                </a:tc>
                <a:extLst>
                  <a:ext uri="{0D108BD9-81ED-4DB2-BD59-A6C34878D82A}">
                    <a16:rowId xmlns:a16="http://schemas.microsoft.com/office/drawing/2014/main" val="452399927"/>
                  </a:ext>
                </a:extLst>
              </a:tr>
              <a:tr h="377844">
                <a:tc>
                  <a:txBody>
                    <a:bodyPr/>
                    <a:lstStyle/>
                    <a:p>
                      <a:pPr algn="ctr"/>
                      <a:r>
                        <a:rPr lang="en-IN" dirty="0">
                          <a:latin typeface="Arial" panose="020B0604020202020204" pitchFamily="34" charset="0"/>
                          <a:cs typeface="Arial" panose="020B0604020202020204" pitchFamily="34" charset="0"/>
                        </a:rPr>
                        <a:t>7</a:t>
                      </a:r>
                    </a:p>
                  </a:txBody>
                  <a:tcPr/>
                </a:tc>
                <a:tc>
                  <a:txBody>
                    <a:bodyPr/>
                    <a:lstStyle/>
                    <a:p>
                      <a:pPr algn="ctr"/>
                      <a:r>
                        <a:rPr lang="en-IN"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2167732677"/>
                  </a:ext>
                </a:extLst>
              </a:tr>
            </a:tbl>
          </a:graphicData>
        </a:graphic>
      </p:graphicFrame>
      <p:graphicFrame>
        <p:nvGraphicFramePr>
          <p:cNvPr id="3" name="Table 2">
            <a:extLst>
              <a:ext uri="{FF2B5EF4-FFF2-40B4-BE49-F238E27FC236}">
                <a16:creationId xmlns:a16="http://schemas.microsoft.com/office/drawing/2014/main" id="{78232C13-0A4E-C0CC-0F80-1EF5EBD196D9}"/>
              </a:ext>
            </a:extLst>
          </p:cNvPr>
          <p:cNvGraphicFramePr>
            <a:graphicFrameLocks noGrp="1"/>
          </p:cNvGraphicFramePr>
          <p:nvPr>
            <p:extLst>
              <p:ext uri="{D42A27DB-BD31-4B8C-83A1-F6EECF244321}">
                <p14:modId xmlns:p14="http://schemas.microsoft.com/office/powerpoint/2010/main" val="4072822638"/>
              </p:ext>
            </p:extLst>
          </p:nvPr>
        </p:nvGraphicFramePr>
        <p:xfrm>
          <a:off x="4871864" y="2204864"/>
          <a:ext cx="7200800" cy="3291840"/>
        </p:xfrm>
        <a:graphic>
          <a:graphicData uri="http://schemas.openxmlformats.org/drawingml/2006/table">
            <a:tbl>
              <a:tblPr>
                <a:tableStyleId>{5940675A-B579-460E-94D1-54222C63F5DA}</a:tableStyleId>
              </a:tblPr>
              <a:tblGrid>
                <a:gridCol w="1728192">
                  <a:extLst>
                    <a:ext uri="{9D8B030D-6E8A-4147-A177-3AD203B41FA5}">
                      <a16:colId xmlns:a16="http://schemas.microsoft.com/office/drawing/2014/main" val="560601776"/>
                    </a:ext>
                  </a:extLst>
                </a:gridCol>
                <a:gridCol w="1512168">
                  <a:extLst>
                    <a:ext uri="{9D8B030D-6E8A-4147-A177-3AD203B41FA5}">
                      <a16:colId xmlns:a16="http://schemas.microsoft.com/office/drawing/2014/main" val="1069930903"/>
                    </a:ext>
                  </a:extLst>
                </a:gridCol>
                <a:gridCol w="3960440">
                  <a:extLst>
                    <a:ext uri="{9D8B030D-6E8A-4147-A177-3AD203B41FA5}">
                      <a16:colId xmlns:a16="http://schemas.microsoft.com/office/drawing/2014/main" val="2389596827"/>
                    </a:ext>
                  </a:extLst>
                </a:gridCol>
              </a:tblGrid>
              <a:tr h="0">
                <a:tc>
                  <a:txBody>
                    <a:bodyPr/>
                    <a:lstStyle/>
                    <a:p>
                      <a:pPr algn="ctr"/>
                      <a:r>
                        <a:rPr lang="en-IN" dirty="0">
                          <a:latin typeface="Arial" panose="020B0604020202020204" pitchFamily="34" charset="0"/>
                          <a:cs typeface="Arial" panose="020B0604020202020204" pitchFamily="34" charset="0"/>
                        </a:rPr>
                        <a:t>Identifier Type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Precedence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Notes</a:t>
                      </a:r>
                    </a:p>
                  </a:txBody>
                  <a:tcPr anchor="ctr">
                    <a:solidFill>
                      <a:schemeClr val="accent3">
                        <a:lumMod val="60000"/>
                        <a:lumOff val="40000"/>
                      </a:schemeClr>
                    </a:solidFill>
                  </a:tcPr>
                </a:tc>
                <a:extLst>
                  <a:ext uri="{0D108BD9-81ED-4DB2-BD59-A6C34878D82A}">
                    <a16:rowId xmlns:a16="http://schemas.microsoft.com/office/drawing/2014/main" val="3584715139"/>
                  </a:ext>
                </a:extLst>
              </a:tr>
              <a:tr h="0">
                <a:tc>
                  <a:txBody>
                    <a:bodyPr/>
                    <a:lstStyle/>
                    <a:p>
                      <a:r>
                        <a:rPr lang="en-IN" b="0" dirty="0">
                          <a:latin typeface="Arial" panose="020B0604020202020204" pitchFamily="34" charset="0"/>
                          <a:cs typeface="Arial" panose="020B0604020202020204" pitchFamily="34" charset="0"/>
                        </a:rPr>
                        <a:t>Local variable</a:t>
                      </a:r>
                    </a:p>
                  </a:txBody>
                  <a:tcPr anchor="ctr"/>
                </a:tc>
                <a:tc>
                  <a:txBody>
                    <a:bodyPr/>
                    <a:lstStyle/>
                    <a:p>
                      <a:r>
                        <a:rPr lang="en-IN" b="0" i="0" dirty="0">
                          <a:latin typeface="Arial" panose="020B0604020202020204" pitchFamily="34" charset="0"/>
                          <a:cs typeface="Arial" panose="020B0604020202020204" pitchFamily="34" charset="0"/>
                        </a:rPr>
                        <a:t>Highest</a:t>
                      </a:r>
                    </a:p>
                  </a:txBody>
                  <a:tcPr anchor="ctr"/>
                </a:tc>
                <a:tc>
                  <a:txBody>
                    <a:bodyPr/>
                    <a:lstStyle/>
                    <a:p>
                      <a:r>
                        <a:rPr lang="en-IN" dirty="0">
                          <a:latin typeface="Arial" panose="020B0604020202020204" pitchFamily="34" charset="0"/>
                          <a:cs typeface="Arial" panose="020B0604020202020204" pitchFamily="34" charset="0"/>
                        </a:rPr>
                        <a:t>Declared with </a:t>
                      </a:r>
                      <a:r>
                        <a:rPr lang="en-IN" b="1" dirty="0">
                          <a:latin typeface="Arial" panose="020B0604020202020204" pitchFamily="34" charset="0"/>
                          <a:cs typeface="Arial" panose="020B0604020202020204" pitchFamily="34" charset="0"/>
                        </a:rPr>
                        <a:t>DECLARE</a:t>
                      </a:r>
                    </a:p>
                  </a:txBody>
                  <a:tcPr anchor="ctr"/>
                </a:tc>
                <a:extLst>
                  <a:ext uri="{0D108BD9-81ED-4DB2-BD59-A6C34878D82A}">
                    <a16:rowId xmlns:a16="http://schemas.microsoft.com/office/drawing/2014/main" val="3270581112"/>
                  </a:ext>
                </a:extLst>
              </a:tr>
              <a:tr h="0">
                <a:tc>
                  <a:txBody>
                    <a:bodyPr/>
                    <a:lstStyle/>
                    <a:p>
                      <a:r>
                        <a:rPr lang="en-IN" b="0" dirty="0">
                          <a:latin typeface="Arial" panose="020B0604020202020204" pitchFamily="34" charset="0"/>
                          <a:cs typeface="Arial" panose="020B0604020202020204" pitchFamily="34" charset="0"/>
                        </a:rPr>
                        <a:t>Routine parameter</a:t>
                      </a:r>
                    </a:p>
                  </a:txBody>
                  <a:tcPr anchor="ctr"/>
                </a:tc>
                <a:tc>
                  <a:txBody>
                    <a:bodyPr/>
                    <a:lstStyle/>
                    <a:p>
                      <a:r>
                        <a:rPr lang="en-IN" b="0" i="0" dirty="0">
                          <a:latin typeface="Arial" panose="020B0604020202020204" pitchFamily="34" charset="0"/>
                          <a:cs typeface="Arial" panose="020B0604020202020204" pitchFamily="34" charset="0"/>
                        </a:rPr>
                        <a:t>Medium</a:t>
                      </a:r>
                    </a:p>
                  </a:txBody>
                  <a:tcPr anchor="ctr"/>
                </a:tc>
                <a:tc>
                  <a:txBody>
                    <a:bodyPr/>
                    <a:lstStyle/>
                    <a:p>
                      <a:r>
                        <a:rPr lang="en-IN" dirty="0">
                          <a:latin typeface="Arial" panose="020B0604020202020204" pitchFamily="34" charset="0"/>
                          <a:cs typeface="Arial" panose="020B0604020202020204" pitchFamily="34" charset="0"/>
                        </a:rPr>
                        <a:t>From procedure/function signature </a:t>
                      </a:r>
                      <a:r>
                        <a:rPr lang="en-IN" b="1" dirty="0">
                          <a:latin typeface="Arial" panose="020B0604020202020204" pitchFamily="34" charset="0"/>
                          <a:cs typeface="Arial" panose="020B0604020202020204" pitchFamily="34" charset="0"/>
                        </a:rPr>
                        <a:t>(IN, OUT, INOUT)</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87882590"/>
                  </a:ext>
                </a:extLst>
              </a:tr>
              <a:tr h="0">
                <a:tc>
                  <a:txBody>
                    <a:bodyPr/>
                    <a:lstStyle/>
                    <a:p>
                      <a:r>
                        <a:rPr lang="en-IN" b="0" dirty="0">
                          <a:latin typeface="Arial" panose="020B0604020202020204" pitchFamily="34" charset="0"/>
                          <a:cs typeface="Arial" panose="020B0604020202020204" pitchFamily="34" charset="0"/>
                        </a:rPr>
                        <a:t>Table column</a:t>
                      </a:r>
                    </a:p>
                  </a:txBody>
                  <a:tcPr anchor="ctr"/>
                </a:tc>
                <a:tc>
                  <a:txBody>
                    <a:bodyPr/>
                    <a:lstStyle/>
                    <a:p>
                      <a:r>
                        <a:rPr lang="en-IN" b="0" i="0" dirty="0">
                          <a:latin typeface="Arial" panose="020B0604020202020204" pitchFamily="34" charset="0"/>
                          <a:cs typeface="Arial" panose="020B0604020202020204" pitchFamily="34" charset="0"/>
                        </a:rPr>
                        <a:t>Lowest</a:t>
                      </a:r>
                    </a:p>
                  </a:txBody>
                  <a:tcPr anchor="ctr"/>
                </a:tc>
                <a:tc>
                  <a:txBody>
                    <a:bodyPr/>
                    <a:lstStyle/>
                    <a:p>
                      <a:r>
                        <a:rPr lang="en-US" dirty="0">
                          <a:latin typeface="Arial" panose="020B0604020202020204" pitchFamily="34" charset="0"/>
                          <a:cs typeface="Arial" panose="020B0604020202020204" pitchFamily="34" charset="0"/>
                        </a:rPr>
                        <a:t>Use alias to access explicitly </a:t>
                      </a:r>
                      <a:r>
                        <a:rPr lang="en-US" b="1" dirty="0">
                          <a:solidFill>
                            <a:srgbClr val="3939F5"/>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Use identifier.  </a:t>
                      </a:r>
                      <a:r>
                        <a:rPr lang="en-US" dirty="0">
                          <a:solidFill>
                            <a:srgbClr val="FF0000"/>
                          </a:solidFill>
                          <a:latin typeface="Arial" panose="020B0604020202020204" pitchFamily="34" charset="0"/>
                          <a:cs typeface="Arial" panose="020B0604020202020204" pitchFamily="34" charset="0"/>
                        </a:rPr>
                        <a:t>e.g. </a:t>
                      </a:r>
                      <a:r>
                        <a:rPr kumimoji="0" lang="en-US" b="1" kern="1200" dirty="0">
                          <a:solidFill>
                            <a:schemeClr val="tx1"/>
                          </a:solidFill>
                          <a:latin typeface="Arial" panose="020B0604020202020204" pitchFamily="34" charset="0"/>
                          <a:ea typeface="+mn-ea"/>
                          <a:cs typeface="Arial" panose="020B0604020202020204" pitchFamily="34" charset="0"/>
                        </a:rPr>
                        <a:t>e.ename</a:t>
                      </a:r>
                    </a:p>
                  </a:txBody>
                  <a:tcPr anchor="ctr"/>
                </a:tc>
                <a:extLst>
                  <a:ext uri="{0D108BD9-81ED-4DB2-BD59-A6C34878D82A}">
                    <a16:rowId xmlns:a16="http://schemas.microsoft.com/office/drawing/2014/main" val="2415757505"/>
                  </a:ext>
                </a:extLst>
              </a:tr>
              <a:tr h="0">
                <a:tc gridSpan="3">
                  <a:txBody>
                    <a:bodyPr/>
                    <a:lstStyle/>
                    <a:p>
                      <a:endParaRPr lang="en-IN" b="0"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24570087"/>
                  </a:ext>
                </a:extLst>
              </a:tr>
              <a:tr h="0">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When a local variable has the same name as a parameter in MySQL, the </a:t>
                      </a:r>
                      <a:r>
                        <a:rPr lang="en-US" b="1" dirty="0">
                          <a:latin typeface="Arial" panose="020B0604020202020204" pitchFamily="34" charset="0"/>
                          <a:cs typeface="Arial" panose="020B0604020202020204" pitchFamily="34" charset="0"/>
                        </a:rPr>
                        <a:t>local variable hides the parameter completely</a:t>
                      </a:r>
                      <a:r>
                        <a:rPr lang="en-US" dirty="0">
                          <a:latin typeface="Arial" panose="020B0604020202020204" pitchFamily="34" charset="0"/>
                          <a:cs typeface="Arial" panose="020B0604020202020204" pitchFamily="34" charset="0"/>
                        </a:rPr>
                        <a:t>. The parameter value cannot be accessed inside the procedure.</a:t>
                      </a:r>
                      <a:endParaRPr lang="en-IN"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60061094"/>
                  </a:ext>
                </a:extLst>
              </a:tr>
            </a:tbl>
          </a:graphicData>
        </a:graphic>
      </p:graphicFrame>
      <p:sp>
        <p:nvSpPr>
          <p:cNvPr id="5" name="TextBox 4">
            <a:extLst>
              <a:ext uri="{FF2B5EF4-FFF2-40B4-BE49-F238E27FC236}">
                <a16:creationId xmlns:a16="http://schemas.microsoft.com/office/drawing/2014/main" id="{D033FC1B-58E9-D491-5EF9-DDD760254F1A}"/>
              </a:ext>
            </a:extLst>
          </p:cNvPr>
          <p:cNvSpPr txBox="1"/>
          <p:nvPr/>
        </p:nvSpPr>
        <p:spPr>
          <a:xfrm>
            <a:off x="7752184" y="513633"/>
            <a:ext cx="4320480" cy="37375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sz="1600"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708262597"/>
      </p:ext>
    </p:extLst>
  </p:cSld>
  <p:clrMapOvr>
    <a:masterClrMapping/>
  </p:clrMapOvr>
</p:sld>
</file>

<file path=ppt/slides/slide7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703512" y="0"/>
            <a:ext cx="10044608"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a:t>
            </a:r>
          </a:p>
        </p:txBody>
      </p:sp>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6240016" y="4069308"/>
            <a:ext cx="561268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4601794"/>
      </p:ext>
    </p:extLst>
  </p:cSld>
  <p:clrMapOvr>
    <a:masterClrMapping/>
  </p:clrMapOvr>
</p:sld>
</file>

<file path=ppt/slides/slide7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r>
              <a:rPr lang="en-IN" dirty="0" err="1">
                <a:latin typeface="Segoe UI Semilight" panose="020B0402040204020203" pitchFamily="34" charset="0"/>
                <a:cs typeface="Segoe UI Semilight" panose="020B0402040204020203" pitchFamily="34" charset="0"/>
              </a:rPr>
              <a:t>in_x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(SELECT 1001);</a:t>
            </a:r>
          </a:p>
          <a:p>
            <a:pPr marL="261938"/>
            <a:r>
              <a:rPr lang="en-US" dirty="0">
                <a:latin typeface="Segoe UI Semilight" panose="020B0402040204020203" pitchFamily="34" charset="0"/>
                <a:cs typeface="Segoe UI Semilight" panose="020B0402040204020203" pitchFamily="34" charset="0"/>
              </a:rPr>
              <a:t>   SET @y := (SELECT 2001);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5663952" y="4069308"/>
            <a:ext cx="618874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FUNCTION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RETURNS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 (SELECT 1002);</a:t>
            </a:r>
          </a:p>
          <a:p>
            <a:pPr marL="261938"/>
            <a:r>
              <a:rPr lang="en-US" dirty="0">
                <a:latin typeface="Segoe UI Semilight" panose="020B0402040204020203" pitchFamily="34" charset="0"/>
                <a:cs typeface="Segoe UI Semilight" panose="020B0402040204020203" pitchFamily="34" charset="0"/>
              </a:rPr>
              <a:t>    SET @y := (SELECT 2002);</a:t>
            </a:r>
          </a:p>
          <a:p>
            <a:pPr marL="261938"/>
            <a:r>
              <a:rPr lang="en-US" dirty="0">
                <a:latin typeface="Segoe UI Semilight" panose="020B04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cs typeface="Segoe UI Semilight" panose="020B0402040204020203" pitchFamily="34" charset="0"/>
              </a:rPr>
              <a:t>(x);</a:t>
            </a:r>
            <a:r>
              <a:rPr lang="en-IN" dirty="0">
                <a:latin typeface="Segoe UI Semilight" panose="020B04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191344" y="0"/>
            <a:ext cx="11737304"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 using select </a:t>
            </a:r>
          </a:p>
        </p:txBody>
      </p:sp>
    </p:spTree>
    <p:extLst>
      <p:ext uri="{BB962C8B-B14F-4D97-AF65-F5344CB8AC3E}">
        <p14:creationId xmlns:p14="http://schemas.microsoft.com/office/powerpoint/2010/main" val="3788442753"/>
      </p:ext>
    </p:extLst>
  </p:cSld>
  <p:clrMapOvr>
    <a:masterClrMapping/>
  </p:clrMapOvr>
</p:sld>
</file>

<file path=ppt/slides/slide7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3" name="Rectangle 2"/>
          <p:cNvSpPr/>
          <p:nvPr/>
        </p:nvSpPr>
        <p:spPr>
          <a:xfrm>
            <a:off x="335360" y="838200"/>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351699" y="1799511"/>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5360" y="2780928"/>
            <a:ext cx="8839200" cy="2616101"/>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377371" y="2348880"/>
            <a:ext cx="11335253"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20FB458-2D87-B667-CD5A-9EA5D2FF177C}"/>
              </a:ext>
            </a:extLst>
          </p:cNvPr>
          <p:cNvSpPr txBox="1"/>
          <p:nvPr/>
        </p:nvSpPr>
        <p:spPr>
          <a:xfrm>
            <a:off x="351698" y="5609004"/>
            <a:ext cx="11648957" cy="1077218"/>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Local variables </a:t>
            </a:r>
            <a:r>
              <a:rPr lang="en-US" b="1" dirty="0">
                <a:latin typeface="Arial" panose="020B0604020202020204" pitchFamily="34" charset="0"/>
                <a:cs typeface="Arial" panose="020B0604020202020204" pitchFamily="34" charset="0"/>
              </a:rPr>
              <a:t>are not shared</a:t>
            </a:r>
            <a:r>
              <a:rPr lang="en-US" dirty="0">
                <a:latin typeface="Arial" panose="020B0604020202020204" pitchFamily="34" charset="0"/>
                <a:cs typeface="Arial" panose="020B0604020202020204" pitchFamily="34" charset="0"/>
              </a:rPr>
              <a:t> between procedures, and </a:t>
            </a:r>
            <a:r>
              <a:rPr lang="en-US" b="1" dirty="0">
                <a:latin typeface="Arial" panose="020B0604020202020204" pitchFamily="34" charset="0"/>
                <a:cs typeface="Arial" panose="020B0604020202020204" pitchFamily="34" charset="0"/>
              </a:rPr>
              <a:t>cannot be accessed outside the program </a:t>
            </a:r>
            <a:r>
              <a:rPr lang="en-US" dirty="0">
                <a:latin typeface="Arial" panose="020B0604020202020204" pitchFamily="34" charset="0"/>
                <a:cs typeface="Arial" panose="020B0604020202020204" pitchFamily="34" charset="0"/>
              </a:rPr>
              <a:t>in which they’re declared.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04696726"/>
      </p:ext>
    </p:extLst>
  </p:cSld>
  <p:clrMapOvr>
    <a:masterClrMapping/>
  </p:clrMapOvr>
</p:sld>
</file>

<file path=ppt/slides/slide7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2" name="Rectangle 1"/>
          <p:cNvSpPr/>
          <p:nvPr/>
        </p:nvSpPr>
        <p:spPr>
          <a:xfrm>
            <a:off x="551384" y="942975"/>
            <a:ext cx="101166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b,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a + </a:t>
            </a:r>
            <a:r>
              <a:rPr lang="en-IN" dirty="0">
                <a:solidFill>
                  <a:srgbClr val="990055"/>
                </a:solidFill>
                <a:latin typeface="Segoe UI Semilight" panose="020B0402040204020203" pitchFamily="34" charset="0"/>
                <a:cs typeface="Segoe UI Semilight" panose="020B0402040204020203" pitchFamily="34" charset="0"/>
              </a:rPr>
              <a:t>100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a:t>
            </a:r>
            <a:r>
              <a:rPr lang="en-IN" dirty="0">
                <a:solidFill>
                  <a:srgbClr val="990055"/>
                </a:solidFill>
                <a:latin typeface="Segoe UI Semilight" panose="020B0402040204020203" pitchFamily="34" charset="0"/>
                <a:cs typeface="Segoe UI Semilight" panose="020B0402040204020203" pitchFamily="34" charset="0"/>
              </a:rPr>
              <a:t>2</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 + b;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t>
            </a:r>
            <a:r>
              <a:rPr lang="en-IN" dirty="0">
                <a:solidFill>
                  <a:srgbClr val="990055"/>
                </a:solidFill>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68750579"/>
      </p:ext>
    </p:extLst>
  </p:cSld>
  <p:clrMapOvr>
    <a:masterClrMapping/>
  </p:clrMapOvr>
</p:sld>
</file>

<file path=ppt/slides/slide7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delimiter problem</a:t>
            </a:r>
          </a:p>
        </p:txBody>
      </p:sp>
      <p:sp>
        <p:nvSpPr>
          <p:cNvPr id="3" name="Rectangle 2"/>
          <p:cNvSpPr/>
          <p:nvPr/>
        </p:nvSpPr>
        <p:spPr>
          <a:xfrm>
            <a:off x="1752600" y="3581401"/>
            <a:ext cx="86868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INTO para1;</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p:txBody>
      </p:sp>
    </p:spTree>
    <p:extLst>
      <p:ext uri="{BB962C8B-B14F-4D97-AF65-F5344CB8AC3E}">
        <p14:creationId xmlns:p14="http://schemas.microsoft.com/office/powerpoint/2010/main" val="1617805976"/>
      </p:ext>
    </p:extLst>
  </p:cSld>
  <p:clrMapOvr>
    <a:masterClrMapping/>
  </p:clrMapOvr>
  <p:transition/>
</p:sld>
</file>

<file path=ppt/slides/slide7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if and loop label</a:t>
            </a:r>
          </a:p>
        </p:txBody>
      </p:sp>
    </p:spTree>
    <p:extLst>
      <p:ext uri="{BB962C8B-B14F-4D97-AF65-F5344CB8AC3E}">
        <p14:creationId xmlns:p14="http://schemas.microsoft.com/office/powerpoint/2010/main" val="2612566419"/>
      </p:ext>
    </p:extLst>
  </p:cSld>
  <p:clrMapOvr>
    <a:masterClrMapping/>
  </p:clrMapOvr>
  <p:transition/>
</p:sld>
</file>

<file path=ppt/slides/slide7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 and 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1676400" y="3150276"/>
            <a:ext cx="8839200" cy="2031325"/>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r>
              <a:rPr lang="en-IN" dirty="0">
                <a:solidFill>
                  <a:srgbClr val="0077AA"/>
                </a:solidFill>
                <a:latin typeface="Liberation Mono"/>
              </a:rPr>
              <a:t>ITERATE label</a:t>
            </a:r>
          </a:p>
          <a:p>
            <a:endParaRPr lang="en-IN" dirty="0">
              <a:solidFill>
                <a:srgbClr val="0077AA"/>
              </a:solidFill>
              <a:latin typeface="Liberation Mono"/>
            </a:endParaRPr>
          </a:p>
          <a:p>
            <a:r>
              <a:rPr lang="en-IN" dirty="0">
                <a:solidFill>
                  <a:srgbClr val="0077AA"/>
                </a:solidFill>
                <a:latin typeface="Liberation Mono"/>
              </a:rPr>
              <a:t>LEAVE label</a:t>
            </a:r>
          </a:p>
        </p:txBody>
      </p:sp>
      <p:sp>
        <p:nvSpPr>
          <p:cNvPr id="2" name="Rectangle 1"/>
          <p:cNvSpPr/>
          <p:nvPr/>
        </p:nvSpPr>
        <p:spPr>
          <a:xfrm>
            <a:off x="1676400" y="2325470"/>
            <a:ext cx="8839200"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5" name="Rectangle 4"/>
          <p:cNvSpPr/>
          <p:nvPr/>
        </p:nvSpPr>
        <p:spPr>
          <a:xfrm>
            <a:off x="1676400" y="762001"/>
            <a:ext cx="8839200"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cxnSp>
        <p:nvCxnSpPr>
          <p:cNvPr id="6" name="Straight Connector 5"/>
          <p:cNvCxnSpPr/>
          <p:nvPr/>
        </p:nvCxnSpPr>
        <p:spPr>
          <a:xfrm>
            <a:off x="1524000" y="2057400"/>
            <a:ext cx="914400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4322920"/>
      </p:ext>
    </p:extLst>
  </p:cSld>
  <p:clrMapOvr>
    <a:masterClrMapping/>
  </p:clrMapOvr>
  <p:transition/>
</p:sld>
</file>

<file path=ppt/slides/slide7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5" y="725849"/>
            <a:ext cx="8838049"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sp>
        <p:nvSpPr>
          <p:cNvPr id="9" name="Rectangle 8">
            <a:extLst>
              <a:ext uri="{FF2B5EF4-FFF2-40B4-BE49-F238E27FC236}">
                <a16:creationId xmlns:a16="http://schemas.microsoft.com/office/drawing/2014/main" id="{CFDB9D3A-20BB-44F6-9C72-E6436184571D}"/>
              </a:ext>
            </a:extLst>
          </p:cNvPr>
          <p:cNvSpPr/>
          <p:nvPr/>
        </p:nvSpPr>
        <p:spPr>
          <a:xfrm>
            <a:off x="263352" y="2622973"/>
            <a:ext cx="11521280"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 v_value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0'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elseif v_value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1'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neither 0 or 1'</a:t>
            </a:r>
            <a:r>
              <a:rPr lang="en-US" dirty="0">
                <a:latin typeface="Segoe UI Semilight" panose="020B0402040204020203" pitchFamily="34" charset="0"/>
                <a:cs typeface="Segoe UI Semilight" panose="020B0402040204020203" pitchFamily="34" charset="0"/>
              </a:rPr>
              <a:t> as "Message Box";</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10" name="Rectangle 9">
            <a:extLst>
              <a:ext uri="{FF2B5EF4-FFF2-40B4-BE49-F238E27FC236}">
                <a16:creationId xmlns:a16="http://schemas.microsoft.com/office/drawing/2014/main" id="{E634C28E-FF7B-4533-BDA3-B589B3C86FB3}"/>
              </a:ext>
            </a:extLst>
          </p:cNvPr>
          <p:cNvSpPr/>
          <p:nvPr/>
        </p:nvSpPr>
        <p:spPr>
          <a:xfrm>
            <a:off x="263353" y="2204864"/>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4034865704"/>
      </p:ext>
    </p:extLst>
  </p:cSld>
  <p:clrMapOvr>
    <a:masterClrMapping/>
  </p:clrMapOvr>
</p:sld>
</file>

<file path=ppt/slides/slide7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2" y="692696"/>
            <a:ext cx="3240360" cy="1754326"/>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ITERATE label</a:t>
            </a:r>
          </a:p>
          <a:p>
            <a:pPr marL="285750" indent="-285750">
              <a:buFont typeface="Arial" panose="020B0604020202020204" pitchFamily="34" charset="0"/>
              <a:buChar char="•"/>
            </a:pPr>
            <a:r>
              <a:rPr lang="en-IN" dirty="0">
                <a:solidFill>
                  <a:srgbClr val="0077AA"/>
                </a:solidFill>
                <a:latin typeface="Liberation Mono"/>
              </a:rPr>
              <a:t>LEAVE label</a:t>
            </a:r>
          </a:p>
        </p:txBody>
      </p:sp>
      <p:sp>
        <p:nvSpPr>
          <p:cNvPr id="2" name="Rectangle 1"/>
          <p:cNvSpPr/>
          <p:nvPr/>
        </p:nvSpPr>
        <p:spPr>
          <a:xfrm>
            <a:off x="3575721" y="692696"/>
            <a:ext cx="8616279"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6" name="Rectangle 5">
            <a:extLst>
              <a:ext uri="{FF2B5EF4-FFF2-40B4-BE49-F238E27FC236}">
                <a16:creationId xmlns:a16="http://schemas.microsoft.com/office/drawing/2014/main" id="{66537FE0-C0BD-4C9E-9CDF-A7824BBDE068}"/>
              </a:ext>
            </a:extLst>
          </p:cNvPr>
          <p:cNvSpPr/>
          <p:nvPr/>
        </p:nvSpPr>
        <p:spPr>
          <a:xfrm>
            <a:off x="263352" y="2780928"/>
            <a:ext cx="11521280" cy="3970318"/>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cs typeface="Segoe UI Semilight" panose="020B0402040204020203" pitchFamily="34" charset="0"/>
              </a:rPr>
              <a: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set x = x + </a:t>
            </a:r>
            <a:r>
              <a:rPr lang="en-US" dirty="0">
                <a:solidFill>
                  <a:srgbClr val="990055"/>
                </a:solidFill>
                <a:latin typeface="Segoe UI Semilight" panose="020B0402040204020203" pitchFamily="34" charset="0"/>
                <a:cs typeface="Segoe UI Semilight" panose="020B0402040204020203" pitchFamily="34" charset="0"/>
              </a:rPr>
              <a:t>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a:t>
            </a:r>
          </a:p>
          <a:p>
            <a:r>
              <a:rPr lang="en-US" dirty="0">
                <a:latin typeface="Segoe UI Semilight" panose="020B0402040204020203" pitchFamily="34" charset="0"/>
                <a:cs typeface="Segoe UI Semilight" panose="020B0402040204020203" pitchFamily="34" charset="0"/>
              </a:rPr>
              <a:t>        if x  = v_value then</a:t>
            </a:r>
          </a:p>
          <a:p>
            <a:r>
              <a:rPr lang="en-US" dirty="0">
                <a:latin typeface="Segoe UI Semilight" panose="020B0402040204020203" pitchFamily="34" charset="0"/>
                <a:cs typeface="Segoe UI Semilight" panose="020B0402040204020203" pitchFamily="34" charset="0"/>
              </a:rPr>
              <a:t>           leave lbl;</a:t>
            </a:r>
          </a:p>
          <a:p>
            <a:r>
              <a:rPr lang="en-US" dirty="0">
                <a:latin typeface="Segoe UI Semilight" panose="020B0402040204020203" pitchFamily="34" charset="0"/>
                <a:cs typeface="Segoe UI Semilight" panose="020B0402040204020203" pitchFamily="34" charset="0"/>
              </a:rPr>
              <a:t>        end if;</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50EF2A8-B4EB-47F3-9701-17CE69DB7816}"/>
              </a:ext>
            </a:extLst>
          </p:cNvPr>
          <p:cNvSpPr/>
          <p:nvPr/>
        </p:nvSpPr>
        <p:spPr>
          <a:xfrm>
            <a:off x="263353" y="2348880"/>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200687934"/>
      </p:ext>
    </p:extLst>
  </p:cSld>
  <p:clrMapOvr>
    <a:masterClrMapping/>
  </p:clrMapOvr>
</p:sld>
</file>

<file path=ppt/slides/slide7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1676400" y="152400"/>
            <a:ext cx="8839200" cy="400110"/>
          </a:xfrm>
          <a:prstGeom prst="rect">
            <a:avLst/>
          </a:prstGeom>
          <a:solidFill>
            <a:srgbClr val="5F9378"/>
          </a:solidFill>
        </p:spPr>
        <p:txBody>
          <a:bodyPr wrap="square">
            <a:spAutoFit/>
          </a:bodyPr>
          <a:lstStyle/>
          <a:p>
            <a:pPr algn="just"/>
            <a:r>
              <a:rPr lang="en-IN" sz="2000" dirty="0">
                <a:solidFill>
                  <a:srgbClr val="E8F97F"/>
                </a:solidFill>
                <a:latin typeface="Arial" panose="020B0604020202020204" pitchFamily="34" charset="0"/>
                <a:cs typeface="Arial" panose="020B0604020202020204" pitchFamily="34" charset="0"/>
              </a:rPr>
              <a:t>A procedure is a group of PL/SQL statements that you can call by name.</a:t>
            </a:r>
          </a:p>
        </p:txBody>
      </p:sp>
      <p:sp>
        <p:nvSpPr>
          <p:cNvPr id="5" name="Rectangle 4">
            <a:extLst>
              <a:ext uri="{FF2B5EF4-FFF2-40B4-BE49-F238E27FC236}">
                <a16:creationId xmlns:a16="http://schemas.microsoft.com/office/drawing/2014/main" id="{0C32BCA3-032A-4E2E-95A3-B978B1F49C73}"/>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A procedure is a group of PL/SQL statements that you can call by name.</a:t>
            </a:r>
          </a:p>
        </p:txBody>
      </p:sp>
      <p:sp>
        <p:nvSpPr>
          <p:cNvPr id="6" name="Rectangle 5">
            <a:extLst>
              <a:ext uri="{FF2B5EF4-FFF2-40B4-BE49-F238E27FC236}">
                <a16:creationId xmlns:a16="http://schemas.microsoft.com/office/drawing/2014/main" id="{89D4B3DA-2B20-48BD-916D-D58F609BC0F2}"/>
              </a:ext>
            </a:extLst>
          </p:cNvPr>
          <p:cNvSpPr/>
          <p:nvPr/>
        </p:nvSpPr>
        <p:spPr>
          <a:xfrm>
            <a:off x="550590" y="3933056"/>
            <a:ext cx="10873208" cy="2369880"/>
          </a:xfrm>
          <a:prstGeom prst="rect">
            <a:avLst/>
          </a:prstGeom>
          <a:solidFill>
            <a:schemeClr val="bg1"/>
          </a:solid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800" dirty="0">
              <a:solidFill>
                <a:srgbClr val="FF0000"/>
              </a:solidFill>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It is </a:t>
            </a:r>
            <a:r>
              <a:rPr lang="en-IN" b="1" dirty="0">
                <a:latin typeface="Palatino Linotype" panose="02040502050505030304" pitchFamily="18" charset="0"/>
                <a:cs typeface="Segoe UI Light" panose="020B0502040204020203" pitchFamily="34" charset="0"/>
              </a:rPr>
              <a:t>not permitted </a:t>
            </a:r>
            <a:r>
              <a:rPr lang="en-IN" dirty="0">
                <a:latin typeface="Palatino Linotype" panose="02040502050505030304" pitchFamily="18" charset="0"/>
                <a:cs typeface="Segoe UI Light" panose="020B0502040204020203" pitchFamily="34" charset="0"/>
              </a:rPr>
              <a:t>to assign the value DEFAULT to stored PROCEDURE or FUNCTION parameters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solidFill>
                  <a:srgbClr val="FF0000"/>
                </a:solidFill>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p_ID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10)</a:t>
            </a:r>
          </a:p>
          <a:p>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Or stored program local variables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SET</a:t>
            </a:r>
            <a:r>
              <a:rPr lang="en-IN" dirty="0">
                <a:latin typeface="Segoe UI Semilight" panose="020B0402040204020203" pitchFamily="34" charset="0"/>
                <a:cs typeface="Segoe UI Semilight" panose="020B0402040204020203" pitchFamily="34" charset="0"/>
              </a:rPr>
              <a:t> @var_name =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some_value.</a:t>
            </a:r>
          </a:p>
        </p:txBody>
      </p:sp>
    </p:spTree>
    <p:extLst>
      <p:ext uri="{BB962C8B-B14F-4D97-AF65-F5344CB8AC3E}">
        <p14:creationId xmlns:p14="http://schemas.microsoft.com/office/powerpoint/2010/main" val="1208444974"/>
      </p:ext>
    </p:extLst>
  </p:cSld>
  <p:clrMapOvr>
    <a:masterClrMapping/>
  </p:clrMapOvr>
</p:sld>
</file>

<file path=ppt/slides/slide7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9376" y="765364"/>
            <a:ext cx="1011242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8" name="Rectangle 7"/>
          <p:cNvSpPr/>
          <p:nvPr/>
        </p:nvSpPr>
        <p:spPr>
          <a:xfrm>
            <a:off x="479376" y="3261171"/>
            <a:ext cx="10112424"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a:t>
            </a:r>
            <a:r>
              <a:rPr lang="en-IN" dirty="0">
                <a:solidFill>
                  <a:srgbClr val="990055"/>
                </a:solidFill>
                <a:latin typeface="Segoe UI Semilight" panose="020B0402040204020203" pitchFamily="34" charset="0"/>
                <a:cs typeface="Segoe UI Semilight" panose="020B0402040204020203" pitchFamily="34" charset="0"/>
              </a:rPr>
              <a:t>7788</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600863234"/>
      </p:ext>
    </p:extLst>
  </p:cSld>
  <p:clrMapOvr>
    <a:masterClrMapping/>
  </p:clrMapOvr>
</p:sld>
</file>

<file path=ppt/slides/slide7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6700"/>
            <a:ext cx="10040416"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in_para1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in_para1;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436103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 default ‘Saleel’;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ename = ename;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a:extLst>
              <a:ext uri="{FF2B5EF4-FFF2-40B4-BE49-F238E27FC236}">
                <a16:creationId xmlns:a16="http://schemas.microsoft.com/office/drawing/2014/main" id="{1D121736-DA81-B2D1-B19F-D19360A429AC}"/>
              </a:ext>
            </a:extLst>
          </p:cNvPr>
          <p:cNvSpPr txBox="1"/>
          <p:nvPr/>
        </p:nvSpPr>
        <p:spPr>
          <a:xfrm>
            <a:off x="478800" y="3789040"/>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836544262"/>
      </p:ext>
    </p:extLst>
  </p:cSld>
  <p:clrMapOvr>
    <a:masterClrMapping/>
  </p:clrMapOvr>
</p:sld>
</file>

<file path=ppt/slides/slide7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9376" y="3269883"/>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658695293"/>
      </p:ext>
    </p:extLst>
  </p:cSld>
  <p:clrMapOvr>
    <a:masterClrMapping/>
  </p:clrMapOvr>
</p:sld>
</file>

<file path=ppt/slides/slide7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if (SELECT true FROM dept WHERE deptno =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emp WHERE deptno = 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"Data Not Found";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4E7BDABD-C96B-B3C3-5368-39BCD3B9E7C8}"/>
              </a:ext>
            </a:extLst>
          </p:cNvPr>
          <p:cNvSpPr/>
          <p:nvPr/>
        </p:nvSpPr>
        <p:spPr>
          <a:xfrm>
            <a:off x="479376" y="4133979"/>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77807290"/>
      </p:ext>
    </p:extLst>
  </p:cSld>
  <p:clrMapOvr>
    <a:masterClrMapping/>
  </p:clrMapOvr>
</p:sld>
</file>

<file path=ppt/slides/slide7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967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(p1, p2, p3, p4);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311113"/>
            <a:ext cx="1004041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myprocedure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p1 = p1 + 2;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p:cNvSpPr txBox="1"/>
          <p:nvPr/>
        </p:nvSpPr>
        <p:spPr>
          <a:xfrm>
            <a:off x="551384" y="5602014"/>
            <a:ext cx="6039916" cy="923330"/>
          </a:xfrm>
          <a:prstGeom prst="rect">
            <a:avLst/>
          </a:prstGeom>
          <a:noFill/>
        </p:spPr>
        <p:txBody>
          <a:bodyPr wrap="square" rtlCol="0">
            <a:spAutoFit/>
          </a:bodyPr>
          <a:lstStyle/>
          <a:p>
            <a:r>
              <a:rPr lang="en-IN" dirty="0">
                <a:solidFill>
                  <a:schemeClr val="accent5">
                    <a:lumMod val="50000"/>
                  </a:schemeClr>
                </a:solidFill>
                <a:latin typeface="Liberation Mono"/>
              </a:rPr>
              <a:t>mysql&gt; </a:t>
            </a:r>
            <a:r>
              <a:rPr lang="en-IN" dirty="0">
                <a:latin typeface="Liberation Mono"/>
              </a:rPr>
              <a:t>SET </a:t>
            </a:r>
            <a:r>
              <a:rPr lang="en-IN" i="1" dirty="0">
                <a:latin typeface="Liberation Mono"/>
              </a:rPr>
              <a:t>@x </a:t>
            </a:r>
            <a:r>
              <a:rPr lang="en-IN" dirty="0">
                <a:latin typeface="Liberation Mono"/>
              </a:rPr>
              <a:t>= </a:t>
            </a:r>
            <a:r>
              <a:rPr lang="en-IN" dirty="0">
                <a:solidFill>
                  <a:srgbClr val="990055"/>
                </a:solidFill>
                <a:latin typeface="Segoe UI Semilight" panose="020B0402040204020203" pitchFamily="34" charset="0"/>
                <a:cs typeface="Segoe UI Semilight" panose="020B0402040204020203" pitchFamily="34" charset="0"/>
              </a:rPr>
              <a:t>10</a:t>
            </a:r>
          </a:p>
          <a:p>
            <a:r>
              <a:rPr lang="en-IN" dirty="0">
                <a:solidFill>
                  <a:schemeClr val="accent5">
                    <a:lumMod val="50000"/>
                  </a:schemeClr>
                </a:solidFill>
                <a:latin typeface="Liberation Mono"/>
              </a:rPr>
              <a:t>mysql&gt; </a:t>
            </a:r>
            <a:r>
              <a:rPr lang="en-IN" dirty="0">
                <a:latin typeface="Liberation Mono"/>
              </a:rPr>
              <a:t>CALL procudeureName(</a:t>
            </a:r>
            <a:r>
              <a:rPr lang="en-IN" i="1" dirty="0">
                <a:latin typeface="Liberation Mono"/>
              </a:rPr>
              <a:t>@x</a:t>
            </a:r>
            <a:r>
              <a:rPr lang="en-IN" dirty="0">
                <a:latin typeface="Liberation Mono"/>
              </a:rPr>
              <a:t>);</a:t>
            </a:r>
          </a:p>
          <a:p>
            <a:r>
              <a:rPr lang="en-IN" dirty="0">
                <a:solidFill>
                  <a:schemeClr val="accent5">
                    <a:lumMod val="50000"/>
                  </a:schemeClr>
                </a:solidFill>
                <a:latin typeface="Liberation Mono"/>
              </a:rPr>
              <a:t>mysql&gt;</a:t>
            </a:r>
            <a:r>
              <a:rPr lang="en-IN" dirty="0">
                <a:latin typeface="Liberation Mono"/>
              </a:rPr>
              <a:t> SELECT </a:t>
            </a:r>
            <a:r>
              <a:rPr lang="en-IN" i="1" dirty="0">
                <a:latin typeface="Liberation Mono"/>
              </a:rPr>
              <a:t>@x</a:t>
            </a:r>
            <a:endParaRPr lang="en-IN" dirty="0">
              <a:latin typeface="Liberation Mono"/>
            </a:endParaRPr>
          </a:p>
        </p:txBody>
      </p:sp>
    </p:spTree>
    <p:extLst>
      <p:ext uri="{BB962C8B-B14F-4D97-AF65-F5344CB8AC3E}">
        <p14:creationId xmlns:p14="http://schemas.microsoft.com/office/powerpoint/2010/main" val="3030627995"/>
      </p:ext>
    </p:extLst>
  </p:cSld>
  <p:clrMapOvr>
    <a:masterClrMapping/>
  </p:clrMapOvr>
</p:sld>
</file>

<file path=ppt/slides/slide7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404664"/>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2549803"/>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(v1, v2, v3, v4);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4782051"/>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23481169"/>
      </p:ext>
    </p:extLst>
  </p:cSld>
  <p:clrMapOvr>
    <a:masterClrMapping/>
  </p:clrMapOvr>
</p:sld>
</file>

<file path=ppt/slides/slide7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for LIMIT and OFFSET</a:t>
            </a:r>
          </a:p>
        </p:txBody>
      </p:sp>
      <p:sp>
        <p:nvSpPr>
          <p:cNvPr id="8" name="Rectangle 7"/>
          <p:cNvSpPr/>
          <p:nvPr/>
        </p:nvSpPr>
        <p:spPr>
          <a:xfrm>
            <a:off x="478800" y="980728"/>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286800"/>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 OFFSET var2;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25062947"/>
      </p:ext>
    </p:extLst>
  </p:cSld>
  <p:clrMapOvr>
    <a:masterClrMapping/>
  </p:clrMapOvr>
</p:sld>
</file>

<file path=ppt/slides/slide7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1F0A1-5887-9317-1707-FB4A481004A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2CF0ACA-4FC5-7F99-6F6B-8BB4F4EE046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a:t>
            </a:r>
          </a:p>
        </p:txBody>
      </p:sp>
      <p:sp>
        <p:nvSpPr>
          <p:cNvPr id="7" name="Rectangle 6">
            <a:extLst>
              <a:ext uri="{FF2B5EF4-FFF2-40B4-BE49-F238E27FC236}">
                <a16:creationId xmlns:a16="http://schemas.microsoft.com/office/drawing/2014/main" id="{5BC9B417-0293-9DD5-6010-38CEB78947B5}"/>
              </a:ext>
            </a:extLst>
          </p:cNvPr>
          <p:cNvSpPr/>
          <p:nvPr/>
        </p:nvSpPr>
        <p:spPr>
          <a:xfrm>
            <a:off x="478800" y="836712"/>
            <a:ext cx="11089808" cy="60324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1: Create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2: Create t2</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t2 VALUES(</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6471217C-74E9-65D5-0ADA-3C2CF5195913}"/>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424776394"/>
      </p:ext>
    </p:extLst>
  </p:cSld>
  <p:clrMapOvr>
    <a:masterClrMapping/>
  </p:clrMapOvr>
</p:sld>
</file>

<file path=ppt/slides/slide7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44065-AF85-4B52-C231-E3A11972F2D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D4CBFBB-DC03-0CD1-403D-011B2FAEBA09}"/>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 and UPDATE)</a:t>
            </a:r>
          </a:p>
        </p:txBody>
      </p:sp>
      <p:sp>
        <p:nvSpPr>
          <p:cNvPr id="7" name="Rectangle 6">
            <a:extLst>
              <a:ext uri="{FF2B5EF4-FFF2-40B4-BE49-F238E27FC236}">
                <a16:creationId xmlns:a16="http://schemas.microsoft.com/office/drawing/2014/main" id="{3D1CB238-FB0E-93BD-1715-2E897A129335}"/>
              </a:ext>
            </a:extLst>
          </p:cNvPr>
          <p:cNvSpPr/>
          <p:nvPr/>
        </p:nvSpPr>
        <p:spPr>
          <a:xfrm>
            <a:off x="478800" y="1046341"/>
            <a:ext cx="11089808" cy="526297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 </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INT;</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73050"/>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VALUES(1,1);</a:t>
            </a:r>
          </a:p>
          <a:p>
            <a:pPr marL="273050"/>
            <a:endParaRPr lang="en-US" sz="600"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t2 SET c2:=</a:t>
            </a:r>
            <a:r>
              <a:rPr lang="en-US" dirty="0">
                <a:solidFill>
                  <a:srgbClr val="990055"/>
                </a:solidFill>
                <a:latin typeface="Segoe UI Semilight" panose="020B0402040204020203" pitchFamily="34" charset="0"/>
                <a:cs typeface="Segoe UI Semilight" panose="020B0402040204020203" pitchFamily="34" charset="0"/>
              </a:rPr>
              <a:t>1000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c1 =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a:t>
            </a:r>
            <a:r>
              <a:rPr lang="en-US" dirty="0">
                <a:solidFill>
                  <a:srgbClr val="3939F5"/>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committed"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77956667"/>
      </p:ext>
    </p:extLst>
  </p:cSld>
  <p:clrMapOvr>
    <a:masterClrMapping/>
  </p:clrMapOvr>
</p:sld>
</file>

<file path=ppt/slides/slide7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162AC-A4F3-33FB-48C1-8794050EFD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C80215A-52D9-7948-DA14-2FB6C1A1D0FC}"/>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UPDATE and UPDATE)</a:t>
            </a:r>
          </a:p>
        </p:txBody>
      </p:sp>
      <p:sp>
        <p:nvSpPr>
          <p:cNvPr id="7" name="Rectangle 6">
            <a:extLst>
              <a:ext uri="{FF2B5EF4-FFF2-40B4-BE49-F238E27FC236}">
                <a16:creationId xmlns:a16="http://schemas.microsoft.com/office/drawing/2014/main" id="{8E809760-FA2E-5538-E89A-123CFDDE30F1}"/>
              </a:ext>
            </a:extLst>
          </p:cNvPr>
          <p:cNvSpPr/>
          <p:nvPr/>
        </p:nvSpPr>
        <p:spPr>
          <a:xfrm>
            <a:off x="478800" y="1026016"/>
            <a:ext cx="11305832" cy="535531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solidFill>
                  <a:srgbClr val="B212AA"/>
                </a:solidFill>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Start Transaction Read Write;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"Transaction rolledback..."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a:t>
            </a:r>
            <a:r>
              <a:rPr lang="en-US" dirty="0">
                <a:solidFill>
                  <a:srgbClr val="669900"/>
                </a:solidFill>
                <a:latin typeface="Segoe UI Semilight" panose="020B0402040204020203" pitchFamily="34" charset="0"/>
                <a:cs typeface="Segoe UI Semilight" panose="020B0402040204020203" pitchFamily="34" charset="0"/>
              </a:rPr>
              <a:t> "Transaction completed successfully..."</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10619048"/>
      </p:ext>
    </p:extLst>
  </p:cSld>
  <p:clrMapOvr>
    <a:masterClrMapping/>
  </p:clrMapOvr>
</p:sld>
</file>

<file path=ppt/slides/slide7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4D70B-0B9B-85BB-CA91-1A877FD2E7B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BDB7465-9E44-8FAD-3B21-D68377115AFF}"/>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DELETE and INSERT)</a:t>
            </a:r>
          </a:p>
        </p:txBody>
      </p:sp>
      <p:sp>
        <p:nvSpPr>
          <p:cNvPr id="7" name="Rectangle 6">
            <a:extLst>
              <a:ext uri="{FF2B5EF4-FFF2-40B4-BE49-F238E27FC236}">
                <a16:creationId xmlns:a16="http://schemas.microsoft.com/office/drawing/2014/main" id="{052E8B8C-9949-8136-7BF2-0C4FBBDC10B6}"/>
              </a:ext>
            </a:extLst>
          </p:cNvPr>
          <p:cNvSpPr/>
          <p:nvPr/>
        </p:nvSpPr>
        <p:spPr>
          <a:xfrm>
            <a:off x="478800" y="1006271"/>
            <a:ext cx="11089808" cy="566308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t2 WHERE c1=2;</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4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AB88F932-E0B7-F72F-DBA6-17C47FCC1C08}"/>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369049230"/>
      </p:ext>
    </p:extLst>
  </p:cSld>
  <p:clrMapOvr>
    <a:masterClrMapping/>
  </p:clrMapOvr>
</p:sld>
</file>

<file path=ppt/slides/slide7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D7C80D8-7987-4255-AD31-512DA2BD6169}"/>
              </a:ext>
            </a:extLst>
          </p:cNvPr>
          <p:cNvSpPr/>
          <p:nvPr/>
        </p:nvSpPr>
        <p:spPr>
          <a:xfrm>
            <a:off x="478800" y="3284984"/>
            <a:ext cx="113058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#CREATE TABLE temp (col1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346939616"/>
      </p:ext>
    </p:extLst>
  </p:cSld>
  <p:clrMapOvr>
    <a:masterClrMapping/>
  </p:clrMapOvr>
</p:sld>
</file>

<file path=ppt/slides/slide7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IN"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 handler for </a:t>
            </a:r>
            <a:r>
              <a:rPr lang="en-IN" dirty="0">
                <a:solidFill>
                  <a:srgbClr val="990055"/>
                </a:solidFill>
                <a:latin typeface="Segoe UI Semilight" panose="020B0402040204020203" pitchFamily="34" charset="0"/>
                <a:cs typeface="Segoe UI Semilight" panose="020B0402040204020203" pitchFamily="34" charset="0"/>
              </a:rPr>
              <a:t>1146</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abc(id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abc;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6313989"/>
      </p:ext>
    </p:extLst>
  </p:cSld>
  <p:clrMapOvr>
    <a:masterClrMapping/>
  </p:clrMapOvr>
</p:sld>
</file>

<file path=ppt/slides/slide7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(random string)</a:t>
            </a:r>
          </a:p>
        </p:txBody>
      </p:sp>
      <p:sp>
        <p:nvSpPr>
          <p:cNvPr id="2" name="TextBox 1">
            <a:extLst>
              <a:ext uri="{FF2B5EF4-FFF2-40B4-BE49-F238E27FC236}">
                <a16:creationId xmlns:a16="http://schemas.microsoft.com/office/drawing/2014/main" id="{BBD4A5ED-880F-2D39-E5C4-385101393059}"/>
              </a:ext>
            </a:extLst>
          </p:cNvPr>
          <p:cNvSpPr txBox="1"/>
          <p:nvPr/>
        </p:nvSpPr>
        <p:spPr>
          <a:xfrm>
            <a:off x="478800" y="835200"/>
            <a:ext cx="11161240"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declare 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a:t>
            </a:r>
            <a:r>
              <a:rPr lang="en-IN" dirty="0">
                <a:solidFill>
                  <a:srgbClr val="990055"/>
                </a:solidFill>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otp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(200) default '';</a:t>
            </a:r>
          </a:p>
          <a:p>
            <a:r>
              <a:rPr lang="en-IN" dirty="0">
                <a:latin typeface="Segoe UI Semilight" panose="020B0402040204020203" pitchFamily="34" charset="0"/>
                <a:cs typeface="Segoe UI Semilight" panose="020B0402040204020203" pitchFamily="34" charset="0"/>
              </a:rPr>
              <a:t>         lbl1:</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set  l := l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if l &gt; </a:t>
            </a:r>
            <a:r>
              <a:rPr lang="en-IN" dirty="0">
                <a:solidFill>
                  <a:srgbClr val="990055"/>
                </a:solidFill>
                <a:latin typeface="Segoe UI Semilight" panose="020B0402040204020203" pitchFamily="34" charset="0"/>
                <a:cs typeface="Segoe UI Semilight" panose="020B0402040204020203" pitchFamily="34" charset="0"/>
              </a:rPr>
              <a:t>7</a:t>
            </a:r>
            <a:r>
              <a:rPr lang="en-IN" dirty="0">
                <a:latin typeface="Segoe UI Semilight" panose="020B0402040204020203" pitchFamily="34" charset="0"/>
                <a:cs typeface="Segoe UI Semilight" panose="020B0402040204020203" pitchFamily="34" charset="0"/>
              </a:rPr>
              <a:t> then</a:t>
            </a:r>
          </a:p>
          <a:p>
            <a:r>
              <a:rPr lang="en-IN" dirty="0">
                <a:latin typeface="Segoe UI Semilight" panose="020B0402040204020203" pitchFamily="34" charset="0"/>
                <a:cs typeface="Segoe UI Semilight" panose="020B0402040204020203" pitchFamily="34" charset="0"/>
              </a:rPr>
              <a:t>	    leave lbl1;</a:t>
            </a:r>
          </a:p>
          <a:p>
            <a:r>
              <a:rPr lang="en-IN" dirty="0">
                <a:latin typeface="Segoe UI Semilight" panose="020B0402040204020203" pitchFamily="34" charset="0"/>
                <a:cs typeface="Segoe UI Semilight" panose="020B0402040204020203" pitchFamily="34" charset="0"/>
              </a:rPr>
              <a:t>	end if;</a:t>
            </a:r>
          </a:p>
          <a:p>
            <a:r>
              <a:rPr lang="en-IN" dirty="0">
                <a:latin typeface="Segoe UI Semilight" panose="020B0402040204020203" pitchFamily="34" charset="0"/>
                <a:cs typeface="Segoe UI Semilight" panose="020B0402040204020203" pitchFamily="34" charset="0"/>
              </a:rPr>
              <a:t>	    set otp := CONCAT(CAST(CHAR((SELECT FLOOR(RAND() * (</a:t>
            </a:r>
            <a:r>
              <a:rPr lang="en-IN" dirty="0">
                <a:solidFill>
                  <a:srgbClr val="990055"/>
                </a:solidFill>
                <a:latin typeface="Segoe UI Semilight" panose="020B0402040204020203" pitchFamily="34" charset="0"/>
                <a:cs typeface="Segoe UI Semilight" panose="020B0402040204020203" pitchFamily="34" charset="0"/>
              </a:rPr>
              <a:t>122</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as CHAR), otp);</a:t>
            </a:r>
          </a:p>
          <a:p>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lbl1;</a:t>
            </a:r>
          </a:p>
          <a:p>
            <a:r>
              <a:rPr lang="en-IN" dirty="0">
                <a:latin typeface="Segoe UI Semilight" panose="020B0402040204020203" pitchFamily="34" charset="0"/>
                <a:cs typeface="Segoe UI Semilight" panose="020B0402040204020203" pitchFamily="34" charset="0"/>
              </a:rPr>
              <a:t>	SELECT otp;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062530843"/>
      </p:ext>
    </p:extLst>
  </p:cSld>
  <p:clrMapOvr>
    <a:masterClrMapping/>
  </p:clrMapOvr>
</p:sld>
</file>

<file path=ppt/slides/slide7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8800" y="835200"/>
            <a:ext cx="1108980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x + y;</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z1 = x * y;</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CALL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pro1</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4</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p:txBody>
      </p:sp>
    </p:spTree>
    <p:extLst>
      <p:ext uri="{BB962C8B-B14F-4D97-AF65-F5344CB8AC3E}">
        <p14:creationId xmlns:p14="http://schemas.microsoft.com/office/powerpoint/2010/main" val="4012764133"/>
      </p:ext>
    </p:extLst>
  </p:cSld>
  <p:clrMapOvr>
    <a:masterClrMapping/>
  </p:clrMapOvr>
</p:sld>
</file>

<file path=ppt/slides/slide8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prepared statement</a:t>
            </a:r>
          </a:p>
        </p:txBody>
      </p:sp>
      <p:sp>
        <p:nvSpPr>
          <p:cNvPr id="3" name="Rectangle 2">
            <a:extLst>
              <a:ext uri="{FF2B5EF4-FFF2-40B4-BE49-F238E27FC236}">
                <a16:creationId xmlns:a16="http://schemas.microsoft.com/office/drawing/2014/main" id="{7C400657-0178-47A6-AD55-0ECBCBDF787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a:t>
            </a:r>
            <a:r>
              <a:rPr lang="en-IN" sz="3200" i="1">
                <a:solidFill>
                  <a:srgbClr val="FF9900"/>
                </a:solidFill>
                <a:latin typeface="Arial" pitchFamily="34" charset="0"/>
                <a:cs typeface="Arial" pitchFamily="34" charset="0"/>
              </a:rPr>
              <a:t>stored procedure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8A5CE980-BB41-1BCA-B52A-D19F993F77BB}"/>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998519304"/>
      </p:ext>
    </p:extLst>
  </p:cSld>
  <p:clrMapOvr>
    <a:masterClrMapping/>
  </p:clrMapOvr>
  <p:transition/>
</p:sld>
</file>

<file path=ppt/slides/slide8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838200"/>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PREPARE statement prepares a SQL statement and assigns it a name, stmt_name. The prepared statement is executed with EXECUTE and released with DEALLOCATE PREPARE.</a:t>
            </a:r>
          </a:p>
        </p:txBody>
      </p:sp>
      <p:sp>
        <p:nvSpPr>
          <p:cNvPr id="7" name="Rectangle 6"/>
          <p:cNvSpPr/>
          <p:nvPr/>
        </p:nvSpPr>
        <p:spPr>
          <a:xfrm>
            <a:off x="479376" y="1979474"/>
            <a:ext cx="11233248" cy="1107996"/>
          </a:xfrm>
          <a:prstGeom prst="rect">
            <a:avLst/>
          </a:prstGeom>
        </p:spPr>
        <p:txBody>
          <a:bodyPr wrap="square">
            <a:spAutoFit/>
          </a:bodyPr>
          <a:lstStyle/>
          <a:p>
            <a:r>
              <a:rPr lang="en-IN" sz="2000" dirty="0">
                <a:solidFill>
                  <a:srgbClr val="B212AA"/>
                </a:solidFill>
                <a:latin typeface="Liberation Mono"/>
              </a:rPr>
              <a:t>PREPARE</a:t>
            </a:r>
            <a:r>
              <a:rPr lang="en-IN" sz="2000" dirty="0">
                <a:solidFill>
                  <a:srgbClr val="0077AA"/>
                </a:solidFill>
                <a:latin typeface="Liberation Mono"/>
              </a:rPr>
              <a:t> </a:t>
            </a:r>
            <a:r>
              <a:rPr lang="en-IN" sz="2000" dirty="0">
                <a:latin typeface="Liberation Mono"/>
              </a:rPr>
              <a:t>stmt_name </a:t>
            </a:r>
            <a:r>
              <a:rPr lang="en-IN" sz="2000" dirty="0">
                <a:solidFill>
                  <a:srgbClr val="B212AA"/>
                </a:solidFill>
                <a:latin typeface="Liberation Mono"/>
              </a:rPr>
              <a:t>FROM</a:t>
            </a:r>
            <a:r>
              <a:rPr lang="en-IN" sz="2000" dirty="0">
                <a:solidFill>
                  <a:srgbClr val="0077AA"/>
                </a:solidFill>
                <a:latin typeface="Liberation Mono"/>
              </a:rPr>
              <a:t> </a:t>
            </a:r>
            <a:r>
              <a:rPr lang="en-IN" sz="2000" dirty="0">
                <a:solidFill>
                  <a:srgbClr val="00B050"/>
                </a:solidFill>
                <a:latin typeface="Liberation Mono"/>
              </a:rPr>
              <a:t>'SQL statement'</a:t>
            </a:r>
            <a:endParaRPr lang="en-IN" sz="600" dirty="0">
              <a:solidFill>
                <a:srgbClr val="00B050"/>
              </a:solidFill>
              <a:latin typeface="Liberation Mono"/>
            </a:endParaRPr>
          </a:p>
          <a:p>
            <a:r>
              <a:rPr lang="en-IN" sz="2000" dirty="0">
                <a:solidFill>
                  <a:srgbClr val="B212AA"/>
                </a:solidFill>
                <a:latin typeface="Liberation Mono"/>
              </a:rPr>
              <a:t>EXECUTE</a:t>
            </a:r>
            <a:r>
              <a:rPr lang="en-IN" sz="2000" dirty="0">
                <a:solidFill>
                  <a:srgbClr val="0077AA"/>
                </a:solidFill>
                <a:latin typeface="Liberation Mono"/>
              </a:rPr>
              <a:t> </a:t>
            </a:r>
            <a:r>
              <a:rPr lang="en-IN" sz="2000" dirty="0">
                <a:latin typeface="Liberation Mono"/>
              </a:rPr>
              <a:t>stmt_name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rgbClr val="B212AA"/>
                </a:solidFill>
                <a:latin typeface="Liberation Mono"/>
              </a:rPr>
              <a:t>USING</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 </a:t>
            </a:r>
            <a:r>
              <a:rPr lang="en-US" sz="2000" dirty="0">
                <a:solidFill>
                  <a:schemeClr val="bg1">
                    <a:lumMod val="50000"/>
                  </a:schemeClr>
                </a:solidFill>
                <a:latin typeface="Liberation Mono"/>
              </a:rPr>
              <a:t>. . .</a:t>
            </a:r>
            <a:r>
              <a:rPr lang="en-US" sz="2000"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a:t>
            </a:r>
          </a:p>
          <a:p>
            <a:endParaRPr lang="en-IN" sz="600" dirty="0">
              <a:solidFill>
                <a:srgbClr val="0077AA"/>
              </a:solidFill>
              <a:latin typeface="Liberation Mono"/>
            </a:endParaRPr>
          </a:p>
          <a:p>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DEALLOCATE</a:t>
            </a:r>
            <a:r>
              <a:rPr lang="en-US" sz="2000" dirty="0">
                <a:solidFill>
                  <a:srgbClr val="0077AA"/>
                </a:solidFill>
                <a:latin typeface="Liberation Mono"/>
              </a:rPr>
              <a:t>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chemeClr val="accent5">
                    <a:lumMod val="75000"/>
                  </a:schemeClr>
                </a:solidFill>
                <a:latin typeface="Liberation Mono"/>
              </a:rPr>
              <a:t>DROP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PREPARE</a:t>
            </a:r>
            <a:r>
              <a:rPr lang="en-US" sz="2000" dirty="0">
                <a:solidFill>
                  <a:srgbClr val="0077AA"/>
                </a:solidFill>
                <a:latin typeface="Liberation Mono"/>
              </a:rPr>
              <a:t> </a:t>
            </a:r>
            <a:r>
              <a:rPr lang="en-US" sz="2000" dirty="0">
                <a:latin typeface="Liberation Mono"/>
              </a:rPr>
              <a:t>stmt_name</a:t>
            </a:r>
          </a:p>
        </p:txBody>
      </p:sp>
      <p:sp>
        <p:nvSpPr>
          <p:cNvPr id="8" name="TextBox 7">
            <a:extLst>
              <a:ext uri="{FF2B5EF4-FFF2-40B4-BE49-F238E27FC236}">
                <a16:creationId xmlns:a16="http://schemas.microsoft.com/office/drawing/2014/main" id="{E6B0F847-147B-445B-AB79-53D27D12AC09}"/>
              </a:ext>
            </a:extLst>
          </p:cNvPr>
          <p:cNvSpPr txBox="1"/>
          <p:nvPr/>
        </p:nvSpPr>
        <p:spPr>
          <a:xfrm>
            <a:off x="460061" y="5098323"/>
            <a:ext cx="11233248" cy="923330"/>
          </a:xfrm>
          <a:prstGeom prst="rect">
            <a:avLst/>
          </a:prstGeom>
          <a:noFill/>
        </p:spPr>
        <p:txBody>
          <a:bodyPr wrap="square">
            <a:spAutoFit/>
          </a:bodyPr>
          <a:lstStyle/>
          <a:p>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A67F59"/>
                </a:solidFill>
                <a:effectLst/>
                <a:latin typeface="Liberation Mono"/>
              </a:rPr>
              <a:t>=</a:t>
            </a:r>
            <a:r>
              <a:rPr lang="en-US" b="0" i="0" dirty="0">
                <a:solidFill>
                  <a:srgbClr val="990055"/>
                </a:solidFill>
                <a:effectLst/>
                <a:latin typeface="Liberation Mono"/>
              </a:rPr>
              <a: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solidFill>
                  <a:srgbClr val="A67F59"/>
                </a:solidFill>
                <a:effectLst/>
                <a:latin typeface="Liberation Mono"/>
              </a:rPr>
              <a:t>=</a:t>
            </a:r>
            <a:r>
              <a:rPr lang="en-US" b="0" i="0" dirty="0">
                <a:solidFill>
                  <a:srgbClr val="990055"/>
                </a:solidFill>
                <a:effectLst/>
                <a:latin typeface="Liberation Mono"/>
              </a:rPr>
              <a:t>5</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PREPARE</a:t>
            </a:r>
            <a:r>
              <a:rPr lang="en-US" b="0" i="0" dirty="0">
                <a:solidFill>
                  <a:srgbClr val="000000"/>
                </a:solidFill>
                <a:effectLst/>
                <a:latin typeface="Liberation Mono"/>
              </a:rPr>
              <a:t> STMT </a:t>
            </a:r>
            <a:r>
              <a:rPr lang="en-US" dirty="0">
                <a:solidFill>
                  <a:srgbClr val="B212AA"/>
                </a:solidFill>
                <a:latin typeface="Liberation Mono"/>
              </a:rPr>
              <a:t>FROM</a:t>
            </a:r>
            <a:r>
              <a:rPr lang="en-US" b="0" i="0" dirty="0">
                <a:solidFill>
                  <a:srgbClr val="000000"/>
                </a:solidFill>
                <a:effectLst/>
                <a:latin typeface="Liberation Mono"/>
              </a:rPr>
              <a:t> </a:t>
            </a:r>
            <a:r>
              <a:rPr lang="en-US" b="0" i="0" dirty="0">
                <a:solidFill>
                  <a:srgbClr val="669900"/>
                </a:solidFill>
                <a:effectLst/>
                <a:latin typeface="Liberation Mono"/>
              </a:rPr>
              <a:t>'SELECT * FROM table_name LIMIT ?, ?'</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EXECUTE</a:t>
            </a:r>
            <a:r>
              <a:rPr lang="en-US" b="0" i="0" dirty="0">
                <a:solidFill>
                  <a:srgbClr val="000000"/>
                </a:solidFill>
                <a:effectLst/>
                <a:latin typeface="Liberation Mono"/>
              </a:rPr>
              <a:t> STMT </a:t>
            </a:r>
            <a:r>
              <a:rPr lang="en-US" dirty="0">
                <a:solidFill>
                  <a:srgbClr val="B212AA"/>
                </a:solidFill>
                <a:latin typeface="Liberation Mono"/>
              </a:rPr>
              <a:t>USING</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effectLst/>
                <a:latin typeface="Liberation Mono"/>
              </a:rPr>
              <a:t>;</a:t>
            </a:r>
            <a:endParaRPr lang="en-IN" dirty="0"/>
          </a:p>
        </p:txBody>
      </p:sp>
    </p:spTree>
    <p:extLst>
      <p:ext uri="{BB962C8B-B14F-4D97-AF65-F5344CB8AC3E}">
        <p14:creationId xmlns:p14="http://schemas.microsoft.com/office/powerpoint/2010/main" val="3517273194"/>
      </p:ext>
    </p:extLst>
  </p:cSld>
  <p:clrMapOvr>
    <a:masterClrMapping/>
  </p:clrMapOvr>
  <p:transition/>
</p:sld>
</file>

<file path=ppt/slides/slide8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1320226"/>
            <a:ext cx="10108232"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9" name="Rectangle 8"/>
          <p:cNvSpPr/>
          <p:nvPr/>
        </p:nvSpPr>
        <p:spPr>
          <a:xfrm>
            <a:off x="404821" y="2253471"/>
            <a:ext cx="10108232" cy="923330"/>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SET @x :=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@x;</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10" name="Rectangle 9"/>
          <p:cNvSpPr/>
          <p:nvPr/>
        </p:nvSpPr>
        <p:spPr>
          <a:xfrm>
            <a:off x="404821" y="3429000"/>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a:t>
            </a:r>
          </a:p>
        </p:txBody>
      </p:sp>
      <p:sp>
        <p:nvSpPr>
          <p:cNvPr id="11" name="Rectangle 10"/>
          <p:cNvSpPr/>
          <p:nvPr/>
        </p:nvSpPr>
        <p:spPr>
          <a:xfrm>
            <a:off x="407368" y="690028"/>
            <a:ext cx="9143999"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Example of prepared statement</a:t>
            </a:r>
          </a:p>
        </p:txBody>
      </p:sp>
      <p:sp>
        <p:nvSpPr>
          <p:cNvPr id="12" name="Rectangle 11"/>
          <p:cNvSpPr/>
          <p:nvPr/>
        </p:nvSpPr>
        <p:spPr>
          <a:xfrm>
            <a:off x="404821" y="4593902"/>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 @y := 3000;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 AND sal &gt;=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 @y;</a:t>
            </a:r>
          </a:p>
        </p:txBody>
      </p:sp>
      <p:sp>
        <p:nvSpPr>
          <p:cNvPr id="2" name="Rectangle 1"/>
          <p:cNvSpPr/>
          <p:nvPr/>
        </p:nvSpPr>
        <p:spPr>
          <a:xfrm>
            <a:off x="404821" y="6161289"/>
            <a:ext cx="3992881" cy="338554"/>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DEALLOCATE PREPARE stat1;</a:t>
            </a:r>
          </a:p>
        </p:txBody>
      </p:sp>
    </p:spTree>
    <p:extLst>
      <p:ext uri="{BB962C8B-B14F-4D97-AF65-F5344CB8AC3E}">
        <p14:creationId xmlns:p14="http://schemas.microsoft.com/office/powerpoint/2010/main" val="1222184239"/>
      </p:ext>
    </p:extLst>
  </p:cSld>
  <p:clrMapOvr>
    <a:masterClrMapping/>
  </p:clrMapOvr>
  <p:transition/>
</p:sld>
</file>

<file path=ppt/slides/slide8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table_name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 table_name </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645024"/>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c1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CONCAT('SELECT ', c1 ,' FROM ',x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08104543"/>
      </p:ext>
    </p:extLst>
  </p:cSld>
  <p:clrMapOvr>
    <a:masterClrMapping/>
  </p:clrMapOvr>
  <p:transition/>
</p:sld>
</file>

<file path=ppt/slides/slide8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1123382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_DEPTNO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_LOC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_PWD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_DEPTNO;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_DNAME;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_LOC;</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@d := _PWD;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concat("INSERT INTO dept VALUES(?, ?,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 @b, @c ,@d;</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3464422178"/>
      </p:ext>
    </p:extLst>
  </p:cSld>
  <p:clrMapOvr>
    <a:masterClrMapping/>
  </p:clrMapOvr>
  <p:transition/>
</p:sld>
</file>

<file path=ppt/slides/slide8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EB2A3-7276-A092-4069-DFE89A07C3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7845FF8-4F2E-3A0C-2418-665ABC6C4458}"/>
              </a:ext>
            </a:extLst>
          </p:cNvPr>
          <p:cNvSpPr/>
          <p:nvPr/>
        </p:nvSpPr>
        <p:spPr>
          <a:xfrm>
            <a:off x="478800" y="835200"/>
            <a:ext cx="11233824"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@y = 9;</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FROM ccatStudents ORDER BY id LIMIT ', @x, ',', @y);</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@sql;</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9EBEF3B1-135C-31E9-F45C-D3E5CD85053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916000874"/>
      </p:ext>
    </p:extLst>
  </p:cSld>
  <p:clrMapOvr>
    <a:masterClrMapping/>
  </p:clrMapOvr>
  <p:transition/>
</p:sld>
</file>

<file path=ppt/slides/slide8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D0C02-0770-4D7D-8E58-F533807B166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F9C33C9-6326-15AA-54ED-CFBB07F51D74}"/>
              </a:ext>
            </a:extLst>
          </p:cNvPr>
          <p:cNvSpPr/>
          <p:nvPr/>
        </p:nvSpPr>
        <p:spPr>
          <a:xfrm>
            <a:off x="478800" y="926718"/>
            <a:ext cx="11233824"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IN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valList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@x := CONCAT('INSERT INTO ',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 (', colList, ') VALUES (', valList, ')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BF98AC88-ABB7-2977-85ED-EA485BA87971}"/>
              </a:ext>
            </a:extLst>
          </p:cNvPr>
          <p:cNvSpPr/>
          <p:nvPr/>
        </p:nvSpPr>
        <p:spPr>
          <a:xfrm>
            <a:off x="623392" y="1"/>
            <a:ext cx="100446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dynamic INSERT with Multiple Columns </a:t>
            </a:r>
            <a:r>
              <a:rPr lang="en-IN" sz="3200" i="1" dirty="0">
                <a:solidFill>
                  <a:srgbClr val="FF9900"/>
                </a:solidFill>
                <a:latin typeface="Arial" pitchFamily="34" charset="0"/>
                <a:cs typeface="Arial" pitchFamily="34" charset="0"/>
              </a:rPr>
              <a:t>- examples</a:t>
            </a:r>
          </a:p>
        </p:txBody>
      </p:sp>
    </p:spTree>
    <p:extLst>
      <p:ext uri="{BB962C8B-B14F-4D97-AF65-F5344CB8AC3E}">
        <p14:creationId xmlns:p14="http://schemas.microsoft.com/office/powerpoint/2010/main" val="3023888992"/>
      </p:ext>
    </p:extLst>
  </p:cSld>
  <p:clrMapOvr>
    <a:masterClrMapping/>
  </p:clrMapOvr>
  <p:transition/>
</p:sld>
</file>

<file path=ppt/slides/slide8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B7770-7957-D3C1-7935-AACA521EC276}"/>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0F247F3C-11B4-1E7A-597A-D8610CFCA0AB}"/>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column name from data dictionary and print the records</a:t>
            </a:r>
          </a:p>
        </p:txBody>
      </p:sp>
      <p:sp>
        <p:nvSpPr>
          <p:cNvPr id="7" name="Rectangle 6">
            <a:extLst>
              <a:ext uri="{FF2B5EF4-FFF2-40B4-BE49-F238E27FC236}">
                <a16:creationId xmlns:a16="http://schemas.microsoft.com/office/drawing/2014/main" id="{63627969-8F78-1C97-727A-923AFF6ECC11}"/>
              </a:ext>
            </a:extLst>
          </p:cNvPr>
          <p:cNvSpPr/>
          <p:nvPr/>
        </p:nvSpPr>
        <p:spPr>
          <a:xfrm>
            <a:off x="191344" y="1269915"/>
            <a:ext cx="1173730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CREATE PROCEDURE pro1(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colList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GROUP_CONCAT(CONCAT("`", COLUMN_NAME, "`")) INTO colList FROM information_schema.columns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TABLE_SCHEMA = 'db1'  AND TABLE_NAME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colList, ' FROM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a:t>
            </a:r>
          </a:p>
          <a:p>
            <a:pPr marL="261938"/>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364361354"/>
      </p:ext>
    </p:extLst>
  </p:cSld>
  <p:clrMapOvr>
    <a:masterClrMapping/>
  </p:clrMapOvr>
  <p:transition/>
</p:sld>
</file>

<file path=ppt/slides/slide8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CF8-E8BA-3415-D971-7B87E9A9CF59}"/>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8B6AA353-8328-652F-67A6-E6D3E491B844}"/>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who have more than 30 records</a:t>
            </a:r>
          </a:p>
        </p:txBody>
      </p:sp>
      <p:sp>
        <p:nvSpPr>
          <p:cNvPr id="7" name="Rectangle 6">
            <a:extLst>
              <a:ext uri="{FF2B5EF4-FFF2-40B4-BE49-F238E27FC236}">
                <a16:creationId xmlns:a16="http://schemas.microsoft.com/office/drawing/2014/main" id="{BD70E95D-3F02-CC40-BF36-541799E269AD}"/>
              </a:ext>
            </a:extLst>
          </p:cNvPr>
          <p:cNvSpPr/>
          <p:nvPr/>
        </p:nvSpPr>
        <p:spPr>
          <a:xfrm>
            <a:off x="47328" y="976074"/>
            <a:ext cx="12097344" cy="590931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tnm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CURSOR FOR SELECT table_name FROM information_schema.tables WHERE table_schema = DATABASE();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CONTINUE HANDLER FOR 1329 SELECT tnm;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@stat := CONCAT("Select Count(*) Into @y From ",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30 THEN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tnm := concat(tnm, tname, ",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74130622"/>
      </p:ext>
    </p:extLst>
  </p:cSld>
  <p:clrMapOvr>
    <a:masterClrMapping/>
  </p:clrMapOvr>
  <p:transition/>
</p:sld>
</file>

<file path=ppt/slides/slide8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20F5C-EF53-5A28-D56E-8003AF33A782}"/>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7DB27109-1A12-5672-1B01-4D54DA6862D3}"/>
              </a:ext>
            </a:extLst>
          </p:cNvPr>
          <p:cNvSpPr/>
          <p:nvPr/>
        </p:nvSpPr>
        <p:spPr>
          <a:xfrm>
            <a:off x="1127448" y="1"/>
            <a:ext cx="10009112" cy="1569660"/>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having more than  start value and end value  columns</a:t>
            </a:r>
          </a:p>
        </p:txBody>
      </p:sp>
      <p:sp>
        <p:nvSpPr>
          <p:cNvPr id="3" name="TextBox 2">
            <a:extLst>
              <a:ext uri="{FF2B5EF4-FFF2-40B4-BE49-F238E27FC236}">
                <a16:creationId xmlns:a16="http://schemas.microsoft.com/office/drawing/2014/main" id="{3D835BF5-F9DB-C3FC-10F5-8361920E49EF}"/>
              </a:ext>
            </a:extLst>
          </p:cNvPr>
          <p:cNvSpPr txBox="1"/>
          <p:nvPr/>
        </p:nvSpPr>
        <p:spPr>
          <a:xfrm>
            <a:off x="263352" y="1037049"/>
            <a:ext cx="11737304"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pro1(IN iStart INT, IN iEnd INT)</a:t>
            </a:r>
          </a:p>
          <a:p>
            <a:pPr marL="273050"/>
            <a:r>
              <a:rPr lang="en-IN" dirty="0">
                <a:latin typeface="Segoe UI Semilight" panose="020B0402040204020203" pitchFamily="34" charset="0"/>
                <a:cs typeface="Segoe UI Semilight" panose="020B0402040204020203" pitchFamily="34" charset="0"/>
              </a:rPr>
              <a:t>b</a:t>
            </a:r>
            <a:r>
              <a:rPr lang="en-IN" dirty="0">
                <a:solidFill>
                  <a:srgbClr val="B212AA"/>
                </a:solidFill>
                <a:latin typeface="Segoe UI Semilight" panose="020B0402040204020203" pitchFamily="34" charset="0"/>
                <a:cs typeface="Segoe UI Semilight" panose="020B0402040204020203" pitchFamily="34" charset="0"/>
              </a:rPr>
              <a:t>e</a:t>
            </a:r>
            <a:r>
              <a:rPr lang="en-IN" dirty="0">
                <a:latin typeface="Segoe UI Semilight" panose="020B0402040204020203" pitchFamily="34" charset="0"/>
                <a:cs typeface="Segoe UI Semilight" panose="020B0402040204020203" pitchFamily="34" charset="0"/>
              </a:rPr>
              <a:t>gin</a:t>
            </a:r>
          </a:p>
          <a:p>
            <a:pPr marL="534988"/>
            <a:r>
              <a:rPr lang="en-IN" dirty="0">
                <a:latin typeface="Segoe UI Semilight" panose="020B0402040204020203" pitchFamily="34" charset="0"/>
                <a:cs typeface="Segoe UI Semilight" panose="020B0402040204020203" pitchFamily="34" charset="0"/>
              </a:rPr>
              <a:t>declare tableName var</a:t>
            </a:r>
            <a:r>
              <a:rPr lang="en-IN" dirty="0">
                <a:solidFill>
                  <a:srgbClr val="834689"/>
                </a:solidFill>
                <a:latin typeface="Segoe UI Semilight" panose="020B0402040204020203" pitchFamily="34" charset="0"/>
                <a:cs typeface="Segoe UI Semilight" panose="020B0402040204020203" pitchFamily="34" charset="0"/>
              </a:rPr>
              <a:t>c</a:t>
            </a:r>
            <a:r>
              <a:rPr lang="en-IN" dirty="0">
                <a:latin typeface="Segoe UI Semilight" panose="020B0402040204020203" pitchFamily="34" charset="0"/>
                <a:cs typeface="Segoe UI Semilight" panose="020B0402040204020203" pitchFamily="34" charset="0"/>
              </a:rPr>
              <a:t>har(1000);</a:t>
            </a:r>
          </a:p>
          <a:p>
            <a:pPr marL="534988"/>
            <a:r>
              <a:rPr lang="en-IN" dirty="0">
                <a:latin typeface="Segoe UI Semilight" panose="020B0402040204020203" pitchFamily="34" charset="0"/>
                <a:cs typeface="Segoe UI Semilight" panose="020B0402040204020203" pitchFamily="34" charset="0"/>
              </a:rPr>
              <a:t>declare cnt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0;</a:t>
            </a:r>
          </a:p>
          <a:p>
            <a:pPr marL="534988"/>
            <a:r>
              <a:rPr lang="en-IN" dirty="0">
                <a:latin typeface="Segoe UI Semilight" panose="020B0402040204020203" pitchFamily="34" charset="0"/>
                <a:cs typeface="Segoe UI Semilight" panose="020B0402040204020203" pitchFamily="34" charset="0"/>
              </a:rPr>
              <a:t>declare tableList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cs typeface="Segoe UI Semilight" panose="020B0402040204020203" pitchFamily="34" charset="0"/>
              </a:rPr>
              <a:t> default "";</a:t>
            </a:r>
          </a:p>
          <a:p>
            <a:pPr marL="534988"/>
            <a:r>
              <a:rPr lang="en-IN" dirty="0">
                <a:latin typeface="Segoe UI Semilight" panose="020B0402040204020203" pitchFamily="34" charset="0"/>
                <a:cs typeface="Segoe UI Semilight" panose="020B0402040204020203" pitchFamily="34" charset="0"/>
              </a:rPr>
              <a:t>declare c1 CURSOR FOR SELECT table_name, count(column_name)FROM information_schema.columns WHERE     table_schema = database() GROUP BY table_name HAVING COUNT(*) BETWEEN iStart AND iEnd;</a:t>
            </a:r>
          </a:p>
          <a:p>
            <a:pPr marL="534988"/>
            <a:r>
              <a:rPr lang="en-IN" dirty="0">
                <a:latin typeface="Segoe UI Semilight" panose="020B0402040204020203" pitchFamily="34" charset="0"/>
                <a:cs typeface="Segoe UI Semilight" panose="020B0402040204020203" pitchFamily="34" charset="0"/>
              </a:rPr>
              <a:t>	</a:t>
            </a:r>
          </a:p>
          <a:p>
            <a:pPr marL="534988"/>
            <a:r>
              <a:rPr lang="en-IN" dirty="0">
                <a:latin typeface="Segoe UI Semilight" panose="020B0402040204020203" pitchFamily="34" charset="0"/>
                <a:cs typeface="Segoe UI Semilight" panose="020B0402040204020203" pitchFamily="34" charset="0"/>
              </a:rPr>
              <a:t> declare EXIT HANDLER FOR 1329 SELECT tableList;</a:t>
            </a:r>
          </a:p>
          <a:p>
            <a:pPr marL="534988"/>
            <a:r>
              <a:rPr lang="en-IN" dirty="0">
                <a:latin typeface="Segoe UI Semilight" panose="020B0402040204020203" pitchFamily="34" charset="0"/>
                <a:cs typeface="Segoe UI Semilight" panose="020B0402040204020203" pitchFamily="34" charset="0"/>
              </a:rPr>
              <a:t>  OPEN c1;</a:t>
            </a:r>
          </a:p>
          <a:p>
            <a:pPr marL="534988"/>
            <a:r>
              <a:rPr lang="en-IN" dirty="0">
                <a:latin typeface="Segoe UI Semilight" panose="020B0402040204020203" pitchFamily="34" charset="0"/>
                <a:cs typeface="Segoe UI Semilight" panose="020B0402040204020203" pitchFamily="34" charset="0"/>
              </a:rPr>
              <a:t>    lbl:LOOP</a:t>
            </a:r>
          </a:p>
          <a:p>
            <a:pPr marL="534988"/>
            <a:r>
              <a:rPr lang="en-IN" dirty="0">
                <a:latin typeface="Segoe UI Semilight" panose="020B0402040204020203" pitchFamily="34" charset="0"/>
                <a:cs typeface="Segoe UI Semilight" panose="020B0402040204020203" pitchFamily="34" charset="0"/>
              </a:rPr>
              <a:t>       FETCH c1 INTO tableName, cnt;</a:t>
            </a:r>
          </a:p>
          <a:p>
            <a:pPr marL="534988"/>
            <a:r>
              <a:rPr lang="en-IN" dirty="0">
                <a:latin typeface="Segoe UI Semilight" panose="020B0402040204020203" pitchFamily="34" charset="0"/>
                <a:cs typeface="Segoe UI Semilight" panose="020B0402040204020203" pitchFamily="34" charset="0"/>
              </a:rPr>
              <a:t>         set TABLELIST:= concat(tableName, " table has (",  cnt, ") columns \n ", tableList);</a:t>
            </a:r>
          </a:p>
          <a:p>
            <a:pPr marL="534988"/>
            <a:r>
              <a:rPr lang="en-IN" dirty="0">
                <a:latin typeface="Segoe UI Semilight" panose="020B0402040204020203" pitchFamily="34" charset="0"/>
                <a:cs typeface="Segoe UI Semilight" panose="020B0402040204020203" pitchFamily="34" charset="0"/>
              </a:rPr>
              <a:t>    END LOOP lbl;</a:t>
            </a:r>
          </a:p>
          <a:p>
            <a:pPr marL="534988"/>
            <a:r>
              <a:rPr lang="en-IN" dirty="0">
                <a:latin typeface="Segoe UI Semilight" panose="020B04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42381230"/>
      </p:ext>
    </p:extLst>
  </p:cSld>
  <p:clrMapOvr>
    <a:masterClrMapping/>
  </p:clrMapOvr>
  <p:transition/>
</p:sld>
</file>

<file path=ppt/slides/slide8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64DD-A476-8490-469B-1A6010C14D20}"/>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FB9A169-CC20-89EE-5A54-FB5CF10C0375}"/>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
        <p:nvSpPr>
          <p:cNvPr id="3" name="TextBox 2">
            <a:extLst>
              <a:ext uri="{FF2B5EF4-FFF2-40B4-BE49-F238E27FC236}">
                <a16:creationId xmlns:a16="http://schemas.microsoft.com/office/drawing/2014/main" id="{EA540B03-7FF4-0DAF-BD97-955AF0E47146}"/>
              </a:ext>
            </a:extLst>
          </p:cNvPr>
          <p:cNvSpPr txBox="1"/>
          <p:nvPr/>
        </p:nvSpPr>
        <p:spPr>
          <a:xfrm>
            <a:off x="335360" y="1052736"/>
            <a:ext cx="11521280" cy="1107996"/>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1: Create table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storeProcedure and Insert 3 rows.</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a:p>
            <a:pPr marL="285750" indent="-285750">
              <a:buFont typeface="Wingdings" panose="05000000000000000000" pitchFamily="2" charset="2"/>
              <a:buChar char="n"/>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storeProcedure(id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rPr>
              <a:t>AUTO_INCREMENT</a:t>
            </a:r>
            <a:r>
              <a:rPr lang="en-IN" dirty="0">
                <a:latin typeface="Liberation Mono"/>
              </a:rPr>
              <a:t>, procedureNames </a:t>
            </a:r>
            <a:r>
              <a:rPr lang="en-IN" dirty="0">
                <a:solidFill>
                  <a:srgbClr val="834689"/>
                </a:solidFill>
                <a:latin typeface="Liberation Mono"/>
                <a:cs typeface="Arial" panose="020B0604020202020204" pitchFamily="34" charset="0"/>
              </a:rPr>
              <a:t>VARCHAR</a:t>
            </a:r>
            <a:r>
              <a:rPr lang="en-IN" dirty="0">
                <a:latin typeface="Liberation Mono"/>
              </a:rPr>
              <a:t>(64));</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storeProcedure(procedureNames) </a:t>
            </a:r>
            <a:r>
              <a:rPr lang="en-IN" dirty="0">
                <a:solidFill>
                  <a:srgbClr val="0077AA"/>
                </a:solidFill>
                <a:latin typeface="Liberation Mono"/>
              </a:rPr>
              <a:t>VALUES</a:t>
            </a:r>
            <a:r>
              <a:rPr lang="en-IN" dirty="0">
                <a:latin typeface="Liberation Mono"/>
              </a:rPr>
              <a:t>(</a:t>
            </a:r>
            <a:r>
              <a:rPr lang="en-IN" dirty="0">
                <a:solidFill>
                  <a:srgbClr val="669900"/>
                </a:solidFill>
                <a:latin typeface="Liberation Mono"/>
                <a:cs typeface="Segoe UI Semilight" panose="020B0402040204020203" pitchFamily="34" charset="0"/>
              </a:rPr>
              <a:t>'insertData'</a:t>
            </a:r>
            <a:r>
              <a:rPr lang="en-IN" dirty="0">
                <a:latin typeface="Liberation Mono"/>
              </a:rPr>
              <a:t>), (</a:t>
            </a:r>
            <a:r>
              <a:rPr lang="en-IN" dirty="0">
                <a:solidFill>
                  <a:srgbClr val="669900"/>
                </a:solidFill>
                <a:latin typeface="Liberation Mono"/>
                <a:cs typeface="Segoe UI Semilight" panose="020B0402040204020203" pitchFamily="34" charset="0"/>
              </a:rPr>
              <a:t>'updateData'</a:t>
            </a:r>
            <a:r>
              <a:rPr lang="en-IN" dirty="0">
                <a:latin typeface="Liberation Mono"/>
              </a:rPr>
              <a:t>), (</a:t>
            </a:r>
            <a:r>
              <a:rPr lang="en-IN" dirty="0">
                <a:solidFill>
                  <a:srgbClr val="669900"/>
                </a:solidFill>
                <a:latin typeface="Liberation Mono"/>
                <a:cs typeface="Segoe UI Semilight" panose="020B0402040204020203" pitchFamily="34" charset="0"/>
              </a:rPr>
              <a:t>'deleteData'</a:t>
            </a:r>
            <a:r>
              <a:rPr lang="en-IN" dirty="0">
                <a:latin typeface="Liberation Mono"/>
              </a:rPr>
              <a:t>);</a:t>
            </a:r>
          </a:p>
        </p:txBody>
      </p:sp>
      <p:grpSp>
        <p:nvGrpSpPr>
          <p:cNvPr id="18" name="Group 17">
            <a:extLst>
              <a:ext uri="{FF2B5EF4-FFF2-40B4-BE49-F238E27FC236}">
                <a16:creationId xmlns:a16="http://schemas.microsoft.com/office/drawing/2014/main" id="{BA555421-70A3-1A1D-5707-2B3022931BD1}"/>
              </a:ext>
            </a:extLst>
          </p:cNvPr>
          <p:cNvGrpSpPr/>
          <p:nvPr/>
        </p:nvGrpSpPr>
        <p:grpSpPr>
          <a:xfrm>
            <a:off x="335360" y="2273029"/>
            <a:ext cx="11521280" cy="4566706"/>
            <a:chOff x="335360" y="2189763"/>
            <a:chExt cx="10225136" cy="4566706"/>
          </a:xfrm>
        </p:grpSpPr>
        <p:sp>
          <p:nvSpPr>
            <p:cNvPr id="12" name="TextBox 11">
              <a:extLst>
                <a:ext uri="{FF2B5EF4-FFF2-40B4-BE49-F238E27FC236}">
                  <a16:creationId xmlns:a16="http://schemas.microsoft.com/office/drawing/2014/main" id="{6AF73FDF-5ED1-A8D0-7127-E6B4C1679584}"/>
                </a:ext>
              </a:extLst>
            </p:cNvPr>
            <p:cNvSpPr txBox="1"/>
            <p:nvPr/>
          </p:nvSpPr>
          <p:spPr>
            <a:xfrm>
              <a:off x="335360" y="2189763"/>
              <a:ext cx="6094378"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2: Create all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p:txBody>
        </p:sp>
        <p:grpSp>
          <p:nvGrpSpPr>
            <p:cNvPr id="17" name="Group 16">
              <a:extLst>
                <a:ext uri="{FF2B5EF4-FFF2-40B4-BE49-F238E27FC236}">
                  <a16:creationId xmlns:a16="http://schemas.microsoft.com/office/drawing/2014/main" id="{A3FB3109-BDBC-BB1C-EB5F-3ABAB0D30966}"/>
                </a:ext>
              </a:extLst>
            </p:cNvPr>
            <p:cNvGrpSpPr/>
            <p:nvPr/>
          </p:nvGrpSpPr>
          <p:grpSpPr>
            <a:xfrm>
              <a:off x="335360" y="2621811"/>
              <a:ext cx="10225136" cy="4134658"/>
              <a:chOff x="335360" y="2621811"/>
              <a:chExt cx="10225136" cy="4134658"/>
            </a:xfrm>
          </p:grpSpPr>
          <p:sp>
            <p:nvSpPr>
              <p:cNvPr id="14" name="TextBox 13">
                <a:extLst>
                  <a:ext uri="{FF2B5EF4-FFF2-40B4-BE49-F238E27FC236}">
                    <a16:creationId xmlns:a16="http://schemas.microsoft.com/office/drawing/2014/main" id="{DDBA43F2-FC20-9DA5-DD56-349F72944E2B}"/>
                  </a:ext>
                </a:extLst>
              </p:cNvPr>
              <p:cNvSpPr txBox="1"/>
              <p:nvPr/>
            </p:nvSpPr>
            <p:spPr>
              <a:xfrm>
                <a:off x="335360"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insertData;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insertData()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inserted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5" name="TextBox 14">
                <a:extLst>
                  <a:ext uri="{FF2B5EF4-FFF2-40B4-BE49-F238E27FC236}">
                    <a16:creationId xmlns:a16="http://schemas.microsoft.com/office/drawing/2014/main" id="{5CD7DB97-DDB2-F86F-842D-028B8B2632D8}"/>
                  </a:ext>
                </a:extLst>
              </p:cNvPr>
              <p:cNvSpPr txBox="1"/>
              <p:nvPr/>
            </p:nvSpPr>
            <p:spPr>
              <a:xfrm>
                <a:off x="5663952"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updateData;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updateData()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updated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6" name="TextBox 15">
                <a:extLst>
                  <a:ext uri="{FF2B5EF4-FFF2-40B4-BE49-F238E27FC236}">
                    <a16:creationId xmlns:a16="http://schemas.microsoft.com/office/drawing/2014/main" id="{54778F78-B5A7-5F3C-D734-F268EC18F22E}"/>
                  </a:ext>
                </a:extLst>
              </p:cNvPr>
              <p:cNvSpPr txBox="1"/>
              <p:nvPr/>
            </p:nvSpPr>
            <p:spPr>
              <a:xfrm>
                <a:off x="335360" y="4725144"/>
                <a:ext cx="460851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deleteData;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deleteData()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deleted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grpSp>
      <p:sp>
        <p:nvSpPr>
          <p:cNvPr id="4" name="TextBox 3">
            <a:extLst>
              <a:ext uri="{FF2B5EF4-FFF2-40B4-BE49-F238E27FC236}">
                <a16:creationId xmlns:a16="http://schemas.microsoft.com/office/drawing/2014/main" id="{4022371B-EF7B-3C6B-3751-F1BA19EAABCD}"/>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- 1</a:t>
            </a:r>
            <a:endParaRPr lang="en-IN" sz="2000" dirty="0">
              <a:solidFill>
                <a:srgbClr val="B212AA"/>
              </a:solidFill>
            </a:endParaRPr>
          </a:p>
        </p:txBody>
      </p:sp>
    </p:spTree>
    <p:extLst>
      <p:ext uri="{BB962C8B-B14F-4D97-AF65-F5344CB8AC3E}">
        <p14:creationId xmlns:p14="http://schemas.microsoft.com/office/powerpoint/2010/main" val="795191622"/>
      </p:ext>
    </p:extLst>
  </p:cSld>
  <p:clrMapOvr>
    <a:masterClrMapping/>
  </p:clrMapOvr>
  <p:transition/>
</p:sld>
</file>

<file path=ppt/slides/slide8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26344-DB86-2C6D-A2C1-CFEFD54E324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18F526F-D3DD-14E0-E016-54F1667FC20F}"/>
              </a:ext>
            </a:extLst>
          </p:cNvPr>
          <p:cNvGrpSpPr/>
          <p:nvPr/>
        </p:nvGrpSpPr>
        <p:grpSpPr>
          <a:xfrm>
            <a:off x="478800" y="1484784"/>
            <a:ext cx="11161816" cy="4464496"/>
            <a:chOff x="263352" y="1174686"/>
            <a:chExt cx="11593288" cy="4464496"/>
          </a:xfrm>
        </p:grpSpPr>
        <p:sp>
          <p:nvSpPr>
            <p:cNvPr id="3" name="TextBox 2">
              <a:extLst>
                <a:ext uri="{FF2B5EF4-FFF2-40B4-BE49-F238E27FC236}">
                  <a16:creationId xmlns:a16="http://schemas.microsoft.com/office/drawing/2014/main" id="{97A0F818-9041-A4A9-9A21-9271AF4C0054}"/>
                </a:ext>
              </a:extLst>
            </p:cNvPr>
            <p:cNvSpPr txBox="1"/>
            <p:nvPr/>
          </p:nvSpPr>
          <p:spPr>
            <a:xfrm>
              <a:off x="335360" y="1174686"/>
              <a:ext cx="11521280"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3: Create main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 to invoke the procedures</a:t>
              </a:r>
            </a:p>
          </p:txBody>
        </p:sp>
        <p:sp>
          <p:nvSpPr>
            <p:cNvPr id="4" name="TextBox 3">
              <a:extLst>
                <a:ext uri="{FF2B5EF4-FFF2-40B4-BE49-F238E27FC236}">
                  <a16:creationId xmlns:a16="http://schemas.microsoft.com/office/drawing/2014/main" id="{11DED00D-E34F-AA75-B52F-862F49AB80B1}"/>
                </a:ext>
              </a:extLst>
            </p:cNvPr>
            <p:cNvSpPr txBox="1"/>
            <p:nvPr/>
          </p:nvSpPr>
          <p:spPr>
            <a:xfrm>
              <a:off x="263352" y="1668864"/>
              <a:ext cx="1159328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proName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(64);</a:t>
              </a:r>
            </a:p>
            <a:p>
              <a:pPr marL="273050"/>
              <a:r>
                <a:rPr lang="en-IN" dirty="0">
                  <a:latin typeface="Segoe UI Semilight" panose="020B0402040204020203" pitchFamily="34" charset="0"/>
                  <a:cs typeface="Segoe UI Semilight" panose="020B0402040204020203" pitchFamily="34" charset="0"/>
                </a:rPr>
                <a:t>    set @a :='';</a:t>
              </a:r>
            </a:p>
            <a:p>
              <a:pPr marL="273050"/>
              <a:r>
                <a:rPr lang="en-IN" dirty="0">
                  <a:latin typeface="Segoe UI Semilight" panose="020B0402040204020203" pitchFamily="34" charset="0"/>
                  <a:cs typeface="Segoe UI Semilight" panose="020B0402040204020203" pitchFamily="34" charset="0"/>
                </a:rPr>
                <a:t>    SELECT procedureNames INTO proName FROM storeProcedure WHERE id = z;	</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set @a := CONCAT(</a:t>
              </a:r>
              <a:r>
                <a:rPr lang="en-IN" dirty="0">
                  <a:solidFill>
                    <a:srgbClr val="00B050"/>
                  </a:solidFill>
                  <a:latin typeface="Segoe UI Semilight" panose="020B0402040204020203" pitchFamily="34" charset="0"/>
                  <a:cs typeface="Segoe UI Semilight" panose="020B0402040204020203" pitchFamily="34" charset="0"/>
                </a:rPr>
                <a:t>'CALL '</a:t>
              </a:r>
              <a:r>
                <a:rPr lang="en-IN" dirty="0">
                  <a:latin typeface="Segoe UI Semilight" panose="020B0402040204020203" pitchFamily="34" charset="0"/>
                  <a:cs typeface="Segoe UI Semilight" panose="020B0402040204020203" pitchFamily="34" charset="0"/>
                </a:rPr>
                <a:t>, proName, </a:t>
              </a:r>
              <a:r>
                <a:rPr lang="en-IN" dirty="0">
                  <a:solidFill>
                    <a:srgbClr val="00B050"/>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@xx;</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sp>
        <p:nvSpPr>
          <p:cNvPr id="5" name="TextBox 4">
            <a:extLst>
              <a:ext uri="{FF2B5EF4-FFF2-40B4-BE49-F238E27FC236}">
                <a16:creationId xmlns:a16="http://schemas.microsoft.com/office/drawing/2014/main" id="{0E3CD735-95C7-2106-B734-1A60610F8124}"/>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- 2</a:t>
            </a:r>
            <a:endParaRPr lang="en-IN" sz="2000" dirty="0">
              <a:solidFill>
                <a:srgbClr val="B212AA"/>
              </a:solidFill>
            </a:endParaRPr>
          </a:p>
        </p:txBody>
      </p:sp>
      <p:sp>
        <p:nvSpPr>
          <p:cNvPr id="9" name="Rectangle 8">
            <a:extLst>
              <a:ext uri="{FF2B5EF4-FFF2-40B4-BE49-F238E27FC236}">
                <a16:creationId xmlns:a16="http://schemas.microsoft.com/office/drawing/2014/main" id="{747E1A7B-56AA-D6C1-E458-7F366E5B0042}"/>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Tree>
    <p:extLst>
      <p:ext uri="{BB962C8B-B14F-4D97-AF65-F5344CB8AC3E}">
        <p14:creationId xmlns:p14="http://schemas.microsoft.com/office/powerpoint/2010/main" val="3657084554"/>
      </p:ext>
    </p:extLst>
  </p:cSld>
  <p:clrMapOvr>
    <a:masterClrMapping/>
  </p:clrMapOvr>
  <p:transition/>
</p:sld>
</file>

<file path=ppt/slides/slide8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5973-BADE-5A0F-1CA3-27B6C503441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820B0F7-3F91-67E7-5339-42366C1A3A5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A5AB1865-6C71-38DD-DEA2-5B256FA8032E}"/>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00485FF-C6E9-98F6-D8F8-154530039558}"/>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1FCB9AE2-B737-23D8-4AD7-3EA018AA628C}"/>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57732743"/>
      </p:ext>
    </p:extLst>
  </p:cSld>
  <p:clrMapOvr>
    <a:masterClrMapping/>
  </p:clrMapOvr>
  <p:transition/>
</p:sld>
</file>

<file path=ppt/slides/slide8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B2613-E568-AD6C-44AE-824D15D01D1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0FA9339-12F1-A4BE-8820-8FDE1EE5AB2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6977B76-27B9-AF64-20AC-CE1A8C826FC8}"/>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8EEECCD5-5CC4-1CF5-77B5-028E897F2C59}"/>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5C5F6FDA-21E2-4B9C-DD2B-599294BE39A6}"/>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032634801"/>
      </p:ext>
    </p:extLst>
  </p:cSld>
  <p:clrMapOvr>
    <a:masterClrMapping/>
  </p:clrMapOvr>
  <p:transition/>
</p:sld>
</file>

<file path=ppt/slides/slide8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FDE01-0E92-348F-1E84-298B68F463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E38281-FC81-2BD5-3959-547059467784}"/>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event scheduler</a:t>
            </a:r>
          </a:p>
        </p:txBody>
      </p:sp>
      <p:sp>
        <p:nvSpPr>
          <p:cNvPr id="3" name="Rectangle 2">
            <a:extLst>
              <a:ext uri="{FF2B5EF4-FFF2-40B4-BE49-F238E27FC236}">
                <a16:creationId xmlns:a16="http://schemas.microsoft.com/office/drawing/2014/main" id="{7A54040A-4502-4464-E811-35DFEEC5D32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sp>
        <p:nvSpPr>
          <p:cNvPr id="5" name="TextBox 4">
            <a:extLst>
              <a:ext uri="{FF2B5EF4-FFF2-40B4-BE49-F238E27FC236}">
                <a16:creationId xmlns:a16="http://schemas.microsoft.com/office/drawing/2014/main" id="{3E5E40E5-6B01-3F88-38E1-0D3061CE5893}"/>
              </a:ext>
            </a:extLst>
          </p:cNvPr>
          <p:cNvSpPr txBox="1"/>
          <p:nvPr/>
        </p:nvSpPr>
        <p:spPr>
          <a:xfrm>
            <a:off x="407368"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6" name="Rectangle 5">
            <a:extLst>
              <a:ext uri="{FF2B5EF4-FFF2-40B4-BE49-F238E27FC236}">
                <a16:creationId xmlns:a16="http://schemas.microsoft.com/office/drawing/2014/main" id="{7245F273-B1B0-4FDA-0569-625083AC48CE}"/>
              </a:ext>
            </a:extLst>
          </p:cNvPr>
          <p:cNvSpPr/>
          <p:nvPr/>
        </p:nvSpPr>
        <p:spPr>
          <a:xfrm>
            <a:off x="1199456" y="3228945"/>
            <a:ext cx="9701351" cy="707886"/>
          </a:xfrm>
          <a:prstGeom prst="rect">
            <a:avLst/>
          </a:prstGeom>
          <a:solidFill>
            <a:schemeClr val="bg1"/>
          </a:solidFill>
        </p:spPr>
        <p:txBody>
          <a:bodyPr wrap="square">
            <a:spAutoFit/>
          </a:bodyPr>
          <a:lstStyle/>
          <a:p>
            <a:pPr algn="just"/>
            <a:r>
              <a:rPr lang="en-US" sz="2000" dirty="0">
                <a:latin typeface="Arial" panose="020B0604020202020204" pitchFamily="34" charset="0"/>
                <a:cs typeface="Arial" panose="020B0604020202020204" pitchFamily="34" charset="0"/>
              </a:rPr>
              <a:t>Event is a database object that automatically executes one or more SQL statements at a specified date and time or on a recurring schedule.</a:t>
            </a:r>
            <a:endParaRPr lang="en-IN" sz="2000"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088AEFEA-61F8-EC8E-2247-F7704D54D7FF}"/>
              </a:ext>
            </a:extLst>
          </p:cNvPr>
          <p:cNvSpPr txBox="1"/>
          <p:nvPr/>
        </p:nvSpPr>
        <p:spPr>
          <a:xfrm>
            <a:off x="4295800"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8" name="TextBox 7">
            <a:extLst>
              <a:ext uri="{FF2B5EF4-FFF2-40B4-BE49-F238E27FC236}">
                <a16:creationId xmlns:a16="http://schemas.microsoft.com/office/drawing/2014/main" id="{34C1E678-2E00-0C8B-5429-60D503DA40B6}"/>
              </a:ext>
            </a:extLst>
          </p:cNvPr>
          <p:cNvSpPr txBox="1"/>
          <p:nvPr/>
        </p:nvSpPr>
        <p:spPr>
          <a:xfrm>
            <a:off x="8184232" y="4748951"/>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ENABLE</a:t>
            </a:r>
          </a:p>
        </p:txBody>
      </p:sp>
      <p:sp>
        <p:nvSpPr>
          <p:cNvPr id="9" name="TextBox 8">
            <a:extLst>
              <a:ext uri="{FF2B5EF4-FFF2-40B4-BE49-F238E27FC236}">
                <a16:creationId xmlns:a16="http://schemas.microsoft.com/office/drawing/2014/main" id="{E0CED262-D94E-1330-2482-8913B297E260}"/>
              </a:ext>
            </a:extLst>
          </p:cNvPr>
          <p:cNvSpPr txBox="1"/>
          <p:nvPr/>
        </p:nvSpPr>
        <p:spPr>
          <a:xfrm>
            <a:off x="8184232" y="5736103"/>
            <a:ext cx="345638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rPr>
              <a:t> </a:t>
            </a:r>
            <a:r>
              <a:rPr lang="en-IN" dirty="0">
                <a:solidFill>
                  <a:srgbClr val="0077AA"/>
                </a:solidFill>
                <a:latin typeface="Liberation Mono"/>
              </a:rPr>
              <a:t>EVENT</a:t>
            </a:r>
            <a:r>
              <a:rPr lang="en-IN" dirty="0">
                <a:latin typeface="Liberation Mono"/>
              </a:rPr>
              <a:t> event_name</a:t>
            </a:r>
          </a:p>
        </p:txBody>
      </p:sp>
      <p:sp>
        <p:nvSpPr>
          <p:cNvPr id="4" name="TextBox 3">
            <a:extLst>
              <a:ext uri="{FF2B5EF4-FFF2-40B4-BE49-F238E27FC236}">
                <a16:creationId xmlns:a16="http://schemas.microsoft.com/office/drawing/2014/main" id="{2E865294-F816-D6DB-84C9-89212CC59757}"/>
              </a:ext>
            </a:extLst>
          </p:cNvPr>
          <p:cNvSpPr txBox="1"/>
          <p:nvPr/>
        </p:nvSpPr>
        <p:spPr>
          <a:xfrm>
            <a:off x="8184232" y="5147900"/>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DISABLE</a:t>
            </a:r>
          </a:p>
        </p:txBody>
      </p:sp>
      <p:sp>
        <p:nvSpPr>
          <p:cNvPr id="13" name="TextBox 12">
            <a:extLst>
              <a:ext uri="{FF2B5EF4-FFF2-40B4-BE49-F238E27FC236}">
                <a16:creationId xmlns:a16="http://schemas.microsoft.com/office/drawing/2014/main" id="{16240753-6ABB-CBB1-3032-C79E2B01C190}"/>
              </a:ext>
            </a:extLst>
          </p:cNvPr>
          <p:cNvSpPr txBox="1"/>
          <p:nvPr/>
        </p:nvSpPr>
        <p:spPr>
          <a:xfrm>
            <a:off x="6672064" y="519063"/>
            <a:ext cx="4015330" cy="400110"/>
          </a:xfrm>
          <a:prstGeom prst="rect">
            <a:avLst/>
          </a:prstGeom>
          <a:noFill/>
        </p:spPr>
        <p:txBody>
          <a:bodyPr wrap="square">
            <a:spAutoFit/>
          </a:bodyPr>
          <a:lstStyle/>
          <a:p>
            <a:pPr algn="r"/>
            <a:r>
              <a:rPr lang="en-IN" sz="2000" b="1" dirty="0">
                <a:solidFill>
                  <a:srgbClr val="A626A4"/>
                </a:solidFill>
                <a:latin typeface="Menlo"/>
              </a:rPr>
              <a:t>SET</a:t>
            </a:r>
            <a:r>
              <a:rPr lang="en-IN" sz="2000" b="1" dirty="0">
                <a:solidFill>
                  <a:srgbClr val="0F1115"/>
                </a:solidFill>
                <a:latin typeface="Menlo"/>
              </a:rPr>
              <a:t> </a:t>
            </a:r>
            <a:r>
              <a:rPr lang="en-IN" sz="2000" b="1" dirty="0">
                <a:solidFill>
                  <a:srgbClr val="A626A4"/>
                </a:solidFill>
                <a:latin typeface="Menlo"/>
              </a:rPr>
              <a:t>GLOBAL</a:t>
            </a:r>
            <a:r>
              <a:rPr lang="en-IN" sz="2000" b="1" dirty="0">
                <a:solidFill>
                  <a:srgbClr val="0F1115"/>
                </a:solidFill>
                <a:latin typeface="Menlo"/>
              </a:rPr>
              <a:t> event_scheduler </a:t>
            </a:r>
            <a:r>
              <a:rPr lang="en-IN" sz="2000" b="1" dirty="0">
                <a:solidFill>
                  <a:srgbClr val="4078F2"/>
                </a:solidFill>
                <a:latin typeface="Menlo"/>
              </a:rPr>
              <a:t>=</a:t>
            </a:r>
            <a:r>
              <a:rPr lang="en-IN" sz="2000" b="1" dirty="0">
                <a:solidFill>
                  <a:srgbClr val="0F1115"/>
                </a:solidFill>
                <a:latin typeface="Menlo"/>
              </a:rPr>
              <a:t> </a:t>
            </a:r>
            <a:r>
              <a:rPr lang="en-IN" sz="2000" b="1" dirty="0">
                <a:solidFill>
                  <a:srgbClr val="A626A4"/>
                </a:solidFill>
                <a:latin typeface="Menlo"/>
              </a:rPr>
              <a:t>ON</a:t>
            </a:r>
            <a:r>
              <a:rPr lang="en-IN" sz="2000" b="1" dirty="0">
                <a:solidFill>
                  <a:srgbClr val="383A42"/>
                </a:solidFill>
                <a:latin typeface="Menlo"/>
              </a:rPr>
              <a:t>;</a:t>
            </a:r>
            <a:r>
              <a:rPr lang="en-IN" sz="2000" dirty="0">
                <a:solidFill>
                  <a:srgbClr val="C00000"/>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2688959870"/>
      </p:ext>
    </p:extLst>
  </p:cSld>
  <p:clrMapOvr>
    <a:masterClrMapping/>
  </p:clrMapOvr>
  <p:transition/>
</p:sld>
</file>

<file path=ppt/slides/slide8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C1C2A8-6DFA-B914-24CD-39F2759CCEE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3E0CA4B-FF84-C403-08D7-03D0CC1A8F5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7C2ABAF-7101-A82B-F7D4-0D6435F28CF4}"/>
              </a:ext>
            </a:extLst>
          </p:cNvPr>
          <p:cNvSpPr/>
          <p:nvPr/>
        </p:nvSpPr>
        <p:spPr>
          <a:xfrm>
            <a:off x="190550" y="1647964"/>
            <a:ext cx="11810106" cy="5047536"/>
          </a:xfrm>
          <a:prstGeom prst="rect">
            <a:avLst/>
          </a:prstGeom>
        </p:spPr>
        <p:txBody>
          <a:bodyPr wrap="square">
            <a:spAutoFit/>
          </a:bodyPr>
          <a:lstStyle/>
          <a:p>
            <a:r>
              <a:rPr lang="en-IN" sz="2400" dirty="0">
                <a:solidFill>
                  <a:srgbClr val="0077AA"/>
                </a:solidFill>
                <a:latin typeface="Liberation Mono"/>
              </a:rPr>
              <a:t>CREATE EVENT TABLE [IF NOT EXISTS] </a:t>
            </a:r>
            <a:r>
              <a:rPr lang="en-IN" sz="2400" dirty="0">
                <a:solidFill>
                  <a:schemeClr val="tx1">
                    <a:lumMod val="75000"/>
                    <a:lumOff val="25000"/>
                  </a:schemeClr>
                </a:solidFill>
                <a:latin typeface="Liberation Mono"/>
              </a:rPr>
              <a:t>event_name</a:t>
            </a:r>
          </a:p>
          <a:p>
            <a:r>
              <a:rPr lang="en-IN" sz="2400" dirty="0">
                <a:solidFill>
                  <a:schemeClr val="tx1">
                    <a:lumMod val="75000"/>
                    <a:lumOff val="25000"/>
                  </a:schemeClr>
                </a:solidFill>
                <a:latin typeface="Liberation Mono"/>
              </a:rPr>
              <a:t>       </a:t>
            </a:r>
            <a:r>
              <a:rPr lang="en-US" sz="2400" dirty="0">
                <a:solidFill>
                  <a:srgbClr val="B212AA"/>
                </a:solidFill>
                <a:latin typeface="Liberation Mono"/>
              </a:rPr>
              <a:t>ON</a:t>
            </a:r>
            <a:r>
              <a:rPr lang="en-US" sz="2400" dirty="0">
                <a:solidFill>
                  <a:schemeClr val="tx1">
                    <a:lumMod val="75000"/>
                    <a:lumOff val="25000"/>
                  </a:schemeClr>
                </a:solidFill>
                <a:latin typeface="Liberation Mono"/>
              </a:rPr>
              <a:t> </a:t>
            </a:r>
            <a:r>
              <a:rPr lang="en-US" sz="2400" dirty="0">
                <a:solidFill>
                  <a:srgbClr val="B212AA"/>
                </a:solidFill>
                <a:latin typeface="Liberation Mono"/>
              </a:rPr>
              <a:t>SCHEDULE</a:t>
            </a:r>
            <a:r>
              <a:rPr lang="en-US" sz="2400" dirty="0">
                <a:solidFill>
                  <a:schemeClr val="tx1">
                    <a:lumMod val="75000"/>
                    <a:lumOff val="25000"/>
                  </a:schemeClr>
                </a:solidFill>
                <a:latin typeface="Liberation Mono"/>
              </a:rPr>
              <a:t> </a:t>
            </a:r>
            <a:r>
              <a:rPr lang="en-US" sz="2400" i="1" dirty="0">
                <a:solidFill>
                  <a:schemeClr val="accent4">
                    <a:lumMod val="50000"/>
                  </a:schemeClr>
                </a:solidFill>
                <a:latin typeface="Liberation Mono"/>
              </a:rPr>
              <a:t>schedule</a:t>
            </a:r>
          </a:p>
          <a:p>
            <a:r>
              <a:rPr lang="en-US" sz="2400" dirty="0">
                <a:solidFill>
                  <a:schemeClr val="tx1">
                    <a:lumMod val="75000"/>
                    <a:lumOff val="25000"/>
                  </a:schemeClr>
                </a:solidFill>
                <a:latin typeface="Liberation Mono"/>
              </a:rPr>
              <a:t>       </a:t>
            </a:r>
            <a:r>
              <a:rPr lang="en-US" sz="2400" dirty="0">
                <a:solidFill>
                  <a:srgbClr val="B212AA"/>
                </a:solidFill>
                <a:latin typeface="Liberation Mono"/>
              </a:rPr>
              <a:t>DO</a:t>
            </a:r>
            <a:r>
              <a:rPr lang="en-US" sz="2400" dirty="0">
                <a:solidFill>
                  <a:schemeClr val="tx1">
                    <a:lumMod val="75000"/>
                    <a:lumOff val="25000"/>
                  </a:schemeClr>
                </a:solidFill>
                <a:latin typeface="Liberation Mono"/>
              </a:rPr>
              <a:t> event_body | begin . . . end block;</a:t>
            </a:r>
            <a:r>
              <a:rPr lang="en-IN" sz="2400" dirty="0">
                <a:solidFill>
                  <a:schemeClr val="tx1">
                    <a:lumMod val="75000"/>
                    <a:lumOff val="25000"/>
                  </a:schemeClr>
                </a:solidFill>
                <a:latin typeface="Liberation Mono"/>
              </a:rPr>
              <a:t> </a:t>
            </a:r>
          </a:p>
          <a:p>
            <a:endParaRPr lang="en-IN" sz="800" dirty="0">
              <a:solidFill>
                <a:srgbClr val="0077AA"/>
              </a:solidFill>
              <a:latin typeface="Liberation Mono"/>
            </a:endParaRPr>
          </a:p>
          <a:p>
            <a:r>
              <a:rPr lang="en-US" sz="2400" b="1" i="1" dirty="0">
                <a:solidFill>
                  <a:schemeClr val="accent4">
                    <a:lumMod val="50000"/>
                  </a:schemeClr>
                </a:solidFill>
                <a:latin typeface="Liberation Mono"/>
              </a:rPr>
              <a:t>schedule</a:t>
            </a:r>
            <a:r>
              <a:rPr lang="en-US" sz="2400" b="1" i="1" dirty="0">
                <a:solidFill>
                  <a:schemeClr val="tx1">
                    <a:lumMod val="75000"/>
                    <a:lumOff val="25000"/>
                  </a:schemeClr>
                </a:solidFill>
                <a:latin typeface="Liberation Mono"/>
              </a:rPr>
              <a:t>:</a:t>
            </a:r>
          </a:p>
          <a:p>
            <a:r>
              <a:rPr lang="en-US" sz="2400" dirty="0">
                <a:solidFill>
                  <a:schemeClr val="tx1">
                    <a:lumMod val="75000"/>
                    <a:lumOff val="25000"/>
                  </a:schemeClr>
                </a:solidFill>
                <a:latin typeface="Liberation Mono"/>
              </a:rPr>
              <a:t>    AT </a:t>
            </a:r>
            <a:r>
              <a:rPr lang="en-IN" sz="2400" dirty="0">
                <a:solidFill>
                  <a:schemeClr val="tx1">
                    <a:lumMod val="75000"/>
                    <a:lumOff val="25000"/>
                  </a:schemeClr>
                </a:solidFill>
                <a:latin typeface="Liberation Mono"/>
              </a:rPr>
              <a:t>'YYYY-MM-DD HH:MM:SS’ </a:t>
            </a:r>
            <a:r>
              <a:rPr lang="en-IN" sz="2800" b="1" dirty="0">
                <a:solidFill>
                  <a:schemeClr val="bg1">
                    <a:lumMod val="75000"/>
                  </a:schemeClr>
                </a:solidFill>
                <a:latin typeface="Liberation Mono"/>
              </a:rPr>
              <a:t>|</a:t>
            </a:r>
            <a:r>
              <a:rPr lang="en-IN" sz="2400" dirty="0">
                <a:latin typeface="Liberation Mono"/>
              </a:rPr>
              <a:t> current_</a:t>
            </a:r>
            <a:r>
              <a:rPr lang="en-US" sz="2400" dirty="0">
                <a:solidFill>
                  <a:schemeClr val="tx1">
                    <a:lumMod val="75000"/>
                    <a:lumOff val="25000"/>
                  </a:schemeClr>
                </a:solidFill>
                <a:latin typeface="Liberation Mono"/>
              </a:rPr>
              <a:t>timestamp [ + INTERVAL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 . .    </a:t>
            </a:r>
            <a:r>
              <a:rPr lang="en-US" sz="2800" i="1" dirty="0">
                <a:solidFill>
                  <a:srgbClr val="00B050"/>
                </a:solidFill>
                <a:latin typeface="Liberation Mono"/>
              </a:rPr>
              <a:t>// </a:t>
            </a:r>
            <a:r>
              <a:rPr lang="en-IN" sz="2800" i="1" dirty="0">
                <a:solidFill>
                  <a:srgbClr val="00B050"/>
                </a:solidFill>
                <a:latin typeface="Liberation Mono"/>
              </a:rPr>
              <a:t>(One-Time Event are dropped by default after execution“)</a:t>
            </a:r>
            <a:endParaRPr lang="en-US" sz="2800" i="1" dirty="0">
              <a:solidFill>
                <a:srgbClr val="00B050"/>
              </a:solidFill>
              <a:latin typeface="Liberation Mono"/>
            </a:endParaRPr>
          </a:p>
          <a:p>
            <a:r>
              <a:rPr lang="en-US" sz="600" dirty="0">
                <a:solidFill>
                  <a:schemeClr val="tx1">
                    <a:lumMod val="75000"/>
                    <a:lumOff val="25000"/>
                  </a:schemeClr>
                </a:solidFill>
                <a:latin typeface="Liberation Mono"/>
              </a:rPr>
              <a:t>    </a:t>
            </a:r>
          </a:p>
          <a:p>
            <a:r>
              <a:rPr lang="en-US" sz="2400" dirty="0">
                <a:solidFill>
                  <a:schemeClr val="tx1">
                    <a:lumMod val="75000"/>
                    <a:lumOff val="25000"/>
                  </a:schemeClr>
                </a:solidFill>
                <a:latin typeface="Liberation Mono"/>
              </a:rPr>
              <a:t>   | EVERY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a:t>
            </a:r>
            <a:r>
              <a:rPr lang="en-US" sz="2800" i="1" dirty="0">
                <a:solidFill>
                  <a:srgbClr val="00B050"/>
                </a:solidFill>
                <a:latin typeface="Liberation Mono"/>
              </a:rPr>
              <a:t>// </a:t>
            </a:r>
            <a:r>
              <a:rPr lang="en-IN" sz="2800" i="1" dirty="0">
                <a:solidFill>
                  <a:srgbClr val="00B050"/>
                </a:solidFill>
                <a:latin typeface="Liberation Mono"/>
              </a:rPr>
              <a:t>(Recurring Event)</a:t>
            </a:r>
            <a:endParaRPr lang="en-US" sz="2800" i="1" dirty="0">
              <a:solidFill>
                <a:srgbClr val="00B050"/>
              </a:solidFill>
              <a:latin typeface="Liberation Mono"/>
            </a:endParaRPr>
          </a:p>
          <a:p>
            <a:r>
              <a:rPr lang="en-US" sz="2400" dirty="0">
                <a:solidFill>
                  <a:schemeClr val="tx1">
                    <a:lumMod val="75000"/>
                    <a:lumOff val="25000"/>
                  </a:schemeClr>
                </a:solidFill>
                <a:latin typeface="Liberation Mono"/>
              </a:rPr>
              <a:t>	[ STARTS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p>
          <a:p>
            <a:r>
              <a:rPr lang="en-US" sz="2400" dirty="0">
                <a:solidFill>
                  <a:schemeClr val="tx1">
                    <a:lumMod val="75000"/>
                    <a:lumOff val="25000"/>
                  </a:schemeClr>
                </a:solidFill>
                <a:latin typeface="Liberation Mono"/>
              </a:rPr>
              <a:t>             [ ENDS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endParaRPr lang="en-US" sz="2400" b="1" i="1" dirty="0">
              <a:solidFill>
                <a:schemeClr val="bg2">
                  <a:lumMod val="50000"/>
                </a:schemeClr>
              </a:solidFill>
              <a:latin typeface="Liberation Mono"/>
            </a:endParaRPr>
          </a:p>
          <a:p>
            <a:endParaRPr lang="en-US" sz="800" dirty="0">
              <a:solidFill>
                <a:srgbClr val="0077AA"/>
              </a:solidFill>
              <a:latin typeface="Liberation Mono"/>
            </a:endParaRPr>
          </a:p>
          <a:p>
            <a:r>
              <a:rPr lang="en-US" sz="2400" b="1" i="1" dirty="0">
                <a:solidFill>
                  <a:srgbClr val="7E007E"/>
                </a:solidFill>
                <a:latin typeface="Liberation Mono"/>
              </a:rPr>
              <a:t>interval</a:t>
            </a:r>
            <a:r>
              <a:rPr lang="en-US" sz="2400" dirty="0">
                <a:solidFill>
                  <a:schemeClr val="tx1">
                    <a:lumMod val="75000"/>
                    <a:lumOff val="25000"/>
                  </a:schemeClr>
                </a:solidFill>
                <a:latin typeface="Liberation Mono"/>
              </a:rPr>
              <a:t>:</a:t>
            </a:r>
          </a:p>
          <a:p>
            <a:pPr marL="447675" indent="-447675"/>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QUARTER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MONTH</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DAY</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HOUR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MINUTE</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WEEK</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SECOND</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YEAR_MONTH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DAY_HOUR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MINUTE_SECOND </a:t>
            </a:r>
            <a:r>
              <a:rPr lang="en-US" sz="2400" dirty="0">
                <a:solidFill>
                  <a:schemeClr val="tx1">
                    <a:lumMod val="75000"/>
                    <a:lumOff val="25000"/>
                  </a:schemeClr>
                </a:solidFill>
                <a:latin typeface="Liberation Mono"/>
              </a:rPr>
              <a:t>} </a:t>
            </a:r>
          </a:p>
        </p:txBody>
      </p:sp>
      <p:sp>
        <p:nvSpPr>
          <p:cNvPr id="6" name="Rectangle 5">
            <a:extLst>
              <a:ext uri="{FF2B5EF4-FFF2-40B4-BE49-F238E27FC236}">
                <a16:creationId xmlns:a16="http://schemas.microsoft.com/office/drawing/2014/main" id="{0F51BD17-C587-AB82-1A4B-89C1BB6E0C34}"/>
              </a:ext>
            </a:extLst>
          </p:cNvPr>
          <p:cNvSpPr/>
          <p:nvPr/>
        </p:nvSpPr>
        <p:spPr>
          <a:xfrm>
            <a:off x="190550" y="980728"/>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3" name="TextBox 2">
            <a:extLst>
              <a:ext uri="{FF2B5EF4-FFF2-40B4-BE49-F238E27FC236}">
                <a16:creationId xmlns:a16="http://schemas.microsoft.com/office/drawing/2014/main" id="{F66E61A4-F354-78CC-BFE4-7931C9AB0171}"/>
              </a:ext>
            </a:extLst>
          </p:cNvPr>
          <p:cNvSpPr txBox="1"/>
          <p:nvPr/>
        </p:nvSpPr>
        <p:spPr>
          <a:xfrm>
            <a:off x="161106" y="155248"/>
            <a:ext cx="7447062" cy="646331"/>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The </a:t>
            </a:r>
            <a:r>
              <a:rPr lang="en-IN" b="1" dirty="0">
                <a:solidFill>
                  <a:srgbClr val="3939F5"/>
                </a:solidFill>
                <a:latin typeface="Arial" panose="020B0604020202020204" pitchFamily="34" charset="0"/>
                <a:cs typeface="Arial" panose="020B0604020202020204" pitchFamily="34" charset="0"/>
              </a:rPr>
              <a:t>BEGIN ... END </a:t>
            </a:r>
            <a:r>
              <a:rPr lang="en-IN" dirty="0">
                <a:latin typeface="Arial" panose="020B0604020202020204" pitchFamily="34" charset="0"/>
                <a:cs typeface="Arial" panose="020B0604020202020204" pitchFamily="34" charset="0"/>
              </a:rPr>
              <a:t>block in an Event is used when the event needs to execute more than one SQL statement </a:t>
            </a:r>
          </a:p>
        </p:txBody>
      </p:sp>
    </p:spTree>
    <p:extLst>
      <p:ext uri="{BB962C8B-B14F-4D97-AF65-F5344CB8AC3E}">
        <p14:creationId xmlns:p14="http://schemas.microsoft.com/office/powerpoint/2010/main" val="4178888427"/>
      </p:ext>
    </p:extLst>
  </p:cSld>
  <p:clrMapOvr>
    <a:masterClrMapping/>
  </p:clrMapOvr>
</p:sld>
</file>

<file path=ppt/slides/slide8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92005-EEC1-F1B1-F421-D209C44603BE}"/>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E17D07-5FC0-2A97-A06B-7590B81E0269}"/>
              </a:ext>
            </a:extLst>
          </p:cNvPr>
          <p:cNvGraphicFramePr>
            <a:graphicFrameLocks noGrp="1"/>
          </p:cNvGraphicFramePr>
          <p:nvPr>
            <p:extLst>
              <p:ext uri="{D42A27DB-BD31-4B8C-83A1-F6EECF244321}">
                <p14:modId xmlns:p14="http://schemas.microsoft.com/office/powerpoint/2010/main" val="1563021769"/>
              </p:ext>
            </p:extLst>
          </p:nvPr>
        </p:nvGraphicFramePr>
        <p:xfrm>
          <a:off x="407368" y="815705"/>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
        <p:nvSpPr>
          <p:cNvPr id="3" name="Rectangle 2">
            <a:extLst>
              <a:ext uri="{FF2B5EF4-FFF2-40B4-BE49-F238E27FC236}">
                <a16:creationId xmlns:a16="http://schemas.microsoft.com/office/drawing/2014/main" id="{6D32D172-C2A9-7EA1-F681-B97D20CC3FF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8BB8A9DB-A855-BC49-F230-42DCA3F2027C}"/>
              </a:ext>
            </a:extLst>
          </p:cNvPr>
          <p:cNvSpPr/>
          <p:nvPr/>
        </p:nvSpPr>
        <p:spPr>
          <a:xfrm>
            <a:off x="263352" y="5438834"/>
            <a:ext cx="11737304" cy="1138773"/>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4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Events run in their own session. Session variables are not shared with client sessions.</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04035459"/>
      </p:ext>
    </p:extLst>
  </p:cSld>
  <p:clrMapOvr>
    <a:masterClrMapping/>
  </p:clrMapOvr>
</p:sld>
</file>

<file path=ppt/slides/slide8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65CA2-108B-3CA3-35B8-ED53A7082D9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E059D1E-C482-1182-8839-201EB9690DF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1A8FFD78-949F-5C74-1FE5-09389FBECA38}"/>
              </a:ext>
            </a:extLst>
          </p:cNvPr>
          <p:cNvSpPr/>
          <p:nvPr/>
        </p:nvSpPr>
        <p:spPr>
          <a:xfrm>
            <a:off x="263352" y="476672"/>
            <a:ext cx="11737304" cy="2646878"/>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Events run in their own session. Session variables are not shared with client sessions.  </a:t>
            </a:r>
            <a:r>
              <a:rPr lang="en-US" b="1" dirty="0">
                <a:latin typeface="Arial" panose="020B0604020202020204" pitchFamily="34" charset="0"/>
                <a:cs typeface="Arial" panose="020B0604020202020204" pitchFamily="34" charset="0"/>
              </a:rPr>
              <a:t>(</a:t>
            </a:r>
            <a:r>
              <a:rPr lang="en-US" b="1" dirty="0">
                <a:highlight>
                  <a:srgbClr val="FFFF00"/>
                </a:highlight>
                <a:latin typeface="Arial" panose="020B0604020202020204" pitchFamily="34" charset="0"/>
                <a:cs typeface="Arial" panose="020B0604020202020204" pitchFamily="34" charset="0"/>
              </a:rPr>
              <a:t>Event executes in a separate database session created by the Event Scheduler. Any user-defined session variables (such as @x, @y) created by your MySQL client are not visible inside the event, and variables created inside the event are not visible to your client session.</a:t>
            </a:r>
            <a:r>
              <a:rPr lang="en-US"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US"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want to share data between the client and an event. Do not use session variables. Store the value in a table.</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66C0744-2C83-E18A-E35A-C70BEC0C4869}"/>
              </a:ext>
            </a:extLst>
          </p:cNvPr>
          <p:cNvSpPr txBox="1"/>
          <p:nvPr/>
        </p:nvSpPr>
        <p:spPr>
          <a:xfrm>
            <a:off x="263352" y="4545121"/>
            <a:ext cx="11737304" cy="190821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Session variables (@x, @y) belong only to the session in which they are created.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Events execute in their own independent session.</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Local variables (DECLARE) should be used inside events.</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To exchange information between your application and an event, use database tables, not session variables.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2410087"/>
      </p:ext>
    </p:extLst>
  </p:cSld>
  <p:clrMapOvr>
    <a:masterClrMapping/>
  </p:clrMapOvr>
</p:sld>
</file>

<file path=ppt/slides/slide8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AE1C1-104F-40AE-25CF-AFBBF83509C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900CDDF-8D8F-91A6-4AE8-EA9F8F4A37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graphicFrame>
        <p:nvGraphicFramePr>
          <p:cNvPr id="4" name="Table 3">
            <a:extLst>
              <a:ext uri="{FF2B5EF4-FFF2-40B4-BE49-F238E27FC236}">
                <a16:creationId xmlns:a16="http://schemas.microsoft.com/office/drawing/2014/main" id="{D5585279-4074-65FC-6A50-D78107B8BACC}"/>
              </a:ext>
            </a:extLst>
          </p:cNvPr>
          <p:cNvGraphicFramePr>
            <a:graphicFrameLocks noGrp="1"/>
          </p:cNvGraphicFramePr>
          <p:nvPr>
            <p:extLst>
              <p:ext uri="{D42A27DB-BD31-4B8C-83A1-F6EECF244321}">
                <p14:modId xmlns:p14="http://schemas.microsoft.com/office/powerpoint/2010/main" val="2603598168"/>
              </p:ext>
            </p:extLst>
          </p:nvPr>
        </p:nvGraphicFramePr>
        <p:xfrm>
          <a:off x="335360" y="1134740"/>
          <a:ext cx="11521280" cy="301434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Arial" panose="020B0604020202020204" pitchFamily="34" charset="0"/>
                          <a:ea typeface="+mn-ea"/>
                          <a:cs typeface="Arial" panose="020B0604020202020204" pitchFamily="34" charset="0"/>
                        </a:rPr>
                        <a:t>The DO section of a MySQL Event can contain almost any valid SQL statement</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 DML (Insert , Update, and Delete)</a:t>
                      </a: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6. CASE Statement</a:t>
                      </a: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2. SELECT INTO Variable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7. LOOP, WHILE, REPEAT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3. SET Statement</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8. Transaction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4. CALL Stored Procedure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9. Dynamic SQL</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0230951"/>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IF Statement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10. Multiple SQL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478890793"/>
                  </a:ext>
                </a:extLst>
              </a:tr>
            </a:tbl>
          </a:graphicData>
        </a:graphic>
      </p:graphicFrame>
      <p:graphicFrame>
        <p:nvGraphicFramePr>
          <p:cNvPr id="2" name="Table 1">
            <a:extLst>
              <a:ext uri="{FF2B5EF4-FFF2-40B4-BE49-F238E27FC236}">
                <a16:creationId xmlns:a16="http://schemas.microsoft.com/office/drawing/2014/main" id="{BEEDB09B-7E0B-68AB-4F16-01831A33951F}"/>
              </a:ext>
            </a:extLst>
          </p:cNvPr>
          <p:cNvGraphicFramePr>
            <a:graphicFrameLocks noGrp="1"/>
          </p:cNvGraphicFramePr>
          <p:nvPr>
            <p:extLst>
              <p:ext uri="{D42A27DB-BD31-4B8C-83A1-F6EECF244321}">
                <p14:modId xmlns:p14="http://schemas.microsoft.com/office/powerpoint/2010/main" val="1381120301"/>
              </p:ext>
            </p:extLst>
          </p:nvPr>
        </p:nvGraphicFramePr>
        <p:xfrm>
          <a:off x="335360" y="4515784"/>
          <a:ext cx="11521280" cy="211677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Leelawadee UI Semilight" panose="020B0402040204020203" pitchFamily="34" charset="-34"/>
                          <a:ea typeface="+mn-ea"/>
                          <a:cs typeface="Leelawadee UI Semilight" panose="020B0402040204020203" pitchFamily="34" charset="-34"/>
                        </a:rPr>
                        <a:t>The DO section of a MySQL Event cannot contain</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1. </a:t>
                      </a:r>
                      <a:r>
                        <a:rPr kumimoji="0" lang="en-IN" b="1" kern="1200" dirty="0">
                          <a:solidFill>
                            <a:schemeClr val="tx1"/>
                          </a:solidFill>
                          <a:latin typeface="Leelawadee UI Semilight" panose="020B0402040204020203" pitchFamily="34" charset="-34"/>
                          <a:ea typeface="+mn-ea"/>
                          <a:cs typeface="Leelawadee UI Semilight" panose="020B0402040204020203" pitchFamily="34" charset="-34"/>
                        </a:rPr>
                        <a:t>SELECT</a:t>
                      </a:r>
                      <a:r>
                        <a:rPr lang="en-IN" b="1" dirty="0">
                          <a:latin typeface="Leelawadee UI Semilight" panose="020B0402040204020203" pitchFamily="34" charset="-34"/>
                          <a:cs typeface="Leelawadee UI Semilight" panose="020B0402040204020203" pitchFamily="34" charset="-34"/>
                        </a:rPr>
                        <a:t> that returns a </a:t>
                      </a:r>
                      <a:r>
                        <a:rPr lang="en-IN" b="1" dirty="0">
                          <a:solidFill>
                            <a:schemeClr val="tx1"/>
                          </a:solidFill>
                          <a:latin typeface="Leelawadee UI Semilight" panose="020B0402040204020203" pitchFamily="34" charset="-34"/>
                          <a:cs typeface="Leelawadee UI Semilight" panose="020B0402040204020203" pitchFamily="34" charset="-34"/>
                        </a:rPr>
                        <a:t>RESULT SET  </a:t>
                      </a:r>
                      <a:r>
                        <a:rPr lang="en-IN" b="1" dirty="0">
                          <a:solidFill>
                            <a:srgbClr val="C00000"/>
                          </a:solidFill>
                          <a:latin typeface="Leelawadee UI Semilight" panose="020B0402040204020203" pitchFamily="34" charset="-34"/>
                          <a:cs typeface="Leelawadee UI Semilight" panose="020B0402040204020203" pitchFamily="34" charset="-34"/>
                        </a:rPr>
                        <a:t>e.g.</a:t>
                      </a:r>
                      <a:r>
                        <a:rPr lang="en-IN" b="1" dirty="0">
                          <a:solidFill>
                            <a:schemeClr val="tx1"/>
                          </a:solidFill>
                          <a:latin typeface="Leelawadee UI Semilight" panose="020B0402040204020203" pitchFamily="34" charset="-34"/>
                          <a:cs typeface="Leelawadee UI Semilight" panose="020B0402040204020203" pitchFamily="34" charset="-34"/>
                        </a:rPr>
                        <a:t> </a:t>
                      </a:r>
                      <a:r>
                        <a:rPr lang="en-IN" sz="2000" kern="1200" dirty="0">
                          <a:solidFill>
                            <a:srgbClr val="0077AA"/>
                          </a:solidFill>
                          <a:latin typeface="Leelawadee UI Semilight" panose="020B0402040204020203" pitchFamily="34" charset="-34"/>
                          <a:ea typeface="+mn-ea"/>
                          <a:cs typeface="Leelawadee UI Semilight" panose="020B0402040204020203" pitchFamily="34" charset="-34"/>
                        </a:rPr>
                        <a:t>SELECT</a:t>
                      </a:r>
                      <a:r>
                        <a:rPr lang="en-IN" b="1" dirty="0">
                          <a:solidFill>
                            <a:schemeClr val="tx1"/>
                          </a:solidFill>
                          <a:latin typeface="Leelawadee UI Semilight" panose="020B0402040204020203" pitchFamily="34" charset="-34"/>
                          <a:cs typeface="Leelawadee UI Semilight" panose="020B0402040204020203" pitchFamily="34" charset="-34"/>
                        </a:rPr>
                        <a:t> ename </a:t>
                      </a:r>
                      <a:r>
                        <a:rPr lang="en-IN" sz="2000" kern="1200">
                          <a:solidFill>
                            <a:srgbClr val="0077AA"/>
                          </a:solidFill>
                          <a:latin typeface="Leelawadee UI Semilight" panose="020B0402040204020203" pitchFamily="34" charset="-34"/>
                          <a:ea typeface="+mn-ea"/>
                          <a:cs typeface="Leelawadee UI Semilight" panose="020B0402040204020203" pitchFamily="34" charset="-34"/>
                        </a:rPr>
                        <a:t>FROM</a:t>
                      </a:r>
                      <a:r>
                        <a:rPr lang="en-IN" b="1">
                          <a:solidFill>
                            <a:schemeClr val="tx1"/>
                          </a:solidFill>
                          <a:latin typeface="Leelawadee UI Semilight" panose="020B0402040204020203" pitchFamily="34" charset="-34"/>
                          <a:cs typeface="Leelawadee UI Semilight" panose="020B0402040204020203" pitchFamily="34" charset="-34"/>
                        </a:rPr>
                        <a:t> emp;</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3. ROLLBACK</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lang="en-IN" b="1" dirty="0">
                          <a:latin typeface="Leelawadee UI Semilight" panose="020B0402040204020203" pitchFamily="34" charset="-34"/>
                          <a:cs typeface="Leelawadee UI Semilight" panose="020B0402040204020203" pitchFamily="34" charset="-34"/>
                        </a:rPr>
                        <a:t>2. COMMIT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4. SHOW  command</a:t>
                      </a:r>
                      <a:endPar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lang="en-IN" b="1" dirty="0">
                          <a:latin typeface="Leelawadee UI Semilight" panose="020B0402040204020203" pitchFamily="34" charset="-34"/>
                          <a:cs typeface="Leelawadee UI Semilight" panose="020B0402040204020203" pitchFamily="34" charset="-34"/>
                        </a:rPr>
                        <a:t>SOURCE</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kumimoji="0" lang="en-US" sz="2400" b="1" kern="1200" dirty="0">
                          <a:solidFill>
                            <a:schemeClr val="tx1"/>
                          </a:solidFill>
                          <a:latin typeface="Leelawadee UI Semilight" panose="020B0402040204020203" pitchFamily="34" charset="-34"/>
                          <a:ea typeface="+mn-ea"/>
                          <a:cs typeface="Leelawadee UI Semilight" panose="020B0402040204020203" pitchFamily="34" charset="-34"/>
                        </a:rPr>
                        <a:t>. . . . .</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Box 4">
            <a:extLst>
              <a:ext uri="{FF2B5EF4-FFF2-40B4-BE49-F238E27FC236}">
                <a16:creationId xmlns:a16="http://schemas.microsoft.com/office/drawing/2014/main" id="{359D0EC2-0B21-FEE2-2958-B60CE9D9A1F9}"/>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 </a:t>
            </a:r>
          </a:p>
        </p:txBody>
      </p:sp>
    </p:spTree>
    <p:extLst>
      <p:ext uri="{BB962C8B-B14F-4D97-AF65-F5344CB8AC3E}">
        <p14:creationId xmlns:p14="http://schemas.microsoft.com/office/powerpoint/2010/main" val="600868680"/>
      </p:ext>
    </p:extLst>
  </p:cSld>
  <p:clrMapOvr>
    <a:masterClrMapping/>
  </p:clrMapOvr>
</p:sld>
</file>

<file path=ppt/slides/slide8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226F79-6DE6-48B5-8539-5F24013945D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55E8892-E9B9-8125-5BD8-FB7404993139}"/>
              </a:ext>
            </a:extLst>
          </p:cNvPr>
          <p:cNvSpPr/>
          <p:nvPr/>
        </p:nvSpPr>
        <p:spPr>
          <a:xfrm>
            <a:off x="478800" y="836712"/>
            <a:ext cx="11377264"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endParaRPr lang="en-US" sz="400" dirty="0">
              <a:solidFill>
                <a:srgbClr val="B212AA"/>
              </a:solidFill>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12 </a:t>
            </a:r>
            <a:r>
              <a:rPr lang="en-US" dirty="0">
                <a:solidFill>
                  <a:srgbClr val="0077AA"/>
                </a:solidFill>
                <a:latin typeface="Segoe UI Semilight" panose="020B0402040204020203" pitchFamily="34" charset="0"/>
                <a:cs typeface="Segoe UI Semilight" panose="020B0402040204020203" pitchFamily="34" charset="0"/>
              </a:rPr>
              <a:t>SECOND </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447675"/>
            <a:r>
              <a:rPr lang="en-US" dirty="0">
                <a:latin typeface="Segoe UI Semilight" panose="020B0402040204020203" pitchFamily="34" charset="0"/>
                <a:cs typeface="Segoe UI Semilight" panose="020B0402040204020203" pitchFamily="34" charset="0"/>
              </a:rPr>
              <a:t>UPDATE ccatStudents SET status = </a:t>
            </a:r>
            <a:r>
              <a:rPr lang="en-US" dirty="0">
                <a:solidFill>
                  <a:srgbClr val="00B050"/>
                </a:solidFill>
                <a:latin typeface="Segoe UI Semilight" panose="020B0402040204020203" pitchFamily="34" charset="0"/>
                <a:cs typeface="Segoe UI Semilight" panose="020B0402040204020203" pitchFamily="34" charset="0"/>
              </a:rPr>
              <a:t>'Verified'</a:t>
            </a:r>
            <a:r>
              <a:rPr lang="en-US" dirty="0">
                <a:latin typeface="Segoe UI Semilight" panose="020B0402040204020203" pitchFamily="34" charset="0"/>
                <a:cs typeface="Segoe UI Semilight" panose="020B0402040204020203" pitchFamily="34" charset="0"/>
              </a:rPr>
              <a:t> WHERE 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 ORDER BY id LIMIT 1;</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FCB5FE0-A3C2-FA16-3775-B69CA558CB4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3" name="TextBox 2">
            <a:extLst>
              <a:ext uri="{FF2B5EF4-FFF2-40B4-BE49-F238E27FC236}">
                <a16:creationId xmlns:a16="http://schemas.microsoft.com/office/drawing/2014/main" id="{6A3F8B7D-396C-2418-C526-814D8CB7ED3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8A4B0520-D399-E034-FA0B-89508D585475}"/>
              </a:ext>
            </a:extLst>
          </p:cNvPr>
          <p:cNvSpPr txBox="1"/>
          <p:nvPr/>
        </p:nvSpPr>
        <p:spPr>
          <a:xfrm>
            <a:off x="479884" y="404664"/>
            <a:ext cx="2088232" cy="369332"/>
          </a:xfrm>
          <a:prstGeom prst="rect">
            <a:avLst/>
          </a:prstGeom>
          <a:solidFill>
            <a:schemeClr val="accent3">
              <a:lumMod val="40000"/>
              <a:lumOff val="60000"/>
            </a:schemeClr>
          </a:solidFill>
        </p:spPr>
        <p:txBody>
          <a:bodyPr wrap="square">
            <a:spAutoFit/>
          </a:bodyPr>
          <a:lstStyle/>
          <a:p>
            <a:r>
              <a:rPr lang="en-IN" dirty="0"/>
              <a:t>Verify one student</a:t>
            </a:r>
          </a:p>
        </p:txBody>
      </p:sp>
      <p:sp>
        <p:nvSpPr>
          <p:cNvPr id="6" name="TextBox 5">
            <a:extLst>
              <a:ext uri="{FF2B5EF4-FFF2-40B4-BE49-F238E27FC236}">
                <a16:creationId xmlns:a16="http://schemas.microsoft.com/office/drawing/2014/main" id="{DA38042B-A2B8-0E0B-D09B-AD5201ABA908}"/>
              </a:ext>
            </a:extLst>
          </p:cNvPr>
          <p:cNvSpPr txBox="1"/>
          <p:nvPr/>
        </p:nvSpPr>
        <p:spPr>
          <a:xfrm>
            <a:off x="492181" y="5335468"/>
            <a:ext cx="11363883" cy="126188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event3;</a:t>
            </a:r>
          </a:p>
          <a:p>
            <a:endParaRPr lang="en-IN" sz="400"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event3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24 </a:t>
            </a:r>
            <a:r>
              <a:rPr lang="en-US" dirty="0">
                <a:solidFill>
                  <a:srgbClr val="0077AA"/>
                </a:solidFill>
                <a:latin typeface="Segoe UI Semilight" panose="020B0402040204020203" pitchFamily="34" charset="0"/>
                <a:cs typeface="Segoe UI Semilight" panose="020B0402040204020203" pitchFamily="34" charset="0"/>
              </a:rPr>
              <a:t>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UPDATE ccatStudents SET status = </a:t>
            </a:r>
            <a:r>
              <a:rPr lang="en-IN" dirty="0">
                <a:solidFill>
                  <a:srgbClr val="00B050"/>
                </a:solidFill>
                <a:latin typeface="Segoe UI Semilight" panose="020B0402040204020203" pitchFamily="34" charset="0"/>
                <a:cs typeface="Segoe UI Semilight" panose="020B0402040204020203" pitchFamily="34" charset="0"/>
              </a:rPr>
              <a:t>'Hall Ticket Issued'</a:t>
            </a:r>
            <a:r>
              <a:rPr lang="en-IN" dirty="0">
                <a:latin typeface="Segoe UI Semilight" panose="020B0402040204020203" pitchFamily="34" charset="0"/>
                <a:cs typeface="Segoe UI Semilight" panose="020B0402040204020203" pitchFamily="34" charset="0"/>
              </a:rPr>
              <a:t> WHERE status = </a:t>
            </a:r>
            <a:r>
              <a:rPr lang="en-IN" dirty="0">
                <a:solidFill>
                  <a:srgbClr val="00B050"/>
                </a:solidFill>
                <a:latin typeface="Segoe UI Semilight" panose="020B0402040204020203" pitchFamily="34" charset="0"/>
                <a:cs typeface="Segoe UI Semilight" panose="020B0402040204020203" pitchFamily="34" charset="0"/>
              </a:rPr>
              <a:t>'Verified'</a:t>
            </a:r>
            <a:r>
              <a:rPr lang="en-IN" dirty="0">
                <a:latin typeface="Segoe UI Semilight" panose="020B0402040204020203" pitchFamily="34" charset="0"/>
                <a:cs typeface="Segoe UI Semilight" panose="020B0402040204020203" pitchFamily="34" charset="0"/>
              </a:rPr>
              <a:t> ORDER BY id limit 1;</a:t>
            </a:r>
          </a:p>
        </p:txBody>
      </p:sp>
      <p:sp>
        <p:nvSpPr>
          <p:cNvPr id="7" name="TextBox 6">
            <a:extLst>
              <a:ext uri="{FF2B5EF4-FFF2-40B4-BE49-F238E27FC236}">
                <a16:creationId xmlns:a16="http://schemas.microsoft.com/office/drawing/2014/main" id="{FE1300F9-C4F1-8DF4-AB8B-3380B8A8F0B9}"/>
              </a:ext>
            </a:extLst>
          </p:cNvPr>
          <p:cNvSpPr txBox="1"/>
          <p:nvPr/>
        </p:nvSpPr>
        <p:spPr>
          <a:xfrm>
            <a:off x="479884" y="4869160"/>
            <a:ext cx="2088232" cy="369332"/>
          </a:xfrm>
          <a:prstGeom prst="rect">
            <a:avLst/>
          </a:prstGeom>
          <a:solidFill>
            <a:schemeClr val="accent3">
              <a:lumMod val="40000"/>
              <a:lumOff val="60000"/>
            </a:schemeClr>
          </a:solidFill>
        </p:spPr>
        <p:txBody>
          <a:bodyPr wrap="square">
            <a:spAutoFit/>
          </a:bodyPr>
          <a:lstStyle/>
          <a:p>
            <a:r>
              <a:rPr lang="en-IN" dirty="0"/>
              <a:t>Assign Hall Tickets</a:t>
            </a:r>
          </a:p>
        </p:txBody>
      </p:sp>
      <p:sp>
        <p:nvSpPr>
          <p:cNvPr id="2" name="TextBox 1">
            <a:extLst>
              <a:ext uri="{FF2B5EF4-FFF2-40B4-BE49-F238E27FC236}">
                <a16:creationId xmlns:a16="http://schemas.microsoft.com/office/drawing/2014/main" id="{2A2A9D34-85CF-CE88-7F9B-9045E3B3CCF8}"/>
              </a:ext>
            </a:extLst>
          </p:cNvPr>
          <p:cNvSpPr txBox="1"/>
          <p:nvPr/>
        </p:nvSpPr>
        <p:spPr>
          <a:xfrm>
            <a:off x="492181" y="3031212"/>
            <a:ext cx="11363883" cy="369332"/>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TODO</a:t>
            </a:r>
          </a:p>
        </p:txBody>
      </p:sp>
      <p:sp>
        <p:nvSpPr>
          <p:cNvPr id="5" name="TextBox 4">
            <a:extLst>
              <a:ext uri="{FF2B5EF4-FFF2-40B4-BE49-F238E27FC236}">
                <a16:creationId xmlns:a16="http://schemas.microsoft.com/office/drawing/2014/main" id="{689E07DF-F5EF-D042-4733-3C86F4A1E10D}"/>
              </a:ext>
            </a:extLst>
          </p:cNvPr>
          <p:cNvSpPr txBox="1"/>
          <p:nvPr/>
        </p:nvSpPr>
        <p:spPr>
          <a:xfrm>
            <a:off x="479884" y="2592956"/>
            <a:ext cx="2088232" cy="369332"/>
          </a:xfrm>
          <a:prstGeom prst="rect">
            <a:avLst/>
          </a:prstGeom>
          <a:solidFill>
            <a:schemeClr val="accent3">
              <a:lumMod val="40000"/>
              <a:lumOff val="60000"/>
            </a:schemeClr>
          </a:solidFill>
        </p:spPr>
        <p:txBody>
          <a:bodyPr wrap="square">
            <a:spAutoFit/>
          </a:bodyPr>
          <a:lstStyle>
            <a:defPPr>
              <a:defRPr lang="en-US"/>
            </a:defPPr>
          </a:lstStyle>
          <a:p>
            <a:r>
              <a:rPr lang="en-IN" dirty="0"/>
              <a:t>Automatically stop</a:t>
            </a:r>
          </a:p>
        </p:txBody>
      </p:sp>
    </p:spTree>
    <p:extLst>
      <p:ext uri="{BB962C8B-B14F-4D97-AF65-F5344CB8AC3E}">
        <p14:creationId xmlns:p14="http://schemas.microsoft.com/office/powerpoint/2010/main" val="3550693572"/>
      </p:ext>
    </p:extLst>
  </p:cSld>
  <p:clrMapOvr>
    <a:masterClrMapping/>
  </p:clrMapOvr>
</p:sld>
</file>

<file path=ppt/slides/slide8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B3A0C-0D44-07EB-5BF5-EDDD2F9CB6C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B317760-D541-53AB-5F94-0495C51F1A4D}"/>
              </a:ext>
            </a:extLst>
          </p:cNvPr>
          <p:cNvSpPr/>
          <p:nvPr/>
        </p:nvSpPr>
        <p:spPr>
          <a:xfrm>
            <a:off x="335360" y="1052736"/>
            <a:ext cx="11593288" cy="4124206"/>
          </a:xfrm>
          <a:prstGeom prst="rect">
            <a:avLst/>
          </a:prstGeom>
          <a:noFill/>
        </p:spPr>
        <p:txBody>
          <a:bodyPr wrap="square">
            <a:spAutoFit/>
          </a:bodyPr>
          <a:lstStyle/>
          <a:p>
            <a:r>
              <a:rPr lang="en-US" dirty="0">
                <a:solidFill>
                  <a:srgbClr val="0077AA"/>
                </a:solidFill>
                <a:latin typeface="Segoe UI Semilight" panose="020B0402040204020203" pitchFamily="34" charset="0"/>
                <a:cs typeface="Segoe UI Semilight" panose="020B0402040204020203" pitchFamily="34" charset="0"/>
              </a:rPr>
              <a:t>CREATE TABLE </a:t>
            </a:r>
            <a:r>
              <a:rPr lang="en-US" dirty="0">
                <a:latin typeface="Segoe UI Semilight" panose="020B0402040204020203" pitchFamily="34" charset="0"/>
                <a:cs typeface="Segoe UI Semilight" panose="020B0402040204020203" pitchFamily="34" charset="0"/>
              </a:rPr>
              <a:t>otp(id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PRIMARY KEY </a:t>
            </a:r>
            <a:r>
              <a:rPr lang="en-IN" dirty="0">
                <a:solidFill>
                  <a:srgbClr val="0077AA"/>
                </a:solidFill>
                <a:latin typeface="Segoe UI Semilight" panose="020B0402040204020203" pitchFamily="34" charset="0"/>
                <a:cs typeface="Segoe UI Semilight" panose="020B0402040204020203" pitchFamily="34" charset="0"/>
              </a:rPr>
              <a:t>AUTO_INCREMENT</a:t>
            </a:r>
            <a:r>
              <a:rPr lang="en-US" dirty="0">
                <a:latin typeface="Segoe UI Semilight" panose="020B0402040204020203" pitchFamily="34" charset="0"/>
                <a:cs typeface="Segoe UI Semilight" panose="020B0402040204020203" pitchFamily="34" charset="0"/>
              </a:rPr>
              <a:t>, generatedON timestamp,  otp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(12), status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a:t>
            </a: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generateOTP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30</a:t>
            </a:r>
            <a:r>
              <a:rPr lang="en-US" dirty="0">
                <a:solidFill>
                  <a:srgbClr val="0077AA"/>
                </a:solidFill>
                <a:latin typeface="Segoe UI Semilight" panose="020B0402040204020203" pitchFamily="34" charset="0"/>
                <a:cs typeface="Segoe UI Semilight" panose="020B0402040204020203" pitchFamily="34" charset="0"/>
              </a:rPr>
              <a:t> SECOND </a:t>
            </a:r>
          </a:p>
          <a:p>
            <a:pPr marL="263525"/>
            <a:r>
              <a:rPr lang="en-US" dirty="0">
                <a:solidFill>
                  <a:srgbClr val="B212AA"/>
                </a:solidFill>
                <a:latin typeface="Segoe UI Semilight" panose="020B0402040204020203" pitchFamily="34" charset="0"/>
                <a:cs typeface="Segoe UI Semilight" panose="020B0402040204020203" pitchFamily="34" charset="0"/>
              </a:rPr>
              <a:t>DO</a:t>
            </a:r>
          </a:p>
          <a:p>
            <a:pPr marL="263525"/>
            <a:r>
              <a:rPr lang="en-US" dirty="0">
                <a:latin typeface="Segoe UI Semilight" panose="020B0402040204020203" pitchFamily="34" charset="0"/>
                <a:cs typeface="Segoe UI Semilight" panose="020B0402040204020203" pitchFamily="34" charset="0"/>
              </a:rPr>
              <a:t>  INSERT INTO otp(generatedON , otp, status)  VALUES</a:t>
            </a:r>
          </a:p>
          <a:p>
            <a:pPr marL="263525"/>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CURRENT_TIMESTAMP</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CONCAT</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(20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'Active'</a:t>
            </a:r>
          </a:p>
          <a:p>
            <a:pPr marL="263525"/>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1B29E915-167A-04EA-25D3-6ED6A96670A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2" name="TextBox 1">
            <a:extLst>
              <a:ext uri="{FF2B5EF4-FFF2-40B4-BE49-F238E27FC236}">
                <a16:creationId xmlns:a16="http://schemas.microsoft.com/office/drawing/2014/main" id="{F25F6CBE-03FE-61A9-4011-C9D1D7307830}"/>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E6559697-6D02-0FE2-8353-5A0DC182600A}"/>
              </a:ext>
            </a:extLst>
          </p:cNvPr>
          <p:cNvSpPr txBox="1"/>
          <p:nvPr/>
        </p:nvSpPr>
        <p:spPr>
          <a:xfrm>
            <a:off x="335360" y="5445224"/>
            <a:ext cx="115932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deAtivateOTP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SCHEDULE </a:t>
            </a:r>
            <a:r>
              <a:rPr lang="en-IN" dirty="0">
                <a:solidFill>
                  <a:srgbClr val="B212AA"/>
                </a:solidFill>
                <a:latin typeface="Segoe UI Semilight" panose="020B0402040204020203" pitchFamily="34" charset="0"/>
                <a:cs typeface="Segoe UI Semilight" panose="020B0402040204020203" pitchFamily="34" charset="0"/>
              </a:rPr>
              <a:t>EVERY</a:t>
            </a:r>
            <a:r>
              <a:rPr lang="en-IN" dirty="0">
                <a:latin typeface="Segoe UI Semilight" panose="020B0402040204020203" pitchFamily="34" charset="0"/>
                <a:cs typeface="Segoe UI Semilight" panose="020B0402040204020203" pitchFamily="34" charset="0"/>
              </a:rPr>
              <a:t> </a:t>
            </a:r>
            <a:r>
              <a:rPr lang="en-IN" dirty="0">
                <a:solidFill>
                  <a:srgbClr val="990055"/>
                </a:solidFill>
                <a:latin typeface="Segoe UI Semilight" panose="020B0402040204020203" pitchFamily="34" charset="0"/>
                <a:cs typeface="Segoe UI Semilight" panose="020B0402040204020203" pitchFamily="34" charset="0"/>
              </a:rPr>
              <a:t>120</a:t>
            </a:r>
            <a:r>
              <a:rPr lang="en-IN" dirty="0">
                <a:latin typeface="Segoe UI Semilight" panose="020B0402040204020203" pitchFamily="34" charset="0"/>
                <a:cs typeface="Segoe UI Semilight" panose="020B0402040204020203" pitchFamily="34" charset="0"/>
              </a:rPr>
              <a:t> SECOND </a:t>
            </a: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273050"/>
            <a:r>
              <a:rPr lang="en-IN" dirty="0">
                <a:latin typeface="Segoe UI Semilight" panose="020B0402040204020203" pitchFamily="34" charset="0"/>
                <a:cs typeface="Segoe UI Semilight" panose="020B0402040204020203" pitchFamily="34" charset="0"/>
              </a:rPr>
              <a:t>  UPDATE otp SET status = 'De-active' WHERE status = 'Active' ORDER BY ID LIMIT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501644992"/>
      </p:ext>
    </p:extLst>
  </p:cSld>
  <p:clrMapOvr>
    <a:masterClrMapping/>
  </p:clrMapOvr>
</p:sld>
</file>

<file path=ppt/slides/slide8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01A9F-BCB6-84FF-20AD-A7448B97B10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6CA79A4-8BC0-4768-1820-53B46B3366C0}"/>
              </a:ext>
            </a:extLst>
          </p:cNvPr>
          <p:cNvSpPr/>
          <p:nvPr/>
        </p:nvSpPr>
        <p:spPr>
          <a:xfrm>
            <a:off x="478800" y="1280949"/>
            <a:ext cx="1137726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indent="261938"/>
            <a:r>
              <a:rPr lang="en-IN" dirty="0">
                <a:latin typeface="Segoe UI Semilight" panose="020B0402040204020203" pitchFamily="34" charset="0"/>
                <a:cs typeface="Segoe UI Semilight" panose="020B0402040204020203" pitchFamily="34" charset="0"/>
              </a:rPr>
              <a:t>set @x := 'INSERT INTO eventCounter(c1) VALUES(default)';</a:t>
            </a:r>
          </a:p>
          <a:p>
            <a:pPr marL="273050" indent="261938"/>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stat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a:t>
            </a:r>
          </a:p>
          <a:p>
            <a:pPr marL="273050" indent="261938"/>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stat;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Event1;</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CALL pro1();</a:t>
            </a:r>
          </a:p>
        </p:txBody>
      </p:sp>
      <p:sp>
        <p:nvSpPr>
          <p:cNvPr id="9" name="Rectangle 8">
            <a:extLst>
              <a:ext uri="{FF2B5EF4-FFF2-40B4-BE49-F238E27FC236}">
                <a16:creationId xmlns:a16="http://schemas.microsoft.com/office/drawing/2014/main" id="{AB64BAA0-E10D-9370-7B87-8F39979A8E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dynamic procedure -  example </a:t>
            </a:r>
          </a:p>
        </p:txBody>
      </p:sp>
      <p:sp>
        <p:nvSpPr>
          <p:cNvPr id="3" name="TextBox 2">
            <a:extLst>
              <a:ext uri="{FF2B5EF4-FFF2-40B4-BE49-F238E27FC236}">
                <a16:creationId xmlns:a16="http://schemas.microsoft.com/office/drawing/2014/main" id="{6799DFC3-B295-EDF2-14B5-7DB128AB686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173213153"/>
      </p:ext>
    </p:extLst>
  </p:cSld>
  <p:clrMapOvr>
    <a:masterClrMapping/>
  </p:clrMapOvr>
</p:sld>
</file>

<file path=ppt/slides/slide8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E6922-C7A2-B7FE-1F9E-442BC9CB0C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0AA31FBD-E3B4-820C-34B9-54BD9F72E81F}"/>
              </a:ext>
            </a:extLst>
          </p:cNvPr>
          <p:cNvSpPr/>
          <p:nvPr/>
        </p:nvSpPr>
        <p:spPr>
          <a:xfrm>
            <a:off x="478800" y="1280949"/>
            <a:ext cx="11377264"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EVENT IF EXISTS </a:t>
            </a:r>
            <a:r>
              <a:rPr lang="en-US" dirty="0">
                <a:latin typeface="Segoe UI Semilight" panose="020B0402040204020203" pitchFamily="34" charset="0"/>
                <a:cs typeface="Segoe UI Semilight" panose="020B0402040204020203" pitchFamily="34" charset="0"/>
              </a:rPr>
              <a:t>event1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x = (SELECT MAX(c1)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FROM cnt);</a:t>
            </a:r>
          </a:p>
          <a:p>
            <a:pPr marL="273050"/>
            <a:r>
              <a:rPr lang="en-US" dirty="0">
                <a:latin typeface="Segoe UI Semilight" panose="020B0402040204020203" pitchFamily="34" charset="0"/>
                <a:cs typeface="Segoe UI Semilight" panose="020B0402040204020203" pitchFamily="34" charset="0"/>
              </a:rPr>
              <a:t>   UPDATE cnt SET c1 = x;</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892856D4-FBCA-6D88-2E35-CD0274A5C07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aggregate function -  example </a:t>
            </a:r>
          </a:p>
        </p:txBody>
      </p:sp>
      <p:sp>
        <p:nvSpPr>
          <p:cNvPr id="3" name="TextBox 2">
            <a:extLst>
              <a:ext uri="{FF2B5EF4-FFF2-40B4-BE49-F238E27FC236}">
                <a16:creationId xmlns:a16="http://schemas.microsoft.com/office/drawing/2014/main" id="{893C9493-EF7D-A2D6-6E21-4AF08B0E903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711080849"/>
      </p:ext>
    </p:extLst>
  </p:cSld>
  <p:clrMapOvr>
    <a:masterClrMapping/>
  </p:clrMapOvr>
</p:sld>
</file>

<file path=ppt/slides/slide8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0003F-6608-FEA3-727E-08DDD81AEB8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34923F1-FC62-F7E0-79FE-7FE3CA663611}"/>
              </a:ext>
            </a:extLst>
          </p:cNvPr>
          <p:cNvSpPr/>
          <p:nvPr/>
        </p:nvSpPr>
        <p:spPr>
          <a:xfrm>
            <a:off x="119336" y="1158999"/>
            <a:ext cx="11953328" cy="507831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ccatstudents </a:t>
            </a:r>
            <a:r>
              <a:rPr lang="en-US" dirty="0">
                <a:solidFill>
                  <a:srgbClr val="0077AA"/>
                </a:solidFill>
                <a:latin typeface="Segoe UI Semilight" panose="020B0402040204020203" pitchFamily="34" charset="0"/>
                <a:cs typeface="Segoe UI Semilight" panose="020B0402040204020203" pitchFamily="34" charset="0"/>
              </a:rPr>
              <a:t>SET</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a:t>
            </a:r>
            <a:r>
              <a:rPr lang="en-US" dirty="0">
                <a:solidFill>
                  <a:srgbClr val="00B050"/>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DELETE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ccatstudents_log;</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endParaRPr lang="en-US" dirty="0">
              <a:solidFill>
                <a:srgbClr val="B212AA"/>
              </a:solidFill>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      INSERT INTO ccatstudents_log(id, formNumber, studentName, status, processed) SELECT id, formNumber,   </a:t>
            </a:r>
          </a:p>
          <a:p>
            <a:pPr marL="273050"/>
            <a:r>
              <a:rPr lang="en-US" dirty="0">
                <a:latin typeface="Segoe UI Semilight" panose="020B0402040204020203" pitchFamily="34" charset="0"/>
                <a:cs typeface="Segoe UI Semilight" panose="020B0402040204020203" pitchFamily="34" charset="0"/>
              </a:rPr>
              <a:t>      studentName, status,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FROM ccatstudents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 SET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status = </a:t>
            </a:r>
            <a:r>
              <a:rPr lang="en-US" dirty="0">
                <a:solidFill>
                  <a:srgbClr val="00B050"/>
                </a:solidFill>
                <a:latin typeface="Segoe UI Semilight" panose="020B0402040204020203" pitchFamily="34" charset="0"/>
                <a:cs typeface="Segoe UI Semilight" panose="020B0402040204020203" pitchFamily="34" charset="0"/>
              </a:rPr>
              <a:t>'Done'</a:t>
            </a:r>
            <a:r>
              <a:rPr lang="en-US" dirty="0">
                <a:latin typeface="Segoe UI Semilight" panose="020B0402040204020203" pitchFamily="34" charset="0"/>
                <a:cs typeface="Segoe UI Semilight" panose="020B0402040204020203" pitchFamily="34" charset="0"/>
              </a:rPr>
              <a:t>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ccatstudents_log SET status = </a:t>
            </a:r>
            <a:r>
              <a:rPr lang="en-US" dirty="0">
                <a:solidFill>
                  <a:srgbClr val="00B050"/>
                </a:solidFill>
                <a:latin typeface="Segoe UI Semilight" panose="020B0402040204020203" pitchFamily="34" charset="0"/>
                <a:cs typeface="Segoe UI Semilight" panose="020B0402040204020203" pitchFamily="34" charset="0"/>
              </a:rPr>
              <a:t>'Processed...'</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 hallTicket = UUID() WHERE processed = 'N’ </a:t>
            </a:r>
          </a:p>
          <a:p>
            <a:pPr marL="273050"/>
            <a:r>
              <a:rPr lang="en-US" dirty="0">
                <a:latin typeface="Segoe UI Semilight" panose="020B0402040204020203" pitchFamily="34" charset="0"/>
                <a:cs typeface="Segoe UI Semilight" panose="020B0402040204020203" pitchFamily="34" charset="0"/>
              </a:rPr>
              <a:t>     ORDER BY id LIMIT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E205555-010F-EE16-D04A-E7B37D78C7D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F500E125-6429-E3E7-5396-76D9AAFE16B2}"/>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558929579"/>
      </p:ext>
    </p:extLst>
  </p:cSld>
  <p:clrMapOvr>
    <a:masterClrMapping/>
  </p:clrMapOvr>
</p:sld>
</file>

<file path=ppt/slides/slide8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18A54-DB44-2424-4D90-2079E08FC5D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CC97342-274A-1818-4B2C-5EE7119BABDC}"/>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stock SET status = </a:t>
            </a:r>
            <a:r>
              <a:rPr lang="en-US" dirty="0">
                <a:solidFill>
                  <a:srgbClr val="DB7BC9"/>
                </a:solidFill>
                <a:latin typeface="Segoe UI Semilight" panose="020B0402040204020203" pitchFamily="34" charset="0"/>
                <a:cs typeface="Segoe UI Semilight" panose="020B0402040204020203" pitchFamily="34" charset="0"/>
              </a:rPr>
              <a:t>CASE</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WHEN</a:t>
            </a:r>
            <a:r>
              <a:rPr lang="en-US" dirty="0">
                <a:latin typeface="Segoe UI Semilight" panose="020B0402040204020203" pitchFamily="34" charset="0"/>
                <a:cs typeface="Segoe UI Semilight" panose="020B0402040204020203" pitchFamily="34" charset="0"/>
              </a:rPr>
              <a:t> quantity_on_hand &lt; (quantity_reserved + reorder_level) </a:t>
            </a:r>
            <a:r>
              <a:rPr lang="en-US" dirty="0">
                <a:solidFill>
                  <a:srgbClr val="DB7BC9"/>
                </a:solidFill>
                <a:latin typeface="Segoe UI Semilight" panose="020B0402040204020203" pitchFamily="34" charset="0"/>
                <a:cs typeface="Segoe UI Semilight" panose="020B0402040204020203" pitchFamily="34" charset="0"/>
              </a:rPr>
              <a:t>THEN</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'Low Stock...'</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ELSE</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'Good Stock' </a:t>
            </a:r>
            <a:r>
              <a:rPr lang="en-US" dirty="0">
                <a:solidFill>
                  <a:srgbClr val="DB7BC9"/>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34E252BA-D42A-A903-19FC-0C321306FF6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D0C426A0-332F-9D41-9745-6533F56DF01B}"/>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362129789"/>
      </p:ext>
    </p:extLst>
  </p:cSld>
  <p:clrMapOvr>
    <a:masterClrMapping/>
  </p:clrMapOvr>
</p:sld>
</file>

<file path=ppt/slides/slide8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92E83-69D6-3469-7C8B-41BD51BFDED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81E47EB-6924-8C74-D80E-3696BB944386}"/>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60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subscription SET subscription_status = </a:t>
            </a:r>
            <a:r>
              <a:rPr lang="en-US" dirty="0">
                <a:solidFill>
                  <a:srgbClr val="00B050"/>
                </a:solidFill>
                <a:latin typeface="Segoe UI Semilight" panose="020B0402040204020203" pitchFamily="34" charset="0"/>
                <a:cs typeface="Segoe UI Semilight" panose="020B0402040204020203" pitchFamily="34" charset="0"/>
              </a:rPr>
              <a:t>'Expired'</a:t>
            </a:r>
            <a:r>
              <a:rPr lang="en-US" dirty="0">
                <a:latin typeface="Segoe UI Semilight" panose="020B0402040204020203" pitchFamily="34" charset="0"/>
                <a:cs typeface="Segoe UI Semilight" panose="020B0402040204020203" pitchFamily="34" charset="0"/>
              </a:rPr>
              <a:t> WHERE expiration_date &lt; CURDATE() AND subscription_status = </a:t>
            </a:r>
            <a:r>
              <a:rPr lang="en-US" dirty="0">
                <a:solidFill>
                  <a:srgbClr val="00B050"/>
                </a:solidFill>
                <a:latin typeface="Segoe UI Semilight" panose="020B0402040204020203" pitchFamily="34" charset="0"/>
                <a:cs typeface="Segoe UI Semilight" panose="020B0402040204020203" pitchFamily="34" charset="0"/>
              </a:rPr>
              <a:t>'Active’ </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CF717B3F-F8D4-09A0-E2F7-1D58E97137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38616CFD-0143-12B1-DABA-068139BBF9C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1352176917"/>
      </p:ext>
    </p:extLst>
  </p:cSld>
  <p:clrMapOvr>
    <a:masterClrMapping/>
  </p:clrMapOvr>
</p:sld>
</file>

<file path=ppt/slides/slide8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44217"/>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cursor</a:t>
            </a:r>
          </a:p>
        </p:txBody>
      </p:sp>
      <p:sp>
        <p:nvSpPr>
          <p:cNvPr id="3" name="Rectangle 2"/>
          <p:cNvSpPr/>
          <p:nvPr/>
        </p:nvSpPr>
        <p:spPr>
          <a:xfrm>
            <a:off x="647718" y="5438834"/>
            <a:ext cx="11316186" cy="1138773"/>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Cursor declarations must appear before handler declarations and after variable and condition declarations.</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SELECT statement cannot have an INTO clause.</a:t>
            </a:r>
            <a:endParaRPr lang="en-IN" dirty="0">
              <a:latin typeface="Arial" panose="020B0604020202020204" pitchFamily="34" charset="0"/>
              <a:cs typeface="Arial" panose="020B0604020202020204" pitchFamily="34" charset="0"/>
            </a:endParaRPr>
          </a:p>
        </p:txBody>
      </p:sp>
      <p:grpSp>
        <p:nvGrpSpPr>
          <p:cNvPr id="4" name="Group 3">
            <a:extLst>
              <a:ext uri="{FF2B5EF4-FFF2-40B4-BE49-F238E27FC236}">
                <a16:creationId xmlns:a16="http://schemas.microsoft.com/office/drawing/2014/main" id="{DC43F8D2-1A42-4C35-BC63-1A8AD08BDEDB}"/>
              </a:ext>
            </a:extLst>
          </p:cNvPr>
          <p:cNvGrpSpPr/>
          <p:nvPr/>
        </p:nvGrpSpPr>
        <p:grpSpPr>
          <a:xfrm>
            <a:off x="898753" y="731392"/>
            <a:ext cx="10093791" cy="1617488"/>
            <a:chOff x="647718" y="440568"/>
            <a:chExt cx="10093791" cy="1617488"/>
          </a:xfrm>
        </p:grpSpPr>
        <p:grpSp>
          <p:nvGrpSpPr>
            <p:cNvPr id="5" name="Group 4">
              <a:extLst>
                <a:ext uri="{FF2B5EF4-FFF2-40B4-BE49-F238E27FC236}">
                  <a16:creationId xmlns:a16="http://schemas.microsoft.com/office/drawing/2014/main" id="{95856DA0-474F-4317-A927-C84BFE77C0BF}"/>
                </a:ext>
              </a:extLst>
            </p:cNvPr>
            <p:cNvGrpSpPr/>
            <p:nvPr/>
          </p:nvGrpSpPr>
          <p:grpSpPr>
            <a:xfrm>
              <a:off x="647718" y="628938"/>
              <a:ext cx="10093791" cy="1429118"/>
              <a:chOff x="647718" y="628938"/>
              <a:chExt cx="10093791" cy="1429118"/>
            </a:xfrm>
          </p:grpSpPr>
          <p:grpSp>
            <p:nvGrpSpPr>
              <p:cNvPr id="8" name="Group 7">
                <a:extLst>
                  <a:ext uri="{FF2B5EF4-FFF2-40B4-BE49-F238E27FC236}">
                    <a16:creationId xmlns:a16="http://schemas.microsoft.com/office/drawing/2014/main" id="{B5FEA38A-C033-4199-AC95-2DECC68117DA}"/>
                  </a:ext>
                </a:extLst>
              </p:cNvPr>
              <p:cNvGrpSpPr/>
              <p:nvPr/>
            </p:nvGrpSpPr>
            <p:grpSpPr>
              <a:xfrm>
                <a:off x="647718" y="1296056"/>
                <a:ext cx="10093791" cy="762000"/>
                <a:chOff x="119336" y="792000"/>
                <a:chExt cx="10093791" cy="762000"/>
              </a:xfrm>
            </p:grpSpPr>
            <p:grpSp>
              <p:nvGrpSpPr>
                <p:cNvPr id="13" name="Group 12">
                  <a:extLst>
                    <a:ext uri="{FF2B5EF4-FFF2-40B4-BE49-F238E27FC236}">
                      <a16:creationId xmlns:a16="http://schemas.microsoft.com/office/drawing/2014/main" id="{B5EB268D-E90C-4FA0-B436-A8B18BD40034}"/>
                    </a:ext>
                  </a:extLst>
                </p:cNvPr>
                <p:cNvGrpSpPr/>
                <p:nvPr/>
              </p:nvGrpSpPr>
              <p:grpSpPr>
                <a:xfrm>
                  <a:off x="119336" y="799648"/>
                  <a:ext cx="10093791" cy="703131"/>
                  <a:chOff x="1163574" y="466218"/>
                  <a:chExt cx="9561060" cy="514510"/>
                </a:xfrm>
              </p:grpSpPr>
              <p:grpSp>
                <p:nvGrpSpPr>
                  <p:cNvPr id="17" name="Group 16">
                    <a:extLst>
                      <a:ext uri="{FF2B5EF4-FFF2-40B4-BE49-F238E27FC236}">
                        <a16:creationId xmlns:a16="http://schemas.microsoft.com/office/drawing/2014/main" id="{C6CDE622-C042-42BD-A595-CBE0155F7CF3}"/>
                      </a:ext>
                    </a:extLst>
                  </p:cNvPr>
                  <p:cNvGrpSpPr/>
                  <p:nvPr/>
                </p:nvGrpSpPr>
                <p:grpSpPr>
                  <a:xfrm>
                    <a:off x="1163574" y="476672"/>
                    <a:ext cx="1993026" cy="504056"/>
                    <a:chOff x="-106283" y="476672"/>
                    <a:chExt cx="1993026" cy="504056"/>
                  </a:xfrm>
                </p:grpSpPr>
                <p:sp>
                  <p:nvSpPr>
                    <p:cNvPr id="31" name="Rectangle 30">
                      <a:extLst>
                        <a:ext uri="{FF2B5EF4-FFF2-40B4-BE49-F238E27FC236}">
                          <a16:creationId xmlns:a16="http://schemas.microsoft.com/office/drawing/2014/main" id="{4C504192-D77B-4709-92EC-A71A012FEF81}"/>
                        </a:ext>
                      </a:extLst>
                    </p:cNvPr>
                    <p:cNvSpPr/>
                    <p:nvPr/>
                  </p:nvSpPr>
                  <p:spPr>
                    <a:xfrm>
                      <a:off x="-106283" y="476672"/>
                      <a:ext cx="1630926"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Arrow: Right 31">
                      <a:extLst>
                        <a:ext uri="{FF2B5EF4-FFF2-40B4-BE49-F238E27FC236}">
                          <a16:creationId xmlns:a16="http://schemas.microsoft.com/office/drawing/2014/main" id="{4C2FFB71-4A0D-4C29-88E7-25BE1F5B386D}"/>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3" name="TextBox 32">
                      <a:extLst>
                        <a:ext uri="{FF2B5EF4-FFF2-40B4-BE49-F238E27FC236}">
                          <a16:creationId xmlns:a16="http://schemas.microsoft.com/office/drawing/2014/main" id="{9980CB93-B278-4D58-977C-4F9A155FC6D4}"/>
                        </a:ext>
                      </a:extLst>
                    </p:cNvPr>
                    <p:cNvSpPr txBox="1"/>
                    <p:nvPr/>
                  </p:nvSpPr>
                  <p:spPr>
                    <a:xfrm>
                      <a:off x="-1517" y="579200"/>
                      <a:ext cx="146995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DECLARE</a:t>
                      </a:r>
                      <a:endParaRPr lang="en-IN" sz="2000" dirty="0">
                        <a:latin typeface="Arial" panose="020B0604020202020204" pitchFamily="34" charset="0"/>
                        <a:cs typeface="Arial" panose="020B0604020202020204" pitchFamily="34" charset="0"/>
                      </a:endParaRPr>
                    </a:p>
                  </p:txBody>
                </p:sp>
              </p:grpSp>
              <p:grpSp>
                <p:nvGrpSpPr>
                  <p:cNvPr id="18" name="Group 17">
                    <a:extLst>
                      <a:ext uri="{FF2B5EF4-FFF2-40B4-BE49-F238E27FC236}">
                        <a16:creationId xmlns:a16="http://schemas.microsoft.com/office/drawing/2014/main" id="{198BD154-0921-40D0-9B23-D2277B4AFA48}"/>
                      </a:ext>
                    </a:extLst>
                  </p:cNvPr>
                  <p:cNvGrpSpPr/>
                  <p:nvPr/>
                </p:nvGrpSpPr>
                <p:grpSpPr>
                  <a:xfrm>
                    <a:off x="3215680" y="476672"/>
                    <a:ext cx="3364464" cy="504056"/>
                    <a:chOff x="4001955" y="476672"/>
                    <a:chExt cx="3364464" cy="504056"/>
                  </a:xfrm>
                </p:grpSpPr>
                <p:grpSp>
                  <p:nvGrpSpPr>
                    <p:cNvPr id="24" name="Group 23">
                      <a:extLst>
                        <a:ext uri="{FF2B5EF4-FFF2-40B4-BE49-F238E27FC236}">
                          <a16:creationId xmlns:a16="http://schemas.microsoft.com/office/drawing/2014/main" id="{A8DDEB8A-C2B1-4F1E-8C8B-805D7C9F907A}"/>
                        </a:ext>
                      </a:extLst>
                    </p:cNvPr>
                    <p:cNvGrpSpPr/>
                    <p:nvPr/>
                  </p:nvGrpSpPr>
                  <p:grpSpPr>
                    <a:xfrm>
                      <a:off x="4001955" y="476672"/>
                      <a:ext cx="2003296" cy="504056"/>
                      <a:chOff x="288049" y="476672"/>
                      <a:chExt cx="2003296" cy="504056"/>
                    </a:xfrm>
                  </p:grpSpPr>
                  <p:sp>
                    <p:nvSpPr>
                      <p:cNvPr id="28" name="Rectangle 27">
                        <a:extLst>
                          <a:ext uri="{FF2B5EF4-FFF2-40B4-BE49-F238E27FC236}">
                            <a16:creationId xmlns:a16="http://schemas.microsoft.com/office/drawing/2014/main" id="{8935AA7F-847E-4334-BB24-1762B3573F7D}"/>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Arrow: Right 28">
                        <a:extLst>
                          <a:ext uri="{FF2B5EF4-FFF2-40B4-BE49-F238E27FC236}">
                            <a16:creationId xmlns:a16="http://schemas.microsoft.com/office/drawing/2014/main" id="{0DBCFEE7-5CE4-41FE-9C04-F1C85E626D98}"/>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 name="TextBox 29">
                        <a:extLst>
                          <a:ext uri="{FF2B5EF4-FFF2-40B4-BE49-F238E27FC236}">
                            <a16:creationId xmlns:a16="http://schemas.microsoft.com/office/drawing/2014/main" id="{AE61A716-84A5-42C0-B999-F537DEE37D66}"/>
                          </a:ext>
                        </a:extLst>
                      </p:cNvPr>
                      <p:cNvSpPr txBox="1"/>
                      <p:nvPr/>
                    </p:nvSpPr>
                    <p:spPr>
                      <a:xfrm>
                        <a:off x="598461" y="579200"/>
                        <a:ext cx="98559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OPEN</a:t>
                        </a:r>
                        <a:endParaRPr lang="en-IN" sz="2000" dirty="0">
                          <a:latin typeface="Arial" panose="020B0604020202020204" pitchFamily="34" charset="0"/>
                          <a:cs typeface="Arial" panose="020B0604020202020204" pitchFamily="34" charset="0"/>
                        </a:endParaRPr>
                      </a:p>
                    </p:txBody>
                  </p:sp>
                </p:grpSp>
                <p:grpSp>
                  <p:nvGrpSpPr>
                    <p:cNvPr id="25" name="Group 24">
                      <a:extLst>
                        <a:ext uri="{FF2B5EF4-FFF2-40B4-BE49-F238E27FC236}">
                          <a16:creationId xmlns:a16="http://schemas.microsoft.com/office/drawing/2014/main" id="{D79E2DF3-84C0-42E0-BBED-1D13F0758B91}"/>
                        </a:ext>
                      </a:extLst>
                    </p:cNvPr>
                    <p:cNvGrpSpPr/>
                    <p:nvPr/>
                  </p:nvGrpSpPr>
                  <p:grpSpPr>
                    <a:xfrm>
                      <a:off x="6077741" y="476672"/>
                      <a:ext cx="1288678" cy="504056"/>
                      <a:chOff x="119336" y="476672"/>
                      <a:chExt cx="1288678" cy="504056"/>
                    </a:xfrm>
                  </p:grpSpPr>
                  <p:sp>
                    <p:nvSpPr>
                      <p:cNvPr id="26" name="Rectangle 25">
                        <a:extLst>
                          <a:ext uri="{FF2B5EF4-FFF2-40B4-BE49-F238E27FC236}">
                            <a16:creationId xmlns:a16="http://schemas.microsoft.com/office/drawing/2014/main" id="{5E856735-A8F8-46E8-A987-B0F51EFF39BF}"/>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7" name="TextBox 26">
                        <a:extLst>
                          <a:ext uri="{FF2B5EF4-FFF2-40B4-BE49-F238E27FC236}">
                            <a16:creationId xmlns:a16="http://schemas.microsoft.com/office/drawing/2014/main" id="{CE6B1135-2F6F-42C8-9073-A3C888954EE1}"/>
                          </a:ext>
                        </a:extLst>
                      </p:cNvPr>
                      <p:cNvSpPr txBox="1"/>
                      <p:nvPr/>
                    </p:nvSpPr>
                    <p:spPr>
                      <a:xfrm>
                        <a:off x="269121" y="579200"/>
                        <a:ext cx="104845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FETCH</a:t>
                        </a:r>
                        <a:endParaRPr lang="en-IN" sz="2000" dirty="0">
                          <a:latin typeface="Arial" panose="020B0604020202020204" pitchFamily="34" charset="0"/>
                          <a:cs typeface="Arial" panose="020B0604020202020204" pitchFamily="34" charset="0"/>
                        </a:endParaRPr>
                      </a:p>
                    </p:txBody>
                  </p:sp>
                </p:grpSp>
              </p:grpSp>
              <p:sp>
                <p:nvSpPr>
                  <p:cNvPr id="19" name="Arrow: Right 18">
                    <a:extLst>
                      <a:ext uri="{FF2B5EF4-FFF2-40B4-BE49-F238E27FC236}">
                        <a16:creationId xmlns:a16="http://schemas.microsoft.com/office/drawing/2014/main" id="{21C56DAC-A922-41B9-9202-95D3A534987D}"/>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0" name="Group 19">
                    <a:extLst>
                      <a:ext uri="{FF2B5EF4-FFF2-40B4-BE49-F238E27FC236}">
                        <a16:creationId xmlns:a16="http://schemas.microsoft.com/office/drawing/2014/main" id="{284214E1-B210-4AED-A811-3AC1864887C3}"/>
                      </a:ext>
                    </a:extLst>
                  </p:cNvPr>
                  <p:cNvGrpSpPr/>
                  <p:nvPr/>
                </p:nvGrpSpPr>
                <p:grpSpPr>
                  <a:xfrm>
                    <a:off x="9393646" y="466218"/>
                    <a:ext cx="1330988" cy="504056"/>
                    <a:chOff x="1265910" y="-654489"/>
                    <a:chExt cx="1330988" cy="504056"/>
                  </a:xfrm>
                </p:grpSpPr>
                <p:sp>
                  <p:nvSpPr>
                    <p:cNvPr id="22" name="Rectangle 21">
                      <a:extLst>
                        <a:ext uri="{FF2B5EF4-FFF2-40B4-BE49-F238E27FC236}">
                          <a16:creationId xmlns:a16="http://schemas.microsoft.com/office/drawing/2014/main" id="{A94FA904-054C-45CA-A192-C7FD40AF42BB}"/>
                        </a:ext>
                      </a:extLst>
                    </p:cNvPr>
                    <p:cNvSpPr/>
                    <p:nvPr/>
                  </p:nvSpPr>
                  <p:spPr>
                    <a:xfrm>
                      <a:off x="1265910" y="-654489"/>
                      <a:ext cx="133098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E01C3F5A-08AD-4BD8-8B36-B57EA91619E1}"/>
                        </a:ext>
                      </a:extLst>
                    </p:cNvPr>
                    <p:cNvSpPr txBox="1"/>
                    <p:nvPr/>
                  </p:nvSpPr>
                  <p:spPr>
                    <a:xfrm>
                      <a:off x="1402325" y="-562879"/>
                      <a:ext cx="103083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CLOSE</a:t>
                      </a:r>
                      <a:endParaRPr lang="en-IN" sz="2000" dirty="0">
                        <a:latin typeface="Arial" panose="020B0604020202020204" pitchFamily="34" charset="0"/>
                        <a:cs typeface="Arial" panose="020B0604020202020204" pitchFamily="34" charset="0"/>
                      </a:endParaRPr>
                    </a:p>
                  </p:txBody>
                </p:sp>
              </p:grpSp>
              <p:sp>
                <p:nvSpPr>
                  <p:cNvPr id="21" name="Arrow: Right 20">
                    <a:extLst>
                      <a:ext uri="{FF2B5EF4-FFF2-40B4-BE49-F238E27FC236}">
                        <a16:creationId xmlns:a16="http://schemas.microsoft.com/office/drawing/2014/main" id="{CC7F035D-016B-42AD-AC0E-869306174EBA}"/>
                      </a:ext>
                    </a:extLst>
                  </p:cNvPr>
                  <p:cNvSpPr/>
                  <p:nvPr/>
                </p:nvSpPr>
                <p:spPr>
                  <a:xfrm>
                    <a:off x="8695749" y="559756"/>
                    <a:ext cx="629689"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14" name="Group 13">
                  <a:extLst>
                    <a:ext uri="{FF2B5EF4-FFF2-40B4-BE49-F238E27FC236}">
                      <a16:creationId xmlns:a16="http://schemas.microsoft.com/office/drawing/2014/main" id="{E8CA374F-7E42-4F6A-8BFB-3F21119A0D30}"/>
                    </a:ext>
                  </a:extLst>
                </p:cNvPr>
                <p:cNvGrpSpPr/>
                <p:nvPr/>
              </p:nvGrpSpPr>
              <p:grpSpPr>
                <a:xfrm>
                  <a:off x="6312024" y="792000"/>
                  <a:ext cx="1680360" cy="762000"/>
                  <a:chOff x="10351369" y="764789"/>
                  <a:chExt cx="1680360" cy="732941"/>
                </a:xfrm>
              </p:grpSpPr>
              <p:sp>
                <p:nvSpPr>
                  <p:cNvPr id="15" name="Diamond 14">
                    <a:extLst>
                      <a:ext uri="{FF2B5EF4-FFF2-40B4-BE49-F238E27FC236}">
                        <a16:creationId xmlns:a16="http://schemas.microsoft.com/office/drawing/2014/main" id="{4705E544-E5B9-4C76-9118-9196592E960A}"/>
                      </a:ext>
                    </a:extLst>
                  </p:cNvPr>
                  <p:cNvSpPr/>
                  <p:nvPr/>
                </p:nvSpPr>
                <p:spPr>
                  <a:xfrm>
                    <a:off x="10351369" y="764789"/>
                    <a:ext cx="1680360" cy="732941"/>
                  </a:xfrm>
                  <a:prstGeom prst="diamond">
                    <a:avLst/>
                  </a:prstGeom>
                  <a:pattFill prst="pct5">
                    <a:fgClr>
                      <a:schemeClr val="accent1"/>
                    </a:fgClr>
                    <a:bgClr>
                      <a:schemeClr val="bg1"/>
                    </a:bgClr>
                  </a:pattFill>
                  <a:ln w="25400">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2CB7BE17-FB7C-4C00-B932-0B8462A22892}"/>
                      </a:ext>
                    </a:extLst>
                  </p:cNvPr>
                  <p:cNvSpPr txBox="1"/>
                  <p:nvPr/>
                </p:nvSpPr>
                <p:spPr>
                  <a:xfrm>
                    <a:off x="10705233" y="944791"/>
                    <a:ext cx="1069586" cy="400110"/>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EMPTY</a:t>
                    </a:r>
                    <a:endParaRPr lang="en-IN" sz="2000" dirty="0">
                      <a:latin typeface="Arial" panose="020B0604020202020204" pitchFamily="34" charset="0"/>
                      <a:cs typeface="Arial" panose="020B0604020202020204" pitchFamily="34" charset="0"/>
                    </a:endParaRPr>
                  </a:p>
                </p:txBody>
              </p:sp>
            </p:grpSp>
          </p:grpSp>
          <p:grpSp>
            <p:nvGrpSpPr>
              <p:cNvPr id="9" name="Group 8">
                <a:extLst>
                  <a:ext uri="{FF2B5EF4-FFF2-40B4-BE49-F238E27FC236}">
                    <a16:creationId xmlns:a16="http://schemas.microsoft.com/office/drawing/2014/main" id="{63EA6A4A-1A02-4B27-9741-C6F651D290F3}"/>
                  </a:ext>
                </a:extLst>
              </p:cNvPr>
              <p:cNvGrpSpPr/>
              <p:nvPr/>
            </p:nvGrpSpPr>
            <p:grpSpPr>
              <a:xfrm>
                <a:off x="7420923" y="628938"/>
                <a:ext cx="492032" cy="644985"/>
                <a:chOff x="7420923" y="764704"/>
                <a:chExt cx="492032" cy="520445"/>
              </a:xfrm>
            </p:grpSpPr>
            <p:sp>
              <p:nvSpPr>
                <p:cNvPr id="11" name="Arrow: Right 10">
                  <a:extLst>
                    <a:ext uri="{FF2B5EF4-FFF2-40B4-BE49-F238E27FC236}">
                      <a16:creationId xmlns:a16="http://schemas.microsoft.com/office/drawing/2014/main" id="{CCB4DC65-D9C7-405B-8B00-DB07842682CF}"/>
                    </a:ext>
                  </a:extLst>
                </p:cNvPr>
                <p:cNvSpPr/>
                <p:nvPr/>
              </p:nvSpPr>
              <p:spPr>
                <a:xfrm rot="16200000">
                  <a:off x="7416834" y="768793"/>
                  <a:ext cx="500209" cy="492032"/>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CEBC3A7-31E8-44BD-87D2-85FA5EB3DEB9}"/>
                    </a:ext>
                  </a:extLst>
                </p:cNvPr>
                <p:cNvSpPr txBox="1"/>
                <p:nvPr/>
              </p:nvSpPr>
              <p:spPr>
                <a:xfrm>
                  <a:off x="7521159" y="862958"/>
                  <a:ext cx="244674" cy="422191"/>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N</a:t>
                  </a:r>
                </a:p>
                <a:p>
                  <a:r>
                    <a:rPr lang="en-US" sz="1400" b="1" dirty="0">
                      <a:latin typeface="Arial" panose="020B0604020202020204" pitchFamily="34" charset="0"/>
                      <a:cs typeface="Arial" panose="020B0604020202020204" pitchFamily="34" charset="0"/>
                    </a:rPr>
                    <a:t>O</a:t>
                  </a:r>
                  <a:endParaRPr lang="en-IN" b="1" dirty="0">
                    <a:latin typeface="Arial" panose="020B0604020202020204" pitchFamily="34" charset="0"/>
                    <a:cs typeface="Arial" panose="020B0604020202020204" pitchFamily="34" charset="0"/>
                  </a:endParaRPr>
                </a:p>
              </p:txBody>
            </p:sp>
          </p:grpSp>
          <p:sp>
            <p:nvSpPr>
              <p:cNvPr id="10" name="TextBox 9">
                <a:extLst>
                  <a:ext uri="{FF2B5EF4-FFF2-40B4-BE49-F238E27FC236}">
                    <a16:creationId xmlns:a16="http://schemas.microsoft.com/office/drawing/2014/main" id="{8B0A0AAB-38A9-49A1-B251-24881B571E5D}"/>
                  </a:ext>
                </a:extLst>
              </p:cNvPr>
              <p:cNvSpPr txBox="1"/>
              <p:nvPr/>
            </p:nvSpPr>
            <p:spPr>
              <a:xfrm>
                <a:off x="8617720" y="1533260"/>
                <a:ext cx="664775" cy="307777"/>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YES</a:t>
                </a:r>
                <a:endParaRPr lang="en-IN" b="1" dirty="0">
                  <a:latin typeface="Arial" panose="020B0604020202020204" pitchFamily="34" charset="0"/>
                  <a:cs typeface="Arial" panose="020B0604020202020204" pitchFamily="34" charset="0"/>
                </a:endParaRPr>
              </a:p>
            </p:txBody>
          </p:sp>
        </p:grpSp>
        <p:cxnSp>
          <p:nvCxnSpPr>
            <p:cNvPr id="6" name="Connector: Elbow 5">
              <a:extLst>
                <a:ext uri="{FF2B5EF4-FFF2-40B4-BE49-F238E27FC236}">
                  <a16:creationId xmlns:a16="http://schemas.microsoft.com/office/drawing/2014/main" id="{D0BCA60E-4CCF-4BF1-BDB1-9E1242F08544}"/>
                </a:ext>
              </a:extLst>
            </p:cNvPr>
            <p:cNvCxnSpPr>
              <a:cxnSpLocks/>
            </p:cNvCxnSpPr>
            <p:nvPr/>
          </p:nvCxnSpPr>
          <p:spPr>
            <a:xfrm rot="16200000" flipV="1">
              <a:off x="6124114" y="-895953"/>
              <a:ext cx="197532" cy="2892630"/>
            </a:xfrm>
            <a:prstGeom prst="bentConnector2">
              <a:avLst/>
            </a:prstGeom>
            <a:ln w="19050">
              <a:solidFill>
                <a:srgbClr val="2658E6"/>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FAD1B068-9C8B-43D6-9884-81EC565C6CE7}"/>
                </a:ext>
              </a:extLst>
            </p:cNvPr>
            <p:cNvCxnSpPr>
              <a:cxnSpLocks/>
            </p:cNvCxnSpPr>
            <p:nvPr/>
          </p:nvCxnSpPr>
          <p:spPr>
            <a:xfrm>
              <a:off x="4764845" y="440568"/>
              <a:ext cx="0" cy="925874"/>
            </a:xfrm>
            <a:prstGeom prst="straightConnector1">
              <a:avLst/>
            </a:prstGeom>
            <a:ln w="19050">
              <a:solidFill>
                <a:srgbClr val="2658E6"/>
              </a:solidFill>
              <a:tailEnd type="triangle"/>
            </a:ln>
          </p:spPr>
          <p:style>
            <a:lnRef idx="1">
              <a:schemeClr val="accent1"/>
            </a:lnRef>
            <a:fillRef idx="0">
              <a:schemeClr val="accent1"/>
            </a:fillRef>
            <a:effectRef idx="0">
              <a:schemeClr val="accent1"/>
            </a:effectRef>
            <a:fontRef idx="minor">
              <a:schemeClr val="tx1"/>
            </a:fontRef>
          </p:style>
        </p:cxnSp>
      </p:grpSp>
      <p:sp>
        <p:nvSpPr>
          <p:cNvPr id="35" name="TextBox 34">
            <a:extLst>
              <a:ext uri="{FF2B5EF4-FFF2-40B4-BE49-F238E27FC236}">
                <a16:creationId xmlns:a16="http://schemas.microsoft.com/office/drawing/2014/main" id="{BC874E16-5F19-455D-96B1-0AEB2252C355}"/>
              </a:ext>
            </a:extLst>
          </p:cNvPr>
          <p:cNvSpPr txBox="1"/>
          <p:nvPr/>
        </p:nvSpPr>
        <p:spPr>
          <a:xfrm>
            <a:off x="479377" y="3034209"/>
            <a:ext cx="11484528" cy="400110"/>
          </a:xfrm>
          <a:prstGeom prst="rect">
            <a:avLst/>
          </a:prstGeom>
          <a:noFill/>
        </p:spPr>
        <p:txBody>
          <a:bodyPr wrap="square">
            <a:spAutoFit/>
          </a:bodyPr>
          <a:lstStyle/>
          <a:p>
            <a:r>
              <a:rPr lang="en-US" sz="2000" b="0" i="0" dirty="0">
                <a:solidFill>
                  <a:srgbClr val="000000"/>
                </a:solidFill>
                <a:effectLst/>
                <a:latin typeface="Palatino Linotype" panose="02040502050505030304" pitchFamily="18" charset="0"/>
              </a:rPr>
              <a:t>A cursor allows you to </a:t>
            </a:r>
            <a:r>
              <a:rPr lang="en-US" sz="2000" b="0" i="0" u="none" strike="noStrike" dirty="0">
                <a:effectLst/>
                <a:latin typeface="Palatino Linotype" panose="02040502050505030304" pitchFamily="18" charset="0"/>
              </a:rPr>
              <a:t>iterate </a:t>
            </a:r>
            <a:r>
              <a:rPr lang="en-US" sz="2000" b="0" i="0" dirty="0">
                <a:solidFill>
                  <a:srgbClr val="000000"/>
                </a:solidFill>
                <a:effectLst/>
                <a:latin typeface="Palatino Linotype" panose="02040502050505030304" pitchFamily="18" charset="0"/>
              </a:rPr>
              <a:t>a set of rows returned by a query and process each row individually.</a:t>
            </a:r>
            <a:endParaRPr lang="en-IN" sz="2000" dirty="0">
              <a:latin typeface="Palatino Linotype" panose="02040502050505030304" pitchFamily="18" charset="0"/>
            </a:endParaRPr>
          </a:p>
        </p:txBody>
      </p:sp>
      <p:sp>
        <p:nvSpPr>
          <p:cNvPr id="38" name="TextBox 37">
            <a:extLst>
              <a:ext uri="{FF2B5EF4-FFF2-40B4-BE49-F238E27FC236}">
                <a16:creationId xmlns:a16="http://schemas.microsoft.com/office/drawing/2014/main" id="{E9047D83-67D5-45DA-8779-31C9F4627A8F}"/>
              </a:ext>
            </a:extLst>
          </p:cNvPr>
          <p:cNvSpPr txBox="1"/>
          <p:nvPr/>
        </p:nvSpPr>
        <p:spPr>
          <a:xfrm>
            <a:off x="647718" y="3501008"/>
            <a:ext cx="10884138" cy="193899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Read only: </a:t>
            </a:r>
            <a:r>
              <a:rPr lang="en-US" dirty="0">
                <a:latin typeface="Arial" panose="020B0604020202020204" pitchFamily="34" charset="0"/>
                <a:cs typeface="Arial" panose="020B0604020202020204" pitchFamily="34" charset="0"/>
              </a:rPr>
              <a:t>Not updatable.</a:t>
            </a: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Nonscrollable:</a:t>
            </a:r>
            <a:r>
              <a:rPr lang="en-US" dirty="0">
                <a:latin typeface="Arial" panose="020B0604020202020204" pitchFamily="34" charset="0"/>
                <a:cs typeface="Arial" panose="020B0604020202020204" pitchFamily="34" charset="0"/>
              </a:rPr>
              <a:t> Can be traversed only in one direction and cannot skip rows.</a:t>
            </a:r>
          </a:p>
          <a:p>
            <a:pPr marL="285750" indent="-285750">
              <a:buFont typeface="Arial" panose="020B0604020202020204" pitchFamily="34" charset="0"/>
              <a:buChar char="•"/>
            </a:pPr>
            <a:r>
              <a:rPr lang="en-IN" dirty="0">
                <a:solidFill>
                  <a:srgbClr val="006C86"/>
                </a:solidFill>
                <a:latin typeface="Arial" panose="020B0604020202020204" pitchFamily="34" charset="0"/>
                <a:cs typeface="Arial" panose="020B0604020202020204" pitchFamily="34" charset="0"/>
              </a:rPr>
              <a:t>Asensitive:</a:t>
            </a:r>
            <a:r>
              <a:rPr lang="en-IN" dirty="0">
                <a:latin typeface="Arial" panose="020B0604020202020204" pitchFamily="34" charset="0"/>
                <a:cs typeface="Arial" panose="020B0604020202020204" pitchFamily="34" charset="0"/>
              </a:rPr>
              <a:t> there are two kinds of cursors: asensitive cursor and insensitive cursor. An asensitive cursor points to the actual data, whereas an insensitive cursor uses a temporary copy of the data. </a:t>
            </a:r>
            <a:r>
              <a:rPr lang="en-IN" b="0" i="0" dirty="0">
                <a:solidFill>
                  <a:srgbClr val="000000"/>
                </a:solidFill>
                <a:effectLst/>
                <a:latin typeface="Arial" panose="020B0604020202020204" pitchFamily="34" charset="0"/>
                <a:cs typeface="Arial" panose="020B0604020202020204" pitchFamily="34" charset="0"/>
              </a:rPr>
              <a:t>MySQL cursor is asensitive.</a:t>
            </a:r>
            <a:endParaRPr lang="en-IN" dirty="0">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2974D3FB-E441-4B08-B990-0E68E379C449}"/>
              </a:ext>
            </a:extLst>
          </p:cNvPr>
          <p:cNvSpPr txBox="1"/>
          <p:nvPr/>
        </p:nvSpPr>
        <p:spPr>
          <a:xfrm>
            <a:off x="20587" y="153889"/>
            <a:ext cx="5571357" cy="923330"/>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222222"/>
                </a:solidFill>
                <a:effectLst/>
                <a:latin typeface="arial" panose="020B0604020202020204" pitchFamily="34" charset="0"/>
              </a:rPr>
              <a:t>A </a:t>
            </a:r>
            <a:r>
              <a:rPr lang="en-US" b="1" i="0" dirty="0">
                <a:solidFill>
                  <a:srgbClr val="222222"/>
                </a:solidFill>
                <a:effectLst/>
                <a:latin typeface="arial" panose="020B0604020202020204" pitchFamily="34" charset="0"/>
              </a:rPr>
              <a:t>cursor</a:t>
            </a:r>
            <a:r>
              <a:rPr lang="en-US" b="0" i="0" dirty="0">
                <a:solidFill>
                  <a:srgbClr val="222222"/>
                </a:solidFill>
                <a:effectLst/>
                <a:latin typeface="arial" panose="020B0604020202020204" pitchFamily="34" charset="0"/>
              </a:rPr>
              <a:t> is a temporary work area created in the system memory when a SQL statement is executed.</a:t>
            </a:r>
            <a:endParaRPr lang="en-IN" dirty="0"/>
          </a:p>
        </p:txBody>
      </p:sp>
      <p:sp>
        <p:nvSpPr>
          <p:cNvPr id="37" name="TextBox 36">
            <a:extLst>
              <a:ext uri="{FF2B5EF4-FFF2-40B4-BE49-F238E27FC236}">
                <a16:creationId xmlns:a16="http://schemas.microsoft.com/office/drawing/2014/main" id="{DD75BE6C-DA9C-8826-CC0D-8AB26BA2840B}"/>
              </a:ext>
            </a:extLst>
          </p:cNvPr>
          <p:cNvSpPr txBox="1"/>
          <p:nvPr/>
        </p:nvSpPr>
        <p:spPr>
          <a:xfrm>
            <a:off x="8855668" y="109144"/>
            <a:ext cx="2676188"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latin typeface="Liberation Mono"/>
                <a:cs typeface="Segoe UI Semilight" panose="020B0402040204020203" pitchFamily="34" charset="0"/>
              </a:rPr>
              <a:t> found_rows();</a:t>
            </a:r>
          </a:p>
        </p:txBody>
      </p:sp>
      <p:sp>
        <p:nvSpPr>
          <p:cNvPr id="36" name="TextBox 35">
            <a:extLst>
              <a:ext uri="{FF2B5EF4-FFF2-40B4-BE49-F238E27FC236}">
                <a16:creationId xmlns:a16="http://schemas.microsoft.com/office/drawing/2014/main" id="{548F5D27-5FC6-4548-C267-31F40FFEE1F0}"/>
              </a:ext>
            </a:extLst>
          </p:cNvPr>
          <p:cNvSpPr txBox="1"/>
          <p:nvPr/>
        </p:nvSpPr>
        <p:spPr>
          <a:xfrm>
            <a:off x="8951958" y="499319"/>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4564716"/>
      </p:ext>
    </p:extLst>
  </p:cSld>
  <p:clrMapOvr>
    <a:masterClrMapping/>
  </p:clrMapOvr>
  <p:transition/>
</p:sld>
</file>

<file path=ppt/slides/slide8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types of cursor</a:t>
            </a:r>
          </a:p>
        </p:txBody>
      </p:sp>
    </p:spTree>
    <p:extLst>
      <p:ext uri="{BB962C8B-B14F-4D97-AF65-F5344CB8AC3E}">
        <p14:creationId xmlns:p14="http://schemas.microsoft.com/office/powerpoint/2010/main" val="936191092"/>
      </p:ext>
    </p:extLst>
  </p:cSld>
  <p:clrMapOvr>
    <a:masterClrMapping/>
  </p:clrMapOvr>
  <p:transition/>
</p:sld>
</file>

<file path=ppt/slides/slide8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implicit cursors &amp; explicit cursors</a:t>
            </a:r>
          </a:p>
          <a:p>
            <a:pPr algn="r"/>
            <a:r>
              <a:rPr lang="en-IN" sz="3200" i="1" dirty="0">
                <a:solidFill>
                  <a:srgbClr val="FF9900"/>
                </a:solidFill>
                <a:latin typeface="Arial" pitchFamily="34" charset="0"/>
                <a:cs typeface="Arial" pitchFamily="34" charset="0"/>
              </a:rPr>
              <a:t> </a:t>
            </a:r>
          </a:p>
        </p:txBody>
      </p:sp>
      <p:sp>
        <p:nvSpPr>
          <p:cNvPr id="3" name="TextBox 2">
            <a:extLst>
              <a:ext uri="{FF2B5EF4-FFF2-40B4-BE49-F238E27FC236}">
                <a16:creationId xmlns:a16="http://schemas.microsoft.com/office/drawing/2014/main" id="{FBC84E13-FC3C-5709-D3EF-CF5A0E6E3D3E}"/>
              </a:ext>
            </a:extLst>
          </p:cNvPr>
          <p:cNvSpPr txBox="1"/>
          <p:nvPr/>
        </p:nvSpPr>
        <p:spPr>
          <a:xfrm>
            <a:off x="335360" y="620688"/>
            <a:ext cx="11665296" cy="5324535"/>
          </a:xfrm>
          <a:prstGeom prst="rect">
            <a:avLst/>
          </a:prstGeom>
          <a:noFill/>
        </p:spPr>
        <p:txBody>
          <a:bodyPr wrap="square">
            <a:spAutoFit/>
          </a:bodyPr>
          <a:lstStyle/>
          <a:p>
            <a:pPr marL="457200" indent="-457200">
              <a:buFont typeface="+mj-lt"/>
              <a:buAutoNum type="arabicPeriod"/>
            </a:pPr>
            <a:r>
              <a:rPr lang="en-US" sz="2000" b="1" i="1" dirty="0">
                <a:latin typeface="Arial" panose="020B0604020202020204" pitchFamily="34" charset="0"/>
                <a:cs typeface="Arial" panose="020B0604020202020204" pitchFamily="34" charset="0"/>
              </a:rPr>
              <a:t>implicit cursor</a:t>
            </a:r>
            <a:r>
              <a:rPr lang="en-US" sz="2000" dirty="0">
                <a:latin typeface="Arial" panose="020B0604020202020204" pitchFamily="34" charset="0"/>
                <a:cs typeface="Arial" panose="020B0604020202020204" pitchFamily="34" charset="0"/>
              </a:rPr>
              <a:t>:- An implicit cursor is </a:t>
            </a:r>
            <a:r>
              <a:rPr lang="en-US" sz="2000" b="1" i="1" u="sng" dirty="0">
                <a:latin typeface="Arial" panose="020B0604020202020204" pitchFamily="34" charset="0"/>
                <a:cs typeface="Arial" panose="020B0604020202020204" pitchFamily="34" charset="0"/>
              </a:rPr>
              <a:t>automatically</a:t>
            </a:r>
            <a:r>
              <a:rPr lang="en-US" sz="2000" dirty="0">
                <a:latin typeface="Arial" panose="020B0604020202020204" pitchFamily="34" charset="0"/>
                <a:cs typeface="Arial" panose="020B0604020202020204" pitchFamily="34" charset="0"/>
              </a:rPr>
              <a:t> created by SQL whenever a </a:t>
            </a:r>
            <a:r>
              <a:rPr lang="en-US" sz="2000" b="1" i="1" dirty="0">
                <a:latin typeface="Arial" panose="020B0604020202020204" pitchFamily="34" charset="0"/>
                <a:cs typeface="Arial" panose="020B0604020202020204" pitchFamily="34" charset="0"/>
              </a:rPr>
              <a:t>SELECT, INSERT, UPDATE</a:t>
            </a:r>
            <a:r>
              <a:rPr lang="en-US" sz="2000" dirty="0">
                <a:latin typeface="Arial" panose="020B0604020202020204" pitchFamily="34" charset="0"/>
                <a:cs typeface="Arial" panose="020B0604020202020204" pitchFamily="34" charset="0"/>
              </a:rPr>
              <a:t>, or </a:t>
            </a:r>
            <a:r>
              <a:rPr lang="en-US" sz="2000" b="1" i="1" dirty="0">
                <a:latin typeface="Arial" panose="020B0604020202020204" pitchFamily="34" charset="0"/>
                <a:cs typeface="Arial" panose="020B0604020202020204" pitchFamily="34" charset="0"/>
              </a:rPr>
              <a:t>DELETE</a:t>
            </a:r>
            <a:r>
              <a:rPr lang="en-US" sz="2000" dirty="0">
                <a:latin typeface="Arial" panose="020B0604020202020204" pitchFamily="34" charset="0"/>
                <a:cs typeface="Arial" panose="020B0604020202020204" pitchFamily="34" charset="0"/>
              </a:rPr>
              <a:t> statement is executed. The database engine handles the cursor's operations without requiring the programmer to declare it or explicitly control its opening, fetching, or closing.</a:t>
            </a: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Typically used for SQL statements that return only one row or a statement that doesn’t need row-by-row processing.</a:t>
            </a:r>
          </a:p>
          <a:p>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Examples: </a:t>
            </a:r>
            <a:r>
              <a:rPr lang="en-US" sz="2000" dirty="0">
                <a:latin typeface="Arial" panose="020B0604020202020204" pitchFamily="34" charset="0"/>
                <a:cs typeface="Arial" panose="020B0604020202020204" pitchFamily="34" charset="0"/>
              </a:rPr>
              <a:t>In MySQL, whenever a single-row query is executed, an implicit cursor is created automatically to fetch that single row. </a:t>
            </a:r>
            <a:r>
              <a:rPr lang="en-US" sz="2000" dirty="0">
                <a:solidFill>
                  <a:srgbClr val="0077AA"/>
                </a:solidFill>
                <a:latin typeface="Liberation Mono"/>
                <a:cs typeface="Arial" panose="020B0604020202020204" pitchFamily="34" charset="0"/>
              </a:rPr>
              <a:t>SELECT</a:t>
            </a:r>
            <a:r>
              <a:rPr lang="en-US" sz="2000" dirty="0">
                <a:latin typeface="Liberation Mono"/>
                <a:cs typeface="Arial" panose="020B0604020202020204" pitchFamily="34" charset="0"/>
              </a:rPr>
              <a:t> ename </a:t>
            </a:r>
            <a:r>
              <a:rPr lang="en-US" sz="2000" dirty="0">
                <a:solidFill>
                  <a:srgbClr val="0077AA"/>
                </a:solidFill>
                <a:latin typeface="Liberation Mono"/>
                <a:cs typeface="Arial" panose="020B0604020202020204" pitchFamily="34" charset="0"/>
              </a:rPr>
              <a:t>INTO</a:t>
            </a:r>
            <a:r>
              <a:rPr lang="en-US" sz="2000" dirty="0">
                <a:latin typeface="Liberation Mono"/>
                <a:cs typeface="Arial" panose="020B0604020202020204" pitchFamily="34" charset="0"/>
              </a:rPr>
              <a:t> @x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emp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empno </a:t>
            </a:r>
            <a:r>
              <a:rPr lang="en-US" sz="2000" dirty="0">
                <a:solidFill>
                  <a:schemeClr val="accent5">
                    <a:lumMod val="75000"/>
                  </a:schemeClr>
                </a:solidFill>
                <a:latin typeface="Liberation Mono"/>
                <a:cs typeface="Arial" panose="020B0604020202020204" pitchFamily="34" charset="0"/>
              </a:rPr>
              <a:t>=</a:t>
            </a:r>
            <a:r>
              <a:rPr lang="en-US" sz="2000" dirty="0">
                <a:latin typeface="Liberation Mono"/>
                <a:cs typeface="Arial" panose="020B0604020202020204" pitchFamily="34" charset="0"/>
              </a:rPr>
              <a:t> </a:t>
            </a:r>
            <a:r>
              <a:rPr lang="en-US" sz="2000" dirty="0">
                <a:solidFill>
                  <a:srgbClr val="990055"/>
                </a:solidFill>
                <a:latin typeface="Liberation Mono"/>
              </a:rPr>
              <a:t>1</a:t>
            </a:r>
            <a:r>
              <a:rPr lang="en-US" sz="2000" dirty="0">
                <a:latin typeface="Liberation Mono"/>
                <a:cs typeface="Arial" panose="020B0604020202020204" pitchFamily="34" charset="0"/>
              </a:rPr>
              <a:t>;</a:t>
            </a:r>
            <a:endParaRPr lang="en-IN" sz="2000" dirty="0">
              <a:latin typeface="Liberation Mono"/>
              <a:cs typeface="Arial" panose="020B0604020202020204" pitchFamily="34" charset="0"/>
            </a:endParaRP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pPr marL="457200" indent="-457200">
              <a:buFont typeface="+mj-lt"/>
              <a:buAutoNum type="arabicPeriod" startAt="2"/>
            </a:pPr>
            <a:r>
              <a:rPr lang="en-IN" sz="2000" b="1" i="1" dirty="0">
                <a:latin typeface="Arial" panose="020B0604020202020204" pitchFamily="34" charset="0"/>
                <a:cs typeface="Arial" panose="020B0604020202020204" pitchFamily="34" charset="0"/>
              </a:rPr>
              <a:t>explicit cursors</a:t>
            </a:r>
            <a:r>
              <a:rPr lang="en-IN"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An explicit cursor is </a:t>
            </a:r>
            <a:r>
              <a:rPr lang="en-US" sz="2000" b="1" i="1" u="sng" dirty="0">
                <a:latin typeface="Arial" panose="020B0604020202020204" pitchFamily="34" charset="0"/>
                <a:cs typeface="Arial" panose="020B0604020202020204" pitchFamily="34" charset="0"/>
              </a:rPr>
              <a:t>manually</a:t>
            </a:r>
            <a:r>
              <a:rPr lang="en-US" sz="2000" dirty="0">
                <a:latin typeface="Arial" panose="020B0604020202020204" pitchFamily="34" charset="0"/>
                <a:cs typeface="Arial" panose="020B0604020202020204" pitchFamily="34" charset="0"/>
              </a:rPr>
              <a:t> defined to manage one-by-one processing of the records. In order to make use of an explicit cursor, it has to be </a:t>
            </a:r>
            <a:r>
              <a:rPr lang="en-US" sz="2000" b="1" i="1" dirty="0">
                <a:latin typeface="Arial" panose="020B0604020202020204" pitchFamily="34" charset="0"/>
                <a:cs typeface="Arial" panose="020B0604020202020204" pitchFamily="34" charset="0"/>
              </a:rPr>
              <a:t>declared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opened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fetched</a:t>
            </a:r>
            <a:r>
              <a:rPr lang="en-US" sz="2000" dirty="0">
                <a:latin typeface="Arial" panose="020B0604020202020204" pitchFamily="34" charset="0"/>
                <a:cs typeface="Arial" panose="020B0604020202020204" pitchFamily="34" charset="0"/>
              </a:rPr>
              <a:t>, and then at the end </a:t>
            </a:r>
            <a:r>
              <a:rPr lang="en-US" sz="2000" b="1" i="1" dirty="0">
                <a:latin typeface="Arial" panose="020B0604020202020204" pitchFamily="34" charset="0"/>
                <a:cs typeface="Arial" panose="020B0604020202020204" pitchFamily="34" charset="0"/>
              </a:rPr>
              <a:t>closed</a:t>
            </a:r>
            <a:r>
              <a:rPr lang="en-US" sz="2000" dirty="0">
                <a:latin typeface="Arial" panose="020B0604020202020204" pitchFamily="34" charset="0"/>
                <a:cs typeface="Arial" panose="020B0604020202020204" pitchFamily="34" charset="0"/>
              </a:rPr>
              <a:t>. This approach is necessary when dealing with multi-row results that need to be processed individually within a loop.</a:t>
            </a:r>
          </a:p>
          <a:p>
            <a:pPr marL="457200" indent="-457200">
              <a:buFont typeface="+mj-lt"/>
              <a:buAutoNum type="arabicPeriod" startAt="2"/>
            </a:pPr>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Used when multiple rows need to be processed.</a:t>
            </a:r>
          </a:p>
        </p:txBody>
      </p:sp>
    </p:spTree>
    <p:extLst>
      <p:ext uri="{BB962C8B-B14F-4D97-AF65-F5344CB8AC3E}">
        <p14:creationId xmlns:p14="http://schemas.microsoft.com/office/powerpoint/2010/main" val="1511993783"/>
      </p:ext>
    </p:extLst>
  </p:cSld>
  <p:clrMapOvr>
    <a:masterClrMapping/>
  </p:clrMapOvr>
</p:sld>
</file>

<file path=ppt/slides/slide8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5" name="Rectangle 4">
            <a:extLst>
              <a:ext uri="{FF2B5EF4-FFF2-40B4-BE49-F238E27FC236}">
                <a16:creationId xmlns:a16="http://schemas.microsoft.com/office/drawing/2014/main" id="{D7DCC006-7D08-49E2-B8F9-52BCA0813FAD}"/>
              </a:ext>
            </a:extLst>
          </p:cNvPr>
          <p:cNvSpPr/>
          <p:nvPr/>
        </p:nvSpPr>
        <p:spPr>
          <a:xfrm>
            <a:off x="262558" y="620688"/>
            <a:ext cx="11593288" cy="5663089"/>
          </a:xfrm>
          <a:prstGeom prst="rect">
            <a:avLst/>
          </a:prstGeom>
        </p:spPr>
        <p:txBody>
          <a:bodyPr wrap="square">
            <a:spAutoFit/>
          </a:bodyPr>
          <a:lstStyle/>
          <a:p>
            <a:r>
              <a:rPr lang="en-IN" sz="2400" dirty="0">
                <a:solidFill>
                  <a:srgbClr val="FF0000"/>
                </a:solidFill>
                <a:latin typeface="Palatino Linotype" panose="02040502050505030304" pitchFamily="18" charset="0"/>
                <a:cs typeface="Arial" panose="020B0604020202020204" pitchFamily="34" charset="0"/>
              </a:rPr>
              <a:t>STEPS:</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dirty="0">
                <a:solidFill>
                  <a:srgbClr val="0077AA"/>
                </a:solidFill>
                <a:latin typeface="Liberation Mono"/>
              </a:rPr>
              <a:t>DECLARE cursor_name CURSOR FOR select_statement</a:t>
            </a:r>
            <a:endParaRPr lang="en-IN" dirty="0">
              <a:solidFill>
                <a:srgbClr val="0077AA"/>
              </a:solidFill>
              <a:latin typeface="Liberation Mono"/>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declares a cursor and associates it with a SELECT statement that retrieves the rows to be traversed by the cursor. </a:t>
            </a:r>
            <a:r>
              <a:rPr lang="en-US" dirty="0">
                <a:latin typeface="Palatino Linotype" panose="02040502050505030304" pitchFamily="18" charset="0"/>
                <a:cs typeface="Arial" panose="020B0604020202020204" pitchFamily="34" charset="0"/>
              </a:rPr>
              <a:t>The SELECT statement cannot have an INTO clause.</a:t>
            </a:r>
            <a:endParaRPr lang="en-IN" dirty="0">
              <a:latin typeface="Palatino Linotype" panose="02040502050505030304" pitchFamily="18" charset="0"/>
              <a:cs typeface="Arial" panose="020B0604020202020204" pitchFamily="34" charset="0"/>
            </a:endParaRP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OPEN cursor_name</a:t>
            </a:r>
            <a:endParaRPr lang="en-IN" dirty="0">
              <a:solidFill>
                <a:srgbClr val="0077AA"/>
              </a:solidFill>
              <a:latin typeface="Liberation Mono"/>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opens a previously declared cursor.</a:t>
            </a: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FETCH [[NEXT] FROM] cursor_name INTO var_name [, var_name] </a:t>
            </a:r>
            <a:r>
              <a:rPr lang="en-IN" sz="2000" dirty="0">
                <a:solidFill>
                  <a:schemeClr val="bg1">
                    <a:lumMod val="50000"/>
                  </a:schemeClr>
                </a:solidFill>
                <a:latin typeface="Liberation Mono"/>
              </a:rPr>
              <a:t>. . .</a:t>
            </a:r>
            <a:endParaRPr lang="en-IN" dirty="0">
              <a:solidFill>
                <a:schemeClr val="bg1">
                  <a:lumMod val="50000"/>
                </a:schemeClr>
              </a:solidFill>
              <a:latin typeface="Liberation Mono"/>
            </a:endParaRPr>
          </a:p>
          <a:p>
            <a:pPr marL="285750" indent="-285750">
              <a:buFont typeface="Arial" panose="020B0604020202020204" pitchFamily="34" charset="0"/>
              <a:buChar char="•"/>
            </a:pPr>
            <a:endParaRPr lang="en-IN" sz="4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fetches the next row for the SELECT statement associated with the specified cursor (which must be open), and advances the cursor pointer. If a row exists, the fetched columns are stored in the named variables. The number of columns retrieved by the SELECT statement must match the number of output variables specified in the FETCH statement.</a:t>
            </a:r>
          </a:p>
          <a:p>
            <a:pPr marL="261938"/>
            <a:endParaRPr lang="en-IN" sz="8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If no more rows are available, a </a:t>
            </a:r>
            <a:r>
              <a:rPr lang="en-IN" b="1" dirty="0">
                <a:latin typeface="Palatino Linotype" panose="02040502050505030304" pitchFamily="18" charset="0"/>
                <a:cs typeface="Arial" panose="020B0604020202020204" pitchFamily="34" charset="0"/>
              </a:rPr>
              <a:t>No Data condition</a:t>
            </a:r>
            <a:r>
              <a:rPr lang="en-IN" dirty="0">
                <a:latin typeface="Palatino Linotype" panose="02040502050505030304" pitchFamily="18" charset="0"/>
                <a:cs typeface="Arial" panose="020B0604020202020204" pitchFamily="34" charset="0"/>
              </a:rPr>
              <a:t>.</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CLOSE cursor_name</a:t>
            </a:r>
            <a:endParaRPr lang="en-IN" dirty="0">
              <a:solidFill>
                <a:srgbClr val="0077AA"/>
              </a:solidFill>
              <a:latin typeface="Liberation Mono"/>
            </a:endParaRPr>
          </a:p>
          <a:p>
            <a:endParaRPr lang="en-IN" sz="4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closes a previously opened cursor.</a:t>
            </a:r>
            <a:endParaRPr lang="en-IN" dirty="0">
              <a:solidFill>
                <a:schemeClr val="bg1"/>
              </a:solidFill>
              <a:latin typeface="Palatino Linotype" panose="02040502050505030304" pitchFamily="18" charset="0"/>
              <a:cs typeface="Arial" panose="020B0604020202020204" pitchFamily="34" charset="0"/>
            </a:endParaRPr>
          </a:p>
        </p:txBody>
      </p:sp>
      <p:sp>
        <p:nvSpPr>
          <p:cNvPr id="3" name="TextBox 2">
            <a:extLst>
              <a:ext uri="{FF2B5EF4-FFF2-40B4-BE49-F238E27FC236}">
                <a16:creationId xmlns:a16="http://schemas.microsoft.com/office/drawing/2014/main" id="{61AB1FCB-9EB3-30E1-4644-6BB0ABF956D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0930367"/>
      </p:ext>
    </p:extLst>
  </p:cSld>
  <p:clrMapOvr>
    <a:masterClrMapping/>
  </p:clrMapOvr>
</p:sld>
</file>

<file path=ppt/slides/slide8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6AAE254-1EBD-419D-86B0-D26ECDDC8284}"/>
              </a:ext>
            </a:extLst>
          </p:cNvPr>
          <p:cNvSpPr/>
          <p:nvPr/>
        </p:nvSpPr>
        <p:spPr>
          <a:xfrm>
            <a:off x="478800" y="835200"/>
            <a:ext cx="11377264"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endParaRPr lang="en-US"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pPr marL="273050"/>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found_rows();</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6FC0D16B-123D-54E2-0FC9-D019B0E34C4F}"/>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769147476"/>
      </p:ext>
    </p:extLst>
  </p:cSld>
  <p:clrMapOvr>
    <a:masterClrMapping/>
  </p:clrMapOvr>
</p:sld>
</file>

<file path=ppt/slides/slide8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263352" y="711472"/>
            <a:ext cx="11665296"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Q1. Using cursor get all student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551384" y="1173619"/>
            <a:ext cx="11377264" cy="5078313"/>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IF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v_namefirst, v_namelast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v_dob </a:t>
            </a:r>
            <a:r>
              <a:rPr lang="en-US" dirty="0">
                <a:solidFill>
                  <a:srgbClr val="834689"/>
                </a:solidFill>
                <a:latin typeface="Segoe UI Semilight" panose="020B0402040204020203" pitchFamily="34" charset="0"/>
                <a:cs typeface="Segoe UI Semilight" panose="020B0402040204020203" pitchFamily="34" charset="0"/>
              </a:rPr>
              <a:t>DATE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v_emailID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p>
          <a:p>
            <a:r>
              <a:rPr lang="en-US" dirty="0">
                <a:latin typeface="Segoe UI Semilight" panose="020B0402040204020203" pitchFamily="34" charset="0"/>
                <a:cs typeface="Segoe UI Semilight" panose="020B0402040204020203" pitchFamily="34" charset="0"/>
              </a:rPr>
              <a:t>    declare </a:t>
            </a:r>
            <a:r>
              <a:rPr lang="en-US" dirty="0">
                <a:solidFill>
                  <a:srgbClr val="F63122"/>
                </a:solidFill>
                <a:latin typeface="Segoe UI Semilight" panose="020B0402040204020203" pitchFamily="34" charset="0"/>
                <a:cs typeface="Segoe UI Semilight" panose="020B0402040204020203" pitchFamily="34" charset="0"/>
              </a:rPr>
              <a:t>EXIT HANDLER FOR NOT FOUND </a:t>
            </a:r>
            <a:r>
              <a:rPr lang="en-US" dirty="0">
                <a:latin typeface="Segoe UI Semilight" panose="020B04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"No more student found"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FETCH</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dirty="0">
                <a:solidFill>
                  <a:srgbClr val="0077AA"/>
                </a:solidFill>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CLOSE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2" name="TextBox 1">
            <a:extLst>
              <a:ext uri="{FF2B5EF4-FFF2-40B4-BE49-F238E27FC236}">
                <a16:creationId xmlns:a16="http://schemas.microsoft.com/office/drawing/2014/main" id="{BDFEA83A-4DED-80A4-2BDC-DEA9848E91F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063080740"/>
      </p:ext>
    </p:extLst>
  </p:cSld>
  <p:clrMapOvr>
    <a:masterClrMapping/>
  </p:clrMapOvr>
</p:sld>
</file>

<file path=ppt/slides/slide8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483051"/>
            <a:ext cx="11233824" cy="618630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_status,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status, total FROM ord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custid =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40B538A9-8474-4DE9-BFA5-2BAF98F7A07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354D20A8-5B07-C48D-918E-D16BFDC9B6C3}"/>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8343510"/>
      </p:ext>
    </p:extLst>
  </p:cSld>
  <p:clrMapOvr>
    <a:masterClrMapping/>
  </p:clrMapOvr>
</p:sld>
</file>

<file path=ppt/slides/slide8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278060"/>
            <a:ext cx="11233824" cy="646330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_status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customer WHERE custid=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total   FROM ord WHERE custid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_custID  and status= _status;</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BFBE10C-E9A3-4EDE-834C-EE180EE209E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26916352"/>
      </p:ext>
    </p:extLst>
  </p:cSld>
  <p:clrMapOvr>
    <a:masterClrMapping/>
  </p:clrMapOvr>
</p:sld>
</file>

<file path=ppt/slides/slide8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0" y="523221"/>
            <a:ext cx="9649072"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Q2 Write a program to enter studentID and using cursor get his student qualification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795" y="908721"/>
            <a:ext cx="12190412" cy="6001643"/>
          </a:xfrm>
          <a:prstGeom prst="rect">
            <a:avLst/>
          </a:prstGeom>
          <a:noFill/>
        </p:spPr>
        <p:txBody>
          <a:bodyPr wrap="square">
            <a:spAutoFit/>
          </a:bodyPr>
          <a:lstStyle/>
          <a:p>
            <a:r>
              <a:rPr lang="en-US" sz="1600" dirty="0">
                <a:solidFill>
                  <a:srgbClr val="B212AA"/>
                </a:solidFill>
                <a:latin typeface="Segoe UI Semilight" panose="020B0402040204020203" pitchFamily="34" charset="0"/>
                <a:cs typeface="Segoe UI Semilight" panose="020B0402040204020203" pitchFamily="34" charset="0"/>
              </a:rPr>
              <a:t>DROP</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rgbClr val="0077AA"/>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if EXISTS getStudentQualification;</a:t>
            </a:r>
          </a:p>
          <a:p>
            <a:r>
              <a:rPr lang="en-US" sz="1600" dirty="0">
                <a:solidFill>
                  <a:srgbClr val="B212AA"/>
                </a:solidFill>
                <a:latin typeface="Segoe UI Semilight" panose="020B0402040204020203" pitchFamily="34" charset="0"/>
                <a:cs typeface="Segoe UI Semilight" panose="020B0402040204020203" pitchFamily="34" charset="0"/>
              </a:rPr>
              <a:t>CREATE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getStudentQualification(v_ID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b1:</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SELECT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into x </a:t>
            </a:r>
            <a:r>
              <a:rPr lang="en-US" sz="1600" dirty="0">
                <a:solidFill>
                  <a:srgbClr val="0077AA"/>
                </a:solidFill>
                <a:latin typeface="Segoe UI Semilight" panose="020B0402040204020203" pitchFamily="34" charset="0"/>
                <a:cs typeface="Segoe UI Semilight" panose="020B0402040204020203" pitchFamily="34" charset="0"/>
              </a:rPr>
              <a:t>FROM</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student </a:t>
            </a:r>
            <a:r>
              <a:rPr lang="en-US" sz="1600" dirty="0">
                <a:solidFill>
                  <a:srgbClr val="0077AA"/>
                </a:solidFill>
                <a:latin typeface="Segoe UI Semilight" panose="020B0402040204020203" pitchFamily="34" charset="0"/>
                <a:cs typeface="Segoe UI Semilight" panose="020B0402040204020203" pitchFamily="34" charset="0"/>
              </a:rPr>
              <a:t>WHERE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 v_ID;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if x is null then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"Student not found....";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else</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b="1"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b2: </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v_name, v_college, v_university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v_marks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v_year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c1 </a:t>
            </a:r>
            <a:r>
              <a:rPr lang="en-US" sz="1600" dirty="0">
                <a:solidFill>
                  <a:srgbClr val="834689"/>
                </a:solidFill>
                <a:latin typeface="Segoe UI Semilight" panose="020B0402040204020203" pitchFamily="34" charset="0"/>
                <a:cs typeface="Segoe UI Semilight" panose="020B0402040204020203" pitchFamily="34" charset="0"/>
              </a:rPr>
              <a:t>CURSOR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for SELECT name, college, university, marks, year FROM student_qualifications where studentID = x;</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sz="1600" dirty="0">
                <a:solidFill>
                  <a:srgbClr val="F63122"/>
                </a:solidFill>
                <a:latin typeface="Segoe UI Semilight" panose="020B0402040204020203" pitchFamily="34" charset="0"/>
                <a:cs typeface="Segoe UI Semilight" panose="020B0402040204020203" pitchFamily="34" charset="0"/>
              </a:rPr>
              <a:t>EXIT HANDLER FOR NOT FOUND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SELECT </a:t>
            </a:r>
            <a:r>
              <a:rPr lang="en-US" sz="1600" dirty="0">
                <a:solidFill>
                  <a:srgbClr val="669900"/>
                </a:solidFill>
                <a:latin typeface="Segoe UI Semilight" panose="020B0402040204020203" pitchFamily="34" charset="0"/>
                <a:cs typeface="Segoe UI Semilight" panose="020B0402040204020203" pitchFamily="34" charset="0"/>
              </a:rPr>
              <a:t>"Done"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OPEN</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sz="1600" dirty="0">
                <a:solidFill>
                  <a:srgbClr val="0077AA"/>
                </a:solidFill>
                <a:latin typeface="Segoe UI Semilight" panose="020B0402040204020203" pitchFamily="34" charset="0"/>
                <a:cs typeface="Segoe UI Semilight" panose="020B0402040204020203" pitchFamily="34" charset="0"/>
              </a:rPr>
              <a:t>loop</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FETCH</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sz="1600" dirty="0">
                <a:solidFill>
                  <a:srgbClr val="0077AA"/>
                </a:solidFill>
                <a:latin typeface="Segoe UI Semilight" panose="020B0402040204020203" pitchFamily="34" charset="0"/>
                <a:cs typeface="Segoe UI Semilight" panose="020B0402040204020203" pitchFamily="34" charset="0"/>
              </a:rPr>
              <a:t>INTO</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end loop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lbl;</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CLOSE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b2;</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end if;</a:t>
            </a:r>
          </a:p>
          <a:p>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sz="1600"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449B06B-43AC-4CCA-8A25-4325CFD78F7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Tree>
    <p:extLst>
      <p:ext uri="{BB962C8B-B14F-4D97-AF65-F5344CB8AC3E}">
        <p14:creationId xmlns:p14="http://schemas.microsoft.com/office/powerpoint/2010/main" val="1033177663"/>
      </p:ext>
    </p:extLst>
  </p:cSld>
  <p:clrMapOvr>
    <a:masterClrMapping/>
  </p:clrMapOvr>
</p:sld>
</file>

<file path=ppt/slides/slide8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1233824" cy="58785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25</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done </a:t>
            </a:r>
            <a:r>
              <a:rPr lang="en-IN" dirty="0">
                <a:solidFill>
                  <a:srgbClr val="834689"/>
                </a:solidFill>
                <a:latin typeface="Segoe UI Semilight" panose="020B0402040204020203" pitchFamily="34" charset="0"/>
                <a:cs typeface="Segoe UI Semilight" panose="020B0402040204020203" pitchFamily="34" charset="0"/>
              </a:rPr>
              <a:t>TINYINT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FALSE;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varempno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empno, ename FROM emp WHERE job = 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NOT FOUND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 done=true;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 </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varempno, varename;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done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loopLabel;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varempno as "Employee No.", varename as "Employee 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;1.33</a:t>
            </a:r>
          </a:p>
        </p:txBody>
      </p:sp>
    </p:spTree>
    <p:extLst>
      <p:ext uri="{BB962C8B-B14F-4D97-AF65-F5344CB8AC3E}">
        <p14:creationId xmlns:p14="http://schemas.microsoft.com/office/powerpoint/2010/main" val="3845747002"/>
      </p:ext>
    </p:extLst>
  </p:cSld>
  <p:clrMapOvr>
    <a:masterClrMapping/>
  </p:clrMapOvr>
  <p:transition/>
</p:sld>
</file>

<file path=ppt/slides/slide8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048DA7-BF2D-29AE-0B16-087CC3759E79}"/>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54979276-B0EA-5BE0-6497-8A2656CF6A9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0DF05CE1-5480-87C7-AE67-C8670BD76C15}"/>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a:t>
            </a:r>
          </a:p>
        </p:txBody>
      </p:sp>
      <p:sp>
        <p:nvSpPr>
          <p:cNvPr id="4" name="TextBox 3">
            <a:extLst>
              <a:ext uri="{FF2B5EF4-FFF2-40B4-BE49-F238E27FC236}">
                <a16:creationId xmlns:a16="http://schemas.microsoft.com/office/drawing/2014/main" id="{79DE8D82-BC51-23A2-F14B-3809F2788362}"/>
              </a:ext>
            </a:extLst>
          </p:cNvPr>
          <p:cNvSpPr txBox="1"/>
          <p:nvPr/>
        </p:nvSpPr>
        <p:spPr>
          <a:xfrm>
            <a:off x="407368" y="1220886"/>
            <a:ext cx="11449272" cy="480131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SELECT empno FROM e1;</a:t>
            </a:r>
          </a:p>
          <a:p>
            <a:r>
              <a:rPr lang="en-IN" dirty="0">
                <a:latin typeface="Segoe UI Semilight" panose="020B04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HANDLER</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1329 SELECT "done";</a:t>
            </a:r>
          </a:p>
          <a:p>
            <a:r>
              <a:rPr lang="en-IN" dirty="0">
                <a:latin typeface="Segoe UI Semilight" panose="020B0402040204020203" pitchFamily="34" charset="0"/>
                <a:cs typeface="Segoe UI Semilight" panose="020B0402040204020203" pitchFamily="34" charset="0"/>
              </a:rPr>
              <a:t>	DELETE FROM e1;</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cs typeface="Segoe UI Semilight" panose="020B0402040204020203" pitchFamily="34" charset="0"/>
              </a:rPr>
              <a:t> c1;</a:t>
            </a:r>
          </a:p>
          <a:p>
            <a:r>
              <a:rPr lang="en-IN" dirty="0">
                <a:latin typeface="Segoe UI Semilight" panose="020B04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x;</a:t>
            </a:r>
          </a:p>
          <a:p>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SELECT x;</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cs typeface="Segoe UI Semilight" panose="020B0402040204020203" pitchFamily="34" charset="0"/>
              </a:rPr>
              <a:t>lbl;</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cs typeface="Segoe UI Semilight" panose="020B0402040204020203" pitchFamily="34" charset="0"/>
              </a:rPr>
              <a:t> c1;</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07421663"/>
      </p:ext>
    </p:extLst>
  </p:cSld>
  <p:clrMapOvr>
    <a:masterClrMapping/>
  </p:clrMapOvr>
</p:sld>
</file>

<file path=ppt/slides/slide8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09452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p, q, r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 FROM d;</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1329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IN" dirty="0">
                <a:solidFill>
                  <a:srgbClr val="669900"/>
                </a:solidFill>
                <a:latin typeface="Segoe UI Semilight" panose="020B0402040204020203" pitchFamily="34" charset="0"/>
                <a:cs typeface="Segoe UI Semilight" panose="020B0402040204020203" pitchFamily="34" charset="0"/>
              </a:rPr>
              <a:t>"No More data to extract"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as R1;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73050"/>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      SELECT sleep(20);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p, q, r;</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p, q, r;</a:t>
            </a:r>
          </a:p>
          <a:p>
            <a:pPr marL="273050"/>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57160957-32A6-4BAB-94CF-1CBFB3F96C6E}"/>
              </a:ext>
            </a:extLst>
          </p:cNvPr>
          <p:cNvSpPr txBox="1"/>
          <p:nvPr/>
        </p:nvSpPr>
        <p:spPr>
          <a:xfrm>
            <a:off x="4655840" y="5385410"/>
            <a:ext cx="2592288" cy="707886"/>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1</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call pro1();</a:t>
            </a:r>
          </a:p>
        </p:txBody>
      </p:sp>
      <p:sp>
        <p:nvSpPr>
          <p:cNvPr id="8" name="TextBox 7">
            <a:extLst>
              <a:ext uri="{FF2B5EF4-FFF2-40B4-BE49-F238E27FC236}">
                <a16:creationId xmlns:a16="http://schemas.microsoft.com/office/drawing/2014/main" id="{3051BD50-626E-4BD3-AC66-6A9D61787751}"/>
              </a:ext>
            </a:extLst>
          </p:cNvPr>
          <p:cNvSpPr txBox="1"/>
          <p:nvPr/>
        </p:nvSpPr>
        <p:spPr>
          <a:xfrm>
            <a:off x="7236994" y="5385410"/>
            <a:ext cx="4691654" cy="984885"/>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2</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dept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(1,1,1,1);</a:t>
            </a: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commit;</a:t>
            </a:r>
            <a:endParaRPr lang="en-IN" dirty="0">
              <a:solidFill>
                <a:schemeClr val="tx1">
                  <a:lumMod val="85000"/>
                  <a:lumOff val="15000"/>
                </a:schemeClr>
              </a:solidFill>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531540046"/>
      </p:ext>
    </p:extLst>
  </p:cSld>
  <p:clrMapOvr>
    <a:masterClrMapping/>
  </p:clrMapOvr>
  <p:transition/>
</p:sld>
</file>

<file path=ppt/slides/slide8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450976"/>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exception / signal</a:t>
            </a:r>
          </a:p>
        </p:txBody>
      </p:sp>
      <p:sp>
        <p:nvSpPr>
          <p:cNvPr id="4" name="TextBox 3">
            <a:extLst>
              <a:ext uri="{FF2B5EF4-FFF2-40B4-BE49-F238E27FC236}">
                <a16:creationId xmlns:a16="http://schemas.microsoft.com/office/drawing/2014/main" id="{CC6B8EF3-255A-BDA5-7E53-E202E95F99E8}"/>
              </a:ext>
            </a:extLst>
          </p:cNvPr>
          <p:cNvSpPr txBox="1"/>
          <p:nvPr/>
        </p:nvSpPr>
        <p:spPr>
          <a:xfrm>
            <a:off x="263352" y="97755"/>
            <a:ext cx="11737304" cy="2462213"/>
          </a:xfrm>
          <a:prstGeom prst="rect">
            <a:avLst/>
          </a:prstGeom>
          <a:noFill/>
        </p:spPr>
        <p:txBody>
          <a:bodyPr wrap="square">
            <a:spAutoFit/>
          </a:bodyPr>
          <a:lstStyle>
            <a:defPPr>
              <a:defRPr lang="en-US"/>
            </a:defPPr>
            <a:lvl1pPr algn="just">
              <a:defRPr>
                <a:latin typeface="Arial" panose="020B0604020202020204" pitchFamily="34" charset="0"/>
                <a:cs typeface="Arial" panose="020B0604020202020204" pitchFamily="34" charset="0"/>
              </a:defRPr>
            </a:lvl1pPr>
          </a:lstStyle>
          <a:p>
            <a:pPr algn="l"/>
            <a:r>
              <a:rPr lang="en-IN" dirty="0">
                <a:solidFill>
                  <a:schemeClr val="accent6">
                    <a:lumMod val="75000"/>
                  </a:schemeClr>
                </a:solidFill>
              </a:rPr>
              <a:t>The SIGNAL statement in MySQL is used to raise a custom error manually inside a:</a:t>
            </a:r>
          </a:p>
          <a:p>
            <a:endParaRPr lang="en-IN" sz="600" dirty="0">
              <a:solidFill>
                <a:schemeClr val="accent6">
                  <a:lumMod val="75000"/>
                </a:schemeClr>
              </a:solidFill>
            </a:endParaRPr>
          </a:p>
          <a:p>
            <a:pPr marL="342900" indent="-342900">
              <a:lnSpc>
                <a:spcPct val="150000"/>
              </a:lnSpc>
              <a:buFont typeface="+mj-lt"/>
              <a:buAutoNum type="arabicPeriod"/>
            </a:pPr>
            <a:r>
              <a:rPr lang="en-IN" dirty="0">
                <a:solidFill>
                  <a:schemeClr val="accent6">
                    <a:lumMod val="75000"/>
                  </a:schemeClr>
                </a:solidFill>
              </a:rPr>
              <a:t>Stored Procedure</a:t>
            </a:r>
          </a:p>
          <a:p>
            <a:pPr marL="342900" indent="-342900">
              <a:lnSpc>
                <a:spcPct val="150000"/>
              </a:lnSpc>
              <a:buFont typeface="+mj-lt"/>
              <a:buAutoNum type="arabicPeriod"/>
            </a:pPr>
            <a:r>
              <a:rPr lang="en-IN" dirty="0">
                <a:solidFill>
                  <a:schemeClr val="accent6">
                    <a:lumMod val="75000"/>
                  </a:schemeClr>
                </a:solidFill>
              </a:rPr>
              <a:t>Function</a:t>
            </a:r>
          </a:p>
          <a:p>
            <a:pPr marL="342900" indent="-342900">
              <a:lnSpc>
                <a:spcPct val="150000"/>
              </a:lnSpc>
              <a:buFont typeface="+mj-lt"/>
              <a:buAutoNum type="arabicPeriod"/>
            </a:pPr>
            <a:r>
              <a:rPr lang="en-IN" dirty="0">
                <a:solidFill>
                  <a:schemeClr val="accent6">
                    <a:lumMod val="75000"/>
                  </a:schemeClr>
                </a:solidFill>
              </a:rPr>
              <a:t>Trigger</a:t>
            </a:r>
          </a:p>
          <a:p>
            <a:endParaRPr lang="en-IN" sz="800" dirty="0">
              <a:solidFill>
                <a:schemeClr val="accent6">
                  <a:lumMod val="75000"/>
                </a:schemeClr>
              </a:solidFill>
            </a:endParaRPr>
          </a:p>
          <a:p>
            <a:r>
              <a:rPr lang="en-IN" b="1" dirty="0">
                <a:solidFill>
                  <a:schemeClr val="accent6">
                    <a:lumMod val="75000"/>
                  </a:schemeClr>
                </a:solidFill>
              </a:rPr>
              <a:t>It’s useful for enforcing custom business rules, validations, or stopping execution with meaningful error messages.</a:t>
            </a:r>
          </a:p>
        </p:txBody>
      </p:sp>
    </p:spTree>
    <p:extLst>
      <p:ext uri="{BB962C8B-B14F-4D97-AF65-F5344CB8AC3E}">
        <p14:creationId xmlns:p14="http://schemas.microsoft.com/office/powerpoint/2010/main" val="3663969365"/>
      </p:ext>
    </p:extLst>
  </p:cSld>
  <p:clrMapOvr>
    <a:masterClrMapping/>
  </p:clrMapOvr>
  <p:transition/>
</p:sld>
</file>

<file path=ppt/slides/slide8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exception / signal </a:t>
            </a:r>
          </a:p>
        </p:txBody>
      </p:sp>
      <p:sp>
        <p:nvSpPr>
          <p:cNvPr id="8" name="Rectangle 7"/>
          <p:cNvSpPr/>
          <p:nvPr/>
        </p:nvSpPr>
        <p:spPr>
          <a:xfrm>
            <a:off x="478800" y="835200"/>
            <a:ext cx="11233824" cy="541686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myException CONDITION FOR SQLSTATE '45000';</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1146 SELECT 'table not found';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1064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IN"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 = 10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'ok';</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SIGNAL myException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'bad';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582746930"/>
      </p:ext>
    </p:extLst>
  </p:cSld>
  <p:clrMapOvr>
    <a:masterClrMapping/>
  </p:clrMapOvr>
  <p:transition/>
</p:sld>
</file>

<file path=ppt/slides/slide8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functions</a:t>
            </a:r>
          </a:p>
        </p:txBody>
      </p:sp>
      <p:sp>
        <p:nvSpPr>
          <p:cNvPr id="4" name="Rectangle 3"/>
          <p:cNvSpPr/>
          <p:nvPr/>
        </p:nvSpPr>
        <p:spPr>
          <a:xfrm>
            <a:off x="498746" y="3103660"/>
            <a:ext cx="11377264" cy="707886"/>
          </a:xfrm>
          <a:prstGeom prst="rect">
            <a:avLst/>
          </a:prstGeom>
          <a:noFill/>
        </p:spPr>
        <p:txBody>
          <a:bodyPr wrap="square">
            <a:spAutoFit/>
          </a:bodyPr>
          <a:lstStyle/>
          <a:p>
            <a:pPr algn="just"/>
            <a:r>
              <a:rPr lang="en-IN" dirty="0">
                <a:latin typeface="Arial" panose="020B0604020202020204" pitchFamily="34" charset="0"/>
                <a:cs typeface="Arial" panose="020B0604020202020204" pitchFamily="34" charset="0"/>
              </a:rPr>
              <a:t>The </a:t>
            </a:r>
            <a:r>
              <a:rPr lang="en-IN" sz="2000" dirty="0">
                <a:latin typeface="Arial" panose="020B0604020202020204" pitchFamily="34" charset="0"/>
                <a:cs typeface="Arial" panose="020B0604020202020204" pitchFamily="34" charset="0"/>
              </a:rPr>
              <a:t>RETURNS</a:t>
            </a:r>
            <a:r>
              <a:rPr lang="en-IN" sz="1600"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 may be specified </a:t>
            </a:r>
            <a:r>
              <a:rPr lang="en-IN" i="1" dirty="0">
                <a:latin typeface="Arial" panose="020B0604020202020204" pitchFamily="34" charset="0"/>
                <a:cs typeface="Arial" panose="020B0604020202020204" pitchFamily="34" charset="0"/>
              </a:rPr>
              <a:t>only for a FUNCTION</a:t>
            </a:r>
            <a:r>
              <a:rPr lang="en-IN" dirty="0">
                <a:latin typeface="Arial" panose="020B0604020202020204" pitchFamily="34" charset="0"/>
                <a:cs typeface="Arial" panose="020B0604020202020204" pitchFamily="34" charset="0"/>
              </a:rPr>
              <a:t>, for which it is mandatory. It indicates the return type of the function, and the function body must contain a </a:t>
            </a:r>
            <a:r>
              <a:rPr lang="en-IN" sz="2000" dirty="0">
                <a:latin typeface="Arial" panose="020B0604020202020204" pitchFamily="34" charset="0"/>
                <a:cs typeface="Arial" panose="020B0604020202020204" pitchFamily="34" charset="0"/>
              </a:rPr>
              <a:t>RETURN</a:t>
            </a:r>
            <a:r>
              <a:rPr lang="en-IN" dirty="0">
                <a:latin typeface="Arial" panose="020B0604020202020204" pitchFamily="34" charset="0"/>
                <a:cs typeface="Arial" panose="020B0604020202020204" pitchFamily="34" charset="0"/>
              </a:rPr>
              <a:t> value statement.</a:t>
            </a:r>
          </a:p>
        </p:txBody>
      </p:sp>
      <p:sp>
        <p:nvSpPr>
          <p:cNvPr id="6" name="Rectangle 5"/>
          <p:cNvSpPr/>
          <p:nvPr/>
        </p:nvSpPr>
        <p:spPr>
          <a:xfrm>
            <a:off x="6384032" y="1158114"/>
            <a:ext cx="5929354" cy="400110"/>
          </a:xfrm>
          <a:prstGeom prst="rect">
            <a:avLst/>
          </a:prstGeom>
        </p:spPr>
        <p:txBody>
          <a:bodyPr wrap="square">
            <a:spAutoFit/>
          </a:bodyPr>
          <a:lstStyle/>
          <a:p>
            <a:r>
              <a:rPr lang="en-US" sz="2000" dirty="0">
                <a:solidFill>
                  <a:schemeClr val="accent2">
                    <a:lumMod val="50000"/>
                  </a:schemeClr>
                </a:solidFill>
              </a:rPr>
              <a:t>SET GLOBAL log_bin_trust_function_creators = 1;</a:t>
            </a:r>
          </a:p>
        </p:txBody>
      </p:sp>
      <p:sp>
        <p:nvSpPr>
          <p:cNvPr id="10" name="TextBox 9">
            <a:extLst>
              <a:ext uri="{FF2B5EF4-FFF2-40B4-BE49-F238E27FC236}">
                <a16:creationId xmlns:a16="http://schemas.microsoft.com/office/drawing/2014/main" id="{0A8DBDF6-3BA6-41CD-9D0F-E7CED0CD30F7}"/>
              </a:ext>
            </a:extLst>
          </p:cNvPr>
          <p:cNvSpPr txBox="1"/>
          <p:nvPr/>
        </p:nvSpPr>
        <p:spPr>
          <a:xfrm>
            <a:off x="159697" y="147568"/>
            <a:ext cx="11814640" cy="923330"/>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A DETERMINISTIC function always returns the same result for the same input parameters whereas a non-deterministic function returns different results for the same input parameters. If you don’t use DETERMINISTIC or NOT DETERMINISTIC , MySQL uses the NOT DETERMINISTIC option by default.</a:t>
            </a:r>
          </a:p>
        </p:txBody>
      </p:sp>
      <p:sp>
        <p:nvSpPr>
          <p:cNvPr id="3" name="Rectangle 2">
            <a:extLst>
              <a:ext uri="{FF2B5EF4-FFF2-40B4-BE49-F238E27FC236}">
                <a16:creationId xmlns:a16="http://schemas.microsoft.com/office/drawing/2014/main" id="{0ECBE775-9B7B-4CD6-A93D-28C68374C2E2}"/>
              </a:ext>
            </a:extLst>
          </p:cNvPr>
          <p:cNvSpPr/>
          <p:nvPr/>
        </p:nvSpPr>
        <p:spPr>
          <a:xfrm>
            <a:off x="258024" y="4509120"/>
            <a:ext cx="11617986" cy="2215991"/>
          </a:xfrm>
          <a:prstGeom prst="rect">
            <a:avLst/>
          </a:prstGeom>
          <a:no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By default, all parameters are IN parameters.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specify IN, OUT or INOUT modifiers to the parameters.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use CURSORS in user-defined function (UDF).</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cannot use prepared statements inside a user-defined function (UDF).</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45071376"/>
      </p:ext>
    </p:extLst>
  </p:cSld>
  <p:clrMapOvr>
    <a:masterClrMapping/>
  </p:clrMapOvr>
</p:sld>
</file>

<file path=ppt/slides/slide8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99356" y="692696"/>
            <a:ext cx="11576654" cy="338554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  </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r>
              <a:rPr lang="en-IN" dirty="0">
                <a:solidFill>
                  <a:srgbClr val="FF0000"/>
                </a:solidFill>
                <a:latin typeface="Arial" panose="020B0604020202020204" pitchFamily="34" charset="0"/>
                <a:cs typeface="Arial" panose="020B0604020202020204" pitchFamily="34" charset="0"/>
              </a:rPr>
              <a:t>       e.g</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db1</a:t>
            </a:r>
            <a:r>
              <a:rPr lang="en-IN" dirty="0">
                <a:latin typeface="Arial" panose="020B0604020202020204" pitchFamily="34" charset="0"/>
                <a:cs typeface="Arial" panose="020B0604020202020204" pitchFamily="34" charset="0"/>
              </a:rPr>
              <a:t>.</a:t>
            </a:r>
            <a:r>
              <a:rPr lang="en-IN" dirty="0">
                <a:solidFill>
                  <a:srgbClr val="C00000"/>
                </a:solidFill>
                <a:latin typeface="Arial" panose="020B0604020202020204" pitchFamily="34" charset="0"/>
                <a:cs typeface="Arial" panose="020B0604020202020204" pitchFamily="34" charset="0"/>
              </a:rPr>
              <a:t>length();</a:t>
            </a:r>
            <a:endParaRPr lang="en-US"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1415 (0A000): Not allowed to return a result set from a function</a:t>
            </a:r>
          </a:p>
          <a:p>
            <a:pPr lvl="1"/>
            <a:r>
              <a:rPr lang="en-IN" dirty="0">
                <a:solidFill>
                  <a:srgbClr val="FF0000"/>
                </a:solidFill>
                <a:latin typeface="Arial" panose="020B0604020202020204" pitchFamily="34" charset="0"/>
                <a:cs typeface="Arial" panose="020B0604020202020204" pitchFamily="34" charset="0"/>
              </a:rPr>
              <a:t>e.g</a:t>
            </a:r>
            <a:r>
              <a:rPr lang="en-IN" dirty="0">
                <a:latin typeface="Arial" panose="020B0604020202020204" pitchFamily="34" charset="0"/>
                <a:cs typeface="Arial" panose="020B0604020202020204" pitchFamily="34" charset="0"/>
              </a:rPr>
              <a:t>. </a:t>
            </a: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"Hello World"</a:t>
            </a:r>
            <a:r>
              <a:rPr lang="en-IN" dirty="0">
                <a:latin typeface="Arial" panose="020B0604020202020204" pitchFamily="34" charset="0"/>
                <a:cs typeface="Arial" panose="020B0604020202020204" pitchFamily="34" charset="0"/>
              </a:rPr>
              <a:t>;                 </a:t>
            </a:r>
            <a:r>
              <a:rPr lang="en-IN" dirty="0">
                <a:solidFill>
                  <a:srgbClr val="92D050"/>
                </a:solidFill>
                <a:latin typeface="Arial" panose="020B0604020202020204" pitchFamily="34" charset="0"/>
                <a:cs typeface="Arial" panose="020B0604020202020204" pitchFamily="34" charset="0"/>
              </a:rPr>
              <a:t>// will not work in FUNCTION</a:t>
            </a:r>
          </a:p>
          <a:p>
            <a:pPr lvl="1"/>
            <a:endParaRPr lang="en-IN" sz="400" dirty="0">
              <a:solidFill>
                <a:srgbClr val="92D050"/>
              </a:solidFill>
              <a:latin typeface="Arial" panose="020B0604020202020204" pitchFamily="34" charset="0"/>
              <a:cs typeface="Arial" panose="020B0604020202020204" pitchFamily="34" charset="0"/>
            </a:endParaRP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"Hello</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World"</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INTO</a:t>
            </a:r>
            <a:r>
              <a:rPr lang="en-IN" dirty="0">
                <a:latin typeface="Arial" panose="020B0604020202020204" pitchFamily="34" charset="0"/>
                <a:cs typeface="Arial" panose="020B0604020202020204" pitchFamily="34" charset="0"/>
              </a:rPr>
              <a:t> x;     </a:t>
            </a:r>
            <a:r>
              <a:rPr lang="en-IN" dirty="0">
                <a:solidFill>
                  <a:srgbClr val="92D050"/>
                </a:solidFill>
                <a:latin typeface="Arial" panose="020B0604020202020204" pitchFamily="34" charset="0"/>
                <a:cs typeface="Arial" panose="020B0604020202020204" pitchFamily="34" charset="0"/>
              </a:rPr>
              <a:t>// will work in FUNCTION</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1336 (0A000) : </a:t>
            </a:r>
            <a:r>
              <a:rPr lang="en-IN" dirty="0">
                <a:solidFill>
                  <a:srgbClr val="C00000"/>
                </a:solidFill>
                <a:latin typeface="Arial" panose="020B0604020202020204" pitchFamily="34" charset="0"/>
                <a:cs typeface="Arial" panose="020B0604020202020204" pitchFamily="34" charset="0"/>
              </a:rPr>
              <a:t>Dynamic</a:t>
            </a:r>
            <a:r>
              <a:rPr lang="en-IN" dirty="0">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SQL</a:t>
            </a:r>
            <a:r>
              <a:rPr lang="en-IN" dirty="0">
                <a:latin typeface="Arial" panose="020B0604020202020204" pitchFamily="34" charset="0"/>
                <a:cs typeface="Arial" panose="020B0604020202020204" pitchFamily="34" charset="0"/>
              </a:rPr>
              <a: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1422 (HY000) : </a:t>
            </a:r>
            <a:r>
              <a:rPr lang="en-IN" dirty="0">
                <a:solidFill>
                  <a:srgbClr val="C00000"/>
                </a:solidFill>
                <a:latin typeface="Arial" panose="020B0604020202020204" pitchFamily="34" charset="0"/>
                <a:cs typeface="Arial" panose="020B0604020202020204" pitchFamily="34" charset="0"/>
              </a:rPr>
              <a:t>EXPLICIT</a:t>
            </a:r>
            <a:r>
              <a:rPr lang="en-IN" dirty="0">
                <a:latin typeface="Arial" panose="020B0604020202020204" pitchFamily="34" charset="0"/>
                <a:cs typeface="Arial" panose="020B0604020202020204" pitchFamily="34" charset="0"/>
              </a:rPr>
              <a:t> or </a:t>
            </a:r>
            <a:r>
              <a:rPr lang="en-IN" dirty="0">
                <a:solidFill>
                  <a:srgbClr val="C00000"/>
                </a:solidFill>
                <a:latin typeface="Arial" panose="020B0604020202020204" pitchFamily="34" charset="0"/>
                <a:cs typeface="Arial" panose="020B0604020202020204" pitchFamily="34" charset="0"/>
              </a:rPr>
              <a:t>IMPLICIT</a:t>
            </a:r>
            <a:r>
              <a:rPr lang="en-IN" dirty="0">
                <a:latin typeface="Arial" panose="020B0604020202020204" pitchFamily="34" charset="0"/>
                <a:cs typeface="Arial" panose="020B0604020202020204" pitchFamily="34" charset="0"/>
              </a:rPr>
              <a:t> commit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p:txBody>
      </p:sp>
      <p:sp>
        <p:nvSpPr>
          <p:cNvPr id="3" name="Rectangle 2">
            <a:extLst>
              <a:ext uri="{FF2B5EF4-FFF2-40B4-BE49-F238E27FC236}">
                <a16:creationId xmlns:a16="http://schemas.microsoft.com/office/drawing/2014/main" id="{DB0D6903-6324-363C-EC08-DF7A9C9465F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a:t>
            </a:r>
          </a:p>
        </p:txBody>
      </p:sp>
    </p:spTree>
    <p:extLst>
      <p:ext uri="{BB962C8B-B14F-4D97-AF65-F5344CB8AC3E}">
        <p14:creationId xmlns:p14="http://schemas.microsoft.com/office/powerpoint/2010/main" val="155520840"/>
      </p:ext>
    </p:extLst>
  </p:cSld>
  <p:clrMapOvr>
    <a:masterClrMapping/>
  </p:clrMapOvr>
</p:sld>
</file>

<file path=ppt/slides/slide8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8800" y="835200"/>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1001;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868013"/>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total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SUM</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total FROM emp WHERE job=para1;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total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79279841"/>
      </p:ext>
    </p:extLst>
  </p:cSld>
  <p:clrMapOvr>
    <a:masterClrMapping/>
  </p:clrMapOvr>
</p:sld>
</file>

<file path=ppt/slides/slide8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9376" y="835200"/>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MAX(deptno) + 1  FROM dept);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F9150500-D075-4434-B795-9ABB4C13BF18}"/>
              </a:ext>
            </a:extLst>
          </p:cNvPr>
          <p:cNvSpPr/>
          <p:nvPr/>
        </p:nvSpPr>
        <p:spPr>
          <a:xfrm>
            <a:off x="479376" y="3663022"/>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CONCAT(UPPER(LEFT(x,1)), SUBSTR(LOWER(x), 2 ));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97255485"/>
      </p:ext>
    </p:extLst>
  </p:cSld>
  <p:clrMapOvr>
    <a:masterClrMapping/>
  </p:clrMapOvr>
</p:sld>
</file>

<file path=ppt/slides/slide8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y, z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 default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cnt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default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CAST(CHAR(FLOOR(65 + RAND() * 27)) as CHAR) INTO y;</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CAST(CHAR(FLOOR( 97 + RAND() * 27)) as CHAR) INTO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CONCAT(x, y,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cnt &gt; 2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cnt := cnt + 1;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US" dirty="0">
                <a:solidFill>
                  <a:srgbClr val="FD8603"/>
                </a:solidFill>
                <a:latin typeface="Segoe UI Semilight" panose="020B0402040204020203" pitchFamily="34" charset="0"/>
                <a:cs typeface="Segoe UI Semilight" panose="020B0402040204020203" pitchFamily="34" charset="0"/>
              </a:rPr>
              <a:t>    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2594162759"/>
      </p:ext>
    </p:extLst>
  </p:cSld>
  <p:clrMapOvr>
    <a:masterClrMapping/>
  </p:clrMapOvr>
</p:sld>
</file>

<file path=ppt/slides/slide8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(xx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50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solidFill>
                <a:srgbClr val="0077AA"/>
              </a:solidFill>
              <a:latin typeface="Segoe UI Semilight" panose="020B0402040204020203" pitchFamily="34" charset="0"/>
              <a:cs typeface="Segoe UI Semilight" panose="020B0402040204020203" pitchFamily="34" charset="0"/>
            </a:endParaRPr>
          </a:p>
          <a:p>
            <a:pPr marL="261938"/>
            <a:r>
              <a:rPr lang="en-US" dirty="0">
                <a:solidFill>
                  <a:srgbClr val="0077AA"/>
                </a:solidFill>
                <a:latin typeface="Segoe UI Semilight" panose="020B04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BOOL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True INTO x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CONCAT(ename, " ", job, " ", sal)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"deptno is not valid";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615445566"/>
      </p:ext>
    </p:extLst>
  </p:cSld>
  <p:clrMapOvr>
    <a:masterClrMapping/>
  </p:clrMapOvr>
</p:sld>
</file>

<file path=ppt/slides/slide8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distinct 'Number present' INTO x FROM t1 WHERE c1 = 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is not null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872744135"/>
      </p:ext>
    </p:extLst>
  </p:cSld>
  <p:clrMapOvr>
    <a:masterClrMapping/>
  </p:clrMapOvr>
</p:sld>
</file>

<file path=ppt/slides/slide8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1944216" cy="369332"/>
          </a:xfrm>
          <a:prstGeom prst="rect">
            <a:avLst/>
          </a:prstGeom>
          <a:noFill/>
        </p:spPr>
        <p:txBody>
          <a:bodyPr wrap="square">
            <a:spAutoFit/>
          </a:bodyPr>
          <a:lstStyle/>
          <a:p>
            <a:r>
              <a:rPr lang="en-IN" dirty="0">
                <a:solidFill>
                  <a:srgbClr val="C00000"/>
                </a:solidFill>
              </a:rPr>
              <a:t>GITA     | G,I,T,A</a:t>
            </a:r>
          </a:p>
        </p:txBody>
      </p:sp>
    </p:spTree>
    <p:extLst>
      <p:ext uri="{BB962C8B-B14F-4D97-AF65-F5344CB8AC3E}">
        <p14:creationId xmlns:p14="http://schemas.microsoft.com/office/powerpoint/2010/main" val="2421746610"/>
      </p:ext>
    </p:extLst>
  </p:cSld>
  <p:clrMapOvr>
    <a:masterClrMapping/>
  </p:clrMapOvr>
</p:sld>
</file>

<file path=ppt/slides/slide8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NOT BETWEEN 48 AND 57 then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6001GITA     | GITA</a:t>
            </a:r>
          </a:p>
        </p:txBody>
      </p:sp>
    </p:spTree>
    <p:extLst>
      <p:ext uri="{BB962C8B-B14F-4D97-AF65-F5344CB8AC3E}">
        <p14:creationId xmlns:p14="http://schemas.microsoft.com/office/powerpoint/2010/main" val="1784364562"/>
      </p:ext>
    </p:extLst>
  </p:cSld>
  <p:clrMapOvr>
    <a:masterClrMapping/>
  </p:clrMapOvr>
</p:sld>
</file>

<file path=ppt/slides/slide8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138792" y="835200"/>
            <a:ext cx="11881320"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ASCII(SUBSTR( x, y, 1 )) NOT BETWEEN 65 AND 90 and  ASCII(SUBSTR( x, y, 1 )) NOT BETWEEN 97 AND  122 then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 z, SUBSTR( x, y, 1 ));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LENGTH(x) then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(SUBSTR(TRIM(z),1, LENGTH(z)));</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GITA6001     | 6001</a:t>
            </a:r>
          </a:p>
        </p:txBody>
      </p:sp>
    </p:spTree>
    <p:extLst>
      <p:ext uri="{BB962C8B-B14F-4D97-AF65-F5344CB8AC3E}">
        <p14:creationId xmlns:p14="http://schemas.microsoft.com/office/powerpoint/2010/main" val="2820884003"/>
      </p:ext>
    </p:extLst>
  </p:cSld>
  <p:clrMapOvr>
    <a:masterClrMapping/>
  </p:clrMapOvr>
</p:sld>
</file>

<file path=ppt/slides/slide8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with cursor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8800" y="835200"/>
            <a:ext cx="11305832"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y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 default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deptno, dname FROM dept ORDER BY deptno DESC;</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1329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x, y;</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concat(x, "  ", y, " ","\n  ", z);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2602056"/>
      </p:ext>
    </p:extLst>
  </p:cSld>
  <p:clrMapOvr>
    <a:masterClrMapping/>
  </p:clrMapOvr>
</p:sld>
</file>

<file path=ppt/slides/slide8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DDL</a:t>
            </a:r>
          </a:p>
        </p:txBody>
      </p:sp>
      <p:sp>
        <p:nvSpPr>
          <p:cNvPr id="6" name="Rectangle 5">
            <a:extLst>
              <a:ext uri="{FF2B5EF4-FFF2-40B4-BE49-F238E27FC236}">
                <a16:creationId xmlns:a16="http://schemas.microsoft.com/office/drawing/2014/main" id="{83BB7B94-80FB-40D9-9578-D7FC4C5D6C39}"/>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#CREATE TABLE temp (col1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6436E620-69BD-4155-898A-F51C2C057C49}"/>
              </a:ext>
            </a:extLst>
          </p:cNvPr>
          <p:cNvSpPr txBox="1"/>
          <p:nvPr/>
        </p:nvSpPr>
        <p:spPr>
          <a:xfrm>
            <a:off x="479376" y="4366265"/>
            <a:ext cx="11303424" cy="430887"/>
          </a:xfrm>
          <a:prstGeom prst="rect">
            <a:avLst/>
          </a:prstGeom>
          <a:solidFill>
            <a:schemeClr val="bg1">
              <a:lumMod val="85000"/>
            </a:schemeClr>
          </a:solidFill>
        </p:spPr>
        <p:txBody>
          <a:bodyPr wrap="square">
            <a:spAutoFit/>
          </a:bodyPr>
          <a:lstStyle/>
          <a:p>
            <a:r>
              <a:rPr lang="en-US" sz="2200" b="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ERROR 1422 (HY000): Explicit or implicit commit is not allowed in stored function or trigger.</a:t>
            </a:r>
            <a:endParaRPr lang="en-IN" sz="2200" b="1" dirty="0"/>
          </a:p>
        </p:txBody>
      </p:sp>
    </p:spTree>
    <p:extLst>
      <p:ext uri="{BB962C8B-B14F-4D97-AF65-F5344CB8AC3E}">
        <p14:creationId xmlns:p14="http://schemas.microsoft.com/office/powerpoint/2010/main" val="1440917904"/>
      </p:ext>
    </p:extLst>
  </p:cSld>
  <p:clrMapOvr>
    <a:masterClrMapping/>
  </p:clrMapOvr>
</p:sld>
</file>

<file path=ppt/slides/slide8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563FE-900E-6F09-7D57-F83C41973AC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D0ADBA9-7C21-7A45-F4CC-3420957CA6C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DML</a:t>
            </a:r>
          </a:p>
        </p:txBody>
      </p:sp>
      <p:sp>
        <p:nvSpPr>
          <p:cNvPr id="6" name="Rectangle 5">
            <a:extLst>
              <a:ext uri="{FF2B5EF4-FFF2-40B4-BE49-F238E27FC236}">
                <a16:creationId xmlns:a16="http://schemas.microsoft.com/office/drawing/2014/main" id="{1D95A631-6006-380E-2F63-20D4A8A037C1}"/>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INSERT INTO xx VALUES(1,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'saleel'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xx SET c2 =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'sharmin'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xx;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86853558"/>
      </p:ext>
    </p:extLst>
  </p:cSld>
  <p:clrMapOvr>
    <a:masterClrMapping/>
  </p:clrMapOvr>
</p:sld>
</file>

<file path=ppt/slides/slide8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98884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triggers</a:t>
            </a:r>
          </a:p>
        </p:txBody>
      </p:sp>
      <p:sp>
        <p:nvSpPr>
          <p:cNvPr id="6" name="TextBox 5">
            <a:extLst>
              <a:ext uri="{FF2B5EF4-FFF2-40B4-BE49-F238E27FC236}">
                <a16:creationId xmlns:a16="http://schemas.microsoft.com/office/drawing/2014/main" id="{FFB0035A-44FA-4390-A025-9F457B0836DC}"/>
              </a:ext>
            </a:extLst>
          </p:cNvPr>
          <p:cNvSpPr txBox="1"/>
          <p:nvPr/>
        </p:nvSpPr>
        <p:spPr>
          <a:xfrm>
            <a:off x="335360" y="2924944"/>
            <a:ext cx="11629292" cy="1323439"/>
          </a:xfrm>
          <a:prstGeom prst="rect">
            <a:avLst/>
          </a:prstGeom>
          <a:noFill/>
        </p:spPr>
        <p:txBody>
          <a:bodyPr wrap="square">
            <a:spAutoFit/>
          </a:bodyPr>
          <a:lstStyle/>
          <a:p>
            <a:r>
              <a:rPr lang="en-US" sz="2000" b="0" i="0" dirty="0">
                <a:solidFill>
                  <a:srgbClr val="171717"/>
                </a:solidFill>
                <a:effectLst/>
                <a:latin typeface="Palatino Linotype" panose="02040502050505030304" pitchFamily="18" charset="0"/>
              </a:rPr>
              <a:t>A trigger is a special type of stored procedure that automatically runs when an event occurs in the database server. DML triggers run when a user tries to modify data through a data manipulation language (DML) event. DML events are INSERT, UPDATE, or DELETE statements on a TABLE or VIEW.</a:t>
            </a:r>
            <a:endParaRPr lang="en-IN" sz="2000" dirty="0">
              <a:latin typeface="Palatino Linotype" panose="02040502050505030304" pitchFamily="18" charset="0"/>
            </a:endParaRPr>
          </a:p>
        </p:txBody>
      </p:sp>
      <p:sp>
        <p:nvSpPr>
          <p:cNvPr id="8" name="Rectangle 7">
            <a:extLst>
              <a:ext uri="{FF2B5EF4-FFF2-40B4-BE49-F238E27FC236}">
                <a16:creationId xmlns:a16="http://schemas.microsoft.com/office/drawing/2014/main" id="{ECDA4E93-A1B0-4A58-964C-C1AAE3632EB3}"/>
              </a:ext>
            </a:extLst>
          </p:cNvPr>
          <p:cNvSpPr/>
          <p:nvPr/>
        </p:nvSpPr>
        <p:spPr>
          <a:xfrm>
            <a:off x="406574" y="4261698"/>
            <a:ext cx="11377264" cy="2492990"/>
          </a:xfrm>
          <a:prstGeom prst="rect">
            <a:avLst/>
          </a:prstGeom>
          <a:solidFill>
            <a:schemeClr val="bg1"/>
          </a:solid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The trigger is always associated with the table named tbl_name, which must refer to a permanent table.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associate a trigger with a TEMPORARY table or a VIEW.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If you drop a table, any triggers for the table are also dropped.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ERROR 1415 (0A000): Not allowed to return a result set from a trigger.</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possible to define multiple triggers for a given table that have the same trigger event and action time. For example, you can have two BEFORE UPDATE triggers for a table. </a:t>
            </a:r>
            <a:r>
              <a:rPr lang="en-IN" b="1" dirty="0">
                <a:latin typeface="Arial" panose="020B0604020202020204" pitchFamily="34" charset="0"/>
                <a:cs typeface="Arial" panose="020B0604020202020204" pitchFamily="34" charset="0"/>
              </a:rPr>
              <a:t>By default, triggers that have the same trigger event and action time activate in the order they were created.</a:t>
            </a:r>
          </a:p>
        </p:txBody>
      </p:sp>
      <p:sp>
        <p:nvSpPr>
          <p:cNvPr id="7" name="TextBox 6">
            <a:extLst>
              <a:ext uri="{FF2B5EF4-FFF2-40B4-BE49-F238E27FC236}">
                <a16:creationId xmlns:a16="http://schemas.microsoft.com/office/drawing/2014/main" id="{9109F0B2-5C1E-4B43-A5A7-180639AB1DA6}"/>
              </a:ext>
            </a:extLst>
          </p:cNvPr>
          <p:cNvSpPr txBox="1"/>
          <p:nvPr/>
        </p:nvSpPr>
        <p:spPr>
          <a:xfrm>
            <a:off x="119336" y="71333"/>
            <a:ext cx="11414062" cy="2185214"/>
          </a:xfrm>
          <a:prstGeom prst="rect">
            <a:avLst/>
          </a:prstGeom>
          <a:noFill/>
        </p:spPr>
        <p:txBody>
          <a:bodyPr wrap="square">
            <a:spAutoFit/>
          </a:bodyPr>
          <a:lstStyle/>
          <a:p>
            <a:pPr algn="l"/>
            <a:r>
              <a:rPr lang="en-US" b="1" i="0" dirty="0">
                <a:solidFill>
                  <a:srgbClr val="3A3A3A"/>
                </a:solidFill>
                <a:effectLst/>
                <a:latin typeface="Work Sans" panose="020B0604020202020204" pitchFamily="2" charset="0"/>
              </a:rPr>
              <a:t>Triggers are mainly required for the following purposes:</a:t>
            </a:r>
          </a:p>
          <a:p>
            <a:pPr algn="l"/>
            <a:endParaRPr lang="en-US" sz="8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To maintain complex integrity constraints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Auditing table information by recording the changes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Signaling other program actions when changes are made to the table</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Enforcing complex business rules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Preventing invalid transactions</a:t>
            </a:r>
          </a:p>
        </p:txBody>
      </p:sp>
      <p:sp>
        <p:nvSpPr>
          <p:cNvPr id="4" name="TextBox 3">
            <a:extLst>
              <a:ext uri="{FF2B5EF4-FFF2-40B4-BE49-F238E27FC236}">
                <a16:creationId xmlns:a16="http://schemas.microsoft.com/office/drawing/2014/main" id="{452EE37F-CA72-763E-17C9-EDB94FF33AD8}"/>
              </a:ext>
            </a:extLst>
          </p:cNvPr>
          <p:cNvSpPr txBox="1"/>
          <p:nvPr/>
        </p:nvSpPr>
        <p:spPr>
          <a:xfrm>
            <a:off x="9048328" y="106757"/>
            <a:ext cx="3024336" cy="923330"/>
          </a:xfrm>
          <a:prstGeom prst="rect">
            <a:avLst/>
          </a:prstGeom>
          <a:noFill/>
        </p:spPr>
        <p:txBody>
          <a:bodyPr wrap="square">
            <a:spAutoFit/>
          </a:bodyPr>
          <a:lstStyle/>
          <a:p>
            <a:r>
              <a:rPr lang="en-US" i="0" dirty="0">
                <a:solidFill>
                  <a:srgbClr val="C00000"/>
                </a:solidFill>
                <a:effectLst/>
                <a:latin typeface="Open Sans" panose="020B0606030504020204" pitchFamily="34" charset="0"/>
              </a:rPr>
              <a:t>Triggers activate only for changes made to tables by SQL statements.</a:t>
            </a:r>
            <a:endParaRPr lang="en-IN" dirty="0">
              <a:solidFill>
                <a:srgbClr val="C00000"/>
              </a:solidFill>
            </a:endParaRPr>
          </a:p>
        </p:txBody>
      </p:sp>
    </p:spTree>
    <p:extLst>
      <p:ext uri="{BB962C8B-B14F-4D97-AF65-F5344CB8AC3E}">
        <p14:creationId xmlns:p14="http://schemas.microsoft.com/office/powerpoint/2010/main" val="2024117397"/>
      </p:ext>
    </p:extLst>
  </p:cSld>
  <p:clrMapOvr>
    <a:masterClrMapping/>
  </p:clrMapOvr>
</p:sld>
</file>

<file path=ppt/slides/slide8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490690" y="1624732"/>
            <a:ext cx="11005910" cy="2154436"/>
          </a:xfrm>
          <a:prstGeom prst="rect">
            <a:avLst/>
          </a:prstGeom>
          <a:solidFill>
            <a:schemeClr val="bg1"/>
          </a:solidFill>
        </p:spPr>
        <p:txBody>
          <a:bodyPr wrap="square">
            <a:spAutoFit/>
          </a:bodyPr>
          <a:lstStyle/>
          <a:p>
            <a:r>
              <a:rPr lang="en-IN" dirty="0">
                <a:solidFill>
                  <a:srgbClr val="0077AA"/>
                </a:solidFill>
                <a:latin typeface="Liberation Mono"/>
              </a:rPr>
              <a:t>CREATE TRIGGER trigger_name</a:t>
            </a:r>
          </a:p>
          <a:p>
            <a:r>
              <a:rPr lang="en-IN" dirty="0">
                <a:solidFill>
                  <a:srgbClr val="0077AA"/>
                </a:solidFill>
                <a:latin typeface="Liberation Mono"/>
              </a:rPr>
              <a:t>    trigger_time trigger_event</a:t>
            </a:r>
          </a:p>
          <a:p>
            <a:r>
              <a:rPr lang="en-IN" dirty="0">
                <a:solidFill>
                  <a:srgbClr val="0077AA"/>
                </a:solidFill>
                <a:latin typeface="Liberation Mono"/>
              </a:rPr>
              <a:t>    ON tbl_name FOR EACH ROW</a:t>
            </a:r>
          </a:p>
          <a:p>
            <a:r>
              <a:rPr lang="en-IN" dirty="0">
                <a:solidFill>
                  <a:srgbClr val="0077AA"/>
                </a:solidFill>
                <a:latin typeface="Liberation Mono"/>
              </a:rPr>
              <a:t>    trigger_body</a:t>
            </a:r>
          </a:p>
          <a:p>
            <a:endParaRPr lang="en-IN" dirty="0">
              <a:solidFill>
                <a:srgbClr val="0077AA"/>
              </a:solidFill>
              <a:latin typeface="Liberation Mono"/>
            </a:endParaRPr>
          </a:p>
          <a:p>
            <a:r>
              <a:rPr lang="en-IN" dirty="0">
                <a:solidFill>
                  <a:srgbClr val="0077AA"/>
                </a:solidFill>
                <a:latin typeface="Liberation Mono"/>
              </a:rPr>
              <a:t>trigger_time: { BEFORE | AFTER }</a:t>
            </a:r>
          </a:p>
          <a:p>
            <a:endParaRPr lang="en-IN" sz="800" dirty="0">
              <a:solidFill>
                <a:srgbClr val="0077AA"/>
              </a:solidFill>
              <a:latin typeface="Liberation Mono"/>
            </a:endParaRPr>
          </a:p>
          <a:p>
            <a:r>
              <a:rPr lang="en-IN" dirty="0">
                <a:solidFill>
                  <a:srgbClr val="0077AA"/>
                </a:solidFill>
                <a:latin typeface="Liberation Mono"/>
              </a:rPr>
              <a:t>trigger_event: { INSERT | UPDATE | DELETE }</a:t>
            </a:r>
          </a:p>
        </p:txBody>
      </p:sp>
      <p:sp>
        <p:nvSpPr>
          <p:cNvPr id="6" name="Rectangle 5"/>
          <p:cNvSpPr/>
          <p:nvPr/>
        </p:nvSpPr>
        <p:spPr>
          <a:xfrm>
            <a:off x="490690" y="838200"/>
            <a:ext cx="1100591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trigger is always associated with the table named tbl_name, which must refer to a permanent table. </a:t>
            </a:r>
          </a:p>
        </p:txBody>
      </p:sp>
      <p:sp>
        <p:nvSpPr>
          <p:cNvPr id="7" name="Rectangle 6"/>
          <p:cNvSpPr/>
          <p:nvPr/>
        </p:nvSpPr>
        <p:spPr>
          <a:xfrm>
            <a:off x="490690" y="4283804"/>
            <a:ext cx="10819369" cy="369332"/>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SHOW CREATE TRIGGER </a:t>
            </a:r>
            <a:r>
              <a:rPr lang="en-IN" dirty="0">
                <a:latin typeface="Liberation Mono"/>
              </a:rPr>
              <a:t>trigger_name</a:t>
            </a:r>
          </a:p>
        </p:txBody>
      </p:sp>
      <p:sp>
        <p:nvSpPr>
          <p:cNvPr id="2" name="Rectangle 1"/>
          <p:cNvSpPr/>
          <p:nvPr/>
        </p:nvSpPr>
        <p:spPr>
          <a:xfrm>
            <a:off x="490690" y="5117122"/>
            <a:ext cx="6981957" cy="400110"/>
          </a:xfrm>
          <a:prstGeom prst="rect">
            <a:avLst/>
          </a:prstGeom>
          <a:solidFill>
            <a:srgbClr val="DC525C"/>
          </a:solidFill>
        </p:spPr>
        <p:txBody>
          <a:bodyPr wrap="square">
            <a:spAutoFit/>
          </a:bodyPr>
          <a:lstStyle/>
          <a:p>
            <a:r>
              <a:rPr lang="en-IN" sz="2000" dirty="0">
                <a:solidFill>
                  <a:srgbClr val="FFC000"/>
                </a:solidFill>
                <a:latin typeface="Arial" panose="020B0604020202020204" pitchFamily="34" charset="0"/>
                <a:cs typeface="Arial" panose="020B0604020202020204" pitchFamily="34" charset="0"/>
              </a:rPr>
              <a:t>DESC INFORMATION_SCHEMA.TRIGGERS</a:t>
            </a:r>
          </a:p>
        </p:txBody>
      </p:sp>
    </p:spTree>
    <p:extLst>
      <p:ext uri="{BB962C8B-B14F-4D97-AF65-F5344CB8AC3E}">
        <p14:creationId xmlns:p14="http://schemas.microsoft.com/office/powerpoint/2010/main" val="1888187217"/>
      </p:ext>
    </p:extLst>
  </p:cSld>
  <p:clrMapOvr>
    <a:masterClrMapping/>
  </p:clrMapOvr>
</p:sld>
</file>

<file path=ppt/slides/slide8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07368" y="992917"/>
            <a:ext cx="11377264" cy="4524315"/>
          </a:xfrm>
          <a:prstGeom prst="rect">
            <a:avLst/>
          </a:prstGeom>
          <a:solidFill>
            <a:schemeClr val="bg1"/>
          </a:solidFill>
        </p:spPr>
        <p:txBody>
          <a:bodyPr wrap="square">
            <a:spAutoFit/>
          </a:bodyPr>
          <a:lstStyle/>
          <a:p>
            <a:pPr algn="just"/>
            <a:r>
              <a:rPr lang="en-IN" dirty="0">
                <a:latin typeface="Palatino Linotype" panose="02040502050505030304" pitchFamily="18" charset="0"/>
                <a:cs typeface="Arial" panose="020B0604020202020204" pitchFamily="34" charset="0"/>
              </a:rPr>
              <a:t>You put the trigger name after the CREATE TRIGGER statement. The trigger name should follow the naming convention [trigger time]_[table name]_[trigger event], for example before_employees_update.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Trigger activation time can be BEFORE or AFTER. You must specify the activation time when you define a trigger. You use the BEFORE keyword if you want to process action prior to the change is made on the table and AFTER if you need to process action after the change is made.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The trigger event can be INSERT, UPDATE or DELETE. This event causes the trigger to be invoked. A trigger only can be invoked by one event. To define a trigger that is invoked by multiple events, you have to define multiple triggers, one for each event.</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A trigger must be associated with a specific table. Without a table trigger would not exist therefore you have to specify the table name after the ON keyword.</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You place the SQL statements between BEGIN and END block. This is where you define the logic for the trigger.</a:t>
            </a:r>
          </a:p>
        </p:txBody>
      </p:sp>
    </p:spTree>
    <p:extLst>
      <p:ext uri="{BB962C8B-B14F-4D97-AF65-F5344CB8AC3E}">
        <p14:creationId xmlns:p14="http://schemas.microsoft.com/office/powerpoint/2010/main" val="3421966015"/>
      </p:ext>
    </p:extLst>
  </p:cSld>
  <p:clrMapOvr>
    <a:masterClrMapping/>
  </p:clrMapOvr>
</p:sld>
</file>

<file path=ppt/slides/slide8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trigger_time  and  trigger_event ?</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982469"/>
            <a:ext cx="11449272" cy="646331"/>
          </a:xfrm>
          <a:prstGeom prst="rect">
            <a:avLst/>
          </a:prstGeom>
        </p:spPr>
        <p:txBody>
          <a:bodyPr wrap="square">
            <a:spAutoFit/>
          </a:bodyPr>
          <a:lstStyle/>
          <a:p>
            <a:pPr algn="just"/>
            <a:r>
              <a:rPr lang="en-US" b="1" dirty="0">
                <a:latin typeface="Palatino Linotype" panose="02040502050505030304" pitchFamily="18" charset="0"/>
                <a:cs typeface="Arial" panose="020B0604020202020204" pitchFamily="34" charset="0"/>
              </a:rPr>
              <a:t>trigger_time</a:t>
            </a:r>
            <a:r>
              <a:rPr lang="en-US" dirty="0">
                <a:latin typeface="Palatino Linotype" panose="02040502050505030304" pitchFamily="18" charset="0"/>
                <a:cs typeface="Arial" panose="020B0604020202020204" pitchFamily="34" charset="0"/>
              </a:rPr>
              <a:t> : trigger_time is the trigger action time. It can be </a:t>
            </a:r>
            <a:r>
              <a:rPr lang="en-US" b="1" dirty="0">
                <a:latin typeface="Palatino Linotype" panose="02040502050505030304" pitchFamily="18" charset="0"/>
                <a:cs typeface="Arial" panose="020B0604020202020204" pitchFamily="34" charset="0"/>
              </a:rPr>
              <a:t>BEFORE</a:t>
            </a:r>
            <a:r>
              <a:rPr lang="en-US" dirty="0">
                <a:latin typeface="Palatino Linotype" panose="02040502050505030304" pitchFamily="18" charset="0"/>
                <a:cs typeface="Arial" panose="020B0604020202020204" pitchFamily="34" charset="0"/>
              </a:rPr>
              <a:t> or </a:t>
            </a:r>
            <a:r>
              <a:rPr lang="en-US" b="1" dirty="0">
                <a:latin typeface="Palatino Linotype" panose="02040502050505030304" pitchFamily="18" charset="0"/>
                <a:cs typeface="Arial" panose="020B0604020202020204" pitchFamily="34" charset="0"/>
              </a:rPr>
              <a:t>AFTER</a:t>
            </a:r>
            <a:r>
              <a:rPr lang="en-US" dirty="0">
                <a:latin typeface="Palatino Linotype" panose="02040502050505030304" pitchFamily="18" charset="0"/>
                <a:cs typeface="Arial" panose="020B0604020202020204" pitchFamily="34" charset="0"/>
              </a:rPr>
              <a:t> to indicate that the trigger activates before or after each row to be modified.</a:t>
            </a:r>
          </a:p>
        </p:txBody>
      </p:sp>
      <p:sp>
        <p:nvSpPr>
          <p:cNvPr id="6" name="Rectangle 5"/>
          <p:cNvSpPr/>
          <p:nvPr/>
        </p:nvSpPr>
        <p:spPr>
          <a:xfrm>
            <a:off x="407368" y="1916832"/>
            <a:ext cx="11449272" cy="369332"/>
          </a:xfrm>
          <a:prstGeom prst="rect">
            <a:avLst/>
          </a:prstGeom>
        </p:spPr>
        <p:txBody>
          <a:bodyPr wrap="square">
            <a:spAutoFit/>
          </a:bodyPr>
          <a:lstStyle/>
          <a:p>
            <a:r>
              <a:rPr lang="en-US" b="1" dirty="0">
                <a:latin typeface="Palatino Linotype" panose="02040502050505030304" pitchFamily="18" charset="0"/>
                <a:cs typeface="Arial" panose="020B0604020202020204" pitchFamily="34" charset="0"/>
              </a:rPr>
              <a:t>trigger_event</a:t>
            </a:r>
            <a:r>
              <a:rPr lang="en-US" dirty="0">
                <a:latin typeface="Palatino Linotype" panose="02040502050505030304" pitchFamily="18" charset="0"/>
                <a:cs typeface="Arial" panose="020B0604020202020204" pitchFamily="34" charset="0"/>
              </a:rPr>
              <a:t> : trigger_event indicates the kind of operation that activates the trigger.</a:t>
            </a:r>
          </a:p>
        </p:txBody>
      </p:sp>
      <p:sp>
        <p:nvSpPr>
          <p:cNvPr id="2" name="Rectangle 1">
            <a:extLst>
              <a:ext uri="{FF2B5EF4-FFF2-40B4-BE49-F238E27FC236}">
                <a16:creationId xmlns:a16="http://schemas.microsoft.com/office/drawing/2014/main" id="{8B8A6DB7-8E54-4182-9E74-0791D0F68CDA}"/>
              </a:ext>
            </a:extLst>
          </p:cNvPr>
          <p:cNvSpPr/>
          <p:nvPr/>
        </p:nvSpPr>
        <p:spPr>
          <a:xfrm>
            <a:off x="463972" y="4797152"/>
            <a:ext cx="11103842" cy="141577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TABLE and TRUNCATE TABLE statements on the table do not activate this trigger, because they do not use DELETE.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Dropping a partition does not activate DELETE triggers, either.</a:t>
            </a:r>
          </a:p>
        </p:txBody>
      </p:sp>
      <p:sp>
        <p:nvSpPr>
          <p:cNvPr id="9" name="Rectangle 8">
            <a:extLst>
              <a:ext uri="{FF2B5EF4-FFF2-40B4-BE49-F238E27FC236}">
                <a16:creationId xmlns:a16="http://schemas.microsoft.com/office/drawing/2014/main" id="{3AD3FAF4-D22C-4669-90CE-B70FFE3947F9}"/>
              </a:ext>
            </a:extLst>
          </p:cNvPr>
          <p:cNvSpPr/>
          <p:nvPr/>
        </p:nvSpPr>
        <p:spPr>
          <a:xfrm>
            <a:off x="478582" y="2636912"/>
            <a:ext cx="11089232" cy="1785104"/>
          </a:xfrm>
          <a:prstGeom prst="rect">
            <a:avLst/>
          </a:prstGeom>
        </p:spPr>
        <p:txBody>
          <a:bodyPr wrap="square">
            <a:spAutoFit/>
          </a:bodyPr>
          <a:lstStyle/>
          <a:p>
            <a:pPr algn="just"/>
            <a:r>
              <a:rPr lang="en-IN" b="1" dirty="0">
                <a:latin typeface="Palatino Linotype" panose="02040502050505030304" pitchFamily="18" charset="0"/>
                <a:cs typeface="Arial" panose="020B0604020202020204" pitchFamily="34" charset="0"/>
              </a:rPr>
              <a:t>INSERT</a:t>
            </a:r>
            <a:r>
              <a:rPr lang="en-IN" dirty="0">
                <a:latin typeface="Palatino Linotype" panose="02040502050505030304" pitchFamily="18" charset="0"/>
                <a:cs typeface="Arial" panose="020B0604020202020204" pitchFamily="34" charset="0"/>
              </a:rPr>
              <a:t>: The trigger activates whenever a new row is inserted into the table; for example</a:t>
            </a:r>
            <a:r>
              <a:rPr lang="en-IN" b="1" dirty="0">
                <a:latin typeface="Palatino Linotype" panose="02040502050505030304" pitchFamily="18" charset="0"/>
                <a:cs typeface="Arial" panose="020B0604020202020204" pitchFamily="34" charset="0"/>
              </a:rPr>
              <a:t>, through INSERT statements.</a:t>
            </a:r>
          </a:p>
          <a:p>
            <a:pPr algn="just"/>
            <a:endParaRPr lang="en-IN" sz="1000"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UPDATE</a:t>
            </a:r>
            <a:r>
              <a:rPr lang="en-IN" dirty="0">
                <a:latin typeface="Palatino Linotype" panose="02040502050505030304" pitchFamily="18" charset="0"/>
                <a:cs typeface="Arial" panose="020B0604020202020204" pitchFamily="34" charset="0"/>
              </a:rPr>
              <a:t>: The trigger activates whenever a row is modified; for example, </a:t>
            </a:r>
            <a:r>
              <a:rPr lang="en-IN" b="1" dirty="0">
                <a:latin typeface="Palatino Linotype" panose="02040502050505030304" pitchFamily="18" charset="0"/>
                <a:cs typeface="Arial" panose="020B0604020202020204" pitchFamily="34" charset="0"/>
              </a:rPr>
              <a:t>through UPDATE statements.</a:t>
            </a:r>
          </a:p>
          <a:p>
            <a:pPr algn="just"/>
            <a:endParaRPr lang="en-IN" sz="1000" b="1"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DELETE</a:t>
            </a:r>
            <a:r>
              <a:rPr lang="en-IN" dirty="0">
                <a:latin typeface="Palatino Linotype" panose="02040502050505030304" pitchFamily="18" charset="0"/>
                <a:cs typeface="Arial" panose="020B0604020202020204" pitchFamily="34" charset="0"/>
              </a:rPr>
              <a:t>: The trigger activates whenever a row is deleted from the table; for example, </a:t>
            </a:r>
            <a:r>
              <a:rPr lang="en-IN" b="1" dirty="0">
                <a:latin typeface="Palatino Linotype" panose="02040502050505030304" pitchFamily="18" charset="0"/>
                <a:cs typeface="Arial" panose="020B0604020202020204" pitchFamily="34" charset="0"/>
              </a:rPr>
              <a:t>through DELETE and REPLACE statements.</a:t>
            </a:r>
            <a:r>
              <a:rPr lang="en-IN" dirty="0">
                <a:latin typeface="Palatino Linotype" panose="02040502050505030304" pitchFamily="18" charset="0"/>
                <a:cs typeface="Arial" panose="020B0604020202020204" pitchFamily="34" charset="0"/>
              </a:rPr>
              <a:t> </a:t>
            </a:r>
          </a:p>
        </p:txBody>
      </p:sp>
    </p:spTree>
    <p:extLst>
      <p:ext uri="{BB962C8B-B14F-4D97-AF65-F5344CB8AC3E}">
        <p14:creationId xmlns:p14="http://schemas.microsoft.com/office/powerpoint/2010/main" val="2722119115"/>
      </p:ext>
    </p:extLst>
  </p:cSld>
  <p:clrMapOvr>
    <a:masterClrMapping/>
  </p:clrMapOvr>
</p:sld>
</file>

<file path=ppt/slides/slide8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before and after</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90601"/>
            <a:ext cx="11521280" cy="2585323"/>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If a BEFORE trigger fails, the operation on the corresponding row is not performed.</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 BEFORE trigger is activated by the attempt to insert or modify the row or delete the row, regardless of whether the attempt subsequently succeeds.</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AFTER trigger is executed only if any BEFORE triggers and the row operation execute successfully.</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error during either a BEFORE or AFTER trigger results in failure of the entire statement that caused trigger invocation.</a:t>
            </a:r>
          </a:p>
        </p:txBody>
      </p:sp>
      <p:graphicFrame>
        <p:nvGraphicFramePr>
          <p:cNvPr id="6" name="Table 5">
            <a:extLst>
              <a:ext uri="{FF2B5EF4-FFF2-40B4-BE49-F238E27FC236}">
                <a16:creationId xmlns:a16="http://schemas.microsoft.com/office/drawing/2014/main" id="{DE8A6575-ECCC-A896-F8AF-5C9B4376B98B}"/>
              </a:ext>
            </a:extLst>
          </p:cNvPr>
          <p:cNvGraphicFramePr>
            <a:graphicFrameLocks noGrp="1"/>
          </p:cNvGraphicFramePr>
          <p:nvPr>
            <p:extLst>
              <p:ext uri="{D42A27DB-BD31-4B8C-83A1-F6EECF244321}">
                <p14:modId xmlns:p14="http://schemas.microsoft.com/office/powerpoint/2010/main" val="1601286406"/>
              </p:ext>
            </p:extLst>
          </p:nvPr>
        </p:nvGraphicFramePr>
        <p:xfrm>
          <a:off x="551384" y="4365104"/>
          <a:ext cx="10934199" cy="1752600"/>
        </p:xfrm>
        <a:graphic>
          <a:graphicData uri="http://schemas.openxmlformats.org/drawingml/2006/table">
            <a:tbl>
              <a:tblPr firstRow="1" bandRow="1">
                <a:tableStyleId>{5940675A-B579-460E-94D1-54222C63F5DA}</a:tableStyleId>
              </a:tblPr>
              <a:tblGrid>
                <a:gridCol w="1564327">
                  <a:extLst>
                    <a:ext uri="{9D8B030D-6E8A-4147-A177-3AD203B41FA5}">
                      <a16:colId xmlns:a16="http://schemas.microsoft.com/office/drawing/2014/main" val="1187566563"/>
                    </a:ext>
                  </a:extLst>
                </a:gridCol>
                <a:gridCol w="9369872">
                  <a:extLst>
                    <a:ext uri="{9D8B030D-6E8A-4147-A177-3AD203B41FA5}">
                      <a16:colId xmlns:a16="http://schemas.microsoft.com/office/drawing/2014/main" val="3064139531"/>
                    </a:ext>
                  </a:extLst>
                </a:gridCol>
              </a:tblGrid>
              <a:tr h="370840">
                <a:tc>
                  <a:txBody>
                    <a:bodyPr/>
                    <a:lstStyle/>
                    <a:p>
                      <a:pPr algn="ctr"/>
                      <a:r>
                        <a:rPr lang="en-IN" b="1" dirty="0"/>
                        <a:t>Trigger type </a:t>
                      </a:r>
                    </a:p>
                  </a:txBody>
                  <a:tcPr/>
                </a:tc>
                <a:tc>
                  <a:txBody>
                    <a:bodyPr/>
                    <a:lstStyle/>
                    <a:p>
                      <a:pPr algn="ctr"/>
                      <a:r>
                        <a:rPr lang="en-IN" b="1" dirty="0"/>
                        <a:t>Accessible pseudo-records</a:t>
                      </a:r>
                    </a:p>
                  </a:txBody>
                  <a:tcPr/>
                </a:tc>
                <a:extLst>
                  <a:ext uri="{0D108BD9-81ED-4DB2-BD59-A6C34878D82A}">
                    <a16:rowId xmlns:a16="http://schemas.microsoft.com/office/drawing/2014/main" val="3777813998"/>
                  </a:ext>
                </a:extLst>
              </a:tr>
              <a:tr h="370840">
                <a:tc>
                  <a:txBody>
                    <a:bodyPr/>
                    <a:lstStyle/>
                    <a:p>
                      <a:r>
                        <a:rPr lang="en-IN" dirty="0"/>
                        <a:t>INSERT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NEW: Contains the values of the row being inserted. There is no OLD record.</a:t>
                      </a:r>
                    </a:p>
                  </a:txBody>
                  <a:tcPr/>
                </a:tc>
                <a:extLst>
                  <a:ext uri="{0D108BD9-81ED-4DB2-BD59-A6C34878D82A}">
                    <a16:rowId xmlns:a16="http://schemas.microsoft.com/office/drawing/2014/main" val="3919299743"/>
                  </a:ext>
                </a:extLst>
              </a:tr>
              <a:tr h="370840">
                <a:tc>
                  <a:txBody>
                    <a:bodyPr/>
                    <a:lstStyle/>
                    <a:p>
                      <a:r>
                        <a:rPr lang="en-IN" dirty="0"/>
                        <a:t>UPDATE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OLD: Contains the values of the row before the update.</a:t>
                      </a:r>
                    </a:p>
                    <a:p>
                      <a:r>
                        <a:rPr lang="en-IN" dirty="0"/>
                        <a:t>NEW: Contains the values of the row after the update.</a:t>
                      </a:r>
                    </a:p>
                  </a:txBody>
                  <a:tcPr/>
                </a:tc>
                <a:extLst>
                  <a:ext uri="{0D108BD9-81ED-4DB2-BD59-A6C34878D82A}">
                    <a16:rowId xmlns:a16="http://schemas.microsoft.com/office/drawing/2014/main" val="208905115"/>
                  </a:ext>
                </a:extLst>
              </a:tr>
              <a:tr h="370840">
                <a:tc>
                  <a:txBody>
                    <a:bodyPr/>
                    <a:lstStyle/>
                    <a:p>
                      <a:r>
                        <a:rPr lang="en-IN" dirty="0"/>
                        <a:t>DELETE</a:t>
                      </a:r>
                    </a:p>
                  </a:txBody>
                  <a:tcPr/>
                </a:tc>
                <a:tc>
                  <a:txBody>
                    <a:bodyPr/>
                    <a:lstStyle/>
                    <a:p>
                      <a:r>
                        <a:rPr lang="en-IN" dirty="0"/>
                        <a:t>OLD: Contains the values of the row being deleted. There is no NEW record.</a:t>
                      </a:r>
                    </a:p>
                  </a:txBody>
                  <a:tcPr/>
                </a:tc>
                <a:extLst>
                  <a:ext uri="{0D108BD9-81ED-4DB2-BD59-A6C34878D82A}">
                    <a16:rowId xmlns:a16="http://schemas.microsoft.com/office/drawing/2014/main" val="2692724887"/>
                  </a:ext>
                </a:extLst>
              </a:tr>
            </a:tbl>
          </a:graphicData>
        </a:graphic>
      </p:graphicFrame>
    </p:spTree>
    <p:extLst>
      <p:ext uri="{BB962C8B-B14F-4D97-AF65-F5344CB8AC3E}">
        <p14:creationId xmlns:p14="http://schemas.microsoft.com/office/powerpoint/2010/main" val="3473350734"/>
      </p:ext>
    </p:extLst>
  </p:cSld>
  <p:clrMapOvr>
    <a:masterClrMapping/>
  </p:clrMapOvr>
</p:sld>
</file>

<file path=ppt/slides/slide8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new and old</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838201"/>
            <a:ext cx="11306224" cy="646331"/>
          </a:xfrm>
          <a:prstGeom prst="rect">
            <a:avLst/>
          </a:prstGeom>
        </p:spPr>
        <p:txBody>
          <a:bodyPr wrap="square">
            <a:spAutoFit/>
          </a:bodyPr>
          <a:lstStyle/>
          <a:p>
            <a:pPr algn="just"/>
            <a:r>
              <a:rPr lang="en-IN" dirty="0">
                <a:latin typeface="Palatino Linotype" panose="02040502050505030304" pitchFamily="18" charset="0"/>
                <a:cs typeface="Arial" panose="020B0604020202020204" pitchFamily="34" charset="0"/>
              </a:rPr>
              <a:t>The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keywords enable you to access columns in the rows affected by a trigger.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are MySQL extensions to triggers; they are not case sensitive.</a:t>
            </a:r>
            <a:endParaRPr lang="en-US" dirty="0">
              <a:latin typeface="Palatino Linotype" panose="02040502050505030304" pitchFamily="18" charset="0"/>
              <a:cs typeface="Arial" panose="020B0604020202020204" pitchFamily="34" charset="0"/>
            </a:endParaRPr>
          </a:p>
        </p:txBody>
      </p:sp>
      <p:sp>
        <p:nvSpPr>
          <p:cNvPr id="7" name="Rectangle 6"/>
          <p:cNvSpPr/>
          <p:nvPr/>
        </p:nvSpPr>
        <p:spPr>
          <a:xfrm>
            <a:off x="479376" y="1688069"/>
            <a:ext cx="11305256" cy="707886"/>
          </a:xfrm>
          <a:prstGeom prst="rect">
            <a:avLst/>
          </a:prstGeom>
          <a:noFill/>
        </p:spPr>
        <p:txBody>
          <a:bodyPr wrap="square">
            <a:spAutoFit/>
          </a:bodyPr>
          <a:lstStyle/>
          <a:p>
            <a:r>
              <a:rPr lang="en-IN" sz="2000" dirty="0">
                <a:solidFill>
                  <a:schemeClr val="bg2">
                    <a:lumMod val="50000"/>
                  </a:schemeClr>
                </a:solidFill>
                <a:latin typeface="Palatino Linotype" panose="02040502050505030304" pitchFamily="18" charset="0"/>
                <a:cs typeface="Arial" panose="020B0604020202020204" pitchFamily="34" charset="0"/>
              </a:rPr>
              <a:t>A column named with OLD is read only. In a BEFORE trigger, you can also change its value with SET NEW.col_name = value.</a:t>
            </a:r>
          </a:p>
        </p:txBody>
      </p:sp>
      <p:sp>
        <p:nvSpPr>
          <p:cNvPr id="8" name="Rectangle 7"/>
          <p:cNvSpPr/>
          <p:nvPr/>
        </p:nvSpPr>
        <p:spPr>
          <a:xfrm>
            <a:off x="479376" y="2630270"/>
            <a:ext cx="11305256" cy="1446550"/>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INSERT trigger, only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OLD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 DELETE trigger, only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NEW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UPDATE trigger, you can use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to refer to the columns of a row before it is updated and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to refer to the columns of the row after it is updated.</a:t>
            </a:r>
            <a:endParaRPr lang="en-US" dirty="0">
              <a:latin typeface="Palatino Linotype" panose="02040502050505030304" pitchFamily="18" charset="0"/>
              <a:cs typeface="Arial" panose="020B0604020202020204" pitchFamily="34" charset="0"/>
            </a:endParaRPr>
          </a:p>
        </p:txBody>
      </p:sp>
      <p:sp>
        <p:nvSpPr>
          <p:cNvPr id="2" name="Rectangle 1"/>
          <p:cNvSpPr/>
          <p:nvPr/>
        </p:nvSpPr>
        <p:spPr>
          <a:xfrm>
            <a:off x="479376" y="4419601"/>
            <a:ext cx="11305256" cy="1323439"/>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trigger occurs. This can either be BEFORE or AFTER an INSERT, UPDATE or DELETE. A BEFORE trigger must be used if you need to modify incoming data. An AFTER trigger must be used if you want to reference the new/changed record as a foreign key for a record in another table.</a:t>
            </a:r>
          </a:p>
        </p:txBody>
      </p:sp>
      <p:sp>
        <p:nvSpPr>
          <p:cNvPr id="3" name="Rectangle 2"/>
          <p:cNvSpPr/>
          <p:nvPr/>
        </p:nvSpPr>
        <p:spPr>
          <a:xfrm>
            <a:off x="6803460" y="6085821"/>
            <a:ext cx="4981172" cy="400110"/>
          </a:xfrm>
          <a:prstGeom prst="rect">
            <a:avLst/>
          </a:prstGeom>
        </p:spPr>
        <p:txBody>
          <a:bodyPr wrap="none">
            <a:spAutoFit/>
          </a:bodyPr>
          <a:lstStyle/>
          <a:p>
            <a:r>
              <a:rPr lang="en-IN" sz="2000" b="1" dirty="0">
                <a:solidFill>
                  <a:srgbClr val="0070C0"/>
                </a:solidFill>
              </a:rPr>
              <a:t>A column named with OLD is read only.</a:t>
            </a:r>
          </a:p>
        </p:txBody>
      </p:sp>
    </p:spTree>
    <p:extLst>
      <p:ext uri="{BB962C8B-B14F-4D97-AF65-F5344CB8AC3E}">
        <p14:creationId xmlns:p14="http://schemas.microsoft.com/office/powerpoint/2010/main" val="3252375101"/>
      </p:ext>
    </p:extLst>
  </p:cSld>
  <p:clrMapOvr>
    <a:masterClrMapping/>
  </p:clrMapOvr>
</p:sld>
</file>

<file path=ppt/slides/slide8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NOTE</a:t>
            </a:r>
            <a:endParaRPr lang="en-IN" sz="3200" i="1" dirty="0">
              <a:solidFill>
                <a:srgbClr val="FF9900"/>
              </a:solidFill>
              <a:latin typeface="Arial" pitchFamily="34" charset="0"/>
              <a:cs typeface="Arial" pitchFamily="34" charset="0"/>
            </a:endParaRPr>
          </a:p>
        </p:txBody>
      </p:sp>
      <p:sp>
        <p:nvSpPr>
          <p:cNvPr id="5" name="Rectangle 4"/>
          <p:cNvSpPr/>
          <p:nvPr/>
        </p:nvSpPr>
        <p:spPr>
          <a:xfrm>
            <a:off x="119336" y="838200"/>
            <a:ext cx="12072664"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The trigger cannot use the </a:t>
            </a:r>
            <a:r>
              <a:rPr lang="en-IN" b="1" i="1" dirty="0">
                <a:latin typeface="Palatino Linotype" panose="02040502050505030304" pitchFamily="18" charset="0"/>
                <a:cs typeface="Arial" panose="020B0604020202020204" pitchFamily="34" charset="0"/>
              </a:rPr>
              <a:t>CALL</a:t>
            </a:r>
            <a:r>
              <a:rPr lang="en-IN" dirty="0">
                <a:latin typeface="Palatino Linotype" panose="02040502050505030304" pitchFamily="18" charset="0"/>
                <a:cs typeface="Arial" panose="020B0604020202020204" pitchFamily="34" charset="0"/>
              </a:rPr>
              <a:t> statement to invoke stored procedures that return data to the client or that use dynamic SQL. (Stored procedures are permitted to return data to the trigger through OUT or INOUT parameters.)</a:t>
            </a:r>
            <a:endParaRPr lang="en-US"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342202093"/>
      </p:ext>
    </p:extLst>
  </p:cSld>
  <p:clrMapOvr>
    <a:masterClrMapping/>
  </p:clrMapOvr>
</p:sld>
</file>

<file path=ppt/slides/slide8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FFBD4-54CD-78FF-08FA-C5AA7C66BCA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94BDB87-2AC8-5646-E04A-73F162519AF2}"/>
              </a:ext>
            </a:extLst>
          </p:cNvPr>
          <p:cNvSpPr/>
          <p:nvPr/>
        </p:nvSpPr>
        <p:spPr>
          <a:xfrm>
            <a:off x="1524000" y="1"/>
            <a:ext cx="9144000" cy="584775"/>
          </a:xfrm>
          <a:prstGeom prst="rect">
            <a:avLst/>
          </a:prstGeom>
          <a:noFill/>
        </p:spPr>
        <p:txBody>
          <a:bodyPr wrap="square">
            <a:spAutoFit/>
          </a:bodyPr>
          <a:lstStyle/>
          <a:p>
            <a:pPr algn="r"/>
            <a:r>
              <a:rPr lang="en-US" sz="3200" i="1">
                <a:solidFill>
                  <a:srgbClr val="FF9900"/>
                </a:solidFill>
                <a:latin typeface="Arial" pitchFamily="34" charset="0"/>
                <a:cs typeface="Arial" pitchFamily="34" charset="0"/>
              </a:rPr>
              <a:t>examples </a:t>
            </a:r>
            <a:r>
              <a:rPr lang="en-US" sz="3200" i="1" dirty="0">
                <a:solidFill>
                  <a:srgbClr val="FF9900"/>
                </a:solidFill>
                <a:latin typeface="Arial" pitchFamily="34" charset="0"/>
                <a:cs typeface="Arial" pitchFamily="34" charset="0"/>
              </a:rPr>
              <a:t>of database triggers</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BB19BBB-99D3-033F-2685-55A390CFF6EA}"/>
              </a:ext>
            </a:extLst>
          </p:cNvPr>
          <p:cNvSpPr/>
          <p:nvPr/>
        </p:nvSpPr>
        <p:spPr>
          <a:xfrm>
            <a:off x="407368" y="982469"/>
            <a:ext cx="11449272" cy="4620432"/>
          </a:xfrm>
          <a:prstGeom prst="rect">
            <a:avLst/>
          </a:prstGeom>
        </p:spPr>
        <p:txBody>
          <a:bodyPr wrap="square">
            <a:spAutoFit/>
          </a:bodyPr>
          <a:lstStyle/>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Negative Balance (</a:t>
            </a:r>
            <a:r>
              <a:rPr lang="en-US" dirty="0">
                <a:latin typeface="Palatino Linotype" panose="02040502050505030304" pitchFamily="18" charset="0"/>
              </a:rPr>
              <a:t>If balance &lt; withdrawal amount → reject transaction</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Auto Update Stock (</a:t>
            </a:r>
            <a:r>
              <a:rPr lang="en-US" dirty="0">
                <a:latin typeface="Palatino Linotype" panose="02040502050505030304" pitchFamily="18" charset="0"/>
              </a:rPr>
              <a:t>Update Products.stock = stock - ordered_quantity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Audit Log (</a:t>
            </a:r>
            <a:r>
              <a:rPr lang="en-US" dirty="0">
                <a:latin typeface="Palatino Linotype" panose="02040502050505030304" pitchFamily="18" charset="0"/>
              </a:rPr>
              <a:t>Insert old and new salary into Salary_Audit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Attendance management system (</a:t>
            </a:r>
            <a:r>
              <a:rPr lang="en-US" dirty="0">
                <a:latin typeface="Palatino Linotype" panose="02040502050505030304" pitchFamily="18" charset="0"/>
              </a:rPr>
              <a:t>If attendance &lt; 75% → insert record in Alerts</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Emergency Flag (</a:t>
            </a:r>
            <a:r>
              <a:rPr lang="en-US" dirty="0">
                <a:latin typeface="Palatino Linotype" panose="02040502050505030304" pitchFamily="18" charset="0"/>
              </a:rPr>
              <a:t>If heart_rate &gt; limit → mark as emergency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Fine Calculation (</a:t>
            </a:r>
            <a:r>
              <a:rPr lang="en-US" dirty="0">
                <a:latin typeface="Palatino Linotype" panose="02040502050505030304" pitchFamily="18" charset="0"/>
              </a:rPr>
              <a:t>If return_date &gt; due_date → calculate fine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US" dirty="0">
                <a:latin typeface="Palatino Linotype" panose="02040502050505030304" pitchFamily="18" charset="0"/>
              </a:rPr>
              <a:t>Login System – Failed Attempt Lock (If attempts ≥ 3 → set account_status = 'LOCKED’)</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Duplicate Transactions (</a:t>
            </a:r>
            <a:r>
              <a:rPr lang="en-US" dirty="0">
                <a:latin typeface="Palatino Linotype" panose="02040502050505030304" pitchFamily="18" charset="0"/>
              </a:rPr>
              <a:t>Check if transaction_id already exists → reject</a:t>
            </a:r>
            <a:r>
              <a:rPr lang="en-IN" dirty="0">
                <a:latin typeface="Palatino Linotype" panose="02040502050505030304" pitchFamily="18" charset="0"/>
              </a:rPr>
              <a:t>) // Online Payment System</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Booking System – Seat Availability Control (</a:t>
            </a:r>
            <a:r>
              <a:rPr lang="en-US" dirty="0">
                <a:latin typeface="Palatino Linotype" panose="02040502050505030304" pitchFamily="18" charset="0"/>
              </a:rPr>
              <a:t>Check if available seats &gt; 0</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Prescription History Tracking (</a:t>
            </a:r>
            <a:r>
              <a:rPr lang="en-US" dirty="0">
                <a:latin typeface="Palatino Linotype" panose="02040502050505030304" pitchFamily="18" charset="0"/>
              </a:rPr>
              <a:t>Store old prescription in history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cs typeface="Arial" panose="020B0604020202020204" pitchFamily="34" charset="0"/>
              </a:rPr>
              <a:t>. . . . . . .</a:t>
            </a:r>
          </a:p>
        </p:txBody>
      </p:sp>
    </p:spTree>
    <p:extLst>
      <p:ext uri="{BB962C8B-B14F-4D97-AF65-F5344CB8AC3E}">
        <p14:creationId xmlns:p14="http://schemas.microsoft.com/office/powerpoint/2010/main" val="3378105171"/>
      </p:ext>
    </p:extLst>
  </p:cSld>
  <p:clrMapOvr>
    <a:masterClrMapping/>
  </p:clrMapOvr>
</p:sld>
</file>

<file path=ppt/slides/slide8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591133" y="1881664"/>
            <a:ext cx="11014038" cy="369332"/>
          </a:xfrm>
          <a:prstGeom prst="rect">
            <a:avLst/>
          </a:prstGeom>
          <a:solidFill>
            <a:schemeClr val="bg1"/>
          </a:solidFill>
        </p:spPr>
        <p:txBody>
          <a:bodyPr wrap="square">
            <a:spAutoFit/>
          </a:bodyPr>
          <a:lstStyle/>
          <a:p>
            <a:r>
              <a:rPr lang="en-IN" dirty="0">
                <a:solidFill>
                  <a:srgbClr val="0077AA"/>
                </a:solidFill>
                <a:latin typeface="Liberation Mono"/>
              </a:rPr>
              <a:t>DROP TRIGGER [IF EXISTS] [schema_name.]trigger_name</a:t>
            </a:r>
          </a:p>
        </p:txBody>
      </p:sp>
      <p:sp>
        <p:nvSpPr>
          <p:cNvPr id="6" name="Rectangle 5"/>
          <p:cNvSpPr/>
          <p:nvPr/>
        </p:nvSpPr>
        <p:spPr>
          <a:xfrm>
            <a:off x="496221" y="838201"/>
            <a:ext cx="11203935"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statement drops a trigger. The schema (database) name is optional. If the schema is omitted, the trigger is dropped from the default schema.</a:t>
            </a:r>
            <a:endParaRPr lang="en-US" b="1" dirty="0">
              <a:latin typeface="Arial" panose="020B0604020202020204" pitchFamily="34" charset="0"/>
              <a:cs typeface="Arial" panose="020B0604020202020204" pitchFamily="34" charset="0"/>
            </a:endParaRPr>
          </a:p>
        </p:txBody>
      </p:sp>
      <p:sp>
        <p:nvSpPr>
          <p:cNvPr id="3" name="Rectangle 2"/>
          <p:cNvSpPr/>
          <p:nvPr/>
        </p:nvSpPr>
        <p:spPr>
          <a:xfrm>
            <a:off x="591133" y="2648129"/>
            <a:ext cx="1101403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drop a table, any triggers for the table are also dropped. </a:t>
            </a:r>
          </a:p>
        </p:txBody>
      </p:sp>
      <p:sp>
        <p:nvSpPr>
          <p:cNvPr id="5" name="Rectangle 4"/>
          <p:cNvSpPr/>
          <p:nvPr/>
        </p:nvSpPr>
        <p:spPr>
          <a:xfrm>
            <a:off x="695400" y="3886201"/>
            <a:ext cx="11004756" cy="923330"/>
          </a:xfrm>
          <a:prstGeom prst="rect">
            <a:avLst/>
          </a:prstGeom>
        </p:spPr>
        <p:txBody>
          <a:bodyPr wrap="square">
            <a:spAutoFit/>
          </a:bodyPr>
          <a:lstStyle/>
          <a:p>
            <a:r>
              <a:rPr lang="en-IN" dirty="0"/>
              <a:t>As of MySQL 5.7.2, it is possible to define multiple triggers for a given table that have the same trigger event and action time. For example, you can have two BEFORE UPDATE triggers for a table. By default, triggers that have the same trigger event and action time activate in the order they were created.</a:t>
            </a:r>
          </a:p>
        </p:txBody>
      </p:sp>
    </p:spTree>
    <p:extLst>
      <p:ext uri="{BB962C8B-B14F-4D97-AF65-F5344CB8AC3E}">
        <p14:creationId xmlns:p14="http://schemas.microsoft.com/office/powerpoint/2010/main" val="1574821277"/>
      </p:ext>
    </p:extLst>
  </p:cSld>
  <p:clrMapOvr>
    <a:masterClrMapping/>
  </p:clrMapOvr>
</p:sld>
</file>

<file path=ppt/slides/slide8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Rectangle 7"/>
          <p:cNvSpPr/>
          <p:nvPr/>
        </p:nvSpPr>
        <p:spPr>
          <a:xfrm>
            <a:off x="478800" y="83520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'Hello World';  </a:t>
            </a:r>
            <a:r>
              <a:rPr lang="en-IN" dirty="0">
                <a:solidFill>
                  <a:srgbClr val="92D050"/>
                </a:solidFill>
                <a:latin typeface="Segoe UI Semilight" panose="020B0402040204020203" pitchFamily="34" charset="0"/>
                <a:ea typeface="Segoe UI Symbol" panose="020B0502040204020203" pitchFamily="34" charset="0"/>
                <a:cs typeface="Segoe UI Semilight" panose="020B0402040204020203" pitchFamily="34" charset="0"/>
              </a:rPr>
              <a:t>#error</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2" name="Rectangle 1"/>
          <p:cNvSpPr/>
          <p:nvPr/>
        </p:nvSpPr>
        <p:spPr>
          <a:xfrm>
            <a:off x="623392" y="3429000"/>
            <a:ext cx="8686800" cy="400110"/>
          </a:xfrm>
          <a:prstGeom prst="rect">
            <a:avLst/>
          </a:prstGeom>
        </p:spPr>
        <p:txBody>
          <a:bodyPr wrap="square">
            <a:spAutoFit/>
          </a:bodyPr>
          <a:lstStyle/>
          <a:p>
            <a:r>
              <a:rPr lang="en-IN" sz="2000" dirty="0">
                <a:solidFill>
                  <a:srgbClr val="0070C0"/>
                </a:solidFill>
              </a:rPr>
              <a:t>ERROR 1415 (0A000): Not allowed to return a result set from a trigger</a:t>
            </a:r>
          </a:p>
        </p:txBody>
      </p:sp>
    </p:spTree>
    <p:extLst>
      <p:ext uri="{BB962C8B-B14F-4D97-AF65-F5344CB8AC3E}">
        <p14:creationId xmlns:p14="http://schemas.microsoft.com/office/powerpoint/2010/main" val="196236573"/>
      </p:ext>
    </p:extLst>
  </p:cSld>
  <p:clrMapOvr>
    <a:masterClrMapping/>
  </p:clrMapOvr>
</p:sld>
</file>

<file path=ppt/slides/slide8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677887"/>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UPDATE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OLD.dname, NEW.dname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p:cNvSpPr/>
          <p:nvPr/>
        </p:nvSpPr>
        <p:spPr>
          <a:xfrm>
            <a:off x="478800" y="4761362"/>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DELETE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OLD.deptno, OLD.dname, OLD.loc, OLD.pwd, now(), user()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8" name="Rectangle 7"/>
          <p:cNvSpPr/>
          <p:nvPr/>
        </p:nvSpPr>
        <p:spPr>
          <a:xfrm>
            <a:off x="478800" y="54868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471185523"/>
      </p:ext>
    </p:extLst>
  </p:cSld>
  <p:clrMapOvr>
    <a:masterClrMapping/>
  </p:clrMapOvr>
</p:sld>
</file>

<file path=ppt/slides/slide8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8BF3C017-98D1-42FC-9180-E0A00845CAF3}"/>
              </a:ext>
            </a:extLst>
          </p:cNvPr>
          <p:cNvGrpSpPr/>
          <p:nvPr/>
        </p:nvGrpSpPr>
        <p:grpSpPr>
          <a:xfrm>
            <a:off x="133326" y="1484784"/>
            <a:ext cx="11843244" cy="3416320"/>
            <a:chOff x="133326" y="1474906"/>
            <a:chExt cx="11843244" cy="3416320"/>
          </a:xfrm>
        </p:grpSpPr>
        <p:sp>
          <p:nvSpPr>
            <p:cNvPr id="3" name="Rectangle 2"/>
            <p:cNvSpPr/>
            <p:nvPr/>
          </p:nvSpPr>
          <p:spPr>
            <a:xfrm>
              <a:off x="133326" y="1474906"/>
              <a:ext cx="5746650"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066606" y="1474906"/>
              <a:ext cx="5909964"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71627430"/>
      </p:ext>
    </p:extLst>
  </p:cSld>
  <p:clrMapOvr>
    <a:masterClrMapping/>
  </p:clrMapOvr>
</p:sld>
</file>

<file path=ppt/slides/slide8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54293463-C338-4ED6-BBAC-2AC83CC8E867}"/>
              </a:ext>
            </a:extLst>
          </p:cNvPr>
          <p:cNvGrpSpPr/>
          <p:nvPr/>
        </p:nvGrpSpPr>
        <p:grpSpPr>
          <a:xfrm>
            <a:off x="109292" y="2924944"/>
            <a:ext cx="11963372" cy="2308324"/>
            <a:chOff x="156192" y="1474906"/>
            <a:chExt cx="11916472" cy="2308324"/>
          </a:xfrm>
        </p:grpSpPr>
        <p:sp>
          <p:nvSpPr>
            <p:cNvPr id="3" name="Rectangle 2"/>
            <p:cNvSpPr/>
            <p:nvPr/>
          </p:nvSpPr>
          <p:spPr>
            <a:xfrm>
              <a:off x="156192" y="1474906"/>
              <a:ext cx="610669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192094" y="1474906"/>
              <a:ext cx="588057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44C41F2-17AC-4261-AA8B-0272FE88CC20}"/>
              </a:ext>
            </a:extLst>
          </p:cNvPr>
          <p:cNvSpPr txBox="1"/>
          <p:nvPr/>
        </p:nvSpPr>
        <p:spPr>
          <a:xfrm>
            <a:off x="190224" y="1556792"/>
            <a:ext cx="7345936"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cs typeface="Segoe UI Semilight" panose="020B0402040204020203" pitchFamily="34" charset="0"/>
              </a:rPr>
              <a:t>PRIMARY KEY AUTO_INCREMENT</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IN" sz="8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p:txBody>
      </p:sp>
      <p:sp>
        <p:nvSpPr>
          <p:cNvPr id="5" name="TextBox 9">
            <a:extLst>
              <a:ext uri="{FF2B5EF4-FFF2-40B4-BE49-F238E27FC236}">
                <a16:creationId xmlns:a16="http://schemas.microsoft.com/office/drawing/2014/main" id="{ED6AB609-4DBC-4041-8E45-D7BB642149F7}"/>
              </a:ext>
            </a:extLst>
          </p:cNvPr>
          <p:cNvSpPr txBox="1"/>
          <p:nvPr/>
        </p:nvSpPr>
        <p:spPr>
          <a:xfrm>
            <a:off x="190224"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6" name="TextBox 9">
            <a:extLst>
              <a:ext uri="{FF2B5EF4-FFF2-40B4-BE49-F238E27FC236}">
                <a16:creationId xmlns:a16="http://schemas.microsoft.com/office/drawing/2014/main" id="{AD2A88C9-C9BB-6BBF-E126-09986EDB8DA4}"/>
              </a:ext>
            </a:extLst>
          </p:cNvPr>
          <p:cNvSpPr txBox="1"/>
          <p:nvPr/>
        </p:nvSpPr>
        <p:spPr>
          <a:xfrm>
            <a:off x="6240016"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9ECEDE8D-2800-2345-A00F-132C87399531}"/>
              </a:ext>
            </a:extLst>
          </p:cNvPr>
          <p:cNvSpPr txBox="1"/>
          <p:nvPr/>
        </p:nvSpPr>
        <p:spPr>
          <a:xfrm>
            <a:off x="8579767" y="587041"/>
            <a:ext cx="2088233" cy="338554"/>
          </a:xfrm>
          <a:prstGeom prst="rect">
            <a:avLst/>
          </a:prstGeom>
          <a:noFill/>
        </p:spPr>
        <p:txBody>
          <a:bodyPr wrap="square">
            <a:spAutoFit/>
          </a:bodyPr>
          <a:lstStyle/>
          <a:p>
            <a:r>
              <a:rPr lang="en-IN" sz="1600" dirty="0">
                <a:solidFill>
                  <a:schemeClr val="accent4">
                    <a:lumMod val="50000"/>
                  </a:schemeClr>
                </a:solidFill>
                <a:latin typeface="arial" panose="020B0604020202020204" pitchFamily="34" charset="0"/>
              </a:rPr>
              <a:t>LAST_INSERT_ID()</a:t>
            </a:r>
          </a:p>
        </p:txBody>
      </p:sp>
    </p:spTree>
    <p:extLst>
      <p:ext uri="{BB962C8B-B14F-4D97-AF65-F5344CB8AC3E}">
        <p14:creationId xmlns:p14="http://schemas.microsoft.com/office/powerpoint/2010/main" val="2475900113"/>
      </p:ext>
    </p:extLst>
  </p:cSld>
  <p:clrMapOvr>
    <a:masterClrMapping/>
  </p:clrMapOvr>
</p:sld>
</file>

<file path=ppt/slides/slide8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771E9-3B19-0149-5609-2FA24CD3DEC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75408A2-596A-1F1D-C1DA-16B99B780E1E}"/>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users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user_attempte(user_id) VALUES (NEW.user_id)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 </a:t>
            </a:r>
            <a:r>
              <a:rPr lang="en-US" dirty="0">
                <a:latin typeface="Segoe UI Semilight" panose="020B0402040204020203" pitchFamily="34" charset="0"/>
                <a:cs typeface="Segoe UI Semilight" panose="020B0402040204020203" pitchFamily="34" charset="0"/>
              </a:rPr>
              <a:t>attempte = attempte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23CE278B-87B2-7B13-D250-854C975D3BE9}"/>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E155C57B-FFA8-424B-E24E-B6B31E2137B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9C74835E-2DA7-E7AB-A329-0369F78A7CC6}"/>
              </a:ext>
            </a:extLst>
          </p:cNvPr>
          <p:cNvSpPr txBox="1"/>
          <p:nvPr/>
        </p:nvSpPr>
        <p:spPr>
          <a:xfrm>
            <a:off x="190224" y="4433044"/>
            <a:ext cx="1173842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tr1;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tr1</a:t>
            </a:r>
            <a:r>
              <a:rPr lang="en-IN" dirty="0">
                <a:solidFill>
                  <a:srgbClr val="B212AA"/>
                </a:solidFill>
                <a:latin typeface="Segoe UI Semilight" panose="020B0402040204020203" pitchFamily="34" charset="0"/>
                <a:cs typeface="Segoe UI Semilight" panose="020B0402040204020203" pitchFamily="34" charset="0"/>
              </a:rPr>
              <a:t> BEFORE INSERT ON</a:t>
            </a:r>
            <a:r>
              <a:rPr lang="en-IN" dirty="0">
                <a:latin typeface="Segoe UI Semilight" panose="020B0402040204020203" pitchFamily="34" charset="0"/>
                <a:cs typeface="Segoe UI Semilight" panose="020B0402040204020203" pitchFamily="34" charset="0"/>
              </a:rPr>
              <a:t> product_visit_log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INSERT INTO product_views(product_id) VALUES (NEW.product_id) </a:t>
            </a:r>
            <a:r>
              <a:rPr lang="en-IN"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IN" dirty="0">
                <a:latin typeface="Segoe UI Semilight" panose="020B0402040204020203" pitchFamily="34" charset="0"/>
                <a:cs typeface="Segoe UI Semilight" panose="020B0402040204020203" pitchFamily="34" charset="0"/>
              </a:rPr>
              <a:t> total_views = total_views + 1;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88527F9B-CF7C-B5C2-4804-6EB884FC0187}"/>
              </a:ext>
            </a:extLst>
          </p:cNvPr>
          <p:cNvSpPr txBox="1"/>
          <p:nvPr/>
        </p:nvSpPr>
        <p:spPr>
          <a:xfrm>
            <a:off x="203955" y="3871395"/>
            <a:ext cx="5243972" cy="369332"/>
          </a:xfrm>
          <a:prstGeom prst="rect">
            <a:avLst/>
          </a:prstGeom>
          <a:solidFill>
            <a:schemeClr val="accent3">
              <a:lumMod val="60000"/>
              <a:lumOff val="40000"/>
            </a:schemeClr>
          </a:solidFill>
        </p:spPr>
        <p:txBody>
          <a:bodyPr wrap="square">
            <a:spAutoFit/>
          </a:bodyPr>
          <a:lstStyle>
            <a:defPPr>
              <a:defRPr lang="en-US"/>
            </a:defPPr>
            <a:lvl1pPr>
              <a:defRPr b="1">
                <a:solidFill>
                  <a:schemeClr val="tx1">
                    <a:lumMod val="85000"/>
                    <a:lumOff val="15000"/>
                  </a:schemeClr>
                </a:solidFill>
              </a:defRPr>
            </a:lvl1pPr>
          </a:lstStyle>
          <a:p>
            <a:r>
              <a:rPr lang="en-IN" dirty="0"/>
              <a:t>Use product_views &amp; product_visit_log Tables</a:t>
            </a:r>
          </a:p>
        </p:txBody>
      </p:sp>
      <p:sp>
        <p:nvSpPr>
          <p:cNvPr id="6" name="TextBox 5">
            <a:extLst>
              <a:ext uri="{FF2B5EF4-FFF2-40B4-BE49-F238E27FC236}">
                <a16:creationId xmlns:a16="http://schemas.microsoft.com/office/drawing/2014/main" id="{93F0AB2E-DEBC-C55B-BD20-BC6BA88F50B2}"/>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users &amp; user_attempte Tables</a:t>
            </a:r>
          </a:p>
        </p:txBody>
      </p:sp>
    </p:spTree>
    <p:extLst>
      <p:ext uri="{BB962C8B-B14F-4D97-AF65-F5344CB8AC3E}">
        <p14:creationId xmlns:p14="http://schemas.microsoft.com/office/powerpoint/2010/main" val="200472630"/>
      </p:ext>
    </p:extLst>
  </p:cSld>
  <p:clrMapOvr>
    <a:masterClrMapping/>
  </p:clrMapOvr>
</p:sld>
</file>

<file path=ppt/slides/slide8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AEE01-A725-391E-7FD9-C8295205F60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3AE4A306-7CD0-65BC-208E-3643E22910D0}"/>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a:latin typeface="Segoe UI Semilight" panose="020B0402040204020203" pitchFamily="34" charset="0"/>
                <a:cs typeface="Segoe UI Semilight" panose="020B0402040204020203" pitchFamily="34" charset="0"/>
              </a:rPr>
              <a:t>tr1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tr1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page_logs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page_counter(page_url) VALUES(NEW.page_url)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US" dirty="0">
                <a:latin typeface="Segoe UI Semilight" panose="020B0402040204020203" pitchFamily="34" charset="0"/>
                <a:cs typeface="Segoe UI Semilight" panose="020B0402040204020203" pitchFamily="34" charset="0"/>
              </a:rPr>
              <a:t> visits = visits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a:t>
            </a:r>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14989019-73AD-6FF5-16EE-BEF53E788D9F}"/>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29ED6ECD-7C2E-F65C-6063-5BB85324EA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090DBC-FC2F-4443-5831-6AC02B7E5185}"/>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page_logs &amp; </a:t>
            </a:r>
            <a:r>
              <a:rPr lang="en-IN" b="1" dirty="0" err="1">
                <a:solidFill>
                  <a:schemeClr val="tx1">
                    <a:lumMod val="85000"/>
                    <a:lumOff val="15000"/>
                  </a:schemeClr>
                </a:solidFill>
              </a:rPr>
              <a:t>page_counter</a:t>
            </a:r>
            <a:r>
              <a:rPr lang="en-IN" b="1" dirty="0">
                <a:solidFill>
                  <a:schemeClr val="tx1">
                    <a:lumMod val="85000"/>
                    <a:lumOff val="15000"/>
                  </a:schemeClr>
                </a:solidFill>
              </a:rPr>
              <a:t> Tables</a:t>
            </a:r>
          </a:p>
        </p:txBody>
      </p:sp>
    </p:spTree>
    <p:extLst>
      <p:ext uri="{BB962C8B-B14F-4D97-AF65-F5344CB8AC3E}">
        <p14:creationId xmlns:p14="http://schemas.microsoft.com/office/powerpoint/2010/main" val="2823777765"/>
      </p:ext>
    </p:extLst>
  </p:cSld>
  <p:clrMapOvr>
    <a:masterClrMapping/>
  </p:clrMapOvr>
</p:sld>
</file>

<file path=ppt/slides/slide8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422043"/>
            <a:ext cx="11089232"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a:t>
            </a:r>
            <a:r>
              <a:rPr lang="en-IN" dirty="0">
                <a:solidFill>
                  <a:srgbClr val="B212AA"/>
                </a:solidFill>
                <a:latin typeface="Segoe UI Semilight" panose="020B0402040204020203" pitchFamily="34" charset="0"/>
                <a:cs typeface="Segoe UI Semilight" panose="020B0402040204020203" pitchFamily="34" charset="0"/>
              </a:rPr>
              <a:t>G</a:t>
            </a:r>
            <a:r>
              <a:rPr lang="en-IN" dirty="0">
                <a:solidFill>
                  <a:srgbClr val="0077AA"/>
                </a:solidFill>
                <a:latin typeface="Segoe UI Semilight" panose="020B0402040204020203" pitchFamily="34" charset="0"/>
                <a:cs typeface="Segoe UI Semilight" panose="020B0402040204020203" pitchFamily="34" charset="0"/>
              </a:rPr>
              <a:t>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dump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NEW.id mod 3;</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 0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disk3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2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disk2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1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disk1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57FB6DC8-63C9-47B9-9C7C-0EE641AE7636}"/>
              </a:ext>
            </a:extLst>
          </p:cNvPr>
          <p:cNvSpPr txBox="1"/>
          <p:nvPr/>
        </p:nvSpPr>
        <p:spPr>
          <a:xfrm>
            <a:off x="478800" y="727536"/>
            <a:ext cx="1108923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TABLE IF EXISTS </a:t>
            </a:r>
            <a:r>
              <a:rPr lang="en-IN" dirty="0">
                <a:latin typeface="Segoe UI Semilight" panose="020B0402040204020203" pitchFamily="34" charset="0"/>
                <a:cs typeface="Segoe UI Semilight" panose="020B0402040204020203" pitchFamily="34" charset="0"/>
              </a:rPr>
              <a:t>dump, disk1, disk2, disk3;</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dump(id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primary key auto_increment,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disk1(id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disk2(id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disk3(id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3510713375"/>
      </p:ext>
    </p:extLst>
  </p:cSld>
  <p:clrMapOvr>
    <a:masterClrMapping/>
  </p:clrMapOvr>
</p:sld>
</file>

<file path=ppt/slides/slide8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78800" y="2948684"/>
            <a:ext cx="100320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DATE_FORMAT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'Wednesday'</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585330"/>
            <a:ext cx="100320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  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user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60509063"/>
      </p:ext>
    </p:extLst>
  </p:cSld>
  <p:clrMapOvr>
    <a:masterClrMapping/>
  </p:clrMapOvr>
</p:sld>
</file>

<file path=ppt/slides/slide8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455761"/>
            <a:ext cx="1087320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NEW.dname = </a:t>
            </a:r>
            <a:r>
              <a:rPr lang="en-IN" dirty="0">
                <a:solidFill>
                  <a:srgbClr val="669900"/>
                </a:solidFill>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NEW.dname = </a:t>
            </a:r>
            <a:r>
              <a:rPr lang="en-IN" dirty="0">
                <a:solidFill>
                  <a:srgbClr val="669900"/>
                </a:solidFill>
                <a:latin typeface="Segoe UI Semilight" panose="020B0402040204020203" pitchFamily="34" charset="0"/>
                <a:cs typeface="Segoe UI Semilight" panose="020B0402040204020203" pitchFamily="34" charset="0"/>
              </a:rPr>
              <a:t>'Apple'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'My error message'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3667C4A6-9CA5-463F-907A-8BA24251252E}"/>
              </a:ext>
            </a:extLst>
          </p:cNvPr>
          <p:cNvSpPr/>
          <p:nvPr/>
        </p:nvSpPr>
        <p:spPr>
          <a:xfrm>
            <a:off x="479376" y="414908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17148394"/>
      </p:ext>
    </p:extLst>
  </p:cSld>
  <p:clrMapOvr>
    <a:masterClrMapping/>
  </p:clrMapOvr>
</p:sld>
</file>

<file path=ppt/slides/slide8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3623609"/>
            <a:ext cx="11161240"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&lt;= 0 </a:t>
            </a:r>
            <a:r>
              <a:rPr lang="en-US" dirty="0">
                <a:latin typeface="Segoe UI Semilight" panose="020B0402040204020203" pitchFamily="34" charset="0"/>
                <a:cs typeface="Segoe UI Semilight" panose="020B0402040204020203" pitchFamily="34" charset="0"/>
              </a:rPr>
              <a:t>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 25000;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end</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p:cNvSpPr/>
          <p:nvPr/>
        </p:nvSpPr>
        <p:spPr>
          <a:xfrm>
            <a:off x="5231903" y="4916270"/>
            <a:ext cx="5256585" cy="646331"/>
          </a:xfrm>
          <a:prstGeom prst="rect">
            <a:avLst/>
          </a:prstGeom>
        </p:spPr>
        <p:txBody>
          <a:bodyPr wrap="square">
            <a:spAutoFit/>
          </a:bodyPr>
          <a:lstStyle/>
          <a:p>
            <a:r>
              <a:rPr lang="en-US" dirty="0">
                <a:solidFill>
                  <a:srgbClr val="FF0000"/>
                </a:solidFill>
              </a:rPr>
              <a:t>ERROR 1362 (HY000): Updating of NEW row is not allowed in after trigger</a:t>
            </a:r>
          </a:p>
        </p:txBody>
      </p:sp>
      <p:sp>
        <p:nvSpPr>
          <p:cNvPr id="8" name="Rectangle 7"/>
          <p:cNvSpPr/>
          <p:nvPr/>
        </p:nvSpPr>
        <p:spPr>
          <a:xfrm>
            <a:off x="479376" y="6265275"/>
            <a:ext cx="9577064"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emp (empno,  ename,  sal,  mgr,  deptno) VALUES(1, ‘ abc',   -10000,  7788, 10);</a:t>
            </a:r>
          </a:p>
        </p:txBody>
      </p:sp>
      <p:sp>
        <p:nvSpPr>
          <p:cNvPr id="9" name="Rectangle 8">
            <a:extLst>
              <a:ext uri="{FF2B5EF4-FFF2-40B4-BE49-F238E27FC236}">
                <a16:creationId xmlns:a16="http://schemas.microsoft.com/office/drawing/2014/main" id="{07A1832A-034E-4739-AE64-A9C8C30F83AD}"/>
              </a:ext>
            </a:extLst>
          </p:cNvPr>
          <p:cNvSpPr/>
          <p:nvPr/>
        </p:nvSpPr>
        <p:spPr>
          <a:xfrm>
            <a:off x="479376" y="83520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message_text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092632628"/>
      </p:ext>
    </p:extLst>
  </p:cSld>
  <p:clrMapOvr>
    <a:masterClrMapping/>
  </p:clrMapOvr>
</p:sld>
</file>

<file path=ppt/slides/slide8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605586"/>
            <a:ext cx="1152128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city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.c1 &lt;&gt;  </a:t>
            </a:r>
            <a:r>
              <a:rPr lang="en-IN" dirty="0">
                <a:solidFill>
                  <a:srgbClr val="669900"/>
                </a:solidFill>
                <a:latin typeface="Segoe UI Semilight" panose="020B0402040204020203" pitchFamily="34" charset="0"/>
                <a:cs typeface="Segoe UI Semilight" panose="020B0402040204020203" pitchFamily="34" charset="0"/>
              </a:rPr>
              <a:t>'Pune'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'Invalid city 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30C44DC3-D275-48FE-8DA2-C2054FE74334}"/>
              </a:ext>
            </a:extLst>
          </p:cNvPr>
          <p:cNvSpPr/>
          <p:nvPr/>
        </p:nvSpPr>
        <p:spPr>
          <a:xfrm>
            <a:off x="479376" y="3919118"/>
            <a:ext cx="1152128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NEW.dname = upper</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NEW.dname</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a:extLst>
              <a:ext uri="{FF2B5EF4-FFF2-40B4-BE49-F238E27FC236}">
                <a16:creationId xmlns:a16="http://schemas.microsoft.com/office/drawing/2014/main" id="{5FBEB6CC-5B69-4BBA-AF90-E880A109FB7F}"/>
              </a:ext>
            </a:extLst>
          </p:cNvPr>
          <p:cNvSpPr/>
          <p:nvPr/>
        </p:nvSpPr>
        <p:spPr>
          <a:xfrm>
            <a:off x="767408" y="5965805"/>
            <a:ext cx="4724400"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dept VALUES(2, </a:t>
            </a:r>
            <a:r>
              <a:rPr lang="en-US" dirty="0">
                <a:solidFill>
                  <a:srgbClr val="669900"/>
                </a:solidFill>
                <a:latin typeface="Segoe UI Semilight" panose="020B0402040204020203" pitchFamily="34" charset="0"/>
                <a:cs typeface="Segoe UI Semilight" panose="020B0402040204020203" pitchFamily="34" charset="0"/>
              </a:rPr>
              <a:t>'abc'</a:t>
            </a:r>
            <a:r>
              <a:rPr lang="en-US" dirty="0">
                <a:latin typeface="Liberation Mono"/>
              </a:rPr>
              <a:t>, 2, 2);</a:t>
            </a:r>
          </a:p>
        </p:txBody>
      </p:sp>
    </p:spTree>
    <p:extLst>
      <p:ext uri="{BB962C8B-B14F-4D97-AF65-F5344CB8AC3E}">
        <p14:creationId xmlns:p14="http://schemas.microsoft.com/office/powerpoint/2010/main" val="1092632628"/>
      </p:ext>
    </p:extLst>
  </p:cSld>
  <p:clrMapOvr>
    <a:masterClrMapping/>
  </p:clrMapOvr>
</p:sld>
</file>

<file path=ppt/slides/slide8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3435270"/>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MAX(deptno) + 1 FROM dept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6345288B-F7CC-4554-903D-B6833EF300A9}"/>
              </a:ext>
            </a:extLst>
          </p:cNvPr>
          <p:cNvSpPr txBox="1"/>
          <p:nvPr/>
        </p:nvSpPr>
        <p:spPr>
          <a:xfrm>
            <a:off x="478800" y="605586"/>
            <a:ext cx="100091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0;</a:t>
            </a:r>
          </a:p>
          <a:p>
            <a:pPr marL="273050"/>
            <a:r>
              <a:rPr lang="en-IN" dirty="0">
                <a:latin typeface="Segoe UI Semilight" panose="020B0402040204020203" pitchFamily="34" charset="0"/>
                <a:cs typeface="Segoe UI Semilight" panose="020B0402040204020203" pitchFamily="34" charset="0"/>
              </a:rPr>
              <a:t>    SELECT MAX(id) + 1 INTO x FROM log;</a:t>
            </a:r>
          </a:p>
          <a:p>
            <a:pPr marL="273050"/>
            <a:r>
              <a:rPr lang="en-IN" dirty="0">
                <a:latin typeface="Segoe UI Semilight" panose="020B0402040204020203" pitchFamily="34" charset="0"/>
                <a:cs typeface="Segoe UI Semilight" panose="020B0402040204020203" pitchFamily="34" charset="0"/>
              </a:rPr>
              <a:t>    INSERT INTO log VALUES</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x, </a:t>
            </a:r>
            <a:r>
              <a:rPr lang="en-IN" dirty="0">
                <a:solidFill>
                  <a:srgbClr val="669900"/>
                </a:solidFill>
                <a:latin typeface="Segoe UI Semilight" panose="020B0402040204020203" pitchFamily="34" charset="0"/>
                <a:cs typeface="Segoe UI Semilight" panose="020B0402040204020203" pitchFamily="34" charset="0"/>
              </a:rPr>
              <a:t>'Data inserted'</a:t>
            </a:r>
            <a:r>
              <a:rPr lang="en-IN" dirty="0">
                <a:latin typeface="Segoe UI Semilight" panose="020B0402040204020203" pitchFamily="34" charset="0"/>
                <a:cs typeface="Segoe UI Semilight" panose="020B0402040204020203" pitchFamily="34" charset="0"/>
              </a:rPr>
              <a:t>, curdate(),curtime(), user()</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89554388"/>
      </p:ext>
    </p:extLst>
  </p:cSld>
  <p:clrMapOvr>
    <a:masterClrMapping/>
  </p:clrMapOvr>
</p:sld>
</file>

<file path=ppt/slides/slide8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594" y="3723997"/>
            <a:ext cx="105851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Liberation Mono"/>
              </a:rPr>
              <a:t>tempCustomer</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MAX(CAST(SUBSTR(customerID, 6) </a:t>
            </a:r>
            <a:r>
              <a:rPr lang="en-US" dirty="0">
                <a:latin typeface="Segoe UI Semilight" panose="020B0402040204020203" pitchFamily="34" charset="0"/>
                <a:cs typeface="Segoe UI Semilight" panose="020B0402040204020203" pitchFamily="34" charset="0"/>
              </a:rPr>
              <a:t>AS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signed)) + 1 </a:t>
            </a:r>
            <a:r>
              <a:rPr lang="en-US" dirty="0">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 FR</a:t>
            </a:r>
            <a:r>
              <a:rPr lang="en-US" dirty="0">
                <a:latin typeface="Segoe UI Semilight" panose="020B0402040204020203" pitchFamily="34" charset="0"/>
                <a:cs typeface="Segoe UI Semilight" panose="020B0402040204020203" pitchFamily="34" charset="0"/>
              </a:rPr>
              <a: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 tempCustomer;</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err="1">
                <a:solidFill>
                  <a:schemeClr val="tx1">
                    <a:lumMod val="95000"/>
                    <a:lumOff val="5000"/>
                  </a:schemeClr>
                </a:solidFill>
                <a:latin typeface="Segoe UI Semilight" panose="020B0402040204020203" pitchFamily="34" charset="0"/>
                <a:cs typeface="Segoe UI Semilight" panose="020B0402040204020203" pitchFamily="34" charset="0"/>
              </a:rPr>
              <a:t>NEW.customerID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 concat('Cust-', x);</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9" name="Rectangle 8">
            <a:extLst>
              <a:ext uri="{FF2B5EF4-FFF2-40B4-BE49-F238E27FC236}">
                <a16:creationId xmlns:a16="http://schemas.microsoft.com/office/drawing/2014/main" id="{16C2D93E-389C-479B-B637-C96FB8F04BC8}"/>
              </a:ext>
            </a:extLst>
          </p:cNvPr>
          <p:cNvSpPr/>
          <p:nvPr/>
        </p:nvSpPr>
        <p:spPr>
          <a:xfrm>
            <a:off x="335594" y="332656"/>
            <a:ext cx="3384142"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tempCustomer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customerName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p>
          <a:p>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2409FC44-2E9D-4DF1-9E94-13B80E322985}"/>
              </a:ext>
            </a:extLst>
          </p:cNvPr>
          <p:cNvSpPr txBox="1"/>
          <p:nvPr/>
        </p:nvSpPr>
        <p:spPr>
          <a:xfrm>
            <a:off x="335594" y="1628800"/>
            <a:ext cx="609600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cs typeface="Segoe UI Semilight" panose="020B0402040204020203" pitchFamily="34" charset="0"/>
              </a:rPr>
              <a:t>'Cust-1001'</a:t>
            </a:r>
            <a:r>
              <a:rPr lang="en-IN" dirty="0">
                <a:latin typeface="Liberation Mono"/>
              </a:rPr>
              <a:t>, </a:t>
            </a:r>
            <a:r>
              <a:rPr lang="en-IN" dirty="0">
                <a:solidFill>
                  <a:srgbClr val="669900"/>
                </a:solidFill>
                <a:latin typeface="Liberation Mono"/>
                <a:cs typeface="Segoe UI Semilight" panose="020B0402040204020203" pitchFamily="34" charset="0"/>
              </a:rPr>
              <a:t>'saleel'</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'Cust-2001'</a:t>
            </a:r>
            <a:r>
              <a:rPr lang="en-IN" dirty="0">
                <a:latin typeface="Liberation Mono"/>
              </a:rPr>
              <a:t>, </a:t>
            </a:r>
            <a:r>
              <a:rPr lang="en-IN" dirty="0">
                <a:solidFill>
                  <a:srgbClr val="669900"/>
                </a:solidFill>
                <a:latin typeface="Liberation Mono"/>
                <a:cs typeface="Segoe UI Semilight" panose="020B0402040204020203" pitchFamily="34" charset="0"/>
              </a:rPr>
              <a:t>'sharmin'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'Cust-003'</a:t>
            </a:r>
            <a:r>
              <a:rPr lang="en-IN" dirty="0">
                <a:latin typeface="Liberation Mono"/>
              </a:rPr>
              <a:t>, </a:t>
            </a:r>
            <a:r>
              <a:rPr lang="en-IN" dirty="0">
                <a:solidFill>
                  <a:srgbClr val="669900"/>
                </a:solidFill>
                <a:latin typeface="Liberation Mono"/>
                <a:cs typeface="Segoe UI Semilight" panose="020B0402040204020203" pitchFamily="34" charset="0"/>
              </a:rPr>
              <a:t>'ruhan'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'Cust-0075'</a:t>
            </a:r>
            <a:r>
              <a:rPr lang="en-IN" dirty="0">
                <a:latin typeface="Liberation Mono"/>
              </a:rPr>
              <a:t>, </a:t>
            </a:r>
            <a:r>
              <a:rPr lang="en-IN" dirty="0">
                <a:solidFill>
                  <a:srgbClr val="669900"/>
                </a:solidFill>
                <a:latin typeface="Liberation Mono"/>
                <a:cs typeface="Segoe UI Semilight" panose="020B0402040204020203" pitchFamily="34" charset="0"/>
              </a:rPr>
              <a:t>'sangita'</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'Cust-75'</a:t>
            </a:r>
            <a:r>
              <a:rPr lang="en-IN" dirty="0">
                <a:latin typeface="Liberation Mono"/>
              </a:rPr>
              <a:t>, </a:t>
            </a:r>
            <a:r>
              <a:rPr lang="en-IN" dirty="0">
                <a:solidFill>
                  <a:srgbClr val="669900"/>
                </a:solidFill>
                <a:latin typeface="Liberation Mono"/>
                <a:cs typeface="Segoe UI Semilight" panose="020B0402040204020203" pitchFamily="34" charset="0"/>
              </a:rPr>
              <a:t>'</a:t>
            </a:r>
            <a:r>
              <a:rPr lang="en-IN" dirty="0" err="1">
                <a:solidFill>
                  <a:srgbClr val="669900"/>
                </a:solidFill>
                <a:latin typeface="Liberation Mono"/>
                <a:cs typeface="Segoe UI Semilight" panose="020B0402040204020203" pitchFamily="34" charset="0"/>
              </a:rPr>
              <a:t>bandish</a:t>
            </a:r>
            <a:r>
              <a:rPr lang="en-IN" dirty="0">
                <a:solidFill>
                  <a:srgbClr val="669900"/>
                </a:solidFill>
                <a:latin typeface="Liberation Mono"/>
                <a:cs typeface="Segoe UI Semilight" panose="020B0402040204020203" pitchFamily="34" charset="0"/>
              </a:rPr>
              <a:t>'</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'Cust-5'</a:t>
            </a:r>
            <a:r>
              <a:rPr lang="en-IN" dirty="0">
                <a:latin typeface="Liberation Mono"/>
              </a:rPr>
              <a:t>, </a:t>
            </a:r>
            <a:r>
              <a:rPr lang="en-IN" dirty="0">
                <a:solidFill>
                  <a:srgbClr val="669900"/>
                </a:solidFill>
                <a:latin typeface="Liberation Mono"/>
                <a:cs typeface="Segoe UI Semilight" panose="020B0402040204020203" pitchFamily="34" charset="0"/>
              </a:rPr>
              <a:t>'vrushali'</a:t>
            </a:r>
            <a:r>
              <a:rPr lang="en-IN" dirty="0">
                <a:solidFill>
                  <a:schemeClr val="bg1">
                    <a:lumMod val="50000"/>
                  </a:schemeClr>
                </a:solidFill>
                <a:latin typeface="Liberation Mono"/>
              </a:rPr>
              <a:t>)</a:t>
            </a:r>
            <a:r>
              <a:rPr lang="en-IN" dirty="0">
                <a:latin typeface="Liberation Mono"/>
              </a:rPr>
              <a:t>;</a:t>
            </a:r>
          </a:p>
        </p:txBody>
      </p:sp>
      <p:sp>
        <p:nvSpPr>
          <p:cNvPr id="10" name="Rectangle 9">
            <a:extLst>
              <a:ext uri="{FF2B5EF4-FFF2-40B4-BE49-F238E27FC236}">
                <a16:creationId xmlns:a16="http://schemas.microsoft.com/office/drawing/2014/main" id="{A35C84F3-5942-4FDC-80E3-9D486B6FD5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348789"/>
      </p:ext>
    </p:extLst>
  </p:cSld>
  <p:clrMapOvr>
    <a:masterClrMapping/>
  </p:clrMapOvr>
</p:sld>
</file>

<file path=ppt/slides/slide8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584776"/>
            <a:ext cx="1137726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deptno FROM dept WHERE deptno =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is null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'error’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C882E143-B49B-46DD-BDEE-03ADC4C5798D}"/>
              </a:ext>
            </a:extLst>
          </p:cNvPr>
          <p:cNvSpPr txBox="1"/>
          <p:nvPr/>
        </p:nvSpPr>
        <p:spPr>
          <a:xfrm>
            <a:off x="478800" y="3933056"/>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SELECT MAX(deptno)  + 1 INTO x FROM dept;</a:t>
            </a:r>
          </a:p>
          <a:p>
            <a:pPr marL="273050"/>
            <a:r>
              <a:rPr lang="en-IN" dirty="0">
                <a:latin typeface="Segoe UI Semilight" panose="020B0402040204020203" pitchFamily="34" charset="0"/>
                <a:cs typeface="Segoe UI Semilight" panose="020B0402040204020203" pitchFamily="34" charset="0"/>
              </a:rPr>
              <a:t>    set NEW.deptno :=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626852455"/>
      </p:ext>
    </p:extLst>
  </p:cSld>
  <p:clrMapOvr>
    <a:masterClrMapping/>
  </p:clrMapOvr>
</p:sld>
</file>

<file path=ppt/slides/slide8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C583B77F-1010-48DE-B5CC-A778EA82FA26}"/>
              </a:ext>
            </a:extLst>
          </p:cNvPr>
          <p:cNvSpPr txBox="1"/>
          <p:nvPr/>
        </p:nvSpPr>
        <p:spPr>
          <a:xfrm>
            <a:off x="479376" y="584775"/>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NEW.dname = TRIM(NEW.dname);</a:t>
            </a:r>
          </a:p>
          <a:p>
            <a:pPr marL="273050"/>
            <a:r>
              <a:rPr lang="en-IN" dirty="0">
                <a:latin typeface="Segoe UI Semilight" panose="020B0402040204020203" pitchFamily="34" charset="0"/>
                <a:cs typeface="Segoe UI Semilight" panose="020B0402040204020203" pitchFamily="34" charset="0"/>
              </a:rPr>
              <a:t>  set NEW.loc = TRIM(NEW.loc);</a:t>
            </a:r>
          </a:p>
          <a:p>
            <a:pPr marL="273050"/>
            <a:r>
              <a:rPr lang="en-IN" dirty="0">
                <a:latin typeface="Segoe UI Semilight" panose="020B0402040204020203" pitchFamily="34" charset="0"/>
                <a:cs typeface="Segoe UI Semilight" panose="020B0402040204020203" pitchFamily="34" charset="0"/>
              </a:rPr>
              <a:t>  set NEW.pwd = TRIM(NEW.pwd);</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707546765"/>
      </p:ext>
    </p:extLst>
  </p:cSld>
  <p:clrMapOvr>
    <a:masterClrMapping/>
  </p:clrMapOvr>
</p:sld>
</file>

<file path=ppt/slides/slide8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59237"/>
            <a:ext cx="11449848"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IF EXISTS </a:t>
            </a:r>
            <a:r>
              <a:rPr lang="en-IN" dirty="0">
                <a:latin typeface="Liberation Mono"/>
                <a:cs typeface="Segoe UI Semilight" panose="020B0402040204020203" pitchFamily="34" charset="0"/>
              </a:rPr>
              <a:t>item;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rPr>
              <a:t>warehouse;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US" dirty="0">
                <a:latin typeface="Liberation Mono"/>
                <a:cs typeface="Leelawadee UI Semilight" panose="020B0402040204020203" pitchFamily="34" charset="-34"/>
              </a:rPr>
              <a:t>item_in_warehouse</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cs typeface="Segoe UI Semilight" panose="020B0402040204020203" pitchFamily="34" charset="0"/>
              </a:rPr>
              <a:t>item_ordered;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sz="800"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item</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itemid </a:t>
            </a:r>
            <a:r>
              <a:rPr lang="en-IN" dirty="0">
                <a:solidFill>
                  <a:srgbClr val="834689"/>
                </a:solidFill>
                <a:latin typeface="Liberation Mono"/>
                <a:cs typeface="Segoe UI Semilight" panose="020B0402040204020203" pitchFamily="34" charset="0"/>
              </a:rPr>
              <a:t>INT</a:t>
            </a:r>
            <a:r>
              <a:rPr lang="en-IN" dirty="0">
                <a:latin typeface="Liberation Mono"/>
                <a:cs typeface="Segoe UI Semilight" panose="020B0402040204020203" pitchFamily="34" charset="0"/>
              </a:rPr>
              <a:t>, itemname </a:t>
            </a:r>
            <a:r>
              <a:rPr lang="en-IN" dirty="0">
                <a:solidFill>
                  <a:srgbClr val="834689"/>
                </a:solidFill>
                <a:latin typeface="Liberation Mono"/>
                <a:cs typeface="Segoe UI Semilight" panose="020B0402040204020203" pitchFamily="34" charset="0"/>
              </a:rPr>
              <a:t>VARCHAR</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20</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endParaRPr lang="en-IN"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 TABLE </a:t>
            </a:r>
            <a:r>
              <a:rPr lang="en-IN" dirty="0">
                <a:latin typeface="Liberation Mono"/>
              </a:rPr>
              <a:t>warehouse</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warehouse_id </a:t>
            </a:r>
            <a:r>
              <a:rPr lang="en-IN" dirty="0">
                <a:solidFill>
                  <a:srgbClr val="834689"/>
                </a:solidFill>
                <a:latin typeface="Liberation Mono"/>
                <a:cs typeface="Leelawadee UI Semilight" panose="020B0402040204020203" pitchFamily="34" charset="-34"/>
              </a:rPr>
              <a:t>INT</a:t>
            </a:r>
            <a:r>
              <a:rPr lang="en-IN" dirty="0">
                <a:latin typeface="Liberation Mono"/>
              </a:rPr>
              <a:t>, warehouse_name </a:t>
            </a:r>
            <a:r>
              <a:rPr lang="en-IN" dirty="0">
                <a:solidFill>
                  <a:srgbClr val="834689"/>
                </a:solidFill>
                <a:latin typeface="Liberation Mono"/>
                <a:cs typeface="Leelawadee UI Semilight" panose="020B0402040204020203" pitchFamily="34" charset="-34"/>
              </a:rPr>
              <a:t>VARCHAR</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255</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 channel_id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Leelawadee UI Semilight" panose="020B0402040204020203" pitchFamily="34" charset="-34"/>
              </a:rPr>
              <a:t>CREATE</a:t>
            </a:r>
            <a:r>
              <a:rPr lang="en-US" dirty="0">
                <a:latin typeface="Liberation Mono"/>
                <a:cs typeface="Leelawadee UI Semilight" panose="020B0402040204020203" pitchFamily="34" charset="-34"/>
              </a:rPr>
              <a:t> </a:t>
            </a:r>
            <a:r>
              <a:rPr lang="en-US" dirty="0">
                <a:solidFill>
                  <a:srgbClr val="0077AA"/>
                </a:solidFill>
                <a:latin typeface="Liberation Mono"/>
                <a:cs typeface="Leelawadee UI Semilight" panose="020B0402040204020203" pitchFamily="34" charset="-34"/>
              </a:rPr>
              <a:t>TABLE</a:t>
            </a:r>
            <a:r>
              <a:rPr lang="en-US" dirty="0">
                <a:latin typeface="Liberation Mono"/>
                <a:cs typeface="Leelawadee UI Semilight" panose="020B0402040204020203" pitchFamily="34" charset="-34"/>
              </a:rPr>
              <a:t> item_in_warehouse</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a:t>
            </a:r>
            <a:r>
              <a:rPr lang="en-US" dirty="0">
                <a:solidFill>
                  <a:srgbClr val="C00000"/>
                </a:solidFill>
                <a:latin typeface="Liberation Mono"/>
                <a:cs typeface="Leelawadee UI Semilight" panose="020B0402040204020203" pitchFamily="34" charset="-34"/>
              </a:rPr>
              <a:t>PRIMARY KEY AUTO_INCREMENT</a:t>
            </a:r>
            <a:r>
              <a:rPr lang="en-US" dirty="0">
                <a:latin typeface="Liberation Mono"/>
                <a:cs typeface="Leelawadee UI Semilight" panose="020B0402040204020203" pitchFamily="34" charset="-34"/>
              </a:rPr>
              <a:t>, item_id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warehouse_id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minimum_stock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rol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stock </a:t>
            </a:r>
            <a:r>
              <a:rPr lang="en-IN" dirty="0">
                <a:solidFill>
                  <a:srgbClr val="834689"/>
                </a:solidFill>
                <a:latin typeface="Liberation Mono"/>
                <a:cs typeface="Leelawadee UI Semilight" panose="020B0402040204020203" pitchFamily="34" charset="-34"/>
              </a:rPr>
              <a:t>INT</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a:t>
            </a:r>
          </a:p>
          <a:p>
            <a:pPr marL="285750" indent="-285750">
              <a:buFont typeface="Arial" panose="020B0604020202020204" pitchFamily="34" charset="0"/>
              <a:buChar char="•"/>
            </a:pPr>
            <a:endParaRPr lang="en-US"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a:t>
            </a:r>
            <a:r>
              <a:rPr lang="en-IN" dirty="0">
                <a:latin typeface="Liberation Mono"/>
                <a:cs typeface="Leelawadee UI Semilight" panose="020B0402040204020203" pitchFamily="34" charset="-34"/>
              </a:rPr>
              <a:t> </a:t>
            </a:r>
            <a:r>
              <a:rPr lang="en-IN" dirty="0">
                <a:solidFill>
                  <a:srgbClr val="0077AA"/>
                </a:solidFill>
                <a:latin typeface="Liberation Mono"/>
                <a:cs typeface="Leelawadee UI Semilight" panose="020B0402040204020203" pitchFamily="34" charset="-34"/>
              </a:rPr>
              <a:t>TABLE</a:t>
            </a:r>
            <a:r>
              <a:rPr lang="en-IN" dirty="0">
                <a:latin typeface="Liberation Mono"/>
                <a:cs typeface="Leelawadee UI Semilight" panose="020B0402040204020203" pitchFamily="34" charset="-34"/>
              </a:rPr>
              <a:t> item_ordered</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orderID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itemID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orderDate </a:t>
            </a:r>
            <a:r>
              <a:rPr lang="en-IN" dirty="0">
                <a:solidFill>
                  <a:srgbClr val="834689"/>
                </a:solidFill>
                <a:latin typeface="Liberation Mono"/>
                <a:cs typeface="Leelawadee UI Semilight" panose="020B0402040204020203" pitchFamily="34" charset="-34"/>
              </a:rPr>
              <a:t>DATE</a:t>
            </a:r>
            <a:r>
              <a:rPr lang="en-IN" dirty="0">
                <a:latin typeface="Liberation Mono"/>
                <a:cs typeface="Leelawadee UI Semilight" panose="020B0402040204020203" pitchFamily="34" charset="-34"/>
              </a:rPr>
              <a:t>, orderTime </a:t>
            </a:r>
            <a:r>
              <a:rPr lang="en-IN" dirty="0">
                <a:solidFill>
                  <a:srgbClr val="834689"/>
                </a:solidFill>
                <a:latin typeface="Liberation Mono"/>
                <a:cs typeface="Leelawadee UI Semilight" panose="020B0402040204020203" pitchFamily="34" charset="-34"/>
              </a:rPr>
              <a:t>TIME</a:t>
            </a:r>
            <a:r>
              <a:rPr lang="en-IN" dirty="0">
                <a:latin typeface="Liberation Mono"/>
                <a:cs typeface="Leelawadee UI Semilight" panose="020B0402040204020203" pitchFamily="34" charset="-34"/>
              </a:rPr>
              <a:t>, qty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a:t>
            </a:r>
          </a:p>
        </p:txBody>
      </p:sp>
      <p:sp>
        <p:nvSpPr>
          <p:cNvPr id="4" name="Rectangle 3">
            <a:extLst>
              <a:ext uri="{FF2B5EF4-FFF2-40B4-BE49-F238E27FC236}">
                <a16:creationId xmlns:a16="http://schemas.microsoft.com/office/drawing/2014/main" id="{61992F61-D3C0-4BE9-9A5C-5D020D9587F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151936527"/>
      </p:ext>
    </p:extLst>
  </p:cSld>
  <p:clrMapOvr>
    <a:masterClrMapping/>
  </p:clrMapOvr>
</p:sld>
</file>

<file path=ppt/slides/slide8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36000"/>
            <a:ext cx="835292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1, </a:t>
            </a:r>
            <a:r>
              <a:rPr lang="en-IN" dirty="0">
                <a:solidFill>
                  <a:srgbClr val="669900"/>
                </a:solidFill>
                <a:latin typeface="Liberation Mono"/>
                <a:cs typeface="Segoe UI Semilight" panose="020B0402040204020203" pitchFamily="34" charset="0"/>
              </a:rPr>
              <a:t>'SPORTS</a:t>
            </a:r>
            <a:r>
              <a:rPr lang="en-IN" dirty="0">
                <a:latin typeface="Liberation Mono"/>
                <a:cs typeface="Segoe UI Semilight" panose="020B0402040204020203" pitchFamily="34" charset="0"/>
              </a:rPr>
              <a:t> </a:t>
            </a:r>
            <a:r>
              <a:rPr lang="en-IN" dirty="0">
                <a:solidFill>
                  <a:srgbClr val="669900"/>
                </a:solidFill>
                <a:latin typeface="Liberation Mono"/>
                <a:cs typeface="Segoe UI Semilight" panose="020B0402040204020203" pitchFamily="34" charset="0"/>
              </a:rPr>
              <a:t>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 </a:t>
            </a:r>
            <a:r>
              <a:rPr lang="en-IN" dirty="0">
                <a:solidFill>
                  <a:srgbClr val="669900"/>
                </a:solidFill>
                <a:latin typeface="Liberation Mono"/>
                <a:cs typeface="Segoe UI Semilight" panose="020B0402040204020203" pitchFamily="34" charset="0"/>
              </a:rPr>
              <a:t>'CASUAL 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3, </a:t>
            </a:r>
            <a:r>
              <a:rPr lang="en-IN" dirty="0">
                <a:solidFill>
                  <a:srgbClr val="669900"/>
                </a:solidFill>
                <a:latin typeface="Liberation Mono"/>
                <a:cs typeface="Segoe UI Semilight" panose="020B0402040204020203" pitchFamily="34" charset="0"/>
              </a:rPr>
              <a:t>'T-SHIRTS'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4, </a:t>
            </a:r>
            <a:r>
              <a:rPr lang="en-IN" dirty="0">
                <a:solidFill>
                  <a:srgbClr val="669900"/>
                </a:solidFill>
                <a:latin typeface="Liberation Mono"/>
                <a:cs typeface="Segoe UI Semilight" panose="020B0402040204020203" pitchFamily="34" charset="0"/>
              </a:rPr>
              <a:t>'JEANS'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5, </a:t>
            </a:r>
            <a:r>
              <a:rPr lang="en-IN" dirty="0">
                <a:solidFill>
                  <a:srgbClr val="669900"/>
                </a:solidFill>
                <a:latin typeface="Liberation Mono"/>
                <a:cs typeface="Segoe UI Semilight" panose="020B0402040204020203" pitchFamily="34" charset="0"/>
              </a:rPr>
              <a:t>'JACKETS'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6, </a:t>
            </a:r>
            <a:r>
              <a:rPr lang="en-IN" dirty="0">
                <a:solidFill>
                  <a:srgbClr val="669900"/>
                </a:solidFill>
                <a:latin typeface="Liberation Mono"/>
                <a:cs typeface="Segoe UI Semilight" panose="020B0402040204020203" pitchFamily="34" charset="0"/>
              </a:rPr>
              <a:t>'SWEATERS'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7, </a:t>
            </a:r>
            <a:r>
              <a:rPr lang="en-IN" dirty="0">
                <a:solidFill>
                  <a:srgbClr val="669900"/>
                </a:solidFill>
                <a:latin typeface="Liberation Mono"/>
                <a:cs typeface="Segoe UI Semilight" panose="020B0402040204020203" pitchFamily="34" charset="0"/>
              </a:rPr>
              <a:t>'WATCHES’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endParaRPr lang="en-IN"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143, </a:t>
            </a:r>
            <a:r>
              <a:rPr lang="en-IN" dirty="0">
                <a:solidFill>
                  <a:srgbClr val="669900"/>
                </a:solidFill>
                <a:latin typeface="Liberation Mono"/>
                <a:cs typeface="Segoe UI Semilight" panose="020B0402040204020203" pitchFamily="34" charset="0"/>
              </a:rPr>
              <a:t>'AC Warehouse'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156, </a:t>
            </a:r>
            <a:r>
              <a:rPr lang="en-IN" dirty="0">
                <a:solidFill>
                  <a:srgbClr val="669900"/>
                </a:solidFill>
                <a:latin typeface="Liberation Mono"/>
                <a:cs typeface="Segoe UI Semilight" panose="020B0402040204020203" pitchFamily="34" charset="0"/>
              </a:rPr>
              <a:t>'National'</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231, </a:t>
            </a:r>
            <a:r>
              <a:rPr lang="en-IN" dirty="0">
                <a:solidFill>
                  <a:srgbClr val="669900"/>
                </a:solidFill>
                <a:latin typeface="Liberation Mono"/>
                <a:cs typeface="Segoe UI Semilight" panose="020B0402040204020203" pitchFamily="34" charset="0"/>
              </a:rPr>
              <a:t>'Global'</a:t>
            </a:r>
            <a:r>
              <a:rPr lang="en-IN" dirty="0">
                <a:latin typeface="Liberation Mono"/>
              </a:rPr>
              <a:t>, 3);</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254, </a:t>
            </a:r>
            <a:r>
              <a:rPr lang="en-IN" dirty="0">
                <a:solidFill>
                  <a:srgbClr val="669900"/>
                </a:solidFill>
                <a:latin typeface="Liberation Mono"/>
                <a:cs typeface="Segoe UI Semilight" panose="020B0402040204020203" pitchFamily="34" charset="0"/>
              </a:rPr>
              <a:t>'NON-STOP'</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321, </a:t>
            </a:r>
            <a:r>
              <a:rPr lang="en-IN" dirty="0">
                <a:solidFill>
                  <a:srgbClr val="669900"/>
                </a:solidFill>
                <a:latin typeface="Liberation Mono"/>
                <a:cs typeface="Segoe UI Semilight" panose="020B0402040204020203" pitchFamily="34" charset="0"/>
              </a:rPr>
              <a:t>'Migrant System'</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464, </a:t>
            </a:r>
            <a:r>
              <a:rPr lang="en-IN" dirty="0">
                <a:solidFill>
                  <a:srgbClr val="669900"/>
                </a:solidFill>
                <a:latin typeface="Liberation Mono"/>
                <a:cs typeface="Segoe UI Semilight" panose="020B0402040204020203" pitchFamily="34" charset="0"/>
              </a:rPr>
              <a:t>'Blaze'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p:txBody>
      </p:sp>
      <p:sp>
        <p:nvSpPr>
          <p:cNvPr id="9" name="Rectangle 8">
            <a:extLst>
              <a:ext uri="{FF2B5EF4-FFF2-40B4-BE49-F238E27FC236}">
                <a16:creationId xmlns:a16="http://schemas.microsoft.com/office/drawing/2014/main" id="{57810155-3707-4DF3-9D4F-CC883A912F7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367358978"/>
      </p:ext>
    </p:extLst>
  </p:cSld>
  <p:clrMapOvr>
    <a:masterClrMapping/>
  </p:clrMapOvr>
</p:sld>
</file>

<file path=ppt/slides/slide8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682818"/>
            <a:ext cx="11582367"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1, 143</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2, 156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5, 254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7, 464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4, 321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endParaRPr lang="en-IN" dirty="0">
              <a:latin typeface="Liberation Mono"/>
            </a:endParaRPr>
          </a:p>
        </p:txBody>
      </p:sp>
      <p:sp>
        <p:nvSpPr>
          <p:cNvPr id="6" name="Rectangle 5">
            <a:extLst>
              <a:ext uri="{FF2B5EF4-FFF2-40B4-BE49-F238E27FC236}">
                <a16:creationId xmlns:a16="http://schemas.microsoft.com/office/drawing/2014/main" id="{16ACC886-76E2-44F9-9C25-2CF3E9F52C29}"/>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3751010554"/>
      </p:ext>
    </p:extLst>
  </p:cSld>
  <p:clrMapOvr>
    <a:masterClrMapping/>
  </p:clrMapOvr>
</p:sld>
</file>

<file path=ppt/slides/slide8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84776"/>
            <a:ext cx="979308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insert_in_item_ordered;</a:t>
            </a:r>
          </a:p>
          <a:p>
            <a:pPr marL="273050"/>
            <a:r>
              <a:rPr lang="en-US"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insert_in_item_ordered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NEW.orderDate := current_date();</a:t>
            </a:r>
          </a:p>
          <a:p>
            <a:pPr marL="273050"/>
            <a:r>
              <a:rPr lang="en-US" dirty="0">
                <a:latin typeface="Segoe UI Semilight" panose="020B0402040204020203" pitchFamily="34" charset="0"/>
                <a:cs typeface="Segoe UI Semilight" panose="020B0402040204020203" pitchFamily="34" charset="0"/>
              </a:rPr>
              <a:t>  set NEW.orderTime := current_time();</a:t>
            </a:r>
          </a:p>
          <a:p>
            <a:pPr marL="273050"/>
            <a:r>
              <a:rPr lang="en-US" dirty="0">
                <a:latin typeface="Segoe UI Semilight" panose="020B0402040204020203" pitchFamily="34" charset="0"/>
                <a:cs typeface="Segoe UI Semilight" panose="020B0402040204020203" pitchFamily="34" charset="0"/>
              </a:rPr>
              <a:t>  SELECT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INTO x FROM item WHERE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 </a:t>
            </a:r>
            <a:r>
              <a:rPr lang="en-US" dirty="0" err="1">
                <a:latin typeface="Segoe UI Semilight" panose="020B0402040204020203" pitchFamily="34" charset="0"/>
                <a:cs typeface="Segoe UI Semilight" panose="020B0402040204020203" pitchFamily="34" charset="0"/>
              </a:rPr>
              <a:t>NEW.itemID</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if x is null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"Item not found in item table!"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37C7D726-9A13-4D3D-BF6F-B0BF701C1ED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4100681704"/>
      </p:ext>
    </p:extLst>
  </p:cSld>
  <p:clrMapOvr>
    <a:masterClrMapping/>
  </p:clrMapOvr>
</p:sld>
</file>

<file path=ppt/slides/slide8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73629"/>
            <a:ext cx="11665296"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rgbClr val="B212AA"/>
                </a:solidFill>
                <a:latin typeface="Segoe UI Semilight" panose="020B0402040204020203" pitchFamily="34" charset="0"/>
                <a:cs typeface="Segoe UI Semilight" panose="020B0402040204020203" pitchFamily="34" charset="0"/>
              </a:rPr>
              <a:t>i</a:t>
            </a:r>
            <a:r>
              <a:rPr lang="en-IN" dirty="0" err="1">
                <a:latin typeface="Segoe UI Semilight" panose="020B0402040204020203" pitchFamily="34" charset="0"/>
                <a:cs typeface="Segoe UI Semilight" panose="020B0402040204020203" pitchFamily="34" charset="0"/>
              </a:rPr>
              <a:t>temid_primarykey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latin typeface="Segoe UI Semilight" panose="020B0402040204020203" pitchFamily="34" charset="0"/>
                <a:cs typeface="Segoe UI Semilight" panose="020B0402040204020203" pitchFamily="34" charset="0"/>
              </a:rPr>
              <a:t>itemid_primarykey</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AFTER INSERT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itemid INTO x FROM item WHERE itemid = </a:t>
            </a:r>
            <a:r>
              <a:rPr lang="en-IN" dirty="0" err="1">
                <a:latin typeface="Segoe UI Semilight" panose="020B0402040204020203" pitchFamily="34" charset="0"/>
                <a:cs typeface="Segoe UI Semilight" panose="020B0402040204020203" pitchFamily="34" charset="0"/>
              </a:rPr>
              <a:t>NEW.itemid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if x is null then</a:t>
            </a:r>
          </a:p>
          <a:p>
            <a:pPr marL="261938"/>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'itemid already present, cannot insert duplicate 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61938"/>
            <a:r>
              <a:rPr lang="en-IN" dirty="0">
                <a:latin typeface="Segoe UI Semilight" panose="020B04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9CEA5C6-2E3E-4698-95E3-B732D8FCC3FD}"/>
              </a:ext>
            </a:extLst>
          </p:cNvPr>
          <p:cNvSpPr txBox="1"/>
          <p:nvPr/>
        </p:nvSpPr>
        <p:spPr>
          <a:xfrm>
            <a:off x="479376" y="4005064"/>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readOnlyItemName;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readOnlyItemName </a:t>
            </a:r>
            <a:r>
              <a:rPr lang="en-IN" dirty="0">
                <a:solidFill>
                  <a:srgbClr val="B212AA"/>
                </a:solidFill>
                <a:latin typeface="Segoe UI Semilight" panose="020B0402040204020203" pitchFamily="34" charset="0"/>
                <a:cs typeface="Segoe UI Semilight" panose="020B0402040204020203" pitchFamily="34" charset="0"/>
              </a:rPr>
              <a:t>AFTER UPDATE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 </a:t>
            </a:r>
            <a:r>
              <a:rPr lang="en-IN" dirty="0">
                <a:latin typeface="Segoe UI Semilight" panose="020B0402040204020203" pitchFamily="34" charset="0"/>
                <a:cs typeface="Segoe UI Semilight" panose="020B0402040204020203" pitchFamily="34" charset="0"/>
              </a:rPr>
              <a:t>set message_text = </a:t>
            </a:r>
            <a:r>
              <a:rPr lang="en-IN" dirty="0">
                <a:solidFill>
                  <a:srgbClr val="669900"/>
                </a:solidFill>
                <a:latin typeface="Segoe UI Semilight" panose="020B0402040204020203" pitchFamily="34" charset="0"/>
                <a:cs typeface="Segoe UI Semilight" panose="020B0402040204020203" pitchFamily="34" charset="0"/>
              </a:rPr>
              <a:t>'Product name is read-only and it can not be changed.'</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2D208877-6FD4-4CCD-A97A-885D95EA2D56}"/>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991331016"/>
      </p:ext>
    </p:extLst>
  </p:cSld>
  <p:clrMapOvr>
    <a:masterClrMapping/>
  </p:clrMapOvr>
</p:sld>
</file>

<file path=ppt/slides/slide8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23382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insert_item_in_warehouse;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insert_item_in_warehouse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itemNotFound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declare warehouseNotFound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False INTO warehouseNotFound FROM item WHERE itemid = NEW.item_id;</a:t>
            </a:r>
          </a:p>
          <a:p>
            <a:pPr marL="273050"/>
            <a:r>
              <a:rPr lang="en-IN" dirty="0">
                <a:latin typeface="Segoe UI Semilight" panose="020B0402040204020203" pitchFamily="34" charset="0"/>
                <a:cs typeface="Segoe UI Semilight" panose="020B0402040204020203" pitchFamily="34" charset="0"/>
              </a:rPr>
              <a:t>   SELECT False INTO warehouseFound FROM warehouse WHERE warehouse_id = NEW.warehouse_id;</a:t>
            </a:r>
          </a:p>
          <a:p>
            <a:pPr marL="273050"/>
            <a:r>
              <a:rPr lang="en-IN" dirty="0">
                <a:latin typeface="Segoe UI Semilight" panose="020B0402040204020203" pitchFamily="34" charset="0"/>
                <a:cs typeface="Segoe UI Semilight" panose="020B0402040204020203" pitchFamily="34" charset="0"/>
              </a:rPr>
              <a:t>   if itemNotFound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latin typeface="Segoe UI Semilight" panose="020B0402040204020203" pitchFamily="34" charset="0"/>
                <a:cs typeface="Segoe UI Semilight" panose="020B0402040204020203" pitchFamily="34" charset="0"/>
              </a:rPr>
              <a:t>   if warehouseNotFound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'Warehouse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73646697"/>
      </p:ext>
    </p:extLst>
  </p:cSld>
  <p:clrMapOvr>
    <a:masterClrMapping/>
  </p:clrMapOvr>
</p:sld>
</file>

<file path=ppt/slides/slide8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665296" cy="3416320"/>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calculate_minimum_stock_ROL;</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calculate_minimum_stock_ROL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_minimum_stock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_ROL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_minimum_stock := NEW.stock / 2;</a:t>
            </a:r>
          </a:p>
          <a:p>
            <a:r>
              <a:rPr lang="en-IN" dirty="0">
                <a:latin typeface="Segoe UI Semilight" panose="020B0402040204020203" pitchFamily="34" charset="0"/>
                <a:cs typeface="Segoe UI Semilight" panose="020B0402040204020203" pitchFamily="34" charset="0"/>
              </a:rPr>
              <a:t>    set _ROL := _minimum_stock * .25;</a:t>
            </a:r>
          </a:p>
          <a:p>
            <a:r>
              <a:rPr lang="en-IN" dirty="0">
                <a:latin typeface="Segoe UI Semilight" panose="020B0402040204020203" pitchFamily="34" charset="0"/>
                <a:cs typeface="Segoe UI Semilight" panose="020B0402040204020203" pitchFamily="34" charset="0"/>
              </a:rPr>
              <a:t>    set NEW.minimum_stock := _minimum_stock;</a:t>
            </a:r>
          </a:p>
          <a:p>
            <a:r>
              <a:rPr lang="en-IN" dirty="0">
                <a:latin typeface="Segoe UI Semilight" panose="020B0402040204020203" pitchFamily="34" charset="0"/>
                <a:cs typeface="Segoe UI Semilight" panose="020B0402040204020203" pitchFamily="34" charset="0"/>
              </a:rPr>
              <a:t>    set NEW.ROL := _ROL;</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08700960"/>
      </p:ext>
    </p:extLst>
  </p:cSld>
  <p:clrMapOvr>
    <a:masterClrMapping/>
  </p:clrMapOvr>
</p:sld>
</file>

<file path=ppt/slides/slide8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8800" y="936000"/>
            <a:ext cx="11665296"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DROP TABLE IF EXISTS </a:t>
            </a:r>
            <a:r>
              <a:rPr lang="en-US" dirty="0">
                <a:latin typeface="Liberation Mono"/>
                <a:cs typeface="Segoe UI Semilight" panose="020B0402040204020203" pitchFamily="34" charset="0"/>
              </a:rPr>
              <a:t>customer_Account;</a:t>
            </a:r>
          </a:p>
          <a:p>
            <a:endParaRPr lang="en-US" dirty="0">
              <a:latin typeface="Liberation Mono"/>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CREATE</a:t>
            </a:r>
            <a:r>
              <a:rPr lang="en-US" dirty="0">
                <a:latin typeface="Liberation Mono"/>
                <a:cs typeface="Segoe UI Semilight" panose="020B0402040204020203" pitchFamily="34" charset="0"/>
              </a:rPr>
              <a:t> </a:t>
            </a:r>
            <a:r>
              <a:rPr lang="en-US" dirty="0">
                <a:solidFill>
                  <a:srgbClr val="0077AA"/>
                </a:solidFill>
                <a:latin typeface="Liberation Mono"/>
                <a:cs typeface="Segoe UI Semilight" panose="020B0402040204020203" pitchFamily="34" charset="0"/>
              </a:rPr>
              <a:t>TABLE</a:t>
            </a:r>
            <a:r>
              <a:rPr lang="en-US" dirty="0">
                <a:latin typeface="Liberation Mono"/>
                <a:cs typeface="Segoe UI Semilight" panose="020B0402040204020203" pitchFamily="34" charset="0"/>
              </a:rPr>
              <a:t> customer_Account </a:t>
            </a:r>
            <a:r>
              <a:rPr lang="en-US" dirty="0">
                <a:solidFill>
                  <a:schemeClr val="bg1">
                    <a:lumMod val="65000"/>
                  </a:schemeClr>
                </a:solidFill>
                <a:latin typeface="Liberation Mono"/>
                <a:cs typeface="Segoe UI Semilight" panose="020B0402040204020203" pitchFamily="34" charset="0"/>
              </a:rPr>
              <a:t>(</a:t>
            </a:r>
          </a:p>
          <a:p>
            <a:pPr marL="266700"/>
            <a:r>
              <a:rPr lang="en-US" dirty="0">
                <a:latin typeface="Liberation Mono"/>
                <a:cs typeface="Segoe UI Semilight" panose="020B0402040204020203" pitchFamily="34" charset="0"/>
              </a:rPr>
              <a:t>   accountID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customerName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account_Type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openDate </a:t>
            </a:r>
            <a:r>
              <a:rPr lang="en-US" dirty="0">
                <a:solidFill>
                  <a:srgbClr val="834689"/>
                </a:solidFill>
                <a:latin typeface="Liberation Mono"/>
                <a:cs typeface="Segoe UI Semilight" panose="020B0402040204020203" pitchFamily="34" charset="0"/>
              </a:rPr>
              <a:t>DATE</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phone_number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12</a:t>
            </a:r>
            <a:r>
              <a:rPr lang="en-US" dirty="0">
                <a:solidFill>
                  <a:schemeClr val="bg1">
                    <a:lumMod val="65000"/>
                  </a:schemeClr>
                </a:solidFill>
                <a:latin typeface="Liberation Mono"/>
                <a:cs typeface="Segoe UI Semilight" panose="020B0402040204020203" pitchFamily="34" charset="0"/>
              </a:rPr>
              <a:t>)</a:t>
            </a:r>
          </a:p>
          <a:p>
            <a:pPr marL="266700"/>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a:t>
            </a:r>
            <a:endParaRPr lang="en-IN" dirty="0">
              <a:latin typeface="Liberation Mono"/>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0856AA4E-94C6-45FE-9743-0EE35ADFD50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1225826224"/>
      </p:ext>
    </p:extLst>
  </p:cSld>
  <p:clrMapOvr>
    <a:masterClrMapping/>
  </p:clrMapOvr>
</p:sld>
</file>

<file path=ppt/slides/slide8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4C1E5B4-5DF3-4C0C-AE80-DF7E33D0CBAF}"/>
              </a:ext>
            </a:extLst>
          </p:cNvPr>
          <p:cNvSpPr txBox="1"/>
          <p:nvPr/>
        </p:nvSpPr>
        <p:spPr>
          <a:xfrm>
            <a:off x="478800" y="572400"/>
            <a:ext cx="11161816" cy="480131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delimiter $$</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customer_account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cs typeface="Segoe UI Semilight" panose="020B0402040204020203" pitchFamily="34" charset="0"/>
              </a:rPr>
              <a:t>         declare x int;</a:t>
            </a:r>
          </a:p>
          <a:p>
            <a:r>
              <a:rPr lang="en-US" dirty="0">
                <a:latin typeface="Segoe UI Semilight" panose="020B0402040204020203" pitchFamily="34" charset="0"/>
                <a:cs typeface="Segoe UI Semilight" panose="020B0402040204020203" pitchFamily="34" charset="0"/>
              </a:rPr>
              <a:t>         SELECT ifnull(max(cast(substr(accountID, 5) AS UNSIGNED)),0 ) + 1 INTO x FROM customer_account   </a:t>
            </a:r>
          </a:p>
          <a:p>
            <a:r>
              <a:rPr lang="en-US" dirty="0">
                <a:latin typeface="Segoe UI Semilight" panose="020B0402040204020203" pitchFamily="34" charset="0"/>
                <a:cs typeface="Segoe UI Semilight" panose="020B0402040204020203" pitchFamily="34" charset="0"/>
              </a:rPr>
              <a:t>         WHERE account_Type = NEW.account_Type;</a:t>
            </a:r>
          </a:p>
          <a:p>
            <a:endParaRPr lang="en-US"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         if NEW.account_Type = </a:t>
            </a:r>
            <a:r>
              <a:rPr lang="en-US" dirty="0">
                <a:solidFill>
                  <a:srgbClr val="669900"/>
                </a:solidFill>
                <a:latin typeface="Segoe UI Semilight" panose="020B0402040204020203" pitchFamily="34" charset="0"/>
                <a:cs typeface="Segoe UI Semilight" panose="020B0402040204020203" pitchFamily="34" charset="0"/>
              </a:rPr>
              <a:t>'saving'</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set NEW.accountID = concat('S/A-', x);</a:t>
            </a:r>
          </a:p>
          <a:p>
            <a:r>
              <a:rPr lang="en-US" dirty="0">
                <a:latin typeface="Segoe UI Semilight" panose="020B0402040204020203" pitchFamily="34" charset="0"/>
                <a:cs typeface="Segoe UI Semilight" panose="020B0402040204020203" pitchFamily="34" charset="0"/>
              </a:rPr>
              <a:t>         elseif NEW.account_Type = </a:t>
            </a:r>
            <a:r>
              <a:rPr lang="en-US" dirty="0">
                <a:solidFill>
                  <a:srgbClr val="669900"/>
                </a:solidFill>
                <a:latin typeface="Segoe UI Semilight" panose="020B0402040204020203" pitchFamily="34" charset="0"/>
                <a:cs typeface="Segoe UI Semilight" panose="020B0402040204020203" pitchFamily="34" charset="0"/>
              </a:rPr>
              <a:t>'current' </a:t>
            </a:r>
            <a:r>
              <a:rPr lang="en-US" dirty="0">
                <a:latin typeface="Segoe UI Semilight" panose="020B0402040204020203" pitchFamily="34" charset="0"/>
                <a:cs typeface="Segoe UI Semilight" panose="020B0402040204020203" pitchFamily="34" charset="0"/>
              </a:rPr>
              <a:t>then</a:t>
            </a:r>
          </a:p>
          <a:p>
            <a:r>
              <a:rPr lang="en-US" dirty="0">
                <a:latin typeface="Segoe UI Semilight" panose="020B0402040204020203" pitchFamily="34" charset="0"/>
                <a:cs typeface="Segoe UI Semilight" panose="020B0402040204020203" pitchFamily="34" charset="0"/>
              </a:rPr>
              <a:t>	set NEW.accountID = concat('C/A-', 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Type!"</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r>
              <a:rPr lang="en-US"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38133107"/>
      </p:ext>
    </p:extLst>
  </p:cSld>
  <p:clrMapOvr>
    <a:masterClrMapping/>
  </p:clrMapOvr>
</p:sld>
</file>

<file path=ppt/slides/slide8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customer_phone;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customer_phone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NEW.phone_number := rpad(left(NEW.phone_number, 4), 10,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3068960"/>
            <a:ext cx="10188623"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open_date;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open_date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if NEW.opendate &gt; curDate()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Opening Date!'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00503693"/>
      </p:ext>
    </p:extLst>
  </p:cSld>
  <p:clrMapOvr>
    <a:masterClrMapping/>
  </p:clrMapOvr>
</p:sld>
</file>

<file path=ppt/slides/slide8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 * FROM customer_Account;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2870934"/>
            <a:ext cx="10188623"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if @TRIGGER_DISABLED is False or cast(@TRIGGER_DISABLED as char) is null then</a:t>
            </a:r>
          </a:p>
          <a:p>
            <a:pPr marL="261938"/>
            <a:r>
              <a:rPr lang="en-US" dirty="0">
                <a:latin typeface="Segoe UI Semilight" panose="020B0402040204020203" pitchFamily="34" charset="0"/>
                <a:cs typeface="Segoe UI Semilight" panose="020B0402040204020203" pitchFamily="34" charset="0"/>
              </a:rPr>
              <a:t>      set @TRIGGER_DISABLED := True;</a:t>
            </a:r>
          </a:p>
          <a:p>
            <a:pPr marL="261938"/>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'You cannot insert data in issue_card table'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224308270"/>
      </p:ext>
    </p:extLst>
  </p:cSld>
  <p:clrMapOvr>
    <a:masterClrMapping/>
  </p:clrMapOvr>
</p:sld>
</file>

<file path=ppt/slides/slide8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404648" cy="424731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(20);</a:t>
            </a:r>
          </a:p>
          <a:p>
            <a:pPr marL="261938"/>
            <a:r>
              <a:rPr lang="en-US" dirty="0">
                <a:latin typeface="Segoe UI Semilight" panose="020B0402040204020203" pitchFamily="34" charset="0"/>
                <a:cs typeface="Segoe UI Semilight" panose="020B0402040204020203" pitchFamily="34" charset="0"/>
              </a:rPr>
              <a:t>   if @TRIGGER_DISABLED is True then</a:t>
            </a:r>
          </a:p>
          <a:p>
            <a:pPr marL="261938"/>
            <a:r>
              <a:rPr lang="en-US" dirty="0">
                <a:latin typeface="Segoe UI Semilight" panose="020B0402040204020203" pitchFamily="34" charset="0"/>
                <a:cs typeface="Segoe UI Semilight" panose="020B0402040204020203" pitchFamily="34" charset="0"/>
              </a:rPr>
              <a:t>      set @TRIGGER_DISABLED := False;</a:t>
            </a:r>
          </a:p>
          <a:p>
            <a:pPr marL="261938"/>
            <a:r>
              <a:rPr lang="en-US" dirty="0">
                <a:latin typeface="Segoe UI Semilight" panose="020B0402040204020203" pitchFamily="34" charset="0"/>
                <a:cs typeface="Segoe UI Semilight" panose="020B0402040204020203" pitchFamily="34" charset="0"/>
              </a:rPr>
              <a:t>      SELECT  accountID INTO x FROM customer_Account WHERE accountID = NEW.accountID; </a:t>
            </a:r>
          </a:p>
          <a:p>
            <a:pPr marL="261938"/>
            <a:r>
              <a:rPr lang="en-US" dirty="0">
                <a:latin typeface="Segoe UI Semilight" panose="020B0402040204020203" pitchFamily="34" charset="0"/>
                <a:cs typeface="Segoe UI Semilight" panose="020B0402040204020203" pitchFamily="34" charset="0"/>
              </a:rPr>
              <a:t>      if x is null then</a:t>
            </a:r>
          </a:p>
          <a:p>
            <a:pPr marL="812800" indent="-550863"/>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Number, card cannot be issued! "Contact customer care!“'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632678528"/>
      </p:ext>
    </p:extLst>
  </p:cSld>
  <p:clrMapOvr>
    <a:masterClrMapping/>
  </p:clrMapOvr>
</p:sld>
</file>

<file path=ppt/slides/slide8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8017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issueCard;</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issueCard(in _accountID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_issueDate </a:t>
            </a:r>
            <a:r>
              <a:rPr lang="en-IN" dirty="0">
                <a:solidFill>
                  <a:srgbClr val="834689"/>
                </a:solidFill>
                <a:latin typeface="Segoe UI Semilight" panose="020B0402040204020203" pitchFamily="34" charset="0"/>
                <a:cs typeface="Segoe UI Semilight" panose="020B0402040204020203" pitchFamily="34" charset="0"/>
              </a:rPr>
              <a:t>DATE</a:t>
            </a:r>
            <a:r>
              <a:rPr lang="en-IN" dirty="0">
                <a:latin typeface="Segoe UI Semilight" panose="020B0402040204020203" pitchFamily="34" charset="0"/>
                <a:cs typeface="Segoe UI Semilight" panose="020B0402040204020203" pitchFamily="34" charset="0"/>
              </a:rPr>
              <a:t>, _pin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if @TRIGGER_DISABLED is True then </a:t>
            </a:r>
          </a:p>
          <a:p>
            <a:pPr marL="261938"/>
            <a:r>
              <a:rPr lang="en-IN" dirty="0">
                <a:latin typeface="Segoe UI Semilight" panose="020B0402040204020203" pitchFamily="34" charset="0"/>
                <a:cs typeface="Segoe UI Semilight" panose="020B0402040204020203" pitchFamily="34" charset="0"/>
              </a:rPr>
              <a:t>       INSERT INTO credit_card VALUES(_accountID, _issueDate, _pin,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573911516"/>
      </p:ext>
    </p:extLst>
  </p:cSld>
  <p:clrMapOvr>
    <a:masterClrMapping/>
  </p:clrMapOvr>
</p:sld>
</file>

<file path=ppt/slides/slide8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SQL Injection</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Injection in Insert/Update</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Load- XML</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0" y="785794"/>
            <a:ext cx="1117614" cy="400110"/>
          </a:xfrm>
          <a:prstGeom prst="rect">
            <a:avLst/>
          </a:prstGeom>
          <a:noFill/>
        </p:spPr>
        <p:txBody>
          <a:bodyPr wrap="none" rtlCol="0">
            <a:spAutoFit/>
          </a:bodyPr>
          <a:lstStyle/>
          <a:p>
            <a:r>
              <a:rPr lang="en-US" sz="2000" dirty="0">
                <a:solidFill>
                  <a:srgbClr val="00B050"/>
                </a:solidFill>
              </a:rPr>
              <a:t>XML File</a:t>
            </a:r>
          </a:p>
        </p:txBody>
      </p:sp>
    </p:spTree>
    <p:extLst>
      <p:ext uri="{BB962C8B-B14F-4D97-AF65-F5344CB8AC3E}">
        <p14:creationId xmlns:p14="http://schemas.microsoft.com/office/powerpoint/2010/main" val="2250237353"/>
      </p:ext>
    </p:extLst>
  </p:cSld>
  <p:clrMapOvr>
    <a:masterClrMapping/>
  </p:clrMapOvr>
</p:sld>
</file>

<file path=ppt/slides/slide8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7" name="Rectangle 6"/>
          <p:cNvSpPr/>
          <p:nvPr/>
        </p:nvSpPr>
        <p:spPr>
          <a:xfrm>
            <a:off x="1595438" y="3864122"/>
            <a:ext cx="9001156" cy="707886"/>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LOAD XML INFILE </a:t>
            </a:r>
            <a:r>
              <a:rPr lang="en-US" sz="2000" dirty="0">
                <a:solidFill>
                  <a:srgbClr val="FFC000"/>
                </a:solidFill>
                <a:latin typeface="Arial" panose="020B0604020202020204" pitchFamily="34" charset="0"/>
                <a:ea typeface="Times New Roman" panose="02020603050405020304" pitchFamily="18" charset="0"/>
              </a:rPr>
              <a:t>‘C:\\EMPLOYEE.XML'</a:t>
            </a:r>
            <a:r>
              <a:rPr lang="en-US" sz="2000" dirty="0">
                <a:solidFill>
                  <a:srgbClr val="0077AA"/>
                </a:solidFill>
                <a:latin typeface="Arial" panose="020B0604020202020204" pitchFamily="34" charset="0"/>
                <a:ea typeface="Times New Roman" panose="02020603050405020304" pitchFamily="18" charset="0"/>
              </a:rPr>
              <a:t> INTO TABLE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 ROWS IDENTIFIED BY </a:t>
            </a:r>
            <a:r>
              <a:rPr lang="en-US" sz="2000" dirty="0">
                <a:solidFill>
                  <a:srgbClr val="FFC000"/>
                </a:solidFill>
                <a:latin typeface="Arial" panose="020B0604020202020204" pitchFamily="34" charset="0"/>
                <a:ea typeface="Times New Roman" panose="02020603050405020304" pitchFamily="18" charset="0"/>
              </a:rPr>
              <a:t>'&lt;employee&gt;'</a:t>
            </a:r>
            <a:r>
              <a:rPr lang="en-US" sz="2000" dirty="0">
                <a:solidFill>
                  <a:srgbClr val="0077AA"/>
                </a:solidFill>
                <a:latin typeface="Arial" panose="020B0604020202020204" pitchFamily="34" charset="0"/>
                <a:ea typeface="Times New Roman" panose="02020603050405020304" pitchFamily="18" charset="0"/>
              </a:rPr>
              <a:t>;</a:t>
            </a:r>
          </a:p>
        </p:txBody>
      </p:sp>
      <p:sp>
        <p:nvSpPr>
          <p:cNvPr id="9" name="Rectangle 8"/>
          <p:cNvSpPr/>
          <p:nvPr/>
        </p:nvSpPr>
        <p:spPr>
          <a:xfrm>
            <a:off x="1809720" y="1428736"/>
            <a:ext cx="8501122" cy="1938992"/>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`employee` </a:t>
            </a:r>
            <a:r>
              <a:rPr lang="en-US" sz="2000" dirty="0"/>
              <a:t>(  </a:t>
            </a:r>
          </a:p>
          <a:p>
            <a:r>
              <a:rPr lang="en-US" sz="2000" dirty="0"/>
              <a:t>	`</a:t>
            </a:r>
            <a:r>
              <a:rPr lang="en-US" sz="2000" dirty="0">
                <a:solidFill>
                  <a:schemeClr val="accent5">
                    <a:lumMod val="75000"/>
                  </a:schemeClr>
                </a:solidFill>
              </a:rPr>
              <a:t>id</a:t>
            </a:r>
            <a:r>
              <a:rPr lang="en-US" sz="2000" dirty="0"/>
              <a:t>` </a:t>
            </a:r>
            <a:r>
              <a:rPr lang="en-US" sz="2000" dirty="0">
                <a:solidFill>
                  <a:schemeClr val="accent2">
                    <a:lumMod val="75000"/>
                  </a:schemeClr>
                </a:solidFill>
              </a:rPr>
              <a:t>varchar </a:t>
            </a:r>
            <a:r>
              <a:rPr lang="en-US" sz="2000" dirty="0"/>
              <a:t>(</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err="1">
                <a:solidFill>
                  <a:schemeClr val="accent5">
                    <a:lumMod val="75000"/>
                  </a:schemeClr>
                </a:solidFill>
              </a:rPr>
              <a:t>firstname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lastname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title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p>
          <a:p>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structure for XML file and load XML file.</a:t>
            </a:r>
          </a:p>
        </p:txBody>
      </p:sp>
      <p:sp>
        <p:nvSpPr>
          <p:cNvPr id="11" name="Rectangle 10"/>
          <p:cNvSpPr/>
          <p:nvPr/>
        </p:nvSpPr>
        <p:spPr>
          <a:xfrm>
            <a:off x="1595406" y="5000636"/>
            <a:ext cx="4500594" cy="400110"/>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SELECT </a:t>
            </a:r>
            <a:r>
              <a:rPr lang="en-US" sz="2000" dirty="0">
                <a:latin typeface="Arial" panose="020B0604020202020204" pitchFamily="34" charset="0"/>
                <a:ea typeface="Times New Roman" panose="02020603050405020304" pitchFamily="18" charset="0"/>
              </a:rPr>
              <a:t>*</a:t>
            </a:r>
            <a:r>
              <a:rPr lang="en-US" sz="2000" dirty="0">
                <a:solidFill>
                  <a:srgbClr val="0077AA"/>
                </a:solidFill>
                <a:latin typeface="Arial" panose="020B0604020202020204" pitchFamily="34" charset="0"/>
                <a:ea typeface="Times New Roman" panose="02020603050405020304" pitchFamily="18" charset="0"/>
              </a:rPr>
              <a:t> FROM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a:t>
            </a:r>
          </a:p>
        </p:txBody>
      </p:sp>
    </p:spTree>
    <p:extLst>
      <p:ext uri="{BB962C8B-B14F-4D97-AF65-F5344CB8AC3E}">
        <p14:creationId xmlns:p14="http://schemas.microsoft.com/office/powerpoint/2010/main" val="2250237353"/>
      </p:ext>
    </p:extLst>
  </p:cSld>
  <p:clrMapOvr>
    <a:masterClrMapping/>
  </p:clrMapOvr>
</p:sld>
</file>

<file path=ppt/slides/slide8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809720" y="1357299"/>
            <a:ext cx="8501122" cy="4401205"/>
          </a:xfrm>
          <a:prstGeom prst="rect">
            <a:avLst/>
          </a:prstGeom>
        </p:spPr>
        <p:txBody>
          <a:bodyPr wrap="square">
            <a:spAutoFit/>
          </a:bodyPr>
          <a:lstStyle/>
          <a:p>
            <a:r>
              <a:rPr lang="en-US" sz="2000" dirty="0">
                <a:solidFill>
                  <a:srgbClr val="006C86"/>
                </a:solidFill>
              </a:rPr>
              <a:t>SELECT</a:t>
            </a:r>
            <a:r>
              <a:rPr lang="en-US" sz="2000" dirty="0"/>
              <a:t> ExtractValue( </a:t>
            </a:r>
            <a:r>
              <a:rPr lang="en-US" sz="2000" dirty="0">
                <a:solidFill>
                  <a:srgbClr val="FFC000"/>
                </a:solidFill>
              </a:rPr>
              <a:t>'&lt;?xml version="1.0" encoding="UTF-8"?&gt;</a:t>
            </a:r>
          </a:p>
          <a:p>
            <a:r>
              <a:rPr lang="en-US" sz="2000" dirty="0">
                <a:solidFill>
                  <a:srgbClr val="FFC000"/>
                </a:solidFill>
              </a:rPr>
              <a:t>	&lt;student&gt;</a:t>
            </a:r>
          </a:p>
          <a:p>
            <a:r>
              <a:rPr lang="en-US" sz="2000" dirty="0">
                <a:solidFill>
                  <a:srgbClr val="FFC000"/>
                </a:solidFill>
              </a:rPr>
              <a:t>	    &lt;p1&gt;</a:t>
            </a:r>
          </a:p>
          <a:p>
            <a:r>
              <a:rPr lang="en-US" sz="2000" dirty="0">
                <a:solidFill>
                  <a:srgbClr val="FFC000"/>
                </a:solidFill>
              </a:rPr>
              <a:t>		&lt;id&gt;1001&lt;/id&gt;</a:t>
            </a:r>
          </a:p>
          <a:p>
            <a:r>
              <a:rPr lang="en-US" sz="2000" dirty="0">
                <a:solidFill>
                  <a:srgbClr val="FFC000"/>
                </a:solidFill>
              </a:rPr>
              <a:t>		&lt;name&gt; Saleel Bagde &lt;/name&gt;</a:t>
            </a:r>
          </a:p>
          <a:p>
            <a:r>
              <a:rPr lang="en-US" sz="2000" dirty="0">
                <a:solidFill>
                  <a:srgbClr val="FFC000"/>
                </a:solidFill>
              </a:rPr>
              <a:t>		&lt;email&gt; saleelbagde@gmail.com &lt;/email&gt;	</a:t>
            </a:r>
          </a:p>
          <a:p>
            <a:r>
              <a:rPr lang="en-US" sz="2000" dirty="0">
                <a:solidFill>
                  <a:srgbClr val="FFC000"/>
                </a:solidFill>
              </a:rPr>
              <a:t>	             &lt;email&gt; saleel.bagde@yahoomail.com &lt;/email&gt;</a:t>
            </a:r>
          </a:p>
          <a:p>
            <a:r>
              <a:rPr lang="en-US" sz="2000" dirty="0">
                <a:solidFill>
                  <a:srgbClr val="FFC000"/>
                </a:solidFill>
              </a:rPr>
              <a:t> 	   &lt;/p1&gt;</a:t>
            </a:r>
          </a:p>
          <a:p>
            <a:r>
              <a:rPr lang="en-US" sz="2000" dirty="0">
                <a:solidFill>
                  <a:srgbClr val="FFC000"/>
                </a:solidFill>
              </a:rPr>
              <a:t>    	   &lt;p1&gt;</a:t>
            </a:r>
          </a:p>
          <a:p>
            <a:r>
              <a:rPr lang="en-US" sz="2000" dirty="0">
                <a:solidFill>
                  <a:srgbClr val="FFC000"/>
                </a:solidFill>
              </a:rPr>
              <a:t>		&lt;id&gt;1002&lt;/id&gt;</a:t>
            </a:r>
          </a:p>
          <a:p>
            <a:r>
              <a:rPr lang="en-US" sz="2000" dirty="0">
                <a:solidFill>
                  <a:srgbClr val="FFC000"/>
                </a:solidFill>
              </a:rPr>
              <a:t>		&lt;name&gt; Sharmin Bagde &lt;/name&gt;</a:t>
            </a:r>
          </a:p>
          <a:p>
            <a:r>
              <a:rPr lang="en-US" sz="2000" dirty="0">
                <a:solidFill>
                  <a:srgbClr val="FFC000"/>
                </a:solidFill>
              </a:rPr>
              <a:t>		&lt;email&gt; sharminbagde@gmail.com &lt;/email&gt;	</a:t>
            </a:r>
          </a:p>
          <a:p>
            <a:r>
              <a:rPr lang="en-US" sz="2000" dirty="0">
                <a:solidFill>
                  <a:srgbClr val="FFC000"/>
                </a:solidFill>
              </a:rPr>
              <a:t>	  &lt;/p1&gt;</a:t>
            </a:r>
          </a:p>
          <a:p>
            <a:r>
              <a:rPr lang="en-US" sz="2000" dirty="0">
                <a:solidFill>
                  <a:srgbClr val="FFC000"/>
                </a:solidFill>
              </a:rPr>
              <a:t>&lt;/student&gt;'</a:t>
            </a:r>
            <a:r>
              <a:rPr lang="en-US" sz="2000" dirty="0"/>
              <a:t>,</a:t>
            </a:r>
            <a:r>
              <a:rPr lang="en-US" sz="2000" dirty="0">
                <a:solidFill>
                  <a:srgbClr val="FFC000"/>
                </a:solidFill>
              </a:rPr>
              <a:t> '//student//p1[$1]//email[$2]'</a:t>
            </a:r>
            <a:r>
              <a:rPr lang="en-US" sz="2000" dirty="0"/>
              <a:t>);</a:t>
            </a:r>
          </a:p>
        </p:txBody>
      </p:sp>
      <p:sp>
        <p:nvSpPr>
          <p:cNvPr id="11" name="Rectangle 10"/>
          <p:cNvSpPr/>
          <p:nvPr/>
        </p:nvSpPr>
        <p:spPr>
          <a:xfrm>
            <a:off x="1524000" y="0"/>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data from XML using MySQL ExtractValue function</a:t>
            </a:r>
          </a:p>
        </p:txBody>
      </p:sp>
    </p:spTree>
    <p:extLst>
      <p:ext uri="{BB962C8B-B14F-4D97-AF65-F5344CB8AC3E}">
        <p14:creationId xmlns:p14="http://schemas.microsoft.com/office/powerpoint/2010/main" val="2250237353"/>
      </p:ext>
    </p:extLst>
  </p:cSld>
  <p:clrMapOvr>
    <a:masterClrMapping/>
  </p:clrMapOvr>
</p:sld>
</file>

<file path=ppt/slides/slide8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9" name="Rectangle 8"/>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5" name="Rectangle 4"/>
          <p:cNvSpPr/>
          <p:nvPr/>
        </p:nvSpPr>
        <p:spPr>
          <a:xfrm>
            <a:off x="1738282" y="1357299"/>
            <a:ext cx="8643998" cy="5078313"/>
          </a:xfrm>
          <a:prstGeom prst="rect">
            <a:avLst/>
          </a:prstGeom>
        </p:spPr>
        <p:txBody>
          <a:bodyPr wrap="square">
            <a:spAutoFit/>
          </a:bodyPr>
          <a:lstStyle/>
          <a:p>
            <a:r>
              <a:rPr lang="en-US" dirty="0">
                <a:solidFill>
                  <a:schemeClr val="accent2">
                    <a:lumMod val="75000"/>
                  </a:schemeClr>
                </a:solidFill>
              </a:rPr>
              <a:t>INSERT</a:t>
            </a:r>
            <a:r>
              <a:rPr lang="en-US" dirty="0"/>
              <a:t> </a:t>
            </a:r>
            <a:r>
              <a:rPr lang="en-US" dirty="0">
                <a:solidFill>
                  <a:schemeClr val="accent2">
                    <a:lumMod val="75000"/>
                  </a:schemeClr>
                </a:solidFill>
              </a:rPr>
              <a:t>INTO</a:t>
            </a:r>
            <a:r>
              <a:rPr lang="en-US" dirty="0"/>
              <a:t> XMLTABLE </a:t>
            </a:r>
            <a:r>
              <a:rPr lang="en-US"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&lt;student1&gt;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      	&lt;/student1&gt; </a:t>
            </a:r>
          </a:p>
          <a:p>
            <a:r>
              <a:rPr lang="en-US" dirty="0">
                <a:solidFill>
                  <a:srgbClr val="FFC000"/>
                </a:solidFill>
              </a:rPr>
              <a:t>              &lt;student2&gt;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&lt;/student2&gt;</a:t>
            </a:r>
          </a:p>
          <a:p>
            <a:r>
              <a:rPr lang="en-US" dirty="0">
                <a:solidFill>
                  <a:srgbClr val="FFC000"/>
                </a:solidFill>
              </a:rPr>
              <a:t>              &lt;student3&gt;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&lt;/student3&gt;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 (</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8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4" name="TextBox 3"/>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5" name="Rectangle 4"/>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6" name="Rectangle 5"/>
          <p:cNvSpPr/>
          <p:nvPr/>
        </p:nvSpPr>
        <p:spPr>
          <a:xfrm>
            <a:off x="1738282" y="1357298"/>
            <a:ext cx="8643998" cy="5386090"/>
          </a:xfrm>
          <a:prstGeom prst="rect">
            <a:avLst/>
          </a:prstGeom>
        </p:spPr>
        <p:txBody>
          <a:bodyPr wrap="square">
            <a:spAutoFit/>
          </a:bodyPr>
          <a:lstStyle/>
          <a:p>
            <a:r>
              <a:rPr lang="en-US" sz="2000" dirty="0">
                <a:solidFill>
                  <a:schemeClr val="accent2">
                    <a:lumMod val="75000"/>
                  </a:schemeClr>
                </a:solidFill>
              </a:rPr>
              <a:t>INSERT</a:t>
            </a:r>
            <a:r>
              <a:rPr lang="en-US" dirty="0"/>
              <a:t> </a:t>
            </a:r>
            <a:r>
              <a:rPr lang="en-US" sz="2000" dirty="0">
                <a:solidFill>
                  <a:schemeClr val="accent2">
                    <a:lumMod val="75000"/>
                  </a:schemeClr>
                </a:solidFill>
              </a:rPr>
              <a:t>INTO</a:t>
            </a:r>
            <a:r>
              <a:rPr lang="en-US" dirty="0"/>
              <a:t> XMLTABLE </a:t>
            </a:r>
            <a:r>
              <a:rPr lang="en-US" sz="2000"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a:t>
            </a:r>
          </a:p>
          <a:p>
            <a:r>
              <a:rPr lang="en-US" dirty="0">
                <a:solidFill>
                  <a:srgbClr val="FFC000"/>
                </a:solidFill>
              </a:rPr>
              <a:t>      	&lt;/student&gt; </a:t>
            </a:r>
          </a:p>
          <a:p>
            <a:r>
              <a:rPr lang="en-US" dirty="0">
                <a:solidFill>
                  <a:srgbClr val="FFC000"/>
                </a:solidFill>
              </a:rPr>
              <a:t>              &lt;student&gt;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&lt;/student&gt;</a:t>
            </a:r>
          </a:p>
          <a:p>
            <a:r>
              <a:rPr lang="en-US" dirty="0">
                <a:solidFill>
                  <a:srgbClr val="FFC000"/>
                </a:solidFill>
              </a:rPr>
              <a:t>              &lt;student&gt;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1" y="714356"/>
            <a:ext cx="2053447" cy="400110"/>
          </a:xfrm>
          <a:prstGeom prst="rect">
            <a:avLst/>
          </a:prstGeom>
          <a:noFill/>
        </p:spPr>
        <p:txBody>
          <a:bodyPr wrap="none" rtlCol="0">
            <a:spAutoFit/>
          </a:bodyPr>
          <a:lstStyle/>
          <a:p>
            <a:r>
              <a:rPr lang="en-US" sz="2000" dirty="0">
                <a:solidFill>
                  <a:srgbClr val="00B050"/>
                </a:solidFill>
              </a:rPr>
              <a:t>Employee.xml File</a:t>
            </a:r>
          </a:p>
        </p:txBody>
      </p:sp>
    </p:spTree>
    <p:extLst>
      <p:ext uri="{BB962C8B-B14F-4D97-AF65-F5344CB8AC3E}">
        <p14:creationId xmlns:p14="http://schemas.microsoft.com/office/powerpoint/2010/main" val="2250237353"/>
      </p:ext>
    </p:extLst>
  </p:cSld>
  <p:clrMapOvr>
    <a:masterClrMapping/>
  </p:clrMapOvr>
</p:sld>
</file>

<file path=ppt/slides/slide9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Load and select  data from external XML file</a:t>
            </a:r>
          </a:p>
        </p:txBody>
      </p:sp>
      <p:sp>
        <p:nvSpPr>
          <p:cNvPr id="10" name="Rectangle 9"/>
          <p:cNvSpPr/>
          <p:nvPr/>
        </p:nvSpPr>
        <p:spPr>
          <a:xfrm>
            <a:off x="1809720" y="1500174"/>
            <a:ext cx="8572560" cy="1477328"/>
          </a:xfrm>
          <a:prstGeom prst="rect">
            <a:avLst/>
          </a:prstGeom>
        </p:spPr>
        <p:txBody>
          <a:bodyPr wrap="square">
            <a:spAutoFit/>
          </a:bodyPr>
          <a:lstStyle/>
          <a:p>
            <a:pPr>
              <a:lnSpc>
                <a:spcPct val="150000"/>
              </a:lnSpc>
            </a:pPr>
            <a:r>
              <a:rPr lang="en-US" sz="2000" dirty="0">
                <a:solidFill>
                  <a:schemeClr val="accent2">
                    <a:lumMod val="75000"/>
                  </a:schemeClr>
                </a:solidFill>
              </a:rPr>
              <a:t>SET</a:t>
            </a:r>
            <a:r>
              <a:rPr lang="en-US" sz="2000" dirty="0"/>
              <a:t> @</a:t>
            </a:r>
            <a:r>
              <a:rPr lang="en-US" sz="2000" dirty="0">
                <a:solidFill>
                  <a:schemeClr val="accent2">
                    <a:lumMod val="75000"/>
                  </a:schemeClr>
                </a:solidFill>
              </a:rPr>
              <a:t>xml</a:t>
            </a:r>
            <a:r>
              <a:rPr lang="en-US" sz="2000" dirty="0"/>
              <a:t> = </a:t>
            </a:r>
            <a:r>
              <a:rPr lang="en-US" sz="2000" dirty="0">
                <a:solidFill>
                  <a:schemeClr val="accent5">
                    <a:lumMod val="75000"/>
                  </a:schemeClr>
                </a:solidFill>
              </a:rPr>
              <a:t>LOAD_FILE</a:t>
            </a:r>
            <a:r>
              <a:rPr lang="en-US" sz="2000" dirty="0"/>
              <a:t>(</a:t>
            </a:r>
            <a:r>
              <a:rPr lang="en-US" sz="2000" dirty="0">
                <a:solidFill>
                  <a:srgbClr val="FFC000"/>
                </a:solidFill>
              </a:rPr>
              <a:t>"E:/employee.xml"</a:t>
            </a:r>
            <a:r>
              <a:rPr lang="en-US" sz="2000" dirty="0"/>
              <a:t>);</a:t>
            </a:r>
          </a:p>
          <a:p>
            <a:pPr>
              <a:lnSpc>
                <a:spcPct val="150000"/>
              </a:lnSpc>
            </a:pPr>
            <a:r>
              <a:rPr lang="en-US" sz="2000" dirty="0">
                <a:solidFill>
                  <a:schemeClr val="accent2">
                    <a:lumMod val="75000"/>
                  </a:schemeClr>
                </a:solidFill>
              </a:rPr>
              <a:t>SELECT</a:t>
            </a:r>
            <a:r>
              <a:rPr lang="en-US" sz="2000" dirty="0"/>
              <a:t> </a:t>
            </a:r>
            <a:r>
              <a:rPr lang="en-US" sz="2000" dirty="0">
                <a:solidFill>
                  <a:schemeClr val="accent2">
                    <a:lumMod val="75000"/>
                  </a:schemeClr>
                </a:solidFill>
              </a:rPr>
              <a:t>CONVERT(</a:t>
            </a:r>
            <a:r>
              <a:rPr lang="en-US" sz="2000" dirty="0">
                <a:solidFill>
                  <a:schemeClr val="accent5">
                    <a:lumMod val="75000"/>
                  </a:schemeClr>
                </a:solidFill>
              </a:rPr>
              <a:t>EXTRACTVALUE</a:t>
            </a:r>
            <a:r>
              <a:rPr lang="en-US" sz="2000" dirty="0"/>
              <a:t>(@</a:t>
            </a:r>
            <a:r>
              <a:rPr lang="en-US" sz="2000" dirty="0">
                <a:solidFill>
                  <a:schemeClr val="accent2">
                    <a:lumMod val="75000"/>
                  </a:schemeClr>
                </a:solidFill>
              </a:rPr>
              <a:t>xml</a:t>
            </a:r>
            <a:r>
              <a:rPr lang="en-US" sz="2000" dirty="0"/>
              <a:t>,</a:t>
            </a:r>
            <a:r>
              <a:rPr lang="en-US" sz="2000" dirty="0">
                <a:solidFill>
                  <a:srgbClr val="FFC000"/>
                </a:solidFill>
              </a:rPr>
              <a:t>"//employee[$1]//firstname"</a:t>
            </a:r>
            <a:r>
              <a:rPr lang="en-US" sz="2000" dirty="0"/>
              <a:t>), </a:t>
            </a:r>
            <a:r>
              <a:rPr lang="en-US" sz="2000" dirty="0">
                <a:solidFill>
                  <a:schemeClr val="accent2">
                    <a:lumMod val="75000"/>
                  </a:schemeClr>
                </a:solidFill>
              </a:rPr>
              <a:t>CHAR</a:t>
            </a:r>
            <a:r>
              <a:rPr lang="en-US" sz="2000" dirty="0"/>
              <a:t>);</a:t>
            </a:r>
          </a:p>
        </p:txBody>
      </p:sp>
    </p:spTree>
    <p:extLst>
      <p:ext uri="{BB962C8B-B14F-4D97-AF65-F5344CB8AC3E}">
        <p14:creationId xmlns:p14="http://schemas.microsoft.com/office/powerpoint/2010/main" val="2250237353"/>
      </p:ext>
    </p:extLst>
  </p:cSld>
  <p:clrMapOvr>
    <a:masterClrMapping/>
  </p:clrMapOvr>
</p:sld>
</file>

<file path=ppt/slides/slide9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Types of Number Systems</a:t>
            </a:r>
          </a:p>
        </p:txBody>
      </p:sp>
      <p:grpSp>
        <p:nvGrpSpPr>
          <p:cNvPr id="17" name="Group 16">
            <a:extLst>
              <a:ext uri="{FF2B5EF4-FFF2-40B4-BE49-F238E27FC236}">
                <a16:creationId xmlns:a16="http://schemas.microsoft.com/office/drawing/2014/main" id="{81EF085E-F8E2-29C9-5967-425EB305B31A}"/>
              </a:ext>
            </a:extLst>
          </p:cNvPr>
          <p:cNvGrpSpPr/>
          <p:nvPr/>
        </p:nvGrpSpPr>
        <p:grpSpPr>
          <a:xfrm>
            <a:off x="119336" y="1052736"/>
            <a:ext cx="11665296" cy="2940429"/>
            <a:chOff x="551384" y="1052736"/>
            <a:chExt cx="11233248" cy="2940429"/>
          </a:xfrm>
        </p:grpSpPr>
        <p:sp>
          <p:nvSpPr>
            <p:cNvPr id="3" name="TextBox 2">
              <a:extLst>
                <a:ext uri="{FF2B5EF4-FFF2-40B4-BE49-F238E27FC236}">
                  <a16:creationId xmlns:a16="http://schemas.microsoft.com/office/drawing/2014/main" id="{A9B1D89D-2309-759E-3AAC-11952D55B51E}"/>
                </a:ext>
              </a:extLst>
            </p:cNvPr>
            <p:cNvSpPr txBox="1"/>
            <p:nvPr/>
          </p:nvSpPr>
          <p:spPr>
            <a:xfrm>
              <a:off x="551384" y="1052736"/>
              <a:ext cx="11233248" cy="228780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Types of Number Systems</a:t>
              </a:r>
            </a:p>
            <a:p>
              <a:endParaRPr lang="en-IN"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Decimal number system (Base- 10)           =&gt; 0, 1, 2, 3, 4, 5, 6, 7, 8, 9</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Binary number system (Base- 2)                =&gt; 0, 1</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Octal number system (Base-8)                   =&gt; 0, 1, 2, 3, 4, 5, 6, 7</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Hexadecimal number system (Base- 16)   =&gt; 0, 1, 2, 3, 4, 5, 6, 7, 8, 9, 10,    11,    12,   13,    14,    15</a:t>
              </a:r>
            </a:p>
          </p:txBody>
        </p:sp>
        <p:cxnSp>
          <p:nvCxnSpPr>
            <p:cNvPr id="7" name="Straight Arrow Connector 6">
              <a:extLst>
                <a:ext uri="{FF2B5EF4-FFF2-40B4-BE49-F238E27FC236}">
                  <a16:creationId xmlns:a16="http://schemas.microsoft.com/office/drawing/2014/main" id="{7BD1D355-4ED4-0C53-9A5C-1AD53ABD7AA6}"/>
                </a:ext>
              </a:extLst>
            </p:cNvPr>
            <p:cNvCxnSpPr>
              <a:cxnSpLocks/>
            </p:cNvCxnSpPr>
            <p:nvPr/>
          </p:nvCxnSpPr>
          <p:spPr>
            <a:xfrm>
              <a:off x="7941081"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BD17B746-A723-D2D1-8D4D-5AAC6CDB09F6}"/>
                </a:ext>
              </a:extLst>
            </p:cNvPr>
            <p:cNvCxnSpPr>
              <a:cxnSpLocks/>
            </p:cNvCxnSpPr>
            <p:nvPr/>
          </p:nvCxnSpPr>
          <p:spPr>
            <a:xfrm>
              <a:off x="8482145"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CFC97A18-9AFD-0CD2-46DA-8E43F9269A7D}"/>
                </a:ext>
              </a:extLst>
            </p:cNvPr>
            <p:cNvCxnSpPr>
              <a:cxnSpLocks/>
            </p:cNvCxnSpPr>
            <p:nvPr/>
          </p:nvCxnSpPr>
          <p:spPr>
            <a:xfrm>
              <a:off x="9017288"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3C66D745-E992-C4DE-E59F-077E5500F74D}"/>
                </a:ext>
              </a:extLst>
            </p:cNvPr>
            <p:cNvCxnSpPr>
              <a:cxnSpLocks/>
            </p:cNvCxnSpPr>
            <p:nvPr/>
          </p:nvCxnSpPr>
          <p:spPr>
            <a:xfrm>
              <a:off x="953024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FCD58D19-6924-B95B-A8DF-9A57061B7AEF}"/>
                </a:ext>
              </a:extLst>
            </p:cNvPr>
            <p:cNvCxnSpPr>
              <a:cxnSpLocks/>
            </p:cNvCxnSpPr>
            <p:nvPr/>
          </p:nvCxnSpPr>
          <p:spPr>
            <a:xfrm>
              <a:off x="10057004"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021B772-9255-AC8F-A71A-24B76932FA7E}"/>
                </a:ext>
              </a:extLst>
            </p:cNvPr>
            <p:cNvCxnSpPr>
              <a:cxnSpLocks/>
            </p:cNvCxnSpPr>
            <p:nvPr/>
          </p:nvCxnSpPr>
          <p:spPr>
            <a:xfrm>
              <a:off x="1061896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3B4C18B2-F171-C77F-9393-E9168D0FBE05}"/>
                </a:ext>
              </a:extLst>
            </p:cNvPr>
            <p:cNvSpPr txBox="1"/>
            <p:nvPr/>
          </p:nvSpPr>
          <p:spPr>
            <a:xfrm>
              <a:off x="7781521" y="3623833"/>
              <a:ext cx="3240360" cy="369332"/>
            </a:xfrm>
            <a:prstGeom prst="rect">
              <a:avLst/>
            </a:prstGeom>
            <a:noFill/>
          </p:spPr>
          <p:txBody>
            <a:bodyPr wrap="square">
              <a:spAutoFit/>
            </a:bodyPr>
            <a:lstStyle/>
            <a:p>
              <a:r>
                <a:rPr lang="en-IN" sz="1800" dirty="0">
                  <a:latin typeface="Arial" panose="020B0604020202020204" pitchFamily="34" charset="0"/>
                  <a:cs typeface="Arial" panose="020B0604020202020204" pitchFamily="34" charset="0"/>
                </a:rPr>
                <a:t>A      B      C       D      E       F</a:t>
              </a:r>
              <a:endParaRPr lang="en-IN" dirty="0"/>
            </a:p>
          </p:txBody>
        </p:sp>
      </p:grpSp>
    </p:spTree>
    <p:extLst>
      <p:ext uri="{BB962C8B-B14F-4D97-AF65-F5344CB8AC3E}">
        <p14:creationId xmlns:p14="http://schemas.microsoft.com/office/powerpoint/2010/main" val="3548192229"/>
      </p:ext>
    </p:extLst>
  </p:cSld>
  <p:clrMapOvr>
    <a:masterClrMapping/>
  </p:clrMapOvr>
</p:sld>
</file>

<file path=ppt/slides/slide9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0"/>
            <a:ext cx="11521280" cy="769441"/>
          </a:xfrm>
          <a:prstGeom prst="rect">
            <a:avLst/>
          </a:prstGeom>
        </p:spPr>
        <p:txBody>
          <a:bodyPr wrap="square">
            <a:spAutoFit/>
          </a:bodyPr>
          <a:lstStyle/>
          <a:p>
            <a:pPr marL="342900" indent="-342900">
              <a:buAutoNum type="arabicPeriod"/>
            </a:pPr>
            <a:r>
              <a:rPr lang="en-IN" b="1" dirty="0">
                <a:latin typeface="Liberation Mono"/>
                <a:cs typeface="Calibri" panose="020F0502020204030204" pitchFamily="34" charset="0"/>
              </a:rPr>
              <a:t>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a:t>
            </a:r>
            <a:r>
              <a:rPr lang="en-IN" dirty="0">
                <a:latin typeface="Liberation Mono"/>
                <a:cs typeface="Calibri" panose="020F0502020204030204" pitchFamily="34" charset="0"/>
              </a:rPr>
              <a:t>.</a:t>
            </a:r>
          </a:p>
          <a:p>
            <a:pPr marL="342900" indent="-342900">
              <a:buAutoNum type="arabicPeriod"/>
            </a:pPr>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&lt;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6" name="Rectangle 5"/>
          <p:cNvSpPr/>
          <p:nvPr/>
        </p:nvSpPr>
        <p:spPr>
          <a:xfrm>
            <a:off x="335360" y="1600200"/>
            <a:ext cx="11521280" cy="769441"/>
          </a:xfrm>
          <a:prstGeom prst="rect">
            <a:avLst/>
          </a:prstGeom>
        </p:spPr>
        <p:txBody>
          <a:bodyPr wrap="square">
            <a:spAutoFit/>
          </a:bodyPr>
          <a:lstStyle/>
          <a:p>
            <a:r>
              <a:rPr lang="en-IN" b="1" dirty="0">
                <a:latin typeface="Liberation Mono"/>
                <a:cs typeface="Calibri" panose="020F0502020204030204" pitchFamily="34" charset="0"/>
              </a:rPr>
              <a:t>2.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&gt;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7" name="Rectangle 6"/>
          <p:cNvSpPr/>
          <p:nvPr/>
        </p:nvSpPr>
        <p:spPr>
          <a:xfrm>
            <a:off x="335360" y="2587551"/>
            <a:ext cx="11521280" cy="769441"/>
          </a:xfrm>
          <a:prstGeom prst="rect">
            <a:avLst/>
          </a:prstGeom>
        </p:spPr>
        <p:txBody>
          <a:bodyPr wrap="square">
            <a:spAutoFit/>
          </a:bodyPr>
          <a:lstStyle/>
          <a:p>
            <a:r>
              <a:rPr lang="en-IN" b="1" dirty="0">
                <a:latin typeface="Liberation Mono"/>
                <a:cs typeface="Calibri" panose="020F0502020204030204" pitchFamily="34" charset="0"/>
              </a:rPr>
              <a:t>3.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 of each department</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8" name="Rectangle 7"/>
          <p:cNvSpPr/>
          <p:nvPr/>
        </p:nvSpPr>
        <p:spPr>
          <a:xfrm>
            <a:off x="335360" y="3654310"/>
            <a:ext cx="11521280" cy="769441"/>
          </a:xfrm>
          <a:prstGeom prst="rect">
            <a:avLst/>
          </a:prstGeom>
        </p:spPr>
        <p:txBody>
          <a:bodyPr wrap="square">
            <a:spAutoFit/>
          </a:bodyPr>
          <a:lstStyle/>
          <a:p>
            <a:r>
              <a:rPr lang="en-IN" b="1" dirty="0">
                <a:latin typeface="Liberation Mono"/>
                <a:cs typeface="Calibri" panose="020F0502020204030204" pitchFamily="34" charset="0"/>
              </a:rPr>
              <a:t>4.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 of each department</a:t>
            </a:r>
            <a:r>
              <a:rPr lang="en-IN" dirty="0">
                <a:latin typeface="Liberation Mono"/>
                <a:cs typeface="Calibri" panose="020F0502020204030204" pitchFamily="34" charset="0"/>
              </a:rPr>
              <a:t>.</a:t>
            </a:r>
            <a:endParaRPr lang="en-IN" dirty="0">
              <a:solidFill>
                <a:srgbClr val="006C86"/>
              </a:solidFill>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10" name="Rectangle 9"/>
          <p:cNvSpPr/>
          <p:nvPr/>
        </p:nvSpPr>
        <p:spPr>
          <a:xfrm>
            <a:off x="335360" y="5661248"/>
            <a:ext cx="11521280" cy="1046440"/>
          </a:xfrm>
          <a:prstGeom prst="rect">
            <a:avLst/>
          </a:prstGeom>
        </p:spPr>
        <p:txBody>
          <a:bodyPr wrap="square">
            <a:spAutoFit/>
          </a:bodyPr>
          <a:lstStyle/>
          <a:p>
            <a:r>
              <a:rPr lang="en-IN" b="1" dirty="0">
                <a:latin typeface="Liberation Mono"/>
                <a:cs typeface="Calibri" panose="020F0502020204030204" pitchFamily="34" charset="0"/>
              </a:rPr>
              <a:t>6. Serial number jobwise</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 </a:t>
            </a:r>
            <a:r>
              <a:rPr lang="en-IN" dirty="0">
                <a:solidFill>
                  <a:srgbClr val="0077AA"/>
                </a:solidFill>
                <a:latin typeface="Liberation Mono"/>
                <a:cs typeface="Arial" panose="020B0604020202020204" pitchFamily="34" charset="0"/>
              </a:rPr>
              <a:t>CASE</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WHEN</a:t>
            </a:r>
            <a:r>
              <a:rPr lang="en-IN" dirty="0">
                <a:latin typeface="Liberation Mono"/>
                <a:cs typeface="Calibri" panose="020F0502020204030204" pitchFamily="34" charset="0"/>
              </a:rPr>
              <a:t> job = @JB </a:t>
            </a:r>
            <a:r>
              <a:rPr lang="en-IN" dirty="0">
                <a:solidFill>
                  <a:srgbClr val="0077AA"/>
                </a:solidFill>
                <a:latin typeface="Liberation Mono"/>
                <a:cs typeface="Arial" panose="020B0604020202020204" pitchFamily="34" charset="0"/>
              </a:rPr>
              <a:t>THEN</a:t>
            </a:r>
            <a:r>
              <a:rPr lang="en-IN" dirty="0">
                <a:latin typeface="Liberation Mono"/>
                <a:cs typeface="Calibri" panose="020F0502020204030204" pitchFamily="34" charset="0"/>
              </a:rPr>
              <a:t> @CNT + 1 </a:t>
            </a:r>
            <a:r>
              <a:rPr lang="en-IN" dirty="0">
                <a:solidFill>
                  <a:srgbClr val="0077AA"/>
                </a:solidFill>
                <a:latin typeface="Liberation Mono"/>
                <a:cs typeface="Arial" panose="020B0604020202020204" pitchFamily="34" charset="0"/>
              </a:rPr>
              <a:t>ELSE</a:t>
            </a:r>
            <a:r>
              <a:rPr lang="en-IN" dirty="0">
                <a:latin typeface="Liberation Mono"/>
                <a:cs typeface="Calibri" panose="020F0502020204030204" pitchFamily="34" charset="0"/>
              </a:rPr>
              <a:t> 1 </a:t>
            </a:r>
            <a:r>
              <a:rPr lang="en-IN" dirty="0">
                <a:solidFill>
                  <a:srgbClr val="0077AA"/>
                </a:solidFill>
                <a:latin typeface="Liberation Mono"/>
                <a:cs typeface="Arial" panose="020B0604020202020204" pitchFamily="34" charset="0"/>
              </a:rPr>
              <a:t>END</a:t>
            </a:r>
            <a:r>
              <a:rPr lang="en-IN" dirty="0">
                <a:latin typeface="Liberation Mono"/>
                <a:cs typeface="Calibri" panose="020F0502020204030204" pitchFamily="34" charset="0"/>
              </a:rPr>
              <a:t> R1, @JB := JOB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:=0, @JB := ''</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E </a:t>
            </a:r>
            <a:r>
              <a:rPr lang="en-IN" dirty="0">
                <a:solidFill>
                  <a:srgbClr val="0077AA"/>
                </a:solidFill>
                <a:latin typeface="Liberation Mono"/>
                <a:cs typeface="Arial" panose="020B0604020202020204" pitchFamily="34" charset="0"/>
              </a:rPr>
              <a:t>ORDER</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job;</a:t>
            </a:r>
          </a:p>
        </p:txBody>
      </p:sp>
      <p:sp>
        <p:nvSpPr>
          <p:cNvPr id="9" name="Rectangle 8">
            <a:extLst>
              <a:ext uri="{FF2B5EF4-FFF2-40B4-BE49-F238E27FC236}">
                <a16:creationId xmlns:a16="http://schemas.microsoft.com/office/drawing/2014/main" id="{BC74A5AF-5598-493E-AD2F-8EACF8DCE6FB}"/>
              </a:ext>
            </a:extLst>
          </p:cNvPr>
          <p:cNvSpPr/>
          <p:nvPr/>
        </p:nvSpPr>
        <p:spPr>
          <a:xfrm>
            <a:off x="335360" y="4603775"/>
            <a:ext cx="11521280" cy="769441"/>
          </a:xfrm>
          <a:prstGeom prst="rect">
            <a:avLst/>
          </a:prstGeom>
        </p:spPr>
        <p:txBody>
          <a:bodyPr wrap="square">
            <a:spAutoFit/>
          </a:bodyPr>
          <a:lstStyle/>
          <a:p>
            <a:r>
              <a:rPr lang="en-IN" b="1" dirty="0">
                <a:latin typeface="Liberation Mono"/>
                <a:cs typeface="Calibri" panose="020F0502020204030204" pitchFamily="34" charset="0"/>
              </a:rPr>
              <a:t>5. Find top 3 highest paid salary</a:t>
            </a:r>
            <a:endParaRPr lang="en-IN" dirty="0">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 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&gt;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ORD</a:t>
            </a:r>
            <a:r>
              <a:rPr lang="en-US" dirty="0">
                <a:solidFill>
                  <a:srgbClr val="0077AA"/>
                </a:solidFill>
                <a:latin typeface="Liberation Mono"/>
                <a:cs typeface="Arial" panose="020B0604020202020204" pitchFamily="34" charset="0"/>
              </a:rPr>
              <a:t>E</a:t>
            </a:r>
            <a:r>
              <a:rPr lang="en-US" dirty="0">
                <a:latin typeface="Liberation Mono"/>
                <a:cs typeface="Calibri" panose="020F0502020204030204" pitchFamily="34" charset="0"/>
              </a:rPr>
              <a:t>R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3, 1</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Calibri" panose="020F0502020204030204" pitchFamily="34" charset="0"/>
            </a:endParaRPr>
          </a:p>
        </p:txBody>
      </p:sp>
    </p:spTree>
    <p:extLst>
      <p:ext uri="{BB962C8B-B14F-4D97-AF65-F5344CB8AC3E}">
        <p14:creationId xmlns:p14="http://schemas.microsoft.com/office/powerpoint/2010/main" val="2250237353"/>
      </p:ext>
    </p:extLst>
  </p:cSld>
  <p:clrMapOvr>
    <a:masterClrMapping/>
  </p:clrMapOvr>
</p:sld>
</file>

<file path=ppt/slides/slide9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1"/>
            <a:ext cx="11449272" cy="923330"/>
          </a:xfrm>
          <a:prstGeom prst="rect">
            <a:avLst/>
          </a:prstGeom>
        </p:spPr>
        <p:txBody>
          <a:bodyPr wrap="square">
            <a:spAutoFit/>
          </a:bodyPr>
          <a:lstStyle/>
          <a:p>
            <a:r>
              <a:rPr lang="en-IN" b="1" dirty="0">
                <a:latin typeface="Liberation Mono"/>
                <a:cs typeface="Calibri" panose="020F0502020204030204" pitchFamily="34" charset="0"/>
              </a:rPr>
              <a:t>6. Find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row_number() over(partition by deptno, dname, loc, walletid) R1, duplicate.*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duplicate) t1 </a:t>
            </a:r>
            <a:r>
              <a:rPr lang="en-US" dirty="0">
                <a:solidFill>
                  <a:srgbClr val="0077AA"/>
                </a:solidFill>
                <a:latin typeface="Liberation Mono"/>
                <a:cs typeface="Arial" panose="020B0604020202020204" pitchFamily="34" charset="0"/>
              </a:rPr>
              <a:t>WHERE</a:t>
            </a:r>
            <a:r>
              <a:rPr lang="en-US" b="1" dirty="0">
                <a:latin typeface="Liberation Mono"/>
                <a:cs typeface="Calibri" panose="020F0502020204030204" pitchFamily="34" charset="0"/>
              </a:rPr>
              <a:t> r1&gt;1;</a:t>
            </a:r>
          </a:p>
        </p:txBody>
      </p:sp>
      <p:sp>
        <p:nvSpPr>
          <p:cNvPr id="6" name="Rectangle 5"/>
          <p:cNvSpPr/>
          <p:nvPr/>
        </p:nvSpPr>
        <p:spPr>
          <a:xfrm>
            <a:off x="335360" y="4772806"/>
            <a:ext cx="11449272" cy="677108"/>
          </a:xfrm>
          <a:prstGeom prst="rect">
            <a:avLst/>
          </a:prstGeom>
        </p:spPr>
        <p:txBody>
          <a:bodyPr wrap="square">
            <a:spAutoFit/>
          </a:bodyPr>
          <a:lstStyle/>
          <a:p>
            <a:r>
              <a:rPr lang="en-IN" sz="2000" b="1" dirty="0">
                <a:latin typeface="Calibri" panose="020F0502020204030204" pitchFamily="34" charset="0"/>
                <a:cs typeface="Calibri" panose="020F0502020204030204" pitchFamily="34" charset="0"/>
              </a:rPr>
              <a:t>8. </a:t>
            </a:r>
            <a:r>
              <a:rPr lang="en-IN" sz="2000" b="1" dirty="0">
                <a:latin typeface="Liberation Mono"/>
                <a:cs typeface="Calibri" panose="020F0502020204030204" pitchFamily="34" charset="0"/>
              </a:rPr>
              <a:t>Display employee name with highest salary in each job.</a:t>
            </a:r>
          </a:p>
          <a:p>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ename, job,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(job, sal)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job, MAX(sal)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a:t>
            </a:r>
            <a:endParaRPr lang="en-IN" dirty="0">
              <a:latin typeface="Liberation Mono"/>
              <a:cs typeface="Calibri" panose="020F0502020204030204" pitchFamily="34" charset="0"/>
            </a:endParaRPr>
          </a:p>
        </p:txBody>
      </p:sp>
      <p:sp>
        <p:nvSpPr>
          <p:cNvPr id="9" name="TextBox 8">
            <a:extLst>
              <a:ext uri="{FF2B5EF4-FFF2-40B4-BE49-F238E27FC236}">
                <a16:creationId xmlns:a16="http://schemas.microsoft.com/office/drawing/2014/main" id="{10BCCC6F-72B1-4101-B528-2A931501189F}"/>
              </a:ext>
            </a:extLst>
          </p:cNvPr>
          <p:cNvSpPr txBox="1"/>
          <p:nvPr/>
        </p:nvSpPr>
        <p:spPr>
          <a:xfrm>
            <a:off x="335360" y="2893628"/>
            <a:ext cx="11449272" cy="1631216"/>
          </a:xfrm>
          <a:prstGeom prst="rect">
            <a:avLst/>
          </a:prstGeom>
          <a:noFill/>
        </p:spPr>
        <p:txBody>
          <a:bodyPr wrap="square">
            <a:spAutoFit/>
          </a:bodyPr>
          <a:lstStyle/>
          <a:p>
            <a:r>
              <a:rPr lang="en-IN" b="1" dirty="0">
                <a:latin typeface="Liberation Mono"/>
                <a:cs typeface="Calibri" panose="020F0502020204030204" pitchFamily="34" charset="0"/>
              </a:rPr>
              <a:t>7. Delete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MIN</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 d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a:p>
            <a:endParaRPr lang="en-US" sz="10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id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t1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p:txBody>
      </p:sp>
      <p:sp>
        <p:nvSpPr>
          <p:cNvPr id="7" name="Rectangle 6">
            <a:extLst>
              <a:ext uri="{FF2B5EF4-FFF2-40B4-BE49-F238E27FC236}">
                <a16:creationId xmlns:a16="http://schemas.microsoft.com/office/drawing/2014/main" id="{8471A10E-AC2D-38CC-528A-F85881BB989E}"/>
              </a:ext>
            </a:extLst>
          </p:cNvPr>
          <p:cNvSpPr/>
          <p:nvPr/>
        </p:nvSpPr>
        <p:spPr>
          <a:xfrm>
            <a:off x="335360" y="5696029"/>
            <a:ext cx="11449272" cy="677108"/>
          </a:xfrm>
          <a:prstGeom prst="rect">
            <a:avLst/>
          </a:prstGeom>
        </p:spPr>
        <p:txBody>
          <a:bodyPr wrap="square">
            <a:spAutoFit/>
          </a:bodyPr>
          <a:lstStyle/>
          <a:p>
            <a:r>
              <a:rPr lang="en-IN" sz="2000" b="1" dirty="0">
                <a:latin typeface="Liberation Mono"/>
                <a:cs typeface="Calibri" panose="020F0502020204030204" pitchFamily="34" charset="0"/>
              </a:rPr>
              <a:t>9. Display employee having the same salary</a:t>
            </a:r>
          </a:p>
          <a:p>
            <a:r>
              <a:rPr lang="en-IN" dirty="0">
                <a:solidFill>
                  <a:srgbClr val="0077AA"/>
                </a:solidFill>
                <a:latin typeface="Liberation Mono"/>
                <a:cs typeface="Arial" panose="020B0604020202020204" pitchFamily="34" charset="0"/>
              </a:rPr>
              <a:t>SELECT</a:t>
            </a:r>
            <a:r>
              <a:rPr lang="en-IN" dirty="0">
                <a:latin typeface="Liberation Mono"/>
              </a:rPr>
              <a:t> distinct e1.* </a:t>
            </a:r>
            <a:r>
              <a:rPr lang="en-IN" dirty="0">
                <a:solidFill>
                  <a:srgbClr val="0077AA"/>
                </a:solidFill>
                <a:latin typeface="Liberation Mono"/>
                <a:cs typeface="Arial" panose="020B0604020202020204" pitchFamily="34" charset="0"/>
              </a:rPr>
              <a:t>FROM</a:t>
            </a:r>
            <a:r>
              <a:rPr lang="en-IN" dirty="0">
                <a:latin typeface="Liberation Mono"/>
              </a:rPr>
              <a:t> emp e1 , emp e2 </a:t>
            </a:r>
            <a:r>
              <a:rPr lang="en-IN" dirty="0">
                <a:solidFill>
                  <a:srgbClr val="0077AA"/>
                </a:solidFill>
                <a:latin typeface="Liberation Mono"/>
                <a:cs typeface="Arial" panose="020B0604020202020204" pitchFamily="34" charset="0"/>
              </a:rPr>
              <a:t>WHERE</a:t>
            </a:r>
            <a:r>
              <a:rPr lang="en-IN" dirty="0">
                <a:latin typeface="Liberation Mono"/>
              </a:rPr>
              <a:t> e1.sal = e2.sal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e1.empno != e2.empno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dirty="0">
                <a:latin typeface="Liberation Mono"/>
              </a:rPr>
              <a:t>e1.sal;</a:t>
            </a:r>
          </a:p>
        </p:txBody>
      </p:sp>
    </p:spTree>
    <p:extLst>
      <p:ext uri="{BB962C8B-B14F-4D97-AF65-F5344CB8AC3E}">
        <p14:creationId xmlns:p14="http://schemas.microsoft.com/office/powerpoint/2010/main" val="2778608303"/>
      </p:ext>
    </p:extLst>
  </p:cSld>
  <p:clrMapOvr>
    <a:masterClrMapping/>
  </p:clrMapOvr>
</p:sld>
</file>

<file path=ppt/slides/slide9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Interview questions</a:t>
            </a:r>
          </a:p>
        </p:txBody>
      </p:sp>
      <p:sp>
        <p:nvSpPr>
          <p:cNvPr id="5" name="Rectangle 4"/>
          <p:cNvSpPr/>
          <p:nvPr/>
        </p:nvSpPr>
        <p:spPr>
          <a:xfrm>
            <a:off x="407368" y="4797152"/>
            <a:ext cx="11089232" cy="369332"/>
          </a:xfrm>
          <a:prstGeom prst="rect">
            <a:avLst/>
          </a:prstGeom>
        </p:spPr>
        <p:txBody>
          <a:bodyPr wrap="square">
            <a:spAutoFit/>
          </a:bodyPr>
          <a:lstStyle/>
          <a:p>
            <a:r>
              <a:rPr lang="en-IN" dirty="0"/>
              <a:t>select count(*), e.* from e group by empno, ename, job, mgr, hiredate, sal, comm, deptno, bonusid, `user name`, pwd;</a:t>
            </a:r>
          </a:p>
        </p:txBody>
      </p:sp>
      <p:sp>
        <p:nvSpPr>
          <p:cNvPr id="2" name="Rectangle 1"/>
          <p:cNvSpPr/>
          <p:nvPr/>
        </p:nvSpPr>
        <p:spPr>
          <a:xfrm>
            <a:off x="407368" y="914400"/>
            <a:ext cx="11377264" cy="3693319"/>
          </a:xfrm>
          <a:prstGeom prst="rect">
            <a:avLst/>
          </a:prstGeom>
        </p:spPr>
        <p:txBody>
          <a:bodyPr wrap="square">
            <a:spAutoFit/>
          </a:bodyPr>
          <a:lstStyle/>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CHAR and VARCHAR?</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DROP, AND TRUNCATE.</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TABLE and TRUNCATE TABLE commands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Inner Join and Natural Join.</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are types of joins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primary key and unique key?</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do you mean my Joins and explain different types of MySQL Joins?</a:t>
            </a:r>
          </a:p>
        </p:txBody>
      </p:sp>
      <p:sp>
        <p:nvSpPr>
          <p:cNvPr id="6" name="TextBox 5">
            <a:extLst>
              <a:ext uri="{FF2B5EF4-FFF2-40B4-BE49-F238E27FC236}">
                <a16:creationId xmlns:a16="http://schemas.microsoft.com/office/drawing/2014/main" id="{DB030C01-488F-46CF-A9A1-398852584EF2}"/>
              </a:ext>
            </a:extLst>
          </p:cNvPr>
          <p:cNvSpPr txBox="1"/>
          <p:nvPr/>
        </p:nvSpPr>
        <p:spPr>
          <a:xfrm>
            <a:off x="263352" y="5357427"/>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 2, 7) group by plumberid having count(*) =(select max(R1) from (select plumberid, count(plumberid) R1 from plumber_service_map where serviceid in (1, 2, 7) group by plumberid) t1)) order by plumberid, serviceid;</a:t>
            </a:r>
          </a:p>
        </p:txBody>
      </p:sp>
    </p:spTree>
    <p:extLst>
      <p:ext uri="{BB962C8B-B14F-4D97-AF65-F5344CB8AC3E}">
        <p14:creationId xmlns:p14="http://schemas.microsoft.com/office/powerpoint/2010/main" val="4242655406"/>
      </p:ext>
    </p:extLst>
  </p:cSld>
  <p:clrMapOvr>
    <a:masterClrMapping/>
  </p:clrMapOvr>
</p:sld>
</file>

<file path=ppt/slides/slide9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1556658" y="688280"/>
            <a:ext cx="12627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TABLET Table</a:t>
            </a:r>
          </a:p>
        </p:txBody>
      </p:sp>
      <p:graphicFrame>
        <p:nvGraphicFramePr>
          <p:cNvPr id="2" name="Table 1"/>
          <p:cNvGraphicFramePr>
            <a:graphicFrameLocks noGrp="1"/>
          </p:cNvGraphicFramePr>
          <p:nvPr>
            <p:extLst>
              <p:ext uri="{D42A27DB-BD31-4B8C-83A1-F6EECF244321}">
                <p14:modId xmlns:p14="http://schemas.microsoft.com/office/powerpoint/2010/main" val="3161990441"/>
              </p:ext>
            </p:extLst>
          </p:nvPr>
        </p:nvGraphicFramePr>
        <p:xfrm>
          <a:off x="2819400" y="726440"/>
          <a:ext cx="7696200" cy="1483360"/>
        </p:xfrm>
        <a:graphic>
          <a:graphicData uri="http://schemas.openxmlformats.org/drawingml/2006/table">
            <a:tbl>
              <a:tblPr firstRow="1" bandRow="1">
                <a:tableStyleId>{5940675A-B579-460E-94D1-54222C63F5DA}</a:tableStyleId>
              </a:tblPr>
              <a:tblGrid>
                <a:gridCol w="572015">
                  <a:extLst>
                    <a:ext uri="{9D8B030D-6E8A-4147-A177-3AD203B41FA5}">
                      <a16:colId xmlns:a16="http://schemas.microsoft.com/office/drawing/2014/main" val="20000"/>
                    </a:ext>
                  </a:extLst>
                </a:gridCol>
                <a:gridCol w="1637785">
                  <a:extLst>
                    <a:ext uri="{9D8B030D-6E8A-4147-A177-3AD203B41FA5}">
                      <a16:colId xmlns:a16="http://schemas.microsoft.com/office/drawing/2014/main" val="20001"/>
                    </a:ext>
                  </a:extLst>
                </a:gridCol>
                <a:gridCol w="388620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a:t>
                      </a:r>
                    </a:p>
                  </a:txBody>
                  <a:tcPr/>
                </a:tc>
                <a:tc>
                  <a:txBody>
                    <a:bodyPr/>
                    <a:lstStyle/>
                    <a:p>
                      <a:r>
                        <a:rPr kumimoji="0" lang="en-IN" sz="1600" b="0" i="0" kern="1200" dirty="0">
                          <a:solidFill>
                            <a:schemeClr val="tx1"/>
                          </a:solidFill>
                          <a:effectLst/>
                          <a:latin typeface="+mn-lt"/>
                          <a:ea typeface="+mn-ea"/>
                          <a:cs typeface="+mn-cs"/>
                        </a:rPr>
                        <a:t>CROCIN</a:t>
                      </a:r>
                      <a:endParaRPr lang="en-IN" sz="1600" dirty="0"/>
                    </a:p>
                  </a:txBody>
                  <a:tcPr/>
                </a:tc>
                <a:tc>
                  <a:txBody>
                    <a:bodyPr/>
                    <a:lstStyle/>
                    <a:p>
                      <a:r>
                        <a:rPr kumimoji="0" lang="en-IN" sz="1600" b="0" i="0" kern="1200" dirty="0">
                          <a:solidFill>
                            <a:schemeClr val="tx1"/>
                          </a:solidFill>
                          <a:effectLst/>
                          <a:latin typeface="+mn-lt"/>
                          <a:ea typeface="+mn-ea"/>
                          <a:cs typeface="+mn-cs"/>
                        </a:rPr>
                        <a:t>PARACETAMOL </a:t>
                      </a:r>
                      <a:endParaRPr lang="en-IN" sz="1600" dirty="0"/>
                    </a:p>
                  </a:txBody>
                  <a:tcPr/>
                </a:tc>
                <a:tc>
                  <a:txBody>
                    <a:bodyPr/>
                    <a:lstStyle/>
                    <a:p>
                      <a:r>
                        <a:rPr lang="en-IN" sz="1600" dirty="0"/>
                        <a:t>100mg</a:t>
                      </a:r>
                    </a:p>
                  </a:txBody>
                  <a:tcPr/>
                </a:tc>
                <a:extLst>
                  <a:ext uri="{0D108BD9-81ED-4DB2-BD59-A6C34878D82A}">
                    <a16:rowId xmlns:a16="http://schemas.microsoft.com/office/drawing/2014/main" val="10001"/>
                  </a:ext>
                </a:extLst>
              </a:tr>
              <a:tr h="370840">
                <a:tc>
                  <a:txBody>
                    <a:bodyPr/>
                    <a:lstStyle/>
                    <a:p>
                      <a:r>
                        <a:rPr lang="en-IN" sz="1600" dirty="0"/>
                        <a:t>2</a:t>
                      </a:r>
                    </a:p>
                  </a:txBody>
                  <a:tcPr/>
                </a:tc>
                <a:tc>
                  <a:txBody>
                    <a:bodyPr/>
                    <a:lstStyle/>
                    <a:p>
                      <a:r>
                        <a:rPr lang="en-IN" sz="1600" dirty="0"/>
                        <a:t>COMBIFLAM</a:t>
                      </a:r>
                    </a:p>
                  </a:txBody>
                  <a:tcPr/>
                </a:tc>
                <a:tc>
                  <a:txBody>
                    <a:bodyPr/>
                    <a:lstStyle/>
                    <a:p>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25mg</a:t>
                      </a:r>
                    </a:p>
                  </a:txBody>
                  <a:tcPr/>
                </a:tc>
                <a:extLst>
                  <a:ext uri="{0D108BD9-81ED-4DB2-BD59-A6C34878D82A}">
                    <a16:rowId xmlns:a16="http://schemas.microsoft.com/office/drawing/2014/main" val="10002"/>
                  </a:ext>
                </a:extLst>
              </a:tr>
              <a:tr h="370840">
                <a:tc>
                  <a:txBody>
                    <a:bodyPr/>
                    <a:lstStyle/>
                    <a:p>
                      <a:r>
                        <a:rPr lang="en-IN" sz="1600" dirty="0"/>
                        <a:t>3</a:t>
                      </a:r>
                    </a:p>
                  </a:txBody>
                  <a:tcPr/>
                </a:tc>
                <a:tc>
                  <a:txBody>
                    <a:bodyPr/>
                    <a:lstStyle/>
                    <a:p>
                      <a:r>
                        <a:rPr lang="en-IN" sz="1600" dirty="0"/>
                        <a:t>DIVON PLUS</a:t>
                      </a:r>
                    </a:p>
                  </a:txBody>
                  <a:tcPr/>
                </a:tc>
                <a:tc>
                  <a:txBody>
                    <a:bodyPr/>
                    <a:lstStyle/>
                    <a:p>
                      <a:r>
                        <a:rPr kumimoji="0" lang="en-IN" sz="1600" b="0" i="0" kern="1200" dirty="0">
                          <a:solidFill>
                            <a:schemeClr val="tx1"/>
                          </a:solidFill>
                          <a:effectLst/>
                          <a:latin typeface="+mn-lt"/>
                          <a:ea typeface="+mn-ea"/>
                          <a:cs typeface="+mn-cs"/>
                        </a:rPr>
                        <a:t>PARACETAMOL, DICLOFENAC</a:t>
                      </a:r>
                    </a:p>
                  </a:txBody>
                  <a:tcPr/>
                </a:tc>
                <a:tc>
                  <a:txBody>
                    <a:bodyPr/>
                    <a:lstStyle/>
                    <a:p>
                      <a:r>
                        <a:rPr kumimoji="0" lang="en-IN" sz="1600" b="0" i="0" kern="1200" dirty="0">
                          <a:solidFill>
                            <a:schemeClr val="tx1"/>
                          </a:solidFill>
                          <a:effectLst/>
                          <a:latin typeface="+mn-lt"/>
                          <a:ea typeface="+mn-ea"/>
                          <a:cs typeface="+mn-cs"/>
                        </a:rPr>
                        <a:t>30mg</a:t>
                      </a:r>
                    </a:p>
                  </a:txBody>
                  <a:tcPr/>
                </a:tc>
                <a:extLst>
                  <a:ext uri="{0D108BD9-81ED-4DB2-BD59-A6C34878D82A}">
                    <a16:rowId xmlns:a16="http://schemas.microsoft.com/office/drawing/2014/main" val="10003"/>
                  </a:ext>
                </a:extLst>
              </a:tr>
            </a:tbl>
          </a:graphicData>
        </a:graphic>
      </p:graphicFrame>
      <p:sp>
        <p:nvSpPr>
          <p:cNvPr id="9" name="Rectangle 8"/>
          <p:cNvSpPr/>
          <p:nvPr/>
        </p:nvSpPr>
        <p:spPr>
          <a:xfrm>
            <a:off x="1524001" y="2662796"/>
            <a:ext cx="11103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SYRUP Table</a:t>
            </a:r>
          </a:p>
        </p:txBody>
      </p:sp>
      <p:graphicFrame>
        <p:nvGraphicFramePr>
          <p:cNvPr id="10" name="Table 9"/>
          <p:cNvGraphicFramePr>
            <a:graphicFrameLocks noGrp="1"/>
          </p:cNvGraphicFramePr>
          <p:nvPr>
            <p:extLst>
              <p:ext uri="{D42A27DB-BD31-4B8C-83A1-F6EECF244321}">
                <p14:modId xmlns:p14="http://schemas.microsoft.com/office/powerpoint/2010/main" val="2058678089"/>
              </p:ext>
            </p:extLst>
          </p:nvPr>
        </p:nvGraphicFramePr>
        <p:xfrm>
          <a:off x="2819402" y="2547256"/>
          <a:ext cx="7699799" cy="1854200"/>
        </p:xfrm>
        <a:graphic>
          <a:graphicData uri="http://schemas.openxmlformats.org/drawingml/2006/table">
            <a:tbl>
              <a:tblPr firstRow="1" bandRow="1">
                <a:tableStyleId>{5940675A-B579-460E-94D1-54222C63F5DA}</a:tableStyleId>
              </a:tblPr>
              <a:tblGrid>
                <a:gridCol w="571760">
                  <a:extLst>
                    <a:ext uri="{9D8B030D-6E8A-4147-A177-3AD203B41FA5}">
                      <a16:colId xmlns:a16="http://schemas.microsoft.com/office/drawing/2014/main" val="20000"/>
                    </a:ext>
                  </a:extLst>
                </a:gridCol>
                <a:gridCol w="1638039">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11</a:t>
                      </a:r>
                    </a:p>
                  </a:txBody>
                  <a:tcPr/>
                </a:tc>
                <a:tc>
                  <a:txBody>
                    <a:bodyPr/>
                    <a:lstStyle/>
                    <a:p>
                      <a:r>
                        <a:rPr kumimoji="0" lang="en-IN" sz="1600" b="0" i="0" kern="1200" dirty="0">
                          <a:solidFill>
                            <a:schemeClr val="tx1"/>
                          </a:solidFill>
                          <a:effectLst/>
                          <a:latin typeface="+mn-lt"/>
                          <a:ea typeface="+mn-ea"/>
                          <a:cs typeface="+mn-cs"/>
                        </a:rPr>
                        <a:t>BENADRYL</a:t>
                      </a:r>
                      <a:endParaRPr lang="en-IN" sz="1600" dirty="0"/>
                    </a:p>
                  </a:txBody>
                  <a:tcPr/>
                </a:tc>
                <a:tc>
                  <a:txBody>
                    <a:bodyPr/>
                    <a:lstStyle/>
                    <a:p>
                      <a:r>
                        <a:rPr kumimoji="0" lang="en-IN" sz="1600" b="0" i="0" kern="1200" dirty="0">
                          <a:solidFill>
                            <a:schemeClr val="tx1"/>
                          </a:solidFill>
                          <a:effectLst/>
                          <a:latin typeface="+mn-lt"/>
                          <a:ea typeface="+mn-ea"/>
                          <a:cs typeface="+mn-cs"/>
                        </a:rPr>
                        <a:t>DIPHENHYDRAMINE</a:t>
                      </a:r>
                      <a:endParaRPr lang="en-IN" sz="1600" dirty="0"/>
                    </a:p>
                  </a:txBody>
                  <a:tcPr/>
                </a:tc>
                <a:tc>
                  <a:txBody>
                    <a:bodyPr/>
                    <a:lstStyle/>
                    <a:p>
                      <a:r>
                        <a:rPr lang="en-IN" sz="1600" dirty="0"/>
                        <a:t>.7mg</a:t>
                      </a:r>
                    </a:p>
                  </a:txBody>
                  <a:tcPr/>
                </a:tc>
                <a:extLst>
                  <a:ext uri="{0D108BD9-81ED-4DB2-BD59-A6C34878D82A}">
                    <a16:rowId xmlns:a16="http://schemas.microsoft.com/office/drawing/2014/main" val="10001"/>
                  </a:ext>
                </a:extLst>
              </a:tr>
              <a:tr h="370840">
                <a:tc>
                  <a:txBody>
                    <a:bodyPr/>
                    <a:lstStyle/>
                    <a:p>
                      <a:r>
                        <a:rPr lang="en-IN" sz="1600" dirty="0"/>
                        <a:t>12</a:t>
                      </a:r>
                    </a:p>
                  </a:txBody>
                  <a:tcPr/>
                </a:tc>
                <a:tc>
                  <a:txBody>
                    <a:bodyPr/>
                    <a:lstStyle/>
                    <a:p>
                      <a:r>
                        <a:rPr lang="en-IN" sz="1600" dirty="0"/>
                        <a:t>COMBIFLAM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0.12mg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13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COREX</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p>
                  </a:txBody>
                  <a:tcPr/>
                </a:tc>
                <a:tc>
                  <a:txBody>
                    <a:bodyPr/>
                    <a:lstStyle/>
                    <a:p>
                      <a:r>
                        <a:rPr kumimoji="0" lang="en-IN" sz="1600" b="0" i="0" kern="1200" dirty="0">
                          <a:solidFill>
                            <a:schemeClr val="tx1"/>
                          </a:solidFill>
                          <a:effectLst/>
                          <a:latin typeface="+mn-lt"/>
                          <a:ea typeface="+mn-ea"/>
                          <a:cs typeface="+mn-cs"/>
                        </a:rPr>
                        <a:t>2.3mg</a:t>
                      </a:r>
                    </a:p>
                  </a:txBody>
                  <a:tcPr/>
                </a:tc>
                <a:extLst>
                  <a:ext uri="{0D108BD9-81ED-4DB2-BD59-A6C34878D82A}">
                    <a16:rowId xmlns:a16="http://schemas.microsoft.com/office/drawing/2014/main" val="10003"/>
                  </a:ext>
                </a:extLst>
              </a:tr>
              <a:tr h="370840">
                <a:tc>
                  <a:txBody>
                    <a:bodyPr/>
                    <a:lstStyle/>
                    <a:p>
                      <a:r>
                        <a:rPr kumimoji="0" lang="en-IN" sz="1600" b="0" i="0" kern="1200" dirty="0">
                          <a:solidFill>
                            <a:schemeClr val="tx1"/>
                          </a:solidFill>
                          <a:effectLst/>
                          <a:latin typeface="+mn-lt"/>
                          <a:ea typeface="+mn-ea"/>
                          <a:cs typeface="+mn-cs"/>
                        </a:rPr>
                        <a:t>14</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0.06mg</a:t>
                      </a:r>
                    </a:p>
                  </a:txBody>
                  <a:tcPr/>
                </a:tc>
                <a:extLst>
                  <a:ext uri="{0D108BD9-81ED-4DB2-BD59-A6C34878D82A}">
                    <a16:rowId xmlns:a16="http://schemas.microsoft.com/office/drawing/2014/main" val="10004"/>
                  </a:ext>
                </a:extLst>
              </a:tr>
            </a:tbl>
          </a:graphicData>
        </a:graphic>
      </p:graphicFrame>
      <p:sp>
        <p:nvSpPr>
          <p:cNvPr id="11" name="Rectangle 10"/>
          <p:cNvSpPr/>
          <p:nvPr/>
        </p:nvSpPr>
        <p:spPr>
          <a:xfrm>
            <a:off x="1524000" y="4724400"/>
            <a:ext cx="1447800"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INJECTION Table</a:t>
            </a:r>
          </a:p>
        </p:txBody>
      </p:sp>
      <p:graphicFrame>
        <p:nvGraphicFramePr>
          <p:cNvPr id="12" name="Table 11"/>
          <p:cNvGraphicFramePr>
            <a:graphicFrameLocks noGrp="1"/>
          </p:cNvGraphicFramePr>
          <p:nvPr>
            <p:extLst>
              <p:ext uri="{D42A27DB-BD31-4B8C-83A1-F6EECF244321}">
                <p14:modId xmlns:p14="http://schemas.microsoft.com/office/powerpoint/2010/main" val="2545765642"/>
              </p:ext>
            </p:extLst>
          </p:nvPr>
        </p:nvGraphicFramePr>
        <p:xfrm>
          <a:off x="2819400" y="4724400"/>
          <a:ext cx="7699800" cy="1483360"/>
        </p:xfrm>
        <a:graphic>
          <a:graphicData uri="http://schemas.openxmlformats.org/drawingml/2006/table">
            <a:tbl>
              <a:tblPr firstRow="1" bandRow="1">
                <a:tableStyleId>{5940675A-B579-460E-94D1-54222C63F5DA}</a:tableStyleId>
              </a:tblPr>
              <a:tblGrid>
                <a:gridCol w="572060">
                  <a:extLst>
                    <a:ext uri="{9D8B030D-6E8A-4147-A177-3AD203B41FA5}">
                      <a16:colId xmlns:a16="http://schemas.microsoft.com/office/drawing/2014/main" val="20000"/>
                    </a:ext>
                  </a:extLst>
                </a:gridCol>
                <a:gridCol w="1637740">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21</a:t>
                      </a:r>
                    </a:p>
                  </a:txBody>
                  <a:tcPr/>
                </a:tc>
                <a:tc>
                  <a:txBody>
                    <a:bodyPr/>
                    <a:lstStyle/>
                    <a:p>
                      <a:r>
                        <a:rPr lang="en-IN" sz="1600" dirty="0"/>
                        <a:t>BRUFEN</a:t>
                      </a:r>
                    </a:p>
                  </a:txBody>
                  <a:tcPr/>
                </a:tc>
                <a:tc>
                  <a:txBody>
                    <a:bodyPr/>
                    <a:lstStyle/>
                    <a:p>
                      <a:r>
                        <a:rPr kumimoji="0" lang="en-IN" sz="1600" b="0" i="0" kern="1200" dirty="0">
                          <a:solidFill>
                            <a:schemeClr val="tx1"/>
                          </a:solidFill>
                          <a:effectLst/>
                          <a:latin typeface="+mn-lt"/>
                          <a:ea typeface="+mn-ea"/>
                          <a:cs typeface="+mn-cs"/>
                        </a:rPr>
                        <a:t>IBUPROFEN</a:t>
                      </a:r>
                      <a:endParaRPr lang="en-IN" sz="1600" dirty="0"/>
                    </a:p>
                  </a:txBody>
                  <a:tcPr/>
                </a:tc>
                <a:tc>
                  <a:txBody>
                    <a:bodyPr/>
                    <a:lstStyle/>
                    <a:p>
                      <a:r>
                        <a:rPr lang="en-IN" sz="1600" dirty="0"/>
                        <a:t>0.10mg</a:t>
                      </a:r>
                    </a:p>
                  </a:txBody>
                  <a:tcPr/>
                </a:tc>
                <a:extLst>
                  <a:ext uri="{0D108BD9-81ED-4DB2-BD59-A6C34878D82A}">
                    <a16:rowId xmlns:a16="http://schemas.microsoft.com/office/drawing/2014/main" val="10001"/>
                  </a:ext>
                </a:extLst>
              </a:tr>
              <a:tr h="370840">
                <a:tc>
                  <a:txBody>
                    <a:bodyPr/>
                    <a:lstStyle/>
                    <a:p>
                      <a:r>
                        <a:rPr lang="en-IN" sz="1600" dirty="0"/>
                        <a:t>22</a:t>
                      </a:r>
                    </a:p>
                  </a:txBody>
                  <a:tcPr/>
                </a:tc>
                <a:tc>
                  <a:txBody>
                    <a:bodyPr/>
                    <a:lstStyle/>
                    <a:p>
                      <a:r>
                        <a:rPr lang="en-IN" sz="1600" dirty="0"/>
                        <a:t>CPM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endParaRPr lang="en-IN" sz="1600" b="0" dirty="0"/>
                    </a:p>
                  </a:txBody>
                  <a:tcPr/>
                </a:tc>
                <a:tc>
                  <a:txBody>
                    <a:bodyPr/>
                    <a:lstStyle/>
                    <a:p>
                      <a:r>
                        <a:rPr lang="en-IN" sz="1600" b="0" dirty="0"/>
                        <a:t>0.25mg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23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kern="1200" dirty="0">
                          <a:solidFill>
                            <a:schemeClr val="tx1"/>
                          </a:solidFill>
                          <a:latin typeface="+mn-lt"/>
                          <a:ea typeface="+mn-ea"/>
                          <a:cs typeface="+mn-cs"/>
                        </a:rPr>
                        <a:t>VOVERAN</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r>
                        <a:rPr kumimoji="0" lang="en-IN" sz="1600" b="0" i="0" kern="1200" dirty="0">
                          <a:solidFill>
                            <a:schemeClr val="tx1"/>
                          </a:solidFill>
                          <a:effectLst/>
                          <a:latin typeface="+mn-lt"/>
                          <a:ea typeface="+mn-ea"/>
                          <a:cs typeface="+mn-cs"/>
                        </a:rPr>
                        <a:t>0.09mg</a:t>
                      </a:r>
                    </a:p>
                  </a:txBody>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08743922"/>
      </p:ext>
    </p:extLst>
  </p:cSld>
  <p:clrMapOvr>
    <a:masterClrMapping/>
  </p:clrMapOvr>
</p:sld>
</file>

<file path=ppt/slides/slide9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a:t>
            </a:r>
          </a:p>
        </p:txBody>
      </p:sp>
      <p:sp>
        <p:nvSpPr>
          <p:cNvPr id="2" name="Rectangle 1"/>
          <p:cNvSpPr/>
          <p:nvPr/>
        </p:nvSpPr>
        <p:spPr>
          <a:xfrm>
            <a:off x="1669976" y="849264"/>
            <a:ext cx="8845624" cy="369332"/>
          </a:xfrm>
          <a:prstGeom prst="rect">
            <a:avLst/>
          </a:prstGeom>
        </p:spPr>
        <p:txBody>
          <a:bodyPr wrap="square">
            <a:spAutoFit/>
          </a:bodyPr>
          <a:lstStyle/>
          <a:p>
            <a:r>
              <a:rPr lang="en-IN" dirty="0">
                <a:solidFill>
                  <a:srgbClr val="222222"/>
                </a:solidFill>
                <a:latin typeface="Verdana" panose="020B0604030504040204" pitchFamily="34" charset="0"/>
              </a:rPr>
              <a:t>1. Think about how multiplication can be done without actually multiplying </a:t>
            </a:r>
            <a:endParaRPr lang="en-IN" dirty="0"/>
          </a:p>
        </p:txBody>
      </p:sp>
      <p:sp>
        <p:nvSpPr>
          <p:cNvPr id="3" name="TextBox 2"/>
          <p:cNvSpPr txBox="1"/>
          <p:nvPr/>
        </p:nvSpPr>
        <p:spPr>
          <a:xfrm>
            <a:off x="2514601" y="2514600"/>
            <a:ext cx="184731" cy="369332"/>
          </a:xfrm>
          <a:prstGeom prst="rect">
            <a:avLst/>
          </a:prstGeom>
          <a:noFill/>
        </p:spPr>
        <p:txBody>
          <a:bodyPr wrap="none" rtlCol="0">
            <a:spAutoFit/>
          </a:bodyPr>
          <a:lstStyle/>
          <a:p>
            <a:endParaRPr lang="en-IN" dirty="0"/>
          </a:p>
        </p:txBody>
      </p:sp>
      <p:pic>
        <p:nvPicPr>
          <p:cNvPr id="5" name="Picture 4"/>
          <p:cNvPicPr>
            <a:picLocks noChangeAspect="1"/>
          </p:cNvPicPr>
          <p:nvPr/>
        </p:nvPicPr>
        <p:blipFill>
          <a:blip r:embed="rId2" cstate="print"/>
          <a:stretch>
            <a:fillRect/>
          </a:stretch>
        </p:blipFill>
        <p:spPr>
          <a:xfrm>
            <a:off x="1828800" y="3700362"/>
            <a:ext cx="4648200" cy="2471839"/>
          </a:xfrm>
          <a:prstGeom prst="rect">
            <a:avLst/>
          </a:prstGeom>
        </p:spPr>
      </p:pic>
      <p:sp>
        <p:nvSpPr>
          <p:cNvPr id="6" name="Rectangle 5"/>
          <p:cNvSpPr/>
          <p:nvPr/>
        </p:nvSpPr>
        <p:spPr>
          <a:xfrm>
            <a:off x="1669976" y="3243552"/>
            <a:ext cx="1317990" cy="369332"/>
          </a:xfrm>
          <a:prstGeom prst="rect">
            <a:avLst/>
          </a:prstGeom>
        </p:spPr>
        <p:txBody>
          <a:bodyPr wrap="none">
            <a:spAutoFit/>
          </a:bodyPr>
          <a:lstStyle/>
          <a:p>
            <a:r>
              <a:rPr lang="en-IN" dirty="0">
                <a:solidFill>
                  <a:srgbClr val="222222"/>
                </a:solidFill>
                <a:latin typeface="Verdana" panose="020B0604030504040204" pitchFamily="34" charset="0"/>
              </a:rPr>
              <a:t>2. Square</a:t>
            </a:r>
          </a:p>
        </p:txBody>
      </p:sp>
      <p:pic>
        <p:nvPicPr>
          <p:cNvPr id="8" name="Picture 7"/>
          <p:cNvPicPr>
            <a:picLocks noChangeAspect="1"/>
          </p:cNvPicPr>
          <p:nvPr/>
        </p:nvPicPr>
        <p:blipFill>
          <a:blip r:embed="rId3" cstate="print"/>
          <a:stretch>
            <a:fillRect/>
          </a:stretch>
        </p:blipFill>
        <p:spPr>
          <a:xfrm>
            <a:off x="2057400" y="1250648"/>
            <a:ext cx="4495800" cy="1883657"/>
          </a:xfrm>
          <a:prstGeom prst="rect">
            <a:avLst/>
          </a:prstGeom>
        </p:spPr>
      </p:pic>
    </p:spTree>
    <p:extLst>
      <p:ext uri="{BB962C8B-B14F-4D97-AF65-F5344CB8AC3E}">
        <p14:creationId xmlns:p14="http://schemas.microsoft.com/office/powerpoint/2010/main" val="3391323119"/>
      </p:ext>
    </p:extLst>
  </p:cSld>
  <p:clrMapOvr>
    <a:masterClrMapping/>
  </p:clrMapOvr>
</p:sld>
</file>

<file path=ppt/slides/slide9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bvctch.vn/vnt_upload/weblink/thks.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19600" y="1484784"/>
            <a:ext cx="3124200" cy="488156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1437928" y="116632"/>
            <a:ext cx="9087544" cy="1200329"/>
          </a:xfrm>
          <a:prstGeom prst="rect">
            <a:avLst/>
          </a:prstGeom>
        </p:spPr>
        <p:txBody>
          <a:bodyPr wrap="square">
            <a:spAutoFit/>
          </a:bodyPr>
          <a:lstStyle/>
          <a:p>
            <a:pPr algn="ctr"/>
            <a:r>
              <a:rPr lang="en-IN" sz="3600" dirty="0">
                <a:solidFill>
                  <a:srgbClr val="FE1212"/>
                </a:solidFill>
                <a:latin typeface="Segoe Print" panose="02000600000000000000" pitchFamily="2" charset="0"/>
              </a:rPr>
              <a:t>"Live as if you were to die tomorrow.</a:t>
            </a:r>
          </a:p>
          <a:p>
            <a:pPr algn="ctr"/>
            <a:r>
              <a:rPr lang="en-IN" sz="3600" dirty="0">
                <a:solidFill>
                  <a:srgbClr val="FE1212"/>
                </a:solidFill>
                <a:latin typeface="Segoe Print" panose="02000600000000000000" pitchFamily="2" charset="0"/>
              </a:rPr>
              <a:t>Learn as if you were to live </a:t>
            </a:r>
            <a:r>
              <a:rPr lang="en-IN" sz="3600">
                <a:solidFill>
                  <a:srgbClr val="FE1212"/>
                </a:solidFill>
                <a:latin typeface="Segoe Print" panose="02000600000000000000" pitchFamily="2" charset="0"/>
              </a:rPr>
              <a:t>forever"</a:t>
            </a:r>
            <a:endParaRPr lang="en-IN" sz="3600" dirty="0">
              <a:solidFill>
                <a:srgbClr val="FE1212"/>
              </a:solidFill>
              <a:latin typeface="Segoe Print" panose="02000600000000000000" pitchFamily="2" charset="0"/>
            </a:endParaRPr>
          </a:p>
        </p:txBody>
      </p:sp>
    </p:spTree>
    <p:extLst>
      <p:ext uri="{BB962C8B-B14F-4D97-AF65-F5344CB8AC3E}">
        <p14:creationId xmlns:p14="http://schemas.microsoft.com/office/powerpoint/2010/main" val="1148130326"/>
      </p:ext>
    </p:extLst>
  </p:cSld>
  <p:clrMapOvr>
    <a:masterClrMapping/>
  </p:clrMapOvr>
</p:sld>
</file>

<file path=ppt/slides/slide9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shell commands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764704"/>
            <a:ext cx="11809312" cy="1477328"/>
          </a:xfrm>
          <a:prstGeom prst="rect">
            <a:avLst/>
          </a:prstGeom>
        </p:spPr>
        <p:txBody>
          <a:bodyPr wrap="square">
            <a:spAutoFit/>
          </a:bodyPr>
          <a:lstStyle/>
          <a:p>
            <a:r>
              <a:rPr lang="en-IN" dirty="0">
                <a:solidFill>
                  <a:srgbClr val="0077AA"/>
                </a:solidFill>
                <a:latin typeface="Liberation Mono"/>
                <a:cs typeface="Times New Roman" panose="02020603050405020304" pitchFamily="18" charset="0"/>
              </a:rPr>
              <a:t> MySQL  JS &gt; function fn(x ,y) {</a:t>
            </a:r>
          </a:p>
          <a:p>
            <a:r>
              <a:rPr lang="en-IN" dirty="0">
                <a:solidFill>
                  <a:srgbClr val="0077AA"/>
                </a:solidFill>
                <a:latin typeface="Liberation Mono"/>
                <a:cs typeface="Times New Roman" panose="02020603050405020304" pitchFamily="18" charset="0"/>
              </a:rPr>
              <a:t>                   -&gt; print(x + y);</a:t>
            </a:r>
          </a:p>
          <a:p>
            <a:r>
              <a:rPr lang="en-IN" dirty="0">
                <a:solidFill>
                  <a:srgbClr val="0077AA"/>
                </a:solidFill>
                <a:latin typeface="Liberation Mono"/>
                <a:cs typeface="Times New Roman" panose="02020603050405020304" pitchFamily="18" charset="0"/>
              </a:rPr>
              <a:t>                   -&gt; }</a:t>
            </a:r>
          </a:p>
          <a:p>
            <a:r>
              <a:rPr lang="en-IN" dirty="0">
                <a:solidFill>
                  <a:srgbClr val="0077AA"/>
                </a:solidFill>
                <a:latin typeface="Liberation Mono"/>
                <a:cs typeface="Times New Roman" panose="02020603050405020304" pitchFamily="18" charset="0"/>
              </a:rPr>
              <a:t>                    -&gt;</a:t>
            </a:r>
          </a:p>
          <a:p>
            <a:r>
              <a:rPr lang="en-IN" dirty="0">
                <a:solidFill>
                  <a:srgbClr val="0077AA"/>
                </a:solidFill>
                <a:latin typeface="Liberation Mono"/>
                <a:cs typeface="Times New Roman" panose="02020603050405020304" pitchFamily="18" charset="0"/>
              </a:rPr>
              <a:t> MySQL  JS &gt;  fn(10,20);</a:t>
            </a:r>
          </a:p>
        </p:txBody>
      </p:sp>
      <p:sp>
        <p:nvSpPr>
          <p:cNvPr id="4" name="TextBox 3">
            <a:extLst>
              <a:ext uri="{FF2B5EF4-FFF2-40B4-BE49-F238E27FC236}">
                <a16:creationId xmlns:a16="http://schemas.microsoft.com/office/drawing/2014/main" id="{2C3A27E2-B7E1-05F5-423A-D0E890176176}"/>
              </a:ext>
            </a:extLst>
          </p:cNvPr>
          <p:cNvSpPr txBox="1"/>
          <p:nvPr/>
        </p:nvSpPr>
        <p:spPr>
          <a:xfrm>
            <a:off x="191082" y="2505670"/>
            <a:ext cx="11593549" cy="3416320"/>
          </a:xfrm>
          <a:prstGeom prst="rect">
            <a:avLst/>
          </a:prstGeom>
        </p:spPr>
        <p:txBody>
          <a:bodyPr wrap="square">
            <a:spAutoFit/>
          </a:bodyPr>
          <a:lstStyle>
            <a:defPPr>
              <a:defRPr lang="en-US"/>
            </a:defPPr>
            <a:lvl1pPr>
              <a:defRPr>
                <a:solidFill>
                  <a:srgbClr val="0077AA"/>
                </a:solidFill>
                <a:latin typeface="Liberation Mono"/>
                <a:cs typeface="Times New Roman" panose="02020603050405020304" pitchFamily="18" charset="0"/>
              </a:defRPr>
            </a:lvl1pPr>
          </a:lstStyle>
          <a:p>
            <a:r>
              <a:rPr lang="en-IN" dirty="0"/>
              <a:t> MySQL  JS &gt; \SQL</a:t>
            </a:r>
          </a:p>
          <a:p>
            <a:r>
              <a:rPr lang="en-IN" dirty="0"/>
              <a:t>  Switching to SQL mode... Commands end with ;</a:t>
            </a:r>
          </a:p>
          <a:p>
            <a:endParaRPr lang="en-IN" dirty="0"/>
          </a:p>
          <a:p>
            <a:r>
              <a:rPr lang="en-IN" dirty="0"/>
              <a:t>  MySQL  SQL &gt; \connect root@localhost</a:t>
            </a:r>
          </a:p>
          <a:p>
            <a:r>
              <a:rPr lang="en-IN" dirty="0"/>
              <a:t>  Creating a session to 'root@localhost’</a:t>
            </a:r>
          </a:p>
          <a:p>
            <a:r>
              <a:rPr lang="en-IN" dirty="0"/>
              <a:t>  Please provide the password for 'root@localhost': ****</a:t>
            </a:r>
          </a:p>
          <a:p>
            <a:r>
              <a:rPr lang="en-IN" dirty="0"/>
              <a:t>  Save password for 'root@localhost'? [Y]es/[N]o/Ne[v]er (default No): n</a:t>
            </a:r>
          </a:p>
          <a:p>
            <a:r>
              <a:rPr lang="en-IN" dirty="0"/>
              <a:t>  Fetching global names for auto-completion... Press ^C to stop.</a:t>
            </a:r>
          </a:p>
          <a:p>
            <a:r>
              <a:rPr lang="en-IN" dirty="0"/>
              <a:t>  Your MySQL connection id is 18 (X protocol)</a:t>
            </a:r>
          </a:p>
          <a:p>
            <a:r>
              <a:rPr lang="en-IN" dirty="0"/>
              <a:t>  Server version: 8.0.31 MySQL Community Server - GPL</a:t>
            </a:r>
          </a:p>
          <a:p>
            <a:r>
              <a:rPr lang="en-IN" dirty="0"/>
              <a:t>  No default schema selected; type \use &lt;schema&gt; to set one.</a:t>
            </a:r>
          </a:p>
          <a:p>
            <a:r>
              <a:rPr lang="en-IN" dirty="0"/>
              <a:t> MySQL  localhost:33060+ </a:t>
            </a:r>
            <a:r>
              <a:rPr lang="en-IN" dirty="0" err="1"/>
              <a:t>ssl</a:t>
            </a:r>
            <a:r>
              <a:rPr lang="en-IN" dirty="0"/>
              <a:t>  SQL &gt; USE DB1;</a:t>
            </a:r>
          </a:p>
        </p:txBody>
      </p:sp>
    </p:spTree>
    <p:extLst>
      <p:ext uri="{BB962C8B-B14F-4D97-AF65-F5344CB8AC3E}">
        <p14:creationId xmlns:p14="http://schemas.microsoft.com/office/powerpoint/2010/main" val="466239436"/>
      </p:ext>
    </p:extLst>
  </p:cSld>
  <p:clrMapOvr>
    <a:masterClrMapping/>
  </p:clrMapOvr>
</p:sld>
</file>

<file path=ppt/slides/slide9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B69CD3-6AE9-43A8-90F5-CB4005D45A5F}"/>
              </a:ext>
            </a:extLst>
          </p:cNvPr>
          <p:cNvSpPr txBox="1"/>
          <p:nvPr/>
        </p:nvSpPr>
        <p:spPr>
          <a:xfrm>
            <a:off x="191344" y="620688"/>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(1,2,7) group by plumberid having count(*) =(select max(R1) from (select plumberid, count(plumberid) R1 from plumber_service_map where serviceid in (1, 2,7) group by plumberid) t1)) order by plumberid, serviceid;</a:t>
            </a:r>
          </a:p>
        </p:txBody>
      </p:sp>
      <p:sp>
        <p:nvSpPr>
          <p:cNvPr id="5" name="TextBox 4">
            <a:extLst>
              <a:ext uri="{FF2B5EF4-FFF2-40B4-BE49-F238E27FC236}">
                <a16:creationId xmlns:a16="http://schemas.microsoft.com/office/drawing/2014/main" id="{37DFFA23-374E-4FBD-B45A-64561C2FBB64}"/>
              </a:ext>
            </a:extLst>
          </p:cNvPr>
          <p:cNvSpPr txBox="1"/>
          <p:nvPr/>
        </p:nvSpPr>
        <p:spPr>
          <a:xfrm>
            <a:off x="263352" y="3933056"/>
            <a:ext cx="11665296" cy="923330"/>
          </a:xfrm>
          <a:prstGeom prst="rect">
            <a:avLst/>
          </a:prstGeom>
          <a:solidFill>
            <a:schemeClr val="accent6">
              <a:lumMod val="50000"/>
            </a:schemeClr>
          </a:solidFill>
        </p:spPr>
        <p:txBody>
          <a:bodyPr wrap="square">
            <a:spAutoFit/>
          </a:bodyPr>
          <a:lstStyle/>
          <a:p>
            <a:r>
              <a:rPr lang="en-IN" sz="2400" b="0" i="0" dirty="0">
                <a:solidFill>
                  <a:schemeClr val="bg1"/>
                </a:solidFill>
                <a:effectLst/>
                <a:latin typeface="NexusSans"/>
              </a:rPr>
              <a:t>Binary Numbers</a:t>
            </a:r>
          </a:p>
          <a:p>
            <a:endParaRPr lang="en-US" sz="800" b="0" i="0" dirty="0">
              <a:solidFill>
                <a:schemeClr val="bg1"/>
              </a:solidFill>
              <a:effectLst/>
              <a:latin typeface="NexusSans"/>
            </a:endParaRPr>
          </a:p>
          <a:p>
            <a:r>
              <a:rPr lang="en-US" sz="2200" b="0" i="0" dirty="0">
                <a:solidFill>
                  <a:schemeClr val="bg1"/>
                </a:solidFill>
                <a:effectLst/>
                <a:latin typeface="NexusSans"/>
              </a:rPr>
              <a:t>1, 2, 4, 8, 16, 32, 64, 128, 256, 512, 1024, 2048, 4096, 8192, 16384, 32768, 65536, and so on.</a:t>
            </a:r>
            <a:endParaRPr lang="en-IN" sz="2200" dirty="0">
              <a:solidFill>
                <a:schemeClr val="bg1"/>
              </a:solidFill>
            </a:endParaRPr>
          </a:p>
        </p:txBody>
      </p:sp>
    </p:spTree>
    <p:extLst>
      <p:ext uri="{BB962C8B-B14F-4D97-AF65-F5344CB8AC3E}">
        <p14:creationId xmlns:p14="http://schemas.microsoft.com/office/powerpoint/2010/main" val="1802076133"/>
      </p:ext>
    </p:extLst>
  </p:cSld>
  <p:clrMapOvr>
    <a:masterClrMapping/>
  </p:clrMapOvr>
</p:sld>
</file>

<file path=ppt/slides/slide9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425B7A9B-57E0-09B0-5B92-4F110D809F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344" y="122464"/>
            <a:ext cx="11737304" cy="66909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06790312"/>
      </p:ext>
    </p:extLst>
  </p:cSld>
  <p:clrMapOvr>
    <a:masterClrMapping/>
  </p:clrMapOvr>
</p:sld>
</file>

<file path=ppt/slides/slide9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2" descr="Databases: Converting weak entity in ER diagram to RDBMS relation">
            <a:extLst>
              <a:ext uri="{FF2B5EF4-FFF2-40B4-BE49-F238E27FC236}">
                <a16:creationId xmlns:a16="http://schemas.microsoft.com/office/drawing/2014/main" id="{C6914BAC-6A33-1CBE-8369-6C42550C90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0959"/>
            <a:ext cx="6397940" cy="446449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Explain Weak entity set with suitable example.">
            <a:extLst>
              <a:ext uri="{FF2B5EF4-FFF2-40B4-BE49-F238E27FC236}">
                <a16:creationId xmlns:a16="http://schemas.microsoft.com/office/drawing/2014/main" id="{0A34147D-2DAC-DD7B-6355-59BA4F67ECD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06825" y="2204864"/>
            <a:ext cx="7985175" cy="3600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3851535"/>
      </p:ext>
    </p:extLst>
  </p:cSld>
  <p:clrMapOvr>
    <a:masterClrMapping/>
  </p:clrMapOvr>
</p:sld>
</file>

<file path=ppt/slides/slide9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3421851710"/>
      </p:ext>
    </p:extLst>
  </p:cSld>
  <p:clrMapOvr>
    <a:masterClrMapping/>
  </p:clrMapOvr>
</p:sld>
</file>

<file path=ppt/slides/slide9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9035178-885F-91DB-6301-F4F257819F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43672" y="332656"/>
            <a:ext cx="4968552" cy="6192688"/>
          </a:xfrm>
          <a:prstGeom prst="rect">
            <a:avLst/>
          </a:prstGeom>
        </p:spPr>
      </p:pic>
    </p:spTree>
    <p:extLst>
      <p:ext uri="{BB962C8B-B14F-4D97-AF65-F5344CB8AC3E}">
        <p14:creationId xmlns:p14="http://schemas.microsoft.com/office/powerpoint/2010/main" val="2264136539"/>
      </p:ext>
    </p:extLst>
  </p:cSld>
  <p:clrMapOvr>
    <a:masterClrMapping/>
  </p:clrMapOvr>
</p:sld>
</file>

<file path=ppt/slides/slide9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68742F0-91B7-90CF-4C0C-3AFBA35CAC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9336" y="188641"/>
            <a:ext cx="4321164" cy="3528392"/>
          </a:xfrm>
          <a:prstGeom prst="rect">
            <a:avLst/>
          </a:prstGeom>
        </p:spPr>
      </p:pic>
      <p:sp>
        <p:nvSpPr>
          <p:cNvPr id="6" name="TextBox 5">
            <a:extLst>
              <a:ext uri="{FF2B5EF4-FFF2-40B4-BE49-F238E27FC236}">
                <a16:creationId xmlns:a16="http://schemas.microsoft.com/office/drawing/2014/main" id="{E57E7CD2-CAF3-7965-F8BF-6C0CA944285D}"/>
              </a:ext>
            </a:extLst>
          </p:cNvPr>
          <p:cNvSpPr txBox="1"/>
          <p:nvPr/>
        </p:nvSpPr>
        <p:spPr>
          <a:xfrm>
            <a:off x="4511824" y="58847"/>
            <a:ext cx="7560840" cy="5078313"/>
          </a:xfrm>
          <a:prstGeom prst="rect">
            <a:avLst/>
          </a:prstGeom>
          <a:noFill/>
        </p:spPr>
        <p:txBody>
          <a:bodyPr wrap="square">
            <a:spAutoFit/>
          </a:bodyPr>
          <a:lstStyle/>
          <a:p>
            <a:r>
              <a:rPr lang="en-IN" dirty="0"/>
              <a:t>Create Tables:</a:t>
            </a:r>
          </a:p>
          <a:p>
            <a:endParaRPr lang="en-IN" dirty="0"/>
          </a:p>
          <a:p>
            <a:r>
              <a:rPr lang="en-IN" dirty="0"/>
              <a:t>Product: This table will store information about each product item.</a:t>
            </a:r>
          </a:p>
          <a:p>
            <a:endParaRPr lang="en-IN" dirty="0"/>
          </a:p>
          <a:p>
            <a:r>
              <a:rPr lang="en-IN" dirty="0"/>
              <a:t>Columns: </a:t>
            </a:r>
            <a:r>
              <a:rPr lang="en-IN" dirty="0" err="1"/>
              <a:t>product_id</a:t>
            </a:r>
            <a:r>
              <a:rPr lang="en-IN" dirty="0"/>
              <a:t> (primary key), </a:t>
            </a:r>
            <a:r>
              <a:rPr lang="en-IN" dirty="0" err="1"/>
              <a:t>product_name</a:t>
            </a:r>
            <a:r>
              <a:rPr lang="en-IN" dirty="0"/>
              <a:t>, description, price, etc.</a:t>
            </a:r>
          </a:p>
          <a:p>
            <a:endParaRPr lang="en-IN" dirty="0"/>
          </a:p>
          <a:p>
            <a:r>
              <a:rPr lang="en-IN" dirty="0"/>
              <a:t>Quarter: This table will store information about quarters or time periods.</a:t>
            </a:r>
          </a:p>
          <a:p>
            <a:r>
              <a:rPr lang="en-IN" dirty="0"/>
              <a:t>Columns: </a:t>
            </a:r>
            <a:r>
              <a:rPr lang="en-IN" dirty="0" err="1"/>
              <a:t>quarter_id</a:t>
            </a:r>
            <a:r>
              <a:rPr lang="en-IN" dirty="0"/>
              <a:t> (primary key), year, </a:t>
            </a:r>
            <a:r>
              <a:rPr lang="en-IN" dirty="0" err="1"/>
              <a:t>quarter_name</a:t>
            </a:r>
            <a:r>
              <a:rPr lang="en-IN" dirty="0"/>
              <a:t>, </a:t>
            </a:r>
            <a:r>
              <a:rPr lang="en-IN" dirty="0" err="1"/>
              <a:t>start_date</a:t>
            </a:r>
            <a:r>
              <a:rPr lang="en-IN" dirty="0"/>
              <a:t>, </a:t>
            </a:r>
            <a:r>
              <a:rPr lang="en-IN" dirty="0" err="1"/>
              <a:t>end_date</a:t>
            </a:r>
            <a:r>
              <a:rPr lang="en-IN" dirty="0"/>
              <a:t>, etc.</a:t>
            </a:r>
          </a:p>
          <a:p>
            <a:endParaRPr lang="en-IN" dirty="0"/>
          </a:p>
          <a:p>
            <a:r>
              <a:rPr lang="en-IN" dirty="0"/>
              <a:t>Location: This table will store information about different locations.</a:t>
            </a:r>
          </a:p>
          <a:p>
            <a:r>
              <a:rPr lang="en-IN" dirty="0"/>
              <a:t>Columns: </a:t>
            </a:r>
            <a:r>
              <a:rPr lang="en-IN" dirty="0" err="1"/>
              <a:t>location_id</a:t>
            </a:r>
            <a:r>
              <a:rPr lang="en-IN" dirty="0"/>
              <a:t> (primary key), </a:t>
            </a:r>
            <a:r>
              <a:rPr lang="en-IN" dirty="0" err="1"/>
              <a:t>location_name</a:t>
            </a:r>
            <a:r>
              <a:rPr lang="en-IN" dirty="0"/>
              <a:t>, address, city, country, etc.</a:t>
            </a:r>
          </a:p>
          <a:p>
            <a:endParaRPr lang="en-IN" dirty="0"/>
          </a:p>
          <a:p>
            <a:r>
              <a:rPr lang="en-IN" dirty="0"/>
              <a:t>Sales: This table will store the sales data, including references to the Product, Quarter, and Location tables.</a:t>
            </a:r>
          </a:p>
          <a:p>
            <a:r>
              <a:rPr lang="en-IN" dirty="0"/>
              <a:t>Columns: </a:t>
            </a:r>
            <a:r>
              <a:rPr lang="en-IN" dirty="0" err="1"/>
              <a:t>sale_id</a:t>
            </a:r>
            <a:r>
              <a:rPr lang="en-IN" dirty="0"/>
              <a:t> (primary key), </a:t>
            </a:r>
            <a:r>
              <a:rPr lang="en-IN" dirty="0" err="1"/>
              <a:t>product_id</a:t>
            </a:r>
            <a:r>
              <a:rPr lang="en-IN" dirty="0"/>
              <a:t> (foreign key referencing Product table), </a:t>
            </a:r>
            <a:r>
              <a:rPr lang="en-IN" dirty="0" err="1"/>
              <a:t>quarter_id</a:t>
            </a:r>
            <a:r>
              <a:rPr lang="en-IN" dirty="0"/>
              <a:t> (foreign key referencing Quarter table), </a:t>
            </a:r>
            <a:r>
              <a:rPr lang="en-IN" dirty="0" err="1"/>
              <a:t>location_id</a:t>
            </a:r>
            <a:r>
              <a:rPr lang="en-IN" dirty="0"/>
              <a:t> (foreign key referencing Location table), </a:t>
            </a:r>
            <a:r>
              <a:rPr lang="en-IN" dirty="0" err="1"/>
              <a:t>quantity_sold</a:t>
            </a:r>
            <a:r>
              <a:rPr lang="en-IN" dirty="0"/>
              <a:t>, revenue, etc.</a:t>
            </a:r>
          </a:p>
        </p:txBody>
      </p:sp>
    </p:spTree>
    <p:extLst>
      <p:ext uri="{BB962C8B-B14F-4D97-AF65-F5344CB8AC3E}">
        <p14:creationId xmlns:p14="http://schemas.microsoft.com/office/powerpoint/2010/main" val="2412074574"/>
      </p:ext>
    </p:extLst>
  </p:cSld>
  <p:clrMapOvr>
    <a:masterClrMapping/>
  </p:clrMapOvr>
</p:sld>
</file>

<file path=ppt/slides/slide9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E70724C-C536-8831-D0A7-8EC771138549}"/>
              </a:ext>
            </a:extLst>
          </p:cNvPr>
          <p:cNvSpPr txBox="1"/>
          <p:nvPr/>
        </p:nvSpPr>
        <p:spPr>
          <a:xfrm>
            <a:off x="911424" y="260648"/>
            <a:ext cx="10729192" cy="5909310"/>
          </a:xfrm>
          <a:prstGeom prst="rect">
            <a:avLst/>
          </a:prstGeom>
          <a:noFill/>
        </p:spPr>
        <p:txBody>
          <a:bodyPr wrap="square">
            <a:spAutoFit/>
          </a:bodyPr>
          <a:lstStyle/>
          <a:p>
            <a:r>
              <a:rPr lang="en-IN" sz="1400" dirty="0"/>
              <a:t>drop procedure if exists pl1;</a:t>
            </a:r>
          </a:p>
          <a:p>
            <a:r>
              <a:rPr lang="en-IN" sz="1400" dirty="0"/>
              <a:t>delimiter $</a:t>
            </a:r>
          </a:p>
          <a:p>
            <a:r>
              <a:rPr lang="en-IN" sz="1400" dirty="0"/>
              <a:t>CREATE PROCEDURE pl1()</a:t>
            </a:r>
          </a:p>
          <a:p>
            <a:r>
              <a:rPr lang="en-IN" sz="1400" dirty="0"/>
              <a:t>BEGIN</a:t>
            </a:r>
          </a:p>
          <a:p>
            <a:r>
              <a:rPr lang="en-IN" sz="1400" dirty="0"/>
              <a:t>	declare d varchar(20);</a:t>
            </a:r>
          </a:p>
          <a:p>
            <a:r>
              <a:rPr lang="en-IN" sz="1400" dirty="0"/>
              <a:t>	declare </a:t>
            </a:r>
            <a:r>
              <a:rPr lang="en-IN" sz="1400" dirty="0" err="1"/>
              <a:t>cnt</a:t>
            </a:r>
            <a:r>
              <a:rPr lang="en-IN" sz="1400" dirty="0"/>
              <a:t> int default 1;</a:t>
            </a:r>
          </a:p>
          <a:p>
            <a:r>
              <a:rPr lang="en-IN" sz="1400" dirty="0"/>
              <a:t>	declare x varchar(2000) default '';</a:t>
            </a:r>
          </a:p>
          <a:p>
            <a:r>
              <a:rPr lang="en-IN" sz="1400" dirty="0"/>
              <a:t>	declare c1 cursor for select dname from dept;</a:t>
            </a:r>
          </a:p>
          <a:p>
            <a:r>
              <a:rPr lang="en-IN" sz="1400" dirty="0"/>
              <a:t>	declare exit handler for 1329 select '</a:t>
            </a:r>
            <a:r>
              <a:rPr lang="en-IN" sz="1400" dirty="0" err="1"/>
              <a:t>ënd</a:t>
            </a:r>
            <a:r>
              <a:rPr lang="en-IN" sz="1400" dirty="0"/>
              <a:t>';</a:t>
            </a:r>
          </a:p>
          <a:p>
            <a:r>
              <a:rPr lang="en-IN" sz="1400" dirty="0"/>
              <a:t>	open c1;</a:t>
            </a:r>
          </a:p>
          <a:p>
            <a:r>
              <a:rPr lang="en-IN" sz="1400" dirty="0"/>
              <a:t>	lbl:LOOP</a:t>
            </a:r>
          </a:p>
          <a:p>
            <a:r>
              <a:rPr lang="en-IN" sz="1400" dirty="0"/>
              <a:t>		fetch c1 into d;</a:t>
            </a:r>
          </a:p>
          <a:p>
            <a:r>
              <a:rPr lang="en-IN" sz="1400" dirty="0"/>
              <a:t>			set </a:t>
            </a:r>
            <a:r>
              <a:rPr lang="en-IN" sz="1400" dirty="0" err="1"/>
              <a:t>cnt</a:t>
            </a:r>
            <a:r>
              <a:rPr lang="en-IN" sz="1400" dirty="0"/>
              <a:t> :=1;</a:t>
            </a:r>
          </a:p>
          <a:p>
            <a:r>
              <a:rPr lang="en-IN" sz="1400" dirty="0"/>
              <a:t>	    	lbl2:LOOP</a:t>
            </a:r>
          </a:p>
          <a:p>
            <a:r>
              <a:rPr lang="en-IN" sz="1400" dirty="0"/>
              <a:t>				if </a:t>
            </a:r>
            <a:r>
              <a:rPr lang="en-IN" sz="1400" dirty="0" err="1"/>
              <a:t>cnt</a:t>
            </a:r>
            <a:r>
              <a:rPr lang="en-IN" sz="1400" dirty="0"/>
              <a:t> &lt;= length(d) THEN</a:t>
            </a:r>
          </a:p>
          <a:p>
            <a:r>
              <a:rPr lang="en-IN" sz="1400" dirty="0"/>
              <a:t>			    	set x := concat(x, substr(d, </a:t>
            </a:r>
            <a:r>
              <a:rPr lang="en-IN" sz="1400" dirty="0" err="1"/>
              <a:t>cnt</a:t>
            </a:r>
            <a:r>
              <a:rPr lang="en-IN" sz="1400" dirty="0"/>
              <a:t>, 1), ", ");</a:t>
            </a:r>
          </a:p>
          <a:p>
            <a:r>
              <a:rPr lang="en-IN" sz="1400" dirty="0"/>
              <a:t>				else </a:t>
            </a:r>
          </a:p>
          <a:p>
            <a:r>
              <a:rPr lang="en-IN" sz="1400" dirty="0"/>
              <a:t>					leave lbl2;</a:t>
            </a:r>
          </a:p>
          <a:p>
            <a:r>
              <a:rPr lang="en-IN" sz="1400" dirty="0"/>
              <a:t>				end if;</a:t>
            </a:r>
          </a:p>
          <a:p>
            <a:r>
              <a:rPr lang="en-IN" sz="1400" dirty="0"/>
              <a:t>				set </a:t>
            </a:r>
            <a:r>
              <a:rPr lang="en-IN" sz="1400" dirty="0" err="1"/>
              <a:t>cnt</a:t>
            </a:r>
            <a:r>
              <a:rPr lang="en-IN" sz="1400" dirty="0"/>
              <a:t> := </a:t>
            </a:r>
            <a:r>
              <a:rPr lang="en-IN" sz="1400" dirty="0" err="1"/>
              <a:t>cnt</a:t>
            </a:r>
            <a:r>
              <a:rPr lang="en-IN" sz="1400" dirty="0"/>
              <a:t> + 1;</a:t>
            </a:r>
          </a:p>
          <a:p>
            <a:r>
              <a:rPr lang="en-IN" sz="1400" dirty="0"/>
              <a:t>			end loop lbl2;</a:t>
            </a:r>
          </a:p>
          <a:p>
            <a:r>
              <a:rPr lang="en-IN" sz="1400" dirty="0"/>
              <a:t>			SELECT x;</a:t>
            </a:r>
          </a:p>
          <a:p>
            <a:r>
              <a:rPr lang="en-IN" sz="1400" dirty="0"/>
              <a:t>			set x:='';</a:t>
            </a:r>
          </a:p>
          <a:p>
            <a:r>
              <a:rPr lang="en-IN" sz="1400" dirty="0"/>
              <a:t>	end loop lbl;</a:t>
            </a:r>
          </a:p>
          <a:p>
            <a:r>
              <a:rPr lang="en-IN" sz="1400" dirty="0"/>
              <a:t>	close c1;</a:t>
            </a:r>
          </a:p>
          <a:p>
            <a:r>
              <a:rPr lang="en-IN" sz="1400" dirty="0"/>
              <a:t>end $</a:t>
            </a:r>
          </a:p>
          <a:p>
            <a:r>
              <a:rPr lang="en-IN" sz="1400" dirty="0"/>
              <a:t>delimiter ;</a:t>
            </a:r>
          </a:p>
        </p:txBody>
      </p:sp>
    </p:spTree>
    <p:extLst>
      <p:ext uri="{BB962C8B-B14F-4D97-AF65-F5344CB8AC3E}">
        <p14:creationId xmlns:p14="http://schemas.microsoft.com/office/powerpoint/2010/main" val="3430984704"/>
      </p:ext>
    </p:extLst>
  </p:cSld>
  <p:clrMapOvr>
    <a:masterClrMapping/>
  </p:clrMapOvr>
</p:sld>
</file>

<file path=ppt/slides/slide9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823C5CD-AA2E-74AA-C8EC-D19E68FE1449}"/>
              </a:ext>
            </a:extLst>
          </p:cNvPr>
          <p:cNvGraphicFramePr>
            <a:graphicFrameLocks noGrp="1"/>
          </p:cNvGraphicFramePr>
          <p:nvPr>
            <p:extLst>
              <p:ext uri="{D42A27DB-BD31-4B8C-83A1-F6EECF244321}">
                <p14:modId xmlns:p14="http://schemas.microsoft.com/office/powerpoint/2010/main" val="2932360675"/>
              </p:ext>
            </p:extLst>
          </p:nvPr>
        </p:nvGraphicFramePr>
        <p:xfrm>
          <a:off x="335360" y="116632"/>
          <a:ext cx="10972800" cy="3520440"/>
        </p:xfrm>
        <a:graphic>
          <a:graphicData uri="http://schemas.openxmlformats.org/drawingml/2006/table">
            <a:tbl>
              <a:tblPr/>
              <a:tblGrid>
                <a:gridCol w="5486400">
                  <a:extLst>
                    <a:ext uri="{9D8B030D-6E8A-4147-A177-3AD203B41FA5}">
                      <a16:colId xmlns:a16="http://schemas.microsoft.com/office/drawing/2014/main" val="4232454318"/>
                    </a:ext>
                  </a:extLst>
                </a:gridCol>
                <a:gridCol w="5486400">
                  <a:extLst>
                    <a:ext uri="{9D8B030D-6E8A-4147-A177-3AD203B41FA5}">
                      <a16:colId xmlns:a16="http://schemas.microsoft.com/office/drawing/2014/main" val="797698772"/>
                    </a:ext>
                  </a:extLst>
                </a:gridCol>
              </a:tblGrid>
              <a:tr h="0">
                <a:tc>
                  <a:txBody>
                    <a:bodyPr/>
                    <a:lstStyle/>
                    <a:p>
                      <a:pPr algn="l" fontAlgn="base"/>
                      <a:r>
                        <a:rPr lang="en-IN" b="1" i="0">
                          <a:effectLst/>
                          <a:latin typeface="Palatino Linotype" panose="02040502050505030304" pitchFamily="18" charset="0"/>
                        </a:rPr>
                        <a:t>Identifier Type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algn="l" fontAlgn="base"/>
                      <a:r>
                        <a:rPr lang="en-IN" b="1" i="0">
                          <a:effectLst/>
                          <a:latin typeface="Palatino Linotype" panose="02040502050505030304" pitchFamily="18" charset="0"/>
                        </a:rPr>
                        <a:t>Maximum Length (characters)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15841367"/>
                  </a:ext>
                </a:extLst>
              </a:tr>
              <a:tr h="0">
                <a:tc>
                  <a:txBody>
                    <a:bodyPr/>
                    <a:lstStyle/>
                    <a:p>
                      <a:pPr fontAlgn="base"/>
                      <a:r>
                        <a:rPr lang="en-IN">
                          <a:effectLst/>
                          <a:latin typeface="Palatino Linotype" panose="02040502050505030304" pitchFamily="18" charset="0"/>
                        </a:rPr>
                        <a:t>Database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727120991"/>
                  </a:ext>
                </a:extLst>
              </a:tr>
              <a:tr h="0">
                <a:tc>
                  <a:txBody>
                    <a:bodyPr/>
                    <a:lstStyle/>
                    <a:p>
                      <a:pPr fontAlgn="base"/>
                      <a:r>
                        <a:rPr lang="en-IN" dirty="0">
                          <a:effectLst/>
                          <a:latin typeface="Palatino Linotype" panose="02040502050505030304" pitchFamily="18" charset="0"/>
                        </a:rPr>
                        <a:t>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2366032"/>
                  </a:ext>
                </a:extLst>
              </a:tr>
              <a:tr h="0">
                <a:tc>
                  <a:txBody>
                    <a:bodyPr/>
                    <a:lstStyle/>
                    <a:p>
                      <a:pPr fontAlgn="base"/>
                      <a:r>
                        <a:rPr lang="en-IN">
                          <a:effectLst/>
                          <a:latin typeface="Palatino Linotype" panose="02040502050505030304" pitchFamily="18" charset="0"/>
                        </a:rPr>
                        <a:t>Column</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629547530"/>
                  </a:ext>
                </a:extLst>
              </a:tr>
              <a:tr h="0">
                <a:tc>
                  <a:txBody>
                    <a:bodyPr/>
                    <a:lstStyle/>
                    <a:p>
                      <a:pPr fontAlgn="base"/>
                      <a:r>
                        <a:rPr lang="en-IN" dirty="0">
                          <a:effectLst/>
                          <a:latin typeface="Palatino Linotype" panose="02040502050505030304" pitchFamily="18" charset="0"/>
                        </a:rPr>
                        <a:t>Index</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97798325"/>
                  </a:ext>
                </a:extLst>
              </a:tr>
              <a:tr h="0">
                <a:tc>
                  <a:txBody>
                    <a:bodyPr/>
                    <a:lstStyle/>
                    <a:p>
                      <a:pPr fontAlgn="base"/>
                      <a:r>
                        <a:rPr lang="en-IN">
                          <a:effectLst/>
                          <a:latin typeface="Palatino Linotype" panose="02040502050505030304" pitchFamily="18" charset="0"/>
                        </a:rPr>
                        <a:t>Constraint</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458468373"/>
                  </a:ext>
                </a:extLst>
              </a:tr>
              <a:tr h="0">
                <a:tc>
                  <a:txBody>
                    <a:bodyPr/>
                    <a:lstStyle/>
                    <a:p>
                      <a:pPr fontAlgn="base"/>
                      <a:r>
                        <a:rPr lang="en-IN" dirty="0">
                          <a:effectLst/>
                          <a:latin typeface="Palatino Linotype" panose="02040502050505030304" pitchFamily="18" charset="0"/>
                        </a:rPr>
                        <a:t>Stored Program</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951720473"/>
                  </a:ext>
                </a:extLst>
              </a:tr>
              <a:tr h="0">
                <a:tc>
                  <a:txBody>
                    <a:bodyPr/>
                    <a:lstStyle/>
                    <a:p>
                      <a:pPr fontAlgn="base"/>
                      <a:r>
                        <a:rPr lang="en-IN">
                          <a:effectLst/>
                          <a:latin typeface="Palatino Linotype" panose="02040502050505030304" pitchFamily="18" charset="0"/>
                        </a:rPr>
                        <a:t>View</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76521464"/>
                  </a:ext>
                </a:extLst>
              </a:tr>
              <a:tr h="0">
                <a:tc>
                  <a:txBody>
                    <a:bodyPr/>
                    <a:lstStyle/>
                    <a:p>
                      <a:pPr fontAlgn="base"/>
                      <a:r>
                        <a:rPr lang="en-IN">
                          <a:effectLst/>
                          <a:latin typeface="Palatino Linotype" panose="02040502050505030304" pitchFamily="18" charset="0"/>
                        </a:rPr>
                        <a:t>Alias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US" dirty="0">
                          <a:effectLst/>
                          <a:latin typeface="Palatino Linotype" panose="02040502050505030304" pitchFamily="18" charset="0"/>
                        </a:rPr>
                        <a:t>256 (see exception following 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049328694"/>
                  </a:ext>
                </a:extLst>
              </a:tr>
              <a:tr h="0">
                <a:tc>
                  <a:txBody>
                    <a:bodyPr/>
                    <a:lstStyle/>
                    <a:p>
                      <a:pPr fontAlgn="base"/>
                      <a:r>
                        <a:rPr lang="en-IN" dirty="0">
                          <a:effectLst/>
                          <a:latin typeface="Palatino Linotype" panose="02040502050505030304" pitchFamily="18" charset="0"/>
                        </a:rPr>
                        <a:t>Compound Statement Label</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16</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877261869"/>
                  </a:ext>
                </a:extLst>
              </a:tr>
              <a:tr h="0">
                <a:tc>
                  <a:txBody>
                    <a:bodyPr/>
                    <a:lstStyle/>
                    <a:p>
                      <a:pPr fontAlgn="base"/>
                      <a:r>
                        <a:rPr lang="en-IN" dirty="0">
                          <a:effectLst/>
                          <a:latin typeface="Palatino Linotype" panose="02040502050505030304" pitchFamily="18" charset="0"/>
                        </a:rPr>
                        <a:t>User-Defined Variable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597435242"/>
                  </a:ext>
                </a:extLst>
              </a:tr>
            </a:tbl>
          </a:graphicData>
        </a:graphic>
      </p:graphicFrame>
    </p:spTree>
    <p:extLst>
      <p:ext uri="{BB962C8B-B14F-4D97-AF65-F5344CB8AC3E}">
        <p14:creationId xmlns:p14="http://schemas.microsoft.com/office/powerpoint/2010/main" val="1749487588"/>
      </p:ext>
    </p:extLst>
  </p:cSld>
  <p:clrMapOvr>
    <a:masterClrMapping/>
  </p:clrMapOvr>
</p:sld>
</file>

<file path=ppt/slides/slide9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A4697E25-A2EE-1245-9518-E0C764112EA7}"/>
              </a:ext>
            </a:extLst>
          </p:cNvPr>
          <p:cNvGraphicFramePr>
            <a:graphicFrameLocks noGrp="1"/>
          </p:cNvGraphicFramePr>
          <p:nvPr>
            <p:extLst>
              <p:ext uri="{D42A27DB-BD31-4B8C-83A1-F6EECF244321}">
                <p14:modId xmlns:p14="http://schemas.microsoft.com/office/powerpoint/2010/main" val="17495030"/>
              </p:ext>
            </p:extLst>
          </p:nvPr>
        </p:nvGraphicFramePr>
        <p:xfrm>
          <a:off x="191344" y="116632"/>
          <a:ext cx="11737304" cy="6189906"/>
        </p:xfrm>
        <a:graphic>
          <a:graphicData uri="http://schemas.openxmlformats.org/drawingml/2006/table">
            <a:tbl>
              <a:tblPr/>
              <a:tblGrid>
                <a:gridCol w="2934326">
                  <a:extLst>
                    <a:ext uri="{9D8B030D-6E8A-4147-A177-3AD203B41FA5}">
                      <a16:colId xmlns:a16="http://schemas.microsoft.com/office/drawing/2014/main" val="4031897344"/>
                    </a:ext>
                  </a:extLst>
                </a:gridCol>
                <a:gridCol w="2934326">
                  <a:extLst>
                    <a:ext uri="{9D8B030D-6E8A-4147-A177-3AD203B41FA5}">
                      <a16:colId xmlns:a16="http://schemas.microsoft.com/office/drawing/2014/main" val="2729774135"/>
                    </a:ext>
                  </a:extLst>
                </a:gridCol>
                <a:gridCol w="2934326">
                  <a:extLst>
                    <a:ext uri="{9D8B030D-6E8A-4147-A177-3AD203B41FA5}">
                      <a16:colId xmlns:a16="http://schemas.microsoft.com/office/drawing/2014/main" val="1018622191"/>
                    </a:ext>
                  </a:extLst>
                </a:gridCol>
                <a:gridCol w="2934326">
                  <a:extLst>
                    <a:ext uri="{9D8B030D-6E8A-4147-A177-3AD203B41FA5}">
                      <a16:colId xmlns:a16="http://schemas.microsoft.com/office/drawing/2014/main" val="2434825045"/>
                    </a:ext>
                  </a:extLst>
                </a:gridCol>
              </a:tblGrid>
              <a:tr h="180189">
                <a:tc>
                  <a:txBody>
                    <a:bodyPr/>
                    <a:lstStyle/>
                    <a:p>
                      <a:pPr>
                        <a:buNone/>
                      </a:pPr>
                      <a:r>
                        <a:rPr lang="en-IN" sz="1400" b="1">
                          <a:latin typeface="Arial" panose="020B0604020202020204" pitchFamily="34" charset="0"/>
                          <a:cs typeface="Arial" panose="020B0604020202020204" pitchFamily="34" charset="0"/>
                        </a:rPr>
                        <a:t>Anti-Pattern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Description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Problem Caused</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Better Approach</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638289048"/>
                  </a:ext>
                </a:extLst>
              </a:tr>
              <a:tr h="450471">
                <a:tc>
                  <a:txBody>
                    <a:bodyPr/>
                    <a:lstStyle/>
                    <a:p>
                      <a:pPr>
                        <a:buNone/>
                      </a:pPr>
                      <a:r>
                        <a:rPr lang="en-US" sz="1400" b="1">
                          <a:latin typeface="Arial" panose="020B0604020202020204" pitchFamily="34" charset="0"/>
                          <a:cs typeface="Arial" panose="020B0604020202020204" pitchFamily="34" charset="0"/>
                        </a:rPr>
                        <a:t>1. Storing multiple values in one column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comma-separated values (e.g., "1,2,3") in a single field</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Breaks normalization, hard to query (LIKE, FIND_IN_SET)</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 </a:t>
                      </a:r>
                      <a:r>
                        <a:rPr lang="en-US" sz="1400" b="1">
                          <a:latin typeface="Arial" panose="020B0604020202020204" pitchFamily="34" charset="0"/>
                          <a:cs typeface="Arial" panose="020B0604020202020204" pitchFamily="34" charset="0"/>
                        </a:rPr>
                        <a:t>separate table</a:t>
                      </a:r>
                      <a:r>
                        <a:rPr lang="en-US" sz="1400">
                          <a:latin typeface="Arial" panose="020B0604020202020204" pitchFamily="34" charset="0"/>
                          <a:cs typeface="Arial" panose="020B0604020202020204" pitchFamily="34" charset="0"/>
                        </a:rPr>
                        <a:t> or </a:t>
                      </a:r>
                      <a:r>
                        <a:rPr lang="en-US" sz="1400" b="1">
                          <a:latin typeface="Arial" panose="020B0604020202020204" pitchFamily="34" charset="0"/>
                          <a:cs typeface="Arial" panose="020B0604020202020204" pitchFamily="34" charset="0"/>
                        </a:rPr>
                        <a:t>junction table</a:t>
                      </a:r>
                      <a:r>
                        <a:rPr lang="en-US" sz="1400">
                          <a:latin typeface="Arial" panose="020B0604020202020204" pitchFamily="34" charset="0"/>
                          <a:cs typeface="Arial" panose="020B0604020202020204" pitchFamily="34" charset="0"/>
                        </a:rPr>
                        <a:t> for many-to-many relationships</a:t>
                      </a:r>
                    </a:p>
                  </a:txBody>
                  <a:tcPr marL="45047" marR="45047" marT="22524" marB="22524" anchor="ctr">
                    <a:lnL>
                      <a:noFill/>
                    </a:lnL>
                    <a:lnR>
                      <a:noFill/>
                    </a:lnR>
                    <a:lnT>
                      <a:noFill/>
                    </a:lnT>
                    <a:lnB>
                      <a:noFill/>
                    </a:lnB>
                    <a:noFill/>
                  </a:tcPr>
                </a:tc>
                <a:extLst>
                  <a:ext uri="{0D108BD9-81ED-4DB2-BD59-A6C34878D82A}">
                    <a16:rowId xmlns:a16="http://schemas.microsoft.com/office/drawing/2014/main" val="1899336479"/>
                  </a:ext>
                </a:extLst>
              </a:tr>
              <a:tr h="450471">
                <a:tc>
                  <a:txBody>
                    <a:bodyPr/>
                    <a:lstStyle/>
                    <a:p>
                      <a:pPr>
                        <a:buNone/>
                      </a:pPr>
                      <a:r>
                        <a:rPr lang="en-IN" sz="1400">
                          <a:latin typeface="Arial" panose="020B0604020202020204" pitchFamily="34" charset="0"/>
                          <a:cs typeface="Arial" panose="020B0604020202020204" pitchFamily="34" charset="0"/>
                        </a:rPr>
                        <a:t>**2. Using SELECT ***</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Selecting all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Wastes memory, increases network load, breaks if schema changes</a:t>
                      </a:r>
                    </a:p>
                  </a:txBody>
                  <a:tcPr marL="45047" marR="45047" marT="22524" marB="22524" anchor="ctr">
                    <a:lnL>
                      <a:noFill/>
                    </a:lnL>
                    <a:lnR>
                      <a:noFill/>
                    </a:lnR>
                    <a:lnT>
                      <a:noFill/>
                    </a:lnT>
                    <a:lnB>
                      <a:noFill/>
                    </a:lnB>
                    <a:noFill/>
                  </a:tcPr>
                </a:tc>
                <a:tc>
                  <a:txBody>
                    <a:bodyPr/>
                    <a:lstStyle/>
                    <a:p>
                      <a:pPr>
                        <a:buNone/>
                      </a:pPr>
                      <a:r>
                        <a:rPr lang="en-IN" sz="1400" dirty="0">
                          <a:latin typeface="Arial" panose="020B0604020202020204" pitchFamily="34" charset="0"/>
                          <a:cs typeface="Arial" panose="020B0604020202020204" pitchFamily="34" charset="0"/>
                        </a:rPr>
                        <a:t>Select </a:t>
                      </a:r>
                      <a:r>
                        <a:rPr lang="en-IN" sz="1400" b="1" dirty="0">
                          <a:latin typeface="Arial" panose="020B0604020202020204" pitchFamily="34" charset="0"/>
                          <a:cs typeface="Arial" panose="020B0604020202020204" pitchFamily="34" charset="0"/>
                        </a:rPr>
                        <a:t>only required columns</a:t>
                      </a:r>
                      <a:endParaRPr lang="en-IN" sz="1400" dirty="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2152598780"/>
                  </a:ext>
                </a:extLst>
              </a:tr>
              <a:tr h="315330">
                <a:tc>
                  <a:txBody>
                    <a:bodyPr/>
                    <a:lstStyle/>
                    <a:p>
                      <a:pPr>
                        <a:buNone/>
                      </a:pPr>
                      <a:r>
                        <a:rPr lang="en-IN" sz="1400" b="1">
                          <a:latin typeface="Arial" panose="020B0604020202020204" pitchFamily="34" charset="0"/>
                          <a:cs typeface="Arial" panose="020B0604020202020204" pitchFamily="34" charset="0"/>
                        </a:rPr>
                        <a:t>3. No Primary Key</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Table has no unique identifier</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 to update/delete specific rows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Always define a </a:t>
                      </a:r>
                      <a:r>
                        <a:rPr lang="en-US" sz="1400" b="1">
                          <a:latin typeface="Arial" panose="020B0604020202020204" pitchFamily="34" charset="0"/>
                          <a:cs typeface="Arial" panose="020B0604020202020204" pitchFamily="34" charset="0"/>
                        </a:rPr>
                        <a:t>PRIMARY KEY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058259279"/>
                  </a:ext>
                </a:extLst>
              </a:tr>
              <a:tr h="450471">
                <a:tc>
                  <a:txBody>
                    <a:bodyPr/>
                    <a:lstStyle/>
                    <a:p>
                      <a:pPr>
                        <a:buNone/>
                      </a:pPr>
                      <a:r>
                        <a:rPr lang="en-IN" sz="1400" b="1">
                          <a:latin typeface="Arial" panose="020B0604020202020204" pitchFamily="34" charset="0"/>
                          <a:cs typeface="Arial" panose="020B0604020202020204" pitchFamily="34" charset="0"/>
                        </a:rPr>
                        <a:t>4. Overusing NULLs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NULLs for too many meanings (e.g., "unknown", "not applicable")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Confusing logic and unreliable results in comparisons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proper </a:t>
                      </a:r>
                      <a:r>
                        <a:rPr lang="en-IN" sz="1400" b="1">
                          <a:latin typeface="Arial" panose="020B0604020202020204" pitchFamily="34" charset="0"/>
                          <a:cs typeface="Arial" panose="020B0604020202020204" pitchFamily="34" charset="0"/>
                        </a:rPr>
                        <a:t>default values</a:t>
                      </a:r>
                      <a:r>
                        <a:rPr lang="en-IN" sz="1400">
                          <a:latin typeface="Arial" panose="020B0604020202020204" pitchFamily="34" charset="0"/>
                          <a:cs typeface="Arial" panose="020B0604020202020204" pitchFamily="34" charset="0"/>
                        </a:rPr>
                        <a:t> or separate flags</a:t>
                      </a:r>
                    </a:p>
                  </a:txBody>
                  <a:tcPr marL="45047" marR="45047" marT="22524" marB="22524" anchor="ctr">
                    <a:lnL>
                      <a:noFill/>
                    </a:lnL>
                    <a:lnR>
                      <a:noFill/>
                    </a:lnR>
                    <a:lnT>
                      <a:noFill/>
                    </a:lnT>
                    <a:lnB>
                      <a:noFill/>
                    </a:lnB>
                    <a:noFill/>
                  </a:tcPr>
                </a:tc>
                <a:extLst>
                  <a:ext uri="{0D108BD9-81ED-4DB2-BD59-A6C34878D82A}">
                    <a16:rowId xmlns:a16="http://schemas.microsoft.com/office/drawing/2014/main" val="605780711"/>
                  </a:ext>
                </a:extLst>
              </a:tr>
              <a:tr h="450471">
                <a:tc>
                  <a:txBody>
                    <a:bodyPr/>
                    <a:lstStyle/>
                    <a:p>
                      <a:pPr>
                        <a:buNone/>
                      </a:pPr>
                      <a:r>
                        <a:rPr lang="en-US" sz="1400" b="1">
                          <a:latin typeface="Arial" panose="020B0604020202020204" pitchFamily="34" charset="0"/>
                          <a:cs typeface="Arial" panose="020B0604020202020204" pitchFamily="34" charset="0"/>
                        </a:rPr>
                        <a:t>5. Repeating data (denormalization without reason)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Copying the same information in multiple places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Data inconsistency and redundancy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Normalize data (use </a:t>
                      </a:r>
                      <a:r>
                        <a:rPr lang="en-US" sz="1400" b="1">
                          <a:latin typeface="Arial" panose="020B0604020202020204" pitchFamily="34" charset="0"/>
                          <a:cs typeface="Arial" panose="020B0604020202020204" pitchFamily="34" charset="0"/>
                        </a:rPr>
                        <a:t>3NF</a:t>
                      </a:r>
                      <a:r>
                        <a:rPr lang="en-US" sz="1400">
                          <a:latin typeface="Arial" panose="020B0604020202020204" pitchFamily="34" charset="0"/>
                          <a:cs typeface="Arial" panose="020B0604020202020204" pitchFamily="34" charset="0"/>
                        </a:rPr>
                        <a:t> or BCNF)</a:t>
                      </a:r>
                    </a:p>
                  </a:txBody>
                  <a:tcPr marL="45047" marR="45047" marT="22524" marB="22524" anchor="ctr">
                    <a:lnL>
                      <a:noFill/>
                    </a:lnL>
                    <a:lnR>
                      <a:noFill/>
                    </a:lnR>
                    <a:lnT>
                      <a:noFill/>
                    </a:lnT>
                    <a:lnB>
                      <a:noFill/>
                    </a:lnB>
                    <a:noFill/>
                  </a:tcPr>
                </a:tc>
                <a:extLst>
                  <a:ext uri="{0D108BD9-81ED-4DB2-BD59-A6C34878D82A}">
                    <a16:rowId xmlns:a16="http://schemas.microsoft.com/office/drawing/2014/main" val="1758655294"/>
                  </a:ext>
                </a:extLst>
              </a:tr>
              <a:tr h="315330">
                <a:tc>
                  <a:txBody>
                    <a:bodyPr/>
                    <a:lstStyle/>
                    <a:p>
                      <a:pPr>
                        <a:buNone/>
                      </a:pPr>
                      <a:r>
                        <a:rPr lang="en-IN" sz="1400" b="1">
                          <a:latin typeface="Arial" panose="020B0604020202020204" pitchFamily="34" charset="0"/>
                          <a:cs typeface="Arial" panose="020B0604020202020204" pitchFamily="34" charset="0"/>
                        </a:rPr>
                        <a:t>6. Storing calculated data</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totals or averages in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Values can get </a:t>
                      </a:r>
                      <a:r>
                        <a:rPr lang="en-US" sz="1400" b="1">
                          <a:latin typeface="Arial" panose="020B0604020202020204" pitchFamily="34" charset="0"/>
                          <a:cs typeface="Arial" panose="020B0604020202020204" pitchFamily="34" charset="0"/>
                        </a:rPr>
                        <a:t>out of sync</a:t>
                      </a:r>
                      <a:r>
                        <a:rPr lang="en-US" sz="1400">
                          <a:latin typeface="Arial" panose="020B0604020202020204" pitchFamily="34" charset="0"/>
                          <a:cs typeface="Arial" panose="020B0604020202020204" pitchFamily="34" charset="0"/>
                        </a:rPr>
                        <a:t> with base data</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computed columns</a:t>
                      </a:r>
                      <a:r>
                        <a:rPr lang="en-US" sz="1400">
                          <a:latin typeface="Arial" panose="020B0604020202020204" pitchFamily="34" charset="0"/>
                          <a:cs typeface="Arial" panose="020B0604020202020204" pitchFamily="34" charset="0"/>
                        </a:rPr>
                        <a:t> or calculate in queries</a:t>
                      </a:r>
                    </a:p>
                  </a:txBody>
                  <a:tcPr marL="45047" marR="45047" marT="22524" marB="22524" anchor="ctr">
                    <a:lnL>
                      <a:noFill/>
                    </a:lnL>
                    <a:lnR>
                      <a:noFill/>
                    </a:lnR>
                    <a:lnT>
                      <a:noFill/>
                    </a:lnT>
                    <a:lnB>
                      <a:noFill/>
                    </a:lnB>
                    <a:noFill/>
                  </a:tcPr>
                </a:tc>
                <a:extLst>
                  <a:ext uri="{0D108BD9-81ED-4DB2-BD59-A6C34878D82A}">
                    <a16:rowId xmlns:a16="http://schemas.microsoft.com/office/drawing/2014/main" val="226429687"/>
                  </a:ext>
                </a:extLst>
              </a:tr>
              <a:tr h="450471">
                <a:tc>
                  <a:txBody>
                    <a:bodyPr/>
                    <a:lstStyle/>
                    <a:p>
                      <a:pPr>
                        <a:buNone/>
                      </a:pPr>
                      <a:r>
                        <a:rPr lang="en-US" sz="1400" b="1">
                          <a:latin typeface="Arial" panose="020B0604020202020204" pitchFamily="34" charset="0"/>
                          <a:cs typeface="Arial" panose="020B0604020202020204" pitchFamily="34" charset="0"/>
                        </a:rPr>
                        <a:t>7. Using subqueries instead of JOINs (when not needed)</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Writing subqueries inside SELECT or WHERE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Slower performance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JOINs</a:t>
                      </a:r>
                      <a:r>
                        <a:rPr lang="en-US" sz="1400">
                          <a:latin typeface="Arial" panose="020B0604020202020204" pitchFamily="34" charset="0"/>
                          <a:cs typeface="Arial" panose="020B0604020202020204" pitchFamily="34" charset="0"/>
                        </a:rPr>
                        <a:t> when relationships exist</a:t>
                      </a:r>
                    </a:p>
                  </a:txBody>
                  <a:tcPr marL="45047" marR="45047" marT="22524" marB="22524" anchor="ctr">
                    <a:lnL>
                      <a:noFill/>
                    </a:lnL>
                    <a:lnR>
                      <a:noFill/>
                    </a:lnR>
                    <a:lnT>
                      <a:noFill/>
                    </a:lnT>
                    <a:lnB>
                      <a:noFill/>
                    </a:lnB>
                    <a:noFill/>
                  </a:tcPr>
                </a:tc>
                <a:extLst>
                  <a:ext uri="{0D108BD9-81ED-4DB2-BD59-A6C34878D82A}">
                    <a16:rowId xmlns:a16="http://schemas.microsoft.com/office/drawing/2014/main" val="3600420051"/>
                  </a:ext>
                </a:extLst>
              </a:tr>
              <a:tr h="450471">
                <a:tc>
                  <a:txBody>
                    <a:bodyPr/>
                    <a:lstStyle/>
                    <a:p>
                      <a:pPr>
                        <a:buNone/>
                      </a:pPr>
                      <a:r>
                        <a:rPr lang="en-US" sz="1400" b="1">
                          <a:latin typeface="Arial" panose="020B0604020202020204" pitchFamily="34" charset="0"/>
                          <a:cs typeface="Arial" panose="020B0604020202020204" pitchFamily="34" charset="0"/>
                        </a:rPr>
                        <a:t>8. No indexes or wrong indexes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Missing indexes on frequently searched columns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 SELECT performance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appropriate indexing</a:t>
                      </a:r>
                      <a:r>
                        <a:rPr lang="en-IN" sz="1400">
                          <a:latin typeface="Arial" panose="020B0604020202020204" pitchFamily="34" charset="0"/>
                          <a:cs typeface="Arial" panose="020B0604020202020204" pitchFamily="34" charset="0"/>
                        </a:rPr>
                        <a:t> strategy</a:t>
                      </a:r>
                    </a:p>
                  </a:txBody>
                  <a:tcPr marL="45047" marR="45047" marT="22524" marB="22524" anchor="ctr">
                    <a:lnL>
                      <a:noFill/>
                    </a:lnL>
                    <a:lnR>
                      <a:noFill/>
                    </a:lnR>
                    <a:lnT>
                      <a:noFill/>
                    </a:lnT>
                    <a:lnB>
                      <a:noFill/>
                    </a:lnB>
                    <a:noFill/>
                  </a:tcPr>
                </a:tc>
                <a:extLst>
                  <a:ext uri="{0D108BD9-81ED-4DB2-BD59-A6C34878D82A}">
                    <a16:rowId xmlns:a16="http://schemas.microsoft.com/office/drawing/2014/main" val="4139608660"/>
                  </a:ext>
                </a:extLst>
              </a:tr>
              <a:tr h="450471">
                <a:tc>
                  <a:txBody>
                    <a:bodyPr/>
                    <a:lstStyle/>
                    <a:p>
                      <a:pPr>
                        <a:buNone/>
                      </a:pPr>
                      <a:r>
                        <a:rPr lang="en-US" sz="1400" b="1">
                          <a:latin typeface="Arial" panose="020B0604020202020204" pitchFamily="34" charset="0"/>
                          <a:cs typeface="Arial" panose="020B0604020202020204" pitchFamily="34" charset="0"/>
                        </a:rPr>
                        <a:t>9. Using surrogate values instead of relationships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related IDs as text instead of foreign keys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Breaks referential integrity</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FOREIGN KEY constraints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16932592"/>
                  </a:ext>
                </a:extLst>
              </a:tr>
              <a:tr h="315330">
                <a:tc>
                  <a:txBody>
                    <a:bodyPr/>
                    <a:lstStyle/>
                    <a:p>
                      <a:pPr>
                        <a:buNone/>
                      </a:pPr>
                      <a:r>
                        <a:rPr lang="en-US" sz="1400" b="1">
                          <a:latin typeface="Arial" panose="020B0604020202020204" pitchFamily="34" charset="0"/>
                          <a:cs typeface="Arial" panose="020B0604020202020204" pitchFamily="34" charset="0"/>
                        </a:rPr>
                        <a:t>10. Business logic in SQL only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Complex business logic in stored procedures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Harder to test, maintain, or scale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Move logic to </a:t>
                      </a:r>
                      <a:r>
                        <a:rPr lang="en-US" sz="1400" b="1">
                          <a:latin typeface="Arial" panose="020B0604020202020204" pitchFamily="34" charset="0"/>
                          <a:cs typeface="Arial" panose="020B0604020202020204" pitchFamily="34" charset="0"/>
                        </a:rPr>
                        <a:t>application layer</a:t>
                      </a:r>
                      <a:r>
                        <a:rPr lang="en-US" sz="1400">
                          <a:latin typeface="Arial" panose="020B0604020202020204" pitchFamily="34" charset="0"/>
                          <a:cs typeface="Arial" panose="020B0604020202020204" pitchFamily="34" charset="0"/>
                        </a:rPr>
                        <a:t> if appropriate</a:t>
                      </a:r>
                    </a:p>
                  </a:txBody>
                  <a:tcPr marL="45047" marR="45047" marT="22524" marB="22524" anchor="ctr">
                    <a:lnL>
                      <a:noFill/>
                    </a:lnL>
                    <a:lnR>
                      <a:noFill/>
                    </a:lnR>
                    <a:lnT>
                      <a:noFill/>
                    </a:lnT>
                    <a:lnB>
                      <a:noFill/>
                    </a:lnB>
                    <a:noFill/>
                  </a:tcPr>
                </a:tc>
                <a:extLst>
                  <a:ext uri="{0D108BD9-81ED-4DB2-BD59-A6C34878D82A}">
                    <a16:rowId xmlns:a16="http://schemas.microsoft.com/office/drawing/2014/main" val="123755723"/>
                  </a:ext>
                </a:extLst>
              </a:tr>
              <a:tr h="315330">
                <a:tc>
                  <a:txBody>
                    <a:bodyPr/>
                    <a:lstStyle/>
                    <a:p>
                      <a:pPr>
                        <a:buNone/>
                      </a:pPr>
                      <a:r>
                        <a:rPr lang="en-US" sz="1400" b="1">
                          <a:latin typeface="Arial" panose="020B0604020202020204" pitchFamily="34" charset="0"/>
                          <a:cs typeface="Arial" panose="020B0604020202020204" pitchFamily="34" charset="0"/>
                        </a:rPr>
                        <a:t>11. Using database as a cache</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Constantly reading/writing temporary data</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Locks and performance bottlenecks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Redis</a:t>
                      </a:r>
                      <a:r>
                        <a:rPr lang="en-US" sz="1400">
                          <a:latin typeface="Arial" panose="020B0604020202020204" pitchFamily="34" charset="0"/>
                          <a:cs typeface="Arial" panose="020B0604020202020204" pitchFamily="34" charset="0"/>
                        </a:rPr>
                        <a:t> or other caching systems</a:t>
                      </a:r>
                    </a:p>
                  </a:txBody>
                  <a:tcPr marL="45047" marR="45047" marT="22524" marB="22524" anchor="ctr">
                    <a:lnL>
                      <a:noFill/>
                    </a:lnL>
                    <a:lnR>
                      <a:noFill/>
                    </a:lnR>
                    <a:lnT>
                      <a:noFill/>
                    </a:lnT>
                    <a:lnB>
                      <a:noFill/>
                    </a:lnB>
                    <a:noFill/>
                  </a:tcPr>
                </a:tc>
                <a:extLst>
                  <a:ext uri="{0D108BD9-81ED-4DB2-BD59-A6C34878D82A}">
                    <a16:rowId xmlns:a16="http://schemas.microsoft.com/office/drawing/2014/main" val="3221522561"/>
                  </a:ext>
                </a:extLst>
              </a:tr>
              <a:tr h="315330">
                <a:tc>
                  <a:txBody>
                    <a:bodyPr/>
                    <a:lstStyle/>
                    <a:p>
                      <a:pPr>
                        <a:buNone/>
                      </a:pPr>
                      <a:r>
                        <a:rPr lang="en-IN" sz="1400" b="1">
                          <a:latin typeface="Arial" panose="020B0604020202020204" pitchFamily="34" charset="0"/>
                          <a:cs typeface="Arial" panose="020B0604020202020204" pitchFamily="34" charset="0"/>
                        </a:rPr>
                        <a:t>12. Ignoring transactions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Not using BEGIN / COMMIT properly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Incomplete updates and data corruption</a:t>
                      </a:r>
                    </a:p>
                  </a:txBody>
                  <a:tcPr marL="45047" marR="45047" marT="22524" marB="22524" anchor="ctr">
                    <a:lnL>
                      <a:noFill/>
                    </a:lnL>
                    <a:lnR>
                      <a:noFill/>
                    </a:lnR>
                    <a:lnT>
                      <a:noFill/>
                    </a:lnT>
                    <a:lnB>
                      <a:noFill/>
                    </a:lnB>
                    <a:noFill/>
                  </a:tcPr>
                </a:tc>
                <a:tc>
                  <a:txBody>
                    <a:bodyPr/>
                    <a:lstStyle/>
                    <a:p>
                      <a:pPr>
                        <a:buNone/>
                      </a:pPr>
                      <a:r>
                        <a:rPr lang="en-US" sz="1400" dirty="0">
                          <a:latin typeface="Arial" panose="020B0604020202020204" pitchFamily="34" charset="0"/>
                          <a:cs typeface="Arial" panose="020B0604020202020204" pitchFamily="34" charset="0"/>
                        </a:rPr>
                        <a:t>Always use </a:t>
                      </a:r>
                      <a:r>
                        <a:rPr lang="en-US" sz="1400" b="1" dirty="0">
                          <a:latin typeface="Arial" panose="020B0604020202020204" pitchFamily="34" charset="0"/>
                          <a:cs typeface="Arial" panose="020B0604020202020204" pitchFamily="34" charset="0"/>
                        </a:rPr>
                        <a:t>transactions</a:t>
                      </a:r>
                      <a:r>
                        <a:rPr lang="en-US" sz="1400" dirty="0">
                          <a:latin typeface="Arial" panose="020B0604020202020204" pitchFamily="34" charset="0"/>
                          <a:cs typeface="Arial" panose="020B0604020202020204" pitchFamily="34" charset="0"/>
                        </a:rPr>
                        <a:t> for multi-step updates</a:t>
                      </a:r>
                    </a:p>
                  </a:txBody>
                  <a:tcPr marL="45047" marR="45047" marT="22524" marB="22524" anchor="ctr">
                    <a:lnL>
                      <a:noFill/>
                    </a:lnL>
                    <a:lnR>
                      <a:noFill/>
                    </a:lnR>
                    <a:lnT>
                      <a:noFill/>
                    </a:lnT>
                    <a:lnB>
                      <a:noFill/>
                    </a:lnB>
                    <a:noFill/>
                  </a:tcPr>
                </a:tc>
                <a:extLst>
                  <a:ext uri="{0D108BD9-81ED-4DB2-BD59-A6C34878D82A}">
                    <a16:rowId xmlns:a16="http://schemas.microsoft.com/office/drawing/2014/main" val="3862714387"/>
                  </a:ext>
                </a:extLst>
              </a:tr>
            </a:tbl>
          </a:graphicData>
        </a:graphic>
      </p:graphicFrame>
    </p:spTree>
    <p:extLst>
      <p:ext uri="{BB962C8B-B14F-4D97-AF65-F5344CB8AC3E}">
        <p14:creationId xmlns:p14="http://schemas.microsoft.com/office/powerpoint/2010/main" val="501907226"/>
      </p:ext>
    </p:extLst>
  </p:cSld>
  <p:clrMapOvr>
    <a:masterClrMapping/>
  </p:clrMapOvr>
</p:sld>
</file>

<file path=ppt/slides/slide9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7BC08F-51FF-2709-738B-880E5573E2F4}"/>
              </a:ext>
            </a:extLst>
          </p:cNvPr>
          <p:cNvSpPr txBox="1"/>
          <p:nvPr/>
        </p:nvSpPr>
        <p:spPr>
          <a:xfrm>
            <a:off x="119336" y="908720"/>
            <a:ext cx="11881320" cy="5262979"/>
          </a:xfrm>
          <a:prstGeom prst="rect">
            <a:avLst/>
          </a:prstGeom>
          <a:noFill/>
        </p:spPr>
        <p:txBody>
          <a:bodyPr wrap="square">
            <a:spAutoFit/>
          </a:bodyPr>
          <a:lstStyle/>
          <a:p>
            <a:pPr marL="342900" indent="-342900">
              <a:buFont typeface="+mj-lt"/>
              <a:buAutoNum type="arabicPeriod"/>
            </a:pPr>
            <a:r>
              <a:rPr lang="en-IN" sz="2800" dirty="0"/>
              <a:t>WITH RECURSIVE </a:t>
            </a:r>
            <a:r>
              <a:rPr lang="en-IN" sz="2800" dirty="0" err="1"/>
              <a:t>emp_path</a:t>
            </a:r>
            <a:r>
              <a:rPr lang="en-IN" sz="2800" dirty="0"/>
              <a:t> AS (SELECT empno, ename, mgr, cast(ename as char(200)) path FROM emp WHERE mgr IS NULL UNION ALL SELECT e.empno, e.ename, e.mgr, CONCAT(</a:t>
            </a:r>
            <a:r>
              <a:rPr lang="en-IN" sz="2800" dirty="0" err="1"/>
              <a:t>p.path</a:t>
            </a:r>
            <a:r>
              <a:rPr lang="en-IN" sz="2800" dirty="0"/>
              <a:t>, '-&gt;', e.ename) FROM emp e JOIN </a:t>
            </a:r>
            <a:r>
              <a:rPr lang="en-IN" sz="2800" dirty="0" err="1"/>
              <a:t>emp_path</a:t>
            </a:r>
            <a:r>
              <a:rPr lang="en-IN" sz="2800" dirty="0"/>
              <a:t> p ON e.mgr = </a:t>
            </a:r>
            <a:r>
              <a:rPr lang="en-IN" sz="2800" dirty="0" err="1"/>
              <a:t>p.empno</a:t>
            </a:r>
            <a:r>
              <a:rPr lang="en-IN" sz="2800" dirty="0"/>
              <a:t>) SELECT * FROM </a:t>
            </a:r>
            <a:r>
              <a:rPr lang="en-IN" sz="2800" dirty="0" err="1"/>
              <a:t>emp_path</a:t>
            </a:r>
            <a:r>
              <a:rPr lang="en-IN" sz="2800" dirty="0"/>
              <a:t>;</a:t>
            </a:r>
          </a:p>
          <a:p>
            <a:endParaRPr lang="en-IN" sz="2800" dirty="0"/>
          </a:p>
          <a:p>
            <a:endParaRPr lang="en-IN" sz="2800" dirty="0"/>
          </a:p>
          <a:p>
            <a:endParaRPr lang="en-IN" sz="2800" dirty="0"/>
          </a:p>
          <a:p>
            <a:endParaRPr lang="en-IN" sz="2800" dirty="0"/>
          </a:p>
          <a:p>
            <a:pPr marL="400050" indent="-400050">
              <a:buFont typeface="+mj-lt"/>
              <a:buAutoNum type="arabicPeriod" startAt="2"/>
            </a:pPr>
            <a:r>
              <a:rPr lang="en-IN" sz="2800" dirty="0"/>
              <a:t>WITH RECURSIVE cte AS (SELECT empno,         ename, mgr, 1 AS level FROM emp WHERE mgr IS NULL UNION ALL SELECT e.empno, e.ename, e.mgr, </a:t>
            </a:r>
            <a:r>
              <a:rPr lang="en-IN" sz="2800" dirty="0" err="1"/>
              <a:t>c.level</a:t>
            </a:r>
            <a:r>
              <a:rPr lang="en-IN" sz="2800" dirty="0"/>
              <a:t> + 1 FROM emp e JOIN cte c ON e.mgr = </a:t>
            </a:r>
            <a:r>
              <a:rPr lang="en-IN" sz="2800" dirty="0" err="1"/>
              <a:t>c.empno</a:t>
            </a:r>
            <a:r>
              <a:rPr lang="en-IN" sz="2800"/>
              <a:t>)select * from cte;</a:t>
            </a:r>
            <a:endParaRPr lang="en-IN" sz="2800" dirty="0"/>
          </a:p>
        </p:txBody>
      </p:sp>
    </p:spTree>
    <p:extLst>
      <p:ext uri="{BB962C8B-B14F-4D97-AF65-F5344CB8AC3E}">
        <p14:creationId xmlns:p14="http://schemas.microsoft.com/office/powerpoint/2010/main" val="2227311224"/>
      </p:ext>
    </p:extLst>
  </p:cSld>
  <p:clrMapOvr>
    <a:masterClrMapping/>
  </p:clrMapOvr>
</p:sld>
</file>

<file path=ppt/slides/slide9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Table 10">
            <a:extLst>
              <a:ext uri="{FF2B5EF4-FFF2-40B4-BE49-F238E27FC236}">
                <a16:creationId xmlns:a16="http://schemas.microsoft.com/office/drawing/2014/main" id="{78663410-5AA0-4156-8E79-4A2428217EA9}"/>
              </a:ext>
            </a:extLst>
          </p:cNvPr>
          <p:cNvGraphicFramePr>
            <a:graphicFrameLocks noGrp="1"/>
          </p:cNvGraphicFramePr>
          <p:nvPr>
            <p:extLst>
              <p:ext uri="{D42A27DB-BD31-4B8C-83A1-F6EECF244321}">
                <p14:modId xmlns:p14="http://schemas.microsoft.com/office/powerpoint/2010/main" val="1711166469"/>
              </p:ext>
            </p:extLst>
          </p:nvPr>
        </p:nvGraphicFramePr>
        <p:xfrm>
          <a:off x="479376" y="836712"/>
          <a:ext cx="10972800" cy="3322320"/>
        </p:xfrm>
        <a:graphic>
          <a:graphicData uri="http://schemas.openxmlformats.org/drawingml/2006/table">
            <a:tbl>
              <a:tblPr>
                <a:tableStyleId>{5940675A-B579-460E-94D1-54222C63F5DA}</a:tableStyleId>
              </a:tblPr>
              <a:tblGrid>
                <a:gridCol w="5486400">
                  <a:extLst>
                    <a:ext uri="{9D8B030D-6E8A-4147-A177-3AD203B41FA5}">
                      <a16:colId xmlns:a16="http://schemas.microsoft.com/office/drawing/2014/main" val="3307573257"/>
                    </a:ext>
                  </a:extLst>
                </a:gridCol>
                <a:gridCol w="5486400">
                  <a:extLst>
                    <a:ext uri="{9D8B030D-6E8A-4147-A177-3AD203B41FA5}">
                      <a16:colId xmlns:a16="http://schemas.microsoft.com/office/drawing/2014/main" val="1747320980"/>
                    </a:ext>
                  </a:extLst>
                </a:gridCol>
              </a:tblGrid>
              <a:tr h="0">
                <a:tc>
                  <a:txBody>
                    <a:bodyPr/>
                    <a:lstStyle/>
                    <a:p>
                      <a:pPr>
                        <a:buNone/>
                      </a:pPr>
                      <a:r>
                        <a:rPr lang="en-IN" sz="2000" b="1" dirty="0">
                          <a:latin typeface="Palatino Linotype" panose="02040502050505030304" pitchFamily="18" charset="0"/>
                        </a:rPr>
                        <a:t>Unit</a:t>
                      </a:r>
                    </a:p>
                  </a:txBody>
                  <a:tcPr anchor="ctr"/>
                </a:tc>
                <a:tc>
                  <a:txBody>
                    <a:bodyPr/>
                    <a:lstStyle/>
                    <a:p>
                      <a:pPr>
                        <a:buNone/>
                      </a:pPr>
                      <a:r>
                        <a:rPr lang="en-IN" sz="2000" b="1" dirty="0">
                          <a:latin typeface="Palatino Linotype" panose="02040502050505030304" pitchFamily="18" charset="0"/>
                        </a:rPr>
                        <a:t>Example</a:t>
                      </a:r>
                    </a:p>
                  </a:txBody>
                  <a:tcPr anchor="ctr"/>
                </a:tc>
                <a:extLst>
                  <a:ext uri="{0D108BD9-81ED-4DB2-BD59-A6C34878D82A}">
                    <a16:rowId xmlns:a16="http://schemas.microsoft.com/office/drawing/2014/main" val="592777584"/>
                  </a:ext>
                </a:extLst>
              </a:tr>
              <a:tr h="0">
                <a:tc>
                  <a:txBody>
                    <a:bodyPr/>
                    <a:lstStyle/>
                    <a:p>
                      <a:pPr>
                        <a:buNone/>
                      </a:pPr>
                      <a:r>
                        <a:rPr lang="en-IN" dirty="0">
                          <a:latin typeface="Palatino Linotype" panose="02040502050505030304" pitchFamily="18" charset="0"/>
                        </a:rPr>
                        <a:t>SECOND</a:t>
                      </a:r>
                    </a:p>
                  </a:txBody>
                  <a:tcPr anchor="ctr"/>
                </a:tc>
                <a:tc>
                  <a:txBody>
                    <a:bodyPr/>
                    <a:lstStyle/>
                    <a:p>
                      <a:pPr>
                        <a:buNone/>
                      </a:pPr>
                      <a:r>
                        <a:rPr lang="en-IN" dirty="0">
                          <a:latin typeface="Palatino Linotype" panose="02040502050505030304" pitchFamily="18" charset="0"/>
                        </a:rPr>
                        <a:t>EVERY 30 SECOND</a:t>
                      </a:r>
                    </a:p>
                  </a:txBody>
                  <a:tcPr anchor="ctr"/>
                </a:tc>
                <a:extLst>
                  <a:ext uri="{0D108BD9-81ED-4DB2-BD59-A6C34878D82A}">
                    <a16:rowId xmlns:a16="http://schemas.microsoft.com/office/drawing/2014/main" val="208969857"/>
                  </a:ext>
                </a:extLst>
              </a:tr>
              <a:tr h="0">
                <a:tc>
                  <a:txBody>
                    <a:bodyPr/>
                    <a:lstStyle/>
                    <a:p>
                      <a:pPr>
                        <a:buNone/>
                      </a:pPr>
                      <a:r>
                        <a:rPr lang="en-IN" dirty="0">
                          <a:latin typeface="Palatino Linotype" panose="02040502050505030304" pitchFamily="18" charset="0"/>
                        </a:rPr>
                        <a:t>MINUTE</a:t>
                      </a:r>
                    </a:p>
                  </a:txBody>
                  <a:tcPr anchor="ctr"/>
                </a:tc>
                <a:tc>
                  <a:txBody>
                    <a:bodyPr/>
                    <a:lstStyle/>
                    <a:p>
                      <a:pPr>
                        <a:buNone/>
                      </a:pPr>
                      <a:r>
                        <a:rPr lang="en-IN">
                          <a:latin typeface="Palatino Linotype" panose="02040502050505030304" pitchFamily="18" charset="0"/>
                        </a:rPr>
                        <a:t>EVERY 5 MINUTE</a:t>
                      </a:r>
                    </a:p>
                  </a:txBody>
                  <a:tcPr anchor="ctr"/>
                </a:tc>
                <a:extLst>
                  <a:ext uri="{0D108BD9-81ED-4DB2-BD59-A6C34878D82A}">
                    <a16:rowId xmlns:a16="http://schemas.microsoft.com/office/drawing/2014/main" val="2809313150"/>
                  </a:ext>
                </a:extLst>
              </a:tr>
              <a:tr h="0">
                <a:tc>
                  <a:txBody>
                    <a:bodyPr/>
                    <a:lstStyle/>
                    <a:p>
                      <a:pPr>
                        <a:buNone/>
                      </a:pPr>
                      <a:r>
                        <a:rPr lang="en-IN" dirty="0">
                          <a:latin typeface="Palatino Linotype" panose="02040502050505030304" pitchFamily="18" charset="0"/>
                        </a:rPr>
                        <a:t>HOUR</a:t>
                      </a:r>
                    </a:p>
                  </a:txBody>
                  <a:tcPr anchor="ctr"/>
                </a:tc>
                <a:tc>
                  <a:txBody>
                    <a:bodyPr/>
                    <a:lstStyle/>
                    <a:p>
                      <a:pPr>
                        <a:buNone/>
                      </a:pPr>
                      <a:r>
                        <a:rPr lang="en-IN" dirty="0">
                          <a:latin typeface="Palatino Linotype" panose="02040502050505030304" pitchFamily="18" charset="0"/>
                        </a:rPr>
                        <a:t>EVERY 2 HOUR</a:t>
                      </a:r>
                    </a:p>
                  </a:txBody>
                  <a:tcPr anchor="ctr"/>
                </a:tc>
                <a:extLst>
                  <a:ext uri="{0D108BD9-81ED-4DB2-BD59-A6C34878D82A}">
                    <a16:rowId xmlns:a16="http://schemas.microsoft.com/office/drawing/2014/main" val="623338625"/>
                  </a:ext>
                </a:extLst>
              </a:tr>
              <a:tr h="0">
                <a:tc>
                  <a:txBody>
                    <a:bodyPr/>
                    <a:lstStyle/>
                    <a:p>
                      <a:pPr>
                        <a:buNone/>
                      </a:pPr>
                      <a:r>
                        <a:rPr lang="en-IN" dirty="0">
                          <a:latin typeface="Palatino Linotype" panose="02040502050505030304" pitchFamily="18" charset="0"/>
                        </a:rPr>
                        <a:t>DAY</a:t>
                      </a:r>
                    </a:p>
                  </a:txBody>
                  <a:tcPr anchor="ctr"/>
                </a:tc>
                <a:tc>
                  <a:txBody>
                    <a:bodyPr/>
                    <a:lstStyle/>
                    <a:p>
                      <a:pPr>
                        <a:buNone/>
                      </a:pPr>
                      <a:r>
                        <a:rPr lang="en-IN" dirty="0">
                          <a:latin typeface="Palatino Linotype" panose="02040502050505030304" pitchFamily="18" charset="0"/>
                        </a:rPr>
                        <a:t>EVERY 1 DAY</a:t>
                      </a:r>
                    </a:p>
                  </a:txBody>
                  <a:tcPr anchor="ctr"/>
                </a:tc>
                <a:extLst>
                  <a:ext uri="{0D108BD9-81ED-4DB2-BD59-A6C34878D82A}">
                    <a16:rowId xmlns:a16="http://schemas.microsoft.com/office/drawing/2014/main" val="1516173055"/>
                  </a:ext>
                </a:extLst>
              </a:tr>
              <a:tr h="0">
                <a:tc>
                  <a:txBody>
                    <a:bodyPr/>
                    <a:lstStyle/>
                    <a:p>
                      <a:pPr>
                        <a:buNone/>
                      </a:pPr>
                      <a:r>
                        <a:rPr lang="en-IN" dirty="0">
                          <a:latin typeface="Palatino Linotype" panose="02040502050505030304" pitchFamily="18" charset="0"/>
                        </a:rPr>
                        <a:t>WEEK</a:t>
                      </a:r>
                    </a:p>
                  </a:txBody>
                  <a:tcPr anchor="ctr"/>
                </a:tc>
                <a:tc>
                  <a:txBody>
                    <a:bodyPr/>
                    <a:lstStyle/>
                    <a:p>
                      <a:pPr>
                        <a:buNone/>
                      </a:pPr>
                      <a:r>
                        <a:rPr lang="en-IN" dirty="0">
                          <a:latin typeface="Palatino Linotype" panose="02040502050505030304" pitchFamily="18" charset="0"/>
                        </a:rPr>
                        <a:t>EVERY 1 WEEK</a:t>
                      </a:r>
                    </a:p>
                  </a:txBody>
                  <a:tcPr anchor="ctr"/>
                </a:tc>
                <a:extLst>
                  <a:ext uri="{0D108BD9-81ED-4DB2-BD59-A6C34878D82A}">
                    <a16:rowId xmlns:a16="http://schemas.microsoft.com/office/drawing/2014/main" val="2107090480"/>
                  </a:ext>
                </a:extLst>
              </a:tr>
              <a:tr h="0">
                <a:tc>
                  <a:txBody>
                    <a:bodyPr/>
                    <a:lstStyle/>
                    <a:p>
                      <a:pPr>
                        <a:buNone/>
                      </a:pPr>
                      <a:r>
                        <a:rPr lang="en-IN" dirty="0">
                          <a:latin typeface="Palatino Linotype" panose="02040502050505030304" pitchFamily="18" charset="0"/>
                        </a:rPr>
                        <a:t>MONTH</a:t>
                      </a:r>
                    </a:p>
                  </a:txBody>
                  <a:tcPr anchor="ctr"/>
                </a:tc>
                <a:tc>
                  <a:txBody>
                    <a:bodyPr/>
                    <a:lstStyle/>
                    <a:p>
                      <a:pPr>
                        <a:buNone/>
                      </a:pPr>
                      <a:r>
                        <a:rPr lang="en-IN" dirty="0">
                          <a:latin typeface="Palatino Linotype" panose="02040502050505030304" pitchFamily="18" charset="0"/>
                        </a:rPr>
                        <a:t>EVERY 1 MONTH</a:t>
                      </a:r>
                    </a:p>
                  </a:txBody>
                  <a:tcPr anchor="ctr"/>
                </a:tc>
                <a:extLst>
                  <a:ext uri="{0D108BD9-81ED-4DB2-BD59-A6C34878D82A}">
                    <a16:rowId xmlns:a16="http://schemas.microsoft.com/office/drawing/2014/main" val="50516122"/>
                  </a:ext>
                </a:extLst>
              </a:tr>
              <a:tr h="0">
                <a:tc>
                  <a:txBody>
                    <a:bodyPr/>
                    <a:lstStyle/>
                    <a:p>
                      <a:pPr>
                        <a:buNone/>
                      </a:pPr>
                      <a:r>
                        <a:rPr lang="en-IN" dirty="0">
                          <a:latin typeface="Palatino Linotype" panose="02040502050505030304" pitchFamily="18" charset="0"/>
                        </a:rPr>
                        <a:t>QUARTER</a:t>
                      </a:r>
                    </a:p>
                  </a:txBody>
                  <a:tcPr anchor="ctr"/>
                </a:tc>
                <a:tc>
                  <a:txBody>
                    <a:bodyPr/>
                    <a:lstStyle/>
                    <a:p>
                      <a:pPr>
                        <a:buNone/>
                      </a:pPr>
                      <a:r>
                        <a:rPr lang="en-IN" dirty="0">
                          <a:latin typeface="Palatino Linotype" panose="02040502050505030304" pitchFamily="18" charset="0"/>
                        </a:rPr>
                        <a:t>EVERY 1 QUARTER</a:t>
                      </a:r>
                    </a:p>
                  </a:txBody>
                  <a:tcPr anchor="ctr"/>
                </a:tc>
                <a:extLst>
                  <a:ext uri="{0D108BD9-81ED-4DB2-BD59-A6C34878D82A}">
                    <a16:rowId xmlns:a16="http://schemas.microsoft.com/office/drawing/2014/main" val="149644259"/>
                  </a:ext>
                </a:extLst>
              </a:tr>
              <a:tr h="0">
                <a:tc>
                  <a:txBody>
                    <a:bodyPr/>
                    <a:lstStyle/>
                    <a:p>
                      <a:pPr>
                        <a:buNone/>
                      </a:pPr>
                      <a:r>
                        <a:rPr lang="en-IN" dirty="0">
                          <a:latin typeface="Palatino Linotype" panose="02040502050505030304" pitchFamily="18" charset="0"/>
                        </a:rPr>
                        <a:t>YEAR</a:t>
                      </a:r>
                    </a:p>
                  </a:txBody>
                  <a:tcPr anchor="ctr"/>
                </a:tc>
                <a:tc>
                  <a:txBody>
                    <a:bodyPr/>
                    <a:lstStyle/>
                    <a:p>
                      <a:pPr>
                        <a:buNone/>
                      </a:pPr>
                      <a:r>
                        <a:rPr lang="en-IN" dirty="0">
                          <a:latin typeface="Palatino Linotype" panose="02040502050505030304" pitchFamily="18" charset="0"/>
                        </a:rPr>
                        <a:t>EVERY 1 YEAR</a:t>
                      </a:r>
                    </a:p>
                  </a:txBody>
                  <a:tcPr anchor="ctr"/>
                </a:tc>
                <a:extLst>
                  <a:ext uri="{0D108BD9-81ED-4DB2-BD59-A6C34878D82A}">
                    <a16:rowId xmlns:a16="http://schemas.microsoft.com/office/drawing/2014/main" val="3379614215"/>
                  </a:ext>
                </a:extLst>
              </a:tr>
            </a:tbl>
          </a:graphicData>
        </a:graphic>
      </p:graphicFrame>
    </p:spTree>
    <p:extLst>
      <p:ext uri="{BB962C8B-B14F-4D97-AF65-F5344CB8AC3E}">
        <p14:creationId xmlns:p14="http://schemas.microsoft.com/office/powerpoint/2010/main" val="1468640776"/>
      </p:ext>
    </p:extLst>
  </p:cSld>
  <p:clrMapOvr>
    <a:masterClrMapping/>
  </p:clrMapOvr>
</p:sld>
</file>

<file path=ppt/slides/slide9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4BCC649-FD69-28E1-29C8-E30EF702081E}"/>
              </a:ext>
            </a:extLst>
          </p:cNvPr>
          <p:cNvGraphicFramePr>
            <a:graphicFrameLocks noGrp="1"/>
          </p:cNvGraphicFramePr>
          <p:nvPr>
            <p:extLst>
              <p:ext uri="{D42A27DB-BD31-4B8C-83A1-F6EECF244321}">
                <p14:modId xmlns:p14="http://schemas.microsoft.com/office/powerpoint/2010/main" val="4244730909"/>
              </p:ext>
            </p:extLst>
          </p:nvPr>
        </p:nvGraphicFramePr>
        <p:xfrm>
          <a:off x="406800" y="612000"/>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39324712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Custom 4">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000000"/>
      </a:hlink>
      <a:folHlink>
        <a:srgbClr val="00000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Origin</Template>
  <TotalTime>72719</TotalTime>
  <Words>108684</Words>
  <Application>Microsoft Office PowerPoint</Application>
  <PresentationFormat>Widescreen</PresentationFormat>
  <Paragraphs>16491</Paragraphs>
  <Slides>921</Slides>
  <Notes>62</Notes>
  <HiddenSlides>0</HiddenSlides>
  <MMClips>0</MMClips>
  <ScaleCrop>false</ScaleCrop>
  <HeadingPairs>
    <vt:vector size="6" baseType="variant">
      <vt:variant>
        <vt:lpstr>Fonts Used</vt:lpstr>
      </vt:variant>
      <vt:variant>
        <vt:i4>46</vt:i4>
      </vt:variant>
      <vt:variant>
        <vt:lpstr>Theme</vt:lpstr>
      </vt:variant>
      <vt:variant>
        <vt:i4>1</vt:i4>
      </vt:variant>
      <vt:variant>
        <vt:lpstr>Slide Titles</vt:lpstr>
      </vt:variant>
      <vt:variant>
        <vt:i4>921</vt:i4>
      </vt:variant>
    </vt:vector>
  </HeadingPairs>
  <TitlesOfParts>
    <vt:vector size="968" baseType="lpstr">
      <vt:lpstr>SimSun</vt:lpstr>
      <vt:lpstr>-apple-system</vt:lpstr>
      <vt:lpstr>Aptos Narrow</vt:lpstr>
      <vt:lpstr>Arial</vt:lpstr>
      <vt:lpstr>Arial</vt:lpstr>
      <vt:lpstr>Bookman Old Style</vt:lpstr>
      <vt:lpstr>Calibri</vt:lpstr>
      <vt:lpstr>Cambria</vt:lpstr>
      <vt:lpstr>Consolas</vt:lpstr>
      <vt:lpstr>Courier New</vt:lpstr>
      <vt:lpstr>erdana</vt:lpstr>
      <vt:lpstr>georgia</vt:lpstr>
      <vt:lpstr>georgia</vt:lpstr>
      <vt:lpstr>Gill Sans MT</vt:lpstr>
      <vt:lpstr>Gill Sans MT (Body)</vt:lpstr>
      <vt:lpstr>Google Sans</vt:lpstr>
      <vt:lpstr>Helvetica</vt:lpstr>
      <vt:lpstr>Helvetica Neue</vt:lpstr>
      <vt:lpstr>inherit</vt:lpstr>
      <vt:lpstr>Inter-Regular</vt:lpstr>
      <vt:lpstr>Inter-Regular</vt:lpstr>
      <vt:lpstr>Latha</vt:lpstr>
      <vt:lpstr>Leelawadee UI Semilight</vt:lpstr>
      <vt:lpstr>Liberation Mono</vt:lpstr>
      <vt:lpstr>Menlo</vt:lpstr>
      <vt:lpstr>NexusSans</vt:lpstr>
      <vt:lpstr>Nunito</vt:lpstr>
      <vt:lpstr>Open Sans</vt:lpstr>
      <vt:lpstr>Open Sans</vt:lpstr>
      <vt:lpstr>Open Sans Light</vt:lpstr>
      <vt:lpstr>Palatino Linotype</vt:lpstr>
      <vt:lpstr>Roboto</vt:lpstr>
      <vt:lpstr>Segoe Print</vt:lpstr>
      <vt:lpstr>Segoe UI</vt:lpstr>
      <vt:lpstr>Segoe UI Light</vt:lpstr>
      <vt:lpstr>Segoe UI Semilight</vt:lpstr>
      <vt:lpstr>Source Code Pro</vt:lpstr>
      <vt:lpstr>Source Sans Pro</vt:lpstr>
      <vt:lpstr>Symbol</vt:lpstr>
      <vt:lpstr>Times New Roman</vt:lpstr>
      <vt:lpstr>Verdana</vt:lpstr>
      <vt:lpstr>Verdana</vt:lpstr>
      <vt:lpstr>Vrinda</vt:lpstr>
      <vt:lpstr>Wingdings</vt:lpstr>
      <vt:lpstr>Wingdings 3</vt:lpstr>
      <vt:lpstr>Work Sans</vt:lpstr>
      <vt:lpstr>Origin</vt:lpstr>
      <vt:lpstr>Database Technologies - MySQL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Entity Relationship Diagram (ER Diagram)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Relational Algebra</vt:lpstr>
      <vt:lpstr>SELECT</vt:lpstr>
      <vt:lpstr>SELECT</vt:lpstr>
      <vt:lpstr>PROJECT</vt:lpstr>
      <vt:lpstr>UNION</vt:lpstr>
      <vt:lpstr>INTERSECTION</vt:lpstr>
      <vt:lpstr>MINUS</vt:lpstr>
      <vt:lpstr>PowerPoint Presentation</vt:lpstr>
      <vt:lpstr>Examples Queries</vt:lpstr>
      <vt:lpstr>Examples Queries</vt:lpstr>
      <vt:lpstr>PowerPoint Presentation</vt:lpstr>
      <vt:lpstr>Examples Queries</vt:lpstr>
      <vt:lpstr>Examples Queries</vt:lpstr>
      <vt:lpstr>PowerPoint Presentation</vt:lpstr>
      <vt:lpstr>Closure of attributes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ENGINES Syntax</vt:lpstr>
      <vt:lpstr>ENGINES</vt:lpstr>
      <vt:lpstr>ENGINES</vt:lpstr>
      <vt:lpstr>ENGINES</vt:lpstr>
      <vt:lpstr>PowerPoint Presentation</vt:lpstr>
      <vt:lpstr>SHOW DATABASES Syntax</vt:lpstr>
      <vt:lpstr>PowerPoint Presentation</vt:lpstr>
      <vt:lpstr>USE DATABASE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EMP &amp; DEPT Table structure</vt:lpstr>
      <vt:lpstr>SHOW COLUMNS Syntax</vt:lpstr>
      <vt:lpstr>PowerPoint Presentation</vt:lpstr>
      <vt:lpstr>SHOW TABLES Syntax</vt:lpstr>
      <vt:lpstr>PowerPoint Presentation</vt:lpstr>
      <vt:lpstr>SHOW TABLES STATUS Syntax</vt:lpstr>
      <vt:lpstr>PowerPoint Presentation</vt:lpstr>
      <vt:lpstr>SHOW VARIABLES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PowerPoint Presentation</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CREATE VIEW Syntax</vt:lpstr>
      <vt:lpstr>PowerPoint Presentation</vt:lpstr>
      <vt:lpstr>PowerPoint Presentation</vt:lpstr>
      <vt:lpstr>PowerPoint Presentation</vt:lpstr>
      <vt:lpstr>PowerPoint Presentation</vt:lpstr>
      <vt:lpstr>PowerPoint Presentation</vt:lpstr>
      <vt:lpstr>PowerPoint Presentation</vt:lpstr>
      <vt:lpstr>SHOW INDEX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Database Technology</dc:title>
  <dc:creator>Administrator</dc:creator>
  <cp:lastModifiedBy>SALIL BAGDE</cp:lastModifiedBy>
  <cp:revision>15481</cp:revision>
  <dcterms:created xsi:type="dcterms:W3CDTF">2015-10-09T06:09:34Z</dcterms:created>
  <dcterms:modified xsi:type="dcterms:W3CDTF">2026-09-30T03:59:21Z</dcterms:modified>
</cp:coreProperties>
</file>